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1: the Data-Point Extraction Engine (plus the combined company-financials pass: segments, CapEx, R&amp;D). The point is precision at 4,000-company scale: a keyword-prefiltered evidence step keeps cost down, an extractor/verifier pair on two different models decorrelates errors, and a programmatic grounding check catches fabricated quotes mechanically. Low confidence, ungrounded citations and verifier disagreements go to a human review queue rather than into the trusted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2: detecting and defining a theme, then finding who is exposed to it. The taxonomy library is the 'detector' half — seven derivation methods, including news and earnings-call mining and ETF-holdings synthesis, which is how a theme the market is only just starting to talk about gets a defensible activity boundary. Every taxonomy is versioned and explicitly ratified. The matching half runs an Advocate/Opposing/Adjudicator debate per company per activity, short-circuiting when a hard disclosed revenue number already answers the question. The opt-in Leontief input-output tier catches structural exposure that no disclosure mentions.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3: portfolio-level aggregation on top of the company-level research the first two pillars produce. The aggregation engine is deliberately zero-LLM — a risk number has to be reproducible. The natural-language Q&amp;A agent only parses a question into a validated query spec; the engine computes the figure and the spec is always shown, which is the same grounding discipline as citation checking. Climate analytics adds WACI, PCAF financed emissions and coverage reporting, with the internal ESG API cross-validated against the extraction engine's independent read, and news-derived controversy flags grounded to the source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38912"/>
            <a:ext cx="11000232"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PILLAR 01   ·   DATA-POINT EXTRACTION ENGINE</a:t>
            </a:r>
            <a:endParaRPr lang="en-US" sz="1100" dirty="0"/>
          </a:p>
        </p:txBody>
      </p:sp>
      <p:sp>
        <p:nvSpPr>
          <p:cNvPr id="3" name="Text 1"/>
          <p:cNvSpPr txBox="1"/>
          <p:nvPr/>
        </p:nvSpPr>
        <p:spPr>
          <a:xfrm>
            <a:off x="594360" y="694944"/>
            <a:ext cx="11000232" cy="566928"/>
          </a:xfrm>
          <a:prstGeom prst="rect">
            <a:avLst/>
          </a:prstGeom>
          <a:noFill/>
          <a:ln/>
        </p:spPr>
        <p:txBody>
          <a:bodyPr wrap="square" lIns="0" tIns="0" rIns="0" bIns="0" rtlCol="0" anchor="ctr"/>
          <a:lstStyle/>
          <a:p>
            <a:pPr indent="0" marL="0">
              <a:buNone/>
            </a:pPr>
            <a:r>
              <a:rPr lang="en-US" sz="3800" b="1" dirty="0">
                <a:solidFill>
                  <a:srgbClr val="10243A"/>
                </a:solidFill>
                <a:latin typeface="Cambria" pitchFamily="34" charset="0"/>
                <a:ea typeface="Cambria" pitchFamily="34" charset="-122"/>
                <a:cs typeface="Cambria" pitchFamily="34" charset="-120"/>
              </a:rPr>
              <a:t>Information Extraction</a:t>
            </a:r>
            <a:endParaRPr lang="en-US" sz="3800" dirty="0"/>
          </a:p>
        </p:txBody>
      </p:sp>
      <p:sp>
        <p:nvSpPr>
          <p:cNvPr id="4" name="Text 2"/>
          <p:cNvSpPr txBox="1"/>
          <p:nvPr/>
        </p:nvSpPr>
        <p:spPr>
          <a:xfrm>
            <a:off x="594360" y="1298448"/>
            <a:ext cx="10634472" cy="365760"/>
          </a:xfrm>
          <a:prstGeom prst="rect">
            <a:avLst/>
          </a:prstGeom>
          <a:noFill/>
          <a:ln/>
        </p:spPr>
        <p:txBody>
          <a:bodyPr wrap="square" lIns="0" tIns="0" rIns="0" bIns="0" rtlCol="0" anchor="ctr"/>
          <a:lstStyle/>
          <a:p>
            <a:pPr indent="0" marL="0">
              <a:buNone/>
            </a:pPr>
            <a:r>
              <a:rPr lang="en-US" sz="1400" dirty="0">
                <a:solidFill>
                  <a:srgbClr val="5A6B78"/>
                </a:solidFill>
                <a:latin typeface="Calibri" pitchFamily="34" charset="0"/>
                <a:ea typeface="Calibri" pitchFamily="34" charset="-122"/>
                <a:cs typeface="Calibri" pitchFamily="34" charset="-120"/>
              </a:rPr>
              <a:t>Schema-defined data points pulled out of real disclosures — and every figure traceable to the page it came from.</a:t>
            </a:r>
            <a:endParaRPr lang="en-US" sz="1400" dirty="0"/>
          </a:p>
        </p:txBody>
      </p:sp>
      <p:sp>
        <p:nvSpPr>
          <p:cNvPr id="5" name="Shape 3"/>
          <p:cNvSpPr/>
          <p:nvPr/>
        </p:nvSpPr>
        <p:spPr>
          <a:xfrm>
            <a:off x="594360" y="1828800"/>
            <a:ext cx="2029968" cy="1188720"/>
          </a:xfrm>
          <a:prstGeom prst="roundRect">
            <a:avLst>
              <a:gd name="adj" fmla="val 4615"/>
            </a:avLst>
          </a:prstGeom>
          <a:solidFill>
            <a:srgbClr val="F1F5F9"/>
          </a:solidFill>
          <a:ln w="12700">
            <a:solidFill>
              <a:srgbClr val="DBE4EC"/>
            </a:solidFill>
            <a:prstDash val="solid"/>
          </a:ln>
        </p:spPr>
      </p:sp>
      <p:sp>
        <p:nvSpPr>
          <p:cNvPr id="6" name="Shape 4"/>
          <p:cNvSpPr/>
          <p:nvPr/>
        </p:nvSpPr>
        <p:spPr>
          <a:xfrm>
            <a:off x="749808" y="1965960"/>
            <a:ext cx="310896" cy="310896"/>
          </a:xfrm>
          <a:prstGeom prst="ellipse">
            <a:avLst/>
          </a:prstGeom>
          <a:solidFill>
            <a:srgbClr val="1C7293"/>
          </a:solidFill>
          <a:ln/>
        </p:spPr>
      </p:sp>
      <p:sp>
        <p:nvSpPr>
          <p:cNvPr id="7" name="Text 5"/>
          <p:cNvSpPr txBox="1"/>
          <p:nvPr/>
        </p:nvSpPr>
        <p:spPr>
          <a:xfrm>
            <a:off x="749808" y="197967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1143000" y="1965960"/>
            <a:ext cx="1344168" cy="310896"/>
          </a:xfrm>
          <a:prstGeom prst="rect">
            <a:avLst/>
          </a:prstGeom>
          <a:noFill/>
          <a:ln/>
        </p:spPr>
        <p:txBody>
          <a:bodyPr wrap="square" lIns="0" tIns="0" rIns="0" bIns="0" rtlCol="0" anchor="ctr"/>
          <a:lstStyle/>
          <a:p>
            <a:pPr indent="0" marL="0">
              <a:buNone/>
            </a:pPr>
            <a:r>
              <a:rPr lang="en-US" sz="1350" b="1" dirty="0">
                <a:solidFill>
                  <a:srgbClr val="10243A"/>
                </a:solidFill>
                <a:latin typeface="Cambria" pitchFamily="34" charset="0"/>
                <a:ea typeface="Cambria" pitchFamily="34" charset="-122"/>
                <a:cs typeface="Cambria" pitchFamily="34" charset="-120"/>
              </a:rPr>
              <a:t>Define</a:t>
            </a:r>
            <a:endParaRPr lang="en-US" sz="1350" dirty="0"/>
          </a:p>
        </p:txBody>
      </p:sp>
      <p:sp>
        <p:nvSpPr>
          <p:cNvPr id="9" name="Text 7"/>
          <p:cNvSpPr txBox="1"/>
          <p:nvPr/>
        </p:nvSpPr>
        <p:spPr>
          <a:xfrm>
            <a:off x="749808" y="2359152"/>
            <a:ext cx="1719072" cy="566928"/>
          </a:xfrm>
          <a:prstGeom prst="rect">
            <a:avLst/>
          </a:prstGeom>
          <a:noFill/>
          <a:ln/>
        </p:spPr>
        <p:txBody>
          <a:bodyPr wrap="square" lIns="0" tIns="0" rIns="0" bIns="0" rtlCol="0" anchor="ctr"/>
          <a:lstStyle/>
          <a:p>
            <a:pPr indent="0" marL="0">
              <a:lnSpc>
                <a:spcPct val="100000"/>
              </a:lnSpc>
              <a:buNone/>
            </a:pPr>
            <a:r>
              <a:rPr lang="en-US" sz="950" dirty="0">
                <a:solidFill>
                  <a:srgbClr val="5A6B78"/>
                </a:solidFill>
                <a:latin typeface="Calibri" pitchFamily="34" charset="0"/>
                <a:ea typeface="Calibri" pitchFamily="34" charset="-122"/>
                <a:cs typeface="Calibri" pitchFamily="34" charset="-120"/>
              </a:rPr>
              <a:t>A data point is a schema: meaning, unit, edge cases, seed keywords.</a:t>
            </a:r>
            <a:endParaRPr lang="en-US" sz="950" dirty="0"/>
          </a:p>
        </p:txBody>
      </p:sp>
      <p:sp>
        <p:nvSpPr>
          <p:cNvPr id="10" name="Text 8"/>
          <p:cNvSpPr txBox="1"/>
          <p:nvPr/>
        </p:nvSpPr>
        <p:spPr>
          <a:xfrm>
            <a:off x="2624328" y="2212848"/>
            <a:ext cx="210312" cy="365760"/>
          </a:xfrm>
          <a:prstGeom prst="rect">
            <a:avLst/>
          </a:prstGeom>
          <a:noFill/>
          <a:ln/>
        </p:spPr>
        <p:txBody>
          <a:bodyPr wrap="square" lIns="0" tIns="0" rIns="0" bIns="0" rtlCol="0" anchor="ctr"/>
          <a:lstStyle/>
          <a:p>
            <a:pPr algn="ctr" indent="0" marL="0">
              <a:buNone/>
            </a:pPr>
            <a:r>
              <a:rPr lang="en-US" sz="1800" b="1" dirty="0">
                <a:solidFill>
                  <a:srgbClr val="2E8BA8"/>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2834640" y="1828800"/>
            <a:ext cx="2029968" cy="1188720"/>
          </a:xfrm>
          <a:prstGeom prst="roundRect">
            <a:avLst>
              <a:gd name="adj" fmla="val 4615"/>
            </a:avLst>
          </a:prstGeom>
          <a:solidFill>
            <a:srgbClr val="F1F5F9"/>
          </a:solidFill>
          <a:ln w="12700">
            <a:solidFill>
              <a:srgbClr val="DBE4EC"/>
            </a:solidFill>
            <a:prstDash val="solid"/>
          </a:ln>
        </p:spPr>
      </p:sp>
      <p:sp>
        <p:nvSpPr>
          <p:cNvPr id="12" name="Shape 10"/>
          <p:cNvSpPr/>
          <p:nvPr/>
        </p:nvSpPr>
        <p:spPr>
          <a:xfrm>
            <a:off x="2990088" y="1965960"/>
            <a:ext cx="310896" cy="310896"/>
          </a:xfrm>
          <a:prstGeom prst="ellipse">
            <a:avLst/>
          </a:prstGeom>
          <a:solidFill>
            <a:srgbClr val="1C7293"/>
          </a:solidFill>
          <a:ln/>
        </p:spPr>
      </p:sp>
      <p:sp>
        <p:nvSpPr>
          <p:cNvPr id="13" name="Text 11"/>
          <p:cNvSpPr txBox="1"/>
          <p:nvPr/>
        </p:nvSpPr>
        <p:spPr>
          <a:xfrm>
            <a:off x="2990088" y="197967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3383280" y="1965960"/>
            <a:ext cx="1344168" cy="310896"/>
          </a:xfrm>
          <a:prstGeom prst="rect">
            <a:avLst/>
          </a:prstGeom>
          <a:noFill/>
          <a:ln/>
        </p:spPr>
        <p:txBody>
          <a:bodyPr wrap="square" lIns="0" tIns="0" rIns="0" bIns="0" rtlCol="0" anchor="ctr"/>
          <a:lstStyle/>
          <a:p>
            <a:pPr indent="0" marL="0">
              <a:buNone/>
            </a:pPr>
            <a:r>
              <a:rPr lang="en-US" sz="1350" b="1" dirty="0">
                <a:solidFill>
                  <a:srgbClr val="10243A"/>
                </a:solidFill>
                <a:latin typeface="Cambria" pitchFamily="34" charset="0"/>
                <a:ea typeface="Cambria" pitchFamily="34" charset="-122"/>
                <a:cs typeface="Cambria" pitchFamily="34" charset="-120"/>
              </a:rPr>
              <a:t>Retrieve</a:t>
            </a:r>
            <a:endParaRPr lang="en-US" sz="1350" dirty="0"/>
          </a:p>
        </p:txBody>
      </p:sp>
      <p:sp>
        <p:nvSpPr>
          <p:cNvPr id="15" name="Text 13"/>
          <p:cNvSpPr txBox="1"/>
          <p:nvPr/>
        </p:nvSpPr>
        <p:spPr>
          <a:xfrm>
            <a:off x="2990088" y="2359152"/>
            <a:ext cx="1719072" cy="566928"/>
          </a:xfrm>
          <a:prstGeom prst="rect">
            <a:avLst/>
          </a:prstGeom>
          <a:noFill/>
          <a:ln/>
        </p:spPr>
        <p:txBody>
          <a:bodyPr wrap="square" lIns="0" tIns="0" rIns="0" bIns="0" rtlCol="0" anchor="ctr"/>
          <a:lstStyle/>
          <a:p>
            <a:pPr indent="0" marL="0">
              <a:lnSpc>
                <a:spcPct val="100000"/>
              </a:lnSpc>
              <a:buNone/>
            </a:pPr>
            <a:r>
              <a:rPr lang="en-US" sz="950" dirty="0">
                <a:solidFill>
                  <a:srgbClr val="5A6B78"/>
                </a:solidFill>
                <a:latin typeface="Calibri" pitchFamily="34" charset="0"/>
                <a:ea typeface="Calibri" pitchFamily="34" charset="-122"/>
                <a:cs typeface="Calibri" pitchFamily="34" charset="-120"/>
              </a:rPr>
              <a:t>Keyword-prefiltered BM25 + embedding search over the company's filings.</a:t>
            </a:r>
            <a:endParaRPr lang="en-US" sz="950" dirty="0"/>
          </a:p>
        </p:txBody>
      </p:sp>
      <p:sp>
        <p:nvSpPr>
          <p:cNvPr id="16" name="Text 14"/>
          <p:cNvSpPr txBox="1"/>
          <p:nvPr/>
        </p:nvSpPr>
        <p:spPr>
          <a:xfrm>
            <a:off x="4864608" y="2212848"/>
            <a:ext cx="210312" cy="365760"/>
          </a:xfrm>
          <a:prstGeom prst="rect">
            <a:avLst/>
          </a:prstGeom>
          <a:noFill/>
          <a:ln/>
        </p:spPr>
        <p:txBody>
          <a:bodyPr wrap="square" lIns="0" tIns="0" rIns="0" bIns="0" rtlCol="0" anchor="ctr"/>
          <a:lstStyle/>
          <a:p>
            <a:pPr algn="ctr" indent="0" marL="0">
              <a:buNone/>
            </a:pPr>
            <a:r>
              <a:rPr lang="en-US" sz="1800" b="1" dirty="0">
                <a:solidFill>
                  <a:srgbClr val="2E8BA8"/>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5074920" y="1828800"/>
            <a:ext cx="2029968" cy="1188720"/>
          </a:xfrm>
          <a:prstGeom prst="roundRect">
            <a:avLst>
              <a:gd name="adj" fmla="val 4615"/>
            </a:avLst>
          </a:prstGeom>
          <a:solidFill>
            <a:srgbClr val="F1F5F9"/>
          </a:solidFill>
          <a:ln w="12700">
            <a:solidFill>
              <a:srgbClr val="DBE4EC"/>
            </a:solidFill>
            <a:prstDash val="solid"/>
          </a:ln>
        </p:spPr>
      </p:sp>
      <p:sp>
        <p:nvSpPr>
          <p:cNvPr id="18" name="Shape 16"/>
          <p:cNvSpPr/>
          <p:nvPr/>
        </p:nvSpPr>
        <p:spPr>
          <a:xfrm>
            <a:off x="5230368" y="1965960"/>
            <a:ext cx="310896" cy="310896"/>
          </a:xfrm>
          <a:prstGeom prst="ellipse">
            <a:avLst/>
          </a:prstGeom>
          <a:solidFill>
            <a:srgbClr val="1C7293"/>
          </a:solidFill>
          <a:ln/>
        </p:spPr>
      </p:sp>
      <p:sp>
        <p:nvSpPr>
          <p:cNvPr id="19" name="Text 17"/>
          <p:cNvSpPr txBox="1"/>
          <p:nvPr/>
        </p:nvSpPr>
        <p:spPr>
          <a:xfrm>
            <a:off x="5230368" y="197967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txBox="1"/>
          <p:nvPr/>
        </p:nvSpPr>
        <p:spPr>
          <a:xfrm>
            <a:off x="5623560" y="1965960"/>
            <a:ext cx="1344168" cy="310896"/>
          </a:xfrm>
          <a:prstGeom prst="rect">
            <a:avLst/>
          </a:prstGeom>
          <a:noFill/>
          <a:ln/>
        </p:spPr>
        <p:txBody>
          <a:bodyPr wrap="square" lIns="0" tIns="0" rIns="0" bIns="0" rtlCol="0" anchor="ctr"/>
          <a:lstStyle/>
          <a:p>
            <a:pPr indent="0" marL="0">
              <a:buNone/>
            </a:pPr>
            <a:r>
              <a:rPr lang="en-US" sz="1350" b="1" dirty="0">
                <a:solidFill>
                  <a:srgbClr val="10243A"/>
                </a:solidFill>
                <a:latin typeface="Cambria" pitchFamily="34" charset="0"/>
                <a:ea typeface="Cambria" pitchFamily="34" charset="-122"/>
                <a:cs typeface="Cambria" pitchFamily="34" charset="-120"/>
              </a:rPr>
              <a:t>Extract</a:t>
            </a:r>
            <a:endParaRPr lang="en-US" sz="1350" dirty="0"/>
          </a:p>
        </p:txBody>
      </p:sp>
      <p:sp>
        <p:nvSpPr>
          <p:cNvPr id="21" name="Text 19"/>
          <p:cNvSpPr txBox="1"/>
          <p:nvPr/>
        </p:nvSpPr>
        <p:spPr>
          <a:xfrm>
            <a:off x="5230368" y="2359152"/>
            <a:ext cx="1719072" cy="566928"/>
          </a:xfrm>
          <a:prstGeom prst="rect">
            <a:avLst/>
          </a:prstGeom>
          <a:noFill/>
          <a:ln/>
        </p:spPr>
        <p:txBody>
          <a:bodyPr wrap="square" lIns="0" tIns="0" rIns="0" bIns="0" rtlCol="0" anchor="ctr"/>
          <a:lstStyle/>
          <a:p>
            <a:pPr indent="0" marL="0">
              <a:lnSpc>
                <a:spcPct val="100000"/>
              </a:lnSpc>
              <a:buNone/>
            </a:pPr>
            <a:r>
              <a:rPr lang="en-US" sz="950" dirty="0">
                <a:solidFill>
                  <a:srgbClr val="5A6B78"/>
                </a:solidFill>
                <a:latin typeface="Calibri" pitchFamily="34" charset="0"/>
                <a:ea typeface="Calibri" pitchFamily="34" charset="-122"/>
                <a:cs typeface="Calibri" pitchFamily="34" charset="-120"/>
              </a:rPr>
              <a:t>Schema-forced structured output, with a validation-retry loop.</a:t>
            </a:r>
            <a:endParaRPr lang="en-US" sz="950" dirty="0"/>
          </a:p>
        </p:txBody>
      </p:sp>
      <p:sp>
        <p:nvSpPr>
          <p:cNvPr id="22" name="Text 20"/>
          <p:cNvSpPr txBox="1"/>
          <p:nvPr/>
        </p:nvSpPr>
        <p:spPr>
          <a:xfrm>
            <a:off x="7104888" y="2212848"/>
            <a:ext cx="210312" cy="365760"/>
          </a:xfrm>
          <a:prstGeom prst="rect">
            <a:avLst/>
          </a:prstGeom>
          <a:noFill/>
          <a:ln/>
        </p:spPr>
        <p:txBody>
          <a:bodyPr wrap="square" lIns="0" tIns="0" rIns="0" bIns="0" rtlCol="0" anchor="ctr"/>
          <a:lstStyle/>
          <a:p>
            <a:pPr algn="ctr" indent="0" marL="0">
              <a:buNone/>
            </a:pPr>
            <a:r>
              <a:rPr lang="en-US" sz="1800" b="1" dirty="0">
                <a:solidFill>
                  <a:srgbClr val="2E8BA8"/>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7315200" y="1828800"/>
            <a:ext cx="2029968" cy="1188720"/>
          </a:xfrm>
          <a:prstGeom prst="roundRect">
            <a:avLst>
              <a:gd name="adj" fmla="val 4615"/>
            </a:avLst>
          </a:prstGeom>
          <a:solidFill>
            <a:srgbClr val="F1F5F9"/>
          </a:solidFill>
          <a:ln w="12700">
            <a:solidFill>
              <a:srgbClr val="DBE4EC"/>
            </a:solidFill>
            <a:prstDash val="solid"/>
          </a:ln>
        </p:spPr>
      </p:sp>
      <p:sp>
        <p:nvSpPr>
          <p:cNvPr id="24" name="Shape 22"/>
          <p:cNvSpPr/>
          <p:nvPr/>
        </p:nvSpPr>
        <p:spPr>
          <a:xfrm>
            <a:off x="7470648" y="1965960"/>
            <a:ext cx="310896" cy="310896"/>
          </a:xfrm>
          <a:prstGeom prst="ellipse">
            <a:avLst/>
          </a:prstGeom>
          <a:solidFill>
            <a:srgbClr val="1C7293"/>
          </a:solidFill>
          <a:ln/>
        </p:spPr>
      </p:sp>
      <p:sp>
        <p:nvSpPr>
          <p:cNvPr id="25" name="Text 23"/>
          <p:cNvSpPr txBox="1"/>
          <p:nvPr/>
        </p:nvSpPr>
        <p:spPr>
          <a:xfrm>
            <a:off x="7470648" y="197967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4"/>
          <p:cNvSpPr txBox="1"/>
          <p:nvPr/>
        </p:nvSpPr>
        <p:spPr>
          <a:xfrm>
            <a:off x="7863840" y="1965960"/>
            <a:ext cx="1344168" cy="310896"/>
          </a:xfrm>
          <a:prstGeom prst="rect">
            <a:avLst/>
          </a:prstGeom>
          <a:noFill/>
          <a:ln/>
        </p:spPr>
        <p:txBody>
          <a:bodyPr wrap="square" lIns="0" tIns="0" rIns="0" bIns="0" rtlCol="0" anchor="ctr"/>
          <a:lstStyle/>
          <a:p>
            <a:pPr indent="0" marL="0">
              <a:buNone/>
            </a:pPr>
            <a:r>
              <a:rPr lang="en-US" sz="1350" b="1" dirty="0">
                <a:solidFill>
                  <a:srgbClr val="10243A"/>
                </a:solidFill>
                <a:latin typeface="Cambria" pitchFamily="34" charset="0"/>
                <a:ea typeface="Cambria" pitchFamily="34" charset="-122"/>
                <a:cs typeface="Cambria" pitchFamily="34" charset="-120"/>
              </a:rPr>
              <a:t>Verify</a:t>
            </a:r>
            <a:endParaRPr lang="en-US" sz="1350" dirty="0"/>
          </a:p>
        </p:txBody>
      </p:sp>
      <p:sp>
        <p:nvSpPr>
          <p:cNvPr id="27" name="Text 25"/>
          <p:cNvSpPr txBox="1"/>
          <p:nvPr/>
        </p:nvSpPr>
        <p:spPr>
          <a:xfrm>
            <a:off x="7470648" y="2359152"/>
            <a:ext cx="1719072" cy="566928"/>
          </a:xfrm>
          <a:prstGeom prst="rect">
            <a:avLst/>
          </a:prstGeom>
          <a:noFill/>
          <a:ln/>
        </p:spPr>
        <p:txBody>
          <a:bodyPr wrap="square" lIns="0" tIns="0" rIns="0" bIns="0" rtlCol="0" anchor="ctr"/>
          <a:lstStyle/>
          <a:p>
            <a:pPr indent="0" marL="0">
              <a:lnSpc>
                <a:spcPct val="100000"/>
              </a:lnSpc>
              <a:buNone/>
            </a:pPr>
            <a:r>
              <a:rPr lang="en-US" sz="950" dirty="0">
                <a:solidFill>
                  <a:srgbClr val="5A6B78"/>
                </a:solidFill>
                <a:latin typeface="Calibri" pitchFamily="34" charset="0"/>
                <a:ea typeface="Calibri" pitchFamily="34" charset="-122"/>
                <a:cs typeface="Calibri" pitchFamily="34" charset="-120"/>
              </a:rPr>
              <a:t>An independent agent re-reads the evidence and is told to disagree.</a:t>
            </a:r>
            <a:endParaRPr lang="en-US" sz="950" dirty="0"/>
          </a:p>
        </p:txBody>
      </p:sp>
      <p:sp>
        <p:nvSpPr>
          <p:cNvPr id="28" name="Text 26"/>
          <p:cNvSpPr txBox="1"/>
          <p:nvPr/>
        </p:nvSpPr>
        <p:spPr>
          <a:xfrm>
            <a:off x="9345168" y="2212848"/>
            <a:ext cx="210312" cy="365760"/>
          </a:xfrm>
          <a:prstGeom prst="rect">
            <a:avLst/>
          </a:prstGeom>
          <a:noFill/>
          <a:ln/>
        </p:spPr>
        <p:txBody>
          <a:bodyPr wrap="square" lIns="0" tIns="0" rIns="0" bIns="0" rtlCol="0" anchor="ctr"/>
          <a:lstStyle/>
          <a:p>
            <a:pPr algn="ctr" indent="0" marL="0">
              <a:buNone/>
            </a:pPr>
            <a:r>
              <a:rPr lang="en-US" sz="1800" b="1" dirty="0">
                <a:solidFill>
                  <a:srgbClr val="2E8BA8"/>
                </a:solidFill>
                <a:latin typeface="Calibri" pitchFamily="34" charset="0"/>
                <a:ea typeface="Calibri" pitchFamily="34" charset="-122"/>
                <a:cs typeface="Calibri" pitchFamily="34" charset="-120"/>
              </a:rPr>
              <a:t>›</a:t>
            </a:r>
            <a:endParaRPr lang="en-US" sz="1800" dirty="0"/>
          </a:p>
        </p:txBody>
      </p:sp>
      <p:sp>
        <p:nvSpPr>
          <p:cNvPr id="29" name="Shape 27"/>
          <p:cNvSpPr/>
          <p:nvPr/>
        </p:nvSpPr>
        <p:spPr>
          <a:xfrm>
            <a:off x="9555480" y="1828800"/>
            <a:ext cx="2029968" cy="1188720"/>
          </a:xfrm>
          <a:prstGeom prst="roundRect">
            <a:avLst>
              <a:gd name="adj" fmla="val 4615"/>
            </a:avLst>
          </a:prstGeom>
          <a:solidFill>
            <a:srgbClr val="F1F5F9"/>
          </a:solidFill>
          <a:ln w="12700">
            <a:solidFill>
              <a:srgbClr val="DBE4EC"/>
            </a:solidFill>
            <a:prstDash val="solid"/>
          </a:ln>
        </p:spPr>
      </p:sp>
      <p:sp>
        <p:nvSpPr>
          <p:cNvPr id="30" name="Shape 28"/>
          <p:cNvSpPr/>
          <p:nvPr/>
        </p:nvSpPr>
        <p:spPr>
          <a:xfrm>
            <a:off x="9710928" y="1965960"/>
            <a:ext cx="310896" cy="310896"/>
          </a:xfrm>
          <a:prstGeom prst="ellipse">
            <a:avLst/>
          </a:prstGeom>
          <a:solidFill>
            <a:srgbClr val="1C7293"/>
          </a:solidFill>
          <a:ln/>
        </p:spPr>
      </p:sp>
      <p:sp>
        <p:nvSpPr>
          <p:cNvPr id="31" name="Text 29"/>
          <p:cNvSpPr txBox="1"/>
          <p:nvPr/>
        </p:nvSpPr>
        <p:spPr>
          <a:xfrm>
            <a:off x="9710928" y="197967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2" name="Text 30"/>
          <p:cNvSpPr txBox="1"/>
          <p:nvPr/>
        </p:nvSpPr>
        <p:spPr>
          <a:xfrm>
            <a:off x="10104120" y="1965960"/>
            <a:ext cx="1344168" cy="310896"/>
          </a:xfrm>
          <a:prstGeom prst="rect">
            <a:avLst/>
          </a:prstGeom>
          <a:noFill/>
          <a:ln/>
        </p:spPr>
        <p:txBody>
          <a:bodyPr wrap="square" lIns="0" tIns="0" rIns="0" bIns="0" rtlCol="0" anchor="ctr"/>
          <a:lstStyle/>
          <a:p>
            <a:pPr indent="0" marL="0">
              <a:buNone/>
            </a:pPr>
            <a:r>
              <a:rPr lang="en-US" sz="1350" b="1" dirty="0">
                <a:solidFill>
                  <a:srgbClr val="10243A"/>
                </a:solidFill>
                <a:latin typeface="Cambria" pitchFamily="34" charset="0"/>
                <a:ea typeface="Cambria" pitchFamily="34" charset="-122"/>
                <a:cs typeface="Cambria" pitchFamily="34" charset="-120"/>
              </a:rPr>
              <a:t>Ground</a:t>
            </a:r>
            <a:endParaRPr lang="en-US" sz="1350" dirty="0"/>
          </a:p>
        </p:txBody>
      </p:sp>
      <p:sp>
        <p:nvSpPr>
          <p:cNvPr id="33" name="Text 31"/>
          <p:cNvSpPr txBox="1"/>
          <p:nvPr/>
        </p:nvSpPr>
        <p:spPr>
          <a:xfrm>
            <a:off x="9710928" y="2359152"/>
            <a:ext cx="1719072" cy="566928"/>
          </a:xfrm>
          <a:prstGeom prst="rect">
            <a:avLst/>
          </a:prstGeom>
          <a:noFill/>
          <a:ln/>
        </p:spPr>
        <p:txBody>
          <a:bodyPr wrap="square" lIns="0" tIns="0" rIns="0" bIns="0" rtlCol="0" anchor="ctr"/>
          <a:lstStyle/>
          <a:p>
            <a:pPr indent="0" marL="0">
              <a:lnSpc>
                <a:spcPct val="100000"/>
              </a:lnSpc>
              <a:buNone/>
            </a:pPr>
            <a:r>
              <a:rPr lang="en-US" sz="950" dirty="0">
                <a:solidFill>
                  <a:srgbClr val="5A6B78"/>
                </a:solidFill>
                <a:latin typeface="Calibri" pitchFamily="34" charset="0"/>
                <a:ea typeface="Calibri" pitchFamily="34" charset="-122"/>
                <a:cs typeface="Calibri" pitchFamily="34" charset="-120"/>
              </a:rPr>
              <a:t>Each citation matched in code against the original document text.</a:t>
            </a:r>
            <a:endParaRPr lang="en-US" sz="950" dirty="0"/>
          </a:p>
        </p:txBody>
      </p:sp>
      <p:sp>
        <p:nvSpPr>
          <p:cNvPr id="34" name="Shape 32"/>
          <p:cNvSpPr/>
          <p:nvPr/>
        </p:nvSpPr>
        <p:spPr>
          <a:xfrm>
            <a:off x="594360" y="3337560"/>
            <a:ext cx="3456432" cy="1371600"/>
          </a:xfrm>
          <a:prstGeom prst="roundRect">
            <a:avLst>
              <a:gd name="adj" fmla="val 4000"/>
            </a:avLst>
          </a:prstGeom>
          <a:solidFill>
            <a:srgbClr val="FFFFFF"/>
          </a:solidFill>
          <a:ln w="12700">
            <a:solidFill>
              <a:srgbClr val="DBE4EC"/>
            </a:solidFill>
            <a:prstDash val="solid"/>
          </a:ln>
        </p:spPr>
      </p:sp>
      <p:sp>
        <p:nvSpPr>
          <p:cNvPr id="35" name="Shape 33"/>
          <p:cNvSpPr/>
          <p:nvPr/>
        </p:nvSpPr>
        <p:spPr>
          <a:xfrm>
            <a:off x="795528" y="3575304"/>
            <a:ext cx="118872" cy="118872"/>
          </a:xfrm>
          <a:prstGeom prst="ellipse">
            <a:avLst/>
          </a:prstGeom>
          <a:solidFill>
            <a:srgbClr val="E0A526"/>
          </a:solidFill>
          <a:ln/>
        </p:spPr>
      </p:sp>
      <p:sp>
        <p:nvSpPr>
          <p:cNvPr id="36" name="Text 34"/>
          <p:cNvSpPr txBox="1"/>
          <p:nvPr/>
        </p:nvSpPr>
        <p:spPr>
          <a:xfrm>
            <a:off x="1033272" y="3502152"/>
            <a:ext cx="2816352" cy="274320"/>
          </a:xfrm>
          <a:prstGeom prst="rect">
            <a:avLst/>
          </a:prstGeom>
          <a:noFill/>
          <a:ln/>
        </p:spPr>
        <p:txBody>
          <a:bodyPr wrap="square" lIns="0" tIns="0" rIns="0" bIns="0" rtlCol="0" anchor="ctr"/>
          <a:lstStyle/>
          <a:p>
            <a:pPr indent="0" marL="0">
              <a:buNone/>
            </a:pPr>
            <a:r>
              <a:rPr lang="en-US" sz="1350" b="1" dirty="0">
                <a:solidFill>
                  <a:srgbClr val="10243A"/>
                </a:solidFill>
                <a:latin typeface="Cambria" pitchFamily="34" charset="0"/>
                <a:ea typeface="Cambria" pitchFamily="34" charset="-122"/>
                <a:cs typeface="Cambria" pitchFamily="34" charset="-120"/>
              </a:rPr>
              <a:t>Decorrelated verification</a:t>
            </a:r>
            <a:endParaRPr lang="en-US" sz="1350" dirty="0"/>
          </a:p>
        </p:txBody>
      </p:sp>
      <p:sp>
        <p:nvSpPr>
          <p:cNvPr id="37" name="Text 35"/>
          <p:cNvSpPr txBox="1"/>
          <p:nvPr/>
        </p:nvSpPr>
        <p:spPr>
          <a:xfrm>
            <a:off x="795528" y="3831336"/>
            <a:ext cx="3054096" cy="749808"/>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The verifier runs on a deliberately different model from the extractor, so the two don't share a blind spot and repeat the same mistake.</a:t>
            </a:r>
            <a:endParaRPr lang="en-US" sz="1050" dirty="0"/>
          </a:p>
        </p:txBody>
      </p:sp>
      <p:sp>
        <p:nvSpPr>
          <p:cNvPr id="38" name="Shape 36"/>
          <p:cNvSpPr/>
          <p:nvPr/>
        </p:nvSpPr>
        <p:spPr>
          <a:xfrm>
            <a:off x="4251960" y="3337560"/>
            <a:ext cx="3456432" cy="1371600"/>
          </a:xfrm>
          <a:prstGeom prst="roundRect">
            <a:avLst>
              <a:gd name="adj" fmla="val 4000"/>
            </a:avLst>
          </a:prstGeom>
          <a:solidFill>
            <a:srgbClr val="FFFFFF"/>
          </a:solidFill>
          <a:ln w="12700">
            <a:solidFill>
              <a:srgbClr val="DBE4EC"/>
            </a:solidFill>
            <a:prstDash val="solid"/>
          </a:ln>
        </p:spPr>
      </p:sp>
      <p:sp>
        <p:nvSpPr>
          <p:cNvPr id="39" name="Shape 37"/>
          <p:cNvSpPr/>
          <p:nvPr/>
        </p:nvSpPr>
        <p:spPr>
          <a:xfrm>
            <a:off x="4453128" y="3575304"/>
            <a:ext cx="118872" cy="118872"/>
          </a:xfrm>
          <a:prstGeom prst="ellipse">
            <a:avLst/>
          </a:prstGeom>
          <a:solidFill>
            <a:srgbClr val="E0A526"/>
          </a:solidFill>
          <a:ln/>
        </p:spPr>
      </p:sp>
      <p:sp>
        <p:nvSpPr>
          <p:cNvPr id="40" name="Text 38"/>
          <p:cNvSpPr txBox="1"/>
          <p:nvPr/>
        </p:nvSpPr>
        <p:spPr>
          <a:xfrm>
            <a:off x="4690872" y="3502152"/>
            <a:ext cx="2816352" cy="274320"/>
          </a:xfrm>
          <a:prstGeom prst="rect">
            <a:avLst/>
          </a:prstGeom>
          <a:noFill/>
          <a:ln/>
        </p:spPr>
        <p:txBody>
          <a:bodyPr wrap="square" lIns="0" tIns="0" rIns="0" bIns="0" rtlCol="0" anchor="ctr"/>
          <a:lstStyle/>
          <a:p>
            <a:pPr indent="0" marL="0">
              <a:buNone/>
            </a:pPr>
            <a:r>
              <a:rPr lang="en-US" sz="1350" b="1" dirty="0">
                <a:solidFill>
                  <a:srgbClr val="10243A"/>
                </a:solidFill>
                <a:latin typeface="Cambria" pitchFamily="34" charset="0"/>
                <a:ea typeface="Cambria" pitchFamily="34" charset="-122"/>
                <a:cs typeface="Cambria" pitchFamily="34" charset="-120"/>
              </a:rPr>
              <a:t>Grounding, not self-report</a:t>
            </a:r>
            <a:endParaRPr lang="en-US" sz="1350" dirty="0"/>
          </a:p>
        </p:txBody>
      </p:sp>
      <p:sp>
        <p:nvSpPr>
          <p:cNvPr id="41" name="Text 39"/>
          <p:cNvSpPr txBox="1"/>
          <p:nvPr/>
        </p:nvSpPr>
        <p:spPr>
          <a:xfrm>
            <a:off x="4453128" y="3831336"/>
            <a:ext cx="3054096" cy="749808"/>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A citation must be an exact substring of the source; its PDF page or sheet name is computed from the verified match, never asked of the model.</a:t>
            </a:r>
            <a:endParaRPr lang="en-US" sz="1050" dirty="0"/>
          </a:p>
        </p:txBody>
      </p:sp>
      <p:sp>
        <p:nvSpPr>
          <p:cNvPr id="42" name="Shape 40"/>
          <p:cNvSpPr/>
          <p:nvPr/>
        </p:nvSpPr>
        <p:spPr>
          <a:xfrm>
            <a:off x="594360" y="4892040"/>
            <a:ext cx="3456432" cy="1371600"/>
          </a:xfrm>
          <a:prstGeom prst="roundRect">
            <a:avLst>
              <a:gd name="adj" fmla="val 4000"/>
            </a:avLst>
          </a:prstGeom>
          <a:solidFill>
            <a:srgbClr val="FFFFFF"/>
          </a:solidFill>
          <a:ln w="12700">
            <a:solidFill>
              <a:srgbClr val="DBE4EC"/>
            </a:solidFill>
            <a:prstDash val="solid"/>
          </a:ln>
        </p:spPr>
      </p:sp>
      <p:sp>
        <p:nvSpPr>
          <p:cNvPr id="43" name="Shape 41"/>
          <p:cNvSpPr/>
          <p:nvPr/>
        </p:nvSpPr>
        <p:spPr>
          <a:xfrm>
            <a:off x="795528" y="5129784"/>
            <a:ext cx="118872" cy="118872"/>
          </a:xfrm>
          <a:prstGeom prst="ellipse">
            <a:avLst/>
          </a:prstGeom>
          <a:solidFill>
            <a:srgbClr val="E0A526"/>
          </a:solidFill>
          <a:ln/>
        </p:spPr>
      </p:sp>
      <p:sp>
        <p:nvSpPr>
          <p:cNvPr id="44" name="Text 42"/>
          <p:cNvSpPr txBox="1"/>
          <p:nvPr/>
        </p:nvSpPr>
        <p:spPr>
          <a:xfrm>
            <a:off x="1033272" y="5056632"/>
            <a:ext cx="2816352" cy="274320"/>
          </a:xfrm>
          <a:prstGeom prst="rect">
            <a:avLst/>
          </a:prstGeom>
          <a:noFill/>
          <a:ln/>
        </p:spPr>
        <p:txBody>
          <a:bodyPr wrap="square" lIns="0" tIns="0" rIns="0" bIns="0" rtlCol="0" anchor="ctr"/>
          <a:lstStyle/>
          <a:p>
            <a:pPr indent="0" marL="0">
              <a:buNone/>
            </a:pPr>
            <a:r>
              <a:rPr lang="en-US" sz="1350" b="1" dirty="0">
                <a:solidFill>
                  <a:srgbClr val="10243A"/>
                </a:solidFill>
                <a:latin typeface="Cambria" pitchFamily="34" charset="0"/>
                <a:ea typeface="Cambria" pitchFamily="34" charset="-122"/>
                <a:cs typeface="Cambria" pitchFamily="34" charset="-120"/>
              </a:rPr>
              <a:t>Structured facts come first</a:t>
            </a:r>
            <a:endParaRPr lang="en-US" sz="1350" dirty="0"/>
          </a:p>
        </p:txBody>
      </p:sp>
      <p:sp>
        <p:nvSpPr>
          <p:cNvPr id="45" name="Text 43"/>
          <p:cNvSpPr txBox="1"/>
          <p:nvPr/>
        </p:nvSpPr>
        <p:spPr>
          <a:xfrm>
            <a:off x="795528" y="5385816"/>
            <a:ext cx="3054096" cy="749808"/>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SEC XBRL figures override the model's read of prose for CapEx and R&amp;D totals. Anything a company did not disclose stays null — never estimated.</a:t>
            </a:r>
            <a:endParaRPr lang="en-US" sz="1050" dirty="0"/>
          </a:p>
        </p:txBody>
      </p:sp>
      <p:sp>
        <p:nvSpPr>
          <p:cNvPr id="46" name="Shape 44"/>
          <p:cNvSpPr/>
          <p:nvPr/>
        </p:nvSpPr>
        <p:spPr>
          <a:xfrm>
            <a:off x="4251960" y="4892040"/>
            <a:ext cx="3456432" cy="1371600"/>
          </a:xfrm>
          <a:prstGeom prst="roundRect">
            <a:avLst>
              <a:gd name="adj" fmla="val 4000"/>
            </a:avLst>
          </a:prstGeom>
          <a:solidFill>
            <a:srgbClr val="FFFFFF"/>
          </a:solidFill>
          <a:ln w="12700">
            <a:solidFill>
              <a:srgbClr val="DBE4EC"/>
            </a:solidFill>
            <a:prstDash val="solid"/>
          </a:ln>
        </p:spPr>
      </p:sp>
      <p:sp>
        <p:nvSpPr>
          <p:cNvPr id="47" name="Shape 45"/>
          <p:cNvSpPr/>
          <p:nvPr/>
        </p:nvSpPr>
        <p:spPr>
          <a:xfrm>
            <a:off x="4453128" y="5129784"/>
            <a:ext cx="118872" cy="118872"/>
          </a:xfrm>
          <a:prstGeom prst="ellipse">
            <a:avLst/>
          </a:prstGeom>
          <a:solidFill>
            <a:srgbClr val="E0A526"/>
          </a:solidFill>
          <a:ln/>
        </p:spPr>
      </p:sp>
      <p:sp>
        <p:nvSpPr>
          <p:cNvPr id="48" name="Text 46"/>
          <p:cNvSpPr txBox="1"/>
          <p:nvPr/>
        </p:nvSpPr>
        <p:spPr>
          <a:xfrm>
            <a:off x="4690872" y="5056632"/>
            <a:ext cx="2816352" cy="274320"/>
          </a:xfrm>
          <a:prstGeom prst="rect">
            <a:avLst/>
          </a:prstGeom>
          <a:noFill/>
          <a:ln/>
        </p:spPr>
        <p:txBody>
          <a:bodyPr wrap="square" lIns="0" tIns="0" rIns="0" bIns="0" rtlCol="0" anchor="ctr"/>
          <a:lstStyle/>
          <a:p>
            <a:pPr indent="0" marL="0">
              <a:buNone/>
            </a:pPr>
            <a:r>
              <a:rPr lang="en-US" sz="1350" b="1" dirty="0">
                <a:solidFill>
                  <a:srgbClr val="10243A"/>
                </a:solidFill>
                <a:latin typeface="Cambria" pitchFamily="34" charset="0"/>
                <a:ea typeface="Cambria" pitchFamily="34" charset="-122"/>
                <a:cs typeface="Cambria" pitchFamily="34" charset="-120"/>
              </a:rPr>
              <a:t>Provenance and a golden set</a:t>
            </a:r>
            <a:endParaRPr lang="en-US" sz="1350" dirty="0"/>
          </a:p>
        </p:txBody>
      </p:sp>
      <p:sp>
        <p:nvSpPr>
          <p:cNvPr id="49" name="Text 47"/>
          <p:cNvSpPr txBox="1"/>
          <p:nvPr/>
        </p:nvSpPr>
        <p:spPr>
          <a:xfrm>
            <a:off x="4453128" y="5385816"/>
            <a:ext cx="3054096" cy="749808"/>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Every field records the models and a hash of their prompts; a set of hand-verified cases regression-tests the real pipeline before a change ships.</a:t>
            </a:r>
            <a:endParaRPr lang="en-US" sz="1050" dirty="0"/>
          </a:p>
        </p:txBody>
      </p:sp>
      <p:sp>
        <p:nvSpPr>
          <p:cNvPr id="50" name="Shape 48"/>
          <p:cNvSpPr/>
          <p:nvPr/>
        </p:nvSpPr>
        <p:spPr>
          <a:xfrm>
            <a:off x="7909560" y="3337560"/>
            <a:ext cx="3685032" cy="2926080"/>
          </a:xfrm>
          <a:prstGeom prst="roundRect">
            <a:avLst>
              <a:gd name="adj" fmla="val 1875"/>
            </a:avLst>
          </a:prstGeom>
          <a:solidFill>
            <a:srgbClr val="10243A"/>
          </a:solidFill>
          <a:ln/>
        </p:spPr>
      </p:sp>
      <p:sp>
        <p:nvSpPr>
          <p:cNvPr id="51" name="Text 49"/>
          <p:cNvSpPr txBox="1"/>
          <p:nvPr/>
        </p:nvSpPr>
        <p:spPr>
          <a:xfrm>
            <a:off x="8183880" y="3538728"/>
            <a:ext cx="3108960" cy="219456"/>
          </a:xfrm>
          <a:prstGeom prst="rect">
            <a:avLst/>
          </a:prstGeom>
          <a:noFill/>
          <a:ln/>
        </p:spPr>
        <p:txBody>
          <a:bodyPr wrap="square" lIns="0" tIns="0" rIns="0" bIns="0" rtlCol="0" anchor="ctr"/>
          <a:lstStyle/>
          <a:p>
            <a:pPr indent="0" marL="0">
              <a:buNone/>
            </a:pPr>
            <a:r>
              <a:rPr lang="en-US" sz="1000" b="1" spc="200" kern="0" dirty="0">
                <a:solidFill>
                  <a:srgbClr val="B9CDDD"/>
                </a:solidFill>
                <a:latin typeface="Calibri" pitchFamily="34" charset="0"/>
                <a:ea typeface="Calibri" pitchFamily="34" charset="-122"/>
                <a:cs typeface="Calibri" pitchFamily="34" charset="-120"/>
              </a:rPr>
              <a:t>AT A GLANCE</a:t>
            </a:r>
            <a:endParaRPr lang="en-US" sz="1000" dirty="0"/>
          </a:p>
        </p:txBody>
      </p:sp>
      <p:sp>
        <p:nvSpPr>
          <p:cNvPr id="52" name="Text 50"/>
          <p:cNvSpPr txBox="1"/>
          <p:nvPr/>
        </p:nvSpPr>
        <p:spPr>
          <a:xfrm>
            <a:off x="8183880" y="3886200"/>
            <a:ext cx="1371600" cy="411480"/>
          </a:xfrm>
          <a:prstGeom prst="rect">
            <a:avLst/>
          </a:prstGeom>
          <a:noFill/>
          <a:ln/>
        </p:spPr>
        <p:txBody>
          <a:bodyPr wrap="square" lIns="0" tIns="0" rIns="0" bIns="0" rtlCol="0" anchor="ctr"/>
          <a:lstStyle/>
          <a:p>
            <a:pPr indent="0" marL="0">
              <a:buNone/>
            </a:pPr>
            <a:r>
              <a:rPr lang="en-US" sz="2400" b="1" dirty="0">
                <a:solidFill>
                  <a:srgbClr val="E0A526"/>
                </a:solidFill>
                <a:latin typeface="Cambria" pitchFamily="34" charset="0"/>
                <a:ea typeface="Cambria" pitchFamily="34" charset="-122"/>
                <a:cs typeface="Cambria" pitchFamily="34" charset="-120"/>
              </a:rPr>
              <a:t>~4,000</a:t>
            </a:r>
            <a:endParaRPr lang="en-US" sz="2400" dirty="0"/>
          </a:p>
        </p:txBody>
      </p:sp>
      <p:sp>
        <p:nvSpPr>
          <p:cNvPr id="53" name="Text 51"/>
          <p:cNvSpPr txBox="1"/>
          <p:nvPr/>
        </p:nvSpPr>
        <p:spPr>
          <a:xfrm>
            <a:off x="9601200" y="3867912"/>
            <a:ext cx="1737360" cy="502920"/>
          </a:xfrm>
          <a:prstGeom prst="rect">
            <a:avLst/>
          </a:prstGeom>
          <a:noFill/>
          <a:ln/>
        </p:spPr>
        <p:txBody>
          <a:bodyPr wrap="square" lIns="0" tIns="0" rIns="0" bIns="0" rtlCol="0" anchor="ctr"/>
          <a:lstStyle/>
          <a:p>
            <a:pPr indent="0" marL="0">
              <a:buNone/>
            </a:pPr>
            <a:r>
              <a:rPr lang="en-US" sz="950" dirty="0">
                <a:solidFill>
                  <a:srgbClr val="B9CDDD"/>
                </a:solidFill>
                <a:latin typeface="Calibri" pitchFamily="34" charset="0"/>
                <a:ea typeface="Calibri" pitchFamily="34" charset="-122"/>
                <a:cs typeface="Calibri" pitchFamily="34" charset="-120"/>
              </a:rPr>
              <a:t>companies per run — checkpointed, resumable, isolated per company</a:t>
            </a:r>
            <a:endParaRPr lang="en-US" sz="950" dirty="0"/>
          </a:p>
        </p:txBody>
      </p:sp>
      <p:sp>
        <p:nvSpPr>
          <p:cNvPr id="54" name="Text 52"/>
          <p:cNvSpPr txBox="1"/>
          <p:nvPr/>
        </p:nvSpPr>
        <p:spPr>
          <a:xfrm>
            <a:off x="8183880" y="4681728"/>
            <a:ext cx="1371600" cy="411480"/>
          </a:xfrm>
          <a:prstGeom prst="rect">
            <a:avLst/>
          </a:prstGeom>
          <a:noFill/>
          <a:ln/>
        </p:spPr>
        <p:txBody>
          <a:bodyPr wrap="square" lIns="0" tIns="0" rIns="0" bIns="0" rtlCol="0" anchor="ctr"/>
          <a:lstStyle/>
          <a:p>
            <a:pPr indent="0" marL="0">
              <a:buNone/>
            </a:pPr>
            <a:r>
              <a:rPr lang="en-US" sz="2400" b="1" dirty="0">
                <a:solidFill>
                  <a:srgbClr val="E0A526"/>
                </a:solidFill>
                <a:latin typeface="Cambria" pitchFamily="34" charset="0"/>
                <a:ea typeface="Cambria" pitchFamily="34" charset="-122"/>
                <a:cs typeface="Cambria" pitchFamily="34" charset="-120"/>
              </a:rPr>
              <a:t>2 models</a:t>
            </a:r>
            <a:endParaRPr lang="en-US" sz="2400" dirty="0"/>
          </a:p>
        </p:txBody>
      </p:sp>
      <p:sp>
        <p:nvSpPr>
          <p:cNvPr id="55" name="Text 53"/>
          <p:cNvSpPr txBox="1"/>
          <p:nvPr/>
        </p:nvSpPr>
        <p:spPr>
          <a:xfrm>
            <a:off x="9601200" y="4663440"/>
            <a:ext cx="1737360" cy="502920"/>
          </a:xfrm>
          <a:prstGeom prst="rect">
            <a:avLst/>
          </a:prstGeom>
          <a:noFill/>
          <a:ln/>
        </p:spPr>
        <p:txBody>
          <a:bodyPr wrap="square" lIns="0" tIns="0" rIns="0" bIns="0" rtlCol="0" anchor="ctr"/>
          <a:lstStyle/>
          <a:p>
            <a:pPr indent="0" marL="0">
              <a:buNone/>
            </a:pPr>
            <a:r>
              <a:rPr lang="en-US" sz="950" dirty="0">
                <a:solidFill>
                  <a:srgbClr val="B9CDDD"/>
                </a:solidFill>
                <a:latin typeface="Calibri" pitchFamily="34" charset="0"/>
                <a:ea typeface="Calibri" pitchFamily="34" charset="-122"/>
                <a:cs typeface="Calibri" pitchFamily="34" charset="-120"/>
              </a:rPr>
              <a:t>an extractor and an independent verifier on every single field</a:t>
            </a:r>
            <a:endParaRPr lang="en-US" sz="950" dirty="0"/>
          </a:p>
        </p:txBody>
      </p:sp>
      <p:sp>
        <p:nvSpPr>
          <p:cNvPr id="56" name="Text 54"/>
          <p:cNvSpPr txBox="1"/>
          <p:nvPr/>
        </p:nvSpPr>
        <p:spPr>
          <a:xfrm>
            <a:off x="8183880" y="5477256"/>
            <a:ext cx="1371600" cy="411480"/>
          </a:xfrm>
          <a:prstGeom prst="rect">
            <a:avLst/>
          </a:prstGeom>
          <a:noFill/>
          <a:ln/>
        </p:spPr>
        <p:txBody>
          <a:bodyPr wrap="square" lIns="0" tIns="0" rIns="0" bIns="0" rtlCol="0" anchor="ctr"/>
          <a:lstStyle/>
          <a:p>
            <a:pPr indent="0" marL="0">
              <a:buNone/>
            </a:pPr>
            <a:r>
              <a:rPr lang="en-US" sz="2400" b="1" dirty="0">
                <a:solidFill>
                  <a:srgbClr val="E0A526"/>
                </a:solidFill>
                <a:latin typeface="Cambria" pitchFamily="34" charset="0"/>
                <a:ea typeface="Cambria" pitchFamily="34" charset="-122"/>
                <a:cs typeface="Cambria" pitchFamily="34" charset="-120"/>
              </a:rPr>
              <a:t>100%</a:t>
            </a:r>
            <a:endParaRPr lang="en-US" sz="2400" dirty="0"/>
          </a:p>
        </p:txBody>
      </p:sp>
      <p:sp>
        <p:nvSpPr>
          <p:cNvPr id="57" name="Text 55"/>
          <p:cNvSpPr txBox="1"/>
          <p:nvPr/>
        </p:nvSpPr>
        <p:spPr>
          <a:xfrm>
            <a:off x="9601200" y="5458968"/>
            <a:ext cx="1737360" cy="502920"/>
          </a:xfrm>
          <a:prstGeom prst="rect">
            <a:avLst/>
          </a:prstGeom>
          <a:noFill/>
          <a:ln/>
        </p:spPr>
        <p:txBody>
          <a:bodyPr wrap="square" lIns="0" tIns="0" rIns="0" bIns="0" rtlCol="0" anchor="ctr"/>
          <a:lstStyle/>
          <a:p>
            <a:pPr indent="0" marL="0">
              <a:buNone/>
            </a:pPr>
            <a:r>
              <a:rPr lang="en-US" sz="950" dirty="0">
                <a:solidFill>
                  <a:srgbClr val="B9CDDD"/>
                </a:solidFill>
                <a:latin typeface="Calibri" pitchFamily="34" charset="0"/>
                <a:ea typeface="Calibri" pitchFamily="34" charset="-122"/>
                <a:cs typeface="Calibri" pitchFamily="34" charset="-120"/>
              </a:rPr>
              <a:t>of citations re-checked in code against the original document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243A"/>
        </a:solidFill>
      </p:bgPr>
    </p:bg>
    <p:spTree>
      <p:nvGrpSpPr>
        <p:cNvPr id="1" name=""/>
        <p:cNvGrpSpPr/>
        <p:nvPr/>
      </p:nvGrpSpPr>
      <p:grpSpPr>
        <a:xfrm>
          <a:off x="0" y="0"/>
          <a:ext cx="0" cy="0"/>
          <a:chOff x="0" y="0"/>
          <a:chExt cx="0" cy="0"/>
        </a:xfrm>
      </p:grpSpPr>
      <p:sp>
        <p:nvSpPr>
          <p:cNvPr id="2" name="Text 0"/>
          <p:cNvSpPr txBox="1"/>
          <p:nvPr/>
        </p:nvSpPr>
        <p:spPr>
          <a:xfrm>
            <a:off x="594360" y="438912"/>
            <a:ext cx="11000232" cy="219456"/>
          </a:xfrm>
          <a:prstGeom prst="rect">
            <a:avLst/>
          </a:prstGeom>
          <a:noFill/>
          <a:ln/>
        </p:spPr>
        <p:txBody>
          <a:bodyPr wrap="square" lIns="0" tIns="0" rIns="0" bIns="0" rtlCol="0" anchor="ctr"/>
          <a:lstStyle/>
          <a:p>
            <a:pPr indent="0" marL="0">
              <a:buNone/>
            </a:pPr>
            <a:r>
              <a:rPr lang="en-US" sz="1100" b="1" spc="200" kern="0" dirty="0">
                <a:solidFill>
                  <a:srgbClr val="E0A526"/>
                </a:solidFill>
                <a:latin typeface="Calibri" pitchFamily="34" charset="0"/>
                <a:ea typeface="Calibri" pitchFamily="34" charset="-122"/>
                <a:cs typeface="Calibri" pitchFamily="34" charset="-120"/>
              </a:rPr>
              <a:t>PILLAR 02   ·   THEMATIC UNIVERSE BUILDER</a:t>
            </a:r>
            <a:endParaRPr lang="en-US" sz="1100" dirty="0"/>
          </a:p>
        </p:txBody>
      </p:sp>
      <p:sp>
        <p:nvSpPr>
          <p:cNvPr id="3" name="Text 1"/>
          <p:cNvSpPr txBox="1"/>
          <p:nvPr/>
        </p:nvSpPr>
        <p:spPr>
          <a:xfrm>
            <a:off x="594360" y="694944"/>
            <a:ext cx="11000232" cy="56692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Emerging Theme Detector</a:t>
            </a:r>
            <a:endParaRPr lang="en-US" sz="3800" dirty="0"/>
          </a:p>
        </p:txBody>
      </p:sp>
      <p:sp>
        <p:nvSpPr>
          <p:cNvPr id="4" name="Text 2"/>
          <p:cNvSpPr txBox="1"/>
          <p:nvPr/>
        </p:nvSpPr>
        <p:spPr>
          <a:xfrm>
            <a:off x="594360" y="1298448"/>
            <a:ext cx="10634472" cy="365760"/>
          </a:xfrm>
          <a:prstGeom prst="rect">
            <a:avLst/>
          </a:prstGeom>
          <a:noFill/>
          <a:ln/>
        </p:spPr>
        <p:txBody>
          <a:bodyPr wrap="square" lIns="0" tIns="0" rIns="0" bIns="0" rtlCol="0" anchor="ctr"/>
          <a:lstStyle/>
          <a:p>
            <a:pPr indent="0" marL="0">
              <a:buNone/>
            </a:pPr>
            <a:r>
              <a:rPr lang="en-US" sz="1400" dirty="0">
                <a:solidFill>
                  <a:srgbClr val="B9CDDD"/>
                </a:solidFill>
                <a:latin typeface="Calibri" pitchFamily="34" charset="0"/>
                <a:ea typeface="Calibri" pitchFamily="34" charset="-122"/>
                <a:cs typeface="Calibri" pitchFamily="34" charset="-120"/>
              </a:rPr>
              <a:t>From a macro theme to a defensible, ratified set of business activities — and the companies that actually do the work.</a:t>
            </a:r>
            <a:endParaRPr lang="en-US" sz="1400" dirty="0"/>
          </a:p>
        </p:txBody>
      </p:sp>
      <p:sp>
        <p:nvSpPr>
          <p:cNvPr id="5" name="Text 3"/>
          <p:cNvSpPr txBox="1"/>
          <p:nvPr/>
        </p:nvSpPr>
        <p:spPr>
          <a:xfrm>
            <a:off x="594360" y="1810512"/>
            <a:ext cx="5486400" cy="29260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Seven ways to draw the boundary</a:t>
            </a:r>
            <a:endParaRPr lang="en-US" sz="1900" dirty="0"/>
          </a:p>
        </p:txBody>
      </p:sp>
      <p:sp>
        <p:nvSpPr>
          <p:cNvPr id="6" name="Text 4"/>
          <p:cNvSpPr txBox="1"/>
          <p:nvPr/>
        </p:nvSpPr>
        <p:spPr>
          <a:xfrm>
            <a:off x="594360" y="2121408"/>
            <a:ext cx="5486400" cy="256032"/>
          </a:xfrm>
          <a:prstGeom prst="rect">
            <a:avLst/>
          </a:prstGeom>
          <a:noFill/>
          <a:ln/>
        </p:spPr>
        <p:txBody>
          <a:bodyPr wrap="square" lIns="0" tIns="0" rIns="0" bIns="0" rtlCol="0" anchor="ctr"/>
          <a:lstStyle/>
          <a:p>
            <a:pPr indent="0" marL="0">
              <a:buNone/>
            </a:pPr>
            <a:r>
              <a:rPr lang="en-US" sz="1050" dirty="0">
                <a:solidFill>
                  <a:srgbClr val="B9CDDD"/>
                </a:solidFill>
                <a:latin typeface="Calibri" pitchFamily="34" charset="0"/>
                <a:ea typeface="Calibri" pitchFamily="34" charset="-122"/>
                <a:cs typeface="Calibri" pitchFamily="34" charset="-120"/>
              </a:rPr>
              <a:t>Each version records its method and sources, and is ratified by a named human before use.</a:t>
            </a:r>
            <a:endParaRPr lang="en-US" sz="1050" dirty="0"/>
          </a:p>
        </p:txBody>
      </p:sp>
      <p:sp>
        <p:nvSpPr>
          <p:cNvPr id="7" name="Shape 5"/>
          <p:cNvSpPr/>
          <p:nvPr/>
        </p:nvSpPr>
        <p:spPr>
          <a:xfrm>
            <a:off x="594360" y="2468880"/>
            <a:ext cx="5486400" cy="1005840"/>
          </a:xfrm>
          <a:prstGeom prst="roundRect">
            <a:avLst>
              <a:gd name="adj" fmla="val 5455"/>
            </a:avLst>
          </a:prstGeom>
          <a:solidFill>
            <a:srgbClr val="1E3F5E"/>
          </a:solidFill>
          <a:ln/>
        </p:spPr>
      </p:sp>
      <p:sp>
        <p:nvSpPr>
          <p:cNvPr id="8" name="Text 6"/>
          <p:cNvSpPr txBox="1"/>
          <p:nvPr/>
        </p:nvSpPr>
        <p:spPr>
          <a:xfrm>
            <a:off x="795528" y="2615184"/>
            <a:ext cx="1828800" cy="219456"/>
          </a:xfrm>
          <a:prstGeom prst="rect">
            <a:avLst/>
          </a:prstGeom>
          <a:noFill/>
          <a:ln/>
        </p:spPr>
        <p:txBody>
          <a:bodyPr wrap="square" lIns="0" tIns="0" rIns="0" bIns="0" rtlCol="0" anchor="ctr"/>
          <a:lstStyle/>
          <a:p>
            <a:pPr indent="0" marL="0">
              <a:buNone/>
            </a:pPr>
            <a:r>
              <a:rPr lang="en-US" sz="1000" b="1" spc="160" kern="0" dirty="0">
                <a:solidFill>
                  <a:srgbClr val="E0A526"/>
                </a:solidFill>
                <a:latin typeface="Calibri" pitchFamily="34" charset="0"/>
                <a:ea typeface="Calibri" pitchFamily="34" charset="-122"/>
                <a:cs typeface="Calibri" pitchFamily="34" charset="-120"/>
              </a:rPr>
              <a:t>TOP-DOWN</a:t>
            </a:r>
            <a:endParaRPr lang="en-US" sz="1000" dirty="0"/>
          </a:p>
        </p:txBody>
      </p:sp>
      <p:sp>
        <p:nvSpPr>
          <p:cNvPr id="9" name="Text 7"/>
          <p:cNvSpPr txBox="1"/>
          <p:nvPr/>
        </p:nvSpPr>
        <p:spPr>
          <a:xfrm>
            <a:off x="795528" y="2871216"/>
            <a:ext cx="5084064" cy="51206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 freeform decomposition, an anchor to a real closed industry list, or a grounded extraction from an authority document — where an unverifiable quote is dropped, not merely flagged.</a:t>
            </a:r>
            <a:endParaRPr lang="en-US" sz="1050" dirty="0"/>
          </a:p>
        </p:txBody>
      </p:sp>
      <p:sp>
        <p:nvSpPr>
          <p:cNvPr id="10" name="Shape 8"/>
          <p:cNvSpPr/>
          <p:nvPr/>
        </p:nvSpPr>
        <p:spPr>
          <a:xfrm>
            <a:off x="594360" y="3602736"/>
            <a:ext cx="5486400" cy="1005840"/>
          </a:xfrm>
          <a:prstGeom prst="roundRect">
            <a:avLst>
              <a:gd name="adj" fmla="val 5455"/>
            </a:avLst>
          </a:prstGeom>
          <a:solidFill>
            <a:srgbClr val="1E3F5E"/>
          </a:solidFill>
          <a:ln/>
        </p:spPr>
      </p:sp>
      <p:sp>
        <p:nvSpPr>
          <p:cNvPr id="11" name="Text 9"/>
          <p:cNvSpPr txBox="1"/>
          <p:nvPr/>
        </p:nvSpPr>
        <p:spPr>
          <a:xfrm>
            <a:off x="795528" y="3749040"/>
            <a:ext cx="1828800" cy="219456"/>
          </a:xfrm>
          <a:prstGeom prst="rect">
            <a:avLst/>
          </a:prstGeom>
          <a:noFill/>
          <a:ln/>
        </p:spPr>
        <p:txBody>
          <a:bodyPr wrap="square" lIns="0" tIns="0" rIns="0" bIns="0" rtlCol="0" anchor="ctr"/>
          <a:lstStyle/>
          <a:p>
            <a:pPr indent="0" marL="0">
              <a:buNone/>
            </a:pPr>
            <a:r>
              <a:rPr lang="en-US" sz="1000" b="1" spc="160" kern="0" dirty="0">
                <a:solidFill>
                  <a:srgbClr val="E0A526"/>
                </a:solidFill>
                <a:latin typeface="Calibri" pitchFamily="34" charset="0"/>
                <a:ea typeface="Calibri" pitchFamily="34" charset="-122"/>
                <a:cs typeface="Calibri" pitchFamily="34" charset="-120"/>
              </a:rPr>
              <a:t>BOTTOM-UP</a:t>
            </a:r>
            <a:endParaRPr lang="en-US" sz="1000" dirty="0"/>
          </a:p>
        </p:txBody>
      </p:sp>
      <p:sp>
        <p:nvSpPr>
          <p:cNvPr id="12" name="Text 10"/>
          <p:cNvSpPr txBox="1"/>
          <p:nvPr/>
        </p:nvSpPr>
        <p:spPr>
          <a:xfrm>
            <a:off x="795528" y="4005072"/>
            <a:ext cx="5084064" cy="51206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Synthesised from a thematic ETF's holdings, from current news and earnings-call passages, or from the extraction engine's own reading of a sample universe.</a:t>
            </a:r>
            <a:endParaRPr lang="en-US" sz="1050" dirty="0"/>
          </a:p>
        </p:txBody>
      </p:sp>
      <p:sp>
        <p:nvSpPr>
          <p:cNvPr id="13" name="Shape 11"/>
          <p:cNvSpPr/>
          <p:nvPr/>
        </p:nvSpPr>
        <p:spPr>
          <a:xfrm>
            <a:off x="594360" y="4736592"/>
            <a:ext cx="5486400" cy="1005840"/>
          </a:xfrm>
          <a:prstGeom prst="roundRect">
            <a:avLst>
              <a:gd name="adj" fmla="val 5455"/>
            </a:avLst>
          </a:prstGeom>
          <a:solidFill>
            <a:srgbClr val="1E3F5E"/>
          </a:solidFill>
          <a:ln/>
        </p:spPr>
      </p:sp>
      <p:sp>
        <p:nvSpPr>
          <p:cNvPr id="14" name="Text 12"/>
          <p:cNvSpPr txBox="1"/>
          <p:nvPr/>
        </p:nvSpPr>
        <p:spPr>
          <a:xfrm>
            <a:off x="795528" y="4882896"/>
            <a:ext cx="1828800" cy="219456"/>
          </a:xfrm>
          <a:prstGeom prst="rect">
            <a:avLst/>
          </a:prstGeom>
          <a:noFill/>
          <a:ln/>
        </p:spPr>
        <p:txBody>
          <a:bodyPr wrap="square" lIns="0" tIns="0" rIns="0" bIns="0" rtlCol="0" anchor="ctr"/>
          <a:lstStyle/>
          <a:p>
            <a:pPr indent="0" marL="0">
              <a:buNone/>
            </a:pPr>
            <a:r>
              <a:rPr lang="en-US" sz="1000" b="1" spc="160" kern="0" dirty="0">
                <a:solidFill>
                  <a:srgbClr val="E0A526"/>
                </a:solidFill>
                <a:latin typeface="Calibri" pitchFamily="34" charset="0"/>
                <a:ea typeface="Calibri" pitchFamily="34" charset="-122"/>
                <a:cs typeface="Calibri" pitchFamily="34" charset="-120"/>
              </a:rPr>
              <a:t>RECONCILED</a:t>
            </a:r>
            <a:endParaRPr lang="en-US" sz="1000" dirty="0"/>
          </a:p>
        </p:txBody>
      </p:sp>
      <p:sp>
        <p:nvSpPr>
          <p:cNvPr id="15" name="Text 13"/>
          <p:cNvSpPr txBox="1"/>
          <p:nvPr/>
        </p:nvSpPr>
        <p:spPr>
          <a:xfrm>
            <a:off x="795528" y="5138928"/>
            <a:ext cx="5084064" cy="51206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Two saved taxonomies compared and merged into one MECE set — always handed back as an editable draft, never auto-saved.</a:t>
            </a:r>
            <a:endParaRPr lang="en-US" sz="1050" dirty="0"/>
          </a:p>
        </p:txBody>
      </p:sp>
      <p:sp>
        <p:nvSpPr>
          <p:cNvPr id="16" name="Text 14"/>
          <p:cNvSpPr txBox="1"/>
          <p:nvPr/>
        </p:nvSpPr>
        <p:spPr>
          <a:xfrm>
            <a:off x="6492240" y="1810512"/>
            <a:ext cx="5102352" cy="29260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Then, company by company</a:t>
            </a:r>
            <a:endParaRPr lang="en-US" sz="1900" dirty="0"/>
          </a:p>
        </p:txBody>
      </p:sp>
      <p:sp>
        <p:nvSpPr>
          <p:cNvPr id="17" name="Text 15"/>
          <p:cNvSpPr txBox="1"/>
          <p:nvPr/>
        </p:nvSpPr>
        <p:spPr>
          <a:xfrm>
            <a:off x="6492240" y="2121408"/>
            <a:ext cx="5102352" cy="256032"/>
          </a:xfrm>
          <a:prstGeom prst="rect">
            <a:avLst/>
          </a:prstGeom>
          <a:noFill/>
          <a:ln/>
        </p:spPr>
        <p:txBody>
          <a:bodyPr wrap="square" lIns="0" tIns="0" rIns="0" bIns="0" rtlCol="0" anchor="ctr"/>
          <a:lstStyle/>
          <a:p>
            <a:pPr indent="0" marL="0">
              <a:buNone/>
            </a:pPr>
            <a:r>
              <a:rPr lang="en-US" sz="1050" dirty="0">
                <a:solidFill>
                  <a:srgbClr val="B9CDDD"/>
                </a:solidFill>
                <a:latin typeface="Calibri" pitchFamily="34" charset="0"/>
                <a:ea typeface="Calibri" pitchFamily="34" charset="-122"/>
                <a:cs typeface="Calibri" pitchFamily="34" charset="-120"/>
              </a:rPr>
              <a:t>A three-agent debate over retrieved evidence, not a one-shot judgment.</a:t>
            </a:r>
            <a:endParaRPr lang="en-US" sz="1050" dirty="0"/>
          </a:p>
        </p:txBody>
      </p:sp>
      <p:sp>
        <p:nvSpPr>
          <p:cNvPr id="18" name="Shape 16"/>
          <p:cNvSpPr/>
          <p:nvPr/>
        </p:nvSpPr>
        <p:spPr>
          <a:xfrm>
            <a:off x="6492240" y="2468880"/>
            <a:ext cx="5102352" cy="749808"/>
          </a:xfrm>
          <a:prstGeom prst="roundRect">
            <a:avLst>
              <a:gd name="adj" fmla="val 7317"/>
            </a:avLst>
          </a:prstGeom>
          <a:solidFill>
            <a:srgbClr val="1E3F5E"/>
          </a:solidFill>
          <a:ln/>
        </p:spPr>
      </p:sp>
      <p:sp>
        <p:nvSpPr>
          <p:cNvPr id="19" name="Shape 17"/>
          <p:cNvSpPr/>
          <p:nvPr/>
        </p:nvSpPr>
        <p:spPr>
          <a:xfrm>
            <a:off x="6693408" y="2660904"/>
            <a:ext cx="365760" cy="365760"/>
          </a:xfrm>
          <a:prstGeom prst="ellipse">
            <a:avLst/>
          </a:prstGeom>
          <a:solidFill>
            <a:srgbClr val="E0A526"/>
          </a:solidFill>
          <a:ln/>
        </p:spPr>
      </p:sp>
      <p:sp>
        <p:nvSpPr>
          <p:cNvPr id="20" name="Text 18"/>
          <p:cNvSpPr txBox="1"/>
          <p:nvPr/>
        </p:nvSpPr>
        <p:spPr>
          <a:xfrm>
            <a:off x="6693408" y="2674620"/>
            <a:ext cx="365760" cy="365760"/>
          </a:xfrm>
          <a:prstGeom prst="rect">
            <a:avLst/>
          </a:prstGeom>
          <a:noFill/>
          <a:ln/>
        </p:spPr>
        <p:txBody>
          <a:bodyPr wrap="square" lIns="0" tIns="0" rIns="0" bIns="0" rtlCol="0" anchor="ctr"/>
          <a:lstStyle/>
          <a:p>
            <a:pPr algn="ctr" indent="0" marL="0">
              <a:buNone/>
            </a:pPr>
            <a:r>
              <a:rPr lang="en-US" sz="1100" b="1" dirty="0">
                <a:solidFill>
                  <a:srgbClr val="10243A"/>
                </a:solidFill>
                <a:latin typeface="Calibri" pitchFamily="34" charset="0"/>
                <a:ea typeface="Calibri" pitchFamily="34" charset="-122"/>
                <a:cs typeface="Calibri" pitchFamily="34" charset="-120"/>
              </a:rPr>
              <a:t>1</a:t>
            </a:r>
            <a:endParaRPr lang="en-US" sz="1100" dirty="0"/>
          </a:p>
        </p:txBody>
      </p:sp>
      <p:sp>
        <p:nvSpPr>
          <p:cNvPr id="21" name="Text 19"/>
          <p:cNvSpPr txBox="1"/>
          <p:nvPr/>
        </p:nvSpPr>
        <p:spPr>
          <a:xfrm>
            <a:off x="7187184" y="2560320"/>
            <a:ext cx="4187952"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Advocate</a:t>
            </a:r>
            <a:endParaRPr lang="en-US" sz="1350" dirty="0"/>
          </a:p>
        </p:txBody>
      </p:sp>
      <p:sp>
        <p:nvSpPr>
          <p:cNvPr id="22" name="Text 20"/>
          <p:cNvSpPr txBox="1"/>
          <p:nvPr/>
        </p:nvSpPr>
        <p:spPr>
          <a:xfrm>
            <a:off x="7187184" y="2834640"/>
            <a:ext cx="4187952" cy="310896"/>
          </a:xfrm>
          <a:prstGeom prst="rect">
            <a:avLst/>
          </a:prstGeom>
          <a:noFill/>
          <a:ln/>
        </p:spPr>
        <p:txBody>
          <a:bodyPr wrap="square" lIns="0" tIns="0" rIns="0" bIns="0" rtlCol="0" anchor="ctr"/>
          <a:lstStyle/>
          <a:p>
            <a:pPr indent="0" marL="0">
              <a:buNone/>
            </a:pPr>
            <a:r>
              <a:rPr lang="en-US" sz="1000" dirty="0">
                <a:solidFill>
                  <a:srgbClr val="B9CDDD"/>
                </a:solidFill>
                <a:latin typeface="Calibri" pitchFamily="34" charset="0"/>
                <a:ea typeface="Calibri" pitchFamily="34" charset="-122"/>
                <a:cs typeface="Calibri" pitchFamily="34" charset="-120"/>
              </a:rPr>
              <a:t>Argues the case for inclusion from what the company actually discloses.</a:t>
            </a:r>
            <a:endParaRPr lang="en-US" sz="1000" dirty="0"/>
          </a:p>
        </p:txBody>
      </p:sp>
      <p:sp>
        <p:nvSpPr>
          <p:cNvPr id="23" name="Shape 21"/>
          <p:cNvSpPr/>
          <p:nvPr/>
        </p:nvSpPr>
        <p:spPr>
          <a:xfrm>
            <a:off x="6492240" y="3310128"/>
            <a:ext cx="5102352" cy="749808"/>
          </a:xfrm>
          <a:prstGeom prst="roundRect">
            <a:avLst>
              <a:gd name="adj" fmla="val 7317"/>
            </a:avLst>
          </a:prstGeom>
          <a:solidFill>
            <a:srgbClr val="1E3F5E"/>
          </a:solidFill>
          <a:ln/>
        </p:spPr>
      </p:sp>
      <p:sp>
        <p:nvSpPr>
          <p:cNvPr id="24" name="Shape 22"/>
          <p:cNvSpPr/>
          <p:nvPr/>
        </p:nvSpPr>
        <p:spPr>
          <a:xfrm>
            <a:off x="6693408" y="3502152"/>
            <a:ext cx="365760" cy="365760"/>
          </a:xfrm>
          <a:prstGeom prst="ellipse">
            <a:avLst/>
          </a:prstGeom>
          <a:solidFill>
            <a:srgbClr val="E0A526"/>
          </a:solidFill>
          <a:ln/>
        </p:spPr>
      </p:sp>
      <p:sp>
        <p:nvSpPr>
          <p:cNvPr id="25" name="Text 23"/>
          <p:cNvSpPr txBox="1"/>
          <p:nvPr/>
        </p:nvSpPr>
        <p:spPr>
          <a:xfrm>
            <a:off x="6693408" y="3515868"/>
            <a:ext cx="365760" cy="365760"/>
          </a:xfrm>
          <a:prstGeom prst="rect">
            <a:avLst/>
          </a:prstGeom>
          <a:noFill/>
          <a:ln/>
        </p:spPr>
        <p:txBody>
          <a:bodyPr wrap="square" lIns="0" tIns="0" rIns="0" bIns="0" rtlCol="0" anchor="ctr"/>
          <a:lstStyle/>
          <a:p>
            <a:pPr algn="ctr" indent="0" marL="0">
              <a:buNone/>
            </a:pPr>
            <a:r>
              <a:rPr lang="en-US" sz="1100" b="1" dirty="0">
                <a:solidFill>
                  <a:srgbClr val="10243A"/>
                </a:solidFill>
                <a:latin typeface="Calibri" pitchFamily="34" charset="0"/>
                <a:ea typeface="Calibri" pitchFamily="34" charset="-122"/>
                <a:cs typeface="Calibri" pitchFamily="34" charset="-120"/>
              </a:rPr>
              <a:t>2</a:t>
            </a:r>
            <a:endParaRPr lang="en-US" sz="1100" dirty="0"/>
          </a:p>
        </p:txBody>
      </p:sp>
      <p:sp>
        <p:nvSpPr>
          <p:cNvPr id="26" name="Text 24"/>
          <p:cNvSpPr txBox="1"/>
          <p:nvPr/>
        </p:nvSpPr>
        <p:spPr>
          <a:xfrm>
            <a:off x="7187184" y="3401568"/>
            <a:ext cx="4187952"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Opposing</a:t>
            </a:r>
            <a:endParaRPr lang="en-US" sz="1350" dirty="0"/>
          </a:p>
        </p:txBody>
      </p:sp>
      <p:sp>
        <p:nvSpPr>
          <p:cNvPr id="27" name="Text 25"/>
          <p:cNvSpPr txBox="1"/>
          <p:nvPr/>
        </p:nvSpPr>
        <p:spPr>
          <a:xfrm>
            <a:off x="7187184" y="3675888"/>
            <a:ext cx="4187952" cy="310896"/>
          </a:xfrm>
          <a:prstGeom prst="rect">
            <a:avLst/>
          </a:prstGeom>
          <a:noFill/>
          <a:ln/>
        </p:spPr>
        <p:txBody>
          <a:bodyPr wrap="square" lIns="0" tIns="0" rIns="0" bIns="0" rtlCol="0" anchor="ctr"/>
          <a:lstStyle/>
          <a:p>
            <a:pPr indent="0" marL="0">
              <a:buNone/>
            </a:pPr>
            <a:r>
              <a:rPr lang="en-US" sz="1000" dirty="0">
                <a:solidFill>
                  <a:srgbClr val="B9CDDD"/>
                </a:solidFill>
                <a:latin typeface="Calibri" pitchFamily="34" charset="0"/>
                <a:ea typeface="Calibri" pitchFamily="34" charset="-122"/>
                <a:cs typeface="Calibri" pitchFamily="34" charset="-120"/>
              </a:rPr>
              <a:t>Hunts for aspirational language, out-of-scope activity and greenwashing.</a:t>
            </a:r>
            <a:endParaRPr lang="en-US" sz="1000" dirty="0"/>
          </a:p>
        </p:txBody>
      </p:sp>
      <p:sp>
        <p:nvSpPr>
          <p:cNvPr id="28" name="Shape 26"/>
          <p:cNvSpPr/>
          <p:nvPr/>
        </p:nvSpPr>
        <p:spPr>
          <a:xfrm>
            <a:off x="6492240" y="4151376"/>
            <a:ext cx="5102352" cy="749808"/>
          </a:xfrm>
          <a:prstGeom prst="roundRect">
            <a:avLst>
              <a:gd name="adj" fmla="val 7317"/>
            </a:avLst>
          </a:prstGeom>
          <a:solidFill>
            <a:srgbClr val="1E3F5E"/>
          </a:solidFill>
          <a:ln/>
        </p:spPr>
      </p:sp>
      <p:sp>
        <p:nvSpPr>
          <p:cNvPr id="29" name="Shape 27"/>
          <p:cNvSpPr/>
          <p:nvPr/>
        </p:nvSpPr>
        <p:spPr>
          <a:xfrm>
            <a:off x="6693408" y="4343400"/>
            <a:ext cx="365760" cy="365760"/>
          </a:xfrm>
          <a:prstGeom prst="ellipse">
            <a:avLst/>
          </a:prstGeom>
          <a:solidFill>
            <a:srgbClr val="E0A526"/>
          </a:solidFill>
          <a:ln/>
        </p:spPr>
      </p:sp>
      <p:sp>
        <p:nvSpPr>
          <p:cNvPr id="30" name="Text 28"/>
          <p:cNvSpPr txBox="1"/>
          <p:nvPr/>
        </p:nvSpPr>
        <p:spPr>
          <a:xfrm>
            <a:off x="6693408" y="4357116"/>
            <a:ext cx="365760" cy="365760"/>
          </a:xfrm>
          <a:prstGeom prst="rect">
            <a:avLst/>
          </a:prstGeom>
          <a:noFill/>
          <a:ln/>
        </p:spPr>
        <p:txBody>
          <a:bodyPr wrap="square" lIns="0" tIns="0" rIns="0" bIns="0" rtlCol="0" anchor="ctr"/>
          <a:lstStyle/>
          <a:p>
            <a:pPr algn="ctr" indent="0" marL="0">
              <a:buNone/>
            </a:pPr>
            <a:r>
              <a:rPr lang="en-US" sz="1100" b="1" dirty="0">
                <a:solidFill>
                  <a:srgbClr val="10243A"/>
                </a:solidFill>
                <a:latin typeface="Calibri" pitchFamily="34" charset="0"/>
                <a:ea typeface="Calibri" pitchFamily="34" charset="-122"/>
                <a:cs typeface="Calibri" pitchFamily="34" charset="-120"/>
              </a:rPr>
              <a:t>3</a:t>
            </a:r>
            <a:endParaRPr lang="en-US" sz="1100" dirty="0"/>
          </a:p>
        </p:txBody>
      </p:sp>
      <p:sp>
        <p:nvSpPr>
          <p:cNvPr id="31" name="Text 29"/>
          <p:cNvSpPr txBox="1"/>
          <p:nvPr/>
        </p:nvSpPr>
        <p:spPr>
          <a:xfrm>
            <a:off x="7187184" y="4242816"/>
            <a:ext cx="4187952"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Adjudicator</a:t>
            </a:r>
            <a:endParaRPr lang="en-US" sz="1350" dirty="0"/>
          </a:p>
        </p:txBody>
      </p:sp>
      <p:sp>
        <p:nvSpPr>
          <p:cNvPr id="32" name="Text 30"/>
          <p:cNvSpPr txBox="1"/>
          <p:nvPr/>
        </p:nvSpPr>
        <p:spPr>
          <a:xfrm>
            <a:off x="7187184" y="4517136"/>
            <a:ext cx="4187952" cy="310896"/>
          </a:xfrm>
          <a:prstGeom prst="rect">
            <a:avLst/>
          </a:prstGeom>
          <a:noFill/>
          <a:ln/>
        </p:spPr>
        <p:txBody>
          <a:bodyPr wrap="square" lIns="0" tIns="0" rIns="0" bIns="0" rtlCol="0" anchor="ctr"/>
          <a:lstStyle/>
          <a:p>
            <a:pPr indent="0" marL="0">
              <a:buNone/>
            </a:pPr>
            <a:r>
              <a:rPr lang="en-US" sz="1000" dirty="0">
                <a:solidFill>
                  <a:srgbClr val="B9CDDD"/>
                </a:solidFill>
                <a:latin typeface="Calibri" pitchFamily="34" charset="0"/>
                <a:ea typeface="Calibri" pitchFamily="34" charset="-122"/>
                <a:cs typeface="Calibri" pitchFamily="34" charset="-120"/>
              </a:rPr>
              <a:t>Weighs both against the evidence and sets the verdict and confidence.</a:t>
            </a:r>
            <a:endParaRPr lang="en-US" sz="1000" dirty="0"/>
          </a:p>
        </p:txBody>
      </p:sp>
      <p:sp>
        <p:nvSpPr>
          <p:cNvPr id="33" name="Text 31"/>
          <p:cNvSpPr txBox="1"/>
          <p:nvPr/>
        </p:nvSpPr>
        <p:spPr>
          <a:xfrm>
            <a:off x="6492240" y="5102352"/>
            <a:ext cx="5102352" cy="219456"/>
          </a:xfrm>
          <a:prstGeom prst="rect">
            <a:avLst/>
          </a:prstGeom>
          <a:noFill/>
          <a:ln/>
        </p:spPr>
        <p:txBody>
          <a:bodyPr wrap="square" lIns="0" tIns="0" rIns="0" bIns="0" rtlCol="0" anchor="ctr"/>
          <a:lstStyle/>
          <a:p>
            <a:pPr indent="0" marL="0">
              <a:buNone/>
            </a:pPr>
            <a:r>
              <a:rPr lang="en-US" sz="1000" b="1" spc="120" kern="0" dirty="0">
                <a:solidFill>
                  <a:srgbClr val="B9CDDD"/>
                </a:solidFill>
                <a:latin typeface="Calibri" pitchFamily="34" charset="0"/>
                <a:ea typeface="Calibri" pitchFamily="34" charset="-122"/>
                <a:cs typeface="Calibri" pitchFamily="34" charset="-120"/>
              </a:rPr>
              <a:t>The verdict is a ladder, not a yes/no</a:t>
            </a:r>
            <a:endParaRPr lang="en-US" sz="1000" dirty="0"/>
          </a:p>
        </p:txBody>
      </p:sp>
      <p:sp>
        <p:nvSpPr>
          <p:cNvPr id="34" name="Shape 32"/>
          <p:cNvSpPr/>
          <p:nvPr/>
        </p:nvSpPr>
        <p:spPr>
          <a:xfrm>
            <a:off x="6492240" y="5376672"/>
            <a:ext cx="1179576" cy="420624"/>
          </a:xfrm>
          <a:prstGeom prst="roundRect">
            <a:avLst>
              <a:gd name="adj" fmla="val 43478"/>
            </a:avLst>
          </a:prstGeom>
          <a:solidFill>
            <a:srgbClr val="E0A526"/>
          </a:solidFill>
          <a:ln/>
        </p:spPr>
      </p:sp>
      <p:sp>
        <p:nvSpPr>
          <p:cNvPr id="35" name="Text 33"/>
          <p:cNvSpPr txBox="1"/>
          <p:nvPr/>
        </p:nvSpPr>
        <p:spPr>
          <a:xfrm>
            <a:off x="6492240" y="5376672"/>
            <a:ext cx="1179576" cy="420624"/>
          </a:xfrm>
          <a:prstGeom prst="rect">
            <a:avLst/>
          </a:prstGeom>
          <a:noFill/>
          <a:ln/>
        </p:spPr>
        <p:txBody>
          <a:bodyPr wrap="square" lIns="0" tIns="0" rIns="0" bIns="0" rtlCol="0" anchor="ctr"/>
          <a:lstStyle/>
          <a:p>
            <a:pPr algn="ctr" indent="0" marL="0">
              <a:buNone/>
            </a:pPr>
            <a:r>
              <a:rPr lang="en-US" sz="1050" b="1" dirty="0">
                <a:solidFill>
                  <a:srgbClr val="10243A"/>
                </a:solidFill>
                <a:latin typeface="Calibri" pitchFamily="34" charset="0"/>
                <a:ea typeface="Calibri" pitchFamily="34" charset="-122"/>
                <a:cs typeface="Calibri" pitchFamily="34" charset="-120"/>
              </a:rPr>
              <a:t>Pure play</a:t>
            </a:r>
            <a:endParaRPr lang="en-US" sz="1050" dirty="0"/>
          </a:p>
        </p:txBody>
      </p:sp>
      <p:sp>
        <p:nvSpPr>
          <p:cNvPr id="36" name="Shape 34"/>
          <p:cNvSpPr/>
          <p:nvPr/>
        </p:nvSpPr>
        <p:spPr>
          <a:xfrm>
            <a:off x="7799832" y="5376672"/>
            <a:ext cx="1179576" cy="420624"/>
          </a:xfrm>
          <a:prstGeom prst="roundRect">
            <a:avLst>
              <a:gd name="adj" fmla="val 43478"/>
            </a:avLst>
          </a:prstGeom>
          <a:solidFill>
            <a:srgbClr val="1C7293"/>
          </a:solidFill>
          <a:ln/>
        </p:spPr>
      </p:sp>
      <p:sp>
        <p:nvSpPr>
          <p:cNvPr id="37" name="Text 35"/>
          <p:cNvSpPr txBox="1"/>
          <p:nvPr/>
        </p:nvSpPr>
        <p:spPr>
          <a:xfrm>
            <a:off x="7799832" y="5376672"/>
            <a:ext cx="1179576"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Significant</a:t>
            </a:r>
            <a:endParaRPr lang="en-US" sz="1050" dirty="0"/>
          </a:p>
        </p:txBody>
      </p:sp>
      <p:sp>
        <p:nvSpPr>
          <p:cNvPr id="38" name="Shape 36"/>
          <p:cNvSpPr/>
          <p:nvPr/>
        </p:nvSpPr>
        <p:spPr>
          <a:xfrm>
            <a:off x="9107424" y="5376672"/>
            <a:ext cx="1179576" cy="420624"/>
          </a:xfrm>
          <a:prstGeom prst="roundRect">
            <a:avLst>
              <a:gd name="adj" fmla="val 43478"/>
            </a:avLst>
          </a:prstGeom>
          <a:solidFill>
            <a:srgbClr val="1E3F5E"/>
          </a:solidFill>
          <a:ln/>
        </p:spPr>
      </p:sp>
      <p:sp>
        <p:nvSpPr>
          <p:cNvPr id="39" name="Text 37"/>
          <p:cNvSpPr txBox="1"/>
          <p:nvPr/>
        </p:nvSpPr>
        <p:spPr>
          <a:xfrm>
            <a:off x="9107424" y="5376672"/>
            <a:ext cx="1179576"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Minor</a:t>
            </a:r>
            <a:endParaRPr lang="en-US" sz="1050" dirty="0"/>
          </a:p>
        </p:txBody>
      </p:sp>
      <p:sp>
        <p:nvSpPr>
          <p:cNvPr id="40" name="Shape 38"/>
          <p:cNvSpPr/>
          <p:nvPr/>
        </p:nvSpPr>
        <p:spPr>
          <a:xfrm>
            <a:off x="10415016" y="5376672"/>
            <a:ext cx="1179576" cy="420624"/>
          </a:xfrm>
          <a:prstGeom prst="roundRect">
            <a:avLst>
              <a:gd name="adj" fmla="val 43478"/>
            </a:avLst>
          </a:prstGeom>
          <a:ln w="12700">
            <a:solidFill>
              <a:srgbClr val="3D5B7A"/>
            </a:solidFill>
            <a:prstDash val="solid"/>
          </a:ln>
        </p:spPr>
      </p:sp>
      <p:sp>
        <p:nvSpPr>
          <p:cNvPr id="41" name="Text 39"/>
          <p:cNvSpPr txBox="1"/>
          <p:nvPr/>
        </p:nvSpPr>
        <p:spPr>
          <a:xfrm>
            <a:off x="10415016" y="5376672"/>
            <a:ext cx="1179576" cy="420624"/>
          </a:xfrm>
          <a:prstGeom prst="rect">
            <a:avLst/>
          </a:prstGeom>
          <a:noFill/>
          <a:ln/>
        </p:spPr>
        <p:txBody>
          <a:bodyPr wrap="square" lIns="0" tIns="0" rIns="0" bIns="0" rtlCol="0" anchor="ctr"/>
          <a:lstStyle/>
          <a:p>
            <a:pPr algn="ctr" indent="0" marL="0">
              <a:buNone/>
            </a:pPr>
            <a:r>
              <a:rPr lang="en-US" sz="1050" b="1" dirty="0">
                <a:solidFill>
                  <a:srgbClr val="B9CDDD"/>
                </a:solidFill>
                <a:latin typeface="Calibri" pitchFamily="34" charset="0"/>
                <a:ea typeface="Calibri" pitchFamily="34" charset="-122"/>
                <a:cs typeface="Calibri" pitchFamily="34" charset="-120"/>
              </a:rPr>
              <a:t>None</a:t>
            </a:r>
            <a:endParaRPr lang="en-US" sz="1050" dirty="0"/>
          </a:p>
        </p:txBody>
      </p:sp>
      <p:sp>
        <p:nvSpPr>
          <p:cNvPr id="42" name="Shape 40"/>
          <p:cNvSpPr/>
          <p:nvPr/>
        </p:nvSpPr>
        <p:spPr>
          <a:xfrm>
            <a:off x="594360" y="5989320"/>
            <a:ext cx="11000232" cy="411480"/>
          </a:xfrm>
          <a:prstGeom prst="roundRect">
            <a:avLst>
              <a:gd name="adj" fmla="val 13333"/>
            </a:avLst>
          </a:prstGeom>
          <a:solidFill>
            <a:srgbClr val="1E3F5E"/>
          </a:solidFill>
          <a:ln/>
        </p:spPr>
      </p:sp>
      <p:sp>
        <p:nvSpPr>
          <p:cNvPr id="43" name="Text 41"/>
          <p:cNvSpPr txBox="1"/>
          <p:nvPr/>
        </p:nvSpPr>
        <p:spPr>
          <a:xfrm>
            <a:off x="795528" y="5989320"/>
            <a:ext cx="10597896" cy="411480"/>
          </a:xfrm>
          <a:prstGeom prst="rect">
            <a:avLst/>
          </a:prstGeom>
          <a:noFill/>
          <a:ln/>
        </p:spPr>
        <p:txBody>
          <a:bodyPr wrap="square" lIns="0" tIns="0" rIns="0" bIns="0" rtlCol="0" anchor="ctr"/>
          <a:lstStyle/>
          <a:p>
            <a:pPr indent="0" marL="0">
              <a:buNone/>
            </a:pPr>
            <a:r>
              <a:rPr lang="en-US" sz="1000" dirty="0">
                <a:solidFill>
                  <a:srgbClr val="B9CDDD"/>
                </a:solidFill>
                <a:latin typeface="Calibri" pitchFamily="34" charset="0"/>
                <a:ea typeface="Calibri" pitchFamily="34" charset="-122"/>
                <a:cs typeface="Calibri" pitchFamily="34" charset="-120"/>
              </a:rPr>
              <a:t>Opt-in indirect tier: a purely quantitative input-output computation over OECD ICIO surfaces structural supply-chain exposure for companies whose own disclosures stay silent — carried as a separate signal, never blended into the debate's verdict.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38912"/>
            <a:ext cx="11000232"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PILLAR 03   ·   PORTFOLIO RISK &amp; EXPOSURE MONITORING</a:t>
            </a:r>
            <a:endParaRPr lang="en-US" sz="1100" dirty="0"/>
          </a:p>
        </p:txBody>
      </p:sp>
      <p:sp>
        <p:nvSpPr>
          <p:cNvPr id="3" name="Text 1"/>
          <p:cNvSpPr txBox="1"/>
          <p:nvPr/>
        </p:nvSpPr>
        <p:spPr>
          <a:xfrm>
            <a:off x="594360" y="694944"/>
            <a:ext cx="11000232" cy="566928"/>
          </a:xfrm>
          <a:prstGeom prst="rect">
            <a:avLst/>
          </a:prstGeom>
          <a:noFill/>
          <a:ln/>
        </p:spPr>
        <p:txBody>
          <a:bodyPr wrap="square" lIns="0" tIns="0" rIns="0" bIns="0" rtlCol="0" anchor="ctr"/>
          <a:lstStyle/>
          <a:p>
            <a:pPr indent="0" marL="0">
              <a:buNone/>
            </a:pPr>
            <a:r>
              <a:rPr lang="en-US" sz="3800" b="1" dirty="0">
                <a:solidFill>
                  <a:srgbClr val="10243A"/>
                </a:solidFill>
                <a:latin typeface="Cambria" pitchFamily="34" charset="0"/>
                <a:ea typeface="Cambria" pitchFamily="34" charset="-122"/>
                <a:cs typeface="Cambria" pitchFamily="34" charset="-120"/>
              </a:rPr>
              <a:t>Portfolio Risk Monitoring</a:t>
            </a:r>
            <a:endParaRPr lang="en-US" sz="3800" dirty="0"/>
          </a:p>
        </p:txBody>
      </p:sp>
      <p:sp>
        <p:nvSpPr>
          <p:cNvPr id="4" name="Text 2"/>
          <p:cNvSpPr txBox="1"/>
          <p:nvPr/>
        </p:nvSpPr>
        <p:spPr>
          <a:xfrm>
            <a:off x="594360" y="1298448"/>
            <a:ext cx="10634472" cy="365760"/>
          </a:xfrm>
          <a:prstGeom prst="rect">
            <a:avLst/>
          </a:prstGeom>
          <a:noFill/>
          <a:ln/>
        </p:spPr>
        <p:txBody>
          <a:bodyPr wrap="square" lIns="0" tIns="0" rIns="0" bIns="0" rtlCol="0" anchor="ctr"/>
          <a:lstStyle/>
          <a:p>
            <a:pPr indent="0" marL="0">
              <a:buNone/>
            </a:pPr>
            <a:r>
              <a:rPr lang="en-US" sz="1400" dirty="0">
                <a:solidFill>
                  <a:srgbClr val="5A6B78"/>
                </a:solidFill>
                <a:latin typeface="Calibri" pitchFamily="34" charset="0"/>
                <a:ea typeface="Calibri" pitchFamily="34" charset="-122"/>
                <a:cs typeface="Calibri" pitchFamily="34" charset="-120"/>
              </a:rPr>
              <a:t>The holdings axis, joined to company-level research — with every number computed deterministically, never generated.</a:t>
            </a:r>
            <a:endParaRPr lang="en-US" sz="1400" dirty="0"/>
          </a:p>
        </p:txBody>
      </p:sp>
      <p:sp>
        <p:nvSpPr>
          <p:cNvPr id="5" name="Shape 3"/>
          <p:cNvSpPr/>
          <p:nvPr/>
        </p:nvSpPr>
        <p:spPr>
          <a:xfrm>
            <a:off x="594360" y="1783080"/>
            <a:ext cx="3508248" cy="1371600"/>
          </a:xfrm>
          <a:prstGeom prst="roundRect">
            <a:avLst>
              <a:gd name="adj" fmla="val 4000"/>
            </a:avLst>
          </a:prstGeom>
          <a:solidFill>
            <a:srgbClr val="F1F5F9"/>
          </a:solidFill>
          <a:ln w="12700">
            <a:solidFill>
              <a:srgbClr val="DBE4EC"/>
            </a:solidFill>
            <a:prstDash val="solid"/>
          </a:ln>
        </p:spPr>
      </p:sp>
      <p:sp>
        <p:nvSpPr>
          <p:cNvPr id="6" name="Shape 4"/>
          <p:cNvSpPr/>
          <p:nvPr/>
        </p:nvSpPr>
        <p:spPr>
          <a:xfrm>
            <a:off x="795528" y="2002536"/>
            <a:ext cx="274320" cy="274320"/>
          </a:xfrm>
          <a:prstGeom prst="ellipse">
            <a:avLst/>
          </a:prstGeom>
          <a:solidFill>
            <a:srgbClr val="1C7293"/>
          </a:solidFill>
          <a:ln/>
        </p:spPr>
      </p:sp>
      <p:sp>
        <p:nvSpPr>
          <p:cNvPr id="7" name="Text 5"/>
          <p:cNvSpPr txBox="1"/>
          <p:nvPr/>
        </p:nvSpPr>
        <p:spPr>
          <a:xfrm>
            <a:off x="795528" y="201168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8" name="Text 6"/>
          <p:cNvSpPr txBox="1"/>
          <p:nvPr/>
        </p:nvSpPr>
        <p:spPr>
          <a:xfrm>
            <a:off x="1161288" y="1984248"/>
            <a:ext cx="2740152" cy="310896"/>
          </a:xfrm>
          <a:prstGeom prst="rect">
            <a:avLst/>
          </a:prstGeom>
          <a:noFill/>
          <a:ln/>
        </p:spPr>
        <p:txBody>
          <a:bodyPr wrap="square" lIns="0" tIns="0" rIns="0" bIns="0" rtlCol="0" anchor="ctr"/>
          <a:lstStyle/>
          <a:p>
            <a:pPr indent="0" marL="0">
              <a:buNone/>
            </a:pPr>
            <a:r>
              <a:rPr lang="en-US" sz="1400" b="1" dirty="0">
                <a:solidFill>
                  <a:srgbClr val="10243A"/>
                </a:solidFill>
                <a:latin typeface="Cambria" pitchFamily="34" charset="0"/>
                <a:ea typeface="Cambria" pitchFamily="34" charset="-122"/>
                <a:cs typeface="Cambria" pitchFamily="34" charset="-120"/>
              </a:rPr>
              <a:t>Deterministic by design</a:t>
            </a:r>
            <a:endParaRPr lang="en-US" sz="1400" dirty="0"/>
          </a:p>
        </p:txBody>
      </p:sp>
      <p:sp>
        <p:nvSpPr>
          <p:cNvPr id="9" name="Text 7"/>
          <p:cNvSpPr txBox="1"/>
          <p:nvPr/>
        </p:nvSpPr>
        <p:spPr>
          <a:xfrm>
            <a:off x="795528" y="2377440"/>
            <a:ext cx="3105912" cy="658368"/>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No LLM sits inside any figure. The same query returns the same number every time, and it can be audited back to the positions that produced it.</a:t>
            </a:r>
            <a:endParaRPr lang="en-US" sz="1050" dirty="0"/>
          </a:p>
        </p:txBody>
      </p:sp>
      <p:sp>
        <p:nvSpPr>
          <p:cNvPr id="10" name="Shape 8"/>
          <p:cNvSpPr/>
          <p:nvPr/>
        </p:nvSpPr>
        <p:spPr>
          <a:xfrm>
            <a:off x="4340352" y="1783080"/>
            <a:ext cx="3508248" cy="1371600"/>
          </a:xfrm>
          <a:prstGeom prst="roundRect">
            <a:avLst>
              <a:gd name="adj" fmla="val 4000"/>
            </a:avLst>
          </a:prstGeom>
          <a:solidFill>
            <a:srgbClr val="F1F5F9"/>
          </a:solidFill>
          <a:ln w="12700">
            <a:solidFill>
              <a:srgbClr val="DBE4EC"/>
            </a:solidFill>
            <a:prstDash val="solid"/>
          </a:ln>
        </p:spPr>
      </p:sp>
      <p:sp>
        <p:nvSpPr>
          <p:cNvPr id="11" name="Shape 9"/>
          <p:cNvSpPr/>
          <p:nvPr/>
        </p:nvSpPr>
        <p:spPr>
          <a:xfrm>
            <a:off x="4541520" y="2002536"/>
            <a:ext cx="274320" cy="274320"/>
          </a:xfrm>
          <a:prstGeom prst="ellipse">
            <a:avLst/>
          </a:prstGeom>
          <a:solidFill>
            <a:srgbClr val="1C7293"/>
          </a:solidFill>
          <a:ln/>
        </p:spPr>
      </p:sp>
      <p:sp>
        <p:nvSpPr>
          <p:cNvPr id="12" name="Text 10"/>
          <p:cNvSpPr txBox="1"/>
          <p:nvPr/>
        </p:nvSpPr>
        <p:spPr>
          <a:xfrm>
            <a:off x="4541520" y="201168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3" name="Text 11"/>
          <p:cNvSpPr txBox="1"/>
          <p:nvPr/>
        </p:nvSpPr>
        <p:spPr>
          <a:xfrm>
            <a:off x="4907280" y="1984248"/>
            <a:ext cx="2740152" cy="310896"/>
          </a:xfrm>
          <a:prstGeom prst="rect">
            <a:avLst/>
          </a:prstGeom>
          <a:noFill/>
          <a:ln/>
        </p:spPr>
        <p:txBody>
          <a:bodyPr wrap="square" lIns="0" tIns="0" rIns="0" bIns="0" rtlCol="0" anchor="ctr"/>
          <a:lstStyle/>
          <a:p>
            <a:pPr indent="0" marL="0">
              <a:buNone/>
            </a:pPr>
            <a:r>
              <a:rPr lang="en-US" sz="1400" b="1" dirty="0">
                <a:solidFill>
                  <a:srgbClr val="10243A"/>
                </a:solidFill>
                <a:latin typeface="Cambria" pitchFamily="34" charset="0"/>
                <a:ea typeface="Cambria" pitchFamily="34" charset="-122"/>
                <a:cs typeface="Cambria" pitchFamily="34" charset="-120"/>
              </a:rPr>
              <a:t>Ask in plain language</a:t>
            </a:r>
            <a:endParaRPr lang="en-US" sz="1400" dirty="0"/>
          </a:p>
        </p:txBody>
      </p:sp>
      <p:sp>
        <p:nvSpPr>
          <p:cNvPr id="14" name="Text 12"/>
          <p:cNvSpPr txBox="1"/>
          <p:nvPr/>
        </p:nvSpPr>
        <p:spPr>
          <a:xfrm>
            <a:off x="4541520" y="2377440"/>
            <a:ext cx="3105912" cy="658368"/>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“How many EUR million of exposure to BMW?” The model only drafts the query; the engine computes the answer and the query is shown alongside it.</a:t>
            </a:r>
            <a:endParaRPr lang="en-US" sz="1050" dirty="0"/>
          </a:p>
        </p:txBody>
      </p:sp>
      <p:sp>
        <p:nvSpPr>
          <p:cNvPr id="15" name="Shape 13"/>
          <p:cNvSpPr/>
          <p:nvPr/>
        </p:nvSpPr>
        <p:spPr>
          <a:xfrm>
            <a:off x="8086344" y="1783080"/>
            <a:ext cx="3508248" cy="1371600"/>
          </a:xfrm>
          <a:prstGeom prst="roundRect">
            <a:avLst>
              <a:gd name="adj" fmla="val 4000"/>
            </a:avLst>
          </a:prstGeom>
          <a:solidFill>
            <a:srgbClr val="F1F5F9"/>
          </a:solidFill>
          <a:ln w="12700">
            <a:solidFill>
              <a:srgbClr val="DBE4EC"/>
            </a:solidFill>
            <a:prstDash val="solid"/>
          </a:ln>
        </p:spPr>
      </p:sp>
      <p:sp>
        <p:nvSpPr>
          <p:cNvPr id="16" name="Shape 14"/>
          <p:cNvSpPr/>
          <p:nvPr/>
        </p:nvSpPr>
        <p:spPr>
          <a:xfrm>
            <a:off x="8287512" y="2002536"/>
            <a:ext cx="274320" cy="274320"/>
          </a:xfrm>
          <a:prstGeom prst="ellipse">
            <a:avLst/>
          </a:prstGeom>
          <a:solidFill>
            <a:srgbClr val="1C7293"/>
          </a:solidFill>
          <a:ln/>
        </p:spPr>
      </p:sp>
      <p:sp>
        <p:nvSpPr>
          <p:cNvPr id="17" name="Text 15"/>
          <p:cNvSpPr txBox="1"/>
          <p:nvPr/>
        </p:nvSpPr>
        <p:spPr>
          <a:xfrm>
            <a:off x="8287512" y="201168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8" name="Text 16"/>
          <p:cNvSpPr txBox="1"/>
          <p:nvPr/>
        </p:nvSpPr>
        <p:spPr>
          <a:xfrm>
            <a:off x="8653272" y="1984248"/>
            <a:ext cx="2740152" cy="310896"/>
          </a:xfrm>
          <a:prstGeom prst="rect">
            <a:avLst/>
          </a:prstGeom>
          <a:noFill/>
          <a:ln/>
        </p:spPr>
        <p:txBody>
          <a:bodyPr wrap="square" lIns="0" tIns="0" rIns="0" bIns="0" rtlCol="0" anchor="ctr"/>
          <a:lstStyle/>
          <a:p>
            <a:pPr indent="0" marL="0">
              <a:buNone/>
            </a:pPr>
            <a:r>
              <a:rPr lang="en-US" sz="1400" b="1" dirty="0">
                <a:solidFill>
                  <a:srgbClr val="10243A"/>
                </a:solidFill>
                <a:latin typeface="Cambria" pitchFamily="34" charset="0"/>
                <a:ea typeface="Cambria" pitchFamily="34" charset="-122"/>
                <a:cs typeface="Cambria" pitchFamily="34" charset="-120"/>
              </a:rPr>
              <a:t>Holdings × research</a:t>
            </a:r>
            <a:endParaRPr lang="en-US" sz="1400" dirty="0"/>
          </a:p>
        </p:txBody>
      </p:sp>
      <p:sp>
        <p:nvSpPr>
          <p:cNvPr id="19" name="Text 17"/>
          <p:cNvSpPr txBox="1"/>
          <p:nvPr/>
        </p:nvSpPr>
        <p:spPr>
          <a:xfrm>
            <a:off x="8287512" y="2377440"/>
            <a:ext cx="3105912" cy="658368"/>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Positions joined to issuer, sector, thematic exposure and extracted data points, consolidated across every portfolio.</a:t>
            </a:r>
            <a:endParaRPr lang="en-US" sz="1050" dirty="0"/>
          </a:p>
        </p:txBody>
      </p:sp>
      <p:sp>
        <p:nvSpPr>
          <p:cNvPr id="20" name="Shape 18"/>
          <p:cNvSpPr/>
          <p:nvPr/>
        </p:nvSpPr>
        <p:spPr>
          <a:xfrm>
            <a:off x="594360" y="3291840"/>
            <a:ext cx="5120640" cy="2560320"/>
          </a:xfrm>
          <a:prstGeom prst="roundRect">
            <a:avLst>
              <a:gd name="adj" fmla="val 2143"/>
            </a:avLst>
          </a:prstGeom>
          <a:solidFill>
            <a:srgbClr val="FFFFFF"/>
          </a:solidFill>
          <a:ln w="12700">
            <a:solidFill>
              <a:srgbClr val="DBE4EC"/>
            </a:solidFill>
            <a:prstDash val="solid"/>
          </a:ln>
        </p:spPr>
      </p:sp>
      <p:sp>
        <p:nvSpPr>
          <p:cNvPr id="21" name="Text 19"/>
          <p:cNvSpPr txBox="1"/>
          <p:nvPr/>
        </p:nvSpPr>
        <p:spPr>
          <a:xfrm>
            <a:off x="822960" y="3474720"/>
            <a:ext cx="4663440" cy="292608"/>
          </a:xfrm>
          <a:prstGeom prst="rect">
            <a:avLst/>
          </a:prstGeom>
          <a:noFill/>
          <a:ln/>
        </p:spPr>
        <p:txBody>
          <a:bodyPr wrap="square" lIns="0" tIns="0" rIns="0" bIns="0" rtlCol="0" anchor="ctr"/>
          <a:lstStyle/>
          <a:p>
            <a:pPr indent="0" marL="0">
              <a:buNone/>
            </a:pPr>
            <a:r>
              <a:rPr lang="en-US" sz="1700" b="1" dirty="0">
                <a:solidFill>
                  <a:srgbClr val="10243A"/>
                </a:solidFill>
                <a:latin typeface="Cambria" pitchFamily="34" charset="0"/>
                <a:ea typeface="Cambria" pitchFamily="34" charset="-122"/>
                <a:cs typeface="Cambria" pitchFamily="34" charset="-120"/>
              </a:rPr>
              <a:t>Slice it by any dimension</a:t>
            </a:r>
            <a:endParaRPr lang="en-US" sz="1700" dirty="0"/>
          </a:p>
        </p:txBody>
      </p:sp>
      <p:sp>
        <p:nvSpPr>
          <p:cNvPr id="22" name="Shape 20"/>
          <p:cNvSpPr/>
          <p:nvPr/>
        </p:nvSpPr>
        <p:spPr>
          <a:xfrm>
            <a:off x="777240" y="3886200"/>
            <a:ext cx="1499616" cy="365760"/>
          </a:xfrm>
          <a:prstGeom prst="roundRect">
            <a:avLst>
              <a:gd name="adj" fmla="val 50000"/>
            </a:avLst>
          </a:prstGeom>
          <a:solidFill>
            <a:srgbClr val="F1F5F9"/>
          </a:solidFill>
          <a:ln w="12700">
            <a:solidFill>
              <a:srgbClr val="DBE4EC"/>
            </a:solidFill>
            <a:prstDash val="solid"/>
          </a:ln>
        </p:spPr>
      </p:sp>
      <p:sp>
        <p:nvSpPr>
          <p:cNvPr id="23" name="Text 21"/>
          <p:cNvSpPr txBox="1"/>
          <p:nvPr/>
        </p:nvSpPr>
        <p:spPr>
          <a:xfrm>
            <a:off x="777240" y="3886200"/>
            <a:ext cx="1499616" cy="365760"/>
          </a:xfrm>
          <a:prstGeom prst="rect">
            <a:avLst/>
          </a:prstGeom>
          <a:noFill/>
          <a:ln/>
        </p:spPr>
        <p:txBody>
          <a:bodyPr wrap="square" lIns="0" tIns="0" rIns="0" bIns="0" rtlCol="0" anchor="ctr"/>
          <a:lstStyle/>
          <a:p>
            <a:pPr algn="ctr" indent="0" marL="0">
              <a:buNone/>
            </a:pPr>
            <a:r>
              <a:rPr lang="en-US" sz="1050" b="1" dirty="0">
                <a:solidFill>
                  <a:srgbClr val="10243A"/>
                </a:solidFill>
                <a:latin typeface="Calibri" pitchFamily="34" charset="0"/>
                <a:ea typeface="Calibri" pitchFamily="34" charset="-122"/>
                <a:cs typeface="Calibri" pitchFamily="34" charset="-120"/>
              </a:rPr>
              <a:t>Portfolio</a:t>
            </a:r>
            <a:endParaRPr lang="en-US" sz="1050" dirty="0"/>
          </a:p>
        </p:txBody>
      </p:sp>
      <p:sp>
        <p:nvSpPr>
          <p:cNvPr id="24" name="Shape 22"/>
          <p:cNvSpPr/>
          <p:nvPr/>
        </p:nvSpPr>
        <p:spPr>
          <a:xfrm>
            <a:off x="2404872" y="3886200"/>
            <a:ext cx="1499616" cy="365760"/>
          </a:xfrm>
          <a:prstGeom prst="roundRect">
            <a:avLst>
              <a:gd name="adj" fmla="val 50000"/>
            </a:avLst>
          </a:prstGeom>
          <a:solidFill>
            <a:srgbClr val="F1F5F9"/>
          </a:solidFill>
          <a:ln w="12700">
            <a:solidFill>
              <a:srgbClr val="DBE4EC"/>
            </a:solidFill>
            <a:prstDash val="solid"/>
          </a:ln>
        </p:spPr>
      </p:sp>
      <p:sp>
        <p:nvSpPr>
          <p:cNvPr id="25" name="Text 23"/>
          <p:cNvSpPr txBox="1"/>
          <p:nvPr/>
        </p:nvSpPr>
        <p:spPr>
          <a:xfrm>
            <a:off x="2404872" y="3886200"/>
            <a:ext cx="1499616" cy="365760"/>
          </a:xfrm>
          <a:prstGeom prst="rect">
            <a:avLst/>
          </a:prstGeom>
          <a:noFill/>
          <a:ln/>
        </p:spPr>
        <p:txBody>
          <a:bodyPr wrap="square" lIns="0" tIns="0" rIns="0" bIns="0" rtlCol="0" anchor="ctr"/>
          <a:lstStyle/>
          <a:p>
            <a:pPr algn="ctr" indent="0" marL="0">
              <a:buNone/>
            </a:pPr>
            <a:r>
              <a:rPr lang="en-US" sz="1050" b="1" dirty="0">
                <a:solidFill>
                  <a:srgbClr val="10243A"/>
                </a:solidFill>
                <a:latin typeface="Calibri" pitchFamily="34" charset="0"/>
                <a:ea typeface="Calibri" pitchFamily="34" charset="-122"/>
                <a:cs typeface="Calibri" pitchFamily="34" charset="-120"/>
              </a:rPr>
              <a:t>Asset class</a:t>
            </a:r>
            <a:endParaRPr lang="en-US" sz="1050" dirty="0"/>
          </a:p>
        </p:txBody>
      </p:sp>
      <p:sp>
        <p:nvSpPr>
          <p:cNvPr id="26" name="Shape 24"/>
          <p:cNvSpPr/>
          <p:nvPr/>
        </p:nvSpPr>
        <p:spPr>
          <a:xfrm>
            <a:off x="4032504" y="3886200"/>
            <a:ext cx="1499616" cy="365760"/>
          </a:xfrm>
          <a:prstGeom prst="roundRect">
            <a:avLst>
              <a:gd name="adj" fmla="val 50000"/>
            </a:avLst>
          </a:prstGeom>
          <a:solidFill>
            <a:srgbClr val="F1F5F9"/>
          </a:solidFill>
          <a:ln w="12700">
            <a:solidFill>
              <a:srgbClr val="DBE4EC"/>
            </a:solidFill>
            <a:prstDash val="solid"/>
          </a:ln>
        </p:spPr>
      </p:sp>
      <p:sp>
        <p:nvSpPr>
          <p:cNvPr id="27" name="Text 25"/>
          <p:cNvSpPr txBox="1"/>
          <p:nvPr/>
        </p:nvSpPr>
        <p:spPr>
          <a:xfrm>
            <a:off x="4032504" y="3886200"/>
            <a:ext cx="1499616" cy="365760"/>
          </a:xfrm>
          <a:prstGeom prst="rect">
            <a:avLst/>
          </a:prstGeom>
          <a:noFill/>
          <a:ln/>
        </p:spPr>
        <p:txBody>
          <a:bodyPr wrap="square" lIns="0" tIns="0" rIns="0" bIns="0" rtlCol="0" anchor="ctr"/>
          <a:lstStyle/>
          <a:p>
            <a:pPr algn="ctr" indent="0" marL="0">
              <a:buNone/>
            </a:pPr>
            <a:r>
              <a:rPr lang="en-US" sz="1050" b="1" dirty="0">
                <a:solidFill>
                  <a:srgbClr val="10243A"/>
                </a:solidFill>
                <a:latin typeface="Calibri" pitchFamily="34" charset="0"/>
                <a:ea typeface="Calibri" pitchFamily="34" charset="-122"/>
                <a:cs typeface="Calibri" pitchFamily="34" charset="-120"/>
              </a:rPr>
              <a:t>Issuer</a:t>
            </a:r>
            <a:endParaRPr lang="en-US" sz="1050" dirty="0"/>
          </a:p>
        </p:txBody>
      </p:sp>
      <p:sp>
        <p:nvSpPr>
          <p:cNvPr id="28" name="Shape 26"/>
          <p:cNvSpPr/>
          <p:nvPr/>
        </p:nvSpPr>
        <p:spPr>
          <a:xfrm>
            <a:off x="777240" y="4361688"/>
            <a:ext cx="1499616" cy="365760"/>
          </a:xfrm>
          <a:prstGeom prst="roundRect">
            <a:avLst>
              <a:gd name="adj" fmla="val 50000"/>
            </a:avLst>
          </a:prstGeom>
          <a:solidFill>
            <a:srgbClr val="F1F5F9"/>
          </a:solidFill>
          <a:ln w="12700">
            <a:solidFill>
              <a:srgbClr val="DBE4EC"/>
            </a:solidFill>
            <a:prstDash val="solid"/>
          </a:ln>
        </p:spPr>
      </p:sp>
      <p:sp>
        <p:nvSpPr>
          <p:cNvPr id="29" name="Text 27"/>
          <p:cNvSpPr txBox="1"/>
          <p:nvPr/>
        </p:nvSpPr>
        <p:spPr>
          <a:xfrm>
            <a:off x="777240" y="4361688"/>
            <a:ext cx="1499616" cy="365760"/>
          </a:xfrm>
          <a:prstGeom prst="rect">
            <a:avLst/>
          </a:prstGeom>
          <a:noFill/>
          <a:ln/>
        </p:spPr>
        <p:txBody>
          <a:bodyPr wrap="square" lIns="0" tIns="0" rIns="0" bIns="0" rtlCol="0" anchor="ctr"/>
          <a:lstStyle/>
          <a:p>
            <a:pPr algn="ctr" indent="0" marL="0">
              <a:buNone/>
            </a:pPr>
            <a:r>
              <a:rPr lang="en-US" sz="1050" b="1" dirty="0">
                <a:solidFill>
                  <a:srgbClr val="10243A"/>
                </a:solidFill>
                <a:latin typeface="Calibri" pitchFamily="34" charset="0"/>
                <a:ea typeface="Calibri" pitchFamily="34" charset="-122"/>
                <a:cs typeface="Calibri" pitchFamily="34" charset="-120"/>
              </a:rPr>
              <a:t>GICS sector</a:t>
            </a:r>
            <a:endParaRPr lang="en-US" sz="1050" dirty="0"/>
          </a:p>
        </p:txBody>
      </p:sp>
      <p:sp>
        <p:nvSpPr>
          <p:cNvPr id="30" name="Shape 28"/>
          <p:cNvSpPr/>
          <p:nvPr/>
        </p:nvSpPr>
        <p:spPr>
          <a:xfrm>
            <a:off x="2404872" y="4361688"/>
            <a:ext cx="1499616" cy="365760"/>
          </a:xfrm>
          <a:prstGeom prst="roundRect">
            <a:avLst>
              <a:gd name="adj" fmla="val 50000"/>
            </a:avLst>
          </a:prstGeom>
          <a:solidFill>
            <a:srgbClr val="F1F5F9"/>
          </a:solidFill>
          <a:ln w="12700">
            <a:solidFill>
              <a:srgbClr val="DBE4EC"/>
            </a:solidFill>
            <a:prstDash val="solid"/>
          </a:ln>
        </p:spPr>
      </p:sp>
      <p:sp>
        <p:nvSpPr>
          <p:cNvPr id="31" name="Text 29"/>
          <p:cNvSpPr txBox="1"/>
          <p:nvPr/>
        </p:nvSpPr>
        <p:spPr>
          <a:xfrm>
            <a:off x="2404872" y="4361688"/>
            <a:ext cx="1499616" cy="365760"/>
          </a:xfrm>
          <a:prstGeom prst="rect">
            <a:avLst/>
          </a:prstGeom>
          <a:noFill/>
          <a:ln/>
        </p:spPr>
        <p:txBody>
          <a:bodyPr wrap="square" lIns="0" tIns="0" rIns="0" bIns="0" rtlCol="0" anchor="ctr"/>
          <a:lstStyle/>
          <a:p>
            <a:pPr algn="ctr" indent="0" marL="0">
              <a:buNone/>
            </a:pPr>
            <a:r>
              <a:rPr lang="en-US" sz="1050" b="1" dirty="0">
                <a:solidFill>
                  <a:srgbClr val="10243A"/>
                </a:solidFill>
                <a:latin typeface="Calibri" pitchFamily="34" charset="0"/>
                <a:ea typeface="Calibri" pitchFamily="34" charset="-122"/>
                <a:cs typeface="Calibri" pitchFamily="34" charset="-120"/>
              </a:rPr>
              <a:t>Country</a:t>
            </a:r>
            <a:endParaRPr lang="en-US" sz="1050" dirty="0"/>
          </a:p>
        </p:txBody>
      </p:sp>
      <p:sp>
        <p:nvSpPr>
          <p:cNvPr id="32" name="Shape 30"/>
          <p:cNvSpPr/>
          <p:nvPr/>
        </p:nvSpPr>
        <p:spPr>
          <a:xfrm>
            <a:off x="4032504" y="4361688"/>
            <a:ext cx="1499616" cy="365760"/>
          </a:xfrm>
          <a:prstGeom prst="roundRect">
            <a:avLst>
              <a:gd name="adj" fmla="val 50000"/>
            </a:avLst>
          </a:prstGeom>
          <a:solidFill>
            <a:srgbClr val="F1F5F9"/>
          </a:solidFill>
          <a:ln w="12700">
            <a:solidFill>
              <a:srgbClr val="DBE4EC"/>
            </a:solidFill>
            <a:prstDash val="solid"/>
          </a:ln>
        </p:spPr>
      </p:sp>
      <p:sp>
        <p:nvSpPr>
          <p:cNvPr id="33" name="Text 31"/>
          <p:cNvSpPr txBox="1"/>
          <p:nvPr/>
        </p:nvSpPr>
        <p:spPr>
          <a:xfrm>
            <a:off x="4032504" y="4361688"/>
            <a:ext cx="1499616" cy="365760"/>
          </a:xfrm>
          <a:prstGeom prst="rect">
            <a:avLst/>
          </a:prstGeom>
          <a:noFill/>
          <a:ln/>
        </p:spPr>
        <p:txBody>
          <a:bodyPr wrap="square" lIns="0" tIns="0" rIns="0" bIns="0" rtlCol="0" anchor="ctr"/>
          <a:lstStyle/>
          <a:p>
            <a:pPr algn="ctr" indent="0" marL="0">
              <a:buNone/>
            </a:pPr>
            <a:r>
              <a:rPr lang="en-US" sz="1050" b="1" dirty="0">
                <a:solidFill>
                  <a:srgbClr val="10243A"/>
                </a:solidFill>
                <a:latin typeface="Calibri" pitchFamily="34" charset="0"/>
                <a:ea typeface="Calibri" pitchFamily="34" charset="-122"/>
                <a:cs typeface="Calibri" pitchFamily="34" charset="-120"/>
              </a:rPr>
              <a:t>Any taxonomy</a:t>
            </a:r>
            <a:endParaRPr lang="en-US" sz="1050" dirty="0"/>
          </a:p>
        </p:txBody>
      </p:sp>
      <p:sp>
        <p:nvSpPr>
          <p:cNvPr id="34" name="Shape 32"/>
          <p:cNvSpPr/>
          <p:nvPr/>
        </p:nvSpPr>
        <p:spPr>
          <a:xfrm>
            <a:off x="777240" y="4837176"/>
            <a:ext cx="1499616" cy="365760"/>
          </a:xfrm>
          <a:prstGeom prst="roundRect">
            <a:avLst>
              <a:gd name="adj" fmla="val 50000"/>
            </a:avLst>
          </a:prstGeom>
          <a:solidFill>
            <a:srgbClr val="F1F5F9"/>
          </a:solidFill>
          <a:ln w="12700">
            <a:solidFill>
              <a:srgbClr val="DBE4EC"/>
            </a:solidFill>
            <a:prstDash val="solid"/>
          </a:ln>
        </p:spPr>
      </p:sp>
      <p:sp>
        <p:nvSpPr>
          <p:cNvPr id="35" name="Text 33"/>
          <p:cNvSpPr txBox="1"/>
          <p:nvPr/>
        </p:nvSpPr>
        <p:spPr>
          <a:xfrm>
            <a:off x="777240" y="4837176"/>
            <a:ext cx="1499616" cy="365760"/>
          </a:xfrm>
          <a:prstGeom prst="rect">
            <a:avLst/>
          </a:prstGeom>
          <a:noFill/>
          <a:ln/>
        </p:spPr>
        <p:txBody>
          <a:bodyPr wrap="square" lIns="0" tIns="0" rIns="0" bIns="0" rtlCol="0" anchor="ctr"/>
          <a:lstStyle/>
          <a:p>
            <a:pPr algn="ctr" indent="0" marL="0">
              <a:buNone/>
            </a:pPr>
            <a:r>
              <a:rPr lang="en-US" sz="1050" b="1" dirty="0">
                <a:solidFill>
                  <a:srgbClr val="10243A"/>
                </a:solidFill>
                <a:latin typeface="Calibri" pitchFamily="34" charset="0"/>
                <a:ea typeface="Calibri" pitchFamily="34" charset="-122"/>
                <a:cs typeface="Calibri" pitchFamily="34" charset="-120"/>
              </a:rPr>
              <a:t>Custom tag</a:t>
            </a:r>
            <a:endParaRPr lang="en-US" sz="1050" dirty="0"/>
          </a:p>
        </p:txBody>
      </p:sp>
      <p:sp>
        <p:nvSpPr>
          <p:cNvPr id="36" name="Text 34"/>
          <p:cNvSpPr txBox="1"/>
          <p:nvPr/>
        </p:nvSpPr>
        <p:spPr>
          <a:xfrm>
            <a:off x="822960" y="5321808"/>
            <a:ext cx="4663440" cy="45720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Summed market value, a value-weighted average of any data point, or a position count — each as of a snapshot date, or as a trend across a date range.</a:t>
            </a:r>
            <a:endParaRPr lang="en-US" sz="1050" dirty="0"/>
          </a:p>
        </p:txBody>
      </p:sp>
      <p:sp>
        <p:nvSpPr>
          <p:cNvPr id="37" name="Shape 35"/>
          <p:cNvSpPr/>
          <p:nvPr/>
        </p:nvSpPr>
        <p:spPr>
          <a:xfrm>
            <a:off x="6080760" y="3291840"/>
            <a:ext cx="5513832" cy="2560320"/>
          </a:xfrm>
          <a:prstGeom prst="roundRect">
            <a:avLst>
              <a:gd name="adj" fmla="val 2143"/>
            </a:avLst>
          </a:prstGeom>
          <a:solidFill>
            <a:srgbClr val="10243A"/>
          </a:solidFill>
          <a:ln/>
        </p:spPr>
      </p:sp>
      <p:sp>
        <p:nvSpPr>
          <p:cNvPr id="38" name="Text 36"/>
          <p:cNvSpPr txBox="1"/>
          <p:nvPr/>
        </p:nvSpPr>
        <p:spPr>
          <a:xfrm>
            <a:off x="6309360" y="3474720"/>
            <a:ext cx="5029200"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Climate analytics</a:t>
            </a:r>
            <a:endParaRPr lang="en-US" sz="1700" dirty="0"/>
          </a:p>
        </p:txBody>
      </p:sp>
      <p:sp>
        <p:nvSpPr>
          <p:cNvPr id="39" name="Shape 37"/>
          <p:cNvSpPr/>
          <p:nvPr/>
        </p:nvSpPr>
        <p:spPr>
          <a:xfrm>
            <a:off x="6327648" y="3959352"/>
            <a:ext cx="100584" cy="100584"/>
          </a:xfrm>
          <a:prstGeom prst="ellipse">
            <a:avLst/>
          </a:prstGeom>
          <a:solidFill>
            <a:srgbClr val="E0A526"/>
          </a:solidFill>
          <a:ln/>
        </p:spPr>
      </p:sp>
      <p:sp>
        <p:nvSpPr>
          <p:cNvPr id="40" name="Text 38"/>
          <p:cNvSpPr txBox="1"/>
          <p:nvPr/>
        </p:nvSpPr>
        <p:spPr>
          <a:xfrm>
            <a:off x="6565392" y="3840480"/>
            <a:ext cx="480060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WACI — </a:t>
            </a:r>
            <a:pPr indent="0" marL="0">
              <a:buNone/>
            </a:pPr>
            <a:r>
              <a:rPr lang="en-US" sz="1100" dirty="0">
                <a:solidFill>
                  <a:srgbClr val="B9CDDD"/>
                </a:solidFill>
                <a:latin typeface="Calibri" pitchFamily="34" charset="0"/>
                <a:ea typeface="Calibri" pitchFamily="34" charset="-122"/>
                <a:cs typeface="Calibri" pitchFamily="34" charset="-120"/>
              </a:rPr>
              <a:t>value-weighted carbon intensity, with a trend line over any range</a:t>
            </a:r>
            <a:endParaRPr lang="en-US" sz="1100" dirty="0"/>
          </a:p>
        </p:txBody>
      </p:sp>
      <p:sp>
        <p:nvSpPr>
          <p:cNvPr id="41" name="Shape 39"/>
          <p:cNvSpPr/>
          <p:nvPr/>
        </p:nvSpPr>
        <p:spPr>
          <a:xfrm>
            <a:off x="6327648" y="4370832"/>
            <a:ext cx="100584" cy="100584"/>
          </a:xfrm>
          <a:prstGeom prst="ellipse">
            <a:avLst/>
          </a:prstGeom>
          <a:solidFill>
            <a:srgbClr val="E0A526"/>
          </a:solidFill>
          <a:ln/>
        </p:spPr>
      </p:sp>
      <p:sp>
        <p:nvSpPr>
          <p:cNvPr id="42" name="Text 40"/>
          <p:cNvSpPr txBox="1"/>
          <p:nvPr/>
        </p:nvSpPr>
        <p:spPr>
          <a:xfrm>
            <a:off x="6565392" y="4251960"/>
            <a:ext cx="480060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Financed emissions — </a:t>
            </a:r>
            <a:pPr indent="0" marL="0">
              <a:buNone/>
            </a:pPr>
            <a:r>
              <a:rPr lang="en-US" sz="1100" dirty="0">
                <a:solidFill>
                  <a:srgbClr val="B9CDDD"/>
                </a:solidFill>
                <a:latin typeface="Calibri" pitchFamily="34" charset="0"/>
                <a:ea typeface="Calibri" pitchFamily="34" charset="-122"/>
                <a:cs typeface="Calibri" pitchFamily="34" charset="-120"/>
              </a:rPr>
              <a:t>PCAF attribution: market value ÷ EVIC × issuer Scope 1+2</a:t>
            </a:r>
            <a:endParaRPr lang="en-US" sz="1100" dirty="0"/>
          </a:p>
        </p:txBody>
      </p:sp>
      <p:sp>
        <p:nvSpPr>
          <p:cNvPr id="43" name="Shape 41"/>
          <p:cNvSpPr/>
          <p:nvPr/>
        </p:nvSpPr>
        <p:spPr>
          <a:xfrm>
            <a:off x="6327648" y="4782312"/>
            <a:ext cx="100584" cy="100584"/>
          </a:xfrm>
          <a:prstGeom prst="ellipse">
            <a:avLst/>
          </a:prstGeom>
          <a:solidFill>
            <a:srgbClr val="E0A526"/>
          </a:solidFill>
          <a:ln/>
        </p:spPr>
      </p:sp>
      <p:sp>
        <p:nvSpPr>
          <p:cNvPr id="44" name="Text 42"/>
          <p:cNvSpPr txBox="1"/>
          <p:nvPr/>
        </p:nvSpPr>
        <p:spPr>
          <a:xfrm>
            <a:off x="6565392" y="4663440"/>
            <a:ext cx="480060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Coverage % — </a:t>
            </a:r>
            <a:pPr indent="0" marL="0">
              <a:buNone/>
            </a:pPr>
            <a:r>
              <a:rPr lang="en-US" sz="1100" dirty="0">
                <a:solidFill>
                  <a:srgbClr val="B9CDDD"/>
                </a:solidFill>
                <a:latin typeface="Calibri" pitchFamily="34" charset="0"/>
                <a:ea typeface="Calibri" pitchFamily="34" charset="-122"/>
                <a:cs typeface="Calibri" pitchFamily="34" charset="-120"/>
              </a:rPr>
              <a:t>reported beside every figure; a missing value is never read as zero</a:t>
            </a:r>
            <a:endParaRPr lang="en-US" sz="1100" dirty="0"/>
          </a:p>
        </p:txBody>
      </p:sp>
      <p:sp>
        <p:nvSpPr>
          <p:cNvPr id="45" name="Shape 43"/>
          <p:cNvSpPr/>
          <p:nvPr/>
        </p:nvSpPr>
        <p:spPr>
          <a:xfrm>
            <a:off x="6309360" y="5120640"/>
            <a:ext cx="5056632" cy="566928"/>
          </a:xfrm>
          <a:prstGeom prst="roundRect">
            <a:avLst>
              <a:gd name="adj" fmla="val 9677"/>
            </a:avLst>
          </a:prstGeom>
          <a:solidFill>
            <a:srgbClr val="1E3F5E"/>
          </a:solidFill>
          <a:ln/>
        </p:spPr>
      </p:sp>
      <p:sp>
        <p:nvSpPr>
          <p:cNvPr id="46" name="Text 44"/>
          <p:cNvSpPr txBox="1"/>
          <p:nvPr/>
        </p:nvSpPr>
        <p:spPr>
          <a:xfrm>
            <a:off x="6473952" y="5120640"/>
            <a:ext cx="4727448" cy="56692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Internal ESG-API figures are cross-checked against an independent extraction from the company's own reports. A mismatch is flagged and queued for review, never silently reconciled.</a:t>
            </a:r>
            <a:endParaRPr lang="en-US" sz="1000" dirty="0"/>
          </a:p>
        </p:txBody>
      </p:sp>
      <p:sp>
        <p:nvSpPr>
          <p:cNvPr id="47" name="Text 45"/>
          <p:cNvSpPr txBox="1"/>
          <p:nvPr/>
        </p:nvSpPr>
        <p:spPr>
          <a:xfrm>
            <a:off x="594360" y="6035040"/>
            <a:ext cx="11000232" cy="320040"/>
          </a:xfrm>
          <a:prstGeom prst="rect">
            <a:avLst/>
          </a:prstGeom>
          <a:noFill/>
          <a:ln/>
        </p:spPr>
        <p:txBody>
          <a:bodyPr wrap="square" lIns="0" tIns="0" rIns="0" bIns="0" rtlCol="0" anchor="ctr"/>
          <a:lstStyle/>
          <a:p>
            <a:pPr indent="0" marL="0">
              <a:buNone/>
            </a:pPr>
            <a:r>
              <a:rPr lang="en-US" sz="1000" i="1" dirty="0">
                <a:solidFill>
                  <a:srgbClr val="5A6B78"/>
                </a:solidFill>
                <a:latin typeface="Calibri" pitchFamily="34" charset="0"/>
                <a:ea typeface="Calibri" pitchFamily="34" charset="-122"/>
                <a:cs typeface="Calibri" pitchFamily="34" charset="-120"/>
              </a:rPr>
              <a:t>Built today against mock custodian, ESG-API and news connectors  ·  EUR is the single reporting currency  ·  optional Postgres/pgvector backend for holdings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Research Pipeline — Three Pillars</dc:title>
  <dc:subject>PptxGenJS Presentation</dc:subject>
  <dc:creator>Agentic Research Pipeline</dc:creator>
  <cp:lastModifiedBy>Agentic Research Pipeline</cp:lastModifiedBy>
  <cp:revision>1</cp:revision>
  <dcterms:created xsi:type="dcterms:W3CDTF">2026-09-14T15:14:06Z</dcterms:created>
  <dcterms:modified xsi:type="dcterms:W3CDTF">2026-09-14T15:14:06Z</dcterms:modified>
</cp:coreProperties>
</file>