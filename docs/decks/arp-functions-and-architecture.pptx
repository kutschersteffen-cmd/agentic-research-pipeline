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is one codebase, not ten tools. LangChain is the LLM client behind a single narrow interface every agent calls through; LangGraph models each pipeline's per-company flow as an explicit state graph; LlamaIndex backs chunking and the BM25 retriever. The colour key at the bottom holds for every diagram in this deck: blue is an input, cyan is a deterministic step with no model in it, violet is an LLM agent, amber is a mechanical gate, rose is a human decision, green is a stored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1. Read the diagram left to right: whatever documents exist for a company, plus the schema that defines the data point, go into one engine; what comes out is a value that is either grounded and trusted, or routed to a human. The two precision controls that matter most are inside the hub: the verifier runs on a different model from the extractor, and the grounding check is code, not a second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 view. Two short circuits keep it affordable: no evidence costs nothing, and a structured fact (XBRL, or a catalogue row) is never re-litigated by a model. Everything that is uncertain has exactly one destination — the review queue — and every decision there is appended to a per-field audit trail rather than overwriting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2 has two halves and the diagram shows both: the taxonomy is how a theme gets a defensible boundary — seven derivation methods, versioned and ratified by a named person — and the debate is how a company is judged against it. The exposure ladder matters: collapsing thematic exposure to a boolean throws away what a portfolio manager actually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cascade is the cost and precision story in one picture: structured data first, grounded extraction second, qualitative debate last. It mirrors how revenue-based thematic exposure is actually built by index providers. Note the banding on the right — whichever path resolved it, the output means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3 adds the second axis the rest of the system lacks — holdings — and joins it to company-level research. The engine in the middle is deliberately zero-LLM. Status: built against mock custodian, ESG-API and news connectors; EUR is the single reporting currency; a Postgres/pgvector backend is available for the holdings join.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mechanisms worth pausing on: the resolution cascade (a disclosed number always beats an inferred one, and missing is a reported state rather than a zero), and the climate cross-check, which runs as a background batch because the aggregation path must stay fast and model-free.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generative-BI layer answers a brief with a whole dashboard, where the Q&amp;A agent answers one question with one number. The shape is the same discipline as everywhere else: the model plans and writes, code computes and checks. Two controls are worth pausing on. The planner can only emit panels whose dimensions, metrics, fields, portfolios and dates actually exist, and a panel it gets wrong is dropped with a warning rather than coerced. And the narrator's prose is checked number by number against the computed facts — per sentence, so one loose adjective does not throw away three correct sentences. What persists is the plan: a saved dashboard re-runs with no model involved at all, which is what turns a generated view into a recurring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4. The design point is the combined pass. Everything else is the extraction engine's machinery unchanged — grounded citations, an independent verifier on a different model, provenance, a review queue. The XBRL overlay is the same 'structured facts first' precedence the revenue cascade uses, and it is also where a structured vendor feed would plug in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ARP_XBRL_FACTS_ENABLED is on by default and needs no key. The overlay is deliberately narrow — only the scalar total is replaced, because that is the only part XBRL tags consistently across filers.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5 is what keeps the rest of the system fed. The crawler is deliberately conservative — same domain, robots respected, bounded depth, every request passed through an SSRF guard — because it runs across thousands of companies. The search client is an interface: the default is a free no-key search, and a paid API drops in without touching the crawl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calling out in a demo: the distinction between 'homepage unreachable' and 'nothing found' is operational. One is a data-quality problem to fix in the universe file; the other is a real answer about the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6 matters because every other function keys off company_id — a wrong identity silently corrupts document discovery, extraction and the portfolio join alike. The whole design is about not making the expensive call: supplying website and CIK in the universe CSV makes identity resolution free, which is why the README recommends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clearest example in the codebase of a LangGraph graph whose value is its conditional edges: two of the four nodes exist purely to leave early. The verification step after adjudication is the identity equivalent of the grounding check — there is no quote to match, so the returned identifiers are checked against the signals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7 exists because the debate answers 'does this company's own disclosed activity fall in scope' and has nothing to say about a specialty-chemicals supplier three hops upstream of battery manufacturing. It is the same mathematics environmentally-extended input-output models use for Scope 3 accounting, applied to a thematic value chain instead of carbon.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shape is the point: the expensive part of an input-output tier would be per-company model work, and there is almost none — one classification per activity and one per company, both reusable across the whole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8 is a replication, so fidelity matters more than improvement: the indicator wording, the persona, the greenwashing-scepticism guidance and the 200-word cap are verbatim from the paper's own reference implementation. 64 indicators per company makes this the most call-intensive function in the system, which is exactly why the retrieval step stays cheap and deterministic.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arp transition-plan indicators to show the actual indicator set before running an assessment — it makes the walk/talk distinction concrete for an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9. The controller is a pure function — decide_next_action — not a daemon: it maps an issue's stage to the next dispatch action and flags it for an escalation decision once it has been silent past the SLA, but it never calls an agent itself. Engagement and voting share one record store deliberately: how you voted on a company's say-on-pay resolution and what you told its IR team last quarter are the same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say out loud: there is no background daemon, because which stages run unattended versus get pulled by an analyst is a house workflow decision rather than an architectural one. And the LLM-free agents are LLM-free on purpose — a prompt bug can then never corrupt milestone state or a published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10 mirrors the revenue-exposure cascade: deterministic rules over a disclosed number first, a categorical model judgment only where nothing hard resolves it. The two shipped rules — auditor independence above a non-audit fee ratio, an extreme disclosed pay ratio — are illustrative, not house policy. What matters architecturally is that they are code evaluated against extracted figures, not prompt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precondition is the architectural point: casting is the only irreversible action in the system, so the refusal lives inside cast_vote rather than in the code that calls it. ManualInstructionBallotPlatform exercises the real contract today without transmitting anywhere, so swapping in a custodian or ISS/Glass-Lewis integration changes one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11. The split is the same one the whole codebase uses: reading a paper is a claim about a document, so it goes through the extractor/verifier/grounding pipeline; replaying the strategy's rules is arithmetic, so the entire backtest engine has no model in it at all. Signals cover momentum, a fundamental characteristic like book-to-market, LLM-scored text sentiment, and weighted rank-averaged composites of those. Rebalancing is fully user-defined — presets, a custom interval in months, and an optional calendar anchor — so Jegadeesh-Titman overlapping portfolios and a plain non-overlapping rebalance share one code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rigor additions sit on top of the plain verdict, never replacing it: they answer “how surprised should I be that this looks like an effect, given how many things could have been tried”. Discovery closes the loop back to finding papers worth replicating, but nothing is fetched or turned into a spec automatically — candidates are written out for a human to pick from, the same propose-never-auto-apply rule every other research agent here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slideLayout" Target="../slideLayouts/slideLayout1.xml"/><Relationship Id="rId1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1.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slideLayout" Target="../slideLayouts/slideLayout1.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1.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slideLayout" Target="../slideLayouts/slideLayout1.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slideLayout" Target="../slideLayouts/slideLayout1.xml"/><Relationship Id="rId1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slideLayout" Target="../slideLayouts/slideLayout1.xml"/><Relationship Id="rId1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slideLayout" Target="../slideLayouts/slideLayout1.xml"/><Relationship Id="rId1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slideLayout" Target="../slideLayouts/slideLayout1.xml"/><Relationship Id="rId1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image" Target="../media/image-23-13.png"/><Relationship Id="rId14" Type="http://schemas.openxmlformats.org/officeDocument/2006/relationships/image" Target="../media/image-23-14.png"/><Relationship Id="rId15" Type="http://schemas.openxmlformats.org/officeDocument/2006/relationships/slideLayout" Target="../slideLayouts/slideLayout1.xml"/><Relationship Id="rId1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image" Target="../media/image-24-9.png"/><Relationship Id="rId10" Type="http://schemas.openxmlformats.org/officeDocument/2006/relationships/slideLayout" Target="../slideLayouts/slideLayout1.xml"/><Relationship Id="rId11"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SYSTEM ARCHITECTURE</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One pipeline, thirteen functions, five layers</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Every function is an agent pipeline over the same orchestration layer, the same shared services and one file-based store.</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481328"/>
            <a:ext cx="11000232" cy="713232"/>
          </a:xfrm>
          <a:prstGeom prst="roundRect">
            <a:avLst>
              <a:gd name="adj" fmla="val 12821"/>
            </a:avLst>
          </a:prstGeom>
          <a:solidFill>
            <a:srgbClr val="F8FAFC"/>
          </a:solidFill>
          <a:ln w="15875">
            <a:solidFill>
              <a:srgbClr val="AECBF2"/>
            </a:solidFill>
            <a:prstDash val="solid"/>
          </a:ln>
          <a:effectLst>
            <a:outerShdw sx="100000" sy="100000" kx="0" ky="0" algn="bl" rotWithShape="0" blurRad="101600" dist="19050" dir="5400000">
              <a:srgbClr val="9FB0C2">
                <a:alpha val="24000"/>
              </a:srgbClr>
            </a:outerShdw>
          </a:effectLst>
        </p:spPr>
      </p:sp>
      <p:sp>
        <p:nvSpPr>
          <p:cNvPr id="8" name="Shape 5"/>
          <p:cNvSpPr/>
          <p:nvPr/>
        </p:nvSpPr>
        <p:spPr>
          <a:xfrm>
            <a:off x="813816" y="1636776"/>
            <a:ext cx="402336" cy="402336"/>
          </a:xfrm>
          <a:prstGeom prst="roundRect">
            <a:avLst>
              <a:gd name="adj" fmla="val 27273"/>
            </a:avLst>
          </a:prstGeom>
          <a:solidFill>
            <a:srgbClr val="2F6FD0"/>
          </a:solidFill>
          <a:ln/>
        </p:spPr>
      </p:sp>
      <p:pic>
        <p:nvPicPr>
          <p:cNvPr id="9" name="Image 1" descr="preencoded.png">    </p:cNvPr>
          <p:cNvPicPr>
            <a:picLocks noChangeAspect="1"/>
          </p:cNvPicPr>
          <p:nvPr/>
        </p:nvPicPr>
        <p:blipFill>
          <a:blip r:embed="rId2"/>
          <a:stretch>
            <a:fillRect/>
          </a:stretch>
        </p:blipFill>
        <p:spPr>
          <a:xfrm>
            <a:off x="902330" y="1725290"/>
            <a:ext cx="225308" cy="225308"/>
          </a:xfrm>
          <a:prstGeom prst="rect">
            <a:avLst/>
          </a:prstGeom>
        </p:spPr>
      </p:pic>
      <p:sp>
        <p:nvSpPr>
          <p:cNvPr id="10" name="Text 6"/>
          <p:cNvSpPr txBox="1"/>
          <p:nvPr/>
        </p:nvSpPr>
        <p:spPr>
          <a:xfrm>
            <a:off x="1344168" y="1591056"/>
            <a:ext cx="1874520" cy="237744"/>
          </a:xfrm>
          <a:prstGeom prst="rect">
            <a:avLst/>
          </a:prstGeom>
          <a:noFill/>
          <a:ln/>
        </p:spPr>
        <p:txBody>
          <a:bodyPr wrap="square" lIns="0" tIns="0" rIns="0" bIns="0" rtlCol="0" anchor="ctr"/>
          <a:lstStyle/>
          <a:p>
            <a:pPr indent="0" marL="0">
              <a:buNone/>
            </a:pPr>
            <a:r>
              <a:rPr lang="en-US" sz="1250" b="1" dirty="0">
                <a:solidFill>
                  <a:srgbClr val="153A61"/>
                </a:solidFill>
                <a:latin typeface="Cambria" pitchFamily="34" charset="0"/>
                <a:ea typeface="Cambria" pitchFamily="34" charset="-122"/>
                <a:cs typeface="Cambria" pitchFamily="34" charset="-120"/>
              </a:rPr>
              <a:t>INTERFACES</a:t>
            </a:r>
            <a:endParaRPr lang="en-US" sz="1250" dirty="0"/>
          </a:p>
        </p:txBody>
      </p:sp>
      <p:sp>
        <p:nvSpPr>
          <p:cNvPr id="11" name="Text 7"/>
          <p:cNvSpPr txBox="1"/>
          <p:nvPr/>
        </p:nvSpPr>
        <p:spPr>
          <a:xfrm>
            <a:off x="1344168" y="1856232"/>
            <a:ext cx="1874520" cy="201168"/>
          </a:xfrm>
          <a:prstGeom prst="rect">
            <a:avLst/>
          </a:prstGeom>
          <a:noFill/>
          <a:ln/>
        </p:spPr>
        <p:txBody>
          <a:bodyPr wrap="square" lIns="0" tIns="0" rIns="0" bIns="0" rtlCol="0" anchor="ctr"/>
          <a:lstStyle/>
          <a:p>
            <a:pPr indent="0" marL="0">
              <a:buNone/>
            </a:pPr>
            <a:r>
              <a:rPr lang="en-US" sz="850" i="1" dirty="0">
                <a:solidFill>
                  <a:srgbClr val="58697A"/>
                </a:solidFill>
                <a:latin typeface="Calibri" pitchFamily="34" charset="0"/>
                <a:ea typeface="Calibri" pitchFamily="34" charset="-122"/>
                <a:cs typeface="Calibri" pitchFamily="34" charset="-120"/>
              </a:rPr>
              <a:t>who drives it</a:t>
            </a:r>
            <a:endParaRPr lang="en-US" sz="850" dirty="0"/>
          </a:p>
        </p:txBody>
      </p:sp>
      <p:sp>
        <p:nvSpPr>
          <p:cNvPr id="12" name="Shape 8"/>
          <p:cNvSpPr/>
          <p:nvPr/>
        </p:nvSpPr>
        <p:spPr>
          <a:xfrm>
            <a:off x="3264408" y="1581912"/>
            <a:ext cx="1281989" cy="274320"/>
          </a:xfrm>
          <a:prstGeom prst="roundRect">
            <a:avLst>
              <a:gd name="adj" fmla="val 46667"/>
            </a:avLst>
          </a:prstGeom>
          <a:solidFill>
            <a:srgbClr val="E3EDFC"/>
          </a:solidFill>
          <a:ln w="12700">
            <a:solidFill>
              <a:srgbClr val="2F6FD0"/>
            </a:solidFill>
            <a:prstDash val="solid"/>
          </a:ln>
        </p:spPr>
      </p:sp>
      <p:sp>
        <p:nvSpPr>
          <p:cNvPr id="13" name="Text 9"/>
          <p:cNvSpPr txBox="1"/>
          <p:nvPr/>
        </p:nvSpPr>
        <p:spPr>
          <a:xfrm>
            <a:off x="3264408" y="1581912"/>
            <a:ext cx="1281989" cy="274320"/>
          </a:xfrm>
          <a:prstGeom prst="rect">
            <a:avLst/>
          </a:prstGeom>
          <a:noFill/>
          <a:ln/>
        </p:spPr>
        <p:txBody>
          <a:bodyPr wrap="square" lIns="0" tIns="0" rIns="0" bIns="0" rtlCol="0" anchor="ctr"/>
          <a:lstStyle/>
          <a:p>
            <a:pPr algn="ctr" indent="0" marL="0">
              <a:buNone/>
            </a:pPr>
            <a:r>
              <a:rPr lang="en-US" sz="850" b="1" dirty="0">
                <a:solidFill>
                  <a:srgbClr val="153A61"/>
                </a:solidFill>
                <a:latin typeface="Calibri" pitchFamily="34" charset="0"/>
                <a:ea typeface="Calibri" pitchFamily="34" charset="-122"/>
                <a:cs typeface="Calibri" pitchFamily="34" charset="-120"/>
              </a:rPr>
              <a:t>React UI · 14 pages</a:t>
            </a:r>
            <a:endParaRPr lang="en-US" sz="850" dirty="0"/>
          </a:p>
        </p:txBody>
      </p:sp>
      <p:sp>
        <p:nvSpPr>
          <p:cNvPr id="14" name="Shape 10"/>
          <p:cNvSpPr/>
          <p:nvPr/>
        </p:nvSpPr>
        <p:spPr>
          <a:xfrm>
            <a:off x="4646981" y="1581912"/>
            <a:ext cx="1335024" cy="274320"/>
          </a:xfrm>
          <a:prstGeom prst="roundRect">
            <a:avLst>
              <a:gd name="adj" fmla="val 46667"/>
            </a:avLst>
          </a:prstGeom>
          <a:solidFill>
            <a:srgbClr val="E3EDFC"/>
          </a:solidFill>
          <a:ln w="12700">
            <a:solidFill>
              <a:srgbClr val="2F6FD0"/>
            </a:solidFill>
            <a:prstDash val="solid"/>
          </a:ln>
        </p:spPr>
      </p:sp>
      <p:sp>
        <p:nvSpPr>
          <p:cNvPr id="15" name="Text 11"/>
          <p:cNvSpPr txBox="1"/>
          <p:nvPr/>
        </p:nvSpPr>
        <p:spPr>
          <a:xfrm>
            <a:off x="4646981" y="1581912"/>
            <a:ext cx="1335024" cy="274320"/>
          </a:xfrm>
          <a:prstGeom prst="rect">
            <a:avLst/>
          </a:prstGeom>
          <a:noFill/>
          <a:ln/>
        </p:spPr>
        <p:txBody>
          <a:bodyPr wrap="square" lIns="0" tIns="0" rIns="0" bIns="0" rtlCol="0" anchor="ctr"/>
          <a:lstStyle/>
          <a:p>
            <a:pPr algn="ctr" indent="0" marL="0">
              <a:buNone/>
            </a:pPr>
            <a:r>
              <a:rPr lang="en-US" sz="850" b="1" dirty="0">
                <a:solidFill>
                  <a:srgbClr val="153A61"/>
                </a:solidFill>
                <a:latin typeface="Calibri" pitchFamily="34" charset="0"/>
                <a:ea typeface="Calibri" pitchFamily="34" charset="-122"/>
                <a:cs typeface="Calibri" pitchFamily="34" charset="-120"/>
              </a:rPr>
              <a:t>FastAPI · 17 routers</a:t>
            </a:r>
            <a:endParaRPr lang="en-US" sz="850" dirty="0"/>
          </a:p>
        </p:txBody>
      </p:sp>
      <p:sp>
        <p:nvSpPr>
          <p:cNvPr id="16" name="Shape 12"/>
          <p:cNvSpPr/>
          <p:nvPr/>
        </p:nvSpPr>
        <p:spPr>
          <a:xfrm>
            <a:off x="6082589" y="1581912"/>
            <a:ext cx="751637" cy="274320"/>
          </a:xfrm>
          <a:prstGeom prst="roundRect">
            <a:avLst>
              <a:gd name="adj" fmla="val 46667"/>
            </a:avLst>
          </a:prstGeom>
          <a:solidFill>
            <a:srgbClr val="E3EDFC"/>
          </a:solidFill>
          <a:ln w="12700">
            <a:solidFill>
              <a:srgbClr val="2F6FD0"/>
            </a:solidFill>
            <a:prstDash val="solid"/>
          </a:ln>
        </p:spPr>
      </p:sp>
      <p:sp>
        <p:nvSpPr>
          <p:cNvPr id="17" name="Text 13"/>
          <p:cNvSpPr txBox="1"/>
          <p:nvPr/>
        </p:nvSpPr>
        <p:spPr>
          <a:xfrm>
            <a:off x="6082589" y="1581912"/>
            <a:ext cx="751637" cy="274320"/>
          </a:xfrm>
          <a:prstGeom prst="rect">
            <a:avLst/>
          </a:prstGeom>
          <a:noFill/>
          <a:ln/>
        </p:spPr>
        <p:txBody>
          <a:bodyPr wrap="square" lIns="0" tIns="0" rIns="0" bIns="0" rtlCol="0" anchor="ctr"/>
          <a:lstStyle/>
          <a:p>
            <a:pPr algn="ctr" indent="0" marL="0">
              <a:buNone/>
            </a:pPr>
            <a:r>
              <a:rPr lang="en-US" sz="850" b="1" dirty="0">
                <a:solidFill>
                  <a:srgbClr val="153A61"/>
                </a:solidFill>
                <a:latin typeface="Calibri" pitchFamily="34" charset="0"/>
                <a:ea typeface="Calibri" pitchFamily="34" charset="-122"/>
                <a:cs typeface="Calibri" pitchFamily="34" charset="-120"/>
              </a:rPr>
              <a:t>Typer CLI</a:t>
            </a:r>
            <a:endParaRPr lang="en-US" sz="850" dirty="0"/>
          </a:p>
        </p:txBody>
      </p:sp>
      <p:sp>
        <p:nvSpPr>
          <p:cNvPr id="18" name="Text 14"/>
          <p:cNvSpPr txBox="1"/>
          <p:nvPr/>
        </p:nvSpPr>
        <p:spPr>
          <a:xfrm>
            <a:off x="3264408" y="1920240"/>
            <a:ext cx="8074152" cy="219456"/>
          </a:xfrm>
          <a:prstGeom prst="rect">
            <a:avLst/>
          </a:prstGeom>
          <a:noFill/>
          <a:ln/>
        </p:spPr>
        <p:txBody>
          <a:bodyPr wrap="square" lIns="0" tIns="0" rIns="0" bIns="0" rtlCol="0" anchor="ctr"/>
          <a:lstStyle/>
          <a:p>
            <a:pPr indent="0" marL="0">
              <a:buNone/>
            </a:pPr>
            <a:r>
              <a:rPr lang="en-US" sz="880" dirty="0">
                <a:solidFill>
                  <a:srgbClr val="43566B"/>
                </a:solidFill>
                <a:latin typeface="Calibri" pitchFamily="34" charset="0"/>
                <a:ea typeface="Calibri" pitchFamily="34" charset="-122"/>
                <a:cs typeface="Calibri" pitchFamily="34" charset="-120"/>
              </a:rPr>
              <a:t>The CLI drives exactly the same pipelines as the UI — the intended path for an unattended 4,000-company batch.</a:t>
            </a:r>
            <a:endParaRPr lang="en-US" sz="880" dirty="0"/>
          </a:p>
        </p:txBody>
      </p:sp>
      <p:sp>
        <p:nvSpPr>
          <p:cNvPr id="19" name="Shape 15"/>
          <p:cNvSpPr/>
          <p:nvPr/>
        </p:nvSpPr>
        <p:spPr>
          <a:xfrm>
            <a:off x="1014984" y="2212848"/>
            <a:ext cx="0" cy="100584"/>
          </a:xfrm>
          <a:prstGeom prst="line">
            <a:avLst/>
          </a:prstGeom>
          <a:noFill/>
          <a:ln w="17780">
            <a:solidFill>
              <a:srgbClr val="64798F"/>
            </a:solidFill>
            <a:prstDash val="solid"/>
            <a:headEnd type="none"/>
            <a:tailEnd type="triangle"/>
          </a:ln>
        </p:spPr>
      </p:sp>
      <p:sp>
        <p:nvSpPr>
          <p:cNvPr id="20" name="Shape 16"/>
          <p:cNvSpPr/>
          <p:nvPr/>
        </p:nvSpPr>
        <p:spPr>
          <a:xfrm>
            <a:off x="594360" y="2331720"/>
            <a:ext cx="11000232" cy="713232"/>
          </a:xfrm>
          <a:prstGeom prst="roundRect">
            <a:avLst>
              <a:gd name="adj" fmla="val 12821"/>
            </a:avLst>
          </a:prstGeom>
          <a:solidFill>
            <a:srgbClr val="F8FAFC"/>
          </a:solidFill>
          <a:ln w="15875">
            <a:solidFill>
              <a:srgbClr val="C8D4E0"/>
            </a:solidFill>
            <a:prstDash val="solid"/>
          </a:ln>
          <a:effectLst>
            <a:outerShdw sx="100000" sy="100000" kx="0" ky="0" algn="bl" rotWithShape="0" blurRad="101600" dist="19050" dir="5400000">
              <a:srgbClr val="9FB0C2">
                <a:alpha val="24000"/>
              </a:srgbClr>
            </a:outerShdw>
          </a:effectLst>
        </p:spPr>
      </p:sp>
      <p:sp>
        <p:nvSpPr>
          <p:cNvPr id="21" name="Shape 17"/>
          <p:cNvSpPr/>
          <p:nvPr/>
        </p:nvSpPr>
        <p:spPr>
          <a:xfrm>
            <a:off x="813816" y="2487168"/>
            <a:ext cx="402336" cy="402336"/>
          </a:xfrm>
          <a:prstGeom prst="roundRect">
            <a:avLst>
              <a:gd name="adj" fmla="val 27273"/>
            </a:avLst>
          </a:prstGeom>
          <a:solidFill>
            <a:srgbClr val="64798F"/>
          </a:solidFill>
          <a:ln/>
        </p:spPr>
      </p:sp>
      <p:pic>
        <p:nvPicPr>
          <p:cNvPr id="22" name="Image 2" descr="preencoded.png">    </p:cNvPr>
          <p:cNvPicPr>
            <a:picLocks noChangeAspect="1"/>
          </p:cNvPicPr>
          <p:nvPr/>
        </p:nvPicPr>
        <p:blipFill>
          <a:blip r:embed="rId3"/>
          <a:stretch>
            <a:fillRect/>
          </a:stretch>
        </p:blipFill>
        <p:spPr>
          <a:xfrm>
            <a:off x="902330" y="2575682"/>
            <a:ext cx="225308" cy="225308"/>
          </a:xfrm>
          <a:prstGeom prst="rect">
            <a:avLst/>
          </a:prstGeom>
        </p:spPr>
      </p:pic>
      <p:sp>
        <p:nvSpPr>
          <p:cNvPr id="23" name="Text 18"/>
          <p:cNvSpPr txBox="1"/>
          <p:nvPr/>
        </p:nvSpPr>
        <p:spPr>
          <a:xfrm>
            <a:off x="1344168" y="2441448"/>
            <a:ext cx="1874520" cy="237744"/>
          </a:xfrm>
          <a:prstGeom prst="rect">
            <a:avLst/>
          </a:prstGeom>
          <a:noFill/>
          <a:ln/>
        </p:spPr>
        <p:txBody>
          <a:bodyPr wrap="square" lIns="0" tIns="0" rIns="0" bIns="0" rtlCol="0" anchor="ctr"/>
          <a:lstStyle/>
          <a:p>
            <a:pPr indent="0" marL="0">
              <a:buNone/>
            </a:pPr>
            <a:r>
              <a:rPr lang="en-US" sz="1250" b="1" dirty="0">
                <a:solidFill>
                  <a:srgbClr val="24354A"/>
                </a:solidFill>
                <a:latin typeface="Cambria" pitchFamily="34" charset="0"/>
                <a:ea typeface="Cambria" pitchFamily="34" charset="-122"/>
                <a:cs typeface="Cambria" pitchFamily="34" charset="-120"/>
              </a:rPr>
              <a:t>ORCHESTRATION</a:t>
            </a:r>
            <a:endParaRPr lang="en-US" sz="1250" dirty="0"/>
          </a:p>
        </p:txBody>
      </p:sp>
      <p:sp>
        <p:nvSpPr>
          <p:cNvPr id="24" name="Text 19"/>
          <p:cNvSpPr txBox="1"/>
          <p:nvPr/>
        </p:nvSpPr>
        <p:spPr>
          <a:xfrm>
            <a:off x="1344168" y="2706624"/>
            <a:ext cx="1874520" cy="201168"/>
          </a:xfrm>
          <a:prstGeom prst="rect">
            <a:avLst/>
          </a:prstGeom>
          <a:noFill/>
          <a:ln/>
        </p:spPr>
        <p:txBody>
          <a:bodyPr wrap="square" lIns="0" tIns="0" rIns="0" bIns="0" rtlCol="0" anchor="ctr"/>
          <a:lstStyle/>
          <a:p>
            <a:pPr indent="0" marL="0">
              <a:buNone/>
            </a:pPr>
            <a:r>
              <a:rPr lang="en-US" sz="850" i="1" dirty="0">
                <a:solidFill>
                  <a:srgbClr val="58697A"/>
                </a:solidFill>
                <a:latin typeface="Calibri" pitchFamily="34" charset="0"/>
                <a:ea typeface="Calibri" pitchFamily="34" charset="-122"/>
                <a:cs typeface="Calibri" pitchFamily="34" charset="-120"/>
              </a:rPr>
              <a:t>how a run behaves</a:t>
            </a:r>
            <a:endParaRPr lang="en-US" sz="850" dirty="0"/>
          </a:p>
        </p:txBody>
      </p:sp>
      <p:sp>
        <p:nvSpPr>
          <p:cNvPr id="25" name="Shape 20"/>
          <p:cNvSpPr/>
          <p:nvPr/>
        </p:nvSpPr>
        <p:spPr>
          <a:xfrm>
            <a:off x="3264408" y="2432304"/>
            <a:ext cx="804672" cy="274320"/>
          </a:xfrm>
          <a:prstGeom prst="roundRect">
            <a:avLst>
              <a:gd name="adj" fmla="val 46667"/>
            </a:avLst>
          </a:prstGeom>
          <a:solidFill>
            <a:srgbClr val="EAF0F5"/>
          </a:solidFill>
          <a:ln w="12700">
            <a:solidFill>
              <a:srgbClr val="64798F"/>
            </a:solidFill>
            <a:prstDash val="solid"/>
          </a:ln>
        </p:spPr>
      </p:sp>
      <p:sp>
        <p:nvSpPr>
          <p:cNvPr id="26" name="Text 21"/>
          <p:cNvSpPr txBox="1"/>
          <p:nvPr/>
        </p:nvSpPr>
        <p:spPr>
          <a:xfrm>
            <a:off x="3264408" y="2432304"/>
            <a:ext cx="804672" cy="274320"/>
          </a:xfrm>
          <a:prstGeom prst="rect">
            <a:avLst/>
          </a:prstGeom>
          <a:noFill/>
          <a:ln/>
        </p:spPr>
        <p:txBody>
          <a:bodyPr wrap="square" lIns="0" tIns="0" rIns="0" bIns="0" rtlCol="0" anchor="ctr"/>
          <a:lstStyle/>
          <a:p>
            <a:pPr algn="ctr" indent="0" marL="0">
              <a:buNone/>
            </a:pPr>
            <a:r>
              <a:rPr lang="en-US" sz="850" b="1" dirty="0">
                <a:solidFill>
                  <a:srgbClr val="24354A"/>
                </a:solidFill>
                <a:latin typeface="Calibri" pitchFamily="34" charset="0"/>
                <a:ea typeface="Calibri" pitchFamily="34" charset="-122"/>
                <a:cs typeface="Calibri" pitchFamily="34" charset="-120"/>
              </a:rPr>
              <a:t>JobManager</a:t>
            </a:r>
            <a:endParaRPr lang="en-US" sz="850" dirty="0"/>
          </a:p>
        </p:txBody>
      </p:sp>
      <p:sp>
        <p:nvSpPr>
          <p:cNvPr id="27" name="Shape 22"/>
          <p:cNvSpPr/>
          <p:nvPr/>
        </p:nvSpPr>
        <p:spPr>
          <a:xfrm>
            <a:off x="4169664" y="2432304"/>
            <a:ext cx="857707" cy="274320"/>
          </a:xfrm>
          <a:prstGeom prst="roundRect">
            <a:avLst>
              <a:gd name="adj" fmla="val 46667"/>
            </a:avLst>
          </a:prstGeom>
          <a:solidFill>
            <a:srgbClr val="EAF0F5"/>
          </a:solidFill>
          <a:ln w="12700">
            <a:solidFill>
              <a:srgbClr val="64798F"/>
            </a:solidFill>
            <a:prstDash val="solid"/>
          </a:ln>
        </p:spPr>
      </p:sp>
      <p:sp>
        <p:nvSpPr>
          <p:cNvPr id="28" name="Text 23"/>
          <p:cNvSpPr txBox="1"/>
          <p:nvPr/>
        </p:nvSpPr>
        <p:spPr>
          <a:xfrm>
            <a:off x="4169664" y="2432304"/>
            <a:ext cx="857707" cy="274320"/>
          </a:xfrm>
          <a:prstGeom prst="rect">
            <a:avLst/>
          </a:prstGeom>
          <a:noFill/>
          <a:ln/>
        </p:spPr>
        <p:txBody>
          <a:bodyPr wrap="square" lIns="0" tIns="0" rIns="0" bIns="0" rtlCol="0" anchor="ctr"/>
          <a:lstStyle/>
          <a:p>
            <a:pPr algn="ctr" indent="0" marL="0">
              <a:buNone/>
            </a:pPr>
            <a:r>
              <a:rPr lang="en-US" sz="850" b="1" dirty="0">
                <a:solidFill>
                  <a:srgbClr val="24354A"/>
                </a:solidFill>
                <a:latin typeface="Calibri" pitchFamily="34" charset="0"/>
                <a:ea typeface="Calibri" pitchFamily="34" charset="-122"/>
                <a:cs typeface="Calibri" pitchFamily="34" charset="-120"/>
              </a:rPr>
              <a:t>RunManifest</a:t>
            </a:r>
            <a:endParaRPr lang="en-US" sz="850" dirty="0"/>
          </a:p>
        </p:txBody>
      </p:sp>
      <p:sp>
        <p:nvSpPr>
          <p:cNvPr id="29" name="Shape 24"/>
          <p:cNvSpPr/>
          <p:nvPr/>
        </p:nvSpPr>
        <p:spPr>
          <a:xfrm>
            <a:off x="5127955" y="2432304"/>
            <a:ext cx="751637" cy="274320"/>
          </a:xfrm>
          <a:prstGeom prst="roundRect">
            <a:avLst>
              <a:gd name="adj" fmla="val 46667"/>
            </a:avLst>
          </a:prstGeom>
          <a:solidFill>
            <a:srgbClr val="DCF2F4"/>
          </a:solidFill>
          <a:ln w="12700">
            <a:solidFill>
              <a:srgbClr val="108494"/>
            </a:solidFill>
            <a:prstDash val="solid"/>
          </a:ln>
        </p:spPr>
      </p:sp>
      <p:sp>
        <p:nvSpPr>
          <p:cNvPr id="30" name="Text 25"/>
          <p:cNvSpPr txBox="1"/>
          <p:nvPr/>
        </p:nvSpPr>
        <p:spPr>
          <a:xfrm>
            <a:off x="5127955" y="2432304"/>
            <a:ext cx="751637" cy="274320"/>
          </a:xfrm>
          <a:prstGeom prst="rect">
            <a:avLst/>
          </a:prstGeom>
          <a:noFill/>
          <a:ln/>
        </p:spPr>
        <p:txBody>
          <a:bodyPr wrap="square" lIns="0" tIns="0" rIns="0" bIns="0" rtlCol="0" anchor="ctr"/>
          <a:lstStyle/>
          <a:p>
            <a:pPr algn="ctr" indent="0" marL="0">
              <a:buNone/>
            </a:pPr>
            <a:r>
              <a:rPr lang="en-US" sz="850" b="1" dirty="0">
                <a:solidFill>
                  <a:srgbClr val="0A4451"/>
                </a:solidFill>
                <a:latin typeface="Calibri" pitchFamily="34" charset="0"/>
                <a:ea typeface="Calibri" pitchFamily="34" charset="-122"/>
                <a:cs typeface="Calibri" pitchFamily="34" charset="-120"/>
              </a:rPr>
              <a:t>run_batch</a:t>
            </a:r>
            <a:endParaRPr lang="en-US" sz="850" dirty="0"/>
          </a:p>
        </p:txBody>
      </p:sp>
      <p:sp>
        <p:nvSpPr>
          <p:cNvPr id="31" name="Shape 26"/>
          <p:cNvSpPr/>
          <p:nvPr/>
        </p:nvSpPr>
        <p:spPr>
          <a:xfrm>
            <a:off x="5980176" y="2432304"/>
            <a:ext cx="910742" cy="274320"/>
          </a:xfrm>
          <a:prstGeom prst="roundRect">
            <a:avLst>
              <a:gd name="adj" fmla="val 46667"/>
            </a:avLst>
          </a:prstGeom>
          <a:solidFill>
            <a:srgbClr val="FBE2E8"/>
          </a:solidFill>
          <a:ln w="12700">
            <a:solidFill>
              <a:srgbClr val="CE3D64"/>
            </a:solidFill>
            <a:prstDash val="solid"/>
          </a:ln>
        </p:spPr>
      </p:sp>
      <p:sp>
        <p:nvSpPr>
          <p:cNvPr id="32" name="Text 27"/>
          <p:cNvSpPr txBox="1"/>
          <p:nvPr/>
        </p:nvSpPr>
        <p:spPr>
          <a:xfrm>
            <a:off x="5980176" y="2432304"/>
            <a:ext cx="910742" cy="274320"/>
          </a:xfrm>
          <a:prstGeom prst="rect">
            <a:avLst/>
          </a:prstGeom>
          <a:noFill/>
          <a:ln/>
        </p:spPr>
        <p:txBody>
          <a:bodyPr wrap="square" lIns="0" tIns="0" rIns="0" bIns="0" rtlCol="0" anchor="ctr"/>
          <a:lstStyle/>
          <a:p>
            <a:pPr algn="ctr" indent="0" marL="0">
              <a:buNone/>
            </a:pPr>
            <a:r>
              <a:rPr lang="en-US" sz="850" b="1" dirty="0">
                <a:solidFill>
                  <a:srgbClr val="68182F"/>
                </a:solidFill>
                <a:latin typeface="Calibri" pitchFamily="34" charset="0"/>
                <a:ea typeface="Calibri" pitchFamily="34" charset="-122"/>
                <a:cs typeface="Calibri" pitchFamily="34" charset="-120"/>
              </a:rPr>
              <a:t>review queue</a:t>
            </a:r>
            <a:endParaRPr lang="en-US" sz="850" dirty="0"/>
          </a:p>
        </p:txBody>
      </p:sp>
      <p:sp>
        <p:nvSpPr>
          <p:cNvPr id="33" name="Shape 28"/>
          <p:cNvSpPr/>
          <p:nvPr/>
        </p:nvSpPr>
        <p:spPr>
          <a:xfrm>
            <a:off x="6991502" y="2432304"/>
            <a:ext cx="910742" cy="274320"/>
          </a:xfrm>
          <a:prstGeom prst="roundRect">
            <a:avLst>
              <a:gd name="adj" fmla="val 46667"/>
            </a:avLst>
          </a:prstGeom>
          <a:solidFill>
            <a:srgbClr val="EAF0F5"/>
          </a:solidFill>
          <a:ln w="12700">
            <a:solidFill>
              <a:srgbClr val="64798F"/>
            </a:solidFill>
            <a:prstDash val="solid"/>
          </a:ln>
        </p:spPr>
      </p:sp>
      <p:sp>
        <p:nvSpPr>
          <p:cNvPr id="34" name="Text 29"/>
          <p:cNvSpPr txBox="1"/>
          <p:nvPr/>
        </p:nvSpPr>
        <p:spPr>
          <a:xfrm>
            <a:off x="6991502" y="2432304"/>
            <a:ext cx="910742" cy="274320"/>
          </a:xfrm>
          <a:prstGeom prst="rect">
            <a:avLst/>
          </a:prstGeom>
          <a:noFill/>
          <a:ln/>
        </p:spPr>
        <p:txBody>
          <a:bodyPr wrap="square" lIns="0" tIns="0" rIns="0" bIns="0" rtlCol="0" anchor="ctr"/>
          <a:lstStyle/>
          <a:p>
            <a:pPr algn="ctr" indent="0" marL="0">
              <a:buNone/>
            </a:pPr>
            <a:r>
              <a:rPr lang="en-US" sz="850" b="1" dirty="0">
                <a:solidFill>
                  <a:srgbClr val="24354A"/>
                </a:solidFill>
                <a:latin typeface="Calibri" pitchFamily="34" charset="0"/>
                <a:ea typeface="Calibri" pitchFamily="34" charset="-122"/>
                <a:cs typeface="Calibri" pitchFamily="34" charset="-120"/>
              </a:rPr>
              <a:t>cost tracker</a:t>
            </a:r>
            <a:endParaRPr lang="en-US" sz="850" dirty="0"/>
          </a:p>
        </p:txBody>
      </p:sp>
      <p:sp>
        <p:nvSpPr>
          <p:cNvPr id="35" name="Text 30"/>
          <p:cNvSpPr txBox="1"/>
          <p:nvPr/>
        </p:nvSpPr>
        <p:spPr>
          <a:xfrm>
            <a:off x="3264408" y="2770632"/>
            <a:ext cx="8074152" cy="219456"/>
          </a:xfrm>
          <a:prstGeom prst="rect">
            <a:avLst/>
          </a:prstGeom>
          <a:noFill/>
          <a:ln/>
        </p:spPr>
        <p:txBody>
          <a:bodyPr wrap="square" lIns="0" tIns="0" rIns="0" bIns="0" rtlCol="0" anchor="ctr"/>
          <a:lstStyle/>
          <a:p>
            <a:pPr indent="0" marL="0">
              <a:buNone/>
            </a:pPr>
            <a:r>
              <a:rPr lang="en-US" sz="880" dirty="0">
                <a:solidFill>
                  <a:srgbClr val="43566B"/>
                </a:solidFill>
                <a:latin typeface="Calibri" pitchFamily="34" charset="0"/>
                <a:ea typeface="Calibri" pitchFamily="34" charset="-122"/>
                <a:cs typeface="Calibri" pitchFamily="34" charset="-120"/>
              </a:rPr>
              <a:t>Bounded concurrency · per-company isolation · a checkpoint on every result · cooperative cancel and resume.</a:t>
            </a:r>
            <a:endParaRPr lang="en-US" sz="880" dirty="0"/>
          </a:p>
        </p:txBody>
      </p:sp>
      <p:sp>
        <p:nvSpPr>
          <p:cNvPr id="36" name="Shape 31"/>
          <p:cNvSpPr/>
          <p:nvPr/>
        </p:nvSpPr>
        <p:spPr>
          <a:xfrm>
            <a:off x="1014984" y="3063240"/>
            <a:ext cx="0" cy="100584"/>
          </a:xfrm>
          <a:prstGeom prst="line">
            <a:avLst/>
          </a:prstGeom>
          <a:noFill/>
          <a:ln w="17780">
            <a:solidFill>
              <a:srgbClr val="64798F"/>
            </a:solidFill>
            <a:prstDash val="solid"/>
            <a:headEnd type="none"/>
            <a:tailEnd type="triangle"/>
          </a:ln>
        </p:spPr>
      </p:sp>
      <p:sp>
        <p:nvSpPr>
          <p:cNvPr id="37" name="Shape 32"/>
          <p:cNvSpPr/>
          <p:nvPr/>
        </p:nvSpPr>
        <p:spPr>
          <a:xfrm>
            <a:off x="594360" y="3182112"/>
            <a:ext cx="11000232" cy="1143000"/>
          </a:xfrm>
          <a:prstGeom prst="roundRect">
            <a:avLst>
              <a:gd name="adj" fmla="val 8000"/>
            </a:avLst>
          </a:prstGeom>
          <a:solidFill>
            <a:srgbClr val="F8FAFC"/>
          </a:solidFill>
          <a:ln w="15875">
            <a:solidFill>
              <a:srgbClr val="C9BAF4"/>
            </a:solidFill>
            <a:prstDash val="solid"/>
          </a:ln>
          <a:effectLst>
            <a:outerShdw sx="100000" sy="100000" kx="0" ky="0" algn="bl" rotWithShape="0" blurRad="101600" dist="19050" dir="5400000">
              <a:srgbClr val="9FB0C2">
                <a:alpha val="24000"/>
              </a:srgbClr>
            </a:outerShdw>
          </a:effectLst>
        </p:spPr>
      </p:sp>
      <p:sp>
        <p:nvSpPr>
          <p:cNvPr id="38" name="Shape 33"/>
          <p:cNvSpPr/>
          <p:nvPr/>
        </p:nvSpPr>
        <p:spPr>
          <a:xfrm>
            <a:off x="813816" y="3552444"/>
            <a:ext cx="402336" cy="402336"/>
          </a:xfrm>
          <a:prstGeom prst="roundRect">
            <a:avLst>
              <a:gd name="adj" fmla="val 27273"/>
            </a:avLst>
          </a:prstGeom>
          <a:solidFill>
            <a:srgbClr val="6D4DD1"/>
          </a:solidFill>
          <a:ln/>
        </p:spPr>
      </p:sp>
      <p:pic>
        <p:nvPicPr>
          <p:cNvPr id="39" name="Image 3" descr="preencoded.png">    </p:cNvPr>
          <p:cNvPicPr>
            <a:picLocks noChangeAspect="1"/>
          </p:cNvPicPr>
          <p:nvPr/>
        </p:nvPicPr>
        <p:blipFill>
          <a:blip r:embed="rId4"/>
          <a:stretch>
            <a:fillRect/>
          </a:stretch>
        </p:blipFill>
        <p:spPr>
          <a:xfrm>
            <a:off x="902330" y="3640958"/>
            <a:ext cx="225308" cy="225308"/>
          </a:xfrm>
          <a:prstGeom prst="rect">
            <a:avLst/>
          </a:prstGeom>
        </p:spPr>
      </p:pic>
      <p:sp>
        <p:nvSpPr>
          <p:cNvPr id="40" name="Text 34"/>
          <p:cNvSpPr txBox="1"/>
          <p:nvPr/>
        </p:nvSpPr>
        <p:spPr>
          <a:xfrm>
            <a:off x="1344168" y="3474720"/>
            <a:ext cx="1874520" cy="237744"/>
          </a:xfrm>
          <a:prstGeom prst="rect">
            <a:avLst/>
          </a:prstGeom>
          <a:noFill/>
          <a:ln/>
        </p:spPr>
        <p:txBody>
          <a:bodyPr wrap="square" lIns="0" tIns="0" rIns="0" bIns="0" rtlCol="0" anchor="ctr"/>
          <a:lstStyle/>
          <a:p>
            <a:pPr indent="0" marL="0">
              <a:buNone/>
            </a:pPr>
            <a:r>
              <a:rPr lang="en-US" sz="1250" b="1" dirty="0">
                <a:solidFill>
                  <a:srgbClr val="35236E"/>
                </a:solidFill>
                <a:latin typeface="Cambria" pitchFamily="34" charset="0"/>
                <a:ea typeface="Cambria" pitchFamily="34" charset="-122"/>
                <a:cs typeface="Cambria" pitchFamily="34" charset="-120"/>
              </a:rPr>
              <a:t>AGENT PIPELINES</a:t>
            </a:r>
            <a:endParaRPr lang="en-US" sz="1250" dirty="0"/>
          </a:p>
        </p:txBody>
      </p:sp>
      <p:sp>
        <p:nvSpPr>
          <p:cNvPr id="41" name="Text 35"/>
          <p:cNvSpPr txBox="1"/>
          <p:nvPr/>
        </p:nvSpPr>
        <p:spPr>
          <a:xfrm>
            <a:off x="1344168" y="3739896"/>
            <a:ext cx="1874520" cy="201168"/>
          </a:xfrm>
          <a:prstGeom prst="rect">
            <a:avLst/>
          </a:prstGeom>
          <a:noFill/>
          <a:ln/>
        </p:spPr>
        <p:txBody>
          <a:bodyPr wrap="square" lIns="0" tIns="0" rIns="0" bIns="0" rtlCol="0" anchor="ctr"/>
          <a:lstStyle/>
          <a:p>
            <a:pPr indent="0" marL="0">
              <a:buNone/>
            </a:pPr>
            <a:r>
              <a:rPr lang="en-US" sz="850" i="1" dirty="0">
                <a:solidFill>
                  <a:srgbClr val="58697A"/>
                </a:solidFill>
                <a:latin typeface="Calibri" pitchFamily="34" charset="0"/>
                <a:ea typeface="Calibri" pitchFamily="34" charset="-122"/>
                <a:cs typeface="Calibri" pitchFamily="34" charset="-120"/>
              </a:rPr>
              <a:t>the thirteen functions</a:t>
            </a:r>
            <a:endParaRPr lang="en-US" sz="850" dirty="0"/>
          </a:p>
        </p:txBody>
      </p:sp>
      <p:sp>
        <p:nvSpPr>
          <p:cNvPr id="42" name="Shape 36"/>
          <p:cNvSpPr/>
          <p:nvPr/>
        </p:nvSpPr>
        <p:spPr>
          <a:xfrm>
            <a:off x="3264408" y="3282696"/>
            <a:ext cx="539496" cy="274320"/>
          </a:xfrm>
          <a:prstGeom prst="roundRect">
            <a:avLst>
              <a:gd name="adj" fmla="val 46667"/>
            </a:avLst>
          </a:prstGeom>
          <a:solidFill>
            <a:srgbClr val="EBE5FC"/>
          </a:solidFill>
          <a:ln w="12700">
            <a:solidFill>
              <a:srgbClr val="6D4DD1"/>
            </a:solidFill>
            <a:prstDash val="solid"/>
          </a:ln>
        </p:spPr>
      </p:sp>
      <p:sp>
        <p:nvSpPr>
          <p:cNvPr id="43" name="Text 37"/>
          <p:cNvSpPr txBox="1"/>
          <p:nvPr/>
        </p:nvSpPr>
        <p:spPr>
          <a:xfrm>
            <a:off x="3264408" y="3282696"/>
            <a:ext cx="539496"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theme</a:t>
            </a:r>
            <a:endParaRPr lang="en-US" sz="850" dirty="0"/>
          </a:p>
        </p:txBody>
      </p:sp>
      <p:sp>
        <p:nvSpPr>
          <p:cNvPr id="44" name="Shape 38"/>
          <p:cNvSpPr/>
          <p:nvPr/>
        </p:nvSpPr>
        <p:spPr>
          <a:xfrm>
            <a:off x="3904488" y="3282696"/>
            <a:ext cx="804672" cy="274320"/>
          </a:xfrm>
          <a:prstGeom prst="roundRect">
            <a:avLst>
              <a:gd name="adj" fmla="val 46667"/>
            </a:avLst>
          </a:prstGeom>
          <a:solidFill>
            <a:srgbClr val="EBE5FC"/>
          </a:solidFill>
          <a:ln w="12700">
            <a:solidFill>
              <a:srgbClr val="6D4DD1"/>
            </a:solidFill>
            <a:prstDash val="solid"/>
          </a:ln>
        </p:spPr>
      </p:sp>
      <p:sp>
        <p:nvSpPr>
          <p:cNvPr id="45" name="Text 39"/>
          <p:cNvSpPr txBox="1"/>
          <p:nvPr/>
        </p:nvSpPr>
        <p:spPr>
          <a:xfrm>
            <a:off x="3904488" y="3282696"/>
            <a:ext cx="804672"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extraction</a:t>
            </a:r>
            <a:endParaRPr lang="en-US" sz="850" dirty="0"/>
          </a:p>
        </p:txBody>
      </p:sp>
      <p:sp>
        <p:nvSpPr>
          <p:cNvPr id="46" name="Shape 40"/>
          <p:cNvSpPr/>
          <p:nvPr/>
        </p:nvSpPr>
        <p:spPr>
          <a:xfrm>
            <a:off x="4809744" y="3282696"/>
            <a:ext cx="804672" cy="274320"/>
          </a:xfrm>
          <a:prstGeom prst="roundRect">
            <a:avLst>
              <a:gd name="adj" fmla="val 46667"/>
            </a:avLst>
          </a:prstGeom>
          <a:solidFill>
            <a:srgbClr val="EBE5FC"/>
          </a:solidFill>
          <a:ln w="12700">
            <a:solidFill>
              <a:srgbClr val="6D4DD1"/>
            </a:solidFill>
            <a:prstDash val="solid"/>
          </a:ln>
        </p:spPr>
      </p:sp>
      <p:sp>
        <p:nvSpPr>
          <p:cNvPr id="47" name="Text 41"/>
          <p:cNvSpPr txBox="1"/>
          <p:nvPr/>
        </p:nvSpPr>
        <p:spPr>
          <a:xfrm>
            <a:off x="4809744" y="3282696"/>
            <a:ext cx="804672"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financials</a:t>
            </a:r>
            <a:endParaRPr lang="en-US" sz="850" dirty="0"/>
          </a:p>
        </p:txBody>
      </p:sp>
      <p:sp>
        <p:nvSpPr>
          <p:cNvPr id="48" name="Shape 42"/>
          <p:cNvSpPr/>
          <p:nvPr/>
        </p:nvSpPr>
        <p:spPr>
          <a:xfrm>
            <a:off x="5715000" y="3282696"/>
            <a:ext cx="751637" cy="274320"/>
          </a:xfrm>
          <a:prstGeom prst="roundRect">
            <a:avLst>
              <a:gd name="adj" fmla="val 46667"/>
            </a:avLst>
          </a:prstGeom>
          <a:solidFill>
            <a:srgbClr val="EBE5FC"/>
          </a:solidFill>
          <a:ln w="12700">
            <a:solidFill>
              <a:srgbClr val="6D4DD1"/>
            </a:solidFill>
            <a:prstDash val="solid"/>
          </a:ln>
        </p:spPr>
      </p:sp>
      <p:sp>
        <p:nvSpPr>
          <p:cNvPr id="49" name="Text 43"/>
          <p:cNvSpPr txBox="1"/>
          <p:nvPr/>
        </p:nvSpPr>
        <p:spPr>
          <a:xfrm>
            <a:off x="5715000" y="3282696"/>
            <a:ext cx="751637"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discovery</a:t>
            </a:r>
            <a:endParaRPr lang="en-US" sz="850" dirty="0"/>
          </a:p>
        </p:txBody>
      </p:sp>
      <p:sp>
        <p:nvSpPr>
          <p:cNvPr id="50" name="Shape 44"/>
          <p:cNvSpPr/>
          <p:nvPr/>
        </p:nvSpPr>
        <p:spPr>
          <a:xfrm>
            <a:off x="6567221" y="3282696"/>
            <a:ext cx="698602" cy="274320"/>
          </a:xfrm>
          <a:prstGeom prst="roundRect">
            <a:avLst>
              <a:gd name="adj" fmla="val 46667"/>
            </a:avLst>
          </a:prstGeom>
          <a:solidFill>
            <a:srgbClr val="EBE5FC"/>
          </a:solidFill>
          <a:ln w="12700">
            <a:solidFill>
              <a:srgbClr val="6D4DD1"/>
            </a:solidFill>
            <a:prstDash val="solid"/>
          </a:ln>
        </p:spPr>
      </p:sp>
      <p:sp>
        <p:nvSpPr>
          <p:cNvPr id="51" name="Text 45"/>
          <p:cNvSpPr txBox="1"/>
          <p:nvPr/>
        </p:nvSpPr>
        <p:spPr>
          <a:xfrm>
            <a:off x="6567221" y="3282696"/>
            <a:ext cx="698602"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identity</a:t>
            </a:r>
            <a:endParaRPr lang="en-US" sz="850" dirty="0"/>
          </a:p>
        </p:txBody>
      </p:sp>
      <p:sp>
        <p:nvSpPr>
          <p:cNvPr id="52" name="Shape 46"/>
          <p:cNvSpPr/>
          <p:nvPr/>
        </p:nvSpPr>
        <p:spPr>
          <a:xfrm>
            <a:off x="7366406" y="3282696"/>
            <a:ext cx="1175918" cy="274320"/>
          </a:xfrm>
          <a:prstGeom prst="roundRect">
            <a:avLst>
              <a:gd name="adj" fmla="val 46667"/>
            </a:avLst>
          </a:prstGeom>
          <a:solidFill>
            <a:srgbClr val="DCF2F4"/>
          </a:solidFill>
          <a:ln w="12700">
            <a:solidFill>
              <a:srgbClr val="108494"/>
            </a:solidFill>
            <a:prstDash val="solid"/>
          </a:ln>
        </p:spPr>
      </p:sp>
      <p:sp>
        <p:nvSpPr>
          <p:cNvPr id="53" name="Text 47"/>
          <p:cNvSpPr txBox="1"/>
          <p:nvPr/>
        </p:nvSpPr>
        <p:spPr>
          <a:xfrm>
            <a:off x="7366406" y="3282696"/>
            <a:ext cx="1175918" cy="274320"/>
          </a:xfrm>
          <a:prstGeom prst="rect">
            <a:avLst/>
          </a:prstGeom>
          <a:noFill/>
          <a:ln/>
        </p:spPr>
        <p:txBody>
          <a:bodyPr wrap="square" lIns="0" tIns="0" rIns="0" bIns="0" rtlCol="0" anchor="ctr"/>
          <a:lstStyle/>
          <a:p>
            <a:pPr algn="ctr" indent="0" marL="0">
              <a:buNone/>
            </a:pPr>
            <a:r>
              <a:rPr lang="en-US" sz="850" b="1" dirty="0">
                <a:solidFill>
                  <a:srgbClr val="0A4451"/>
                </a:solidFill>
                <a:latin typeface="Calibri" pitchFamily="34" charset="0"/>
                <a:ea typeface="Calibri" pitchFamily="34" charset="-122"/>
                <a:cs typeface="Calibri" pitchFamily="34" charset="-120"/>
              </a:rPr>
              <a:t>indirect exposure</a:t>
            </a:r>
            <a:endParaRPr lang="en-US" sz="850" dirty="0"/>
          </a:p>
        </p:txBody>
      </p:sp>
      <p:sp>
        <p:nvSpPr>
          <p:cNvPr id="54" name="Shape 48"/>
          <p:cNvSpPr/>
          <p:nvPr/>
        </p:nvSpPr>
        <p:spPr>
          <a:xfrm>
            <a:off x="8642909" y="3282696"/>
            <a:ext cx="1069848" cy="274320"/>
          </a:xfrm>
          <a:prstGeom prst="roundRect">
            <a:avLst>
              <a:gd name="adj" fmla="val 46667"/>
            </a:avLst>
          </a:prstGeom>
          <a:solidFill>
            <a:srgbClr val="EBE5FC"/>
          </a:solidFill>
          <a:ln w="12700">
            <a:solidFill>
              <a:srgbClr val="6D4DD1"/>
            </a:solidFill>
            <a:prstDash val="solid"/>
          </a:ln>
        </p:spPr>
      </p:sp>
      <p:sp>
        <p:nvSpPr>
          <p:cNvPr id="55" name="Text 49"/>
          <p:cNvSpPr txBox="1"/>
          <p:nvPr/>
        </p:nvSpPr>
        <p:spPr>
          <a:xfrm>
            <a:off x="8642909" y="3282696"/>
            <a:ext cx="1069848"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transition plan</a:t>
            </a:r>
            <a:endParaRPr lang="en-US" sz="850" dirty="0"/>
          </a:p>
        </p:txBody>
      </p:sp>
      <p:sp>
        <p:nvSpPr>
          <p:cNvPr id="56" name="Shape 50"/>
          <p:cNvSpPr/>
          <p:nvPr/>
        </p:nvSpPr>
        <p:spPr>
          <a:xfrm>
            <a:off x="9813341" y="3282696"/>
            <a:ext cx="804672" cy="274320"/>
          </a:xfrm>
          <a:prstGeom prst="roundRect">
            <a:avLst>
              <a:gd name="adj" fmla="val 46667"/>
            </a:avLst>
          </a:prstGeom>
          <a:solidFill>
            <a:srgbClr val="EBE5FC"/>
          </a:solidFill>
          <a:ln w="12700">
            <a:solidFill>
              <a:srgbClr val="6D4DD1"/>
            </a:solidFill>
            <a:prstDash val="solid"/>
          </a:ln>
        </p:spPr>
      </p:sp>
      <p:sp>
        <p:nvSpPr>
          <p:cNvPr id="57" name="Text 51"/>
          <p:cNvSpPr txBox="1"/>
          <p:nvPr/>
        </p:nvSpPr>
        <p:spPr>
          <a:xfrm>
            <a:off x="9813341" y="3282696"/>
            <a:ext cx="804672"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engagement</a:t>
            </a:r>
            <a:endParaRPr lang="en-US" sz="850" dirty="0"/>
          </a:p>
        </p:txBody>
      </p:sp>
      <p:sp>
        <p:nvSpPr>
          <p:cNvPr id="58" name="Shape 52"/>
          <p:cNvSpPr/>
          <p:nvPr/>
        </p:nvSpPr>
        <p:spPr>
          <a:xfrm>
            <a:off x="10718597" y="3282696"/>
            <a:ext cx="592531" cy="274320"/>
          </a:xfrm>
          <a:prstGeom prst="roundRect">
            <a:avLst>
              <a:gd name="adj" fmla="val 46667"/>
            </a:avLst>
          </a:prstGeom>
          <a:solidFill>
            <a:srgbClr val="EBE5FC"/>
          </a:solidFill>
          <a:ln w="12700">
            <a:solidFill>
              <a:srgbClr val="6D4DD1"/>
            </a:solidFill>
            <a:prstDash val="solid"/>
          </a:ln>
        </p:spPr>
      </p:sp>
      <p:sp>
        <p:nvSpPr>
          <p:cNvPr id="59" name="Text 53"/>
          <p:cNvSpPr txBox="1"/>
          <p:nvPr/>
        </p:nvSpPr>
        <p:spPr>
          <a:xfrm>
            <a:off x="10718597" y="3282696"/>
            <a:ext cx="592531"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voting</a:t>
            </a:r>
            <a:endParaRPr lang="en-US" sz="850" dirty="0"/>
          </a:p>
        </p:txBody>
      </p:sp>
      <p:sp>
        <p:nvSpPr>
          <p:cNvPr id="60" name="Shape 54"/>
          <p:cNvSpPr/>
          <p:nvPr/>
        </p:nvSpPr>
        <p:spPr>
          <a:xfrm>
            <a:off x="3264408" y="3630168"/>
            <a:ext cx="751637" cy="274320"/>
          </a:xfrm>
          <a:prstGeom prst="roundRect">
            <a:avLst>
              <a:gd name="adj" fmla="val 46667"/>
            </a:avLst>
          </a:prstGeom>
          <a:solidFill>
            <a:srgbClr val="DCF2F4"/>
          </a:solidFill>
          <a:ln w="12700">
            <a:solidFill>
              <a:srgbClr val="108494"/>
            </a:solidFill>
            <a:prstDash val="solid"/>
          </a:ln>
        </p:spPr>
      </p:sp>
      <p:sp>
        <p:nvSpPr>
          <p:cNvPr id="61" name="Text 55"/>
          <p:cNvSpPr txBox="1"/>
          <p:nvPr/>
        </p:nvSpPr>
        <p:spPr>
          <a:xfrm>
            <a:off x="3264408" y="3630168"/>
            <a:ext cx="751637" cy="274320"/>
          </a:xfrm>
          <a:prstGeom prst="rect">
            <a:avLst/>
          </a:prstGeom>
          <a:noFill/>
          <a:ln/>
        </p:spPr>
        <p:txBody>
          <a:bodyPr wrap="square" lIns="0" tIns="0" rIns="0" bIns="0" rtlCol="0" anchor="ctr"/>
          <a:lstStyle/>
          <a:p>
            <a:pPr algn="ctr" indent="0" marL="0">
              <a:buNone/>
            </a:pPr>
            <a:r>
              <a:rPr lang="en-US" sz="850" b="1" dirty="0">
                <a:solidFill>
                  <a:srgbClr val="0A4451"/>
                </a:solidFill>
                <a:latin typeface="Calibri" pitchFamily="34" charset="0"/>
                <a:ea typeface="Calibri" pitchFamily="34" charset="-122"/>
                <a:cs typeface="Calibri" pitchFamily="34" charset="-120"/>
              </a:rPr>
              <a:t>portfolio</a:t>
            </a:r>
            <a:endParaRPr lang="en-US" sz="850" dirty="0"/>
          </a:p>
        </p:txBody>
      </p:sp>
      <p:sp>
        <p:nvSpPr>
          <p:cNvPr id="62" name="Shape 56"/>
          <p:cNvSpPr/>
          <p:nvPr/>
        </p:nvSpPr>
        <p:spPr>
          <a:xfrm>
            <a:off x="4116629" y="3630168"/>
            <a:ext cx="857707" cy="274320"/>
          </a:xfrm>
          <a:prstGeom prst="roundRect">
            <a:avLst>
              <a:gd name="adj" fmla="val 46667"/>
            </a:avLst>
          </a:prstGeom>
          <a:solidFill>
            <a:srgbClr val="DCF2F4"/>
          </a:solidFill>
          <a:ln w="12700">
            <a:solidFill>
              <a:srgbClr val="108494"/>
            </a:solidFill>
            <a:prstDash val="solid"/>
          </a:ln>
        </p:spPr>
      </p:sp>
      <p:sp>
        <p:nvSpPr>
          <p:cNvPr id="63" name="Text 57"/>
          <p:cNvSpPr txBox="1"/>
          <p:nvPr/>
        </p:nvSpPr>
        <p:spPr>
          <a:xfrm>
            <a:off x="4116629" y="3630168"/>
            <a:ext cx="857707" cy="274320"/>
          </a:xfrm>
          <a:prstGeom prst="rect">
            <a:avLst/>
          </a:prstGeom>
          <a:noFill/>
          <a:ln/>
        </p:spPr>
        <p:txBody>
          <a:bodyPr wrap="square" lIns="0" tIns="0" rIns="0" bIns="0" rtlCol="0" anchor="ctr"/>
          <a:lstStyle/>
          <a:p>
            <a:pPr algn="ctr" indent="0" marL="0">
              <a:buNone/>
            </a:pPr>
            <a:r>
              <a:rPr lang="en-US" sz="850" b="1" dirty="0">
                <a:solidFill>
                  <a:srgbClr val="0A4451"/>
                </a:solidFill>
                <a:latin typeface="Calibri" pitchFamily="34" charset="0"/>
                <a:ea typeface="Calibri" pitchFamily="34" charset="-122"/>
                <a:cs typeface="Calibri" pitchFamily="34" charset="-120"/>
              </a:rPr>
              <a:t>replication</a:t>
            </a:r>
            <a:endParaRPr lang="en-US" sz="850" dirty="0"/>
          </a:p>
        </p:txBody>
      </p:sp>
      <p:sp>
        <p:nvSpPr>
          <p:cNvPr id="64" name="Shape 58"/>
          <p:cNvSpPr/>
          <p:nvPr/>
        </p:nvSpPr>
        <p:spPr>
          <a:xfrm>
            <a:off x="5074920" y="3630168"/>
            <a:ext cx="751637" cy="274320"/>
          </a:xfrm>
          <a:prstGeom prst="roundRect">
            <a:avLst>
              <a:gd name="adj" fmla="val 46667"/>
            </a:avLst>
          </a:prstGeom>
          <a:solidFill>
            <a:srgbClr val="EBE5FC"/>
          </a:solidFill>
          <a:ln w="12700">
            <a:solidFill>
              <a:srgbClr val="6D4DD1"/>
            </a:solidFill>
            <a:prstDash val="solid"/>
          </a:ln>
        </p:spPr>
      </p:sp>
      <p:sp>
        <p:nvSpPr>
          <p:cNvPr id="65" name="Text 59"/>
          <p:cNvSpPr txBox="1"/>
          <p:nvPr/>
        </p:nvSpPr>
        <p:spPr>
          <a:xfrm>
            <a:off x="5074920" y="3630168"/>
            <a:ext cx="751637"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reporting</a:t>
            </a:r>
            <a:endParaRPr lang="en-US" sz="850" dirty="0"/>
          </a:p>
        </p:txBody>
      </p:sp>
      <p:sp>
        <p:nvSpPr>
          <p:cNvPr id="66" name="Shape 60"/>
          <p:cNvSpPr/>
          <p:nvPr/>
        </p:nvSpPr>
        <p:spPr>
          <a:xfrm>
            <a:off x="5927141" y="3630168"/>
            <a:ext cx="1069848" cy="274320"/>
          </a:xfrm>
          <a:prstGeom prst="roundRect">
            <a:avLst>
              <a:gd name="adj" fmla="val 46667"/>
            </a:avLst>
          </a:prstGeom>
          <a:solidFill>
            <a:srgbClr val="EBE5FC"/>
          </a:solidFill>
          <a:ln w="12700">
            <a:solidFill>
              <a:srgbClr val="6D4DD1"/>
            </a:solidFill>
            <a:prstDash val="solid"/>
          </a:ln>
        </p:spPr>
      </p:sp>
      <p:sp>
        <p:nvSpPr>
          <p:cNvPr id="67" name="Text 61"/>
          <p:cNvSpPr txBox="1"/>
          <p:nvPr/>
        </p:nvSpPr>
        <p:spPr>
          <a:xfrm>
            <a:off x="5927141" y="3630168"/>
            <a:ext cx="1069848"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emerging themes</a:t>
            </a:r>
            <a:endParaRPr lang="en-US" sz="850" dirty="0"/>
          </a:p>
        </p:txBody>
      </p:sp>
      <p:sp>
        <p:nvSpPr>
          <p:cNvPr id="68" name="Text 62"/>
          <p:cNvSpPr txBox="1"/>
          <p:nvPr/>
        </p:nvSpPr>
        <p:spPr>
          <a:xfrm>
            <a:off x="3264408" y="4050792"/>
            <a:ext cx="8074152" cy="219456"/>
          </a:xfrm>
          <a:prstGeom prst="rect">
            <a:avLst/>
          </a:prstGeom>
          <a:noFill/>
          <a:ln/>
        </p:spPr>
        <p:txBody>
          <a:bodyPr wrap="square" lIns="0" tIns="0" rIns="0" bIns="0" rtlCol="0" anchor="ctr"/>
          <a:lstStyle/>
          <a:p>
            <a:pPr indent="0" marL="0">
              <a:buNone/>
            </a:pPr>
            <a:r>
              <a:rPr lang="en-US" sz="880" dirty="0">
                <a:solidFill>
                  <a:srgbClr val="43566B"/>
                </a:solidFill>
                <a:latin typeface="Calibri" pitchFamily="34" charset="0"/>
                <a:ea typeface="Calibri" pitchFamily="34" charset="-122"/>
                <a:cs typeface="Calibri" pitchFamily="34" charset="-120"/>
              </a:rPr>
              <a:t>Each models its per-company flow as an explicit LangGraph state graph; the batch fan-out stays outside the graph.</a:t>
            </a:r>
            <a:endParaRPr lang="en-US" sz="880" dirty="0"/>
          </a:p>
        </p:txBody>
      </p:sp>
      <p:sp>
        <p:nvSpPr>
          <p:cNvPr id="69" name="Shape 63"/>
          <p:cNvSpPr/>
          <p:nvPr/>
        </p:nvSpPr>
        <p:spPr>
          <a:xfrm>
            <a:off x="1014984" y="4343400"/>
            <a:ext cx="0" cy="100584"/>
          </a:xfrm>
          <a:prstGeom prst="line">
            <a:avLst/>
          </a:prstGeom>
          <a:noFill/>
          <a:ln w="17780">
            <a:solidFill>
              <a:srgbClr val="64798F"/>
            </a:solidFill>
            <a:prstDash val="solid"/>
            <a:headEnd type="none"/>
            <a:tailEnd type="triangle"/>
          </a:ln>
        </p:spPr>
      </p:sp>
      <p:sp>
        <p:nvSpPr>
          <p:cNvPr id="70" name="Shape 64"/>
          <p:cNvSpPr/>
          <p:nvPr/>
        </p:nvSpPr>
        <p:spPr>
          <a:xfrm>
            <a:off x="594360" y="4462272"/>
            <a:ext cx="11000232" cy="713232"/>
          </a:xfrm>
          <a:prstGeom prst="roundRect">
            <a:avLst>
              <a:gd name="adj" fmla="val 12821"/>
            </a:avLst>
          </a:prstGeom>
          <a:solidFill>
            <a:srgbClr val="F8FAFC"/>
          </a:solidFill>
          <a:ln w="15875">
            <a:solidFill>
              <a:srgbClr val="A6DDE4"/>
            </a:solidFill>
            <a:prstDash val="solid"/>
          </a:ln>
          <a:effectLst>
            <a:outerShdw sx="100000" sy="100000" kx="0" ky="0" algn="bl" rotWithShape="0" blurRad="101600" dist="19050" dir="5400000">
              <a:srgbClr val="9FB0C2">
                <a:alpha val="24000"/>
              </a:srgbClr>
            </a:outerShdw>
          </a:effectLst>
        </p:spPr>
      </p:sp>
      <p:sp>
        <p:nvSpPr>
          <p:cNvPr id="71" name="Shape 65"/>
          <p:cNvSpPr/>
          <p:nvPr/>
        </p:nvSpPr>
        <p:spPr>
          <a:xfrm>
            <a:off x="813816" y="4617720"/>
            <a:ext cx="402336" cy="402336"/>
          </a:xfrm>
          <a:prstGeom prst="roundRect">
            <a:avLst>
              <a:gd name="adj" fmla="val 27273"/>
            </a:avLst>
          </a:prstGeom>
          <a:solidFill>
            <a:srgbClr val="108494"/>
          </a:solidFill>
          <a:ln/>
        </p:spPr>
      </p:sp>
      <p:pic>
        <p:nvPicPr>
          <p:cNvPr id="72" name="Image 4" descr="preencoded.png">    </p:cNvPr>
          <p:cNvPicPr>
            <a:picLocks noChangeAspect="1"/>
          </p:cNvPicPr>
          <p:nvPr/>
        </p:nvPicPr>
        <p:blipFill>
          <a:blip r:embed="rId5"/>
          <a:stretch>
            <a:fillRect/>
          </a:stretch>
        </p:blipFill>
        <p:spPr>
          <a:xfrm>
            <a:off x="902330" y="4706234"/>
            <a:ext cx="225308" cy="225308"/>
          </a:xfrm>
          <a:prstGeom prst="rect">
            <a:avLst/>
          </a:prstGeom>
        </p:spPr>
      </p:pic>
      <p:sp>
        <p:nvSpPr>
          <p:cNvPr id="73" name="Text 66"/>
          <p:cNvSpPr txBox="1"/>
          <p:nvPr/>
        </p:nvSpPr>
        <p:spPr>
          <a:xfrm>
            <a:off x="1344168" y="4572000"/>
            <a:ext cx="1874520" cy="237744"/>
          </a:xfrm>
          <a:prstGeom prst="rect">
            <a:avLst/>
          </a:prstGeom>
          <a:noFill/>
          <a:ln/>
        </p:spPr>
        <p:txBody>
          <a:bodyPr wrap="square" lIns="0" tIns="0" rIns="0" bIns="0" rtlCol="0" anchor="ctr"/>
          <a:lstStyle/>
          <a:p>
            <a:pPr indent="0" marL="0">
              <a:buNone/>
            </a:pPr>
            <a:r>
              <a:rPr lang="en-US" sz="1250" b="1" dirty="0">
                <a:solidFill>
                  <a:srgbClr val="0A4451"/>
                </a:solidFill>
                <a:latin typeface="Cambria" pitchFamily="34" charset="0"/>
                <a:ea typeface="Cambria" pitchFamily="34" charset="-122"/>
                <a:cs typeface="Cambria" pitchFamily="34" charset="-120"/>
              </a:rPr>
              <a:t>SHARED SERVICES</a:t>
            </a:r>
            <a:endParaRPr lang="en-US" sz="1250" dirty="0"/>
          </a:p>
        </p:txBody>
      </p:sp>
      <p:sp>
        <p:nvSpPr>
          <p:cNvPr id="74" name="Text 67"/>
          <p:cNvSpPr txBox="1"/>
          <p:nvPr/>
        </p:nvSpPr>
        <p:spPr>
          <a:xfrm>
            <a:off x="1344168" y="4837176"/>
            <a:ext cx="1874520" cy="201168"/>
          </a:xfrm>
          <a:prstGeom prst="rect">
            <a:avLst/>
          </a:prstGeom>
          <a:noFill/>
          <a:ln/>
        </p:spPr>
        <p:txBody>
          <a:bodyPr wrap="square" lIns="0" tIns="0" rIns="0" bIns="0" rtlCol="0" anchor="ctr"/>
          <a:lstStyle/>
          <a:p>
            <a:pPr indent="0" marL="0">
              <a:buNone/>
            </a:pPr>
            <a:r>
              <a:rPr lang="en-US" sz="850" i="1" dirty="0">
                <a:solidFill>
                  <a:srgbClr val="58697A"/>
                </a:solidFill>
                <a:latin typeface="Calibri" pitchFamily="34" charset="0"/>
                <a:ea typeface="Calibri" pitchFamily="34" charset="-122"/>
                <a:cs typeface="Calibri" pitchFamily="34" charset="-120"/>
              </a:rPr>
              <a:t>used by every pipeline</a:t>
            </a:r>
            <a:endParaRPr lang="en-US" sz="850" dirty="0"/>
          </a:p>
        </p:txBody>
      </p:sp>
      <p:sp>
        <p:nvSpPr>
          <p:cNvPr id="75" name="Shape 68"/>
          <p:cNvSpPr/>
          <p:nvPr/>
        </p:nvSpPr>
        <p:spPr>
          <a:xfrm>
            <a:off x="3264408" y="4562856"/>
            <a:ext cx="804672" cy="274320"/>
          </a:xfrm>
          <a:prstGeom prst="roundRect">
            <a:avLst>
              <a:gd name="adj" fmla="val 46667"/>
            </a:avLst>
          </a:prstGeom>
          <a:solidFill>
            <a:srgbClr val="EBE5FC"/>
          </a:solidFill>
          <a:ln w="12700">
            <a:solidFill>
              <a:srgbClr val="6D4DD1"/>
            </a:solidFill>
            <a:prstDash val="solid"/>
          </a:ln>
        </p:spPr>
      </p:sp>
      <p:sp>
        <p:nvSpPr>
          <p:cNvPr id="76" name="Text 69"/>
          <p:cNvSpPr txBox="1"/>
          <p:nvPr/>
        </p:nvSpPr>
        <p:spPr>
          <a:xfrm>
            <a:off x="3264408" y="4562856"/>
            <a:ext cx="804672"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LLM client</a:t>
            </a:r>
            <a:endParaRPr lang="en-US" sz="850" dirty="0"/>
          </a:p>
        </p:txBody>
      </p:sp>
      <p:sp>
        <p:nvSpPr>
          <p:cNvPr id="77" name="Shape 70"/>
          <p:cNvSpPr/>
          <p:nvPr/>
        </p:nvSpPr>
        <p:spPr>
          <a:xfrm>
            <a:off x="4169664" y="4562856"/>
            <a:ext cx="1175918" cy="274320"/>
          </a:xfrm>
          <a:prstGeom prst="roundRect">
            <a:avLst>
              <a:gd name="adj" fmla="val 46667"/>
            </a:avLst>
          </a:prstGeom>
          <a:solidFill>
            <a:srgbClr val="DCF2F4"/>
          </a:solidFill>
          <a:ln w="12700">
            <a:solidFill>
              <a:srgbClr val="108494"/>
            </a:solidFill>
            <a:prstDash val="solid"/>
          </a:ln>
        </p:spPr>
      </p:sp>
      <p:sp>
        <p:nvSpPr>
          <p:cNvPr id="78" name="Text 71"/>
          <p:cNvSpPr txBox="1"/>
          <p:nvPr/>
        </p:nvSpPr>
        <p:spPr>
          <a:xfrm>
            <a:off x="4169664" y="4562856"/>
            <a:ext cx="1175918" cy="274320"/>
          </a:xfrm>
          <a:prstGeom prst="rect">
            <a:avLst/>
          </a:prstGeom>
          <a:noFill/>
          <a:ln/>
        </p:spPr>
        <p:txBody>
          <a:bodyPr wrap="square" lIns="0" tIns="0" rIns="0" bIns="0" rtlCol="0" anchor="ctr"/>
          <a:lstStyle/>
          <a:p>
            <a:pPr algn="ctr" indent="0" marL="0">
              <a:buNone/>
            </a:pPr>
            <a:r>
              <a:rPr lang="en-US" sz="850" b="1" dirty="0">
                <a:solidFill>
                  <a:srgbClr val="0A4451"/>
                </a:solidFill>
                <a:latin typeface="Calibri" pitchFamily="34" charset="0"/>
                <a:ea typeface="Calibri" pitchFamily="34" charset="-122"/>
                <a:cs typeface="Calibri" pitchFamily="34" charset="-120"/>
              </a:rPr>
              <a:t>BM25 + embeddings</a:t>
            </a:r>
            <a:endParaRPr lang="en-US" sz="850" dirty="0"/>
          </a:p>
        </p:txBody>
      </p:sp>
      <p:sp>
        <p:nvSpPr>
          <p:cNvPr id="79" name="Shape 72"/>
          <p:cNvSpPr/>
          <p:nvPr/>
        </p:nvSpPr>
        <p:spPr>
          <a:xfrm>
            <a:off x="5446166" y="4562856"/>
            <a:ext cx="1069848" cy="274320"/>
          </a:xfrm>
          <a:prstGeom prst="roundRect">
            <a:avLst>
              <a:gd name="adj" fmla="val 46667"/>
            </a:avLst>
          </a:prstGeom>
          <a:solidFill>
            <a:srgbClr val="FCEDD4"/>
          </a:solidFill>
          <a:ln w="12700">
            <a:solidFill>
              <a:srgbClr val="C9871B"/>
            </a:solidFill>
            <a:prstDash val="solid"/>
          </a:ln>
        </p:spPr>
      </p:sp>
      <p:sp>
        <p:nvSpPr>
          <p:cNvPr id="80" name="Text 73"/>
          <p:cNvSpPr txBox="1"/>
          <p:nvPr/>
        </p:nvSpPr>
        <p:spPr>
          <a:xfrm>
            <a:off x="5446166" y="4562856"/>
            <a:ext cx="1069848" cy="274320"/>
          </a:xfrm>
          <a:prstGeom prst="rect">
            <a:avLst/>
          </a:prstGeom>
          <a:noFill/>
          <a:ln/>
        </p:spPr>
        <p:txBody>
          <a:bodyPr wrap="square" lIns="0" tIns="0" rIns="0" bIns="0" rtlCol="0" anchor="ctr"/>
          <a:lstStyle/>
          <a:p>
            <a:pPr algn="ctr" indent="0" marL="0">
              <a:buNone/>
            </a:pPr>
            <a:r>
              <a:rPr lang="en-US" sz="850" b="1" dirty="0">
                <a:solidFill>
                  <a:srgbClr val="64430A"/>
                </a:solidFill>
                <a:latin typeface="Calibri" pitchFamily="34" charset="0"/>
                <a:ea typeface="Calibri" pitchFamily="34" charset="-122"/>
                <a:cs typeface="Calibri" pitchFamily="34" charset="-120"/>
              </a:rPr>
              <a:t>grounding check</a:t>
            </a:r>
            <a:endParaRPr lang="en-US" sz="850" dirty="0"/>
          </a:p>
        </p:txBody>
      </p:sp>
      <p:sp>
        <p:nvSpPr>
          <p:cNvPr id="81" name="Shape 74"/>
          <p:cNvSpPr/>
          <p:nvPr/>
        </p:nvSpPr>
        <p:spPr>
          <a:xfrm>
            <a:off x="6616598" y="4562856"/>
            <a:ext cx="1228954" cy="274320"/>
          </a:xfrm>
          <a:prstGeom prst="roundRect">
            <a:avLst>
              <a:gd name="adj" fmla="val 46667"/>
            </a:avLst>
          </a:prstGeom>
          <a:solidFill>
            <a:srgbClr val="E3EDFC"/>
          </a:solidFill>
          <a:ln w="12700">
            <a:solidFill>
              <a:srgbClr val="2F6FD0"/>
            </a:solidFill>
            <a:prstDash val="solid"/>
          </a:ln>
        </p:spPr>
      </p:sp>
      <p:sp>
        <p:nvSpPr>
          <p:cNvPr id="82" name="Text 75"/>
          <p:cNvSpPr txBox="1"/>
          <p:nvPr/>
        </p:nvSpPr>
        <p:spPr>
          <a:xfrm>
            <a:off x="6616598" y="4562856"/>
            <a:ext cx="1228954" cy="274320"/>
          </a:xfrm>
          <a:prstGeom prst="rect">
            <a:avLst/>
          </a:prstGeom>
          <a:noFill/>
          <a:ln/>
        </p:spPr>
        <p:txBody>
          <a:bodyPr wrap="square" lIns="0" tIns="0" rIns="0" bIns="0" rtlCol="0" anchor="ctr"/>
          <a:lstStyle/>
          <a:p>
            <a:pPr algn="ctr" indent="0" marL="0">
              <a:buNone/>
            </a:pPr>
            <a:r>
              <a:rPr lang="en-US" sz="850" b="1" dirty="0">
                <a:solidFill>
                  <a:srgbClr val="153A61"/>
                </a:solidFill>
                <a:latin typeface="Calibri" pitchFamily="34" charset="0"/>
                <a:ea typeface="Calibri" pitchFamily="34" charset="-122"/>
                <a:cs typeface="Calibri" pitchFamily="34" charset="-120"/>
              </a:rPr>
              <a:t>ingestion registry</a:t>
            </a:r>
            <a:endParaRPr lang="en-US" sz="850" dirty="0"/>
          </a:p>
        </p:txBody>
      </p:sp>
      <p:sp>
        <p:nvSpPr>
          <p:cNvPr id="83" name="Text 76"/>
          <p:cNvSpPr txBox="1"/>
          <p:nvPr/>
        </p:nvSpPr>
        <p:spPr>
          <a:xfrm>
            <a:off x="3264408" y="4901184"/>
            <a:ext cx="8074152" cy="219456"/>
          </a:xfrm>
          <a:prstGeom prst="rect">
            <a:avLst/>
          </a:prstGeom>
          <a:noFill/>
          <a:ln/>
        </p:spPr>
        <p:txBody>
          <a:bodyPr wrap="square" lIns="0" tIns="0" rIns="0" bIns="0" rtlCol="0" anchor="ctr"/>
          <a:lstStyle/>
          <a:p>
            <a:pPr indent="0" marL="0">
              <a:buNone/>
            </a:pPr>
            <a:r>
              <a:rPr lang="en-US" sz="880" dirty="0">
                <a:solidFill>
                  <a:srgbClr val="43566B"/>
                </a:solidFill>
                <a:latin typeface="Calibri" pitchFamily="34" charset="0"/>
                <a:ea typeface="Calibri" pitchFamily="34" charset="-122"/>
                <a:cs typeface="Calibri" pitchFamily="34" charset="-120"/>
              </a:rPr>
              <a:t>Schema-forced structured output, a validation-retry loop, a disk cache and a deliberately different verifier model.</a:t>
            </a:r>
            <a:endParaRPr lang="en-US" sz="880" dirty="0"/>
          </a:p>
        </p:txBody>
      </p:sp>
      <p:sp>
        <p:nvSpPr>
          <p:cNvPr id="84" name="Shape 77"/>
          <p:cNvSpPr/>
          <p:nvPr/>
        </p:nvSpPr>
        <p:spPr>
          <a:xfrm>
            <a:off x="1014984" y="5193792"/>
            <a:ext cx="0" cy="100584"/>
          </a:xfrm>
          <a:prstGeom prst="line">
            <a:avLst/>
          </a:prstGeom>
          <a:noFill/>
          <a:ln w="17780">
            <a:solidFill>
              <a:srgbClr val="64798F"/>
            </a:solidFill>
            <a:prstDash val="solid"/>
            <a:headEnd type="none"/>
            <a:tailEnd type="triangle"/>
          </a:ln>
        </p:spPr>
      </p:sp>
      <p:sp>
        <p:nvSpPr>
          <p:cNvPr id="85" name="Shape 78"/>
          <p:cNvSpPr/>
          <p:nvPr/>
        </p:nvSpPr>
        <p:spPr>
          <a:xfrm>
            <a:off x="594360" y="5312664"/>
            <a:ext cx="11000232" cy="713232"/>
          </a:xfrm>
          <a:prstGeom prst="roundRect">
            <a:avLst>
              <a:gd name="adj" fmla="val 12821"/>
            </a:avLst>
          </a:prstGeom>
          <a:solidFill>
            <a:srgbClr val="F8FAFC"/>
          </a:solidFill>
          <a:ln w="15875">
            <a:solidFill>
              <a:srgbClr val="B2DEBB"/>
            </a:solidFill>
            <a:prstDash val="solid"/>
          </a:ln>
          <a:effectLst>
            <a:outerShdw sx="100000" sy="100000" kx="0" ky="0" algn="bl" rotWithShape="0" blurRad="101600" dist="19050" dir="5400000">
              <a:srgbClr val="9FB0C2">
                <a:alpha val="24000"/>
              </a:srgbClr>
            </a:outerShdw>
          </a:effectLst>
        </p:spPr>
      </p:sp>
      <p:sp>
        <p:nvSpPr>
          <p:cNvPr id="86" name="Shape 79"/>
          <p:cNvSpPr/>
          <p:nvPr/>
        </p:nvSpPr>
        <p:spPr>
          <a:xfrm>
            <a:off x="813816" y="5468112"/>
            <a:ext cx="402336" cy="402336"/>
          </a:xfrm>
          <a:prstGeom prst="roundRect">
            <a:avLst>
              <a:gd name="adj" fmla="val 27273"/>
            </a:avLst>
          </a:prstGeom>
          <a:solidFill>
            <a:srgbClr val="2F8F48"/>
          </a:solidFill>
          <a:ln/>
        </p:spPr>
      </p:sp>
      <p:pic>
        <p:nvPicPr>
          <p:cNvPr id="87" name="Image 5" descr="preencoded.png">    </p:cNvPr>
          <p:cNvPicPr>
            <a:picLocks noChangeAspect="1"/>
          </p:cNvPicPr>
          <p:nvPr/>
        </p:nvPicPr>
        <p:blipFill>
          <a:blip r:embed="rId6"/>
          <a:stretch>
            <a:fillRect/>
          </a:stretch>
        </p:blipFill>
        <p:spPr>
          <a:xfrm>
            <a:off x="902330" y="5556626"/>
            <a:ext cx="225308" cy="225308"/>
          </a:xfrm>
          <a:prstGeom prst="rect">
            <a:avLst/>
          </a:prstGeom>
        </p:spPr>
      </p:pic>
      <p:sp>
        <p:nvSpPr>
          <p:cNvPr id="88" name="Text 80"/>
          <p:cNvSpPr txBox="1"/>
          <p:nvPr/>
        </p:nvSpPr>
        <p:spPr>
          <a:xfrm>
            <a:off x="1344168" y="5422392"/>
            <a:ext cx="1874520" cy="237744"/>
          </a:xfrm>
          <a:prstGeom prst="rect">
            <a:avLst/>
          </a:prstGeom>
          <a:noFill/>
          <a:ln/>
        </p:spPr>
        <p:txBody>
          <a:bodyPr wrap="square" lIns="0" tIns="0" rIns="0" bIns="0" rtlCol="0" anchor="ctr"/>
          <a:lstStyle/>
          <a:p>
            <a:pPr indent="0" marL="0">
              <a:buNone/>
            </a:pPr>
            <a:r>
              <a:rPr lang="en-US" sz="1250" b="1" dirty="0">
                <a:solidFill>
                  <a:srgbClr val="17431F"/>
                </a:solidFill>
                <a:latin typeface="Cambria" pitchFamily="34" charset="0"/>
                <a:ea typeface="Cambria" pitchFamily="34" charset="-122"/>
                <a:cs typeface="Cambria" pitchFamily="34" charset="-120"/>
              </a:rPr>
              <a:t>STORAGE</a:t>
            </a:r>
            <a:endParaRPr lang="en-US" sz="1250" dirty="0"/>
          </a:p>
        </p:txBody>
      </p:sp>
      <p:sp>
        <p:nvSpPr>
          <p:cNvPr id="89" name="Text 81"/>
          <p:cNvSpPr txBox="1"/>
          <p:nvPr/>
        </p:nvSpPr>
        <p:spPr>
          <a:xfrm>
            <a:off x="1344168" y="5687568"/>
            <a:ext cx="1874520" cy="201168"/>
          </a:xfrm>
          <a:prstGeom prst="rect">
            <a:avLst/>
          </a:prstGeom>
          <a:noFill/>
          <a:ln/>
        </p:spPr>
        <p:txBody>
          <a:bodyPr wrap="square" lIns="0" tIns="0" rIns="0" bIns="0" rtlCol="0" anchor="ctr"/>
          <a:lstStyle/>
          <a:p>
            <a:pPr indent="0" marL="0">
              <a:buNone/>
            </a:pPr>
            <a:r>
              <a:rPr lang="en-US" sz="850" i="1" dirty="0">
                <a:solidFill>
                  <a:srgbClr val="58697A"/>
                </a:solidFill>
                <a:latin typeface="Calibri" pitchFamily="34" charset="0"/>
                <a:ea typeface="Calibri" pitchFamily="34" charset="-122"/>
                <a:cs typeface="Calibri" pitchFamily="34" charset="-120"/>
              </a:rPr>
              <a:t>what persists</a:t>
            </a:r>
            <a:endParaRPr lang="en-US" sz="850" dirty="0"/>
          </a:p>
        </p:txBody>
      </p:sp>
      <p:sp>
        <p:nvSpPr>
          <p:cNvPr id="90" name="Shape 82"/>
          <p:cNvSpPr/>
          <p:nvPr/>
        </p:nvSpPr>
        <p:spPr>
          <a:xfrm>
            <a:off x="3264408" y="5413248"/>
            <a:ext cx="539496" cy="274320"/>
          </a:xfrm>
          <a:prstGeom prst="roundRect">
            <a:avLst>
              <a:gd name="adj" fmla="val 46667"/>
            </a:avLst>
          </a:prstGeom>
          <a:solidFill>
            <a:srgbClr val="E0F3E3"/>
          </a:solidFill>
          <a:ln w="12700">
            <a:solidFill>
              <a:srgbClr val="2F8F48"/>
            </a:solidFill>
            <a:prstDash val="solid"/>
          </a:ln>
        </p:spPr>
      </p:sp>
      <p:sp>
        <p:nvSpPr>
          <p:cNvPr id="91" name="Text 83"/>
          <p:cNvSpPr txBox="1"/>
          <p:nvPr/>
        </p:nvSpPr>
        <p:spPr>
          <a:xfrm>
            <a:off x="3264408" y="5413248"/>
            <a:ext cx="539496" cy="274320"/>
          </a:xfrm>
          <a:prstGeom prst="rect">
            <a:avLst/>
          </a:prstGeom>
          <a:noFill/>
          <a:ln/>
        </p:spPr>
        <p:txBody>
          <a:bodyPr wrap="square" lIns="0" tIns="0" rIns="0" bIns="0" rtlCol="0" anchor="ctr"/>
          <a:lstStyle/>
          <a:p>
            <a:pPr algn="ctr" indent="0" marL="0">
              <a:buNone/>
            </a:pPr>
            <a:r>
              <a:rPr lang="en-US" sz="850" b="1" dirty="0">
                <a:solidFill>
                  <a:srgbClr val="17431F"/>
                </a:solidFill>
                <a:latin typeface="Calibri" pitchFamily="34" charset="0"/>
                <a:ea typeface="Calibri" pitchFamily="34" charset="-122"/>
                <a:cs typeface="Calibri" pitchFamily="34" charset="-120"/>
              </a:rPr>
              <a:t>runs/</a:t>
            </a:r>
            <a:endParaRPr lang="en-US" sz="850" dirty="0"/>
          </a:p>
        </p:txBody>
      </p:sp>
      <p:sp>
        <p:nvSpPr>
          <p:cNvPr id="92" name="Shape 84"/>
          <p:cNvSpPr/>
          <p:nvPr/>
        </p:nvSpPr>
        <p:spPr>
          <a:xfrm>
            <a:off x="3904488" y="5413248"/>
            <a:ext cx="857707" cy="274320"/>
          </a:xfrm>
          <a:prstGeom prst="roundRect">
            <a:avLst>
              <a:gd name="adj" fmla="val 46667"/>
            </a:avLst>
          </a:prstGeom>
          <a:solidFill>
            <a:srgbClr val="E0F3E3"/>
          </a:solidFill>
          <a:ln w="12700">
            <a:solidFill>
              <a:srgbClr val="2F8F48"/>
            </a:solidFill>
            <a:prstDash val="solid"/>
          </a:ln>
        </p:spPr>
      </p:sp>
      <p:sp>
        <p:nvSpPr>
          <p:cNvPr id="93" name="Text 85"/>
          <p:cNvSpPr txBox="1"/>
          <p:nvPr/>
        </p:nvSpPr>
        <p:spPr>
          <a:xfrm>
            <a:off x="3904488" y="5413248"/>
            <a:ext cx="857707" cy="274320"/>
          </a:xfrm>
          <a:prstGeom prst="rect">
            <a:avLst/>
          </a:prstGeom>
          <a:noFill/>
          <a:ln/>
        </p:spPr>
        <p:txBody>
          <a:bodyPr wrap="square" lIns="0" tIns="0" rIns="0" bIns="0" rtlCol="0" anchor="ctr"/>
          <a:lstStyle/>
          <a:p>
            <a:pPr algn="ctr" indent="0" marL="0">
              <a:buNone/>
            </a:pPr>
            <a:r>
              <a:rPr lang="en-US" sz="850" b="1" dirty="0">
                <a:solidFill>
                  <a:srgbClr val="17431F"/>
                </a:solidFill>
                <a:latin typeface="Calibri" pitchFamily="34" charset="0"/>
                <a:ea typeface="Calibri" pitchFamily="34" charset="-122"/>
                <a:cs typeface="Calibri" pitchFamily="34" charset="-120"/>
              </a:rPr>
              <a:t>taxonomies/</a:t>
            </a:r>
            <a:endParaRPr lang="en-US" sz="850" dirty="0"/>
          </a:p>
        </p:txBody>
      </p:sp>
      <p:sp>
        <p:nvSpPr>
          <p:cNvPr id="94" name="Shape 86"/>
          <p:cNvSpPr/>
          <p:nvPr/>
        </p:nvSpPr>
        <p:spPr>
          <a:xfrm>
            <a:off x="4862779" y="5413248"/>
            <a:ext cx="910742" cy="274320"/>
          </a:xfrm>
          <a:prstGeom prst="roundRect">
            <a:avLst>
              <a:gd name="adj" fmla="val 46667"/>
            </a:avLst>
          </a:prstGeom>
          <a:solidFill>
            <a:srgbClr val="E0F3E3"/>
          </a:solidFill>
          <a:ln w="12700">
            <a:solidFill>
              <a:srgbClr val="2F8F48"/>
            </a:solidFill>
            <a:prstDash val="solid"/>
          </a:ln>
        </p:spPr>
      </p:sp>
      <p:sp>
        <p:nvSpPr>
          <p:cNvPr id="95" name="Text 87"/>
          <p:cNvSpPr txBox="1"/>
          <p:nvPr/>
        </p:nvSpPr>
        <p:spPr>
          <a:xfrm>
            <a:off x="4862779" y="5413248"/>
            <a:ext cx="910742" cy="274320"/>
          </a:xfrm>
          <a:prstGeom prst="rect">
            <a:avLst/>
          </a:prstGeom>
          <a:noFill/>
          <a:ln/>
        </p:spPr>
        <p:txBody>
          <a:bodyPr wrap="square" lIns="0" tIns="0" rIns="0" bIns="0" rtlCol="0" anchor="ctr"/>
          <a:lstStyle/>
          <a:p>
            <a:pPr algn="ctr" indent="0" marL="0">
              <a:buNone/>
            </a:pPr>
            <a:r>
              <a:rPr lang="en-US" sz="850" b="1" dirty="0">
                <a:solidFill>
                  <a:srgbClr val="17431F"/>
                </a:solidFill>
                <a:latin typeface="Calibri" pitchFamily="34" charset="0"/>
                <a:ea typeface="Calibri" pitchFamily="34" charset="-122"/>
                <a:cs typeface="Calibri" pitchFamily="34" charset="-120"/>
              </a:rPr>
              <a:t>engagements/</a:t>
            </a:r>
            <a:endParaRPr lang="en-US" sz="850" dirty="0"/>
          </a:p>
        </p:txBody>
      </p:sp>
      <p:sp>
        <p:nvSpPr>
          <p:cNvPr id="96" name="Shape 88"/>
          <p:cNvSpPr/>
          <p:nvPr/>
        </p:nvSpPr>
        <p:spPr>
          <a:xfrm>
            <a:off x="5874106" y="5413248"/>
            <a:ext cx="698602" cy="274320"/>
          </a:xfrm>
          <a:prstGeom prst="roundRect">
            <a:avLst>
              <a:gd name="adj" fmla="val 46667"/>
            </a:avLst>
          </a:prstGeom>
          <a:solidFill>
            <a:srgbClr val="E0F3E3"/>
          </a:solidFill>
          <a:ln w="12700">
            <a:solidFill>
              <a:srgbClr val="2F8F48"/>
            </a:solidFill>
            <a:prstDash val="solid"/>
          </a:ln>
        </p:spPr>
      </p:sp>
      <p:sp>
        <p:nvSpPr>
          <p:cNvPr id="97" name="Text 89"/>
          <p:cNvSpPr txBox="1"/>
          <p:nvPr/>
        </p:nvSpPr>
        <p:spPr>
          <a:xfrm>
            <a:off x="5874106" y="5413248"/>
            <a:ext cx="698602" cy="274320"/>
          </a:xfrm>
          <a:prstGeom prst="rect">
            <a:avLst/>
          </a:prstGeom>
          <a:noFill/>
          <a:ln/>
        </p:spPr>
        <p:txBody>
          <a:bodyPr wrap="square" lIns="0" tIns="0" rIns="0" bIns="0" rtlCol="0" anchor="ctr"/>
          <a:lstStyle/>
          <a:p>
            <a:pPr algn="ctr" indent="0" marL="0">
              <a:buNone/>
            </a:pPr>
            <a:r>
              <a:rPr lang="en-US" sz="850" b="1" dirty="0">
                <a:solidFill>
                  <a:srgbClr val="17431F"/>
                </a:solidFill>
                <a:latin typeface="Calibri" pitchFamily="34" charset="0"/>
                <a:ea typeface="Calibri" pitchFamily="34" charset="-122"/>
                <a:cs typeface="Calibri" pitchFamily="34" charset="-120"/>
              </a:rPr>
              <a:t>ballots/</a:t>
            </a:r>
            <a:endParaRPr lang="en-US" sz="850" dirty="0"/>
          </a:p>
        </p:txBody>
      </p:sp>
      <p:sp>
        <p:nvSpPr>
          <p:cNvPr id="98" name="Shape 90"/>
          <p:cNvSpPr/>
          <p:nvPr/>
        </p:nvSpPr>
        <p:spPr>
          <a:xfrm>
            <a:off x="6673291" y="5413248"/>
            <a:ext cx="857707" cy="274320"/>
          </a:xfrm>
          <a:prstGeom prst="roundRect">
            <a:avLst>
              <a:gd name="adj" fmla="val 46667"/>
            </a:avLst>
          </a:prstGeom>
          <a:solidFill>
            <a:srgbClr val="E0F3E3"/>
          </a:solidFill>
          <a:ln w="12700">
            <a:solidFill>
              <a:srgbClr val="2F8F48"/>
            </a:solidFill>
            <a:prstDash val="solid"/>
          </a:ln>
        </p:spPr>
      </p:sp>
      <p:sp>
        <p:nvSpPr>
          <p:cNvPr id="99" name="Text 91"/>
          <p:cNvSpPr txBox="1"/>
          <p:nvPr/>
        </p:nvSpPr>
        <p:spPr>
          <a:xfrm>
            <a:off x="6673291" y="5413248"/>
            <a:ext cx="857707" cy="274320"/>
          </a:xfrm>
          <a:prstGeom prst="rect">
            <a:avLst/>
          </a:prstGeom>
          <a:noFill/>
          <a:ln/>
        </p:spPr>
        <p:txBody>
          <a:bodyPr wrap="square" lIns="0" tIns="0" rIns="0" bIns="0" rtlCol="0" anchor="ctr"/>
          <a:lstStyle/>
          <a:p>
            <a:pPr algn="ctr" indent="0" marL="0">
              <a:buNone/>
            </a:pPr>
            <a:r>
              <a:rPr lang="en-US" sz="850" b="1" dirty="0">
                <a:solidFill>
                  <a:srgbClr val="17431F"/>
                </a:solidFill>
                <a:latin typeface="Calibri" pitchFamily="34" charset="0"/>
                <a:ea typeface="Calibri" pitchFamily="34" charset="-122"/>
                <a:cs typeface="Calibri" pitchFamily="34" charset="-120"/>
              </a:rPr>
              <a:t>portfolios/</a:t>
            </a:r>
            <a:endParaRPr lang="en-US" sz="850" dirty="0"/>
          </a:p>
        </p:txBody>
      </p:sp>
      <p:sp>
        <p:nvSpPr>
          <p:cNvPr id="100" name="Shape 92"/>
          <p:cNvSpPr/>
          <p:nvPr/>
        </p:nvSpPr>
        <p:spPr>
          <a:xfrm>
            <a:off x="7631582" y="5413248"/>
            <a:ext cx="1281989" cy="274320"/>
          </a:xfrm>
          <a:prstGeom prst="roundRect">
            <a:avLst>
              <a:gd name="adj" fmla="val 46667"/>
            </a:avLst>
          </a:prstGeom>
          <a:solidFill>
            <a:srgbClr val="DCF2F4"/>
          </a:solidFill>
          <a:ln w="12700">
            <a:solidFill>
              <a:srgbClr val="108494"/>
            </a:solidFill>
            <a:prstDash val="solid"/>
          </a:ln>
        </p:spPr>
      </p:sp>
      <p:sp>
        <p:nvSpPr>
          <p:cNvPr id="101" name="Text 93"/>
          <p:cNvSpPr txBox="1"/>
          <p:nvPr/>
        </p:nvSpPr>
        <p:spPr>
          <a:xfrm>
            <a:off x="7631582" y="5413248"/>
            <a:ext cx="1281989" cy="274320"/>
          </a:xfrm>
          <a:prstGeom prst="rect">
            <a:avLst/>
          </a:prstGeom>
          <a:noFill/>
          <a:ln/>
        </p:spPr>
        <p:txBody>
          <a:bodyPr wrap="square" lIns="0" tIns="0" rIns="0" bIns="0" rtlCol="0" anchor="ctr"/>
          <a:lstStyle/>
          <a:p>
            <a:pPr algn="ctr" indent="0" marL="0">
              <a:buNone/>
            </a:pPr>
            <a:r>
              <a:rPr lang="en-US" sz="850" b="1" dirty="0">
                <a:solidFill>
                  <a:srgbClr val="0A4451"/>
                </a:solidFill>
                <a:latin typeface="Calibri" pitchFamily="34" charset="0"/>
                <a:ea typeface="Calibri" pitchFamily="34" charset="-122"/>
                <a:cs typeface="Calibri" pitchFamily="34" charset="-120"/>
              </a:rPr>
              <a:t>Postgres / pgvector</a:t>
            </a:r>
            <a:endParaRPr lang="en-US" sz="850" dirty="0"/>
          </a:p>
        </p:txBody>
      </p:sp>
      <p:sp>
        <p:nvSpPr>
          <p:cNvPr id="102" name="Text 94"/>
          <p:cNvSpPr txBox="1"/>
          <p:nvPr/>
        </p:nvSpPr>
        <p:spPr>
          <a:xfrm>
            <a:off x="3264408" y="5751576"/>
            <a:ext cx="8074152" cy="219456"/>
          </a:xfrm>
          <a:prstGeom prst="rect">
            <a:avLst/>
          </a:prstGeom>
          <a:noFill/>
          <a:ln/>
        </p:spPr>
        <p:txBody>
          <a:bodyPr wrap="square" lIns="0" tIns="0" rIns="0" bIns="0" rtlCol="0" anchor="ctr"/>
          <a:lstStyle/>
          <a:p>
            <a:pPr indent="0" marL="0">
              <a:buNone/>
            </a:pPr>
            <a:r>
              <a:rPr lang="en-US" sz="880" dirty="0">
                <a:solidFill>
                  <a:srgbClr val="43566B"/>
                </a:solidFill>
                <a:latin typeface="Calibri" pitchFamily="34" charset="0"/>
                <a:ea typeface="Calibri" pitchFamily="34" charset="-122"/>
                <a:cs typeface="Calibri" pitchFamily="34" charset="-120"/>
              </a:rPr>
              <a:t>Append-only JSONL audit trails; a relational engine only where a genuine multi-way join earns its cost.</a:t>
            </a:r>
            <a:endParaRPr lang="en-US" sz="880" dirty="0"/>
          </a:p>
        </p:txBody>
      </p:sp>
      <p:sp>
        <p:nvSpPr>
          <p:cNvPr id="103" name="Shape 95"/>
          <p:cNvSpPr/>
          <p:nvPr/>
        </p:nvSpPr>
        <p:spPr>
          <a:xfrm>
            <a:off x="594360" y="6172200"/>
            <a:ext cx="155448" cy="155448"/>
          </a:xfrm>
          <a:prstGeom prst="roundRect">
            <a:avLst>
              <a:gd name="adj" fmla="val 29412"/>
            </a:avLst>
          </a:prstGeom>
          <a:solidFill>
            <a:srgbClr val="2F6FD0"/>
          </a:solidFill>
          <a:ln/>
        </p:spPr>
      </p:sp>
      <p:sp>
        <p:nvSpPr>
          <p:cNvPr id="104" name="Text 96"/>
          <p:cNvSpPr txBox="1"/>
          <p:nvPr/>
        </p:nvSpPr>
        <p:spPr>
          <a:xfrm>
            <a:off x="81381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105" name="Shape 97"/>
          <p:cNvSpPr/>
          <p:nvPr/>
        </p:nvSpPr>
        <p:spPr>
          <a:xfrm>
            <a:off x="2427732" y="6172200"/>
            <a:ext cx="155448" cy="155448"/>
          </a:xfrm>
          <a:prstGeom prst="roundRect">
            <a:avLst>
              <a:gd name="adj" fmla="val 29412"/>
            </a:avLst>
          </a:prstGeom>
          <a:solidFill>
            <a:srgbClr val="108494"/>
          </a:solidFill>
          <a:ln/>
        </p:spPr>
      </p:sp>
      <p:sp>
        <p:nvSpPr>
          <p:cNvPr id="106" name="Text 98"/>
          <p:cNvSpPr txBox="1"/>
          <p:nvPr/>
        </p:nvSpPr>
        <p:spPr>
          <a:xfrm>
            <a:off x="2647188"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107" name="Shape 99"/>
          <p:cNvSpPr/>
          <p:nvPr/>
        </p:nvSpPr>
        <p:spPr>
          <a:xfrm>
            <a:off x="4261104" y="6172200"/>
            <a:ext cx="155448" cy="155448"/>
          </a:xfrm>
          <a:prstGeom prst="roundRect">
            <a:avLst>
              <a:gd name="adj" fmla="val 29412"/>
            </a:avLst>
          </a:prstGeom>
          <a:solidFill>
            <a:srgbClr val="6D4DD1"/>
          </a:solidFill>
          <a:ln/>
        </p:spPr>
      </p:sp>
      <p:sp>
        <p:nvSpPr>
          <p:cNvPr id="108" name="Text 100"/>
          <p:cNvSpPr txBox="1"/>
          <p:nvPr/>
        </p:nvSpPr>
        <p:spPr>
          <a:xfrm>
            <a:off x="4480560"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109" name="Shape 101"/>
          <p:cNvSpPr/>
          <p:nvPr/>
        </p:nvSpPr>
        <p:spPr>
          <a:xfrm>
            <a:off x="6094476" y="6172200"/>
            <a:ext cx="155448" cy="155448"/>
          </a:xfrm>
          <a:prstGeom prst="roundRect">
            <a:avLst>
              <a:gd name="adj" fmla="val 29412"/>
            </a:avLst>
          </a:prstGeom>
          <a:solidFill>
            <a:srgbClr val="C9871B"/>
          </a:solidFill>
          <a:ln/>
        </p:spPr>
      </p:sp>
      <p:sp>
        <p:nvSpPr>
          <p:cNvPr id="110" name="Text 102"/>
          <p:cNvSpPr txBox="1"/>
          <p:nvPr/>
        </p:nvSpPr>
        <p:spPr>
          <a:xfrm>
            <a:off x="6313932"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111" name="Shape 103"/>
          <p:cNvSpPr/>
          <p:nvPr/>
        </p:nvSpPr>
        <p:spPr>
          <a:xfrm>
            <a:off x="7927848" y="6172200"/>
            <a:ext cx="155448" cy="155448"/>
          </a:xfrm>
          <a:prstGeom prst="roundRect">
            <a:avLst>
              <a:gd name="adj" fmla="val 29412"/>
            </a:avLst>
          </a:prstGeom>
          <a:solidFill>
            <a:srgbClr val="CE3D64"/>
          </a:solidFill>
          <a:ln/>
        </p:spPr>
      </p:sp>
      <p:sp>
        <p:nvSpPr>
          <p:cNvPr id="112" name="Text 104"/>
          <p:cNvSpPr txBox="1"/>
          <p:nvPr/>
        </p:nvSpPr>
        <p:spPr>
          <a:xfrm>
            <a:off x="8147304"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113" name="Shape 105"/>
          <p:cNvSpPr/>
          <p:nvPr/>
        </p:nvSpPr>
        <p:spPr>
          <a:xfrm>
            <a:off x="9761220" y="6172200"/>
            <a:ext cx="155448" cy="155448"/>
          </a:xfrm>
          <a:prstGeom prst="roundRect">
            <a:avLst>
              <a:gd name="adj" fmla="val 29412"/>
            </a:avLst>
          </a:prstGeom>
          <a:solidFill>
            <a:srgbClr val="2F8F48"/>
          </a:solidFill>
          <a:ln/>
        </p:spPr>
      </p:sp>
      <p:sp>
        <p:nvSpPr>
          <p:cNvPr id="114" name="Text 106"/>
          <p:cNvSpPr txBox="1"/>
          <p:nvPr/>
        </p:nvSpPr>
        <p:spPr>
          <a:xfrm>
            <a:off x="998067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01   ·   DATA-POINT EXTRACTION ENGINE</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Information Extraction</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Schema-defined data points pulled out of real disclosures — every figure traceable to the page it came from.</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594360" y="1463040"/>
            <a:ext cx="2788920" cy="201168"/>
          </a:xfrm>
          <a:prstGeom prst="rect">
            <a:avLst/>
          </a:prstGeom>
          <a:noFill/>
          <a:ln/>
        </p:spPr>
        <p:txBody>
          <a:bodyPr wrap="square" lIns="0" tIns="0" rIns="0" bIns="0" rtlCol="0" anchor="ctr"/>
          <a:lstStyle/>
          <a:p>
            <a:pPr algn="ctr" indent="0" marL="0">
              <a:buNone/>
            </a:pPr>
            <a:r>
              <a:rPr lang="en-US" sz="900" b="1" spc="140" kern="0" dirty="0">
                <a:solidFill>
                  <a:srgbClr val="2F6FD0"/>
                </a:solidFill>
                <a:latin typeface="Calibri" pitchFamily="34" charset="0"/>
                <a:ea typeface="Calibri" pitchFamily="34" charset="-122"/>
                <a:cs typeface="Calibri" pitchFamily="34" charset="-120"/>
              </a:rPr>
              <a:t>INPUTS</a:t>
            </a:r>
            <a:endParaRPr lang="en-US" sz="900" dirty="0"/>
          </a:p>
        </p:txBody>
      </p:sp>
      <p:sp>
        <p:nvSpPr>
          <p:cNvPr id="8" name="Text 5"/>
          <p:cNvSpPr txBox="1"/>
          <p:nvPr/>
        </p:nvSpPr>
        <p:spPr>
          <a:xfrm>
            <a:off x="8321040" y="1463040"/>
            <a:ext cx="3273552" cy="201168"/>
          </a:xfrm>
          <a:prstGeom prst="rect">
            <a:avLst/>
          </a:prstGeom>
          <a:noFill/>
          <a:ln/>
        </p:spPr>
        <p:txBody>
          <a:bodyPr wrap="square" lIns="0" tIns="0" rIns="0" bIns="0" rtlCol="0" anchor="ctr"/>
          <a:lstStyle/>
          <a:p>
            <a:pPr algn="ctr" indent="0" marL="0">
              <a:buNone/>
            </a:pPr>
            <a:r>
              <a:rPr lang="en-US" sz="900" b="1" spc="140" kern="0" dirty="0">
                <a:solidFill>
                  <a:srgbClr val="2F8F48"/>
                </a:solidFill>
                <a:latin typeface="Calibri" pitchFamily="34" charset="0"/>
                <a:ea typeface="Calibri" pitchFamily="34" charset="-122"/>
                <a:cs typeface="Calibri" pitchFamily="34" charset="-120"/>
              </a:rPr>
              <a:t>OUTPUTS</a:t>
            </a:r>
            <a:endParaRPr lang="en-US" sz="900" dirty="0"/>
          </a:p>
        </p:txBody>
      </p:sp>
      <p:sp>
        <p:nvSpPr>
          <p:cNvPr id="9" name="Shape 6"/>
          <p:cNvSpPr/>
          <p:nvPr/>
        </p:nvSpPr>
        <p:spPr>
          <a:xfrm>
            <a:off x="594360" y="1719072"/>
            <a:ext cx="2788920" cy="713232"/>
          </a:xfrm>
          <a:prstGeom prst="roundRect">
            <a:avLst>
              <a:gd name="adj" fmla="val 12821"/>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10" name="Shape 7"/>
          <p:cNvSpPr/>
          <p:nvPr/>
        </p:nvSpPr>
        <p:spPr>
          <a:xfrm>
            <a:off x="731520" y="1883664"/>
            <a:ext cx="384048" cy="384048"/>
          </a:xfrm>
          <a:prstGeom prst="roundRect">
            <a:avLst>
              <a:gd name="adj" fmla="val 23810"/>
            </a:avLst>
          </a:prstGeom>
          <a:solidFill>
            <a:srgbClr val="2F6FD0"/>
          </a:solidFill>
          <a:ln/>
        </p:spPr>
      </p:sp>
      <p:pic>
        <p:nvPicPr>
          <p:cNvPr id="11" name="Image 1" descr="preencoded.png">    </p:cNvPr>
          <p:cNvPicPr>
            <a:picLocks noChangeAspect="1"/>
          </p:cNvPicPr>
          <p:nvPr/>
        </p:nvPicPr>
        <p:blipFill>
          <a:blip r:embed="rId2"/>
          <a:stretch>
            <a:fillRect/>
          </a:stretch>
        </p:blipFill>
        <p:spPr>
          <a:xfrm>
            <a:off x="816011" y="1968155"/>
            <a:ext cx="215067" cy="215067"/>
          </a:xfrm>
          <a:prstGeom prst="rect">
            <a:avLst/>
          </a:prstGeom>
        </p:spPr>
      </p:pic>
      <p:sp>
        <p:nvSpPr>
          <p:cNvPr id="12" name="Text 8"/>
          <p:cNvSpPr txBox="1"/>
          <p:nvPr/>
        </p:nvSpPr>
        <p:spPr>
          <a:xfrm>
            <a:off x="1252728" y="1719072"/>
            <a:ext cx="2020824"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53A61"/>
                </a:solidFill>
                <a:latin typeface="Calibri" pitchFamily="34" charset="0"/>
                <a:ea typeface="Calibri" pitchFamily="34" charset="-122"/>
                <a:cs typeface="Calibri" pitchFamily="34" charset="-120"/>
              </a:rPr>
              <a:t>Data-point schema</a:t>
            </a:r>
            <a:endParaRPr lang="en-US" sz="1050" dirty="0"/>
          </a:p>
          <a:p>
            <a:pPr algn="l" indent="0" marL="0">
              <a:lnSpc>
                <a:spcPct val="104000"/>
              </a:lnSpc>
              <a:buNone/>
            </a:pPr>
            <a:r>
              <a:rPr lang="en-US" sz="800" dirty="0">
                <a:solidFill>
                  <a:srgbClr val="153A61"/>
                </a:solidFill>
                <a:latin typeface="Calibri" pitchFamily="34" charset="0"/>
                <a:ea typeface="Calibri" pitchFamily="34" charset="-122"/>
                <a:cs typeface="Calibri" pitchFamily="34" charset="-120"/>
              </a:rPr>
              <a:t>meaning, unit, edge cases, seed keywords</a:t>
            </a:r>
            <a:endParaRPr lang="en-US" sz="1050" dirty="0"/>
          </a:p>
        </p:txBody>
      </p:sp>
      <p:sp>
        <p:nvSpPr>
          <p:cNvPr id="13" name="Shape 9"/>
          <p:cNvSpPr/>
          <p:nvPr/>
        </p:nvSpPr>
        <p:spPr>
          <a:xfrm>
            <a:off x="3429000" y="2075688"/>
            <a:ext cx="219456" cy="1234440"/>
          </a:xfrm>
          <a:prstGeom prst="line">
            <a:avLst/>
          </a:prstGeom>
          <a:noFill/>
          <a:ln w="16510">
            <a:solidFill>
              <a:srgbClr val="2F6FD0"/>
            </a:solidFill>
            <a:prstDash val="solid"/>
            <a:headEnd type="none"/>
            <a:tailEnd type="triangle"/>
          </a:ln>
        </p:spPr>
      </p:sp>
      <p:sp>
        <p:nvSpPr>
          <p:cNvPr id="14" name="Shape 10"/>
          <p:cNvSpPr/>
          <p:nvPr/>
        </p:nvSpPr>
        <p:spPr>
          <a:xfrm>
            <a:off x="594360" y="2633472"/>
            <a:ext cx="2788920" cy="713232"/>
          </a:xfrm>
          <a:prstGeom prst="roundRect">
            <a:avLst>
              <a:gd name="adj" fmla="val 12821"/>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15" name="Shape 11"/>
          <p:cNvSpPr/>
          <p:nvPr/>
        </p:nvSpPr>
        <p:spPr>
          <a:xfrm>
            <a:off x="731520" y="2798064"/>
            <a:ext cx="384048" cy="384048"/>
          </a:xfrm>
          <a:prstGeom prst="roundRect">
            <a:avLst>
              <a:gd name="adj" fmla="val 23810"/>
            </a:avLst>
          </a:prstGeom>
          <a:solidFill>
            <a:srgbClr val="2F6FD0"/>
          </a:solidFill>
          <a:ln/>
        </p:spPr>
      </p:sp>
      <p:pic>
        <p:nvPicPr>
          <p:cNvPr id="16" name="Image 2" descr="preencoded.png">    </p:cNvPr>
          <p:cNvPicPr>
            <a:picLocks noChangeAspect="1"/>
          </p:cNvPicPr>
          <p:nvPr/>
        </p:nvPicPr>
        <p:blipFill>
          <a:blip r:embed="rId3"/>
          <a:stretch>
            <a:fillRect/>
          </a:stretch>
        </p:blipFill>
        <p:spPr>
          <a:xfrm>
            <a:off x="816011" y="2882555"/>
            <a:ext cx="215067" cy="215067"/>
          </a:xfrm>
          <a:prstGeom prst="rect">
            <a:avLst/>
          </a:prstGeom>
        </p:spPr>
      </p:pic>
      <p:sp>
        <p:nvSpPr>
          <p:cNvPr id="17" name="Text 12"/>
          <p:cNvSpPr txBox="1"/>
          <p:nvPr/>
        </p:nvSpPr>
        <p:spPr>
          <a:xfrm>
            <a:off x="1252728" y="2633472"/>
            <a:ext cx="2020824"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53A61"/>
                </a:solidFill>
                <a:latin typeface="Calibri" pitchFamily="34" charset="0"/>
                <a:ea typeface="Calibri" pitchFamily="34" charset="-122"/>
                <a:cs typeface="Calibri" pitchFamily="34" charset="-120"/>
              </a:rPr>
              <a:t>Annual &amp; sustainability reports</a:t>
            </a:r>
            <a:endParaRPr lang="en-US" sz="1050" dirty="0"/>
          </a:p>
          <a:p>
            <a:pPr algn="l" indent="0" marL="0">
              <a:lnSpc>
                <a:spcPct val="104000"/>
              </a:lnSpc>
              <a:buNone/>
            </a:pPr>
            <a:r>
              <a:rPr lang="en-US" sz="800" dirty="0">
                <a:solidFill>
                  <a:srgbClr val="153A61"/>
                </a:solidFill>
                <a:latin typeface="Calibri" pitchFamily="34" charset="0"/>
                <a:ea typeface="Calibri" pitchFamily="34" charset="-122"/>
                <a:cs typeface="Calibri" pitchFamily="34" charset="-120"/>
              </a:rPr>
              <a:t>EDGAR, crawler downloads, uploads</a:t>
            </a:r>
            <a:endParaRPr lang="en-US" sz="1050" dirty="0"/>
          </a:p>
        </p:txBody>
      </p:sp>
      <p:sp>
        <p:nvSpPr>
          <p:cNvPr id="18" name="Shape 13"/>
          <p:cNvSpPr/>
          <p:nvPr/>
        </p:nvSpPr>
        <p:spPr>
          <a:xfrm>
            <a:off x="3429000" y="2990088"/>
            <a:ext cx="219456" cy="320040"/>
          </a:xfrm>
          <a:prstGeom prst="line">
            <a:avLst/>
          </a:prstGeom>
          <a:noFill/>
          <a:ln w="16510">
            <a:solidFill>
              <a:srgbClr val="2F6FD0"/>
            </a:solidFill>
            <a:prstDash val="solid"/>
            <a:headEnd type="none"/>
            <a:tailEnd type="triangle"/>
          </a:ln>
        </p:spPr>
      </p:sp>
      <p:sp>
        <p:nvSpPr>
          <p:cNvPr id="19" name="Shape 14"/>
          <p:cNvSpPr/>
          <p:nvPr/>
        </p:nvSpPr>
        <p:spPr>
          <a:xfrm>
            <a:off x="594360" y="3547872"/>
            <a:ext cx="2788920" cy="713232"/>
          </a:xfrm>
          <a:prstGeom prst="roundRect">
            <a:avLst>
              <a:gd name="adj" fmla="val 12821"/>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20" name="Shape 15"/>
          <p:cNvSpPr/>
          <p:nvPr/>
        </p:nvSpPr>
        <p:spPr>
          <a:xfrm>
            <a:off x="731520" y="3712464"/>
            <a:ext cx="384048" cy="384048"/>
          </a:xfrm>
          <a:prstGeom prst="roundRect">
            <a:avLst>
              <a:gd name="adj" fmla="val 23810"/>
            </a:avLst>
          </a:prstGeom>
          <a:solidFill>
            <a:srgbClr val="2F6FD0"/>
          </a:solidFill>
          <a:ln/>
        </p:spPr>
      </p:sp>
      <p:pic>
        <p:nvPicPr>
          <p:cNvPr id="21" name="Image 3" descr="preencoded.png">    </p:cNvPr>
          <p:cNvPicPr>
            <a:picLocks noChangeAspect="1"/>
          </p:cNvPicPr>
          <p:nvPr/>
        </p:nvPicPr>
        <p:blipFill>
          <a:blip r:embed="rId4"/>
          <a:stretch>
            <a:fillRect/>
          </a:stretch>
        </p:blipFill>
        <p:spPr>
          <a:xfrm>
            <a:off x="816011" y="3796955"/>
            <a:ext cx="215067" cy="215067"/>
          </a:xfrm>
          <a:prstGeom prst="rect">
            <a:avLst/>
          </a:prstGeom>
        </p:spPr>
      </p:pic>
      <p:sp>
        <p:nvSpPr>
          <p:cNvPr id="22" name="Text 16"/>
          <p:cNvSpPr txBox="1"/>
          <p:nvPr/>
        </p:nvSpPr>
        <p:spPr>
          <a:xfrm>
            <a:off x="1252728" y="3547872"/>
            <a:ext cx="2020824"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53A61"/>
                </a:solidFill>
                <a:latin typeface="Calibri" pitchFamily="34" charset="0"/>
                <a:ea typeface="Calibri" pitchFamily="34" charset="-122"/>
                <a:cs typeface="Calibri" pitchFamily="34" charset="-120"/>
              </a:rPr>
              <a:t>Transcripts &amp; investor decks</a:t>
            </a:r>
            <a:endParaRPr lang="en-US" sz="1050" dirty="0"/>
          </a:p>
          <a:p>
            <a:pPr algn="l" indent="0" marL="0">
              <a:lnSpc>
                <a:spcPct val="104000"/>
              </a:lnSpc>
              <a:buNone/>
            </a:pPr>
            <a:r>
              <a:rPr lang="en-US" sz="800" dirty="0">
                <a:solidFill>
                  <a:srgbClr val="153A61"/>
                </a:solidFill>
                <a:latin typeface="Calibri" pitchFamily="34" charset="0"/>
                <a:ea typeface="Calibri" pitchFamily="34" charset="-122"/>
                <a:cs typeface="Calibri" pitchFamily="34" charset="-120"/>
              </a:rPr>
              <a:t>whatever the company actually published</a:t>
            </a:r>
            <a:endParaRPr lang="en-US" sz="1050" dirty="0"/>
          </a:p>
        </p:txBody>
      </p:sp>
      <p:sp>
        <p:nvSpPr>
          <p:cNvPr id="23" name="Shape 17"/>
          <p:cNvSpPr/>
          <p:nvPr/>
        </p:nvSpPr>
        <p:spPr>
          <a:xfrm flipV="1">
            <a:off x="3429000" y="3310128"/>
            <a:ext cx="219456" cy="594360"/>
          </a:xfrm>
          <a:prstGeom prst="line">
            <a:avLst/>
          </a:prstGeom>
          <a:noFill/>
          <a:ln w="16510">
            <a:solidFill>
              <a:srgbClr val="2F6FD0"/>
            </a:solidFill>
            <a:prstDash val="solid"/>
            <a:headEnd type="none"/>
            <a:tailEnd type="triangle"/>
          </a:ln>
        </p:spPr>
      </p:sp>
      <p:sp>
        <p:nvSpPr>
          <p:cNvPr id="24" name="Shape 18"/>
          <p:cNvSpPr/>
          <p:nvPr/>
        </p:nvSpPr>
        <p:spPr>
          <a:xfrm>
            <a:off x="594360" y="4462272"/>
            <a:ext cx="2788920" cy="713232"/>
          </a:xfrm>
          <a:prstGeom prst="roundRect">
            <a:avLst>
              <a:gd name="adj" fmla="val 1282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25" name="Shape 19"/>
          <p:cNvSpPr/>
          <p:nvPr/>
        </p:nvSpPr>
        <p:spPr>
          <a:xfrm>
            <a:off x="731520" y="4626864"/>
            <a:ext cx="384048" cy="384048"/>
          </a:xfrm>
          <a:prstGeom prst="roundRect">
            <a:avLst>
              <a:gd name="adj" fmla="val 23810"/>
            </a:avLst>
          </a:prstGeom>
          <a:solidFill>
            <a:srgbClr val="108494"/>
          </a:solidFill>
          <a:ln/>
        </p:spPr>
      </p:sp>
      <p:pic>
        <p:nvPicPr>
          <p:cNvPr id="26" name="Image 4" descr="preencoded.png">    </p:cNvPr>
          <p:cNvPicPr>
            <a:picLocks noChangeAspect="1"/>
          </p:cNvPicPr>
          <p:nvPr/>
        </p:nvPicPr>
        <p:blipFill>
          <a:blip r:embed="rId5"/>
          <a:stretch>
            <a:fillRect/>
          </a:stretch>
        </p:blipFill>
        <p:spPr>
          <a:xfrm>
            <a:off x="816011" y="4711355"/>
            <a:ext cx="215067" cy="215067"/>
          </a:xfrm>
          <a:prstGeom prst="rect">
            <a:avLst/>
          </a:prstGeom>
        </p:spPr>
      </p:pic>
      <p:sp>
        <p:nvSpPr>
          <p:cNvPr id="27" name="Text 20"/>
          <p:cNvSpPr txBox="1"/>
          <p:nvPr/>
        </p:nvSpPr>
        <p:spPr>
          <a:xfrm>
            <a:off x="1252728" y="4462272"/>
            <a:ext cx="2020824" cy="713232"/>
          </a:xfrm>
          <a:prstGeom prst="rect">
            <a:avLst/>
          </a:prstGeom>
          <a:noFill/>
          <a:ln/>
        </p:spPr>
        <p:txBody>
          <a:bodyPr wrap="square" lIns="0" tIns="0" rIns="0" bIns="0" rtlCol="0" anchor="ctr"/>
          <a:lstStyle/>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SEC XBRL facts</a:t>
            </a:r>
            <a:endParaRPr lang="en-US" sz="1050" dirty="0"/>
          </a:p>
          <a:p>
            <a:pPr algn="l" indent="0" marL="0">
              <a:lnSpc>
                <a:spcPct val="104000"/>
              </a:lnSpc>
              <a:buNone/>
            </a:pPr>
            <a:r>
              <a:rPr lang="en-US" sz="800" dirty="0">
                <a:solidFill>
                  <a:srgbClr val="0A4451"/>
                </a:solidFill>
                <a:latin typeface="Calibri" pitchFamily="34" charset="0"/>
                <a:ea typeface="Calibri" pitchFamily="34" charset="-122"/>
                <a:cs typeface="Calibri" pitchFamily="34" charset="-120"/>
              </a:rPr>
              <a:t>structured, machine-tagged, free</a:t>
            </a:r>
            <a:endParaRPr lang="en-US" sz="1050" dirty="0"/>
          </a:p>
        </p:txBody>
      </p:sp>
      <p:sp>
        <p:nvSpPr>
          <p:cNvPr id="28" name="Shape 21"/>
          <p:cNvSpPr/>
          <p:nvPr/>
        </p:nvSpPr>
        <p:spPr>
          <a:xfrm flipV="1">
            <a:off x="3429000" y="3310128"/>
            <a:ext cx="219456" cy="1508760"/>
          </a:xfrm>
          <a:prstGeom prst="line">
            <a:avLst/>
          </a:prstGeom>
          <a:noFill/>
          <a:ln w="16510">
            <a:solidFill>
              <a:srgbClr val="2F6FD0"/>
            </a:solidFill>
            <a:prstDash val="solid"/>
            <a:headEnd type="none"/>
            <a:tailEnd type="triangle"/>
          </a:ln>
        </p:spPr>
      </p:sp>
      <p:sp>
        <p:nvSpPr>
          <p:cNvPr id="29" name="Shape 22"/>
          <p:cNvSpPr/>
          <p:nvPr/>
        </p:nvSpPr>
        <p:spPr>
          <a:xfrm>
            <a:off x="3703320" y="1627632"/>
            <a:ext cx="3977640" cy="3529584"/>
          </a:xfrm>
          <a:prstGeom prst="roundRect">
            <a:avLst>
              <a:gd name="adj" fmla="val 1036"/>
            </a:avLst>
          </a:prstGeom>
          <a:solidFill>
            <a:srgbClr val="F7FAFC"/>
          </a:solidFill>
          <a:ln w="15875">
            <a:solidFill>
              <a:srgbClr val="9FB2C4"/>
            </a:solidFill>
            <a:prstDash val="dash"/>
          </a:ln>
        </p:spPr>
      </p:sp>
      <p:sp>
        <p:nvSpPr>
          <p:cNvPr id="30" name="Shape 23"/>
          <p:cNvSpPr/>
          <p:nvPr/>
        </p:nvSpPr>
        <p:spPr>
          <a:xfrm>
            <a:off x="3849624" y="1508760"/>
            <a:ext cx="1704442" cy="274320"/>
          </a:xfrm>
          <a:prstGeom prst="roundRect">
            <a:avLst>
              <a:gd name="adj" fmla="val 50000"/>
            </a:avLst>
          </a:prstGeom>
          <a:solidFill>
            <a:srgbClr val="64798F"/>
          </a:solidFill>
          <a:ln/>
        </p:spPr>
      </p:sp>
      <p:pic>
        <p:nvPicPr>
          <p:cNvPr id="31" name="Image 5" descr="preencoded.png">    </p:cNvPr>
          <p:cNvPicPr>
            <a:picLocks noChangeAspect="1"/>
          </p:cNvPicPr>
          <p:nvPr/>
        </p:nvPicPr>
        <p:blipFill>
          <a:blip r:embed="rId6"/>
          <a:stretch>
            <a:fillRect/>
          </a:stretch>
        </p:blipFill>
        <p:spPr>
          <a:xfrm>
            <a:off x="3968496" y="1577340"/>
            <a:ext cx="132588" cy="132588"/>
          </a:xfrm>
          <a:prstGeom prst="rect">
            <a:avLst/>
          </a:prstGeom>
        </p:spPr>
      </p:pic>
      <p:sp>
        <p:nvSpPr>
          <p:cNvPr id="32" name="Text 24"/>
          <p:cNvSpPr txBox="1"/>
          <p:nvPr/>
        </p:nvSpPr>
        <p:spPr>
          <a:xfrm>
            <a:off x="4123944" y="1508760"/>
            <a:ext cx="1430122"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EXTRACTION ENGINE</a:t>
            </a:r>
            <a:endParaRPr lang="en-US" sz="850" dirty="0"/>
          </a:p>
        </p:txBody>
      </p:sp>
      <p:sp>
        <p:nvSpPr>
          <p:cNvPr id="33" name="Shape 25"/>
          <p:cNvSpPr/>
          <p:nvPr/>
        </p:nvSpPr>
        <p:spPr>
          <a:xfrm>
            <a:off x="3977640" y="2029968"/>
            <a:ext cx="3429000" cy="566928"/>
          </a:xfrm>
          <a:prstGeom prst="roundRect">
            <a:avLst>
              <a:gd name="adj" fmla="val 16129"/>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34" name="Shape 26"/>
          <p:cNvSpPr/>
          <p:nvPr/>
        </p:nvSpPr>
        <p:spPr>
          <a:xfrm>
            <a:off x="4114800" y="2167128"/>
            <a:ext cx="292608" cy="292608"/>
          </a:xfrm>
          <a:prstGeom prst="roundRect">
            <a:avLst>
              <a:gd name="adj" fmla="val 31250"/>
            </a:avLst>
          </a:prstGeom>
          <a:solidFill>
            <a:srgbClr val="108494"/>
          </a:solidFill>
          <a:ln/>
        </p:spPr>
      </p:sp>
      <p:pic>
        <p:nvPicPr>
          <p:cNvPr id="35" name="Image 6" descr="preencoded.png">    </p:cNvPr>
          <p:cNvPicPr>
            <a:picLocks noChangeAspect="1"/>
          </p:cNvPicPr>
          <p:nvPr/>
        </p:nvPicPr>
        <p:blipFill>
          <a:blip r:embed="rId7"/>
          <a:stretch>
            <a:fillRect/>
          </a:stretch>
        </p:blipFill>
        <p:spPr>
          <a:xfrm>
            <a:off x="4179174" y="2231502"/>
            <a:ext cx="163860" cy="163860"/>
          </a:xfrm>
          <a:prstGeom prst="rect">
            <a:avLst/>
          </a:prstGeom>
        </p:spPr>
      </p:pic>
      <p:sp>
        <p:nvSpPr>
          <p:cNvPr id="36" name="Text 27"/>
          <p:cNvSpPr txBox="1"/>
          <p:nvPr/>
        </p:nvSpPr>
        <p:spPr>
          <a:xfrm>
            <a:off x="4544568" y="2029968"/>
            <a:ext cx="2752344" cy="566928"/>
          </a:xfrm>
          <a:prstGeom prst="rect">
            <a:avLst/>
          </a:prstGeom>
          <a:noFill/>
          <a:ln/>
        </p:spPr>
        <p:txBody>
          <a:bodyPr wrap="square" lIns="0" tIns="0" rIns="0" bIns="0" rtlCol="0" anchor="ctr"/>
          <a:lstStyle/>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Evidence selection</a:t>
            </a:r>
            <a:endParaRPr lang="en-US" sz="1050" dirty="0"/>
          </a:p>
          <a:p>
            <a:pPr algn="l" indent="0" marL="0">
              <a:lnSpc>
                <a:spcPct val="104000"/>
              </a:lnSpc>
              <a:buNone/>
            </a:pPr>
            <a:r>
              <a:rPr lang="en-US" sz="800" dirty="0">
                <a:solidFill>
                  <a:srgbClr val="0A4451"/>
                </a:solidFill>
                <a:latin typeface="Calibri" pitchFamily="34" charset="0"/>
                <a:ea typeface="Calibri" pitchFamily="34" charset="-122"/>
                <a:cs typeface="Calibri" pitchFamily="34" charset="-120"/>
              </a:rPr>
              <a:t>seed keywords → BM25 + embeddings</a:t>
            </a:r>
            <a:endParaRPr lang="en-US" sz="1050" dirty="0"/>
          </a:p>
        </p:txBody>
      </p:sp>
      <p:sp>
        <p:nvSpPr>
          <p:cNvPr id="37" name="Shape 28"/>
          <p:cNvSpPr/>
          <p:nvPr/>
        </p:nvSpPr>
        <p:spPr>
          <a:xfrm>
            <a:off x="5692140" y="2606040"/>
            <a:ext cx="0" cy="164592"/>
          </a:xfrm>
          <a:prstGeom prst="line">
            <a:avLst/>
          </a:prstGeom>
          <a:noFill/>
          <a:ln w="17780">
            <a:solidFill>
              <a:srgbClr val="64798F"/>
            </a:solidFill>
            <a:prstDash val="solid"/>
            <a:headEnd type="none"/>
            <a:tailEnd type="triangle"/>
          </a:ln>
        </p:spPr>
      </p:sp>
      <p:sp>
        <p:nvSpPr>
          <p:cNvPr id="38" name="Shape 29"/>
          <p:cNvSpPr/>
          <p:nvPr/>
        </p:nvSpPr>
        <p:spPr>
          <a:xfrm>
            <a:off x="3977640" y="2788920"/>
            <a:ext cx="3429000" cy="566928"/>
          </a:xfrm>
          <a:prstGeom prst="roundRect">
            <a:avLst>
              <a:gd name="adj" fmla="val 16129"/>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9" name="Shape 30"/>
          <p:cNvSpPr/>
          <p:nvPr/>
        </p:nvSpPr>
        <p:spPr>
          <a:xfrm>
            <a:off x="4114800" y="2926080"/>
            <a:ext cx="292608" cy="292608"/>
          </a:xfrm>
          <a:prstGeom prst="roundRect">
            <a:avLst>
              <a:gd name="adj" fmla="val 31250"/>
            </a:avLst>
          </a:prstGeom>
          <a:solidFill>
            <a:srgbClr val="6D4DD1"/>
          </a:solidFill>
          <a:ln/>
        </p:spPr>
      </p:sp>
      <p:pic>
        <p:nvPicPr>
          <p:cNvPr id="40" name="Image 7" descr="preencoded.png">    </p:cNvPr>
          <p:cNvPicPr>
            <a:picLocks noChangeAspect="1"/>
          </p:cNvPicPr>
          <p:nvPr/>
        </p:nvPicPr>
        <p:blipFill>
          <a:blip r:embed="rId8"/>
          <a:stretch>
            <a:fillRect/>
          </a:stretch>
        </p:blipFill>
        <p:spPr>
          <a:xfrm>
            <a:off x="4179174" y="2990454"/>
            <a:ext cx="163860" cy="163860"/>
          </a:xfrm>
          <a:prstGeom prst="rect">
            <a:avLst/>
          </a:prstGeom>
        </p:spPr>
      </p:pic>
      <p:sp>
        <p:nvSpPr>
          <p:cNvPr id="41" name="Text 31"/>
          <p:cNvSpPr txBox="1"/>
          <p:nvPr/>
        </p:nvSpPr>
        <p:spPr>
          <a:xfrm>
            <a:off x="4544568" y="2788920"/>
            <a:ext cx="2752344" cy="566928"/>
          </a:xfrm>
          <a:prstGeom prst="rect">
            <a:avLst/>
          </a:prstGeom>
          <a:noFill/>
          <a:ln/>
        </p:spPr>
        <p:txBody>
          <a:bodyPr wrap="square" lIns="0" tIns="0" rIns="0" bIns="0" rtlCol="0" anchor="ctr"/>
          <a:lstStyle/>
          <a:p>
            <a:pPr algn="l" indent="0" marL="0">
              <a:lnSpc>
                <a:spcPct val="104000"/>
              </a:lnSpc>
              <a:buNone/>
            </a:pPr>
            <a:r>
              <a:rPr lang="en-US" sz="1050" b="1" dirty="0">
                <a:solidFill>
                  <a:srgbClr val="35236E"/>
                </a:solidFill>
                <a:latin typeface="Calibri" pitchFamily="34" charset="0"/>
                <a:ea typeface="Calibri" pitchFamily="34" charset="-122"/>
                <a:cs typeface="Calibri" pitchFamily="34" charset="-120"/>
              </a:rPr>
              <a:t>Extractor</a:t>
            </a:r>
            <a:endParaRPr lang="en-US" sz="105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schema-forced output, retry on invalid</a:t>
            </a:r>
            <a:endParaRPr lang="en-US" sz="1050" dirty="0"/>
          </a:p>
        </p:txBody>
      </p:sp>
      <p:sp>
        <p:nvSpPr>
          <p:cNvPr id="42" name="Shape 32"/>
          <p:cNvSpPr/>
          <p:nvPr/>
        </p:nvSpPr>
        <p:spPr>
          <a:xfrm>
            <a:off x="5692140" y="3364992"/>
            <a:ext cx="0" cy="164592"/>
          </a:xfrm>
          <a:prstGeom prst="line">
            <a:avLst/>
          </a:prstGeom>
          <a:noFill/>
          <a:ln w="17780">
            <a:solidFill>
              <a:srgbClr val="64798F"/>
            </a:solidFill>
            <a:prstDash val="solid"/>
            <a:headEnd type="none"/>
            <a:tailEnd type="triangle"/>
          </a:ln>
        </p:spPr>
      </p:sp>
      <p:sp>
        <p:nvSpPr>
          <p:cNvPr id="43" name="Shape 33"/>
          <p:cNvSpPr/>
          <p:nvPr/>
        </p:nvSpPr>
        <p:spPr>
          <a:xfrm>
            <a:off x="3977640" y="3547872"/>
            <a:ext cx="3429000" cy="566928"/>
          </a:xfrm>
          <a:prstGeom prst="roundRect">
            <a:avLst>
              <a:gd name="adj" fmla="val 16129"/>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44" name="Shape 34"/>
          <p:cNvSpPr/>
          <p:nvPr/>
        </p:nvSpPr>
        <p:spPr>
          <a:xfrm>
            <a:off x="4114800" y="3685032"/>
            <a:ext cx="292608" cy="292608"/>
          </a:xfrm>
          <a:prstGeom prst="roundRect">
            <a:avLst>
              <a:gd name="adj" fmla="val 31250"/>
            </a:avLst>
          </a:prstGeom>
          <a:solidFill>
            <a:srgbClr val="6D4DD1"/>
          </a:solidFill>
          <a:ln/>
        </p:spPr>
      </p:sp>
      <p:pic>
        <p:nvPicPr>
          <p:cNvPr id="45" name="Image 8" descr="preencoded.png">    </p:cNvPr>
          <p:cNvPicPr>
            <a:picLocks noChangeAspect="1"/>
          </p:cNvPicPr>
          <p:nvPr/>
        </p:nvPicPr>
        <p:blipFill>
          <a:blip r:embed="rId9"/>
          <a:stretch>
            <a:fillRect/>
          </a:stretch>
        </p:blipFill>
        <p:spPr>
          <a:xfrm>
            <a:off x="4179174" y="3749406"/>
            <a:ext cx="163860" cy="163860"/>
          </a:xfrm>
          <a:prstGeom prst="rect">
            <a:avLst/>
          </a:prstGeom>
        </p:spPr>
      </p:pic>
      <p:sp>
        <p:nvSpPr>
          <p:cNvPr id="46" name="Text 35"/>
          <p:cNvSpPr txBox="1"/>
          <p:nvPr/>
        </p:nvSpPr>
        <p:spPr>
          <a:xfrm>
            <a:off x="4544568" y="3547872"/>
            <a:ext cx="2752344" cy="566928"/>
          </a:xfrm>
          <a:prstGeom prst="rect">
            <a:avLst/>
          </a:prstGeom>
          <a:noFill/>
          <a:ln/>
        </p:spPr>
        <p:txBody>
          <a:bodyPr wrap="square" lIns="0" tIns="0" rIns="0" bIns="0" rtlCol="0" anchor="ctr"/>
          <a:lstStyle/>
          <a:p>
            <a:pPr algn="l" indent="0" marL="0">
              <a:lnSpc>
                <a:spcPct val="104000"/>
              </a:lnSpc>
              <a:buNone/>
            </a:pPr>
            <a:r>
              <a:rPr lang="en-US" sz="1050" b="1" dirty="0">
                <a:solidFill>
                  <a:srgbClr val="35236E"/>
                </a:solidFill>
                <a:latin typeface="Calibri" pitchFamily="34" charset="0"/>
                <a:ea typeface="Calibri" pitchFamily="34" charset="-122"/>
                <a:cs typeface="Calibri" pitchFamily="34" charset="-120"/>
              </a:rPr>
              <a:t>Verifier</a:t>
            </a:r>
            <a:endParaRPr lang="en-US" sz="105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a different model, told to disagree</a:t>
            </a:r>
            <a:endParaRPr lang="en-US" sz="1050" dirty="0"/>
          </a:p>
        </p:txBody>
      </p:sp>
      <p:sp>
        <p:nvSpPr>
          <p:cNvPr id="47" name="Shape 36"/>
          <p:cNvSpPr/>
          <p:nvPr/>
        </p:nvSpPr>
        <p:spPr>
          <a:xfrm>
            <a:off x="5692140" y="4123944"/>
            <a:ext cx="0" cy="164592"/>
          </a:xfrm>
          <a:prstGeom prst="line">
            <a:avLst/>
          </a:prstGeom>
          <a:noFill/>
          <a:ln w="17780">
            <a:solidFill>
              <a:srgbClr val="64798F"/>
            </a:solidFill>
            <a:prstDash val="solid"/>
            <a:headEnd type="none"/>
            <a:tailEnd type="triangle"/>
          </a:ln>
        </p:spPr>
      </p:sp>
      <p:sp>
        <p:nvSpPr>
          <p:cNvPr id="48" name="Shape 37"/>
          <p:cNvSpPr/>
          <p:nvPr/>
        </p:nvSpPr>
        <p:spPr>
          <a:xfrm>
            <a:off x="3977640" y="4306824"/>
            <a:ext cx="3429000" cy="566928"/>
          </a:xfrm>
          <a:prstGeom prst="roundRect">
            <a:avLst>
              <a:gd name="adj" fmla="val 16129"/>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49" name="Shape 38"/>
          <p:cNvSpPr/>
          <p:nvPr/>
        </p:nvSpPr>
        <p:spPr>
          <a:xfrm>
            <a:off x="4114800" y="4443984"/>
            <a:ext cx="292608" cy="292608"/>
          </a:xfrm>
          <a:prstGeom prst="roundRect">
            <a:avLst>
              <a:gd name="adj" fmla="val 31250"/>
            </a:avLst>
          </a:prstGeom>
          <a:solidFill>
            <a:srgbClr val="C9871B"/>
          </a:solidFill>
          <a:ln/>
        </p:spPr>
      </p:sp>
      <p:pic>
        <p:nvPicPr>
          <p:cNvPr id="50" name="Image 9" descr="preencoded.png">    </p:cNvPr>
          <p:cNvPicPr>
            <a:picLocks noChangeAspect="1"/>
          </p:cNvPicPr>
          <p:nvPr/>
        </p:nvPicPr>
        <p:blipFill>
          <a:blip r:embed="rId10"/>
          <a:stretch>
            <a:fillRect/>
          </a:stretch>
        </p:blipFill>
        <p:spPr>
          <a:xfrm>
            <a:off x="4179174" y="4508358"/>
            <a:ext cx="163860" cy="163860"/>
          </a:xfrm>
          <a:prstGeom prst="rect">
            <a:avLst/>
          </a:prstGeom>
        </p:spPr>
      </p:pic>
      <p:sp>
        <p:nvSpPr>
          <p:cNvPr id="51" name="Text 39"/>
          <p:cNvSpPr txBox="1"/>
          <p:nvPr/>
        </p:nvSpPr>
        <p:spPr>
          <a:xfrm>
            <a:off x="4544568" y="4306824"/>
            <a:ext cx="2752344" cy="566928"/>
          </a:xfrm>
          <a:prstGeom prst="rect">
            <a:avLst/>
          </a:prstGeom>
          <a:noFill/>
          <a:ln/>
        </p:spPr>
        <p:txBody>
          <a:bodyPr wrap="square" lIns="0" tIns="0" rIns="0" bIns="0" rtlCol="0" anchor="ctr"/>
          <a:lstStyle/>
          <a:p>
            <a:pPr algn="l" indent="0" marL="0">
              <a:lnSpc>
                <a:spcPct val="104000"/>
              </a:lnSpc>
              <a:buNone/>
            </a:pPr>
            <a:r>
              <a:rPr lang="en-US" sz="1050" b="1" dirty="0">
                <a:solidFill>
                  <a:srgbClr val="64430A"/>
                </a:solidFill>
                <a:latin typeface="Calibri" pitchFamily="34" charset="0"/>
                <a:ea typeface="Calibri" pitchFamily="34" charset="-122"/>
                <a:cs typeface="Calibri" pitchFamily="34" charset="-120"/>
              </a:rPr>
              <a:t>Grounding check</a:t>
            </a:r>
            <a:endParaRPr lang="en-US" sz="1050" dirty="0"/>
          </a:p>
          <a:p>
            <a:pPr algn="l" indent="0" marL="0">
              <a:lnSpc>
                <a:spcPct val="104000"/>
              </a:lnSpc>
              <a:buNone/>
            </a:pPr>
            <a:r>
              <a:rPr lang="en-US" sz="800" dirty="0">
                <a:solidFill>
                  <a:srgbClr val="64430A"/>
                </a:solidFill>
                <a:latin typeface="Calibri" pitchFamily="34" charset="0"/>
                <a:ea typeface="Calibri" pitchFamily="34" charset="-122"/>
                <a:cs typeface="Calibri" pitchFamily="34" charset="-120"/>
              </a:rPr>
              <a:t>quote re-matched in code · page resolved</a:t>
            </a:r>
            <a:endParaRPr lang="en-US" sz="1050" dirty="0"/>
          </a:p>
        </p:txBody>
      </p:sp>
      <p:sp>
        <p:nvSpPr>
          <p:cNvPr id="52" name="Shape 40"/>
          <p:cNvSpPr/>
          <p:nvPr/>
        </p:nvSpPr>
        <p:spPr>
          <a:xfrm>
            <a:off x="7443216" y="3831336"/>
            <a:ext cx="128016" cy="0"/>
          </a:xfrm>
          <a:prstGeom prst="line">
            <a:avLst/>
          </a:prstGeom>
          <a:noFill/>
          <a:ln w="15240">
            <a:solidFill>
              <a:srgbClr val="CE3D64"/>
            </a:solidFill>
            <a:prstDash val="dash"/>
            <a:headEnd type="none"/>
            <a:tailEnd type="none"/>
          </a:ln>
        </p:spPr>
      </p:sp>
      <p:sp>
        <p:nvSpPr>
          <p:cNvPr id="53" name="Shape 41"/>
          <p:cNvSpPr/>
          <p:nvPr/>
        </p:nvSpPr>
        <p:spPr>
          <a:xfrm flipV="1">
            <a:off x="7571232" y="3072384"/>
            <a:ext cx="0" cy="758952"/>
          </a:xfrm>
          <a:prstGeom prst="line">
            <a:avLst/>
          </a:prstGeom>
          <a:noFill/>
          <a:ln w="15240">
            <a:solidFill>
              <a:srgbClr val="CE3D64"/>
            </a:solidFill>
            <a:prstDash val="dash"/>
            <a:headEnd type="none"/>
            <a:tailEnd type="none"/>
          </a:ln>
        </p:spPr>
      </p:sp>
      <p:sp>
        <p:nvSpPr>
          <p:cNvPr id="54" name="Shape 42"/>
          <p:cNvSpPr/>
          <p:nvPr/>
        </p:nvSpPr>
        <p:spPr>
          <a:xfrm flipH="1">
            <a:off x="7443216" y="3072384"/>
            <a:ext cx="128016" cy="0"/>
          </a:xfrm>
          <a:prstGeom prst="line">
            <a:avLst/>
          </a:prstGeom>
          <a:noFill/>
          <a:ln w="15240">
            <a:solidFill>
              <a:srgbClr val="CE3D64"/>
            </a:solidFill>
            <a:prstDash val="dash"/>
            <a:headEnd type="none"/>
            <a:tailEnd type="triangle"/>
          </a:ln>
        </p:spPr>
      </p:sp>
      <p:sp>
        <p:nvSpPr>
          <p:cNvPr id="55" name="Text 43"/>
          <p:cNvSpPr txBox="1"/>
          <p:nvPr/>
        </p:nvSpPr>
        <p:spPr>
          <a:xfrm>
            <a:off x="6309360" y="3401568"/>
            <a:ext cx="1188720" cy="182880"/>
          </a:xfrm>
          <a:prstGeom prst="rect">
            <a:avLst/>
          </a:prstGeom>
          <a:noFill/>
          <a:ln/>
        </p:spPr>
        <p:txBody>
          <a:bodyPr wrap="square" lIns="0" tIns="0" rIns="0" bIns="0" rtlCol="0" anchor="ctr"/>
          <a:lstStyle/>
          <a:p>
            <a:pPr algn="r" indent="0" marL="0">
              <a:buNone/>
            </a:pPr>
            <a:r>
              <a:rPr lang="en-US" sz="750" i="1" dirty="0">
                <a:solidFill>
                  <a:srgbClr val="CE3D64"/>
                </a:solidFill>
                <a:latin typeface="Calibri" pitchFamily="34" charset="0"/>
                <a:ea typeface="Calibri" pitchFamily="34" charset="-122"/>
                <a:cs typeface="Calibri" pitchFamily="34" charset="-120"/>
              </a:rPr>
              <a:t>disagreement</a:t>
            </a:r>
            <a:endParaRPr lang="en-US" sz="750" dirty="0"/>
          </a:p>
        </p:txBody>
      </p:sp>
      <p:sp>
        <p:nvSpPr>
          <p:cNvPr id="56" name="Shape 44"/>
          <p:cNvSpPr/>
          <p:nvPr/>
        </p:nvSpPr>
        <p:spPr>
          <a:xfrm>
            <a:off x="8321040" y="1719072"/>
            <a:ext cx="3273552" cy="713232"/>
          </a:xfrm>
          <a:prstGeom prst="roundRect">
            <a:avLst>
              <a:gd name="adj" fmla="val 12821"/>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57" name="Shape 45"/>
          <p:cNvSpPr/>
          <p:nvPr/>
        </p:nvSpPr>
        <p:spPr>
          <a:xfrm>
            <a:off x="8458200" y="1883664"/>
            <a:ext cx="384048" cy="384048"/>
          </a:xfrm>
          <a:prstGeom prst="roundRect">
            <a:avLst>
              <a:gd name="adj" fmla="val 23810"/>
            </a:avLst>
          </a:prstGeom>
          <a:solidFill>
            <a:srgbClr val="2F8F48"/>
          </a:solidFill>
          <a:ln/>
        </p:spPr>
      </p:sp>
      <p:pic>
        <p:nvPicPr>
          <p:cNvPr id="58" name="Image 10" descr="preencoded.png">    </p:cNvPr>
          <p:cNvPicPr>
            <a:picLocks noChangeAspect="1"/>
          </p:cNvPicPr>
          <p:nvPr/>
        </p:nvPicPr>
        <p:blipFill>
          <a:blip r:embed="rId11"/>
          <a:stretch>
            <a:fillRect/>
          </a:stretch>
        </p:blipFill>
        <p:spPr>
          <a:xfrm>
            <a:off x="8542691" y="1968155"/>
            <a:ext cx="215067" cy="215067"/>
          </a:xfrm>
          <a:prstGeom prst="rect">
            <a:avLst/>
          </a:prstGeom>
        </p:spPr>
      </p:pic>
      <p:sp>
        <p:nvSpPr>
          <p:cNvPr id="59" name="Text 46"/>
          <p:cNvSpPr txBox="1"/>
          <p:nvPr/>
        </p:nvSpPr>
        <p:spPr>
          <a:xfrm>
            <a:off x="8979408" y="1719072"/>
            <a:ext cx="2505456"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7431F"/>
                </a:solidFill>
                <a:latin typeface="Calibri" pitchFamily="34" charset="0"/>
                <a:ea typeface="Calibri" pitchFamily="34" charset="-122"/>
                <a:cs typeface="Calibri" pitchFamily="34" charset="-120"/>
              </a:rPr>
              <a:t>Grounded value + citation</a:t>
            </a:r>
            <a:endParaRPr lang="en-US" sz="10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PDF page or sheet, computed not claimed</a:t>
            </a:r>
            <a:endParaRPr lang="en-US" sz="1050" dirty="0"/>
          </a:p>
        </p:txBody>
      </p:sp>
      <p:sp>
        <p:nvSpPr>
          <p:cNvPr id="60" name="Shape 47"/>
          <p:cNvSpPr/>
          <p:nvPr/>
        </p:nvSpPr>
        <p:spPr>
          <a:xfrm flipV="1">
            <a:off x="7735824" y="2075688"/>
            <a:ext cx="530352" cy="1234440"/>
          </a:xfrm>
          <a:prstGeom prst="line">
            <a:avLst/>
          </a:prstGeom>
          <a:noFill/>
          <a:ln w="16510">
            <a:solidFill>
              <a:srgbClr val="2F8F48"/>
            </a:solidFill>
            <a:prstDash val="solid"/>
            <a:headEnd type="none"/>
            <a:tailEnd type="triangle"/>
          </a:ln>
        </p:spPr>
      </p:sp>
      <p:sp>
        <p:nvSpPr>
          <p:cNvPr id="61" name="Shape 48"/>
          <p:cNvSpPr/>
          <p:nvPr/>
        </p:nvSpPr>
        <p:spPr>
          <a:xfrm>
            <a:off x="8321040" y="2633472"/>
            <a:ext cx="3273552" cy="713232"/>
          </a:xfrm>
          <a:prstGeom prst="roundRect">
            <a:avLst>
              <a:gd name="adj" fmla="val 12821"/>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62" name="Shape 49"/>
          <p:cNvSpPr/>
          <p:nvPr/>
        </p:nvSpPr>
        <p:spPr>
          <a:xfrm>
            <a:off x="8458200" y="2798064"/>
            <a:ext cx="384048" cy="384048"/>
          </a:xfrm>
          <a:prstGeom prst="roundRect">
            <a:avLst>
              <a:gd name="adj" fmla="val 23810"/>
            </a:avLst>
          </a:prstGeom>
          <a:solidFill>
            <a:srgbClr val="2F8F48"/>
          </a:solidFill>
          <a:ln/>
        </p:spPr>
      </p:sp>
      <p:pic>
        <p:nvPicPr>
          <p:cNvPr id="63" name="Image 11" descr="preencoded.png">    </p:cNvPr>
          <p:cNvPicPr>
            <a:picLocks noChangeAspect="1"/>
          </p:cNvPicPr>
          <p:nvPr/>
        </p:nvPicPr>
        <p:blipFill>
          <a:blip r:embed="rId12"/>
          <a:stretch>
            <a:fillRect/>
          </a:stretch>
        </p:blipFill>
        <p:spPr>
          <a:xfrm>
            <a:off x="8542691" y="2882555"/>
            <a:ext cx="215067" cy="215067"/>
          </a:xfrm>
          <a:prstGeom prst="rect">
            <a:avLst/>
          </a:prstGeom>
        </p:spPr>
      </p:pic>
      <p:sp>
        <p:nvSpPr>
          <p:cNvPr id="64" name="Text 50"/>
          <p:cNvSpPr txBox="1"/>
          <p:nvPr/>
        </p:nvSpPr>
        <p:spPr>
          <a:xfrm>
            <a:off x="8979408" y="2633472"/>
            <a:ext cx="2505456"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7431F"/>
                </a:solidFill>
                <a:latin typeface="Calibri" pitchFamily="34" charset="0"/>
                <a:ea typeface="Calibri" pitchFamily="34" charset="-122"/>
                <a:cs typeface="Calibri" pitchFamily="34" charset="-120"/>
              </a:rPr>
              <a:t>Confidence + provenance</a:t>
            </a:r>
            <a:endParaRPr lang="en-US" sz="10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both models and their prompt hashes</a:t>
            </a:r>
            <a:endParaRPr lang="en-US" sz="1050" dirty="0"/>
          </a:p>
        </p:txBody>
      </p:sp>
      <p:sp>
        <p:nvSpPr>
          <p:cNvPr id="65" name="Shape 51"/>
          <p:cNvSpPr/>
          <p:nvPr/>
        </p:nvSpPr>
        <p:spPr>
          <a:xfrm flipV="1">
            <a:off x="7735824" y="2990088"/>
            <a:ext cx="530352" cy="320040"/>
          </a:xfrm>
          <a:prstGeom prst="line">
            <a:avLst/>
          </a:prstGeom>
          <a:noFill/>
          <a:ln w="16510">
            <a:solidFill>
              <a:srgbClr val="2F8F48"/>
            </a:solidFill>
            <a:prstDash val="solid"/>
            <a:headEnd type="none"/>
            <a:tailEnd type="triangle"/>
          </a:ln>
        </p:spPr>
      </p:sp>
      <p:sp>
        <p:nvSpPr>
          <p:cNvPr id="66" name="Shape 52"/>
          <p:cNvSpPr/>
          <p:nvPr/>
        </p:nvSpPr>
        <p:spPr>
          <a:xfrm>
            <a:off x="8321040" y="3547872"/>
            <a:ext cx="3273552" cy="713232"/>
          </a:xfrm>
          <a:prstGeom prst="roundRect">
            <a:avLst>
              <a:gd name="adj" fmla="val 12821"/>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sp>
        <p:nvSpPr>
          <p:cNvPr id="67" name="Shape 53"/>
          <p:cNvSpPr/>
          <p:nvPr/>
        </p:nvSpPr>
        <p:spPr>
          <a:xfrm>
            <a:off x="8458200" y="3712464"/>
            <a:ext cx="384048" cy="384048"/>
          </a:xfrm>
          <a:prstGeom prst="roundRect">
            <a:avLst>
              <a:gd name="adj" fmla="val 23810"/>
            </a:avLst>
          </a:prstGeom>
          <a:solidFill>
            <a:srgbClr val="CE3D64"/>
          </a:solidFill>
          <a:ln/>
        </p:spPr>
      </p:sp>
      <p:pic>
        <p:nvPicPr>
          <p:cNvPr id="68" name="Image 12" descr="preencoded.png">    </p:cNvPr>
          <p:cNvPicPr>
            <a:picLocks noChangeAspect="1"/>
          </p:cNvPicPr>
          <p:nvPr/>
        </p:nvPicPr>
        <p:blipFill>
          <a:blip r:embed="rId13"/>
          <a:stretch>
            <a:fillRect/>
          </a:stretch>
        </p:blipFill>
        <p:spPr>
          <a:xfrm>
            <a:off x="8542691" y="3796955"/>
            <a:ext cx="215067" cy="215067"/>
          </a:xfrm>
          <a:prstGeom prst="rect">
            <a:avLst/>
          </a:prstGeom>
        </p:spPr>
      </p:pic>
      <p:sp>
        <p:nvSpPr>
          <p:cNvPr id="69" name="Text 54"/>
          <p:cNvSpPr txBox="1"/>
          <p:nvPr/>
        </p:nvSpPr>
        <p:spPr>
          <a:xfrm>
            <a:off x="8979408" y="3547872"/>
            <a:ext cx="2505456" cy="713232"/>
          </a:xfrm>
          <a:prstGeom prst="rect">
            <a:avLst/>
          </a:prstGeom>
          <a:noFill/>
          <a:ln/>
        </p:spPr>
        <p:txBody>
          <a:bodyPr wrap="square" lIns="0" tIns="0" rIns="0" bIns="0" rtlCol="0" anchor="ctr"/>
          <a:lstStyle/>
          <a:p>
            <a:pPr algn="l" indent="0" marL="0">
              <a:lnSpc>
                <a:spcPct val="104000"/>
              </a:lnSpc>
              <a:buNone/>
            </a:pPr>
            <a:r>
              <a:rPr lang="en-US" sz="1050" b="1" dirty="0">
                <a:solidFill>
                  <a:srgbClr val="68182F"/>
                </a:solidFill>
                <a:latin typeface="Calibri" pitchFamily="34" charset="0"/>
                <a:ea typeface="Calibri" pitchFamily="34" charset="-122"/>
                <a:cs typeface="Calibri" pitchFamily="34" charset="-120"/>
              </a:rPr>
              <a:t>Review queue item</a:t>
            </a:r>
            <a:endParaRPr lang="en-US" sz="1050" dirty="0"/>
          </a:p>
          <a:p>
            <a:pPr algn="l" indent="0" marL="0">
              <a:lnSpc>
                <a:spcPct val="104000"/>
              </a:lnSpc>
              <a:buNone/>
            </a:pPr>
            <a:r>
              <a:rPr lang="en-US" sz="800" dirty="0">
                <a:solidFill>
                  <a:srgbClr val="68182F"/>
                </a:solidFill>
                <a:latin typeface="Calibri" pitchFamily="34" charset="0"/>
                <a:ea typeface="Calibri" pitchFamily="34" charset="-122"/>
                <a:cs typeface="Calibri" pitchFamily="34" charset="-120"/>
              </a:rPr>
              <a:t>low confidence, ungrounded or disputed</a:t>
            </a:r>
            <a:endParaRPr lang="en-US" sz="1050" dirty="0"/>
          </a:p>
        </p:txBody>
      </p:sp>
      <p:sp>
        <p:nvSpPr>
          <p:cNvPr id="70" name="Shape 55"/>
          <p:cNvSpPr/>
          <p:nvPr/>
        </p:nvSpPr>
        <p:spPr>
          <a:xfrm>
            <a:off x="7735824" y="3310128"/>
            <a:ext cx="530352" cy="594360"/>
          </a:xfrm>
          <a:prstGeom prst="line">
            <a:avLst/>
          </a:prstGeom>
          <a:noFill/>
          <a:ln w="16510">
            <a:solidFill>
              <a:srgbClr val="2F8F48"/>
            </a:solidFill>
            <a:prstDash val="solid"/>
            <a:headEnd type="none"/>
            <a:tailEnd type="triangle"/>
          </a:ln>
        </p:spPr>
      </p:sp>
      <p:sp>
        <p:nvSpPr>
          <p:cNvPr id="71" name="Shape 56"/>
          <p:cNvSpPr/>
          <p:nvPr/>
        </p:nvSpPr>
        <p:spPr>
          <a:xfrm>
            <a:off x="8321040" y="4462272"/>
            <a:ext cx="3273552" cy="713232"/>
          </a:xfrm>
          <a:prstGeom prst="roundRect">
            <a:avLst>
              <a:gd name="adj" fmla="val 12821"/>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72" name="Shape 57"/>
          <p:cNvSpPr/>
          <p:nvPr/>
        </p:nvSpPr>
        <p:spPr>
          <a:xfrm>
            <a:off x="8458200" y="4626864"/>
            <a:ext cx="384048" cy="384048"/>
          </a:xfrm>
          <a:prstGeom prst="roundRect">
            <a:avLst>
              <a:gd name="adj" fmla="val 23810"/>
            </a:avLst>
          </a:prstGeom>
          <a:solidFill>
            <a:srgbClr val="2F8F48"/>
          </a:solidFill>
          <a:ln/>
        </p:spPr>
      </p:sp>
      <p:pic>
        <p:nvPicPr>
          <p:cNvPr id="73" name="Image 13" descr="preencoded.png">    </p:cNvPr>
          <p:cNvPicPr>
            <a:picLocks noChangeAspect="1"/>
          </p:cNvPicPr>
          <p:nvPr/>
        </p:nvPicPr>
        <p:blipFill>
          <a:blip r:embed="rId14"/>
          <a:stretch>
            <a:fillRect/>
          </a:stretch>
        </p:blipFill>
        <p:spPr>
          <a:xfrm>
            <a:off x="8542691" y="4711355"/>
            <a:ext cx="215067" cy="215067"/>
          </a:xfrm>
          <a:prstGeom prst="rect">
            <a:avLst/>
          </a:prstGeom>
        </p:spPr>
      </p:pic>
      <p:sp>
        <p:nvSpPr>
          <p:cNvPr id="74" name="Text 58"/>
          <p:cNvSpPr txBox="1"/>
          <p:nvPr/>
        </p:nvSpPr>
        <p:spPr>
          <a:xfrm>
            <a:off x="8979408" y="4462272"/>
            <a:ext cx="2505456"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7431F"/>
                </a:solidFill>
                <a:latin typeface="Calibri" pitchFamily="34" charset="0"/>
                <a:ea typeface="Calibri" pitchFamily="34" charset="-122"/>
                <a:cs typeface="Calibri" pitchFamily="34" charset="-120"/>
              </a:rPr>
              <a:t>results.jsonl</a:t>
            </a:r>
            <a:endParaRPr lang="en-US" sz="10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appended the moment a company finishes</a:t>
            </a:r>
            <a:endParaRPr lang="en-US" sz="1050" dirty="0"/>
          </a:p>
        </p:txBody>
      </p:sp>
      <p:sp>
        <p:nvSpPr>
          <p:cNvPr id="75" name="Shape 59"/>
          <p:cNvSpPr/>
          <p:nvPr/>
        </p:nvSpPr>
        <p:spPr>
          <a:xfrm>
            <a:off x="7735824" y="3310128"/>
            <a:ext cx="530352" cy="1508760"/>
          </a:xfrm>
          <a:prstGeom prst="line">
            <a:avLst/>
          </a:prstGeom>
          <a:noFill/>
          <a:ln w="16510">
            <a:solidFill>
              <a:srgbClr val="2F8F48"/>
            </a:solidFill>
            <a:prstDash val="solid"/>
            <a:headEnd type="none"/>
            <a:tailEnd type="triangle"/>
          </a:ln>
        </p:spPr>
      </p:sp>
      <p:sp>
        <p:nvSpPr>
          <p:cNvPr id="76" name="Shape 60"/>
          <p:cNvSpPr/>
          <p:nvPr/>
        </p:nvSpPr>
        <p:spPr>
          <a:xfrm>
            <a:off x="594360" y="5349240"/>
            <a:ext cx="11000232" cy="548640"/>
          </a:xfrm>
          <a:prstGeom prst="roundRect">
            <a:avLst>
              <a:gd name="adj" fmla="val 6667"/>
            </a:avLst>
          </a:prstGeom>
          <a:solidFill>
            <a:srgbClr val="F4F7FA"/>
          </a:solidFill>
          <a:ln w="15875">
            <a:solidFill>
              <a:srgbClr val="DDE5ED"/>
            </a:solidFill>
            <a:prstDash val="solid"/>
          </a:ln>
        </p:spPr>
      </p:sp>
      <p:sp>
        <p:nvSpPr>
          <p:cNvPr id="77" name="Text 61"/>
          <p:cNvSpPr txBox="1"/>
          <p:nvPr/>
        </p:nvSpPr>
        <p:spPr>
          <a:xfrm>
            <a:off x="795528" y="5349240"/>
            <a:ext cx="10597896" cy="548640"/>
          </a:xfrm>
          <a:prstGeom prst="rect">
            <a:avLst/>
          </a:prstGeom>
          <a:noFill/>
          <a:ln/>
        </p:spPr>
        <p:txBody>
          <a:bodyPr wrap="square" lIns="0" tIns="0" rIns="0" bIns="0" rtlCol="0" anchor="ctr"/>
          <a:lstStyle/>
          <a:p>
            <a:pPr indent="0" marL="0">
              <a:buNone/>
            </a:pPr>
            <a:r>
              <a:rPr lang="en-US" sz="950" b="1" dirty="0">
                <a:solidFill>
                  <a:srgbClr val="108494"/>
                </a:solidFill>
                <a:latin typeface="Calibri" pitchFamily="34" charset="0"/>
                <a:ea typeface="Calibri" pitchFamily="34" charset="-122"/>
                <a:cs typeface="Calibri" pitchFamily="34" charset="-120"/>
              </a:rPr>
              <a:t>The common case costs nothing.  </a:t>
            </a:r>
            <a:pPr indent="0" marL="0">
              <a:buNone/>
            </a:pPr>
            <a:r>
              <a:rPr lang="en-US" sz="950" dirty="0">
                <a:solidFill>
                  <a:srgbClr val="43566B"/>
                </a:solidFill>
                <a:latin typeface="Calibri" pitchFamily="34" charset="0"/>
                <a:ea typeface="Calibri" pitchFamily="34" charset="-122"/>
                <a:cs typeface="Calibri" pitchFamily="34" charset="-120"/>
              </a:rPr>
              <a:t>No matching evidence ends the graph with an explicit “not disclosed” and zero LLM calls — which is what makes a 4,000-company run affordable.</a:t>
            </a:r>
            <a:endParaRPr lang="en-US" sz="950" dirty="0"/>
          </a:p>
        </p:txBody>
      </p:sp>
      <p:sp>
        <p:nvSpPr>
          <p:cNvPr id="78" name="Shape 62"/>
          <p:cNvSpPr/>
          <p:nvPr/>
        </p:nvSpPr>
        <p:spPr>
          <a:xfrm>
            <a:off x="594360" y="6172200"/>
            <a:ext cx="155448" cy="155448"/>
          </a:xfrm>
          <a:prstGeom prst="roundRect">
            <a:avLst>
              <a:gd name="adj" fmla="val 29412"/>
            </a:avLst>
          </a:prstGeom>
          <a:solidFill>
            <a:srgbClr val="2F6FD0"/>
          </a:solidFill>
          <a:ln/>
        </p:spPr>
      </p:sp>
      <p:sp>
        <p:nvSpPr>
          <p:cNvPr id="79" name="Text 63"/>
          <p:cNvSpPr txBox="1"/>
          <p:nvPr/>
        </p:nvSpPr>
        <p:spPr>
          <a:xfrm>
            <a:off x="81381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80" name="Shape 64"/>
          <p:cNvSpPr/>
          <p:nvPr/>
        </p:nvSpPr>
        <p:spPr>
          <a:xfrm>
            <a:off x="2427732" y="6172200"/>
            <a:ext cx="155448" cy="155448"/>
          </a:xfrm>
          <a:prstGeom prst="roundRect">
            <a:avLst>
              <a:gd name="adj" fmla="val 29412"/>
            </a:avLst>
          </a:prstGeom>
          <a:solidFill>
            <a:srgbClr val="108494"/>
          </a:solidFill>
          <a:ln/>
        </p:spPr>
      </p:sp>
      <p:sp>
        <p:nvSpPr>
          <p:cNvPr id="81" name="Text 65"/>
          <p:cNvSpPr txBox="1"/>
          <p:nvPr/>
        </p:nvSpPr>
        <p:spPr>
          <a:xfrm>
            <a:off x="2647188"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82" name="Shape 66"/>
          <p:cNvSpPr/>
          <p:nvPr/>
        </p:nvSpPr>
        <p:spPr>
          <a:xfrm>
            <a:off x="4261104" y="6172200"/>
            <a:ext cx="155448" cy="155448"/>
          </a:xfrm>
          <a:prstGeom prst="roundRect">
            <a:avLst>
              <a:gd name="adj" fmla="val 29412"/>
            </a:avLst>
          </a:prstGeom>
          <a:solidFill>
            <a:srgbClr val="6D4DD1"/>
          </a:solidFill>
          <a:ln/>
        </p:spPr>
      </p:sp>
      <p:sp>
        <p:nvSpPr>
          <p:cNvPr id="83" name="Text 67"/>
          <p:cNvSpPr txBox="1"/>
          <p:nvPr/>
        </p:nvSpPr>
        <p:spPr>
          <a:xfrm>
            <a:off x="4480560"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84" name="Shape 68"/>
          <p:cNvSpPr/>
          <p:nvPr/>
        </p:nvSpPr>
        <p:spPr>
          <a:xfrm>
            <a:off x="6094476" y="6172200"/>
            <a:ext cx="155448" cy="155448"/>
          </a:xfrm>
          <a:prstGeom prst="roundRect">
            <a:avLst>
              <a:gd name="adj" fmla="val 29412"/>
            </a:avLst>
          </a:prstGeom>
          <a:solidFill>
            <a:srgbClr val="C9871B"/>
          </a:solidFill>
          <a:ln/>
        </p:spPr>
      </p:sp>
      <p:sp>
        <p:nvSpPr>
          <p:cNvPr id="85" name="Text 69"/>
          <p:cNvSpPr txBox="1"/>
          <p:nvPr/>
        </p:nvSpPr>
        <p:spPr>
          <a:xfrm>
            <a:off x="6313932"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86" name="Shape 70"/>
          <p:cNvSpPr/>
          <p:nvPr/>
        </p:nvSpPr>
        <p:spPr>
          <a:xfrm>
            <a:off x="7927848" y="6172200"/>
            <a:ext cx="155448" cy="155448"/>
          </a:xfrm>
          <a:prstGeom prst="roundRect">
            <a:avLst>
              <a:gd name="adj" fmla="val 29412"/>
            </a:avLst>
          </a:prstGeom>
          <a:solidFill>
            <a:srgbClr val="CE3D64"/>
          </a:solidFill>
          <a:ln/>
        </p:spPr>
      </p:sp>
      <p:sp>
        <p:nvSpPr>
          <p:cNvPr id="87" name="Text 71"/>
          <p:cNvSpPr txBox="1"/>
          <p:nvPr/>
        </p:nvSpPr>
        <p:spPr>
          <a:xfrm>
            <a:off x="8147304"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88" name="Shape 72"/>
          <p:cNvSpPr/>
          <p:nvPr/>
        </p:nvSpPr>
        <p:spPr>
          <a:xfrm>
            <a:off x="9761220" y="6172200"/>
            <a:ext cx="155448" cy="155448"/>
          </a:xfrm>
          <a:prstGeom prst="roundRect">
            <a:avLst>
              <a:gd name="adj" fmla="val 29412"/>
            </a:avLst>
          </a:prstGeom>
          <a:solidFill>
            <a:srgbClr val="2F8F48"/>
          </a:solidFill>
          <a:ln/>
        </p:spPr>
      </p:sp>
      <p:sp>
        <p:nvSpPr>
          <p:cNvPr id="89" name="Text 73"/>
          <p:cNvSpPr txBox="1"/>
          <p:nvPr/>
        </p:nvSpPr>
        <p:spPr>
          <a:xfrm>
            <a:off x="998067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01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Extraction: how a field is filled</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One LangGraph state graph per company per field, wrapped in the shared batch runner.</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17904"/>
            <a:ext cx="11000232" cy="402336"/>
          </a:xfrm>
          <a:prstGeom prst="roundRect">
            <a:avLst>
              <a:gd name="adj" fmla="val 9091"/>
            </a:avLst>
          </a:prstGeom>
          <a:solidFill>
            <a:srgbClr val="E7EDF3"/>
          </a:solidFill>
          <a:ln w="15875">
            <a:solidFill>
              <a:srgbClr val="AFC0D0"/>
            </a:solidFill>
            <a:prstDash val="solid"/>
          </a:ln>
        </p:spPr>
      </p:sp>
      <p:sp>
        <p:nvSpPr>
          <p:cNvPr id="8" name="Text 5"/>
          <p:cNvSpPr txBox="1"/>
          <p:nvPr/>
        </p:nvSpPr>
        <p:spPr>
          <a:xfrm>
            <a:off x="795528" y="1517904"/>
            <a:ext cx="10597896" cy="402336"/>
          </a:xfrm>
          <a:prstGeom prst="rect">
            <a:avLst/>
          </a:prstGeom>
          <a:noFill/>
          <a:ln/>
        </p:spPr>
        <p:txBody>
          <a:bodyPr wrap="square" lIns="0" tIns="0" rIns="0" bIns="0" rtlCol="0" anchor="ctr"/>
          <a:lstStyle/>
          <a:p>
            <a:pPr indent="0" marL="0">
              <a:buNone/>
            </a:pPr>
            <a:r>
              <a:rPr lang="en-US" sz="920" b="1" dirty="0">
                <a:solidFill>
                  <a:srgbClr val="24354A"/>
                </a:solidFill>
                <a:latin typeface="Calibri" pitchFamily="34" charset="0"/>
                <a:ea typeface="Calibri" pitchFamily="34" charset="-122"/>
                <a:cs typeface="Calibri" pitchFamily="34" charset="-120"/>
              </a:rPr>
              <a:t>run_batch  —  </a:t>
            </a:r>
            <a:pPr indent="0" marL="0">
              <a:buNone/>
            </a:pPr>
            <a:r>
              <a:rPr lang="en-US" sz="920" dirty="0">
                <a:solidFill>
                  <a:srgbClr val="43566B"/>
                </a:solidFill>
                <a:latin typeface="Calibri" pitchFamily="34" charset="0"/>
                <a:ea typeface="Calibri" pitchFamily="34" charset="-122"/>
                <a:cs typeface="Calibri" pitchFamily="34" charset="-120"/>
              </a:rPr>
              <a:t>bounded concurrency  ·  one isolated work item per company  ·  a checkpoint written the moment an item finishes  ·  cancel and resume</a:t>
            </a:r>
            <a:endParaRPr lang="en-US" sz="920" dirty="0"/>
          </a:p>
        </p:txBody>
      </p:sp>
      <p:sp>
        <p:nvSpPr>
          <p:cNvPr id="9" name="Shape 6"/>
          <p:cNvSpPr/>
          <p:nvPr/>
        </p:nvSpPr>
        <p:spPr>
          <a:xfrm>
            <a:off x="594360" y="2286000"/>
            <a:ext cx="1907438" cy="786384"/>
          </a:xfrm>
          <a:prstGeom prst="roundRect">
            <a:avLst>
              <a:gd name="adj" fmla="val 11628"/>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10" name="Image 1" descr="preencoded.png">    </p:cNvPr>
          <p:cNvPicPr>
            <a:picLocks noChangeAspect="1"/>
          </p:cNvPicPr>
          <p:nvPr/>
        </p:nvPicPr>
        <p:blipFill>
          <a:blip r:embed="rId2"/>
          <a:stretch>
            <a:fillRect/>
          </a:stretch>
        </p:blipFill>
        <p:spPr>
          <a:xfrm>
            <a:off x="713232" y="2386584"/>
            <a:ext cx="182880" cy="182880"/>
          </a:xfrm>
          <a:prstGeom prst="rect">
            <a:avLst/>
          </a:prstGeom>
        </p:spPr>
      </p:pic>
      <p:sp>
        <p:nvSpPr>
          <p:cNvPr id="11" name="Text 7"/>
          <p:cNvSpPr txBox="1"/>
          <p:nvPr/>
        </p:nvSpPr>
        <p:spPr>
          <a:xfrm>
            <a:off x="685800" y="2286000"/>
            <a:ext cx="1724558" cy="786384"/>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Fetch &amp; parse</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one registry, cached by content hash</a:t>
            </a:r>
            <a:endParaRPr lang="en-US" sz="1050" dirty="0"/>
          </a:p>
        </p:txBody>
      </p:sp>
      <p:sp>
        <p:nvSpPr>
          <p:cNvPr id="12" name="Shape 8"/>
          <p:cNvSpPr/>
          <p:nvPr/>
        </p:nvSpPr>
        <p:spPr>
          <a:xfrm>
            <a:off x="2556662" y="2679192"/>
            <a:ext cx="256032" cy="0"/>
          </a:xfrm>
          <a:prstGeom prst="line">
            <a:avLst/>
          </a:prstGeom>
          <a:noFill/>
          <a:ln w="21590">
            <a:solidFill>
              <a:srgbClr val="64798F"/>
            </a:solidFill>
            <a:prstDash val="solid"/>
            <a:headEnd type="none"/>
            <a:tailEnd type="triangle"/>
          </a:ln>
        </p:spPr>
      </p:sp>
      <p:sp>
        <p:nvSpPr>
          <p:cNvPr id="13" name="Shape 9"/>
          <p:cNvSpPr/>
          <p:nvPr/>
        </p:nvSpPr>
        <p:spPr>
          <a:xfrm>
            <a:off x="2867558" y="2286000"/>
            <a:ext cx="1907438" cy="786384"/>
          </a:xfrm>
          <a:prstGeom prst="roundRect">
            <a:avLst>
              <a:gd name="adj" fmla="val 11628"/>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4" name="Image 2" descr="preencoded.png">    </p:cNvPr>
          <p:cNvPicPr>
            <a:picLocks noChangeAspect="1"/>
          </p:cNvPicPr>
          <p:nvPr/>
        </p:nvPicPr>
        <p:blipFill>
          <a:blip r:embed="rId3"/>
          <a:stretch>
            <a:fillRect/>
          </a:stretch>
        </p:blipFill>
        <p:spPr>
          <a:xfrm>
            <a:off x="2986430" y="2386584"/>
            <a:ext cx="182880" cy="182880"/>
          </a:xfrm>
          <a:prstGeom prst="rect">
            <a:avLst/>
          </a:prstGeom>
        </p:spPr>
      </p:pic>
      <p:sp>
        <p:nvSpPr>
          <p:cNvPr id="15" name="Text 10"/>
          <p:cNvSpPr txBox="1"/>
          <p:nvPr/>
        </p:nvSpPr>
        <p:spPr>
          <a:xfrm>
            <a:off x="2958998" y="2286000"/>
            <a:ext cx="1724558" cy="786384"/>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Select evidence</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keyword prefilter → BM25 + embeddings</a:t>
            </a:r>
            <a:endParaRPr lang="en-US" sz="1050" dirty="0"/>
          </a:p>
        </p:txBody>
      </p:sp>
      <p:sp>
        <p:nvSpPr>
          <p:cNvPr id="16" name="Shape 11"/>
          <p:cNvSpPr/>
          <p:nvPr/>
        </p:nvSpPr>
        <p:spPr>
          <a:xfrm>
            <a:off x="4829861" y="2679192"/>
            <a:ext cx="256032" cy="0"/>
          </a:xfrm>
          <a:prstGeom prst="line">
            <a:avLst/>
          </a:prstGeom>
          <a:noFill/>
          <a:ln w="21590">
            <a:solidFill>
              <a:srgbClr val="64798F"/>
            </a:solidFill>
            <a:prstDash val="solid"/>
            <a:headEnd type="none"/>
            <a:tailEnd type="triangle"/>
          </a:ln>
        </p:spPr>
      </p:sp>
      <p:sp>
        <p:nvSpPr>
          <p:cNvPr id="17" name="Shape 12"/>
          <p:cNvSpPr/>
          <p:nvPr/>
        </p:nvSpPr>
        <p:spPr>
          <a:xfrm>
            <a:off x="5140757" y="2286000"/>
            <a:ext cx="1907438" cy="786384"/>
          </a:xfrm>
          <a:prstGeom prst="roundRect">
            <a:avLst>
              <a:gd name="adj" fmla="val 11628"/>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18" name="Image 3" descr="preencoded.png">    </p:cNvPr>
          <p:cNvPicPr>
            <a:picLocks noChangeAspect="1"/>
          </p:cNvPicPr>
          <p:nvPr/>
        </p:nvPicPr>
        <p:blipFill>
          <a:blip r:embed="rId4"/>
          <a:stretch>
            <a:fillRect/>
          </a:stretch>
        </p:blipFill>
        <p:spPr>
          <a:xfrm>
            <a:off x="5259629" y="2386584"/>
            <a:ext cx="182880" cy="182880"/>
          </a:xfrm>
          <a:prstGeom prst="rect">
            <a:avLst/>
          </a:prstGeom>
        </p:spPr>
      </p:pic>
      <p:sp>
        <p:nvSpPr>
          <p:cNvPr id="19" name="Text 13"/>
          <p:cNvSpPr txBox="1"/>
          <p:nvPr/>
        </p:nvSpPr>
        <p:spPr>
          <a:xfrm>
            <a:off x="5232197" y="2286000"/>
            <a:ext cx="1724558" cy="786384"/>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Extract</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schema-forced, validation retry</a:t>
            </a:r>
            <a:endParaRPr lang="en-US" sz="1050" dirty="0"/>
          </a:p>
        </p:txBody>
      </p:sp>
      <p:sp>
        <p:nvSpPr>
          <p:cNvPr id="20" name="Shape 14"/>
          <p:cNvSpPr/>
          <p:nvPr/>
        </p:nvSpPr>
        <p:spPr>
          <a:xfrm>
            <a:off x="7103059" y="2679192"/>
            <a:ext cx="256032" cy="0"/>
          </a:xfrm>
          <a:prstGeom prst="line">
            <a:avLst/>
          </a:prstGeom>
          <a:noFill/>
          <a:ln w="21590">
            <a:solidFill>
              <a:srgbClr val="64798F"/>
            </a:solidFill>
            <a:prstDash val="solid"/>
            <a:headEnd type="none"/>
            <a:tailEnd type="triangle"/>
          </a:ln>
        </p:spPr>
      </p:sp>
      <p:sp>
        <p:nvSpPr>
          <p:cNvPr id="21" name="Shape 15"/>
          <p:cNvSpPr/>
          <p:nvPr/>
        </p:nvSpPr>
        <p:spPr>
          <a:xfrm>
            <a:off x="7413955" y="2286000"/>
            <a:ext cx="1907438" cy="786384"/>
          </a:xfrm>
          <a:prstGeom prst="roundRect">
            <a:avLst>
              <a:gd name="adj" fmla="val 11628"/>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2" name="Image 4" descr="preencoded.png">    </p:cNvPr>
          <p:cNvPicPr>
            <a:picLocks noChangeAspect="1"/>
          </p:cNvPicPr>
          <p:nvPr/>
        </p:nvPicPr>
        <p:blipFill>
          <a:blip r:embed="rId5"/>
          <a:stretch>
            <a:fillRect/>
          </a:stretch>
        </p:blipFill>
        <p:spPr>
          <a:xfrm>
            <a:off x="7532827" y="2386584"/>
            <a:ext cx="182880" cy="182880"/>
          </a:xfrm>
          <a:prstGeom prst="rect">
            <a:avLst/>
          </a:prstGeom>
        </p:spPr>
      </p:pic>
      <p:sp>
        <p:nvSpPr>
          <p:cNvPr id="23" name="Text 16"/>
          <p:cNvSpPr txBox="1"/>
          <p:nvPr/>
        </p:nvSpPr>
        <p:spPr>
          <a:xfrm>
            <a:off x="7505395" y="2286000"/>
            <a:ext cx="1724558" cy="786384"/>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Verify</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different model, told to disagree</a:t>
            </a:r>
            <a:endParaRPr lang="en-US" sz="1050" dirty="0"/>
          </a:p>
        </p:txBody>
      </p:sp>
      <p:sp>
        <p:nvSpPr>
          <p:cNvPr id="24" name="Shape 17"/>
          <p:cNvSpPr/>
          <p:nvPr/>
        </p:nvSpPr>
        <p:spPr>
          <a:xfrm>
            <a:off x="9376258" y="2679192"/>
            <a:ext cx="256032" cy="0"/>
          </a:xfrm>
          <a:prstGeom prst="line">
            <a:avLst/>
          </a:prstGeom>
          <a:noFill/>
          <a:ln w="21590">
            <a:solidFill>
              <a:srgbClr val="64798F"/>
            </a:solidFill>
            <a:prstDash val="solid"/>
            <a:headEnd type="none"/>
            <a:tailEnd type="triangle"/>
          </a:ln>
        </p:spPr>
      </p:sp>
      <p:sp>
        <p:nvSpPr>
          <p:cNvPr id="25" name="Shape 18"/>
          <p:cNvSpPr/>
          <p:nvPr/>
        </p:nvSpPr>
        <p:spPr>
          <a:xfrm>
            <a:off x="9687154" y="2286000"/>
            <a:ext cx="1907438" cy="786384"/>
          </a:xfrm>
          <a:prstGeom prst="roundRect">
            <a:avLst>
              <a:gd name="adj" fmla="val 11628"/>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26" name="Image 5" descr="preencoded.png">    </p:cNvPr>
          <p:cNvPicPr>
            <a:picLocks noChangeAspect="1"/>
          </p:cNvPicPr>
          <p:nvPr/>
        </p:nvPicPr>
        <p:blipFill>
          <a:blip r:embed="rId6"/>
          <a:stretch>
            <a:fillRect/>
          </a:stretch>
        </p:blipFill>
        <p:spPr>
          <a:xfrm>
            <a:off x="9806026" y="2386584"/>
            <a:ext cx="182880" cy="182880"/>
          </a:xfrm>
          <a:prstGeom prst="rect">
            <a:avLst/>
          </a:prstGeom>
        </p:spPr>
      </p:pic>
      <p:sp>
        <p:nvSpPr>
          <p:cNvPr id="27" name="Text 19"/>
          <p:cNvSpPr txBox="1"/>
          <p:nvPr/>
        </p:nvSpPr>
        <p:spPr>
          <a:xfrm>
            <a:off x="9778594" y="2286000"/>
            <a:ext cx="1724558" cy="786384"/>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Ground</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quote matched against the source</a:t>
            </a:r>
            <a:endParaRPr lang="en-US" sz="1050" dirty="0"/>
          </a:p>
        </p:txBody>
      </p:sp>
      <p:sp>
        <p:nvSpPr>
          <p:cNvPr id="28" name="Shape 20"/>
          <p:cNvSpPr/>
          <p:nvPr/>
        </p:nvSpPr>
        <p:spPr>
          <a:xfrm>
            <a:off x="8367674" y="3108960"/>
            <a:ext cx="0" cy="182880"/>
          </a:xfrm>
          <a:prstGeom prst="line">
            <a:avLst/>
          </a:prstGeom>
          <a:noFill/>
          <a:ln w="15240">
            <a:solidFill>
              <a:srgbClr val="CE3D64"/>
            </a:solidFill>
            <a:prstDash val="dash"/>
            <a:headEnd type="none"/>
            <a:tailEnd type="none"/>
          </a:ln>
        </p:spPr>
      </p:sp>
      <p:sp>
        <p:nvSpPr>
          <p:cNvPr id="29" name="Shape 21"/>
          <p:cNvSpPr/>
          <p:nvPr/>
        </p:nvSpPr>
        <p:spPr>
          <a:xfrm flipH="1">
            <a:off x="6094476" y="3291840"/>
            <a:ext cx="2273198" cy="0"/>
          </a:xfrm>
          <a:prstGeom prst="line">
            <a:avLst/>
          </a:prstGeom>
          <a:noFill/>
          <a:ln w="15240">
            <a:solidFill>
              <a:srgbClr val="CE3D64"/>
            </a:solidFill>
            <a:prstDash val="dash"/>
            <a:headEnd type="none"/>
            <a:tailEnd type="none"/>
          </a:ln>
        </p:spPr>
      </p:sp>
      <p:sp>
        <p:nvSpPr>
          <p:cNvPr id="30" name="Shape 22"/>
          <p:cNvSpPr/>
          <p:nvPr/>
        </p:nvSpPr>
        <p:spPr>
          <a:xfrm flipV="1">
            <a:off x="6094476" y="3108960"/>
            <a:ext cx="0" cy="182880"/>
          </a:xfrm>
          <a:prstGeom prst="line">
            <a:avLst/>
          </a:prstGeom>
          <a:noFill/>
          <a:ln w="15240">
            <a:solidFill>
              <a:srgbClr val="CE3D64"/>
            </a:solidFill>
            <a:prstDash val="dash"/>
            <a:headEnd type="none"/>
            <a:tailEnd type="triangle"/>
          </a:ln>
        </p:spPr>
      </p:sp>
      <p:sp>
        <p:nvSpPr>
          <p:cNvPr id="31" name="Text 23"/>
          <p:cNvSpPr txBox="1"/>
          <p:nvPr/>
        </p:nvSpPr>
        <p:spPr>
          <a:xfrm>
            <a:off x="6094476" y="3346704"/>
            <a:ext cx="2273198" cy="182880"/>
          </a:xfrm>
          <a:prstGeom prst="rect">
            <a:avLst/>
          </a:prstGeom>
          <a:noFill/>
          <a:ln/>
        </p:spPr>
        <p:txBody>
          <a:bodyPr wrap="square" lIns="0" tIns="0" rIns="0" bIns="0" rtlCol="0" anchor="ctr"/>
          <a:lstStyle/>
          <a:p>
            <a:pPr algn="ctr" indent="0" marL="0">
              <a:buNone/>
            </a:pPr>
            <a:r>
              <a:rPr lang="en-US" sz="780" i="1" dirty="0">
                <a:solidFill>
                  <a:srgbClr val="CE3D64"/>
                </a:solidFill>
                <a:latin typeface="Calibri" pitchFamily="34" charset="0"/>
                <a:ea typeface="Calibri" pitchFamily="34" charset="-122"/>
                <a:cs typeface="Calibri" pitchFamily="34" charset="-120"/>
              </a:rPr>
              <a:t>re-extract on a real disagreement</a:t>
            </a:r>
            <a:endParaRPr lang="en-US" sz="780" dirty="0"/>
          </a:p>
        </p:txBody>
      </p:sp>
      <p:sp>
        <p:nvSpPr>
          <p:cNvPr id="32" name="Shape 24"/>
          <p:cNvSpPr/>
          <p:nvPr/>
        </p:nvSpPr>
        <p:spPr>
          <a:xfrm>
            <a:off x="594360" y="4041648"/>
            <a:ext cx="3017520" cy="731520"/>
          </a:xfrm>
          <a:prstGeom prst="roundRect">
            <a:avLst>
              <a:gd name="adj" fmla="val 12500"/>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3" name="Image 6" descr="preencoded.png">    </p:cNvPr>
          <p:cNvPicPr>
            <a:picLocks noChangeAspect="1"/>
          </p:cNvPicPr>
          <p:nvPr/>
        </p:nvPicPr>
        <p:blipFill>
          <a:blip r:embed="rId7"/>
          <a:stretch>
            <a:fillRect/>
          </a:stretch>
        </p:blipFill>
        <p:spPr>
          <a:xfrm>
            <a:off x="713232" y="4142232"/>
            <a:ext cx="182880" cy="182880"/>
          </a:xfrm>
          <a:prstGeom prst="rect">
            <a:avLst/>
          </a:prstGeom>
        </p:spPr>
      </p:pic>
      <p:sp>
        <p:nvSpPr>
          <p:cNvPr id="34" name="Text 25"/>
          <p:cNvSpPr txBox="1"/>
          <p:nvPr/>
        </p:nvSpPr>
        <p:spPr>
          <a:xfrm>
            <a:off x="685800" y="4041648"/>
            <a:ext cx="2834640" cy="73152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“Not disclosed”, explicitly</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the no-evidence short circuit — zero LLM calls</a:t>
            </a:r>
            <a:endParaRPr lang="en-US" sz="1050" dirty="0"/>
          </a:p>
        </p:txBody>
      </p:sp>
      <p:sp>
        <p:nvSpPr>
          <p:cNvPr id="35" name="Shape 26"/>
          <p:cNvSpPr/>
          <p:nvPr/>
        </p:nvSpPr>
        <p:spPr>
          <a:xfrm>
            <a:off x="4343400" y="4041648"/>
            <a:ext cx="3337560" cy="731520"/>
          </a:xfrm>
          <a:prstGeom prst="roundRect">
            <a:avLst>
              <a:gd name="adj" fmla="val 12500"/>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6" name="Image 7" descr="preencoded.png">    </p:cNvPr>
          <p:cNvPicPr>
            <a:picLocks noChangeAspect="1"/>
          </p:cNvPicPr>
          <p:nvPr/>
        </p:nvPicPr>
        <p:blipFill>
          <a:blip r:embed="rId8"/>
          <a:stretch>
            <a:fillRect/>
          </a:stretch>
        </p:blipFill>
        <p:spPr>
          <a:xfrm>
            <a:off x="4462272" y="4142232"/>
            <a:ext cx="182880" cy="182880"/>
          </a:xfrm>
          <a:prstGeom prst="rect">
            <a:avLst/>
          </a:prstGeom>
        </p:spPr>
      </p:pic>
      <p:sp>
        <p:nvSpPr>
          <p:cNvPr id="37" name="Text 27"/>
          <p:cNvSpPr txBox="1"/>
          <p:nvPr/>
        </p:nvSpPr>
        <p:spPr>
          <a:xfrm>
            <a:off x="4434840" y="4041648"/>
            <a:ext cx="3154680" cy="73152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results.jsonl + provenance</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value, citation, confidence, both model names</a:t>
            </a:r>
            <a:endParaRPr lang="en-US" sz="1050" dirty="0"/>
          </a:p>
        </p:txBody>
      </p:sp>
      <p:sp>
        <p:nvSpPr>
          <p:cNvPr id="38" name="Shape 28"/>
          <p:cNvSpPr/>
          <p:nvPr/>
        </p:nvSpPr>
        <p:spPr>
          <a:xfrm>
            <a:off x="8366760" y="4041648"/>
            <a:ext cx="3227832" cy="731520"/>
          </a:xfrm>
          <a:prstGeom prst="roundRect">
            <a:avLst>
              <a:gd name="adj" fmla="val 12500"/>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39" name="Image 8" descr="preencoded.png">    </p:cNvPr>
          <p:cNvPicPr>
            <a:picLocks noChangeAspect="1"/>
          </p:cNvPicPr>
          <p:nvPr/>
        </p:nvPicPr>
        <p:blipFill>
          <a:blip r:embed="rId9"/>
          <a:stretch>
            <a:fillRect/>
          </a:stretch>
        </p:blipFill>
        <p:spPr>
          <a:xfrm>
            <a:off x="8485632" y="4142232"/>
            <a:ext cx="182880" cy="182880"/>
          </a:xfrm>
          <a:prstGeom prst="rect">
            <a:avLst/>
          </a:prstGeom>
        </p:spPr>
      </p:pic>
      <p:sp>
        <p:nvSpPr>
          <p:cNvPr id="40" name="Text 29"/>
          <p:cNvSpPr txBox="1"/>
          <p:nvPr/>
        </p:nvSpPr>
        <p:spPr>
          <a:xfrm>
            <a:off x="8458200" y="4041648"/>
            <a:ext cx="3044952" cy="731520"/>
          </a:xfrm>
          <a:prstGeom prst="rect">
            <a:avLst/>
          </a:prstGeom>
          <a:noFill/>
          <a:ln/>
        </p:spPr>
        <p:txBody>
          <a:bodyPr wrap="square" lIns="0" tIns="0" rIns="0" bIns="0" rtlCol="0" anchor="ctr"/>
          <a:lstStyle/>
          <a:p>
            <a:pPr algn="ctr" indent="0" marL="0">
              <a:lnSpc>
                <a:spcPct val="104000"/>
              </a:lnSpc>
              <a:buNone/>
            </a:pPr>
            <a:r>
              <a:rPr lang="en-US" sz="1050" b="1" dirty="0">
                <a:solidFill>
                  <a:srgbClr val="68182F"/>
                </a:solidFill>
                <a:latin typeface="Calibri" pitchFamily="34" charset="0"/>
                <a:ea typeface="Calibri" pitchFamily="34" charset="-122"/>
                <a:cs typeface="Calibri" pitchFamily="34" charset="-120"/>
              </a:rPr>
              <a:t>Review queue → audit trail</a:t>
            </a:r>
            <a:endParaRPr lang="en-US" sz="1050" dirty="0"/>
          </a:p>
          <a:p>
            <a:pPr algn="ctr" indent="0" marL="0">
              <a:lnSpc>
                <a:spcPct val="104000"/>
              </a:lnSpc>
              <a:buNone/>
            </a:pPr>
            <a:r>
              <a:rPr lang="en-US" sz="800" dirty="0">
                <a:solidFill>
                  <a:srgbClr val="68182F"/>
                </a:solidFill>
                <a:latin typeface="Calibri" pitchFamily="34" charset="0"/>
                <a:ea typeface="Calibri" pitchFamily="34" charset="-122"/>
                <a:cs typeface="Calibri" pitchFamily="34" charset="-120"/>
              </a:rPr>
              <a:t>approve, override or reject — appended, never overwritten</a:t>
            </a:r>
            <a:endParaRPr lang="en-US" sz="1050" dirty="0"/>
          </a:p>
        </p:txBody>
      </p:sp>
      <p:sp>
        <p:nvSpPr>
          <p:cNvPr id="41" name="Shape 30"/>
          <p:cNvSpPr/>
          <p:nvPr/>
        </p:nvSpPr>
        <p:spPr>
          <a:xfrm>
            <a:off x="3821278" y="3108960"/>
            <a:ext cx="0" cy="365760"/>
          </a:xfrm>
          <a:prstGeom prst="line">
            <a:avLst/>
          </a:prstGeom>
          <a:noFill/>
          <a:ln w="16510">
            <a:solidFill>
              <a:srgbClr val="2F8F48"/>
            </a:solidFill>
            <a:prstDash val="solid"/>
            <a:headEnd type="none"/>
            <a:tailEnd type="none"/>
          </a:ln>
        </p:spPr>
      </p:sp>
      <p:sp>
        <p:nvSpPr>
          <p:cNvPr id="42" name="Shape 31"/>
          <p:cNvSpPr/>
          <p:nvPr/>
        </p:nvSpPr>
        <p:spPr>
          <a:xfrm flipH="1">
            <a:off x="2103120" y="3474720"/>
            <a:ext cx="1718158" cy="0"/>
          </a:xfrm>
          <a:prstGeom prst="line">
            <a:avLst/>
          </a:prstGeom>
          <a:noFill/>
          <a:ln w="16510">
            <a:solidFill>
              <a:srgbClr val="2F8F48"/>
            </a:solidFill>
            <a:prstDash val="solid"/>
            <a:headEnd type="none"/>
            <a:tailEnd type="none"/>
          </a:ln>
        </p:spPr>
      </p:sp>
      <p:sp>
        <p:nvSpPr>
          <p:cNvPr id="43" name="Shape 32"/>
          <p:cNvSpPr/>
          <p:nvPr/>
        </p:nvSpPr>
        <p:spPr>
          <a:xfrm>
            <a:off x="2103120" y="3474720"/>
            <a:ext cx="0" cy="530352"/>
          </a:xfrm>
          <a:prstGeom prst="line">
            <a:avLst/>
          </a:prstGeom>
          <a:noFill/>
          <a:ln w="16510">
            <a:solidFill>
              <a:srgbClr val="2F8F48"/>
            </a:solidFill>
            <a:prstDash val="solid"/>
            <a:headEnd type="none"/>
            <a:tailEnd type="triangle"/>
          </a:ln>
        </p:spPr>
      </p:sp>
      <p:sp>
        <p:nvSpPr>
          <p:cNvPr id="44" name="Text 33"/>
          <p:cNvSpPr txBox="1"/>
          <p:nvPr/>
        </p:nvSpPr>
        <p:spPr>
          <a:xfrm>
            <a:off x="2194560" y="3255264"/>
            <a:ext cx="2011680" cy="182880"/>
          </a:xfrm>
          <a:prstGeom prst="rect">
            <a:avLst/>
          </a:prstGeom>
          <a:noFill/>
          <a:ln/>
        </p:spPr>
        <p:txBody>
          <a:bodyPr wrap="square" lIns="0" tIns="0" rIns="0" bIns="0" rtlCol="0" anchor="ctr"/>
          <a:lstStyle/>
          <a:p>
            <a:pPr algn="l" indent="0" marL="0">
              <a:buNone/>
            </a:pPr>
            <a:r>
              <a:rPr lang="en-US" sz="780" i="1" dirty="0">
                <a:solidFill>
                  <a:srgbClr val="2F8F48"/>
                </a:solidFill>
                <a:latin typeface="Calibri" pitchFamily="34" charset="0"/>
                <a:ea typeface="Calibri" pitchFamily="34" charset="-122"/>
                <a:cs typeface="Calibri" pitchFamily="34" charset="-120"/>
              </a:rPr>
              <a:t>no evidence found</a:t>
            </a:r>
            <a:endParaRPr lang="en-US" sz="780" dirty="0"/>
          </a:p>
        </p:txBody>
      </p:sp>
      <p:sp>
        <p:nvSpPr>
          <p:cNvPr id="45" name="Shape 34"/>
          <p:cNvSpPr/>
          <p:nvPr/>
        </p:nvSpPr>
        <p:spPr>
          <a:xfrm>
            <a:off x="10229393" y="3108960"/>
            <a:ext cx="0" cy="621792"/>
          </a:xfrm>
          <a:prstGeom prst="line">
            <a:avLst/>
          </a:prstGeom>
          <a:noFill/>
          <a:ln w="17780">
            <a:solidFill>
              <a:srgbClr val="2F8F48"/>
            </a:solidFill>
            <a:prstDash val="solid"/>
            <a:headEnd type="none"/>
            <a:tailEnd type="none"/>
          </a:ln>
        </p:spPr>
      </p:sp>
      <p:sp>
        <p:nvSpPr>
          <p:cNvPr id="46" name="Shape 35"/>
          <p:cNvSpPr/>
          <p:nvPr/>
        </p:nvSpPr>
        <p:spPr>
          <a:xfrm flipH="1">
            <a:off x="6007608" y="3730752"/>
            <a:ext cx="4221785" cy="0"/>
          </a:xfrm>
          <a:prstGeom prst="line">
            <a:avLst/>
          </a:prstGeom>
          <a:noFill/>
          <a:ln w="17780">
            <a:solidFill>
              <a:srgbClr val="2F8F48"/>
            </a:solidFill>
            <a:prstDash val="solid"/>
            <a:headEnd type="none"/>
            <a:tailEnd type="none"/>
          </a:ln>
        </p:spPr>
      </p:sp>
      <p:sp>
        <p:nvSpPr>
          <p:cNvPr id="47" name="Shape 36"/>
          <p:cNvSpPr/>
          <p:nvPr/>
        </p:nvSpPr>
        <p:spPr>
          <a:xfrm>
            <a:off x="6007608" y="3730752"/>
            <a:ext cx="0" cy="274320"/>
          </a:xfrm>
          <a:prstGeom prst="line">
            <a:avLst/>
          </a:prstGeom>
          <a:noFill/>
          <a:ln w="17780">
            <a:solidFill>
              <a:srgbClr val="2F8F48"/>
            </a:solidFill>
            <a:prstDash val="solid"/>
            <a:headEnd type="none"/>
            <a:tailEnd type="triangle"/>
          </a:ln>
        </p:spPr>
      </p:sp>
      <p:sp>
        <p:nvSpPr>
          <p:cNvPr id="48" name="Text 37"/>
          <p:cNvSpPr txBox="1"/>
          <p:nvPr/>
        </p:nvSpPr>
        <p:spPr>
          <a:xfrm>
            <a:off x="7040880" y="3511296"/>
            <a:ext cx="1280160" cy="182880"/>
          </a:xfrm>
          <a:prstGeom prst="rect">
            <a:avLst/>
          </a:prstGeom>
          <a:noFill/>
          <a:ln/>
        </p:spPr>
        <p:txBody>
          <a:bodyPr wrap="square" lIns="0" tIns="0" rIns="0" bIns="0" rtlCol="0" anchor="ctr"/>
          <a:lstStyle/>
          <a:p>
            <a:pPr algn="l" indent="0" marL="0">
              <a:buNone/>
            </a:pPr>
            <a:r>
              <a:rPr lang="en-US" sz="780" i="1" dirty="0">
                <a:solidFill>
                  <a:srgbClr val="2F8F48"/>
                </a:solidFill>
                <a:latin typeface="Calibri" pitchFamily="34" charset="0"/>
                <a:ea typeface="Calibri" pitchFamily="34" charset="-122"/>
                <a:cs typeface="Calibri" pitchFamily="34" charset="-120"/>
              </a:rPr>
              <a:t>grounded</a:t>
            </a:r>
            <a:endParaRPr lang="en-US" sz="780" dirty="0"/>
          </a:p>
        </p:txBody>
      </p:sp>
      <p:sp>
        <p:nvSpPr>
          <p:cNvPr id="49" name="Shape 38"/>
          <p:cNvSpPr/>
          <p:nvPr/>
        </p:nvSpPr>
        <p:spPr>
          <a:xfrm>
            <a:off x="11052353" y="3108960"/>
            <a:ext cx="0" cy="365760"/>
          </a:xfrm>
          <a:prstGeom prst="line">
            <a:avLst/>
          </a:prstGeom>
          <a:noFill/>
          <a:ln w="17780">
            <a:solidFill>
              <a:srgbClr val="CE3D64"/>
            </a:solidFill>
            <a:prstDash val="solid"/>
            <a:headEnd type="none"/>
            <a:tailEnd type="none"/>
          </a:ln>
        </p:spPr>
      </p:sp>
      <p:sp>
        <p:nvSpPr>
          <p:cNvPr id="50" name="Shape 39"/>
          <p:cNvSpPr/>
          <p:nvPr/>
        </p:nvSpPr>
        <p:spPr>
          <a:xfrm flipH="1">
            <a:off x="9966960" y="3474720"/>
            <a:ext cx="1085393" cy="0"/>
          </a:xfrm>
          <a:prstGeom prst="line">
            <a:avLst/>
          </a:prstGeom>
          <a:noFill/>
          <a:ln w="17780">
            <a:solidFill>
              <a:srgbClr val="CE3D64"/>
            </a:solidFill>
            <a:prstDash val="solid"/>
            <a:headEnd type="none"/>
            <a:tailEnd type="none"/>
          </a:ln>
        </p:spPr>
      </p:sp>
      <p:sp>
        <p:nvSpPr>
          <p:cNvPr id="51" name="Shape 40"/>
          <p:cNvSpPr/>
          <p:nvPr/>
        </p:nvSpPr>
        <p:spPr>
          <a:xfrm>
            <a:off x="9966960" y="3474720"/>
            <a:ext cx="0" cy="530352"/>
          </a:xfrm>
          <a:prstGeom prst="line">
            <a:avLst/>
          </a:prstGeom>
          <a:noFill/>
          <a:ln w="17780">
            <a:solidFill>
              <a:srgbClr val="CE3D64"/>
            </a:solidFill>
            <a:prstDash val="solid"/>
            <a:headEnd type="none"/>
            <a:tailEnd type="triangle"/>
          </a:ln>
        </p:spPr>
      </p:sp>
      <p:sp>
        <p:nvSpPr>
          <p:cNvPr id="52" name="Text 41"/>
          <p:cNvSpPr txBox="1"/>
          <p:nvPr/>
        </p:nvSpPr>
        <p:spPr>
          <a:xfrm>
            <a:off x="8229600" y="3255264"/>
            <a:ext cx="2377440" cy="182880"/>
          </a:xfrm>
          <a:prstGeom prst="rect">
            <a:avLst/>
          </a:prstGeom>
          <a:noFill/>
          <a:ln/>
        </p:spPr>
        <p:txBody>
          <a:bodyPr wrap="square" lIns="0" tIns="0" rIns="0" bIns="0" rtlCol="0" anchor="ctr"/>
          <a:lstStyle/>
          <a:p>
            <a:pPr algn="r" indent="0" marL="0">
              <a:buNone/>
            </a:pPr>
            <a:r>
              <a:rPr lang="en-US" sz="780" i="1" dirty="0">
                <a:solidFill>
                  <a:srgbClr val="CE3D64"/>
                </a:solidFill>
                <a:latin typeface="Calibri" pitchFamily="34" charset="0"/>
                <a:ea typeface="Calibri" pitchFamily="34" charset="-122"/>
                <a:cs typeface="Calibri" pitchFamily="34" charset="-120"/>
              </a:rPr>
              <a:t>ungrounded · low confidence · disputed</a:t>
            </a:r>
            <a:endParaRPr lang="en-US" sz="780" dirty="0"/>
          </a:p>
        </p:txBody>
      </p:sp>
      <p:sp>
        <p:nvSpPr>
          <p:cNvPr id="53" name="Shape 42"/>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54" name="Text 43"/>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55" name="Text 44"/>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arp/extraction/{pipeline,field_graph}.py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arp/extraction/{extractor,verifier}_agent.py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arp/retrieval/select_evidence.py · arp/grounding.py</a:t>
            </a:r>
            <a:endParaRPr lang="en-US" sz="860" dirty="0"/>
          </a:p>
        </p:txBody>
      </p:sp>
      <p:sp>
        <p:nvSpPr>
          <p:cNvPr id="56" name="Shape 45"/>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57" name="Text 46"/>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8" name="Text 47"/>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company universe + a DataPointSchema.</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ExtractionRecord per company — fields, citations,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confidence, provenance.</a:t>
            </a:r>
            <a:endParaRPr lang="en-US" sz="860" dirty="0"/>
          </a:p>
        </p:txBody>
      </p:sp>
      <p:sp>
        <p:nvSpPr>
          <p:cNvPr id="59" name="Shape 48"/>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60" name="Text 49"/>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61" name="Text 50"/>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Extractor and verifier models are different by config.</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“Not found” always beats an inferred value.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 golden set replays the real pipeline before a prompt ships.</a:t>
            </a:r>
            <a:endParaRPr lang="en-US" sz="8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02   ·   THEMATIC UNIVERSE BUILDER</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Emerging Theme Detector</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From a macro theme to a ratified set of business activities — and the companies that actually do the work.</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594360" y="1463040"/>
            <a:ext cx="2971800" cy="201168"/>
          </a:xfrm>
          <a:prstGeom prst="rect">
            <a:avLst/>
          </a:prstGeom>
          <a:noFill/>
          <a:ln/>
        </p:spPr>
        <p:txBody>
          <a:bodyPr wrap="square" lIns="0" tIns="0" rIns="0" bIns="0" rtlCol="0" anchor="ctr"/>
          <a:lstStyle/>
          <a:p>
            <a:pPr algn="ctr" indent="0" marL="0">
              <a:buNone/>
            </a:pPr>
            <a:r>
              <a:rPr lang="en-US" sz="900" b="1" spc="140" kern="0" dirty="0">
                <a:solidFill>
                  <a:srgbClr val="2F6FD0"/>
                </a:solidFill>
                <a:latin typeface="Calibri" pitchFamily="34" charset="0"/>
                <a:ea typeface="Calibri" pitchFamily="34" charset="-122"/>
                <a:cs typeface="Calibri" pitchFamily="34" charset="-120"/>
              </a:rPr>
              <a:t>HOW THE BOUNDARY IS DRAWN</a:t>
            </a:r>
            <a:endParaRPr lang="en-US" sz="900" dirty="0"/>
          </a:p>
        </p:txBody>
      </p:sp>
      <p:sp>
        <p:nvSpPr>
          <p:cNvPr id="8" name="Shape 5"/>
          <p:cNvSpPr/>
          <p:nvPr/>
        </p:nvSpPr>
        <p:spPr>
          <a:xfrm>
            <a:off x="594360" y="1737360"/>
            <a:ext cx="2971800"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9" name="Shape 6"/>
          <p:cNvSpPr/>
          <p:nvPr/>
        </p:nvSpPr>
        <p:spPr>
          <a:xfrm>
            <a:off x="731520" y="1920240"/>
            <a:ext cx="384048" cy="384048"/>
          </a:xfrm>
          <a:prstGeom prst="roundRect">
            <a:avLst>
              <a:gd name="adj" fmla="val 23810"/>
            </a:avLst>
          </a:prstGeom>
          <a:solidFill>
            <a:srgbClr val="2F6FD0"/>
          </a:solidFill>
          <a:ln/>
        </p:spPr>
      </p:sp>
      <p:pic>
        <p:nvPicPr>
          <p:cNvPr id="10" name="Image 1" descr="preencoded.png">    </p:cNvPr>
          <p:cNvPicPr>
            <a:picLocks noChangeAspect="1"/>
          </p:cNvPicPr>
          <p:nvPr/>
        </p:nvPicPr>
        <p:blipFill>
          <a:blip r:embed="rId2"/>
          <a:stretch>
            <a:fillRect/>
          </a:stretch>
        </p:blipFill>
        <p:spPr>
          <a:xfrm>
            <a:off x="816011" y="2004731"/>
            <a:ext cx="215067" cy="215067"/>
          </a:xfrm>
          <a:prstGeom prst="rect">
            <a:avLst/>
          </a:prstGeom>
        </p:spPr>
      </p:pic>
      <p:sp>
        <p:nvSpPr>
          <p:cNvPr id="11" name="Text 7"/>
          <p:cNvSpPr txBox="1"/>
          <p:nvPr/>
        </p:nvSpPr>
        <p:spPr>
          <a:xfrm>
            <a:off x="1252728" y="1737360"/>
            <a:ext cx="2203704" cy="749808"/>
          </a:xfrm>
          <a:prstGeom prst="rect">
            <a:avLst/>
          </a:prstGeom>
          <a:noFill/>
          <a:ln/>
        </p:spPr>
        <p:txBody>
          <a:bodyPr wrap="square" lIns="0" tIns="0" rIns="0" bIns="0" rtlCol="0" anchor="ctr"/>
          <a:lstStyle/>
          <a:p>
            <a:pPr algn="l" indent="0" marL="0">
              <a:lnSpc>
                <a:spcPct val="104000"/>
              </a:lnSpc>
              <a:buNone/>
            </a:pPr>
            <a:r>
              <a:rPr lang="en-US" sz="800" b="1" spc="110" kern="0" dirty="0">
                <a:solidFill>
                  <a:srgbClr val="2F6FD0"/>
                </a:solidFill>
                <a:latin typeface="Calibri" pitchFamily="34" charset="0"/>
                <a:ea typeface="Calibri" pitchFamily="34" charset="-122"/>
                <a:cs typeface="Calibri" pitchFamily="34" charset="-120"/>
              </a:rPr>
              <a:t>TOP-DOWN</a:t>
            </a:r>
            <a:endParaRPr lang="en-US" sz="800" dirty="0"/>
          </a:p>
          <a:p>
            <a:pPr algn="l" indent="0" marL="0">
              <a:lnSpc>
                <a:spcPct val="104000"/>
              </a:lnSpc>
              <a:buNone/>
            </a:pPr>
            <a:r>
              <a:rPr lang="en-US" sz="950" b="1" dirty="0">
                <a:solidFill>
                  <a:srgbClr val="153A61"/>
                </a:solidFill>
                <a:latin typeface="Calibri" pitchFamily="34" charset="0"/>
                <a:ea typeface="Calibri" pitchFamily="34" charset="-122"/>
                <a:cs typeface="Calibri" pitchFamily="34" charset="-120"/>
              </a:rPr>
              <a:t>llm draft · industry-anchored · authority document</a:t>
            </a:r>
            <a:endParaRPr lang="en-US" sz="800" dirty="0"/>
          </a:p>
        </p:txBody>
      </p:sp>
      <p:sp>
        <p:nvSpPr>
          <p:cNvPr id="12" name="Shape 8"/>
          <p:cNvSpPr/>
          <p:nvPr/>
        </p:nvSpPr>
        <p:spPr>
          <a:xfrm>
            <a:off x="3611880" y="2112264"/>
            <a:ext cx="320040" cy="950976"/>
          </a:xfrm>
          <a:prstGeom prst="line">
            <a:avLst/>
          </a:prstGeom>
          <a:noFill/>
          <a:ln w="16510">
            <a:solidFill>
              <a:srgbClr val="2F6FD0"/>
            </a:solidFill>
            <a:prstDash val="solid"/>
            <a:headEnd type="none"/>
            <a:tailEnd type="triangle"/>
          </a:ln>
        </p:spPr>
      </p:sp>
      <p:sp>
        <p:nvSpPr>
          <p:cNvPr id="13" name="Shape 9"/>
          <p:cNvSpPr/>
          <p:nvPr/>
        </p:nvSpPr>
        <p:spPr>
          <a:xfrm>
            <a:off x="594360" y="2670048"/>
            <a:ext cx="2971800"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14" name="Shape 10"/>
          <p:cNvSpPr/>
          <p:nvPr/>
        </p:nvSpPr>
        <p:spPr>
          <a:xfrm>
            <a:off x="731520" y="2852928"/>
            <a:ext cx="384048" cy="384048"/>
          </a:xfrm>
          <a:prstGeom prst="roundRect">
            <a:avLst>
              <a:gd name="adj" fmla="val 23810"/>
            </a:avLst>
          </a:prstGeom>
          <a:solidFill>
            <a:srgbClr val="6D4DD1"/>
          </a:solidFill>
          <a:ln/>
        </p:spPr>
      </p:sp>
      <p:pic>
        <p:nvPicPr>
          <p:cNvPr id="15" name="Image 2" descr="preencoded.png">    </p:cNvPr>
          <p:cNvPicPr>
            <a:picLocks noChangeAspect="1"/>
          </p:cNvPicPr>
          <p:nvPr/>
        </p:nvPicPr>
        <p:blipFill>
          <a:blip r:embed="rId3"/>
          <a:stretch>
            <a:fillRect/>
          </a:stretch>
        </p:blipFill>
        <p:spPr>
          <a:xfrm>
            <a:off x="816011" y="2937419"/>
            <a:ext cx="215067" cy="215067"/>
          </a:xfrm>
          <a:prstGeom prst="rect">
            <a:avLst/>
          </a:prstGeom>
        </p:spPr>
      </p:pic>
      <p:sp>
        <p:nvSpPr>
          <p:cNvPr id="16" name="Text 11"/>
          <p:cNvSpPr txBox="1"/>
          <p:nvPr/>
        </p:nvSpPr>
        <p:spPr>
          <a:xfrm>
            <a:off x="1252728" y="2670048"/>
            <a:ext cx="2203704" cy="749808"/>
          </a:xfrm>
          <a:prstGeom prst="rect">
            <a:avLst/>
          </a:prstGeom>
          <a:noFill/>
          <a:ln/>
        </p:spPr>
        <p:txBody>
          <a:bodyPr wrap="square" lIns="0" tIns="0" rIns="0" bIns="0" rtlCol="0" anchor="ctr"/>
          <a:lstStyle/>
          <a:p>
            <a:pPr algn="l" indent="0" marL="0">
              <a:lnSpc>
                <a:spcPct val="104000"/>
              </a:lnSpc>
              <a:buNone/>
            </a:pPr>
            <a:r>
              <a:rPr lang="en-US" sz="800" b="1" spc="110" kern="0" dirty="0">
                <a:solidFill>
                  <a:srgbClr val="6D4DD1"/>
                </a:solidFill>
                <a:latin typeface="Calibri" pitchFamily="34" charset="0"/>
                <a:ea typeface="Calibri" pitchFamily="34" charset="-122"/>
                <a:cs typeface="Calibri" pitchFamily="34" charset="-120"/>
              </a:rPr>
              <a:t>BOTTOM-UP</a:t>
            </a:r>
            <a:endParaRPr lang="en-US" sz="800" dirty="0"/>
          </a:p>
          <a:p>
            <a:pPr algn="l" indent="0" marL="0">
              <a:lnSpc>
                <a:spcPct val="104000"/>
              </a:lnSpc>
              <a:buNone/>
            </a:pPr>
            <a:r>
              <a:rPr lang="en-US" sz="950" b="1" dirty="0">
                <a:solidFill>
                  <a:srgbClr val="35236E"/>
                </a:solidFill>
                <a:latin typeface="Calibri" pitchFamily="34" charset="0"/>
                <a:ea typeface="Calibri" pitchFamily="34" charset="-122"/>
                <a:cs typeface="Calibri" pitchFamily="34" charset="-120"/>
              </a:rPr>
              <a:t>ETF holdings · news &amp; transcripts · empirical extraction</a:t>
            </a:r>
            <a:endParaRPr lang="en-US" sz="800" dirty="0"/>
          </a:p>
        </p:txBody>
      </p:sp>
      <p:sp>
        <p:nvSpPr>
          <p:cNvPr id="17" name="Shape 12"/>
          <p:cNvSpPr/>
          <p:nvPr/>
        </p:nvSpPr>
        <p:spPr>
          <a:xfrm>
            <a:off x="3611880" y="3044952"/>
            <a:ext cx="320040" cy="18288"/>
          </a:xfrm>
          <a:prstGeom prst="line">
            <a:avLst/>
          </a:prstGeom>
          <a:noFill/>
          <a:ln w="16510">
            <a:solidFill>
              <a:srgbClr val="2F6FD0"/>
            </a:solidFill>
            <a:prstDash val="solid"/>
            <a:headEnd type="none"/>
            <a:tailEnd type="triangle"/>
          </a:ln>
        </p:spPr>
      </p:sp>
      <p:sp>
        <p:nvSpPr>
          <p:cNvPr id="18" name="Shape 13"/>
          <p:cNvSpPr/>
          <p:nvPr/>
        </p:nvSpPr>
        <p:spPr>
          <a:xfrm>
            <a:off x="594360" y="3602736"/>
            <a:ext cx="2971800"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19" name="Shape 14"/>
          <p:cNvSpPr/>
          <p:nvPr/>
        </p:nvSpPr>
        <p:spPr>
          <a:xfrm>
            <a:off x="731520" y="3785616"/>
            <a:ext cx="384048" cy="384048"/>
          </a:xfrm>
          <a:prstGeom prst="roundRect">
            <a:avLst>
              <a:gd name="adj" fmla="val 23810"/>
            </a:avLst>
          </a:prstGeom>
          <a:solidFill>
            <a:srgbClr val="108494"/>
          </a:solidFill>
          <a:ln/>
        </p:spPr>
      </p:sp>
      <p:pic>
        <p:nvPicPr>
          <p:cNvPr id="20" name="Image 3" descr="preencoded.png">    </p:cNvPr>
          <p:cNvPicPr>
            <a:picLocks noChangeAspect="1"/>
          </p:cNvPicPr>
          <p:nvPr/>
        </p:nvPicPr>
        <p:blipFill>
          <a:blip r:embed="rId4"/>
          <a:stretch>
            <a:fillRect/>
          </a:stretch>
        </p:blipFill>
        <p:spPr>
          <a:xfrm>
            <a:off x="816011" y="3870107"/>
            <a:ext cx="215067" cy="215067"/>
          </a:xfrm>
          <a:prstGeom prst="rect">
            <a:avLst/>
          </a:prstGeom>
        </p:spPr>
      </p:pic>
      <p:sp>
        <p:nvSpPr>
          <p:cNvPr id="21" name="Text 15"/>
          <p:cNvSpPr txBox="1"/>
          <p:nvPr/>
        </p:nvSpPr>
        <p:spPr>
          <a:xfrm>
            <a:off x="1252728" y="3602736"/>
            <a:ext cx="2203704" cy="749808"/>
          </a:xfrm>
          <a:prstGeom prst="rect">
            <a:avLst/>
          </a:prstGeom>
          <a:noFill/>
          <a:ln/>
        </p:spPr>
        <p:txBody>
          <a:bodyPr wrap="square" lIns="0" tIns="0" rIns="0" bIns="0" rtlCol="0" anchor="ctr"/>
          <a:lstStyle/>
          <a:p>
            <a:pPr algn="l" indent="0" marL="0">
              <a:lnSpc>
                <a:spcPct val="104000"/>
              </a:lnSpc>
              <a:buNone/>
            </a:pPr>
            <a:r>
              <a:rPr lang="en-US" sz="800" b="1" spc="110" kern="0" dirty="0">
                <a:solidFill>
                  <a:srgbClr val="108494"/>
                </a:solidFill>
                <a:latin typeface="Calibri" pitchFamily="34" charset="0"/>
                <a:ea typeface="Calibri" pitchFamily="34" charset="-122"/>
                <a:cs typeface="Calibri" pitchFamily="34" charset="-120"/>
              </a:rPr>
              <a:t>RECONCILED</a:t>
            </a:r>
            <a:endParaRPr lang="en-US" sz="800" dirty="0"/>
          </a:p>
          <a:p>
            <a:pPr algn="l" indent="0" marL="0">
              <a:lnSpc>
                <a:spcPct val="104000"/>
              </a:lnSpc>
              <a:buNone/>
            </a:pPr>
            <a:r>
              <a:rPr lang="en-US" sz="950" b="1" dirty="0">
                <a:solidFill>
                  <a:srgbClr val="0A4451"/>
                </a:solidFill>
                <a:latin typeface="Calibri" pitchFamily="34" charset="0"/>
                <a:ea typeface="Calibri" pitchFamily="34" charset="-122"/>
                <a:cs typeface="Calibri" pitchFamily="34" charset="-120"/>
              </a:rPr>
              <a:t>compare and merge two saved taxonomies</a:t>
            </a:r>
            <a:endParaRPr lang="en-US" sz="800" dirty="0"/>
          </a:p>
        </p:txBody>
      </p:sp>
      <p:sp>
        <p:nvSpPr>
          <p:cNvPr id="22" name="Shape 16"/>
          <p:cNvSpPr/>
          <p:nvPr/>
        </p:nvSpPr>
        <p:spPr>
          <a:xfrm flipV="1">
            <a:off x="3611880" y="3063240"/>
            <a:ext cx="320040" cy="914400"/>
          </a:xfrm>
          <a:prstGeom prst="line">
            <a:avLst/>
          </a:prstGeom>
          <a:noFill/>
          <a:ln w="16510">
            <a:solidFill>
              <a:srgbClr val="2F6FD0"/>
            </a:solidFill>
            <a:prstDash val="solid"/>
            <a:headEnd type="none"/>
            <a:tailEnd type="triangle"/>
          </a:ln>
        </p:spPr>
      </p:sp>
      <p:sp>
        <p:nvSpPr>
          <p:cNvPr id="23" name="Shape 17"/>
          <p:cNvSpPr/>
          <p:nvPr/>
        </p:nvSpPr>
        <p:spPr>
          <a:xfrm>
            <a:off x="3977640" y="2331720"/>
            <a:ext cx="2286000" cy="1463040"/>
          </a:xfrm>
          <a:prstGeom prst="roundRect">
            <a:avLst>
              <a:gd name="adj" fmla="val 6250"/>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24" name="Shape 18"/>
          <p:cNvSpPr/>
          <p:nvPr/>
        </p:nvSpPr>
        <p:spPr>
          <a:xfrm>
            <a:off x="4919472" y="2478024"/>
            <a:ext cx="402336" cy="402336"/>
          </a:xfrm>
          <a:prstGeom prst="roundRect">
            <a:avLst>
              <a:gd name="adj" fmla="val 22727"/>
            </a:avLst>
          </a:prstGeom>
          <a:solidFill>
            <a:srgbClr val="2F8F48"/>
          </a:solidFill>
          <a:ln/>
        </p:spPr>
      </p:sp>
      <p:pic>
        <p:nvPicPr>
          <p:cNvPr id="25" name="Image 4" descr="preencoded.png">    </p:cNvPr>
          <p:cNvPicPr>
            <a:picLocks noChangeAspect="1"/>
          </p:cNvPicPr>
          <p:nvPr/>
        </p:nvPicPr>
        <p:blipFill>
          <a:blip r:embed="rId5"/>
          <a:stretch>
            <a:fillRect/>
          </a:stretch>
        </p:blipFill>
        <p:spPr>
          <a:xfrm>
            <a:off x="5007986" y="2566538"/>
            <a:ext cx="225308" cy="225308"/>
          </a:xfrm>
          <a:prstGeom prst="rect">
            <a:avLst/>
          </a:prstGeom>
        </p:spPr>
      </p:pic>
      <p:sp>
        <p:nvSpPr>
          <p:cNvPr id="26" name="Text 19"/>
          <p:cNvSpPr txBox="1"/>
          <p:nvPr/>
        </p:nvSpPr>
        <p:spPr>
          <a:xfrm>
            <a:off x="4069080" y="2581168"/>
            <a:ext cx="2103120" cy="1213592"/>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2F8F48"/>
                </a:solidFill>
                <a:latin typeface="Calibri" pitchFamily="34" charset="0"/>
                <a:ea typeface="Calibri" pitchFamily="34" charset="-122"/>
                <a:cs typeface="Calibri" pitchFamily="34" charset="-120"/>
              </a:rPr>
              <a:t>VERSIONED · RATIFIED</a:t>
            </a:r>
            <a:endParaRPr lang="en-US" sz="750" dirty="0"/>
          </a:p>
          <a:p>
            <a:pPr algn="ctr" indent="0" marL="0">
              <a:lnSpc>
                <a:spcPct val="104000"/>
              </a:lnSpc>
              <a:buNone/>
            </a:pPr>
            <a:r>
              <a:rPr lang="en-US" sz="1400" b="1" dirty="0">
                <a:solidFill>
                  <a:srgbClr val="17431F"/>
                </a:solidFill>
                <a:latin typeface="Calibri" pitchFamily="34" charset="0"/>
                <a:ea typeface="Calibri" pitchFamily="34" charset="-122"/>
                <a:cs typeface="Calibri" pitchFamily="34" charset="-120"/>
              </a:rPr>
              <a:t>Taxonomy</a:t>
            </a:r>
            <a:endParaRPr lang="en-US" sz="7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MECE activities, each with in-scope and out-of-scope wording, seed keywords and ISIC codes</a:t>
            </a:r>
            <a:endParaRPr lang="en-US" sz="750" dirty="0"/>
          </a:p>
        </p:txBody>
      </p:sp>
      <p:sp>
        <p:nvSpPr>
          <p:cNvPr id="27" name="Shape 20"/>
          <p:cNvSpPr/>
          <p:nvPr/>
        </p:nvSpPr>
        <p:spPr>
          <a:xfrm>
            <a:off x="6309360" y="3063240"/>
            <a:ext cx="777240" cy="0"/>
          </a:xfrm>
          <a:prstGeom prst="line">
            <a:avLst/>
          </a:prstGeom>
          <a:noFill/>
          <a:ln w="20320">
            <a:solidFill>
              <a:srgbClr val="2F8F48"/>
            </a:solidFill>
            <a:prstDash val="solid"/>
            <a:headEnd type="none"/>
            <a:tailEnd type="triangle"/>
          </a:ln>
        </p:spPr>
      </p:sp>
      <p:sp>
        <p:nvSpPr>
          <p:cNvPr id="28" name="Shape 21"/>
          <p:cNvSpPr/>
          <p:nvPr/>
        </p:nvSpPr>
        <p:spPr>
          <a:xfrm>
            <a:off x="7132320" y="1627632"/>
            <a:ext cx="4462272" cy="2926080"/>
          </a:xfrm>
          <a:prstGeom prst="roundRect">
            <a:avLst>
              <a:gd name="adj" fmla="val 1250"/>
            </a:avLst>
          </a:prstGeom>
          <a:solidFill>
            <a:srgbClr val="F7FAFC"/>
          </a:solidFill>
          <a:ln w="15875">
            <a:solidFill>
              <a:srgbClr val="9FB2C4"/>
            </a:solidFill>
            <a:prstDash val="dash"/>
          </a:ln>
        </p:spPr>
      </p:sp>
      <p:sp>
        <p:nvSpPr>
          <p:cNvPr id="29" name="Shape 22"/>
          <p:cNvSpPr/>
          <p:nvPr/>
        </p:nvSpPr>
        <p:spPr>
          <a:xfrm>
            <a:off x="7278624" y="1508760"/>
            <a:ext cx="2033626" cy="274320"/>
          </a:xfrm>
          <a:prstGeom prst="roundRect">
            <a:avLst>
              <a:gd name="adj" fmla="val 50000"/>
            </a:avLst>
          </a:prstGeom>
          <a:solidFill>
            <a:srgbClr val="64798F"/>
          </a:solidFill>
          <a:ln/>
        </p:spPr>
      </p:sp>
      <p:pic>
        <p:nvPicPr>
          <p:cNvPr id="30" name="Image 5" descr="preencoded.png">    </p:cNvPr>
          <p:cNvPicPr>
            <a:picLocks noChangeAspect="1"/>
          </p:cNvPicPr>
          <p:nvPr/>
        </p:nvPicPr>
        <p:blipFill>
          <a:blip r:embed="rId6"/>
          <a:stretch>
            <a:fillRect/>
          </a:stretch>
        </p:blipFill>
        <p:spPr>
          <a:xfrm>
            <a:off x="7397496" y="1577340"/>
            <a:ext cx="132588" cy="132588"/>
          </a:xfrm>
          <a:prstGeom prst="rect">
            <a:avLst/>
          </a:prstGeom>
        </p:spPr>
      </p:pic>
      <p:sp>
        <p:nvSpPr>
          <p:cNvPr id="31" name="Text 23"/>
          <p:cNvSpPr txBox="1"/>
          <p:nvPr/>
        </p:nvSpPr>
        <p:spPr>
          <a:xfrm>
            <a:off x="7552944" y="1508760"/>
            <a:ext cx="1759306"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PER COMPANY × ACTIVITY</a:t>
            </a:r>
            <a:endParaRPr lang="en-US" sz="850" dirty="0"/>
          </a:p>
        </p:txBody>
      </p:sp>
      <p:sp>
        <p:nvSpPr>
          <p:cNvPr id="32" name="Shape 24"/>
          <p:cNvSpPr/>
          <p:nvPr/>
        </p:nvSpPr>
        <p:spPr>
          <a:xfrm>
            <a:off x="7406640" y="1993392"/>
            <a:ext cx="3913632" cy="621792"/>
          </a:xfrm>
          <a:prstGeom prst="roundRect">
            <a:avLst>
              <a:gd name="adj" fmla="val 14706"/>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3" name="Shape 25"/>
          <p:cNvSpPr/>
          <p:nvPr/>
        </p:nvSpPr>
        <p:spPr>
          <a:xfrm>
            <a:off x="7543800" y="2148840"/>
            <a:ext cx="310896" cy="310896"/>
          </a:xfrm>
          <a:prstGeom prst="roundRect">
            <a:avLst>
              <a:gd name="adj" fmla="val 29412"/>
            </a:avLst>
          </a:prstGeom>
          <a:solidFill>
            <a:srgbClr val="6D4DD1"/>
          </a:solidFill>
          <a:ln/>
        </p:spPr>
      </p:sp>
      <p:pic>
        <p:nvPicPr>
          <p:cNvPr id="34" name="Image 6" descr="preencoded.png">    </p:cNvPr>
          <p:cNvPicPr>
            <a:picLocks noChangeAspect="1"/>
          </p:cNvPicPr>
          <p:nvPr/>
        </p:nvPicPr>
        <p:blipFill>
          <a:blip r:embed="rId7"/>
          <a:stretch>
            <a:fillRect/>
          </a:stretch>
        </p:blipFill>
        <p:spPr>
          <a:xfrm>
            <a:off x="7612197" y="2217237"/>
            <a:ext cx="174102" cy="174102"/>
          </a:xfrm>
          <a:prstGeom prst="rect">
            <a:avLst/>
          </a:prstGeom>
        </p:spPr>
      </p:pic>
      <p:sp>
        <p:nvSpPr>
          <p:cNvPr id="35" name="Text 26"/>
          <p:cNvSpPr txBox="1"/>
          <p:nvPr/>
        </p:nvSpPr>
        <p:spPr>
          <a:xfrm>
            <a:off x="7991856" y="1993392"/>
            <a:ext cx="3218688" cy="621792"/>
          </a:xfrm>
          <a:prstGeom prst="rect">
            <a:avLst/>
          </a:prstGeom>
          <a:noFill/>
          <a:ln/>
        </p:spPr>
        <p:txBody>
          <a:bodyPr wrap="square" lIns="0" tIns="0" rIns="0" bIns="0" rtlCol="0" anchor="ctr"/>
          <a:lstStyle/>
          <a:p>
            <a:pPr algn="l" indent="0" marL="0">
              <a:lnSpc>
                <a:spcPct val="104000"/>
              </a:lnSpc>
              <a:buNone/>
            </a:pPr>
            <a:r>
              <a:rPr lang="en-US" sz="1100" b="1" dirty="0">
                <a:solidFill>
                  <a:srgbClr val="35236E"/>
                </a:solidFill>
                <a:latin typeface="Calibri" pitchFamily="34" charset="0"/>
                <a:ea typeface="Calibri" pitchFamily="34" charset="-122"/>
                <a:cs typeface="Calibri" pitchFamily="34" charset="-120"/>
              </a:rPr>
              <a:t>Advocate</a:t>
            </a:r>
            <a:endParaRPr lang="en-US" sz="110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argues for inclusion from what is disclosed</a:t>
            </a:r>
            <a:endParaRPr lang="en-US" sz="1100" dirty="0"/>
          </a:p>
        </p:txBody>
      </p:sp>
      <p:sp>
        <p:nvSpPr>
          <p:cNvPr id="36" name="Shape 27"/>
          <p:cNvSpPr/>
          <p:nvPr/>
        </p:nvSpPr>
        <p:spPr>
          <a:xfrm>
            <a:off x="9363456" y="2624328"/>
            <a:ext cx="0" cy="137160"/>
          </a:xfrm>
          <a:prstGeom prst="line">
            <a:avLst/>
          </a:prstGeom>
          <a:noFill/>
          <a:ln w="17780">
            <a:solidFill>
              <a:srgbClr val="6D4DD1"/>
            </a:solidFill>
            <a:prstDash val="solid"/>
            <a:headEnd type="none"/>
            <a:tailEnd type="triangle"/>
          </a:ln>
        </p:spPr>
      </p:sp>
      <p:sp>
        <p:nvSpPr>
          <p:cNvPr id="37" name="Shape 28"/>
          <p:cNvSpPr/>
          <p:nvPr/>
        </p:nvSpPr>
        <p:spPr>
          <a:xfrm>
            <a:off x="7406640" y="2779776"/>
            <a:ext cx="3913632" cy="621792"/>
          </a:xfrm>
          <a:prstGeom prst="roundRect">
            <a:avLst>
              <a:gd name="adj" fmla="val 14706"/>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8" name="Shape 29"/>
          <p:cNvSpPr/>
          <p:nvPr/>
        </p:nvSpPr>
        <p:spPr>
          <a:xfrm>
            <a:off x="7543800" y="2935224"/>
            <a:ext cx="310896" cy="310896"/>
          </a:xfrm>
          <a:prstGeom prst="roundRect">
            <a:avLst>
              <a:gd name="adj" fmla="val 29412"/>
            </a:avLst>
          </a:prstGeom>
          <a:solidFill>
            <a:srgbClr val="6D4DD1"/>
          </a:solidFill>
          <a:ln/>
        </p:spPr>
      </p:sp>
      <p:pic>
        <p:nvPicPr>
          <p:cNvPr id="39" name="Image 7" descr="preencoded.png">    </p:cNvPr>
          <p:cNvPicPr>
            <a:picLocks noChangeAspect="1"/>
          </p:cNvPicPr>
          <p:nvPr/>
        </p:nvPicPr>
        <p:blipFill>
          <a:blip r:embed="rId8"/>
          <a:stretch>
            <a:fillRect/>
          </a:stretch>
        </p:blipFill>
        <p:spPr>
          <a:xfrm>
            <a:off x="7612197" y="3003621"/>
            <a:ext cx="174102" cy="174102"/>
          </a:xfrm>
          <a:prstGeom prst="rect">
            <a:avLst/>
          </a:prstGeom>
        </p:spPr>
      </p:pic>
      <p:sp>
        <p:nvSpPr>
          <p:cNvPr id="40" name="Text 30"/>
          <p:cNvSpPr txBox="1"/>
          <p:nvPr/>
        </p:nvSpPr>
        <p:spPr>
          <a:xfrm>
            <a:off x="7991856" y="2779776"/>
            <a:ext cx="3218688" cy="621792"/>
          </a:xfrm>
          <a:prstGeom prst="rect">
            <a:avLst/>
          </a:prstGeom>
          <a:noFill/>
          <a:ln/>
        </p:spPr>
        <p:txBody>
          <a:bodyPr wrap="square" lIns="0" tIns="0" rIns="0" bIns="0" rtlCol="0" anchor="ctr"/>
          <a:lstStyle/>
          <a:p>
            <a:pPr algn="l" indent="0" marL="0">
              <a:lnSpc>
                <a:spcPct val="104000"/>
              </a:lnSpc>
              <a:buNone/>
            </a:pPr>
            <a:r>
              <a:rPr lang="en-US" sz="1100" b="1" dirty="0">
                <a:solidFill>
                  <a:srgbClr val="35236E"/>
                </a:solidFill>
                <a:latin typeface="Calibri" pitchFamily="34" charset="0"/>
                <a:ea typeface="Calibri" pitchFamily="34" charset="-122"/>
                <a:cs typeface="Calibri" pitchFamily="34" charset="-120"/>
              </a:rPr>
              <a:t>Opposing</a:t>
            </a:r>
            <a:endParaRPr lang="en-US" sz="110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hunts aspiration, out-of-scope activity, greenwash</a:t>
            </a:r>
            <a:endParaRPr lang="en-US" sz="1100" dirty="0"/>
          </a:p>
        </p:txBody>
      </p:sp>
      <p:sp>
        <p:nvSpPr>
          <p:cNvPr id="41" name="Shape 31"/>
          <p:cNvSpPr/>
          <p:nvPr/>
        </p:nvSpPr>
        <p:spPr>
          <a:xfrm>
            <a:off x="9363456" y="3410712"/>
            <a:ext cx="0" cy="137160"/>
          </a:xfrm>
          <a:prstGeom prst="line">
            <a:avLst/>
          </a:prstGeom>
          <a:noFill/>
          <a:ln w="17780">
            <a:solidFill>
              <a:srgbClr val="6D4DD1"/>
            </a:solidFill>
            <a:prstDash val="solid"/>
            <a:headEnd type="none"/>
            <a:tailEnd type="triangle"/>
          </a:ln>
        </p:spPr>
      </p:sp>
      <p:sp>
        <p:nvSpPr>
          <p:cNvPr id="42" name="Shape 32"/>
          <p:cNvSpPr/>
          <p:nvPr/>
        </p:nvSpPr>
        <p:spPr>
          <a:xfrm>
            <a:off x="7406640" y="3566160"/>
            <a:ext cx="3913632" cy="621792"/>
          </a:xfrm>
          <a:prstGeom prst="roundRect">
            <a:avLst>
              <a:gd name="adj" fmla="val 14706"/>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43" name="Shape 33"/>
          <p:cNvSpPr/>
          <p:nvPr/>
        </p:nvSpPr>
        <p:spPr>
          <a:xfrm>
            <a:off x="7543800" y="3721608"/>
            <a:ext cx="310896" cy="310896"/>
          </a:xfrm>
          <a:prstGeom prst="roundRect">
            <a:avLst>
              <a:gd name="adj" fmla="val 29412"/>
            </a:avLst>
          </a:prstGeom>
          <a:solidFill>
            <a:srgbClr val="6D4DD1"/>
          </a:solidFill>
          <a:ln/>
        </p:spPr>
      </p:sp>
      <p:pic>
        <p:nvPicPr>
          <p:cNvPr id="44" name="Image 8" descr="preencoded.png">    </p:cNvPr>
          <p:cNvPicPr>
            <a:picLocks noChangeAspect="1"/>
          </p:cNvPicPr>
          <p:nvPr/>
        </p:nvPicPr>
        <p:blipFill>
          <a:blip r:embed="rId9"/>
          <a:stretch>
            <a:fillRect/>
          </a:stretch>
        </p:blipFill>
        <p:spPr>
          <a:xfrm>
            <a:off x="7612197" y="3790005"/>
            <a:ext cx="174102" cy="174102"/>
          </a:xfrm>
          <a:prstGeom prst="rect">
            <a:avLst/>
          </a:prstGeom>
        </p:spPr>
      </p:pic>
      <p:sp>
        <p:nvSpPr>
          <p:cNvPr id="45" name="Text 34"/>
          <p:cNvSpPr txBox="1"/>
          <p:nvPr/>
        </p:nvSpPr>
        <p:spPr>
          <a:xfrm>
            <a:off x="7991856" y="3566160"/>
            <a:ext cx="3218688" cy="621792"/>
          </a:xfrm>
          <a:prstGeom prst="rect">
            <a:avLst/>
          </a:prstGeom>
          <a:noFill/>
          <a:ln/>
        </p:spPr>
        <p:txBody>
          <a:bodyPr wrap="square" lIns="0" tIns="0" rIns="0" bIns="0" rtlCol="0" anchor="ctr"/>
          <a:lstStyle/>
          <a:p>
            <a:pPr algn="l" indent="0" marL="0">
              <a:lnSpc>
                <a:spcPct val="104000"/>
              </a:lnSpc>
              <a:buNone/>
            </a:pPr>
            <a:r>
              <a:rPr lang="en-US" sz="1100" b="1" dirty="0">
                <a:solidFill>
                  <a:srgbClr val="35236E"/>
                </a:solidFill>
                <a:latin typeface="Calibri" pitchFamily="34" charset="0"/>
                <a:ea typeface="Calibri" pitchFamily="34" charset="-122"/>
                <a:cs typeface="Calibri" pitchFamily="34" charset="-120"/>
              </a:rPr>
              <a:t>Adjudicator</a:t>
            </a:r>
            <a:endParaRPr lang="en-US" sz="110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weighs both, sets verdict and confidence</a:t>
            </a:r>
            <a:endParaRPr lang="en-US" sz="1100" dirty="0"/>
          </a:p>
        </p:txBody>
      </p:sp>
      <p:sp>
        <p:nvSpPr>
          <p:cNvPr id="46" name="Text 35"/>
          <p:cNvSpPr txBox="1"/>
          <p:nvPr/>
        </p:nvSpPr>
        <p:spPr>
          <a:xfrm>
            <a:off x="7132320" y="4663440"/>
            <a:ext cx="4462272" cy="201168"/>
          </a:xfrm>
          <a:prstGeom prst="rect">
            <a:avLst/>
          </a:prstGeom>
          <a:noFill/>
          <a:ln/>
        </p:spPr>
        <p:txBody>
          <a:bodyPr wrap="square" lIns="0" tIns="0" rIns="0" bIns="0" rtlCol="0" anchor="ctr"/>
          <a:lstStyle/>
          <a:p>
            <a:pPr algn="ctr" indent="0" marL="0">
              <a:buNone/>
            </a:pPr>
            <a:r>
              <a:rPr lang="en-US" sz="850" b="1" spc="130" kern="0" dirty="0">
                <a:solidFill>
                  <a:srgbClr val="64798F"/>
                </a:solidFill>
                <a:latin typeface="Calibri" pitchFamily="34" charset="0"/>
                <a:ea typeface="Calibri" pitchFamily="34" charset="-122"/>
                <a:cs typeface="Calibri" pitchFamily="34" charset="-120"/>
              </a:rPr>
              <a:t>EXPOSURE IS A LADDER, NOT A YES/NO</a:t>
            </a:r>
            <a:endParaRPr lang="en-US" sz="850" dirty="0"/>
          </a:p>
        </p:txBody>
      </p:sp>
      <p:sp>
        <p:nvSpPr>
          <p:cNvPr id="47" name="Shape 36"/>
          <p:cNvSpPr/>
          <p:nvPr/>
        </p:nvSpPr>
        <p:spPr>
          <a:xfrm>
            <a:off x="7132320" y="4919472"/>
            <a:ext cx="1042416" cy="310896"/>
          </a:xfrm>
          <a:prstGeom prst="roundRect">
            <a:avLst>
              <a:gd name="adj" fmla="val 41176"/>
            </a:avLst>
          </a:prstGeom>
          <a:solidFill>
            <a:srgbClr val="E0F3E3"/>
          </a:solidFill>
          <a:ln w="12700">
            <a:solidFill>
              <a:srgbClr val="2F8F48"/>
            </a:solidFill>
            <a:prstDash val="solid"/>
          </a:ln>
        </p:spPr>
      </p:sp>
      <p:sp>
        <p:nvSpPr>
          <p:cNvPr id="48" name="Text 37"/>
          <p:cNvSpPr txBox="1"/>
          <p:nvPr/>
        </p:nvSpPr>
        <p:spPr>
          <a:xfrm>
            <a:off x="7132320" y="4919472"/>
            <a:ext cx="1042416" cy="310896"/>
          </a:xfrm>
          <a:prstGeom prst="rect">
            <a:avLst/>
          </a:prstGeom>
          <a:noFill/>
          <a:ln/>
        </p:spPr>
        <p:txBody>
          <a:bodyPr wrap="square" lIns="0" tIns="0" rIns="0" bIns="0" rtlCol="0" anchor="ctr"/>
          <a:lstStyle/>
          <a:p>
            <a:pPr algn="ctr" indent="0" marL="0">
              <a:buNone/>
            </a:pPr>
            <a:r>
              <a:rPr lang="en-US" sz="850" b="1" dirty="0">
                <a:solidFill>
                  <a:srgbClr val="17431F"/>
                </a:solidFill>
                <a:latin typeface="Calibri" pitchFamily="34" charset="0"/>
                <a:ea typeface="Calibri" pitchFamily="34" charset="-122"/>
                <a:cs typeface="Calibri" pitchFamily="34" charset="-120"/>
              </a:rPr>
              <a:t>Pure play</a:t>
            </a:r>
            <a:endParaRPr lang="en-US" sz="850" dirty="0"/>
          </a:p>
        </p:txBody>
      </p:sp>
      <p:sp>
        <p:nvSpPr>
          <p:cNvPr id="49" name="Shape 38"/>
          <p:cNvSpPr/>
          <p:nvPr/>
        </p:nvSpPr>
        <p:spPr>
          <a:xfrm>
            <a:off x="8275320" y="4919472"/>
            <a:ext cx="1042416" cy="310896"/>
          </a:xfrm>
          <a:prstGeom prst="roundRect">
            <a:avLst>
              <a:gd name="adj" fmla="val 41176"/>
            </a:avLst>
          </a:prstGeom>
          <a:solidFill>
            <a:srgbClr val="DCF2F4"/>
          </a:solidFill>
          <a:ln w="12700">
            <a:solidFill>
              <a:srgbClr val="108494"/>
            </a:solidFill>
            <a:prstDash val="solid"/>
          </a:ln>
        </p:spPr>
      </p:sp>
      <p:sp>
        <p:nvSpPr>
          <p:cNvPr id="50" name="Text 39"/>
          <p:cNvSpPr txBox="1"/>
          <p:nvPr/>
        </p:nvSpPr>
        <p:spPr>
          <a:xfrm>
            <a:off x="8275320" y="4919472"/>
            <a:ext cx="1042416" cy="310896"/>
          </a:xfrm>
          <a:prstGeom prst="rect">
            <a:avLst/>
          </a:prstGeom>
          <a:noFill/>
          <a:ln/>
        </p:spPr>
        <p:txBody>
          <a:bodyPr wrap="square" lIns="0" tIns="0" rIns="0" bIns="0" rtlCol="0" anchor="ctr"/>
          <a:lstStyle/>
          <a:p>
            <a:pPr algn="ctr" indent="0" marL="0">
              <a:buNone/>
            </a:pPr>
            <a:r>
              <a:rPr lang="en-US" sz="850" b="1" dirty="0">
                <a:solidFill>
                  <a:srgbClr val="0A4451"/>
                </a:solidFill>
                <a:latin typeface="Calibri" pitchFamily="34" charset="0"/>
                <a:ea typeface="Calibri" pitchFamily="34" charset="-122"/>
                <a:cs typeface="Calibri" pitchFamily="34" charset="-120"/>
              </a:rPr>
              <a:t>Significant</a:t>
            </a:r>
            <a:endParaRPr lang="en-US" sz="850" dirty="0"/>
          </a:p>
        </p:txBody>
      </p:sp>
      <p:sp>
        <p:nvSpPr>
          <p:cNvPr id="51" name="Shape 40"/>
          <p:cNvSpPr/>
          <p:nvPr/>
        </p:nvSpPr>
        <p:spPr>
          <a:xfrm>
            <a:off x="9418320" y="4919472"/>
            <a:ext cx="1042416" cy="310896"/>
          </a:xfrm>
          <a:prstGeom prst="roundRect">
            <a:avLst>
              <a:gd name="adj" fmla="val 41176"/>
            </a:avLst>
          </a:prstGeom>
          <a:solidFill>
            <a:srgbClr val="E3EDFC"/>
          </a:solidFill>
          <a:ln w="12700">
            <a:solidFill>
              <a:srgbClr val="2F6FD0"/>
            </a:solidFill>
            <a:prstDash val="solid"/>
          </a:ln>
        </p:spPr>
      </p:sp>
      <p:sp>
        <p:nvSpPr>
          <p:cNvPr id="52" name="Text 41"/>
          <p:cNvSpPr txBox="1"/>
          <p:nvPr/>
        </p:nvSpPr>
        <p:spPr>
          <a:xfrm>
            <a:off x="9418320" y="4919472"/>
            <a:ext cx="1042416" cy="310896"/>
          </a:xfrm>
          <a:prstGeom prst="rect">
            <a:avLst/>
          </a:prstGeom>
          <a:noFill/>
          <a:ln/>
        </p:spPr>
        <p:txBody>
          <a:bodyPr wrap="square" lIns="0" tIns="0" rIns="0" bIns="0" rtlCol="0" anchor="ctr"/>
          <a:lstStyle/>
          <a:p>
            <a:pPr algn="ctr" indent="0" marL="0">
              <a:buNone/>
            </a:pPr>
            <a:r>
              <a:rPr lang="en-US" sz="850" b="1" dirty="0">
                <a:solidFill>
                  <a:srgbClr val="153A61"/>
                </a:solidFill>
                <a:latin typeface="Calibri" pitchFamily="34" charset="0"/>
                <a:ea typeface="Calibri" pitchFamily="34" charset="-122"/>
                <a:cs typeface="Calibri" pitchFamily="34" charset="-120"/>
              </a:rPr>
              <a:t>Minor</a:t>
            </a:r>
            <a:endParaRPr lang="en-US" sz="850" dirty="0"/>
          </a:p>
        </p:txBody>
      </p:sp>
      <p:sp>
        <p:nvSpPr>
          <p:cNvPr id="53" name="Shape 42"/>
          <p:cNvSpPr/>
          <p:nvPr/>
        </p:nvSpPr>
        <p:spPr>
          <a:xfrm>
            <a:off x="10561320" y="4919472"/>
            <a:ext cx="1042416" cy="310896"/>
          </a:xfrm>
          <a:prstGeom prst="roundRect">
            <a:avLst>
              <a:gd name="adj" fmla="val 41176"/>
            </a:avLst>
          </a:prstGeom>
          <a:solidFill>
            <a:srgbClr val="EAF0F5"/>
          </a:solidFill>
          <a:ln w="12700">
            <a:solidFill>
              <a:srgbClr val="64798F"/>
            </a:solidFill>
            <a:prstDash val="solid"/>
          </a:ln>
        </p:spPr>
      </p:sp>
      <p:sp>
        <p:nvSpPr>
          <p:cNvPr id="54" name="Text 43"/>
          <p:cNvSpPr txBox="1"/>
          <p:nvPr/>
        </p:nvSpPr>
        <p:spPr>
          <a:xfrm>
            <a:off x="10561320" y="4919472"/>
            <a:ext cx="1042416" cy="310896"/>
          </a:xfrm>
          <a:prstGeom prst="rect">
            <a:avLst/>
          </a:prstGeom>
          <a:noFill/>
          <a:ln/>
        </p:spPr>
        <p:txBody>
          <a:bodyPr wrap="square" lIns="0" tIns="0" rIns="0" bIns="0" rtlCol="0" anchor="ctr"/>
          <a:lstStyle/>
          <a:p>
            <a:pPr algn="ctr" indent="0" marL="0">
              <a:buNone/>
            </a:pPr>
            <a:r>
              <a:rPr lang="en-US" sz="850" b="1" dirty="0">
                <a:solidFill>
                  <a:srgbClr val="24354A"/>
                </a:solidFill>
                <a:latin typeface="Calibri" pitchFamily="34" charset="0"/>
                <a:ea typeface="Calibri" pitchFamily="34" charset="-122"/>
                <a:cs typeface="Calibri" pitchFamily="34" charset="-120"/>
              </a:rPr>
              <a:t>None</a:t>
            </a:r>
            <a:endParaRPr lang="en-US" sz="850" dirty="0"/>
          </a:p>
        </p:txBody>
      </p:sp>
      <p:sp>
        <p:nvSpPr>
          <p:cNvPr id="55" name="Shape 44"/>
          <p:cNvSpPr/>
          <p:nvPr/>
        </p:nvSpPr>
        <p:spPr>
          <a:xfrm>
            <a:off x="594360" y="4846320"/>
            <a:ext cx="6263640" cy="713232"/>
          </a:xfrm>
          <a:prstGeom prst="roundRect">
            <a:avLst>
              <a:gd name="adj" fmla="val 1282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56" name="Shape 45"/>
          <p:cNvSpPr/>
          <p:nvPr/>
        </p:nvSpPr>
        <p:spPr>
          <a:xfrm>
            <a:off x="731520" y="5010912"/>
            <a:ext cx="384048" cy="384048"/>
          </a:xfrm>
          <a:prstGeom prst="roundRect">
            <a:avLst>
              <a:gd name="adj" fmla="val 23810"/>
            </a:avLst>
          </a:prstGeom>
          <a:solidFill>
            <a:srgbClr val="108494"/>
          </a:solidFill>
          <a:ln/>
        </p:spPr>
      </p:sp>
      <p:pic>
        <p:nvPicPr>
          <p:cNvPr id="57" name="Image 9" descr="preencoded.png">    </p:cNvPr>
          <p:cNvPicPr>
            <a:picLocks noChangeAspect="1"/>
          </p:cNvPicPr>
          <p:nvPr/>
        </p:nvPicPr>
        <p:blipFill>
          <a:blip r:embed="rId10"/>
          <a:stretch>
            <a:fillRect/>
          </a:stretch>
        </p:blipFill>
        <p:spPr>
          <a:xfrm>
            <a:off x="816011" y="5095403"/>
            <a:ext cx="215067" cy="215067"/>
          </a:xfrm>
          <a:prstGeom prst="rect">
            <a:avLst/>
          </a:prstGeom>
        </p:spPr>
      </p:pic>
      <p:sp>
        <p:nvSpPr>
          <p:cNvPr id="58" name="Text 46"/>
          <p:cNvSpPr txBox="1"/>
          <p:nvPr/>
        </p:nvSpPr>
        <p:spPr>
          <a:xfrm>
            <a:off x="1252728" y="4846320"/>
            <a:ext cx="5495544" cy="713232"/>
          </a:xfrm>
          <a:prstGeom prst="rect">
            <a:avLst/>
          </a:prstGeom>
          <a:noFill/>
          <a:ln/>
        </p:spPr>
        <p:txBody>
          <a:bodyPr wrap="square" lIns="0" tIns="0" rIns="0" bIns="0" rtlCol="0" anchor="ctr"/>
          <a:lstStyle/>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Opt-in indirect tier — a purely quantitative input-output signal</a:t>
            </a:r>
            <a:endParaRPr lang="en-US" sz="1050" dirty="0"/>
          </a:p>
          <a:p>
            <a:pPr algn="l" indent="0" marL="0">
              <a:lnSpc>
                <a:spcPct val="104000"/>
              </a:lnSpc>
              <a:buNone/>
            </a:pPr>
            <a:r>
              <a:rPr lang="en-US" sz="850" dirty="0">
                <a:solidFill>
                  <a:srgbClr val="0A4451"/>
                </a:solidFill>
                <a:latin typeface="Calibri" pitchFamily="34" charset="0"/>
                <a:ea typeface="Calibri" pitchFamily="34" charset="-122"/>
                <a:cs typeface="Calibri" pitchFamily="34" charset="-120"/>
              </a:rPr>
              <a:t>structural supply-chain exposure for companies whose own disclosures stay silent; carried as its own field, never blended into the verdict</a:t>
            </a:r>
            <a:endParaRPr lang="en-US" sz="1050" dirty="0"/>
          </a:p>
        </p:txBody>
      </p:sp>
      <p:sp>
        <p:nvSpPr>
          <p:cNvPr id="59" name="Shape 47"/>
          <p:cNvSpPr/>
          <p:nvPr/>
        </p:nvSpPr>
        <p:spPr>
          <a:xfrm>
            <a:off x="594360" y="6172200"/>
            <a:ext cx="155448" cy="155448"/>
          </a:xfrm>
          <a:prstGeom prst="roundRect">
            <a:avLst>
              <a:gd name="adj" fmla="val 29412"/>
            </a:avLst>
          </a:prstGeom>
          <a:solidFill>
            <a:srgbClr val="2F6FD0"/>
          </a:solidFill>
          <a:ln/>
        </p:spPr>
      </p:sp>
      <p:sp>
        <p:nvSpPr>
          <p:cNvPr id="60" name="Text 48"/>
          <p:cNvSpPr txBox="1"/>
          <p:nvPr/>
        </p:nvSpPr>
        <p:spPr>
          <a:xfrm>
            <a:off x="81381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61" name="Shape 49"/>
          <p:cNvSpPr/>
          <p:nvPr/>
        </p:nvSpPr>
        <p:spPr>
          <a:xfrm>
            <a:off x="2427732" y="6172200"/>
            <a:ext cx="155448" cy="155448"/>
          </a:xfrm>
          <a:prstGeom prst="roundRect">
            <a:avLst>
              <a:gd name="adj" fmla="val 29412"/>
            </a:avLst>
          </a:prstGeom>
          <a:solidFill>
            <a:srgbClr val="108494"/>
          </a:solidFill>
          <a:ln/>
        </p:spPr>
      </p:sp>
      <p:sp>
        <p:nvSpPr>
          <p:cNvPr id="62" name="Text 50"/>
          <p:cNvSpPr txBox="1"/>
          <p:nvPr/>
        </p:nvSpPr>
        <p:spPr>
          <a:xfrm>
            <a:off x="2647188"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63" name="Shape 51"/>
          <p:cNvSpPr/>
          <p:nvPr/>
        </p:nvSpPr>
        <p:spPr>
          <a:xfrm>
            <a:off x="4261104" y="6172200"/>
            <a:ext cx="155448" cy="155448"/>
          </a:xfrm>
          <a:prstGeom prst="roundRect">
            <a:avLst>
              <a:gd name="adj" fmla="val 29412"/>
            </a:avLst>
          </a:prstGeom>
          <a:solidFill>
            <a:srgbClr val="6D4DD1"/>
          </a:solidFill>
          <a:ln/>
        </p:spPr>
      </p:sp>
      <p:sp>
        <p:nvSpPr>
          <p:cNvPr id="64" name="Text 52"/>
          <p:cNvSpPr txBox="1"/>
          <p:nvPr/>
        </p:nvSpPr>
        <p:spPr>
          <a:xfrm>
            <a:off x="4480560"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65" name="Shape 53"/>
          <p:cNvSpPr/>
          <p:nvPr/>
        </p:nvSpPr>
        <p:spPr>
          <a:xfrm>
            <a:off x="6094476" y="6172200"/>
            <a:ext cx="155448" cy="155448"/>
          </a:xfrm>
          <a:prstGeom prst="roundRect">
            <a:avLst>
              <a:gd name="adj" fmla="val 29412"/>
            </a:avLst>
          </a:prstGeom>
          <a:solidFill>
            <a:srgbClr val="C9871B"/>
          </a:solidFill>
          <a:ln/>
        </p:spPr>
      </p:sp>
      <p:sp>
        <p:nvSpPr>
          <p:cNvPr id="66" name="Text 54"/>
          <p:cNvSpPr txBox="1"/>
          <p:nvPr/>
        </p:nvSpPr>
        <p:spPr>
          <a:xfrm>
            <a:off x="6313932"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67" name="Shape 55"/>
          <p:cNvSpPr/>
          <p:nvPr/>
        </p:nvSpPr>
        <p:spPr>
          <a:xfrm>
            <a:off x="7927848" y="6172200"/>
            <a:ext cx="155448" cy="155448"/>
          </a:xfrm>
          <a:prstGeom prst="roundRect">
            <a:avLst>
              <a:gd name="adj" fmla="val 29412"/>
            </a:avLst>
          </a:prstGeom>
          <a:solidFill>
            <a:srgbClr val="CE3D64"/>
          </a:solidFill>
          <a:ln/>
        </p:spPr>
      </p:sp>
      <p:sp>
        <p:nvSpPr>
          <p:cNvPr id="68" name="Text 56"/>
          <p:cNvSpPr txBox="1"/>
          <p:nvPr/>
        </p:nvSpPr>
        <p:spPr>
          <a:xfrm>
            <a:off x="8147304"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69" name="Shape 57"/>
          <p:cNvSpPr/>
          <p:nvPr/>
        </p:nvSpPr>
        <p:spPr>
          <a:xfrm>
            <a:off x="9761220" y="6172200"/>
            <a:ext cx="155448" cy="155448"/>
          </a:xfrm>
          <a:prstGeom prst="roundRect">
            <a:avLst>
              <a:gd name="adj" fmla="val 29412"/>
            </a:avLst>
          </a:prstGeom>
          <a:solidFill>
            <a:srgbClr val="2F8F48"/>
          </a:solidFill>
          <a:ln/>
        </p:spPr>
      </p:sp>
      <p:sp>
        <p:nvSpPr>
          <p:cNvPr id="70" name="Text 58"/>
          <p:cNvSpPr txBox="1"/>
          <p:nvPr/>
        </p:nvSpPr>
        <p:spPr>
          <a:xfrm>
            <a:off x="998067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02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Theme matching: a three-path cascade</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A hard disclosed number is never second-guessed by a categorical judgment over the same question.</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72768"/>
            <a:ext cx="1737360" cy="841248"/>
          </a:xfrm>
          <a:prstGeom prst="roundRect">
            <a:avLst>
              <a:gd name="adj" fmla="val 10870"/>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sp>
        <p:nvSpPr>
          <p:cNvPr id="8" name="Text 5"/>
          <p:cNvSpPr txBox="1"/>
          <p:nvPr/>
        </p:nvSpPr>
        <p:spPr>
          <a:xfrm>
            <a:off x="685800" y="1572768"/>
            <a:ext cx="1554480" cy="841248"/>
          </a:xfrm>
          <a:prstGeom prst="rect">
            <a:avLst/>
          </a:prstGeom>
          <a:noFill/>
          <a:ln/>
        </p:spPr>
        <p:txBody>
          <a:bodyPr wrap="square" lIns="0" tIns="0" rIns="0" bIns="0" rtlCol="0" anchor="ctr"/>
          <a:lstStyle/>
          <a:p>
            <a:pPr algn="ctr" indent="0" marL="0">
              <a:lnSpc>
                <a:spcPct val="104000"/>
              </a:lnSpc>
              <a:buNone/>
            </a:pPr>
            <a:r>
              <a:rPr lang="en-US" sz="1000" b="1" dirty="0">
                <a:solidFill>
                  <a:srgbClr val="24354A"/>
                </a:solidFill>
                <a:latin typeface="Calibri" pitchFamily="34" charset="0"/>
                <a:ea typeface="Calibri" pitchFamily="34" charset="-122"/>
                <a:cs typeface="Calibri" pitchFamily="34" charset="-120"/>
              </a:rPr>
              <a:t>company × activity</a:t>
            </a:r>
            <a:endParaRPr lang="en-US" sz="1000" dirty="0"/>
          </a:p>
          <a:p>
            <a:pPr algn="ctr" indent="0" marL="0">
              <a:lnSpc>
                <a:spcPct val="104000"/>
              </a:lnSpc>
              <a:buNone/>
            </a:pPr>
            <a:r>
              <a:rPr lang="en-US" sz="800" dirty="0">
                <a:solidFill>
                  <a:srgbClr val="24354A"/>
                </a:solidFill>
                <a:latin typeface="Calibri" pitchFamily="34" charset="0"/>
                <a:ea typeface="Calibri" pitchFamily="34" charset="-122"/>
                <a:cs typeface="Calibri" pitchFamily="34" charset="-120"/>
              </a:rPr>
              <a:t>one work item in the batch</a:t>
            </a:r>
            <a:endParaRPr lang="en-US" sz="1000" dirty="0"/>
          </a:p>
        </p:txBody>
      </p:sp>
      <p:sp>
        <p:nvSpPr>
          <p:cNvPr id="9" name="Shape 6"/>
          <p:cNvSpPr/>
          <p:nvPr/>
        </p:nvSpPr>
        <p:spPr>
          <a:xfrm>
            <a:off x="2368296" y="1993392"/>
            <a:ext cx="384048" cy="0"/>
          </a:xfrm>
          <a:prstGeom prst="line">
            <a:avLst/>
          </a:prstGeom>
          <a:noFill/>
          <a:ln w="19050">
            <a:solidFill>
              <a:srgbClr val="64798F"/>
            </a:solidFill>
            <a:prstDash val="solid"/>
            <a:headEnd type="none"/>
            <a:tailEnd type="triangle"/>
          </a:ln>
        </p:spPr>
      </p:sp>
      <p:sp>
        <p:nvSpPr>
          <p:cNvPr id="10" name="Shape 7"/>
          <p:cNvSpPr/>
          <p:nvPr/>
        </p:nvSpPr>
        <p:spPr>
          <a:xfrm>
            <a:off x="2788920" y="1572768"/>
            <a:ext cx="4160520" cy="841248"/>
          </a:xfrm>
          <a:prstGeom prst="roundRect">
            <a:avLst>
              <a:gd name="adj" fmla="val 10870"/>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11" name="Text 8"/>
          <p:cNvSpPr txBox="1"/>
          <p:nvPr/>
        </p:nvSpPr>
        <p:spPr>
          <a:xfrm>
            <a:off x="2880360" y="1572768"/>
            <a:ext cx="3977640" cy="841248"/>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108494"/>
                </a:solidFill>
                <a:latin typeface="Calibri" pitchFamily="34" charset="0"/>
                <a:ea typeface="Calibri" pitchFamily="34" charset="-122"/>
                <a:cs typeface="Calibri" pitchFamily="34" charset="-120"/>
              </a:rPr>
              <a:t>PATH 1</a:t>
            </a:r>
            <a:endParaRPr lang="en-US" sz="750" dirty="0"/>
          </a:p>
          <a:p>
            <a:pPr algn="ctr" indent="0" marL="0">
              <a:lnSpc>
                <a:spcPct val="104000"/>
              </a:lnSpc>
              <a:buNone/>
            </a:pPr>
            <a:r>
              <a:rPr lang="en-US" sz="1100" b="1" dirty="0">
                <a:solidFill>
                  <a:srgbClr val="0A4451"/>
                </a:solidFill>
                <a:latin typeface="Calibri" pitchFamily="34" charset="0"/>
                <a:ea typeface="Calibri" pitchFamily="34" charset="-122"/>
                <a:cs typeface="Calibri" pitchFamily="34" charset="-120"/>
              </a:rPr>
              <a:t>Structured catalogue</a:t>
            </a:r>
            <a:endParaRPr lang="en-US" sz="7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a confirmed label mapping resolves revenue and capex share by arithmetic alone — no LLM in the number</a:t>
            </a:r>
            <a:endParaRPr lang="en-US" sz="750" dirty="0"/>
          </a:p>
        </p:txBody>
      </p:sp>
      <p:sp>
        <p:nvSpPr>
          <p:cNvPr id="12" name="Shape 9"/>
          <p:cNvSpPr/>
          <p:nvPr/>
        </p:nvSpPr>
        <p:spPr>
          <a:xfrm>
            <a:off x="7315200" y="1664208"/>
            <a:ext cx="1051560" cy="658368"/>
          </a:xfrm>
          <a:prstGeom prst="diamond">
            <a:avLst/>
          </a:prstGeom>
          <a:solidFill>
            <a:srgbClr val="FCEDD4"/>
          </a:solidFill>
          <a:ln w="15875">
            <a:solidFill>
              <a:srgbClr val="C9871B"/>
            </a:solidFill>
            <a:prstDash val="solid"/>
          </a:ln>
        </p:spPr>
      </p:sp>
      <p:sp>
        <p:nvSpPr>
          <p:cNvPr id="13" name="Text 10"/>
          <p:cNvSpPr txBox="1"/>
          <p:nvPr/>
        </p:nvSpPr>
        <p:spPr>
          <a:xfrm>
            <a:off x="7406640" y="1664208"/>
            <a:ext cx="868680" cy="658368"/>
          </a:xfrm>
          <a:prstGeom prst="rect">
            <a:avLst/>
          </a:prstGeom>
          <a:noFill/>
          <a:ln/>
        </p:spPr>
        <p:txBody>
          <a:bodyPr wrap="square" lIns="0" tIns="0" rIns="0" bIns="0" rtlCol="0" anchor="ctr"/>
          <a:lstStyle/>
          <a:p>
            <a:pPr algn="ctr" indent="0" marL="0">
              <a:lnSpc>
                <a:spcPct val="104000"/>
              </a:lnSpc>
              <a:buNone/>
            </a:pPr>
            <a:r>
              <a:rPr lang="en-US" sz="900" b="1" dirty="0">
                <a:solidFill>
                  <a:srgbClr val="64430A"/>
                </a:solidFill>
                <a:latin typeface="Calibri" pitchFamily="34" charset="0"/>
                <a:ea typeface="Calibri" pitchFamily="34" charset="-122"/>
                <a:cs typeface="Calibri" pitchFamily="34" charset="-120"/>
              </a:rPr>
              <a:t>hit?</a:t>
            </a:r>
            <a:endParaRPr lang="en-US" sz="900" dirty="0"/>
          </a:p>
        </p:txBody>
      </p:sp>
      <p:sp>
        <p:nvSpPr>
          <p:cNvPr id="14" name="Shape 11"/>
          <p:cNvSpPr/>
          <p:nvPr/>
        </p:nvSpPr>
        <p:spPr>
          <a:xfrm>
            <a:off x="6995160" y="1993392"/>
            <a:ext cx="274320" cy="0"/>
          </a:xfrm>
          <a:prstGeom prst="line">
            <a:avLst/>
          </a:prstGeom>
          <a:noFill/>
          <a:ln w="16510">
            <a:solidFill>
              <a:srgbClr val="C9871B"/>
            </a:solidFill>
            <a:prstDash val="solid"/>
            <a:headEnd type="none"/>
            <a:tailEnd type="triangle"/>
          </a:ln>
        </p:spPr>
      </p:sp>
      <p:sp>
        <p:nvSpPr>
          <p:cNvPr id="15" name="Shape 12"/>
          <p:cNvSpPr/>
          <p:nvPr/>
        </p:nvSpPr>
        <p:spPr>
          <a:xfrm>
            <a:off x="8412480" y="1993392"/>
            <a:ext cx="777240" cy="0"/>
          </a:xfrm>
          <a:prstGeom prst="line">
            <a:avLst/>
          </a:prstGeom>
          <a:noFill/>
          <a:ln w="17780">
            <a:solidFill>
              <a:srgbClr val="2F8F48"/>
            </a:solidFill>
            <a:prstDash val="solid"/>
            <a:headEnd type="none"/>
            <a:tailEnd type="triangle"/>
          </a:ln>
        </p:spPr>
      </p:sp>
      <p:sp>
        <p:nvSpPr>
          <p:cNvPr id="16" name="Shape 13"/>
          <p:cNvSpPr/>
          <p:nvPr/>
        </p:nvSpPr>
        <p:spPr>
          <a:xfrm>
            <a:off x="7845552" y="2359152"/>
            <a:ext cx="0" cy="274320"/>
          </a:xfrm>
          <a:prstGeom prst="line">
            <a:avLst/>
          </a:prstGeom>
          <a:noFill/>
          <a:ln w="15240">
            <a:solidFill>
              <a:srgbClr val="64798F"/>
            </a:solidFill>
            <a:prstDash val="dash"/>
            <a:headEnd type="none"/>
            <a:tailEnd type="none"/>
          </a:ln>
        </p:spPr>
      </p:sp>
      <p:sp>
        <p:nvSpPr>
          <p:cNvPr id="17" name="Shape 14"/>
          <p:cNvSpPr/>
          <p:nvPr/>
        </p:nvSpPr>
        <p:spPr>
          <a:xfrm flipH="1">
            <a:off x="4846320" y="2633472"/>
            <a:ext cx="2999232" cy="0"/>
          </a:xfrm>
          <a:prstGeom prst="line">
            <a:avLst/>
          </a:prstGeom>
          <a:noFill/>
          <a:ln w="15240">
            <a:solidFill>
              <a:srgbClr val="64798F"/>
            </a:solidFill>
            <a:prstDash val="dash"/>
            <a:headEnd type="none"/>
            <a:tailEnd type="none"/>
          </a:ln>
        </p:spPr>
      </p:sp>
      <p:sp>
        <p:nvSpPr>
          <p:cNvPr id="18" name="Shape 15"/>
          <p:cNvSpPr/>
          <p:nvPr/>
        </p:nvSpPr>
        <p:spPr>
          <a:xfrm>
            <a:off x="4846320" y="2633472"/>
            <a:ext cx="0" cy="128016"/>
          </a:xfrm>
          <a:prstGeom prst="line">
            <a:avLst/>
          </a:prstGeom>
          <a:noFill/>
          <a:ln w="15240">
            <a:solidFill>
              <a:srgbClr val="64798F"/>
            </a:solidFill>
            <a:prstDash val="dash"/>
            <a:headEnd type="none"/>
            <a:tailEnd type="triangle"/>
          </a:ln>
        </p:spPr>
      </p:sp>
      <p:sp>
        <p:nvSpPr>
          <p:cNvPr id="19" name="Text 16"/>
          <p:cNvSpPr txBox="1"/>
          <p:nvPr/>
        </p:nvSpPr>
        <p:spPr>
          <a:xfrm>
            <a:off x="5943600" y="2414016"/>
            <a:ext cx="1737360" cy="182880"/>
          </a:xfrm>
          <a:prstGeom prst="rect">
            <a:avLst/>
          </a:prstGeom>
          <a:noFill/>
          <a:ln/>
        </p:spPr>
        <p:txBody>
          <a:bodyPr wrap="square" lIns="0" tIns="0" rIns="0" bIns="0" rtlCol="0" anchor="ctr"/>
          <a:lstStyle/>
          <a:p>
            <a:pPr algn="ctr" indent="0" marL="0">
              <a:buNone/>
            </a:pPr>
            <a:r>
              <a:rPr lang="en-US" sz="750" i="1" dirty="0">
                <a:solidFill>
                  <a:srgbClr val="58697A"/>
                </a:solidFill>
                <a:latin typeface="Calibri" pitchFamily="34" charset="0"/>
                <a:ea typeface="Calibri" pitchFamily="34" charset="-122"/>
                <a:cs typeface="Calibri" pitchFamily="34" charset="-120"/>
              </a:rPr>
              <a:t>no — fall through</a:t>
            </a:r>
            <a:endParaRPr lang="en-US" sz="750" dirty="0"/>
          </a:p>
        </p:txBody>
      </p:sp>
      <p:sp>
        <p:nvSpPr>
          <p:cNvPr id="20" name="Shape 17"/>
          <p:cNvSpPr/>
          <p:nvPr/>
        </p:nvSpPr>
        <p:spPr>
          <a:xfrm>
            <a:off x="2788920" y="2798064"/>
            <a:ext cx="4160520" cy="841248"/>
          </a:xfrm>
          <a:prstGeom prst="roundRect">
            <a:avLst>
              <a:gd name="adj" fmla="val 10870"/>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21" name="Text 18"/>
          <p:cNvSpPr txBox="1"/>
          <p:nvPr/>
        </p:nvSpPr>
        <p:spPr>
          <a:xfrm>
            <a:off x="2880360" y="2798064"/>
            <a:ext cx="3977640" cy="841248"/>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6D4DD1"/>
                </a:solidFill>
                <a:latin typeface="Calibri" pitchFamily="34" charset="0"/>
                <a:ea typeface="Calibri" pitchFamily="34" charset="-122"/>
                <a:cs typeface="Calibri" pitchFamily="34" charset="-120"/>
              </a:rPr>
              <a:t>PATH 2</a:t>
            </a:r>
            <a:endParaRPr lang="en-US" sz="750" dirty="0"/>
          </a:p>
          <a:p>
            <a:pPr algn="ctr" indent="0" marL="0">
              <a:lnSpc>
                <a:spcPct val="104000"/>
              </a:lnSpc>
              <a:buNone/>
            </a:pPr>
            <a:r>
              <a:rPr lang="en-US" sz="1100" b="1" dirty="0">
                <a:solidFill>
                  <a:srgbClr val="35236E"/>
                </a:solidFill>
                <a:latin typeface="Calibri" pitchFamily="34" charset="0"/>
                <a:ea typeface="Calibri" pitchFamily="34" charset="-122"/>
                <a:cs typeface="Calibri" pitchFamily="34" charset="-120"/>
              </a:rPr>
              <a:t>Grounded extraction</a:t>
            </a:r>
            <a:endParaRPr lang="en-US" sz="7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an ad-hoc single field through the extraction engine, gated by a cheap ISIC sector-relevance check</a:t>
            </a:r>
            <a:endParaRPr lang="en-US" sz="750" dirty="0"/>
          </a:p>
        </p:txBody>
      </p:sp>
      <p:sp>
        <p:nvSpPr>
          <p:cNvPr id="22" name="Shape 19"/>
          <p:cNvSpPr/>
          <p:nvPr/>
        </p:nvSpPr>
        <p:spPr>
          <a:xfrm>
            <a:off x="7315200" y="2889504"/>
            <a:ext cx="1051560" cy="658368"/>
          </a:xfrm>
          <a:prstGeom prst="diamond">
            <a:avLst/>
          </a:prstGeom>
          <a:solidFill>
            <a:srgbClr val="FCEDD4"/>
          </a:solidFill>
          <a:ln w="15875">
            <a:solidFill>
              <a:srgbClr val="C9871B"/>
            </a:solidFill>
            <a:prstDash val="solid"/>
          </a:ln>
        </p:spPr>
      </p:sp>
      <p:sp>
        <p:nvSpPr>
          <p:cNvPr id="23" name="Text 20"/>
          <p:cNvSpPr txBox="1"/>
          <p:nvPr/>
        </p:nvSpPr>
        <p:spPr>
          <a:xfrm>
            <a:off x="7406640" y="2889504"/>
            <a:ext cx="868680" cy="658368"/>
          </a:xfrm>
          <a:prstGeom prst="rect">
            <a:avLst/>
          </a:prstGeom>
          <a:noFill/>
          <a:ln/>
        </p:spPr>
        <p:txBody>
          <a:bodyPr wrap="square" lIns="0" tIns="0" rIns="0" bIns="0" rtlCol="0" anchor="ctr"/>
          <a:lstStyle/>
          <a:p>
            <a:pPr algn="ctr" indent="0" marL="0">
              <a:lnSpc>
                <a:spcPct val="104000"/>
              </a:lnSpc>
              <a:buNone/>
            </a:pPr>
            <a:r>
              <a:rPr lang="en-US" sz="900" b="1" dirty="0">
                <a:solidFill>
                  <a:srgbClr val="64430A"/>
                </a:solidFill>
                <a:latin typeface="Calibri" pitchFamily="34" charset="0"/>
                <a:ea typeface="Calibri" pitchFamily="34" charset="-122"/>
                <a:cs typeface="Calibri" pitchFamily="34" charset="-120"/>
              </a:rPr>
              <a:t>hit?</a:t>
            </a:r>
            <a:endParaRPr lang="en-US" sz="900" dirty="0"/>
          </a:p>
        </p:txBody>
      </p:sp>
      <p:sp>
        <p:nvSpPr>
          <p:cNvPr id="24" name="Shape 21"/>
          <p:cNvSpPr/>
          <p:nvPr/>
        </p:nvSpPr>
        <p:spPr>
          <a:xfrm>
            <a:off x="6995160" y="3218688"/>
            <a:ext cx="274320" cy="0"/>
          </a:xfrm>
          <a:prstGeom prst="line">
            <a:avLst/>
          </a:prstGeom>
          <a:noFill/>
          <a:ln w="16510">
            <a:solidFill>
              <a:srgbClr val="C9871B"/>
            </a:solidFill>
            <a:prstDash val="solid"/>
            <a:headEnd type="none"/>
            <a:tailEnd type="triangle"/>
          </a:ln>
        </p:spPr>
      </p:sp>
      <p:sp>
        <p:nvSpPr>
          <p:cNvPr id="25" name="Shape 22"/>
          <p:cNvSpPr/>
          <p:nvPr/>
        </p:nvSpPr>
        <p:spPr>
          <a:xfrm>
            <a:off x="8412480" y="3218688"/>
            <a:ext cx="777240" cy="0"/>
          </a:xfrm>
          <a:prstGeom prst="line">
            <a:avLst/>
          </a:prstGeom>
          <a:noFill/>
          <a:ln w="17780">
            <a:solidFill>
              <a:srgbClr val="2F8F48"/>
            </a:solidFill>
            <a:prstDash val="solid"/>
            <a:headEnd type="none"/>
            <a:tailEnd type="triangle"/>
          </a:ln>
        </p:spPr>
      </p:sp>
      <p:sp>
        <p:nvSpPr>
          <p:cNvPr id="26" name="Shape 23"/>
          <p:cNvSpPr/>
          <p:nvPr/>
        </p:nvSpPr>
        <p:spPr>
          <a:xfrm>
            <a:off x="7845552" y="3584448"/>
            <a:ext cx="0" cy="274320"/>
          </a:xfrm>
          <a:prstGeom prst="line">
            <a:avLst/>
          </a:prstGeom>
          <a:noFill/>
          <a:ln w="15240">
            <a:solidFill>
              <a:srgbClr val="64798F"/>
            </a:solidFill>
            <a:prstDash val="dash"/>
            <a:headEnd type="none"/>
            <a:tailEnd type="none"/>
          </a:ln>
        </p:spPr>
      </p:sp>
      <p:sp>
        <p:nvSpPr>
          <p:cNvPr id="27" name="Shape 24"/>
          <p:cNvSpPr/>
          <p:nvPr/>
        </p:nvSpPr>
        <p:spPr>
          <a:xfrm flipH="1">
            <a:off x="4846320" y="3858768"/>
            <a:ext cx="2999232" cy="0"/>
          </a:xfrm>
          <a:prstGeom prst="line">
            <a:avLst/>
          </a:prstGeom>
          <a:noFill/>
          <a:ln w="15240">
            <a:solidFill>
              <a:srgbClr val="64798F"/>
            </a:solidFill>
            <a:prstDash val="dash"/>
            <a:headEnd type="none"/>
            <a:tailEnd type="none"/>
          </a:ln>
        </p:spPr>
      </p:sp>
      <p:sp>
        <p:nvSpPr>
          <p:cNvPr id="28" name="Shape 25"/>
          <p:cNvSpPr/>
          <p:nvPr/>
        </p:nvSpPr>
        <p:spPr>
          <a:xfrm>
            <a:off x="4846320" y="3858768"/>
            <a:ext cx="0" cy="128016"/>
          </a:xfrm>
          <a:prstGeom prst="line">
            <a:avLst/>
          </a:prstGeom>
          <a:noFill/>
          <a:ln w="15240">
            <a:solidFill>
              <a:srgbClr val="64798F"/>
            </a:solidFill>
            <a:prstDash val="dash"/>
            <a:headEnd type="none"/>
            <a:tailEnd type="triangle"/>
          </a:ln>
        </p:spPr>
      </p:sp>
      <p:sp>
        <p:nvSpPr>
          <p:cNvPr id="29" name="Text 26"/>
          <p:cNvSpPr txBox="1"/>
          <p:nvPr/>
        </p:nvSpPr>
        <p:spPr>
          <a:xfrm>
            <a:off x="5943600" y="3639312"/>
            <a:ext cx="1737360" cy="182880"/>
          </a:xfrm>
          <a:prstGeom prst="rect">
            <a:avLst/>
          </a:prstGeom>
          <a:noFill/>
          <a:ln/>
        </p:spPr>
        <p:txBody>
          <a:bodyPr wrap="square" lIns="0" tIns="0" rIns="0" bIns="0" rtlCol="0" anchor="ctr"/>
          <a:lstStyle/>
          <a:p>
            <a:pPr algn="ctr" indent="0" marL="0">
              <a:buNone/>
            </a:pPr>
            <a:r>
              <a:rPr lang="en-US" sz="750" i="1" dirty="0">
                <a:solidFill>
                  <a:srgbClr val="58697A"/>
                </a:solidFill>
                <a:latin typeface="Calibri" pitchFamily="34" charset="0"/>
                <a:ea typeface="Calibri" pitchFamily="34" charset="-122"/>
                <a:cs typeface="Calibri" pitchFamily="34" charset="-120"/>
              </a:rPr>
              <a:t>no — fall through</a:t>
            </a:r>
            <a:endParaRPr lang="en-US" sz="750" dirty="0"/>
          </a:p>
        </p:txBody>
      </p:sp>
      <p:sp>
        <p:nvSpPr>
          <p:cNvPr id="30" name="Shape 27"/>
          <p:cNvSpPr/>
          <p:nvPr/>
        </p:nvSpPr>
        <p:spPr>
          <a:xfrm>
            <a:off x="2788920" y="4023360"/>
            <a:ext cx="4160520" cy="841248"/>
          </a:xfrm>
          <a:prstGeom prst="roundRect">
            <a:avLst>
              <a:gd name="adj" fmla="val 10870"/>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1" name="Text 28"/>
          <p:cNvSpPr txBox="1"/>
          <p:nvPr/>
        </p:nvSpPr>
        <p:spPr>
          <a:xfrm>
            <a:off x="2880360" y="4023360"/>
            <a:ext cx="3977640" cy="841248"/>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6D4DD1"/>
                </a:solidFill>
                <a:latin typeface="Calibri" pitchFamily="34" charset="0"/>
                <a:ea typeface="Calibri" pitchFamily="34" charset="-122"/>
                <a:cs typeface="Calibri" pitchFamily="34" charset="-120"/>
              </a:rPr>
              <a:t>PATH 3</a:t>
            </a:r>
            <a:endParaRPr lang="en-US" sz="750" dirty="0"/>
          </a:p>
          <a:p>
            <a:pPr algn="ctr" indent="0" marL="0">
              <a:lnSpc>
                <a:spcPct val="104000"/>
              </a:lnSpc>
              <a:buNone/>
            </a:pPr>
            <a:r>
              <a:rPr lang="en-US" sz="1100" b="1" dirty="0">
                <a:solidFill>
                  <a:srgbClr val="35236E"/>
                </a:solidFill>
                <a:latin typeface="Calibri" pitchFamily="34" charset="0"/>
                <a:ea typeface="Calibri" pitchFamily="34" charset="-122"/>
                <a:cs typeface="Calibri" pitchFamily="34" charset="-120"/>
              </a:rPr>
              <a:t>Advocate → Opposing → Adjudicator</a:t>
            </a:r>
            <a:endParaRPr lang="en-US" sz="7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the qualitative debate, run only when both cheaper paths came back empty</a:t>
            </a:r>
            <a:endParaRPr lang="en-US" sz="750" dirty="0"/>
          </a:p>
        </p:txBody>
      </p:sp>
      <p:sp>
        <p:nvSpPr>
          <p:cNvPr id="32" name="Shape 29"/>
          <p:cNvSpPr/>
          <p:nvPr/>
        </p:nvSpPr>
        <p:spPr>
          <a:xfrm>
            <a:off x="7315200" y="4114800"/>
            <a:ext cx="1051560" cy="658368"/>
          </a:xfrm>
          <a:prstGeom prst="diamond">
            <a:avLst/>
          </a:prstGeom>
          <a:solidFill>
            <a:srgbClr val="FCEDD4"/>
          </a:solidFill>
          <a:ln w="15875">
            <a:solidFill>
              <a:srgbClr val="C9871B"/>
            </a:solidFill>
            <a:prstDash val="solid"/>
          </a:ln>
        </p:spPr>
      </p:sp>
      <p:sp>
        <p:nvSpPr>
          <p:cNvPr id="33" name="Text 30"/>
          <p:cNvSpPr txBox="1"/>
          <p:nvPr/>
        </p:nvSpPr>
        <p:spPr>
          <a:xfrm>
            <a:off x="7406640" y="4114800"/>
            <a:ext cx="868680" cy="658368"/>
          </a:xfrm>
          <a:prstGeom prst="rect">
            <a:avLst/>
          </a:prstGeom>
          <a:noFill/>
          <a:ln/>
        </p:spPr>
        <p:txBody>
          <a:bodyPr wrap="square" lIns="0" tIns="0" rIns="0" bIns="0" rtlCol="0" anchor="ctr"/>
          <a:lstStyle/>
          <a:p>
            <a:pPr algn="ctr" indent="0" marL="0">
              <a:lnSpc>
                <a:spcPct val="104000"/>
              </a:lnSpc>
              <a:buNone/>
            </a:pPr>
            <a:r>
              <a:rPr lang="en-US" sz="900" b="1" dirty="0">
                <a:solidFill>
                  <a:srgbClr val="64430A"/>
                </a:solidFill>
                <a:latin typeface="Calibri" pitchFamily="34" charset="0"/>
                <a:ea typeface="Calibri" pitchFamily="34" charset="-122"/>
                <a:cs typeface="Calibri" pitchFamily="34" charset="-120"/>
              </a:rPr>
              <a:t>hit?</a:t>
            </a:r>
            <a:endParaRPr lang="en-US" sz="900" dirty="0"/>
          </a:p>
        </p:txBody>
      </p:sp>
      <p:sp>
        <p:nvSpPr>
          <p:cNvPr id="34" name="Shape 31"/>
          <p:cNvSpPr/>
          <p:nvPr/>
        </p:nvSpPr>
        <p:spPr>
          <a:xfrm>
            <a:off x="6995160" y="4443984"/>
            <a:ext cx="274320" cy="0"/>
          </a:xfrm>
          <a:prstGeom prst="line">
            <a:avLst/>
          </a:prstGeom>
          <a:noFill/>
          <a:ln w="16510">
            <a:solidFill>
              <a:srgbClr val="C9871B"/>
            </a:solidFill>
            <a:prstDash val="solid"/>
            <a:headEnd type="none"/>
            <a:tailEnd type="triangle"/>
          </a:ln>
        </p:spPr>
      </p:sp>
      <p:sp>
        <p:nvSpPr>
          <p:cNvPr id="35" name="Shape 32"/>
          <p:cNvSpPr/>
          <p:nvPr/>
        </p:nvSpPr>
        <p:spPr>
          <a:xfrm>
            <a:off x="8412480" y="4443984"/>
            <a:ext cx="777240" cy="0"/>
          </a:xfrm>
          <a:prstGeom prst="line">
            <a:avLst/>
          </a:prstGeom>
          <a:noFill/>
          <a:ln w="17780">
            <a:solidFill>
              <a:srgbClr val="2F8F48"/>
            </a:solidFill>
            <a:prstDash val="solid"/>
            <a:headEnd type="none"/>
            <a:tailEnd type="triangle"/>
          </a:ln>
        </p:spPr>
      </p:sp>
      <p:sp>
        <p:nvSpPr>
          <p:cNvPr id="36" name="Shape 33"/>
          <p:cNvSpPr/>
          <p:nvPr/>
        </p:nvSpPr>
        <p:spPr>
          <a:xfrm>
            <a:off x="9235440" y="2212848"/>
            <a:ext cx="2359152" cy="2651760"/>
          </a:xfrm>
          <a:prstGeom prst="roundRect">
            <a:avLst>
              <a:gd name="adj" fmla="val 3876"/>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37" name="Text 34"/>
          <p:cNvSpPr txBox="1"/>
          <p:nvPr/>
        </p:nvSpPr>
        <p:spPr>
          <a:xfrm>
            <a:off x="9326880" y="2212848"/>
            <a:ext cx="2176272" cy="265176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2F8F48"/>
                </a:solidFill>
                <a:latin typeface="Calibri" pitchFamily="34" charset="0"/>
                <a:ea typeface="Calibri" pitchFamily="34" charset="-122"/>
                <a:cs typeface="Calibri" pitchFamily="34" charset="-120"/>
              </a:rPr>
              <a:t>BANDED THE SAME WAY</a:t>
            </a:r>
            <a:endParaRPr lang="en-US" sz="750" dirty="0"/>
          </a:p>
          <a:p>
            <a:pPr algn="ctr" indent="0" marL="0">
              <a:lnSpc>
                <a:spcPct val="104000"/>
              </a:lnSpc>
              <a:buNone/>
            </a:pPr>
            <a:r>
              <a:rPr lang="en-US" sz="1200" b="1" dirty="0">
                <a:solidFill>
                  <a:srgbClr val="17431F"/>
                </a:solidFill>
                <a:latin typeface="Calibri" pitchFamily="34" charset="0"/>
                <a:ea typeface="Calibri" pitchFamily="34" charset="-122"/>
                <a:cs typeface="Calibri" pitchFamily="34" charset="-120"/>
              </a:rPr>
              <a:t>Exposure verdict</a:t>
            </a:r>
            <a:endParaRPr lang="en-US" sz="750" dirty="0"/>
          </a:p>
          <a:p>
            <a:pPr algn="ctr" indent="0" marL="0">
              <a:lnSpc>
                <a:spcPct val="104000"/>
              </a:lnSpc>
              <a:buNone/>
            </a:pPr>
            <a:endParaRPr lang="en-US" sz="750" dirty="0"/>
          </a:p>
          <a:p>
            <a:pPr algn="ctr" indent="0" marL="0">
              <a:lnSpc>
                <a:spcPct val="104000"/>
              </a:lnSpc>
              <a:buNone/>
            </a:pPr>
            <a:r>
              <a:rPr lang="en-US" sz="850" dirty="0">
                <a:solidFill>
                  <a:srgbClr val="17431F"/>
                </a:solidFill>
                <a:latin typeface="Calibri" pitchFamily="34" charset="0"/>
                <a:ea typeface="Calibri" pitchFamily="34" charset="-122"/>
                <a:cs typeface="Calibri" pitchFamily="34" charset="-120"/>
              </a:rPr>
              <a:t>50 % → pure play</a:t>
            </a:r>
            <a:endParaRPr lang="en-US" sz="750" dirty="0"/>
          </a:p>
          <a:p>
            <a:pPr algn="ctr" indent="0" marL="0">
              <a:lnSpc>
                <a:spcPct val="104000"/>
              </a:lnSpc>
              <a:buNone/>
            </a:pPr>
            <a:r>
              <a:rPr lang="en-US" sz="850" dirty="0">
                <a:solidFill>
                  <a:srgbClr val="17431F"/>
                </a:solidFill>
                <a:latin typeface="Calibri" pitchFamily="34" charset="0"/>
                <a:ea typeface="Calibri" pitchFamily="34" charset="-122"/>
                <a:cs typeface="Calibri" pitchFamily="34" charset="-120"/>
              </a:rPr>
              <a:t>20 % → significant</a:t>
            </a:r>
            <a:endParaRPr lang="en-US" sz="750" dirty="0"/>
          </a:p>
          <a:p>
            <a:pPr algn="ctr" indent="0" marL="0">
              <a:lnSpc>
                <a:spcPct val="104000"/>
              </a:lnSpc>
              <a:buNone/>
            </a:pPr>
            <a:r>
              <a:rPr lang="en-US" sz="850" dirty="0">
                <a:solidFill>
                  <a:srgbClr val="17431F"/>
                </a:solidFill>
                <a:latin typeface="Calibri" pitchFamily="34" charset="0"/>
                <a:ea typeface="Calibri" pitchFamily="34" charset="-122"/>
                <a:cs typeface="Calibri" pitchFamily="34" charset="-120"/>
              </a:rPr>
              <a:t>5 % → minor</a:t>
            </a:r>
            <a:endParaRPr lang="en-US" sz="750" dirty="0"/>
          </a:p>
          <a:p>
            <a:pPr algn="ctr" indent="0" marL="0">
              <a:lnSpc>
                <a:spcPct val="104000"/>
              </a:lnSpc>
              <a:buNone/>
            </a:pPr>
            <a:r>
              <a:rPr lang="en-US" sz="850" dirty="0">
                <a:solidFill>
                  <a:srgbClr val="17431F"/>
                </a:solidFill>
                <a:latin typeface="Calibri" pitchFamily="34" charset="0"/>
                <a:ea typeface="Calibri" pitchFamily="34" charset="-122"/>
                <a:cs typeface="Calibri" pitchFamily="34" charset="-120"/>
              </a:rPr>
              <a:t>below → none</a:t>
            </a:r>
            <a:endParaRPr lang="en-US" sz="750" dirty="0"/>
          </a:p>
          <a:p>
            <a:pPr algn="ctr" indent="0" marL="0">
              <a:lnSpc>
                <a:spcPct val="104000"/>
              </a:lnSpc>
              <a:buNone/>
            </a:pPr>
            <a:endParaRPr lang="en-US" sz="750" dirty="0"/>
          </a:p>
          <a:p>
            <a:pPr algn="ctr" indent="0" marL="0">
              <a:lnSpc>
                <a:spcPct val="104000"/>
              </a:lnSpc>
              <a:buNone/>
            </a:pPr>
            <a:r>
              <a:rPr lang="en-US" sz="850" dirty="0">
                <a:solidFill>
                  <a:srgbClr val="17431F"/>
                </a:solidFill>
                <a:latin typeface="Calibri" pitchFamily="34" charset="0"/>
                <a:ea typeface="Calibri" pitchFamily="34" charset="-122"/>
                <a:cs typeface="Calibri" pitchFamily="34" charset="-120"/>
              </a:rPr>
              <a:t>so the verdict means the same thing whichever path produced it</a:t>
            </a:r>
            <a:endParaRPr lang="en-US" sz="750" dirty="0"/>
          </a:p>
        </p:txBody>
      </p:sp>
      <p:sp>
        <p:nvSpPr>
          <p:cNvPr id="38" name="Shape 35"/>
          <p:cNvSpPr/>
          <p:nvPr/>
        </p:nvSpPr>
        <p:spPr>
          <a:xfrm>
            <a:off x="1463040" y="2450592"/>
            <a:ext cx="0" cy="347472"/>
          </a:xfrm>
          <a:prstGeom prst="line">
            <a:avLst/>
          </a:prstGeom>
          <a:noFill/>
          <a:ln w="16510">
            <a:solidFill>
              <a:srgbClr val="C9871B"/>
            </a:solidFill>
            <a:prstDash val="dash"/>
            <a:headEnd type="none"/>
            <a:tailEnd type="triangle"/>
          </a:ln>
        </p:spPr>
      </p:sp>
      <p:sp>
        <p:nvSpPr>
          <p:cNvPr id="39" name="Shape 36"/>
          <p:cNvSpPr/>
          <p:nvPr/>
        </p:nvSpPr>
        <p:spPr>
          <a:xfrm>
            <a:off x="594360" y="2834640"/>
            <a:ext cx="1737360" cy="1417320"/>
          </a:xfrm>
          <a:prstGeom prst="roundRect">
            <a:avLst>
              <a:gd name="adj" fmla="val 6452"/>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40" name="Text 37"/>
          <p:cNvSpPr txBox="1"/>
          <p:nvPr/>
        </p:nvSpPr>
        <p:spPr>
          <a:xfrm>
            <a:off x="685800" y="2834640"/>
            <a:ext cx="1554480" cy="141732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C9871B"/>
                </a:solidFill>
                <a:latin typeface="Calibri" pitchFamily="34" charset="0"/>
                <a:ea typeface="Calibri" pitchFamily="34" charset="-122"/>
                <a:cs typeface="Calibri" pitchFamily="34" charset="-120"/>
              </a:rPr>
              <a:t>NO EVIDENCE AT ALL</a:t>
            </a:r>
            <a:endParaRPr lang="en-US" sz="70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excluded at full confidence, zero LLM calls — or queued for review when the input-output tier flags structural exposure</a:t>
            </a:r>
            <a:endParaRPr lang="en-US" sz="700" dirty="0"/>
          </a:p>
        </p:txBody>
      </p:sp>
      <p:sp>
        <p:nvSpPr>
          <p:cNvPr id="41" name="Shape 38"/>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42" name="Text 39"/>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43" name="Text 40"/>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arp/research/{pipeline,match_graph,matcher_agents}.py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arp/research/revenue_exposure/{catalogue,mapping,resolver}.py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arp/research/taxonomy_sources/* · arp/storage/taxonomy_store.py</a:t>
            </a:r>
            <a:endParaRPr lang="en-US" sz="860" dirty="0"/>
          </a:p>
        </p:txBody>
      </p:sp>
      <p:sp>
        <p:nvSpPr>
          <p:cNvPr id="44" name="Shape 41"/>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45" name="Text 42"/>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46" name="Text 43"/>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a ratified Taxonomy + a company universe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(optionally a revenue/capex catalogue and its mapping).</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CompanyMatch per company × activity.</a:t>
            </a:r>
            <a:endParaRPr lang="en-US" sz="860" dirty="0"/>
          </a:p>
        </p:txBody>
      </p:sp>
      <p:sp>
        <p:nvSpPr>
          <p:cNvPr id="47" name="Shape 44"/>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48" name="Text 45"/>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49" name="Text 46"/>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 catalogue mapping is a reviewable draft, never auto-applied.</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The sector-relevance gate only ever gates path 2.</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Indirect exposure stays its own field.</a:t>
            </a:r>
            <a:endParaRPr lang="en-US" sz="8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03   ·   PORTFOLIO RISK &amp; EXPOSURE MONITORING</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Portfolio Risk Monitoring</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The holdings axis joined to company-level research — with every number computed, never generated.</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594360" y="1463040"/>
            <a:ext cx="3017520" cy="201168"/>
          </a:xfrm>
          <a:prstGeom prst="rect">
            <a:avLst/>
          </a:prstGeom>
          <a:noFill/>
          <a:ln/>
        </p:spPr>
        <p:txBody>
          <a:bodyPr wrap="square" lIns="0" tIns="0" rIns="0" bIns="0" rtlCol="0" anchor="ctr"/>
          <a:lstStyle/>
          <a:p>
            <a:pPr algn="ctr" indent="0" marL="0">
              <a:buNone/>
            </a:pPr>
            <a:r>
              <a:rPr lang="en-US" sz="900" b="1" spc="140" kern="0" dirty="0">
                <a:solidFill>
                  <a:srgbClr val="2F6FD0"/>
                </a:solidFill>
                <a:latin typeface="Calibri" pitchFamily="34" charset="0"/>
                <a:ea typeface="Calibri" pitchFamily="34" charset="-122"/>
                <a:cs typeface="Calibri" pitchFamily="34" charset="-120"/>
              </a:rPr>
              <a:t>TWO AXES</a:t>
            </a:r>
            <a:endParaRPr lang="en-US" sz="900" dirty="0"/>
          </a:p>
        </p:txBody>
      </p:sp>
      <p:sp>
        <p:nvSpPr>
          <p:cNvPr id="8" name="Shape 5"/>
          <p:cNvSpPr/>
          <p:nvPr/>
        </p:nvSpPr>
        <p:spPr>
          <a:xfrm>
            <a:off x="594360" y="1737360"/>
            <a:ext cx="3017520" cy="960120"/>
          </a:xfrm>
          <a:prstGeom prst="roundRect">
            <a:avLst>
              <a:gd name="adj" fmla="val 9524"/>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9" name="Shape 6"/>
          <p:cNvSpPr/>
          <p:nvPr/>
        </p:nvSpPr>
        <p:spPr>
          <a:xfrm>
            <a:off x="731520" y="2025396"/>
            <a:ext cx="384048" cy="384048"/>
          </a:xfrm>
          <a:prstGeom prst="roundRect">
            <a:avLst>
              <a:gd name="adj" fmla="val 23810"/>
            </a:avLst>
          </a:prstGeom>
          <a:solidFill>
            <a:srgbClr val="2F6FD0"/>
          </a:solidFill>
          <a:ln/>
        </p:spPr>
      </p:sp>
      <p:pic>
        <p:nvPicPr>
          <p:cNvPr id="10" name="Image 1" descr="preencoded.png">    </p:cNvPr>
          <p:cNvPicPr>
            <a:picLocks noChangeAspect="1"/>
          </p:cNvPicPr>
          <p:nvPr/>
        </p:nvPicPr>
        <p:blipFill>
          <a:blip r:embed="rId2"/>
          <a:stretch>
            <a:fillRect/>
          </a:stretch>
        </p:blipFill>
        <p:spPr>
          <a:xfrm>
            <a:off x="816011" y="2109887"/>
            <a:ext cx="215067" cy="215067"/>
          </a:xfrm>
          <a:prstGeom prst="rect">
            <a:avLst/>
          </a:prstGeom>
        </p:spPr>
      </p:pic>
      <p:sp>
        <p:nvSpPr>
          <p:cNvPr id="11" name="Text 7"/>
          <p:cNvSpPr txBox="1"/>
          <p:nvPr/>
        </p:nvSpPr>
        <p:spPr>
          <a:xfrm>
            <a:off x="1252728" y="1737360"/>
            <a:ext cx="2249424" cy="960120"/>
          </a:xfrm>
          <a:prstGeom prst="rect">
            <a:avLst/>
          </a:prstGeom>
          <a:noFill/>
          <a:ln/>
        </p:spPr>
        <p:txBody>
          <a:bodyPr wrap="square" lIns="0" tIns="0" rIns="0" bIns="0" rtlCol="0" anchor="ctr"/>
          <a:lstStyle/>
          <a:p>
            <a:pPr algn="l" indent="0" marL="0">
              <a:lnSpc>
                <a:spcPct val="104000"/>
              </a:lnSpc>
              <a:buNone/>
            </a:pPr>
            <a:r>
              <a:rPr lang="en-US" sz="750" b="1" spc="110" kern="0" dirty="0">
                <a:solidFill>
                  <a:srgbClr val="2F6FD0"/>
                </a:solidFill>
                <a:latin typeface="Calibri" pitchFamily="34" charset="0"/>
                <a:ea typeface="Calibri" pitchFamily="34" charset="-122"/>
                <a:cs typeface="Calibri" pitchFamily="34" charset="-120"/>
              </a:rPr>
              <a:t>HOLDINGS</a:t>
            </a:r>
            <a:endParaRPr lang="en-US" sz="750" dirty="0"/>
          </a:p>
          <a:p>
            <a:pPr algn="l" indent="0" marL="0">
              <a:lnSpc>
                <a:spcPct val="104000"/>
              </a:lnSpc>
              <a:buNone/>
            </a:pPr>
            <a:r>
              <a:rPr lang="en-US" sz="1050" b="1" dirty="0">
                <a:solidFill>
                  <a:srgbClr val="153A61"/>
                </a:solidFill>
                <a:latin typeface="Calibri" pitchFamily="34" charset="0"/>
                <a:ea typeface="Calibri" pitchFamily="34" charset="-122"/>
                <a:cs typeface="Calibri" pitchFamily="34" charset="-120"/>
              </a:rPr>
              <a:t>Custodian / PMS snapshot</a:t>
            </a:r>
            <a:endParaRPr lang="en-US" sz="750" dirty="0"/>
          </a:p>
          <a:p>
            <a:pPr algn="l" indent="0" marL="0">
              <a:lnSpc>
                <a:spcPct val="104000"/>
              </a:lnSpc>
              <a:buNone/>
            </a:pPr>
            <a:r>
              <a:rPr lang="en-US" sz="800" dirty="0">
                <a:solidFill>
                  <a:srgbClr val="153A61"/>
                </a:solidFill>
                <a:latin typeface="Calibri" pitchFamily="34" charset="0"/>
                <a:ea typeface="Calibri" pitchFamily="34" charset="-122"/>
                <a:cs typeface="Calibri" pitchFamily="34" charset="-120"/>
              </a:rPr>
              <a:t>position, quantity, market value, FX supplied per position, as-of date</a:t>
            </a:r>
            <a:endParaRPr lang="en-US" sz="750" dirty="0"/>
          </a:p>
        </p:txBody>
      </p:sp>
      <p:sp>
        <p:nvSpPr>
          <p:cNvPr id="12" name="Shape 8"/>
          <p:cNvSpPr/>
          <p:nvPr/>
        </p:nvSpPr>
        <p:spPr>
          <a:xfrm>
            <a:off x="594360" y="2880360"/>
            <a:ext cx="3017520" cy="960120"/>
          </a:xfrm>
          <a:prstGeom prst="roundRect">
            <a:avLst>
              <a:gd name="adj" fmla="val 9524"/>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13" name="Shape 9"/>
          <p:cNvSpPr/>
          <p:nvPr/>
        </p:nvSpPr>
        <p:spPr>
          <a:xfrm>
            <a:off x="731520" y="3168396"/>
            <a:ext cx="384048" cy="384048"/>
          </a:xfrm>
          <a:prstGeom prst="roundRect">
            <a:avLst>
              <a:gd name="adj" fmla="val 23810"/>
            </a:avLst>
          </a:prstGeom>
          <a:solidFill>
            <a:srgbClr val="6D4DD1"/>
          </a:solidFill>
          <a:ln/>
        </p:spPr>
      </p:sp>
      <p:pic>
        <p:nvPicPr>
          <p:cNvPr id="14" name="Image 2" descr="preencoded.png">    </p:cNvPr>
          <p:cNvPicPr>
            <a:picLocks noChangeAspect="1"/>
          </p:cNvPicPr>
          <p:nvPr/>
        </p:nvPicPr>
        <p:blipFill>
          <a:blip r:embed="rId3"/>
          <a:stretch>
            <a:fillRect/>
          </a:stretch>
        </p:blipFill>
        <p:spPr>
          <a:xfrm>
            <a:off x="816011" y="3252887"/>
            <a:ext cx="215067" cy="215067"/>
          </a:xfrm>
          <a:prstGeom prst="rect">
            <a:avLst/>
          </a:prstGeom>
        </p:spPr>
      </p:pic>
      <p:sp>
        <p:nvSpPr>
          <p:cNvPr id="15" name="Text 10"/>
          <p:cNvSpPr txBox="1"/>
          <p:nvPr/>
        </p:nvSpPr>
        <p:spPr>
          <a:xfrm>
            <a:off x="1252728" y="2880360"/>
            <a:ext cx="2249424" cy="960120"/>
          </a:xfrm>
          <a:prstGeom prst="rect">
            <a:avLst/>
          </a:prstGeom>
          <a:noFill/>
          <a:ln/>
        </p:spPr>
        <p:txBody>
          <a:bodyPr wrap="square" lIns="0" tIns="0" rIns="0" bIns="0" rtlCol="0" anchor="ctr"/>
          <a:lstStyle/>
          <a:p>
            <a:pPr algn="l" indent="0" marL="0">
              <a:lnSpc>
                <a:spcPct val="104000"/>
              </a:lnSpc>
              <a:buNone/>
            </a:pPr>
            <a:r>
              <a:rPr lang="en-US" sz="750" b="1" spc="110" kern="0" dirty="0">
                <a:solidFill>
                  <a:srgbClr val="6D4DD1"/>
                </a:solidFill>
                <a:latin typeface="Calibri" pitchFamily="34" charset="0"/>
                <a:ea typeface="Calibri" pitchFamily="34" charset="-122"/>
                <a:cs typeface="Calibri" pitchFamily="34" charset="-120"/>
              </a:rPr>
              <a:t>RESEARCH</a:t>
            </a:r>
            <a:endParaRPr lang="en-US" sz="750" dirty="0"/>
          </a:p>
          <a:p>
            <a:pPr algn="l" indent="0" marL="0">
              <a:lnSpc>
                <a:spcPct val="104000"/>
              </a:lnSpc>
              <a:buNone/>
            </a:pPr>
            <a:r>
              <a:rPr lang="en-US" sz="1050" b="1" dirty="0">
                <a:solidFill>
                  <a:srgbClr val="35236E"/>
                </a:solidFill>
                <a:latin typeface="Calibri" pitchFamily="34" charset="0"/>
                <a:ea typeface="Calibri" pitchFamily="34" charset="-122"/>
                <a:cs typeface="Calibri" pitchFamily="34" charset="-120"/>
              </a:rPr>
              <a:t>What the other functions know</a:t>
            </a:r>
            <a:endParaRPr lang="en-US" sz="75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GICS sector, thematic and revenue exposure, extracted data points</a:t>
            </a:r>
            <a:endParaRPr lang="en-US" sz="750" dirty="0"/>
          </a:p>
        </p:txBody>
      </p:sp>
      <p:sp>
        <p:nvSpPr>
          <p:cNvPr id="16" name="Shape 11"/>
          <p:cNvSpPr/>
          <p:nvPr/>
        </p:nvSpPr>
        <p:spPr>
          <a:xfrm>
            <a:off x="594360" y="4023360"/>
            <a:ext cx="3017520" cy="960120"/>
          </a:xfrm>
          <a:prstGeom prst="roundRect">
            <a:avLst>
              <a:gd name="adj" fmla="val 9524"/>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17" name="Shape 12"/>
          <p:cNvSpPr/>
          <p:nvPr/>
        </p:nvSpPr>
        <p:spPr>
          <a:xfrm>
            <a:off x="731520" y="4311396"/>
            <a:ext cx="384048" cy="384048"/>
          </a:xfrm>
          <a:prstGeom prst="roundRect">
            <a:avLst>
              <a:gd name="adj" fmla="val 23810"/>
            </a:avLst>
          </a:prstGeom>
          <a:solidFill>
            <a:srgbClr val="108494"/>
          </a:solidFill>
          <a:ln/>
        </p:spPr>
      </p:sp>
      <p:pic>
        <p:nvPicPr>
          <p:cNvPr id="18" name="Image 3" descr="preencoded.png">    </p:cNvPr>
          <p:cNvPicPr>
            <a:picLocks noChangeAspect="1"/>
          </p:cNvPicPr>
          <p:nvPr/>
        </p:nvPicPr>
        <p:blipFill>
          <a:blip r:embed="rId4"/>
          <a:stretch>
            <a:fillRect/>
          </a:stretch>
        </p:blipFill>
        <p:spPr>
          <a:xfrm>
            <a:off x="816011" y="4395887"/>
            <a:ext cx="215067" cy="215067"/>
          </a:xfrm>
          <a:prstGeom prst="rect">
            <a:avLst/>
          </a:prstGeom>
        </p:spPr>
      </p:pic>
      <p:sp>
        <p:nvSpPr>
          <p:cNvPr id="19" name="Text 13"/>
          <p:cNvSpPr txBox="1"/>
          <p:nvPr/>
        </p:nvSpPr>
        <p:spPr>
          <a:xfrm>
            <a:off x="1252728" y="4023360"/>
            <a:ext cx="2249424" cy="960120"/>
          </a:xfrm>
          <a:prstGeom prst="rect">
            <a:avLst/>
          </a:prstGeom>
          <a:noFill/>
          <a:ln/>
        </p:spPr>
        <p:txBody>
          <a:bodyPr wrap="square" lIns="0" tIns="0" rIns="0" bIns="0" rtlCol="0" anchor="ctr"/>
          <a:lstStyle/>
          <a:p>
            <a:pPr algn="l" indent="0" marL="0">
              <a:lnSpc>
                <a:spcPct val="104000"/>
              </a:lnSpc>
              <a:buNone/>
            </a:pPr>
            <a:r>
              <a:rPr lang="en-US" sz="750" b="1" spc="110" kern="0" dirty="0">
                <a:solidFill>
                  <a:srgbClr val="108494"/>
                </a:solidFill>
                <a:latin typeface="Calibri" pitchFamily="34" charset="0"/>
                <a:ea typeface="Calibri" pitchFamily="34" charset="-122"/>
                <a:cs typeface="Calibri" pitchFamily="34" charset="-120"/>
              </a:rPr>
              <a:t>REFERENCE</a:t>
            </a:r>
            <a:endParaRPr lang="en-US" sz="750" dirty="0"/>
          </a:p>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Internal ESG API &amp; news feed</a:t>
            </a:r>
            <a:endParaRPr lang="en-US" sz="750" dirty="0"/>
          </a:p>
          <a:p>
            <a:pPr algn="l" indent="0" marL="0">
              <a:lnSpc>
                <a:spcPct val="104000"/>
              </a:lnSpc>
              <a:buNone/>
            </a:pPr>
            <a:r>
              <a:rPr lang="en-US" sz="800" dirty="0">
                <a:solidFill>
                  <a:srgbClr val="0A4451"/>
                </a:solidFill>
                <a:latin typeface="Calibri" pitchFamily="34" charset="0"/>
                <a:ea typeface="Calibri" pitchFamily="34" charset="-122"/>
                <a:cs typeface="Calibri" pitchFamily="34" charset="-120"/>
              </a:rPr>
              <a:t>emissions, EVIC, controversy articles</a:t>
            </a:r>
            <a:endParaRPr lang="en-US" sz="750" dirty="0"/>
          </a:p>
        </p:txBody>
      </p:sp>
      <p:sp>
        <p:nvSpPr>
          <p:cNvPr id="20" name="Shape 14"/>
          <p:cNvSpPr/>
          <p:nvPr/>
        </p:nvSpPr>
        <p:spPr>
          <a:xfrm>
            <a:off x="3977640" y="2331720"/>
            <a:ext cx="1371600" cy="1234440"/>
          </a:xfrm>
          <a:prstGeom prst="hexagon">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21" name="Shape 15"/>
          <p:cNvSpPr/>
          <p:nvPr/>
        </p:nvSpPr>
        <p:spPr>
          <a:xfrm>
            <a:off x="4526280" y="2478024"/>
            <a:ext cx="274320" cy="274320"/>
          </a:xfrm>
          <a:prstGeom prst="roundRect">
            <a:avLst>
              <a:gd name="adj" fmla="val 33333"/>
            </a:avLst>
          </a:prstGeom>
          <a:solidFill>
            <a:srgbClr val="C9871B"/>
          </a:solidFill>
          <a:ln/>
        </p:spPr>
      </p:sp>
      <p:pic>
        <p:nvPicPr>
          <p:cNvPr id="22" name="Image 4" descr="preencoded.png">    </p:cNvPr>
          <p:cNvPicPr>
            <a:picLocks noChangeAspect="1"/>
          </p:cNvPicPr>
          <p:nvPr/>
        </p:nvPicPr>
        <p:blipFill>
          <a:blip r:embed="rId5"/>
          <a:stretch>
            <a:fillRect/>
          </a:stretch>
        </p:blipFill>
        <p:spPr>
          <a:xfrm>
            <a:off x="4586630" y="2538374"/>
            <a:ext cx="153619" cy="153619"/>
          </a:xfrm>
          <a:prstGeom prst="rect">
            <a:avLst/>
          </a:prstGeom>
        </p:spPr>
      </p:pic>
      <p:sp>
        <p:nvSpPr>
          <p:cNvPr id="23" name="Text 16"/>
          <p:cNvSpPr txBox="1"/>
          <p:nvPr/>
        </p:nvSpPr>
        <p:spPr>
          <a:xfrm>
            <a:off x="4069080" y="2501798"/>
            <a:ext cx="1188720" cy="1064362"/>
          </a:xfrm>
          <a:prstGeom prst="rect">
            <a:avLst/>
          </a:prstGeom>
          <a:noFill/>
          <a:ln/>
        </p:spPr>
        <p:txBody>
          <a:bodyPr wrap="square" lIns="0" tIns="0" rIns="0" bIns="0" rtlCol="0" anchor="ctr"/>
          <a:lstStyle/>
          <a:p>
            <a:pPr algn="ctr" indent="0" marL="0">
              <a:lnSpc>
                <a:spcPct val="104000"/>
              </a:lnSpc>
              <a:buNone/>
            </a:pPr>
            <a:r>
              <a:rPr lang="en-US" sz="1000" b="1" dirty="0">
                <a:solidFill>
                  <a:srgbClr val="64430A"/>
                </a:solidFill>
                <a:latin typeface="Calibri" pitchFamily="34" charset="0"/>
                <a:ea typeface="Calibri" pitchFamily="34" charset="-122"/>
                <a:cs typeface="Calibri" pitchFamily="34" charset="-120"/>
              </a:rPr>
              <a:t>Entity</a:t>
            </a:r>
            <a:endParaRPr lang="en-US" sz="1000" dirty="0"/>
          </a:p>
          <a:p>
            <a:pPr algn="ctr" indent="0" marL="0">
              <a:lnSpc>
                <a:spcPct val="104000"/>
              </a:lnSpc>
              <a:buNone/>
            </a:pPr>
            <a:r>
              <a:rPr lang="en-US" sz="1000" b="1" dirty="0">
                <a:solidFill>
                  <a:srgbClr val="64430A"/>
                </a:solidFill>
                <a:latin typeface="Calibri" pitchFamily="34" charset="0"/>
                <a:ea typeface="Calibri" pitchFamily="34" charset="-122"/>
                <a:cs typeface="Calibri" pitchFamily="34" charset="-120"/>
              </a:rPr>
              <a:t>resolution</a:t>
            </a:r>
            <a:endParaRPr lang="en-US" sz="1000" dirty="0"/>
          </a:p>
          <a:p>
            <a:pPr algn="ctr" indent="0" marL="0">
              <a:lnSpc>
                <a:spcPct val="104000"/>
              </a:lnSpc>
              <a:buNone/>
            </a:pPr>
            <a:r>
              <a:rPr lang="en-US" sz="750" dirty="0">
                <a:solidFill>
                  <a:srgbClr val="64430A"/>
                </a:solidFill>
                <a:latin typeface="Calibri" pitchFamily="34" charset="0"/>
                <a:ea typeface="Calibri" pitchFamily="34" charset="-122"/>
                <a:cs typeface="Calibri" pitchFamily="34" charset="-120"/>
              </a:rPr>
              <a:t>security → issuer → company_id</a:t>
            </a:r>
            <a:endParaRPr lang="en-US" sz="1000" dirty="0"/>
          </a:p>
        </p:txBody>
      </p:sp>
      <p:sp>
        <p:nvSpPr>
          <p:cNvPr id="24" name="Shape 17"/>
          <p:cNvSpPr/>
          <p:nvPr/>
        </p:nvSpPr>
        <p:spPr>
          <a:xfrm>
            <a:off x="3657600" y="2212848"/>
            <a:ext cx="274320" cy="731520"/>
          </a:xfrm>
          <a:prstGeom prst="line">
            <a:avLst/>
          </a:prstGeom>
          <a:noFill/>
          <a:ln w="16510">
            <a:solidFill>
              <a:srgbClr val="64798F"/>
            </a:solidFill>
            <a:prstDash val="solid"/>
            <a:headEnd type="none"/>
            <a:tailEnd type="triangle"/>
          </a:ln>
        </p:spPr>
      </p:sp>
      <p:sp>
        <p:nvSpPr>
          <p:cNvPr id="25" name="Shape 18"/>
          <p:cNvSpPr/>
          <p:nvPr/>
        </p:nvSpPr>
        <p:spPr>
          <a:xfrm flipV="1">
            <a:off x="3657600" y="2944368"/>
            <a:ext cx="274320" cy="411480"/>
          </a:xfrm>
          <a:prstGeom prst="line">
            <a:avLst/>
          </a:prstGeom>
          <a:noFill/>
          <a:ln w="16510">
            <a:solidFill>
              <a:srgbClr val="64798F"/>
            </a:solidFill>
            <a:prstDash val="solid"/>
            <a:headEnd type="none"/>
            <a:tailEnd type="triangle"/>
          </a:ln>
        </p:spPr>
      </p:sp>
      <p:sp>
        <p:nvSpPr>
          <p:cNvPr id="26" name="Shape 19"/>
          <p:cNvSpPr/>
          <p:nvPr/>
        </p:nvSpPr>
        <p:spPr>
          <a:xfrm flipV="1">
            <a:off x="3657600" y="2944368"/>
            <a:ext cx="274320" cy="1554480"/>
          </a:xfrm>
          <a:prstGeom prst="line">
            <a:avLst/>
          </a:prstGeom>
          <a:noFill/>
          <a:ln w="16510">
            <a:solidFill>
              <a:srgbClr val="64798F"/>
            </a:solidFill>
            <a:prstDash val="solid"/>
            <a:headEnd type="none"/>
            <a:tailEnd type="triangle"/>
          </a:ln>
        </p:spPr>
      </p:sp>
      <p:sp>
        <p:nvSpPr>
          <p:cNvPr id="27" name="Shape 20"/>
          <p:cNvSpPr/>
          <p:nvPr/>
        </p:nvSpPr>
        <p:spPr>
          <a:xfrm>
            <a:off x="5394960" y="2944368"/>
            <a:ext cx="502920" cy="0"/>
          </a:xfrm>
          <a:prstGeom prst="line">
            <a:avLst/>
          </a:prstGeom>
          <a:noFill/>
          <a:ln w="19050">
            <a:solidFill>
              <a:srgbClr val="64798F"/>
            </a:solidFill>
            <a:prstDash val="solid"/>
            <a:headEnd type="none"/>
            <a:tailEnd type="triangle"/>
          </a:ln>
        </p:spPr>
      </p:sp>
      <p:sp>
        <p:nvSpPr>
          <p:cNvPr id="28" name="Shape 21"/>
          <p:cNvSpPr/>
          <p:nvPr/>
        </p:nvSpPr>
        <p:spPr>
          <a:xfrm>
            <a:off x="5943600" y="2011680"/>
            <a:ext cx="2286000" cy="1874520"/>
          </a:xfrm>
          <a:prstGeom prst="roundRect">
            <a:avLst>
              <a:gd name="adj" fmla="val 4878"/>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29" name="Shape 22"/>
          <p:cNvSpPr/>
          <p:nvPr/>
        </p:nvSpPr>
        <p:spPr>
          <a:xfrm>
            <a:off x="6894576" y="2157984"/>
            <a:ext cx="384048" cy="384048"/>
          </a:xfrm>
          <a:prstGeom prst="roundRect">
            <a:avLst>
              <a:gd name="adj" fmla="val 23810"/>
            </a:avLst>
          </a:prstGeom>
          <a:solidFill>
            <a:srgbClr val="108494"/>
          </a:solidFill>
          <a:ln/>
        </p:spPr>
      </p:sp>
      <p:pic>
        <p:nvPicPr>
          <p:cNvPr id="30" name="Image 5" descr="preencoded.png">    </p:cNvPr>
          <p:cNvPicPr>
            <a:picLocks noChangeAspect="1"/>
          </p:cNvPicPr>
          <p:nvPr/>
        </p:nvPicPr>
        <p:blipFill>
          <a:blip r:embed="rId6"/>
          <a:stretch>
            <a:fillRect/>
          </a:stretch>
        </p:blipFill>
        <p:spPr>
          <a:xfrm>
            <a:off x="6979067" y="2242475"/>
            <a:ext cx="215067" cy="215067"/>
          </a:xfrm>
          <a:prstGeom prst="rect">
            <a:avLst/>
          </a:prstGeom>
        </p:spPr>
      </p:pic>
      <p:sp>
        <p:nvSpPr>
          <p:cNvPr id="31" name="Text 23"/>
          <p:cNvSpPr txBox="1"/>
          <p:nvPr/>
        </p:nvSpPr>
        <p:spPr>
          <a:xfrm>
            <a:off x="6035040" y="2249790"/>
            <a:ext cx="2103120" cy="163641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108494"/>
                </a:solidFill>
                <a:latin typeface="Calibri" pitchFamily="34" charset="0"/>
                <a:ea typeface="Calibri" pitchFamily="34" charset="-122"/>
                <a:cs typeface="Calibri" pitchFamily="34" charset="-120"/>
              </a:rPr>
              <a:t>ZERO LLM</a:t>
            </a:r>
            <a:endParaRPr lang="en-US" sz="750" dirty="0"/>
          </a:p>
          <a:p>
            <a:pPr algn="ctr" indent="0" marL="0">
              <a:lnSpc>
                <a:spcPct val="104000"/>
              </a:lnSpc>
              <a:buNone/>
            </a:pPr>
            <a:r>
              <a:rPr lang="en-US" sz="1250" b="1" dirty="0">
                <a:solidFill>
                  <a:srgbClr val="0A4451"/>
                </a:solidFill>
                <a:latin typeface="Calibri" pitchFamily="34" charset="0"/>
                <a:ea typeface="Calibri" pitchFamily="34" charset="-122"/>
                <a:cs typeface="Calibri" pitchFamily="34" charset="-120"/>
              </a:rPr>
              <a:t>Aggregation engine</a:t>
            </a:r>
            <a:endParaRPr lang="en-US" sz="750" dirty="0"/>
          </a:p>
          <a:p>
            <a:pPr algn="ctr" indent="0" marL="0">
              <a:lnSpc>
                <a:spcPct val="104000"/>
              </a:lnSpc>
              <a:buNone/>
            </a:pPr>
            <a:endParaRPr lang="en-US" sz="750" dirty="0"/>
          </a:p>
          <a:p>
            <a:pPr algn="ctr" indent="0" marL="0">
              <a:lnSpc>
                <a:spcPct val="104000"/>
              </a:lnSpc>
              <a:buNone/>
            </a:pPr>
            <a:r>
              <a:rPr lang="en-US" sz="850" dirty="0">
                <a:solidFill>
                  <a:srgbClr val="0A4451"/>
                </a:solidFill>
                <a:latin typeface="Calibri" pitchFamily="34" charset="0"/>
                <a:ea typeface="Calibri" pitchFamily="34" charset="-122"/>
                <a:cs typeface="Calibri" pitchFamily="34" charset="-120"/>
              </a:rPr>
              <a:t>filter → group by → metric</a:t>
            </a:r>
            <a:endParaRPr lang="en-US" sz="750" dirty="0"/>
          </a:p>
          <a:p>
            <a:pPr algn="ctr" indent="0" marL="0">
              <a:lnSpc>
                <a:spcPct val="104000"/>
              </a:lnSpc>
              <a:buNone/>
            </a:pPr>
            <a:endParaRPr lang="en-US" sz="750" dirty="0"/>
          </a:p>
          <a:p>
            <a:pPr algn="ctr" indent="0" marL="0">
              <a:lnSpc>
                <a:spcPct val="104000"/>
              </a:lnSpc>
              <a:buNone/>
            </a:pPr>
            <a:r>
              <a:rPr lang="en-US" sz="850" dirty="0">
                <a:solidFill>
                  <a:srgbClr val="0A4451"/>
                </a:solidFill>
                <a:latin typeface="Calibri" pitchFamily="34" charset="0"/>
                <a:ea typeface="Calibri" pitchFamily="34" charset="-122"/>
                <a:cs typeface="Calibri" pitchFamily="34" charset="-120"/>
              </a:rPr>
              <a:t>Σ market value</a:t>
            </a:r>
            <a:endParaRPr lang="en-US" sz="750" dirty="0"/>
          </a:p>
          <a:p>
            <a:pPr algn="ctr" indent="0" marL="0">
              <a:lnSpc>
                <a:spcPct val="104000"/>
              </a:lnSpc>
              <a:buNone/>
            </a:pPr>
            <a:r>
              <a:rPr lang="en-US" sz="850" dirty="0">
                <a:solidFill>
                  <a:srgbClr val="0A4451"/>
                </a:solidFill>
                <a:latin typeface="Calibri" pitchFamily="34" charset="0"/>
                <a:ea typeface="Calibri" pitchFamily="34" charset="-122"/>
                <a:cs typeface="Calibri" pitchFamily="34" charset="-120"/>
              </a:rPr>
              <a:t>value-weighted average</a:t>
            </a:r>
            <a:endParaRPr lang="en-US" sz="750" dirty="0"/>
          </a:p>
          <a:p>
            <a:pPr algn="ctr" indent="0" marL="0">
              <a:lnSpc>
                <a:spcPct val="104000"/>
              </a:lnSpc>
              <a:buNone/>
            </a:pPr>
            <a:r>
              <a:rPr lang="en-US" sz="850" dirty="0">
                <a:solidFill>
                  <a:srgbClr val="0A4451"/>
                </a:solidFill>
                <a:latin typeface="Calibri" pitchFamily="34" charset="0"/>
                <a:ea typeface="Calibri" pitchFamily="34" charset="-122"/>
                <a:cs typeface="Calibri" pitchFamily="34" charset="-120"/>
              </a:rPr>
              <a:t>position count</a:t>
            </a:r>
            <a:endParaRPr lang="en-US" sz="750" dirty="0"/>
          </a:p>
          <a:p>
            <a:pPr algn="ctr" indent="0" marL="0">
              <a:lnSpc>
                <a:spcPct val="104000"/>
              </a:lnSpc>
              <a:buNone/>
            </a:pPr>
            <a:endParaRPr lang="en-US" sz="750" dirty="0"/>
          </a:p>
          <a:p>
            <a:pPr algn="ctr" indent="0" marL="0">
              <a:lnSpc>
                <a:spcPct val="104000"/>
              </a:lnSpc>
              <a:buNone/>
            </a:pPr>
            <a:r>
              <a:rPr lang="en-US" sz="850" dirty="0">
                <a:solidFill>
                  <a:srgbClr val="0A4451"/>
                </a:solidFill>
                <a:latin typeface="Calibri" pitchFamily="34" charset="0"/>
                <a:ea typeface="Calibri" pitchFamily="34" charset="-122"/>
                <a:cs typeface="Calibri" pitchFamily="34" charset="-120"/>
              </a:rPr>
              <a:t>as of a date, or a trend</a:t>
            </a:r>
            <a:endParaRPr lang="en-US" sz="750" dirty="0"/>
          </a:p>
        </p:txBody>
      </p:sp>
      <p:sp>
        <p:nvSpPr>
          <p:cNvPr id="32" name="Shape 24"/>
          <p:cNvSpPr/>
          <p:nvPr/>
        </p:nvSpPr>
        <p:spPr>
          <a:xfrm>
            <a:off x="8549640" y="1719072"/>
            <a:ext cx="3044952" cy="713232"/>
          </a:xfrm>
          <a:prstGeom prst="roundRect">
            <a:avLst>
              <a:gd name="adj" fmla="val 12821"/>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3" name="Image 6" descr="preencoded.png">    </p:cNvPr>
          <p:cNvPicPr>
            <a:picLocks noChangeAspect="1"/>
          </p:cNvPicPr>
          <p:nvPr/>
        </p:nvPicPr>
        <p:blipFill>
          <a:blip r:embed="rId7"/>
          <a:stretch>
            <a:fillRect/>
          </a:stretch>
        </p:blipFill>
        <p:spPr>
          <a:xfrm>
            <a:off x="8668512" y="1819656"/>
            <a:ext cx="182880" cy="182880"/>
          </a:xfrm>
          <a:prstGeom prst="rect">
            <a:avLst/>
          </a:prstGeom>
        </p:spPr>
      </p:pic>
      <p:sp>
        <p:nvSpPr>
          <p:cNvPr id="34" name="Text 25"/>
          <p:cNvSpPr txBox="1"/>
          <p:nvPr/>
        </p:nvSpPr>
        <p:spPr>
          <a:xfrm>
            <a:off x="8641080" y="1719072"/>
            <a:ext cx="2862072" cy="713232"/>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Exposure by any dimension</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portfolio, asset class, issuer, sector, country, taxonomy, tag</a:t>
            </a:r>
            <a:endParaRPr lang="en-US" sz="1050" dirty="0"/>
          </a:p>
        </p:txBody>
      </p:sp>
      <p:sp>
        <p:nvSpPr>
          <p:cNvPr id="35" name="Shape 26"/>
          <p:cNvSpPr/>
          <p:nvPr/>
        </p:nvSpPr>
        <p:spPr>
          <a:xfrm flipV="1">
            <a:off x="8275320" y="2075688"/>
            <a:ext cx="219456" cy="868680"/>
          </a:xfrm>
          <a:prstGeom prst="line">
            <a:avLst/>
          </a:prstGeom>
          <a:noFill/>
          <a:ln w="16510">
            <a:solidFill>
              <a:srgbClr val="2F8F48"/>
            </a:solidFill>
            <a:prstDash val="solid"/>
            <a:headEnd type="none"/>
            <a:tailEnd type="triangle"/>
          </a:ln>
        </p:spPr>
      </p:sp>
      <p:sp>
        <p:nvSpPr>
          <p:cNvPr id="36" name="Shape 27"/>
          <p:cNvSpPr/>
          <p:nvPr/>
        </p:nvSpPr>
        <p:spPr>
          <a:xfrm>
            <a:off x="8549640" y="2496312"/>
            <a:ext cx="3044952" cy="713232"/>
          </a:xfrm>
          <a:prstGeom prst="roundRect">
            <a:avLst>
              <a:gd name="adj" fmla="val 12821"/>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37" name="Image 7" descr="preencoded.png">    </p:cNvPr>
          <p:cNvPicPr>
            <a:picLocks noChangeAspect="1"/>
          </p:cNvPicPr>
          <p:nvPr/>
        </p:nvPicPr>
        <p:blipFill>
          <a:blip r:embed="rId8"/>
          <a:stretch>
            <a:fillRect/>
          </a:stretch>
        </p:blipFill>
        <p:spPr>
          <a:xfrm>
            <a:off x="8668512" y="2596896"/>
            <a:ext cx="182880" cy="182880"/>
          </a:xfrm>
          <a:prstGeom prst="rect">
            <a:avLst/>
          </a:prstGeom>
        </p:spPr>
      </p:pic>
      <p:sp>
        <p:nvSpPr>
          <p:cNvPr id="38" name="Text 28"/>
          <p:cNvSpPr txBox="1"/>
          <p:nvPr/>
        </p:nvSpPr>
        <p:spPr>
          <a:xfrm>
            <a:off x="8641080" y="2496312"/>
            <a:ext cx="2862072" cy="713232"/>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One question, one number</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the model drafts the query; the engine computes and the spec is shown</a:t>
            </a:r>
            <a:endParaRPr lang="en-US" sz="1050" dirty="0"/>
          </a:p>
        </p:txBody>
      </p:sp>
      <p:sp>
        <p:nvSpPr>
          <p:cNvPr id="39" name="Shape 29"/>
          <p:cNvSpPr/>
          <p:nvPr/>
        </p:nvSpPr>
        <p:spPr>
          <a:xfrm flipV="1">
            <a:off x="8275320" y="2852928"/>
            <a:ext cx="219456" cy="91440"/>
          </a:xfrm>
          <a:prstGeom prst="line">
            <a:avLst/>
          </a:prstGeom>
          <a:noFill/>
          <a:ln w="16510">
            <a:solidFill>
              <a:srgbClr val="2F8F48"/>
            </a:solidFill>
            <a:prstDash val="solid"/>
            <a:headEnd type="none"/>
            <a:tailEnd type="triangle"/>
          </a:ln>
        </p:spPr>
      </p:sp>
      <p:sp>
        <p:nvSpPr>
          <p:cNvPr id="40" name="Shape 30"/>
          <p:cNvSpPr/>
          <p:nvPr/>
        </p:nvSpPr>
        <p:spPr>
          <a:xfrm>
            <a:off x="8549640" y="3273552"/>
            <a:ext cx="3044952" cy="713232"/>
          </a:xfrm>
          <a:prstGeom prst="roundRect">
            <a:avLst>
              <a:gd name="adj" fmla="val 12821"/>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41" name="Image 8" descr="preencoded.png">    </p:cNvPr>
          <p:cNvPicPr>
            <a:picLocks noChangeAspect="1"/>
          </p:cNvPicPr>
          <p:nvPr/>
        </p:nvPicPr>
        <p:blipFill>
          <a:blip r:embed="rId9"/>
          <a:stretch>
            <a:fillRect/>
          </a:stretch>
        </p:blipFill>
        <p:spPr>
          <a:xfrm>
            <a:off x="8668512" y="3374136"/>
            <a:ext cx="182880" cy="182880"/>
          </a:xfrm>
          <a:prstGeom prst="rect">
            <a:avLst/>
          </a:prstGeom>
        </p:spPr>
      </p:pic>
      <p:sp>
        <p:nvSpPr>
          <p:cNvPr id="42" name="Text 31"/>
          <p:cNvSpPr txBox="1"/>
          <p:nvPr/>
        </p:nvSpPr>
        <p:spPr>
          <a:xfrm>
            <a:off x="8641080" y="3273552"/>
            <a:ext cx="2862072" cy="713232"/>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Generative BI — a whole dashboard</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a brief becomes titled panels, each a validated query with its own commentary</a:t>
            </a:r>
            <a:endParaRPr lang="en-US" sz="1050" dirty="0"/>
          </a:p>
        </p:txBody>
      </p:sp>
      <p:sp>
        <p:nvSpPr>
          <p:cNvPr id="43" name="Shape 32"/>
          <p:cNvSpPr/>
          <p:nvPr/>
        </p:nvSpPr>
        <p:spPr>
          <a:xfrm>
            <a:off x="8275320" y="2944368"/>
            <a:ext cx="219456" cy="685800"/>
          </a:xfrm>
          <a:prstGeom prst="line">
            <a:avLst/>
          </a:prstGeom>
          <a:noFill/>
          <a:ln w="16510">
            <a:solidFill>
              <a:srgbClr val="2F8F48"/>
            </a:solidFill>
            <a:prstDash val="solid"/>
            <a:headEnd type="none"/>
            <a:tailEnd type="triangle"/>
          </a:ln>
        </p:spPr>
      </p:sp>
      <p:sp>
        <p:nvSpPr>
          <p:cNvPr id="44" name="Shape 33"/>
          <p:cNvSpPr/>
          <p:nvPr/>
        </p:nvSpPr>
        <p:spPr>
          <a:xfrm>
            <a:off x="8549640" y="4050792"/>
            <a:ext cx="3044952" cy="713232"/>
          </a:xfrm>
          <a:prstGeom prst="roundRect">
            <a:avLst>
              <a:gd name="adj" fmla="val 12821"/>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45" name="Image 9" descr="preencoded.png">    </p:cNvPr>
          <p:cNvPicPr>
            <a:picLocks noChangeAspect="1"/>
          </p:cNvPicPr>
          <p:nvPr/>
        </p:nvPicPr>
        <p:blipFill>
          <a:blip r:embed="rId10"/>
          <a:stretch>
            <a:fillRect/>
          </a:stretch>
        </p:blipFill>
        <p:spPr>
          <a:xfrm>
            <a:off x="8668512" y="4151376"/>
            <a:ext cx="182880" cy="182880"/>
          </a:xfrm>
          <a:prstGeom prst="rect">
            <a:avLst/>
          </a:prstGeom>
        </p:spPr>
      </p:pic>
      <p:sp>
        <p:nvSpPr>
          <p:cNvPr id="46" name="Text 34"/>
          <p:cNvSpPr txBox="1"/>
          <p:nvPr/>
        </p:nvSpPr>
        <p:spPr>
          <a:xfrm>
            <a:off x="8641080" y="4050792"/>
            <a:ext cx="2862072" cy="713232"/>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Climate analytics</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WACI, PCAF financed emissions, coverage % beside every figure</a:t>
            </a:r>
            <a:endParaRPr lang="en-US" sz="1050" dirty="0"/>
          </a:p>
        </p:txBody>
      </p:sp>
      <p:sp>
        <p:nvSpPr>
          <p:cNvPr id="47" name="Shape 35"/>
          <p:cNvSpPr/>
          <p:nvPr/>
        </p:nvSpPr>
        <p:spPr>
          <a:xfrm>
            <a:off x="8275320" y="2944368"/>
            <a:ext cx="219456" cy="1463040"/>
          </a:xfrm>
          <a:prstGeom prst="line">
            <a:avLst/>
          </a:prstGeom>
          <a:noFill/>
          <a:ln w="16510">
            <a:solidFill>
              <a:srgbClr val="2F8F48"/>
            </a:solidFill>
            <a:prstDash val="solid"/>
            <a:headEnd type="none"/>
            <a:tailEnd type="triangle"/>
          </a:ln>
        </p:spPr>
      </p:sp>
      <p:sp>
        <p:nvSpPr>
          <p:cNvPr id="48" name="Shape 36"/>
          <p:cNvSpPr/>
          <p:nvPr/>
        </p:nvSpPr>
        <p:spPr>
          <a:xfrm>
            <a:off x="8549640" y="4828032"/>
            <a:ext cx="3044952" cy="713232"/>
          </a:xfrm>
          <a:prstGeom prst="roundRect">
            <a:avLst>
              <a:gd name="adj" fmla="val 12821"/>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49" name="Image 10" descr="preencoded.png">    </p:cNvPr>
          <p:cNvPicPr>
            <a:picLocks noChangeAspect="1"/>
          </p:cNvPicPr>
          <p:nvPr/>
        </p:nvPicPr>
        <p:blipFill>
          <a:blip r:embed="rId11"/>
          <a:stretch>
            <a:fillRect/>
          </a:stretch>
        </p:blipFill>
        <p:spPr>
          <a:xfrm>
            <a:off x="8668512" y="4928616"/>
            <a:ext cx="182880" cy="182880"/>
          </a:xfrm>
          <a:prstGeom prst="rect">
            <a:avLst/>
          </a:prstGeom>
        </p:spPr>
      </p:pic>
      <p:sp>
        <p:nvSpPr>
          <p:cNvPr id="50" name="Text 37"/>
          <p:cNvSpPr txBox="1"/>
          <p:nvPr/>
        </p:nvSpPr>
        <p:spPr>
          <a:xfrm>
            <a:off x="8641080" y="4828032"/>
            <a:ext cx="2862072" cy="713232"/>
          </a:xfrm>
          <a:prstGeom prst="rect">
            <a:avLst/>
          </a:prstGeom>
          <a:noFill/>
          <a:ln/>
        </p:spPr>
        <p:txBody>
          <a:bodyPr wrap="square" lIns="0" tIns="0" rIns="0" bIns="0" rtlCol="0" anchor="ctr"/>
          <a:lstStyle/>
          <a:p>
            <a:pPr algn="ctr" indent="0" marL="0">
              <a:lnSpc>
                <a:spcPct val="104000"/>
              </a:lnSpc>
              <a:buNone/>
            </a:pPr>
            <a:r>
              <a:rPr lang="en-US" sz="1050" b="1" dirty="0">
                <a:solidFill>
                  <a:srgbClr val="68182F"/>
                </a:solidFill>
                <a:latin typeface="Calibri" pitchFamily="34" charset="0"/>
                <a:ea typeface="Calibri" pitchFamily="34" charset="-122"/>
                <a:cs typeface="Calibri" pitchFamily="34" charset="-120"/>
              </a:rPr>
              <a:t>Conflicts, surfaced</a:t>
            </a:r>
            <a:endParaRPr lang="en-US" sz="1050" dirty="0"/>
          </a:p>
          <a:p>
            <a:pPr algn="ctr" indent="0" marL="0">
              <a:lnSpc>
                <a:spcPct val="104000"/>
              </a:lnSpc>
              <a:buNone/>
            </a:pPr>
            <a:r>
              <a:rPr lang="en-US" sz="800" dirty="0">
                <a:solidFill>
                  <a:srgbClr val="68182F"/>
                </a:solidFill>
                <a:latin typeface="Calibri" pitchFamily="34" charset="0"/>
                <a:ea typeface="Calibri" pitchFamily="34" charset="-122"/>
                <a:cs typeface="Calibri" pitchFamily="34" charset="-120"/>
              </a:rPr>
              <a:t>internal-API vs. extracted disagreement → flagged and queued</a:t>
            </a:r>
            <a:endParaRPr lang="en-US" sz="1050" dirty="0"/>
          </a:p>
        </p:txBody>
      </p:sp>
      <p:sp>
        <p:nvSpPr>
          <p:cNvPr id="51" name="Shape 38"/>
          <p:cNvSpPr/>
          <p:nvPr/>
        </p:nvSpPr>
        <p:spPr>
          <a:xfrm>
            <a:off x="8275320" y="2944368"/>
            <a:ext cx="219456" cy="2240280"/>
          </a:xfrm>
          <a:prstGeom prst="line">
            <a:avLst/>
          </a:prstGeom>
          <a:noFill/>
          <a:ln w="16510">
            <a:solidFill>
              <a:srgbClr val="2F8F48"/>
            </a:solidFill>
            <a:prstDash val="solid"/>
            <a:headEnd type="none"/>
            <a:tailEnd type="triangle"/>
          </a:ln>
        </p:spPr>
      </p:sp>
      <p:sp>
        <p:nvSpPr>
          <p:cNvPr id="52" name="Text 39"/>
          <p:cNvSpPr txBox="1"/>
          <p:nvPr/>
        </p:nvSpPr>
        <p:spPr>
          <a:xfrm>
            <a:off x="8549640" y="1463040"/>
            <a:ext cx="3044952" cy="201168"/>
          </a:xfrm>
          <a:prstGeom prst="rect">
            <a:avLst/>
          </a:prstGeom>
          <a:noFill/>
          <a:ln/>
        </p:spPr>
        <p:txBody>
          <a:bodyPr wrap="square" lIns="0" tIns="0" rIns="0" bIns="0" rtlCol="0" anchor="ctr"/>
          <a:lstStyle/>
          <a:p>
            <a:pPr algn="ctr" indent="0" marL="0">
              <a:buNone/>
            </a:pPr>
            <a:r>
              <a:rPr lang="en-US" sz="900" b="1" spc="140" kern="0" dirty="0">
                <a:solidFill>
                  <a:srgbClr val="2F8F48"/>
                </a:solidFill>
                <a:latin typeface="Calibri" pitchFamily="34" charset="0"/>
                <a:ea typeface="Calibri" pitchFamily="34" charset="-122"/>
                <a:cs typeface="Calibri" pitchFamily="34" charset="-120"/>
              </a:rPr>
              <a:t>WHAT COMES OUT</a:t>
            </a:r>
            <a:endParaRPr lang="en-US" sz="900" dirty="0"/>
          </a:p>
        </p:txBody>
      </p:sp>
      <p:sp>
        <p:nvSpPr>
          <p:cNvPr id="53" name="Shape 40"/>
          <p:cNvSpPr/>
          <p:nvPr/>
        </p:nvSpPr>
        <p:spPr>
          <a:xfrm>
            <a:off x="594360" y="5193792"/>
            <a:ext cx="7818120" cy="685800"/>
          </a:xfrm>
          <a:prstGeom prst="roundRect">
            <a:avLst>
              <a:gd name="adj" fmla="val 5333"/>
            </a:avLst>
          </a:prstGeom>
          <a:solidFill>
            <a:srgbClr val="F4F7FA"/>
          </a:solidFill>
          <a:ln w="15875">
            <a:solidFill>
              <a:srgbClr val="DDE5ED"/>
            </a:solidFill>
            <a:prstDash val="solid"/>
          </a:ln>
        </p:spPr>
      </p:sp>
      <p:sp>
        <p:nvSpPr>
          <p:cNvPr id="54" name="Text 41"/>
          <p:cNvSpPr txBox="1"/>
          <p:nvPr/>
        </p:nvSpPr>
        <p:spPr>
          <a:xfrm>
            <a:off x="795528" y="5193792"/>
            <a:ext cx="7415784" cy="685800"/>
          </a:xfrm>
          <a:prstGeom prst="rect">
            <a:avLst/>
          </a:prstGeom>
          <a:noFill/>
          <a:ln/>
        </p:spPr>
        <p:txBody>
          <a:bodyPr wrap="square" lIns="0" tIns="0" rIns="0" bIns="0" rtlCol="0" anchor="ctr"/>
          <a:lstStyle/>
          <a:p>
            <a:pPr indent="0" marL="0">
              <a:buNone/>
            </a:pPr>
            <a:r>
              <a:rPr lang="en-US" sz="950" b="1" dirty="0">
                <a:solidFill>
                  <a:srgbClr val="6D4DD1"/>
                </a:solidFill>
                <a:latin typeface="Calibri" pitchFamily="34" charset="0"/>
                <a:ea typeface="Calibri" pitchFamily="34" charset="-122"/>
                <a:cs typeface="Calibri" pitchFamily="34" charset="-120"/>
              </a:rPr>
              <a:t>Where the model is allowed to touch this.  </a:t>
            </a:r>
            <a:pPr indent="0" marL="0">
              <a:buNone/>
            </a:pPr>
            <a:r>
              <a:rPr lang="en-US" sz="950" dirty="0">
                <a:solidFill>
                  <a:srgbClr val="43566B"/>
                </a:solidFill>
                <a:latin typeface="Calibri" pitchFamily="34" charset="0"/>
                <a:ea typeface="Calibri" pitchFamily="34" charset="-122"/>
                <a:cs typeface="Calibri" pitchFamily="34" charset="-120"/>
              </a:rPr>
              <a:t>Drafting a query spec, planning which panels a dashboard should hold, and classifying a news article. Never the arithmetic — a risk number has to be reproducible, and the query that produced it is always shown next to the answer.</a:t>
            </a:r>
            <a:endParaRPr lang="en-US" sz="950" dirty="0"/>
          </a:p>
        </p:txBody>
      </p:sp>
      <p:sp>
        <p:nvSpPr>
          <p:cNvPr id="55" name="Shape 42"/>
          <p:cNvSpPr/>
          <p:nvPr/>
        </p:nvSpPr>
        <p:spPr>
          <a:xfrm>
            <a:off x="594360" y="6172200"/>
            <a:ext cx="155448" cy="155448"/>
          </a:xfrm>
          <a:prstGeom prst="roundRect">
            <a:avLst>
              <a:gd name="adj" fmla="val 29412"/>
            </a:avLst>
          </a:prstGeom>
          <a:solidFill>
            <a:srgbClr val="2F6FD0"/>
          </a:solidFill>
          <a:ln/>
        </p:spPr>
      </p:sp>
      <p:sp>
        <p:nvSpPr>
          <p:cNvPr id="56" name="Text 43"/>
          <p:cNvSpPr txBox="1"/>
          <p:nvPr/>
        </p:nvSpPr>
        <p:spPr>
          <a:xfrm>
            <a:off x="81381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57" name="Shape 44"/>
          <p:cNvSpPr/>
          <p:nvPr/>
        </p:nvSpPr>
        <p:spPr>
          <a:xfrm>
            <a:off x="2427732" y="6172200"/>
            <a:ext cx="155448" cy="155448"/>
          </a:xfrm>
          <a:prstGeom prst="roundRect">
            <a:avLst>
              <a:gd name="adj" fmla="val 29412"/>
            </a:avLst>
          </a:prstGeom>
          <a:solidFill>
            <a:srgbClr val="108494"/>
          </a:solidFill>
          <a:ln/>
        </p:spPr>
      </p:sp>
      <p:sp>
        <p:nvSpPr>
          <p:cNvPr id="58" name="Text 45"/>
          <p:cNvSpPr txBox="1"/>
          <p:nvPr/>
        </p:nvSpPr>
        <p:spPr>
          <a:xfrm>
            <a:off x="2647188"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59" name="Shape 46"/>
          <p:cNvSpPr/>
          <p:nvPr/>
        </p:nvSpPr>
        <p:spPr>
          <a:xfrm>
            <a:off x="4261104" y="6172200"/>
            <a:ext cx="155448" cy="155448"/>
          </a:xfrm>
          <a:prstGeom prst="roundRect">
            <a:avLst>
              <a:gd name="adj" fmla="val 29412"/>
            </a:avLst>
          </a:prstGeom>
          <a:solidFill>
            <a:srgbClr val="6D4DD1"/>
          </a:solidFill>
          <a:ln/>
        </p:spPr>
      </p:sp>
      <p:sp>
        <p:nvSpPr>
          <p:cNvPr id="60" name="Text 47"/>
          <p:cNvSpPr txBox="1"/>
          <p:nvPr/>
        </p:nvSpPr>
        <p:spPr>
          <a:xfrm>
            <a:off x="4480560"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61" name="Shape 48"/>
          <p:cNvSpPr/>
          <p:nvPr/>
        </p:nvSpPr>
        <p:spPr>
          <a:xfrm>
            <a:off x="6094476" y="6172200"/>
            <a:ext cx="155448" cy="155448"/>
          </a:xfrm>
          <a:prstGeom prst="roundRect">
            <a:avLst>
              <a:gd name="adj" fmla="val 29412"/>
            </a:avLst>
          </a:prstGeom>
          <a:solidFill>
            <a:srgbClr val="C9871B"/>
          </a:solidFill>
          <a:ln/>
        </p:spPr>
      </p:sp>
      <p:sp>
        <p:nvSpPr>
          <p:cNvPr id="62" name="Text 49"/>
          <p:cNvSpPr txBox="1"/>
          <p:nvPr/>
        </p:nvSpPr>
        <p:spPr>
          <a:xfrm>
            <a:off x="6313932"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63" name="Shape 50"/>
          <p:cNvSpPr/>
          <p:nvPr/>
        </p:nvSpPr>
        <p:spPr>
          <a:xfrm>
            <a:off x="7927848" y="6172200"/>
            <a:ext cx="155448" cy="155448"/>
          </a:xfrm>
          <a:prstGeom prst="roundRect">
            <a:avLst>
              <a:gd name="adj" fmla="val 29412"/>
            </a:avLst>
          </a:prstGeom>
          <a:solidFill>
            <a:srgbClr val="CE3D64"/>
          </a:solidFill>
          <a:ln/>
        </p:spPr>
      </p:sp>
      <p:sp>
        <p:nvSpPr>
          <p:cNvPr id="64" name="Text 51"/>
          <p:cNvSpPr txBox="1"/>
          <p:nvPr/>
        </p:nvSpPr>
        <p:spPr>
          <a:xfrm>
            <a:off x="8147304"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65" name="Shape 52"/>
          <p:cNvSpPr/>
          <p:nvPr/>
        </p:nvSpPr>
        <p:spPr>
          <a:xfrm>
            <a:off x="9761220" y="6172200"/>
            <a:ext cx="155448" cy="155448"/>
          </a:xfrm>
          <a:prstGeom prst="roundRect">
            <a:avLst>
              <a:gd name="adj" fmla="val 29412"/>
            </a:avLst>
          </a:prstGeom>
          <a:solidFill>
            <a:srgbClr val="2F8F48"/>
          </a:solidFill>
          <a:ln/>
        </p:spPr>
      </p:sp>
      <p:sp>
        <p:nvSpPr>
          <p:cNvPr id="66" name="Text 53"/>
          <p:cNvSpPr txBox="1"/>
          <p:nvPr/>
        </p:nvSpPr>
        <p:spPr>
          <a:xfrm>
            <a:off x="998067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03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Portfolio: from a position to a number</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A resolution cascade per issuer, then arithmetic — with coverage reported rather than assumed.</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72768"/>
            <a:ext cx="1907438"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1673352"/>
            <a:ext cx="182880" cy="182880"/>
          </a:xfrm>
          <a:prstGeom prst="rect">
            <a:avLst/>
          </a:prstGeom>
        </p:spPr>
      </p:pic>
      <p:sp>
        <p:nvSpPr>
          <p:cNvPr id="9" name="Text 5"/>
          <p:cNvSpPr txBox="1"/>
          <p:nvPr/>
        </p:nvSpPr>
        <p:spPr>
          <a:xfrm>
            <a:off x="685800"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Holdings snapshot</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per as-of date, FX per position</a:t>
            </a:r>
            <a:endParaRPr lang="en-US" sz="1050" dirty="0"/>
          </a:p>
        </p:txBody>
      </p:sp>
      <p:sp>
        <p:nvSpPr>
          <p:cNvPr id="10" name="Shape 6"/>
          <p:cNvSpPr/>
          <p:nvPr/>
        </p:nvSpPr>
        <p:spPr>
          <a:xfrm>
            <a:off x="2556662" y="1947672"/>
            <a:ext cx="256032" cy="0"/>
          </a:xfrm>
          <a:prstGeom prst="line">
            <a:avLst/>
          </a:prstGeom>
          <a:noFill/>
          <a:ln w="21590">
            <a:solidFill>
              <a:srgbClr val="64798F"/>
            </a:solidFill>
            <a:prstDash val="solid"/>
            <a:headEnd type="none"/>
            <a:tailEnd type="triangle"/>
          </a:ln>
        </p:spPr>
      </p:sp>
      <p:sp>
        <p:nvSpPr>
          <p:cNvPr id="11" name="Shape 7"/>
          <p:cNvSpPr/>
          <p:nvPr/>
        </p:nvSpPr>
        <p:spPr>
          <a:xfrm>
            <a:off x="2867558" y="1572768"/>
            <a:ext cx="1907438" cy="749808"/>
          </a:xfrm>
          <a:prstGeom prst="roundRect">
            <a:avLst>
              <a:gd name="adj" fmla="val 1219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2986430" y="1673352"/>
            <a:ext cx="182880" cy="182880"/>
          </a:xfrm>
          <a:prstGeom prst="rect">
            <a:avLst/>
          </a:prstGeom>
        </p:spPr>
      </p:pic>
      <p:sp>
        <p:nvSpPr>
          <p:cNvPr id="13" name="Text 8"/>
          <p:cNvSpPr txBox="1"/>
          <p:nvPr/>
        </p:nvSpPr>
        <p:spPr>
          <a:xfrm>
            <a:off x="2958998"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Entity resolution</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security → issuer → company_id</a:t>
            </a:r>
            <a:endParaRPr lang="en-US" sz="1050" dirty="0"/>
          </a:p>
        </p:txBody>
      </p:sp>
      <p:sp>
        <p:nvSpPr>
          <p:cNvPr id="14" name="Shape 9"/>
          <p:cNvSpPr/>
          <p:nvPr/>
        </p:nvSpPr>
        <p:spPr>
          <a:xfrm>
            <a:off x="4829861" y="1947672"/>
            <a:ext cx="256032" cy="0"/>
          </a:xfrm>
          <a:prstGeom prst="line">
            <a:avLst/>
          </a:prstGeom>
          <a:noFill/>
          <a:ln w="21590">
            <a:solidFill>
              <a:srgbClr val="64798F"/>
            </a:solidFill>
            <a:prstDash val="solid"/>
            <a:headEnd type="none"/>
            <a:tailEnd type="triangle"/>
          </a:ln>
        </p:spPr>
      </p:sp>
      <p:sp>
        <p:nvSpPr>
          <p:cNvPr id="15" name="Shape 10"/>
          <p:cNvSpPr/>
          <p:nvPr/>
        </p:nvSpPr>
        <p:spPr>
          <a:xfrm>
            <a:off x="5140757"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5259629" y="1673352"/>
            <a:ext cx="182880" cy="182880"/>
          </a:xfrm>
          <a:prstGeom prst="rect">
            <a:avLst/>
          </a:prstGeom>
        </p:spPr>
      </p:pic>
      <p:sp>
        <p:nvSpPr>
          <p:cNvPr id="17" name="Text 11"/>
          <p:cNvSpPr txBox="1"/>
          <p:nvPr/>
        </p:nvSpPr>
        <p:spPr>
          <a:xfrm>
            <a:off x="5232197"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Data-point cascade</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priority order, per issuer</a:t>
            </a:r>
            <a:endParaRPr lang="en-US" sz="1050" dirty="0"/>
          </a:p>
        </p:txBody>
      </p:sp>
      <p:sp>
        <p:nvSpPr>
          <p:cNvPr id="18" name="Shape 12"/>
          <p:cNvSpPr/>
          <p:nvPr/>
        </p:nvSpPr>
        <p:spPr>
          <a:xfrm>
            <a:off x="7103059" y="1947672"/>
            <a:ext cx="256032" cy="0"/>
          </a:xfrm>
          <a:prstGeom prst="line">
            <a:avLst/>
          </a:prstGeom>
          <a:noFill/>
          <a:ln w="21590">
            <a:solidFill>
              <a:srgbClr val="64798F"/>
            </a:solidFill>
            <a:prstDash val="solid"/>
            <a:headEnd type="none"/>
            <a:tailEnd type="triangle"/>
          </a:ln>
        </p:spPr>
      </p:sp>
      <p:sp>
        <p:nvSpPr>
          <p:cNvPr id="19" name="Shape 13"/>
          <p:cNvSpPr/>
          <p:nvPr/>
        </p:nvSpPr>
        <p:spPr>
          <a:xfrm>
            <a:off x="7413955"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7532827" y="1673352"/>
            <a:ext cx="182880" cy="182880"/>
          </a:xfrm>
          <a:prstGeom prst="rect">
            <a:avLst/>
          </a:prstGeom>
        </p:spPr>
      </p:pic>
      <p:sp>
        <p:nvSpPr>
          <p:cNvPr id="21" name="Text 14"/>
          <p:cNvSpPr txBox="1"/>
          <p:nvPr/>
        </p:nvSpPr>
        <p:spPr>
          <a:xfrm>
            <a:off x="7505395"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Aggregation</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group, weight, sum — in code or SQL</a:t>
            </a:r>
            <a:endParaRPr lang="en-US" sz="1050" dirty="0"/>
          </a:p>
        </p:txBody>
      </p:sp>
      <p:sp>
        <p:nvSpPr>
          <p:cNvPr id="22" name="Shape 15"/>
          <p:cNvSpPr/>
          <p:nvPr/>
        </p:nvSpPr>
        <p:spPr>
          <a:xfrm>
            <a:off x="9376258" y="1947672"/>
            <a:ext cx="256032" cy="0"/>
          </a:xfrm>
          <a:prstGeom prst="line">
            <a:avLst/>
          </a:prstGeom>
          <a:noFill/>
          <a:ln w="21590">
            <a:solidFill>
              <a:srgbClr val="64798F"/>
            </a:solidFill>
            <a:prstDash val="solid"/>
            <a:headEnd type="none"/>
            <a:tailEnd type="triangle"/>
          </a:ln>
        </p:spPr>
      </p:sp>
      <p:sp>
        <p:nvSpPr>
          <p:cNvPr id="23" name="Shape 16"/>
          <p:cNvSpPr/>
          <p:nvPr/>
        </p:nvSpPr>
        <p:spPr>
          <a:xfrm>
            <a:off x="9687154" y="1572768"/>
            <a:ext cx="1907438" cy="749808"/>
          </a:xfrm>
          <a:prstGeom prst="roundRect">
            <a:avLst>
              <a:gd name="adj" fmla="val 1219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24" name="Image 5" descr="preencoded.png">    </p:cNvPr>
          <p:cNvPicPr>
            <a:picLocks noChangeAspect="1"/>
          </p:cNvPicPr>
          <p:nvPr/>
        </p:nvPicPr>
        <p:blipFill>
          <a:blip r:embed="rId6"/>
          <a:stretch>
            <a:fillRect/>
          </a:stretch>
        </p:blipFill>
        <p:spPr>
          <a:xfrm>
            <a:off x="9806026" y="1673352"/>
            <a:ext cx="182880" cy="182880"/>
          </a:xfrm>
          <a:prstGeom prst="rect">
            <a:avLst/>
          </a:prstGeom>
        </p:spPr>
      </p:pic>
      <p:sp>
        <p:nvSpPr>
          <p:cNvPr id="25" name="Text 17"/>
          <p:cNvSpPr txBox="1"/>
          <p:nvPr/>
        </p:nvSpPr>
        <p:spPr>
          <a:xfrm>
            <a:off x="9778594"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Answer + spec</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the number and the query beside it</a:t>
            </a:r>
            <a:endParaRPr lang="en-US" sz="1050" dirty="0"/>
          </a:p>
        </p:txBody>
      </p:sp>
      <p:sp>
        <p:nvSpPr>
          <p:cNvPr id="26" name="Shape 18"/>
          <p:cNvSpPr/>
          <p:nvPr/>
        </p:nvSpPr>
        <p:spPr>
          <a:xfrm>
            <a:off x="594360" y="2615184"/>
            <a:ext cx="5806440" cy="2487168"/>
          </a:xfrm>
          <a:prstGeom prst="roundRect">
            <a:avLst>
              <a:gd name="adj" fmla="val 1471"/>
            </a:avLst>
          </a:prstGeom>
          <a:solidFill>
            <a:srgbClr val="F4F7FA"/>
          </a:solidFill>
          <a:ln w="15875">
            <a:solidFill>
              <a:srgbClr val="9FB2C4"/>
            </a:solidFill>
            <a:prstDash val="dash"/>
          </a:ln>
        </p:spPr>
      </p:sp>
      <p:sp>
        <p:nvSpPr>
          <p:cNvPr id="27" name="Shape 19"/>
          <p:cNvSpPr/>
          <p:nvPr/>
        </p:nvSpPr>
        <p:spPr>
          <a:xfrm>
            <a:off x="740664" y="2496312"/>
            <a:ext cx="2494483" cy="274320"/>
          </a:xfrm>
          <a:prstGeom prst="roundRect">
            <a:avLst>
              <a:gd name="adj" fmla="val 50000"/>
            </a:avLst>
          </a:prstGeom>
          <a:solidFill>
            <a:srgbClr val="64798F"/>
          </a:solidFill>
          <a:ln/>
        </p:spPr>
      </p:sp>
      <p:pic>
        <p:nvPicPr>
          <p:cNvPr id="28" name="Image 6" descr="preencoded.png">    </p:cNvPr>
          <p:cNvPicPr>
            <a:picLocks noChangeAspect="1"/>
          </p:cNvPicPr>
          <p:nvPr/>
        </p:nvPicPr>
        <p:blipFill>
          <a:blip r:embed="rId7"/>
          <a:stretch>
            <a:fillRect/>
          </a:stretch>
        </p:blipFill>
        <p:spPr>
          <a:xfrm>
            <a:off x="859536" y="2564892"/>
            <a:ext cx="132588" cy="132588"/>
          </a:xfrm>
          <a:prstGeom prst="rect">
            <a:avLst/>
          </a:prstGeom>
        </p:spPr>
      </p:pic>
      <p:sp>
        <p:nvSpPr>
          <p:cNvPr id="29" name="Text 20"/>
          <p:cNvSpPr txBox="1"/>
          <p:nvPr/>
        </p:nvSpPr>
        <p:spPr>
          <a:xfrm>
            <a:off x="1014984" y="2496312"/>
            <a:ext cx="2220163"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RESOLUTION CASCADE PER ISSUER</a:t>
            </a:r>
            <a:endParaRPr lang="en-US" sz="850" dirty="0"/>
          </a:p>
        </p:txBody>
      </p:sp>
      <p:sp>
        <p:nvSpPr>
          <p:cNvPr id="30" name="Shape 21"/>
          <p:cNvSpPr/>
          <p:nvPr/>
        </p:nvSpPr>
        <p:spPr>
          <a:xfrm>
            <a:off x="832104" y="2962656"/>
            <a:ext cx="384048" cy="384048"/>
          </a:xfrm>
          <a:prstGeom prst="ellipse">
            <a:avLst/>
          </a:prstGeom>
          <a:solidFill>
            <a:srgbClr val="EBE5FC"/>
          </a:solidFill>
          <a:ln w="15875">
            <a:solidFill>
              <a:srgbClr val="6D4DD1"/>
            </a:solidFill>
            <a:prstDash val="solid"/>
          </a:ln>
        </p:spPr>
      </p:sp>
      <p:sp>
        <p:nvSpPr>
          <p:cNvPr id="31" name="Text 22"/>
          <p:cNvSpPr txBox="1"/>
          <p:nvPr/>
        </p:nvSpPr>
        <p:spPr>
          <a:xfrm>
            <a:off x="923544" y="2962656"/>
            <a:ext cx="201168" cy="384048"/>
          </a:xfrm>
          <a:prstGeom prst="rect">
            <a:avLst/>
          </a:prstGeom>
          <a:noFill/>
          <a:ln/>
        </p:spPr>
        <p:txBody>
          <a:bodyPr wrap="square" lIns="0" tIns="0" rIns="0" bIns="0" rtlCol="0" anchor="ctr"/>
          <a:lstStyle/>
          <a:p>
            <a:pPr algn="ctr" indent="0" marL="0">
              <a:lnSpc>
                <a:spcPct val="104000"/>
              </a:lnSpc>
              <a:buNone/>
            </a:pPr>
            <a:r>
              <a:rPr lang="en-US" sz="1000" b="1" dirty="0">
                <a:solidFill>
                  <a:srgbClr val="35236E"/>
                </a:solidFill>
                <a:latin typeface="Calibri" pitchFamily="34" charset="0"/>
                <a:ea typeface="Calibri" pitchFamily="34" charset="-122"/>
                <a:cs typeface="Calibri" pitchFamily="34" charset="-120"/>
              </a:rPr>
              <a:t>1</a:t>
            </a:r>
            <a:endParaRPr lang="en-US" sz="1000" dirty="0"/>
          </a:p>
        </p:txBody>
      </p:sp>
      <p:sp>
        <p:nvSpPr>
          <p:cNvPr id="32" name="Text 23"/>
          <p:cNvSpPr txBox="1"/>
          <p:nvPr/>
        </p:nvSpPr>
        <p:spPr>
          <a:xfrm>
            <a:off x="1325880" y="2962656"/>
            <a:ext cx="4983480" cy="384048"/>
          </a:xfrm>
          <a:prstGeom prst="rect">
            <a:avLst/>
          </a:prstGeom>
          <a:noFill/>
          <a:ln/>
        </p:spPr>
        <p:txBody>
          <a:bodyPr wrap="square" lIns="0" tIns="0" rIns="0" bIns="0" rtlCol="0" anchor="ctr"/>
          <a:lstStyle/>
          <a:p>
            <a:pPr indent="0" marL="0">
              <a:buNone/>
            </a:pPr>
            <a:r>
              <a:rPr lang="en-US" sz="900" b="1" dirty="0">
                <a:solidFill>
                  <a:srgbClr val="35236E"/>
                </a:solidFill>
                <a:latin typeface="Calibri" pitchFamily="34" charset="0"/>
                <a:ea typeface="Calibri" pitchFamily="34" charset="-122"/>
                <a:cs typeface="Calibri" pitchFamily="34" charset="-120"/>
              </a:rPr>
              <a:t>Extraction record  </a:t>
            </a:r>
            <a:pPr indent="0" marL="0">
              <a:buNone/>
            </a:pPr>
            <a:r>
              <a:rPr lang="en-US" sz="900" dirty="0">
                <a:solidFill>
                  <a:srgbClr val="43566B"/>
                </a:solidFill>
                <a:latin typeface="Calibri" pitchFamily="34" charset="0"/>
                <a:ea typeface="Calibri" pitchFamily="34" charset="-122"/>
                <a:cs typeface="Calibri" pitchFamily="34" charset="-120"/>
              </a:rPr>
              <a:t>a value this pipeline already read from the company's own report</a:t>
            </a:r>
            <a:endParaRPr lang="en-US" sz="900" dirty="0"/>
          </a:p>
        </p:txBody>
      </p:sp>
      <p:sp>
        <p:nvSpPr>
          <p:cNvPr id="33" name="Shape 24"/>
          <p:cNvSpPr/>
          <p:nvPr/>
        </p:nvSpPr>
        <p:spPr>
          <a:xfrm>
            <a:off x="1024128" y="3364992"/>
            <a:ext cx="0" cy="100584"/>
          </a:xfrm>
          <a:prstGeom prst="line">
            <a:avLst/>
          </a:prstGeom>
          <a:noFill/>
          <a:ln w="13970">
            <a:solidFill>
              <a:srgbClr val="64798F"/>
            </a:solidFill>
            <a:prstDash val="solid"/>
            <a:headEnd type="none"/>
            <a:tailEnd type="triangle"/>
          </a:ln>
        </p:spPr>
      </p:sp>
      <p:sp>
        <p:nvSpPr>
          <p:cNvPr id="34" name="Shape 25"/>
          <p:cNvSpPr/>
          <p:nvPr/>
        </p:nvSpPr>
        <p:spPr>
          <a:xfrm>
            <a:off x="832104" y="3483864"/>
            <a:ext cx="384048" cy="384048"/>
          </a:xfrm>
          <a:prstGeom prst="ellipse">
            <a:avLst/>
          </a:prstGeom>
          <a:solidFill>
            <a:srgbClr val="DCF2F4"/>
          </a:solidFill>
          <a:ln w="15875">
            <a:solidFill>
              <a:srgbClr val="108494"/>
            </a:solidFill>
            <a:prstDash val="solid"/>
          </a:ln>
        </p:spPr>
      </p:sp>
      <p:sp>
        <p:nvSpPr>
          <p:cNvPr id="35" name="Text 26"/>
          <p:cNvSpPr txBox="1"/>
          <p:nvPr/>
        </p:nvSpPr>
        <p:spPr>
          <a:xfrm>
            <a:off x="923544" y="3483864"/>
            <a:ext cx="201168" cy="384048"/>
          </a:xfrm>
          <a:prstGeom prst="rect">
            <a:avLst/>
          </a:prstGeom>
          <a:noFill/>
          <a:ln/>
        </p:spPr>
        <p:txBody>
          <a:bodyPr wrap="square" lIns="0" tIns="0" rIns="0" bIns="0" rtlCol="0" anchor="ctr"/>
          <a:lstStyle/>
          <a:p>
            <a:pPr algn="ctr" indent="0" marL="0">
              <a:lnSpc>
                <a:spcPct val="104000"/>
              </a:lnSpc>
              <a:buNone/>
            </a:pPr>
            <a:r>
              <a:rPr lang="en-US" sz="1000" b="1" dirty="0">
                <a:solidFill>
                  <a:srgbClr val="0A4451"/>
                </a:solidFill>
                <a:latin typeface="Calibri" pitchFamily="34" charset="0"/>
                <a:ea typeface="Calibri" pitchFamily="34" charset="-122"/>
                <a:cs typeface="Calibri" pitchFamily="34" charset="-120"/>
              </a:rPr>
              <a:t>2</a:t>
            </a:r>
            <a:endParaRPr lang="en-US" sz="1000" dirty="0"/>
          </a:p>
        </p:txBody>
      </p:sp>
      <p:sp>
        <p:nvSpPr>
          <p:cNvPr id="36" name="Text 27"/>
          <p:cNvSpPr txBox="1"/>
          <p:nvPr/>
        </p:nvSpPr>
        <p:spPr>
          <a:xfrm>
            <a:off x="1325880" y="3483864"/>
            <a:ext cx="4983480" cy="384048"/>
          </a:xfrm>
          <a:prstGeom prst="rect">
            <a:avLst/>
          </a:prstGeom>
          <a:noFill/>
          <a:ln/>
        </p:spPr>
        <p:txBody>
          <a:bodyPr wrap="square" lIns="0" tIns="0" rIns="0" bIns="0" rtlCol="0" anchor="ctr"/>
          <a:lstStyle/>
          <a:p>
            <a:pPr indent="0" marL="0">
              <a:buNone/>
            </a:pPr>
            <a:r>
              <a:rPr lang="en-US" sz="900" b="1" dirty="0">
                <a:solidFill>
                  <a:srgbClr val="0A4451"/>
                </a:solidFill>
                <a:latin typeface="Calibri" pitchFamily="34" charset="0"/>
                <a:ea typeface="Calibri" pitchFamily="34" charset="-122"/>
                <a:cs typeface="Calibri" pitchFamily="34" charset="-120"/>
              </a:rPr>
              <a:t>Exposure result  </a:t>
            </a:r>
            <a:pPr indent="0" marL="0">
              <a:buNone/>
            </a:pPr>
            <a:r>
              <a:rPr lang="en-US" sz="900" dirty="0">
                <a:solidFill>
                  <a:srgbClr val="43566B"/>
                </a:solidFill>
                <a:latin typeface="Calibri" pitchFamily="34" charset="0"/>
                <a:ea typeface="Calibri" pitchFamily="34" charset="-122"/>
                <a:cs typeface="Calibri" pitchFamily="34" charset="-120"/>
              </a:rPr>
              <a:t>a thematic or indirect-exposure figure already computed for that issuer</a:t>
            </a:r>
            <a:endParaRPr lang="en-US" sz="900" dirty="0"/>
          </a:p>
        </p:txBody>
      </p:sp>
      <p:sp>
        <p:nvSpPr>
          <p:cNvPr id="37" name="Shape 28"/>
          <p:cNvSpPr/>
          <p:nvPr/>
        </p:nvSpPr>
        <p:spPr>
          <a:xfrm>
            <a:off x="1024128" y="3886200"/>
            <a:ext cx="0" cy="100584"/>
          </a:xfrm>
          <a:prstGeom prst="line">
            <a:avLst/>
          </a:prstGeom>
          <a:noFill/>
          <a:ln w="13970">
            <a:solidFill>
              <a:srgbClr val="64798F"/>
            </a:solidFill>
            <a:prstDash val="solid"/>
            <a:headEnd type="none"/>
            <a:tailEnd type="triangle"/>
          </a:ln>
        </p:spPr>
      </p:sp>
      <p:sp>
        <p:nvSpPr>
          <p:cNvPr id="38" name="Shape 29"/>
          <p:cNvSpPr/>
          <p:nvPr/>
        </p:nvSpPr>
        <p:spPr>
          <a:xfrm>
            <a:off x="832104" y="4005072"/>
            <a:ext cx="384048" cy="384048"/>
          </a:xfrm>
          <a:prstGeom prst="ellipse">
            <a:avLst/>
          </a:prstGeom>
          <a:solidFill>
            <a:srgbClr val="E3EDFC"/>
          </a:solidFill>
          <a:ln w="15875">
            <a:solidFill>
              <a:srgbClr val="2F6FD0"/>
            </a:solidFill>
            <a:prstDash val="solid"/>
          </a:ln>
        </p:spPr>
      </p:sp>
      <p:sp>
        <p:nvSpPr>
          <p:cNvPr id="39" name="Text 30"/>
          <p:cNvSpPr txBox="1"/>
          <p:nvPr/>
        </p:nvSpPr>
        <p:spPr>
          <a:xfrm>
            <a:off x="923544" y="4005072"/>
            <a:ext cx="201168" cy="384048"/>
          </a:xfrm>
          <a:prstGeom prst="rect">
            <a:avLst/>
          </a:prstGeom>
          <a:noFill/>
          <a:ln/>
        </p:spPr>
        <p:txBody>
          <a:bodyPr wrap="square" lIns="0" tIns="0" rIns="0" bIns="0" rtlCol="0" anchor="ctr"/>
          <a:lstStyle/>
          <a:p>
            <a:pPr algn="ctr" indent="0" marL="0">
              <a:lnSpc>
                <a:spcPct val="104000"/>
              </a:lnSpc>
              <a:buNone/>
            </a:pPr>
            <a:r>
              <a:rPr lang="en-US" sz="1000" b="1" dirty="0">
                <a:solidFill>
                  <a:srgbClr val="153A61"/>
                </a:solidFill>
                <a:latin typeface="Calibri" pitchFamily="34" charset="0"/>
                <a:ea typeface="Calibri" pitchFamily="34" charset="-122"/>
                <a:cs typeface="Calibri" pitchFamily="34" charset="-120"/>
              </a:rPr>
              <a:t>3</a:t>
            </a:r>
            <a:endParaRPr lang="en-US" sz="1000" dirty="0"/>
          </a:p>
        </p:txBody>
      </p:sp>
      <p:sp>
        <p:nvSpPr>
          <p:cNvPr id="40" name="Text 31"/>
          <p:cNvSpPr txBox="1"/>
          <p:nvPr/>
        </p:nvSpPr>
        <p:spPr>
          <a:xfrm>
            <a:off x="1325880" y="4005072"/>
            <a:ext cx="4983480" cy="384048"/>
          </a:xfrm>
          <a:prstGeom prst="rect">
            <a:avLst/>
          </a:prstGeom>
          <a:noFill/>
          <a:ln/>
        </p:spPr>
        <p:txBody>
          <a:bodyPr wrap="square" lIns="0" tIns="0" rIns="0" bIns="0" rtlCol="0" anchor="ctr"/>
          <a:lstStyle/>
          <a:p>
            <a:pPr indent="0" marL="0">
              <a:buNone/>
            </a:pPr>
            <a:r>
              <a:rPr lang="en-US" sz="900" b="1" dirty="0">
                <a:solidFill>
                  <a:srgbClr val="153A61"/>
                </a:solidFill>
                <a:latin typeface="Calibri" pitchFamily="34" charset="0"/>
                <a:ea typeface="Calibri" pitchFamily="34" charset="-122"/>
                <a:cs typeface="Calibri" pitchFamily="34" charset="-120"/>
              </a:rPr>
              <a:t>Catalogue row  </a:t>
            </a:r>
            <a:pPr indent="0" marL="0">
              <a:buNone/>
            </a:pPr>
            <a:r>
              <a:rPr lang="en-US" sz="900" dirty="0">
                <a:solidFill>
                  <a:srgbClr val="43566B"/>
                </a:solidFill>
                <a:latin typeface="Calibri" pitchFamily="34" charset="0"/>
                <a:ea typeface="Calibri" pitchFamily="34" charset="-122"/>
                <a:cs typeface="Calibri" pitchFamily="34" charset="-120"/>
              </a:rPr>
              <a:t>a supplied reference or vendor value, same shape as any catalogue data point</a:t>
            </a:r>
            <a:endParaRPr lang="en-US" sz="900" dirty="0"/>
          </a:p>
        </p:txBody>
      </p:sp>
      <p:sp>
        <p:nvSpPr>
          <p:cNvPr id="41" name="Shape 32"/>
          <p:cNvSpPr/>
          <p:nvPr/>
        </p:nvSpPr>
        <p:spPr>
          <a:xfrm>
            <a:off x="1024128" y="4407408"/>
            <a:ext cx="0" cy="100584"/>
          </a:xfrm>
          <a:prstGeom prst="line">
            <a:avLst/>
          </a:prstGeom>
          <a:noFill/>
          <a:ln w="13970">
            <a:solidFill>
              <a:srgbClr val="64798F"/>
            </a:solidFill>
            <a:prstDash val="solid"/>
            <a:headEnd type="none"/>
            <a:tailEnd type="triangle"/>
          </a:ln>
        </p:spPr>
      </p:sp>
      <p:sp>
        <p:nvSpPr>
          <p:cNvPr id="42" name="Shape 33"/>
          <p:cNvSpPr/>
          <p:nvPr/>
        </p:nvSpPr>
        <p:spPr>
          <a:xfrm>
            <a:off x="832104" y="4526280"/>
            <a:ext cx="384048" cy="384048"/>
          </a:xfrm>
          <a:prstGeom prst="ellipse">
            <a:avLst/>
          </a:prstGeom>
          <a:solidFill>
            <a:srgbClr val="FBE2E8"/>
          </a:solidFill>
          <a:ln w="15875">
            <a:solidFill>
              <a:srgbClr val="CE3D64"/>
            </a:solidFill>
            <a:prstDash val="solid"/>
          </a:ln>
        </p:spPr>
      </p:sp>
      <p:sp>
        <p:nvSpPr>
          <p:cNvPr id="43" name="Text 34"/>
          <p:cNvSpPr txBox="1"/>
          <p:nvPr/>
        </p:nvSpPr>
        <p:spPr>
          <a:xfrm>
            <a:off x="923544" y="4526280"/>
            <a:ext cx="201168" cy="384048"/>
          </a:xfrm>
          <a:prstGeom prst="rect">
            <a:avLst/>
          </a:prstGeom>
          <a:noFill/>
          <a:ln/>
        </p:spPr>
        <p:txBody>
          <a:bodyPr wrap="square" lIns="0" tIns="0" rIns="0" bIns="0" rtlCol="0" anchor="ctr"/>
          <a:lstStyle/>
          <a:p>
            <a:pPr algn="ctr" indent="0" marL="0">
              <a:lnSpc>
                <a:spcPct val="104000"/>
              </a:lnSpc>
              <a:buNone/>
            </a:pPr>
            <a:r>
              <a:rPr lang="en-US" sz="1000" b="1" dirty="0">
                <a:solidFill>
                  <a:srgbClr val="68182F"/>
                </a:solidFill>
                <a:latin typeface="Calibri" pitchFamily="34" charset="0"/>
                <a:ea typeface="Calibri" pitchFamily="34" charset="-122"/>
                <a:cs typeface="Calibri" pitchFamily="34" charset="-120"/>
              </a:rPr>
              <a:t>4</a:t>
            </a:r>
            <a:endParaRPr lang="en-US" sz="1000" dirty="0"/>
          </a:p>
        </p:txBody>
      </p:sp>
      <p:sp>
        <p:nvSpPr>
          <p:cNvPr id="44" name="Text 35"/>
          <p:cNvSpPr txBox="1"/>
          <p:nvPr/>
        </p:nvSpPr>
        <p:spPr>
          <a:xfrm>
            <a:off x="1325880" y="4526280"/>
            <a:ext cx="4983480" cy="384048"/>
          </a:xfrm>
          <a:prstGeom prst="rect">
            <a:avLst/>
          </a:prstGeom>
          <a:noFill/>
          <a:ln/>
        </p:spPr>
        <p:txBody>
          <a:bodyPr wrap="square" lIns="0" tIns="0" rIns="0" bIns="0" rtlCol="0" anchor="ctr"/>
          <a:lstStyle/>
          <a:p>
            <a:pPr indent="0" marL="0">
              <a:buNone/>
            </a:pPr>
            <a:r>
              <a:rPr lang="en-US" sz="900" b="1" dirty="0">
                <a:solidFill>
                  <a:srgbClr val="68182F"/>
                </a:solidFill>
                <a:latin typeface="Calibri" pitchFamily="34" charset="0"/>
                <a:ea typeface="Calibri" pitchFamily="34" charset="-122"/>
                <a:cs typeface="Calibri" pitchFamily="34" charset="-120"/>
              </a:rPr>
              <a:t>Missing  </a:t>
            </a:r>
            <a:pPr indent="0" marL="0">
              <a:buNone/>
            </a:pPr>
            <a:r>
              <a:rPr lang="en-US" sz="900" dirty="0">
                <a:solidFill>
                  <a:srgbClr val="43566B"/>
                </a:solidFill>
                <a:latin typeface="Calibri" pitchFamily="34" charset="0"/>
                <a:ea typeface="Calibri" pitchFamily="34" charset="-122"/>
                <a:cs typeface="Calibri" pitchFamily="34" charset="-120"/>
              </a:rPr>
              <a:t>reported as missing and counted against coverage — never imputed, never zero</a:t>
            </a:r>
            <a:endParaRPr lang="en-US" sz="900" dirty="0"/>
          </a:p>
        </p:txBody>
      </p:sp>
      <p:sp>
        <p:nvSpPr>
          <p:cNvPr id="45" name="Shape 36"/>
          <p:cNvSpPr/>
          <p:nvPr/>
        </p:nvSpPr>
        <p:spPr>
          <a:xfrm>
            <a:off x="6720840" y="2615184"/>
            <a:ext cx="4873752" cy="2487168"/>
          </a:xfrm>
          <a:prstGeom prst="roundRect">
            <a:avLst>
              <a:gd name="adj" fmla="val 1471"/>
            </a:avLst>
          </a:prstGeom>
          <a:solidFill>
            <a:srgbClr val="F4F7FA"/>
          </a:solidFill>
          <a:ln w="15875">
            <a:solidFill>
              <a:srgbClr val="9FB2C4"/>
            </a:solidFill>
            <a:prstDash val="dash"/>
          </a:ln>
        </p:spPr>
      </p:sp>
      <p:sp>
        <p:nvSpPr>
          <p:cNvPr id="46" name="Shape 37"/>
          <p:cNvSpPr/>
          <p:nvPr/>
        </p:nvSpPr>
        <p:spPr>
          <a:xfrm>
            <a:off x="6867144" y="2496312"/>
            <a:ext cx="3284525" cy="274320"/>
          </a:xfrm>
          <a:prstGeom prst="roundRect">
            <a:avLst>
              <a:gd name="adj" fmla="val 50000"/>
            </a:avLst>
          </a:prstGeom>
          <a:solidFill>
            <a:srgbClr val="64798F"/>
          </a:solidFill>
          <a:ln/>
        </p:spPr>
      </p:sp>
      <p:pic>
        <p:nvPicPr>
          <p:cNvPr id="47" name="Image 7" descr="preencoded.png">    </p:cNvPr>
          <p:cNvPicPr>
            <a:picLocks noChangeAspect="1"/>
          </p:cNvPicPr>
          <p:nvPr/>
        </p:nvPicPr>
        <p:blipFill>
          <a:blip r:embed="rId8"/>
          <a:stretch>
            <a:fillRect/>
          </a:stretch>
        </p:blipFill>
        <p:spPr>
          <a:xfrm>
            <a:off x="6986016" y="2564892"/>
            <a:ext cx="132588" cy="132588"/>
          </a:xfrm>
          <a:prstGeom prst="rect">
            <a:avLst/>
          </a:prstGeom>
        </p:spPr>
      </p:pic>
      <p:sp>
        <p:nvSpPr>
          <p:cNvPr id="48" name="Text 38"/>
          <p:cNvSpPr txBox="1"/>
          <p:nvPr/>
        </p:nvSpPr>
        <p:spPr>
          <a:xfrm>
            <a:off x="7141464" y="2496312"/>
            <a:ext cx="3010205"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CLIMATE VALIDATION, AS A BACKGROUND BATCH</a:t>
            </a:r>
            <a:endParaRPr lang="en-US" sz="850" dirty="0"/>
          </a:p>
        </p:txBody>
      </p:sp>
      <p:sp>
        <p:nvSpPr>
          <p:cNvPr id="49" name="Shape 39"/>
          <p:cNvSpPr/>
          <p:nvPr/>
        </p:nvSpPr>
        <p:spPr>
          <a:xfrm>
            <a:off x="6949440" y="3017520"/>
            <a:ext cx="2011680" cy="658368"/>
          </a:xfrm>
          <a:prstGeom prst="roundRect">
            <a:avLst>
              <a:gd name="adj" fmla="val 13889"/>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50" name="Image 8" descr="preencoded.png">    </p:cNvPr>
          <p:cNvPicPr>
            <a:picLocks noChangeAspect="1"/>
          </p:cNvPicPr>
          <p:nvPr/>
        </p:nvPicPr>
        <p:blipFill>
          <a:blip r:embed="rId9"/>
          <a:stretch>
            <a:fillRect/>
          </a:stretch>
        </p:blipFill>
        <p:spPr>
          <a:xfrm>
            <a:off x="7068312" y="3118104"/>
            <a:ext cx="182880" cy="182880"/>
          </a:xfrm>
          <a:prstGeom prst="rect">
            <a:avLst/>
          </a:prstGeom>
        </p:spPr>
      </p:pic>
      <p:sp>
        <p:nvSpPr>
          <p:cNvPr id="51" name="Text 40"/>
          <p:cNvSpPr txBox="1"/>
          <p:nvPr/>
        </p:nvSpPr>
        <p:spPr>
          <a:xfrm>
            <a:off x="7040880" y="3017520"/>
            <a:ext cx="1828800" cy="658368"/>
          </a:xfrm>
          <a:prstGeom prst="rect">
            <a:avLst/>
          </a:prstGeom>
          <a:noFill/>
          <a:ln/>
        </p:spPr>
        <p:txBody>
          <a:bodyPr wrap="square" lIns="0" tIns="0" rIns="0" bIns="0" rtlCol="0" anchor="ctr"/>
          <a:lstStyle/>
          <a:p>
            <a:pPr algn="ctr" indent="0" marL="0">
              <a:lnSpc>
                <a:spcPct val="104000"/>
              </a:lnSpc>
              <a:buNone/>
            </a:pPr>
            <a:r>
              <a:rPr lang="en-US" sz="1000" b="1" dirty="0">
                <a:solidFill>
                  <a:srgbClr val="0A4451"/>
                </a:solidFill>
                <a:latin typeface="Calibri" pitchFamily="34" charset="0"/>
                <a:ea typeface="Calibri" pitchFamily="34" charset="-122"/>
                <a:cs typeface="Calibri" pitchFamily="34" charset="-120"/>
              </a:rPr>
              <a:t>Internal ESG API</a:t>
            </a:r>
            <a:endParaRPr lang="en-US" sz="1000" dirty="0"/>
          </a:p>
          <a:p>
            <a:pPr algn="ctr" indent="0" marL="0">
              <a:lnSpc>
                <a:spcPct val="104000"/>
              </a:lnSpc>
              <a:buNone/>
            </a:pPr>
            <a:r>
              <a:rPr lang="en-US" sz="780" dirty="0">
                <a:solidFill>
                  <a:srgbClr val="0A4451"/>
                </a:solidFill>
                <a:latin typeface="Calibri" pitchFamily="34" charset="0"/>
                <a:ea typeface="Calibri" pitchFamily="34" charset="-122"/>
                <a:cs typeface="Calibri" pitchFamily="34" charset="-120"/>
              </a:rPr>
              <a:t>operational source of truth</a:t>
            </a:r>
            <a:endParaRPr lang="en-US" sz="1000" dirty="0"/>
          </a:p>
        </p:txBody>
      </p:sp>
      <p:sp>
        <p:nvSpPr>
          <p:cNvPr id="52" name="Shape 41"/>
          <p:cNvSpPr/>
          <p:nvPr/>
        </p:nvSpPr>
        <p:spPr>
          <a:xfrm>
            <a:off x="9326880" y="3017520"/>
            <a:ext cx="2039112" cy="658368"/>
          </a:xfrm>
          <a:prstGeom prst="roundRect">
            <a:avLst>
              <a:gd name="adj" fmla="val 13889"/>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53" name="Image 9" descr="preencoded.png">    </p:cNvPr>
          <p:cNvPicPr>
            <a:picLocks noChangeAspect="1"/>
          </p:cNvPicPr>
          <p:nvPr/>
        </p:nvPicPr>
        <p:blipFill>
          <a:blip r:embed="rId10"/>
          <a:stretch>
            <a:fillRect/>
          </a:stretch>
        </p:blipFill>
        <p:spPr>
          <a:xfrm>
            <a:off x="9445752" y="3118104"/>
            <a:ext cx="182880" cy="182880"/>
          </a:xfrm>
          <a:prstGeom prst="rect">
            <a:avLst/>
          </a:prstGeom>
        </p:spPr>
      </p:pic>
      <p:sp>
        <p:nvSpPr>
          <p:cNvPr id="54" name="Text 42"/>
          <p:cNvSpPr txBox="1"/>
          <p:nvPr/>
        </p:nvSpPr>
        <p:spPr>
          <a:xfrm>
            <a:off x="9418320" y="3017520"/>
            <a:ext cx="1856232" cy="658368"/>
          </a:xfrm>
          <a:prstGeom prst="rect">
            <a:avLst/>
          </a:prstGeom>
          <a:noFill/>
          <a:ln/>
        </p:spPr>
        <p:txBody>
          <a:bodyPr wrap="square" lIns="0" tIns="0" rIns="0" bIns="0" rtlCol="0" anchor="ctr"/>
          <a:lstStyle/>
          <a:p>
            <a:pPr algn="ctr" indent="0" marL="0">
              <a:lnSpc>
                <a:spcPct val="104000"/>
              </a:lnSpc>
              <a:buNone/>
            </a:pPr>
            <a:r>
              <a:rPr lang="en-US" sz="1000" b="1" dirty="0">
                <a:solidFill>
                  <a:srgbClr val="35236E"/>
                </a:solidFill>
                <a:latin typeface="Calibri" pitchFamily="34" charset="0"/>
                <a:ea typeface="Calibri" pitchFamily="34" charset="-122"/>
                <a:cs typeface="Calibri" pitchFamily="34" charset="-120"/>
              </a:rPr>
              <a:t>Independent extraction</a:t>
            </a:r>
            <a:endParaRPr lang="en-US" sz="1000" dirty="0"/>
          </a:p>
          <a:p>
            <a:pPr algn="ctr" indent="0" marL="0">
              <a:lnSpc>
                <a:spcPct val="104000"/>
              </a:lnSpc>
              <a:buNone/>
            </a:pPr>
            <a:r>
              <a:rPr lang="en-US" sz="780" dirty="0">
                <a:solidFill>
                  <a:srgbClr val="35236E"/>
                </a:solidFill>
                <a:latin typeface="Calibri" pitchFamily="34" charset="0"/>
                <a:ea typeface="Calibri" pitchFamily="34" charset="-122"/>
                <a:cs typeface="Calibri" pitchFamily="34" charset="-120"/>
              </a:rPr>
              <a:t>the company's own report, re-read</a:t>
            </a:r>
            <a:endParaRPr lang="en-US" sz="1000" dirty="0"/>
          </a:p>
        </p:txBody>
      </p:sp>
      <p:sp>
        <p:nvSpPr>
          <p:cNvPr id="55" name="Shape 43"/>
          <p:cNvSpPr/>
          <p:nvPr/>
        </p:nvSpPr>
        <p:spPr>
          <a:xfrm>
            <a:off x="8001000" y="3950208"/>
            <a:ext cx="1737360" cy="566928"/>
          </a:xfrm>
          <a:prstGeom prst="diamond">
            <a:avLst/>
          </a:prstGeom>
          <a:solidFill>
            <a:srgbClr val="FCEDD4"/>
          </a:solidFill>
          <a:ln w="15875">
            <a:solidFill>
              <a:srgbClr val="C9871B"/>
            </a:solidFill>
            <a:prstDash val="solid"/>
          </a:ln>
        </p:spPr>
      </p:sp>
      <p:sp>
        <p:nvSpPr>
          <p:cNvPr id="56" name="Text 44"/>
          <p:cNvSpPr txBox="1"/>
          <p:nvPr/>
        </p:nvSpPr>
        <p:spPr>
          <a:xfrm>
            <a:off x="8092440" y="3950208"/>
            <a:ext cx="1554480" cy="566928"/>
          </a:xfrm>
          <a:prstGeom prst="rect">
            <a:avLst/>
          </a:prstGeom>
          <a:noFill/>
          <a:ln/>
        </p:spPr>
        <p:txBody>
          <a:bodyPr wrap="square" lIns="0" tIns="0" rIns="0" bIns="0" rtlCol="0" anchor="ctr"/>
          <a:lstStyle/>
          <a:p>
            <a:pPr algn="ctr" indent="0" marL="0">
              <a:lnSpc>
                <a:spcPct val="104000"/>
              </a:lnSpc>
              <a:buNone/>
            </a:pPr>
            <a:r>
              <a:rPr lang="en-US" sz="950" b="1" dirty="0">
                <a:solidFill>
                  <a:srgbClr val="64430A"/>
                </a:solidFill>
                <a:latin typeface="Calibri" pitchFamily="34" charset="0"/>
                <a:ea typeface="Calibri" pitchFamily="34" charset="-122"/>
                <a:cs typeface="Calibri" pitchFamily="34" charset="-120"/>
              </a:rPr>
              <a:t>agree?</a:t>
            </a:r>
            <a:endParaRPr lang="en-US" sz="950" dirty="0"/>
          </a:p>
        </p:txBody>
      </p:sp>
      <p:sp>
        <p:nvSpPr>
          <p:cNvPr id="57" name="Shape 45"/>
          <p:cNvSpPr/>
          <p:nvPr/>
        </p:nvSpPr>
        <p:spPr>
          <a:xfrm>
            <a:off x="7955280" y="3694176"/>
            <a:ext cx="594360" cy="237744"/>
          </a:xfrm>
          <a:prstGeom prst="line">
            <a:avLst/>
          </a:prstGeom>
          <a:noFill/>
          <a:ln w="16510">
            <a:solidFill>
              <a:srgbClr val="108494"/>
            </a:solidFill>
            <a:prstDash val="solid"/>
            <a:headEnd type="none"/>
            <a:tailEnd type="triangle"/>
          </a:ln>
        </p:spPr>
      </p:sp>
      <p:sp>
        <p:nvSpPr>
          <p:cNvPr id="58" name="Shape 46"/>
          <p:cNvSpPr/>
          <p:nvPr/>
        </p:nvSpPr>
        <p:spPr>
          <a:xfrm flipH="1">
            <a:off x="9235440" y="3694176"/>
            <a:ext cx="1097280" cy="237744"/>
          </a:xfrm>
          <a:prstGeom prst="line">
            <a:avLst/>
          </a:prstGeom>
          <a:noFill/>
          <a:ln w="16510">
            <a:solidFill>
              <a:srgbClr val="6D4DD1"/>
            </a:solidFill>
            <a:prstDash val="solid"/>
            <a:headEnd type="none"/>
            <a:tailEnd type="triangle"/>
          </a:ln>
        </p:spPr>
      </p:sp>
      <p:sp>
        <p:nvSpPr>
          <p:cNvPr id="59" name="Shape 47"/>
          <p:cNvSpPr/>
          <p:nvPr/>
        </p:nvSpPr>
        <p:spPr>
          <a:xfrm>
            <a:off x="6949440" y="4617720"/>
            <a:ext cx="2011680" cy="365760"/>
          </a:xfrm>
          <a:prstGeom prst="roundRect">
            <a:avLst>
              <a:gd name="adj" fmla="val 25000"/>
            </a:avLst>
          </a:prstGeom>
          <a:solidFill>
            <a:srgbClr val="E0F3E3"/>
          </a:solidFill>
          <a:ln w="15875">
            <a:solidFill>
              <a:srgbClr val="2F8F48"/>
            </a:solidFill>
            <a:prstDash val="solid"/>
          </a:ln>
        </p:spPr>
      </p:sp>
      <p:sp>
        <p:nvSpPr>
          <p:cNvPr id="60" name="Text 48"/>
          <p:cNvSpPr txBox="1"/>
          <p:nvPr/>
        </p:nvSpPr>
        <p:spPr>
          <a:xfrm>
            <a:off x="7040880" y="4617720"/>
            <a:ext cx="1828800"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17431F"/>
                </a:solidFill>
                <a:latin typeface="Calibri" pitchFamily="34" charset="0"/>
                <a:ea typeface="Calibri" pitchFamily="34" charset="-122"/>
                <a:cs typeface="Calibri" pitchFamily="34" charset="-120"/>
              </a:rPr>
              <a:t>used, high confidence</a:t>
            </a:r>
            <a:endParaRPr lang="en-US" sz="880" dirty="0"/>
          </a:p>
        </p:txBody>
      </p:sp>
      <p:sp>
        <p:nvSpPr>
          <p:cNvPr id="61" name="Shape 49"/>
          <p:cNvSpPr/>
          <p:nvPr/>
        </p:nvSpPr>
        <p:spPr>
          <a:xfrm>
            <a:off x="9326880" y="4617720"/>
            <a:ext cx="2039112" cy="365760"/>
          </a:xfrm>
          <a:prstGeom prst="roundRect">
            <a:avLst>
              <a:gd name="adj" fmla="val 25000"/>
            </a:avLst>
          </a:prstGeom>
          <a:solidFill>
            <a:srgbClr val="FBE2E8"/>
          </a:solidFill>
          <a:ln w="15875">
            <a:solidFill>
              <a:srgbClr val="CE3D64"/>
            </a:solidFill>
            <a:prstDash val="solid"/>
          </a:ln>
        </p:spPr>
      </p:sp>
      <p:sp>
        <p:nvSpPr>
          <p:cNvPr id="62" name="Text 50"/>
          <p:cNvSpPr txBox="1"/>
          <p:nvPr/>
        </p:nvSpPr>
        <p:spPr>
          <a:xfrm>
            <a:off x="9418320" y="4617720"/>
            <a:ext cx="1856232"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68182F"/>
                </a:solidFill>
                <a:latin typeface="Calibri" pitchFamily="34" charset="0"/>
                <a:ea typeface="Calibri" pitchFamily="34" charset="-122"/>
                <a:cs typeface="Calibri" pitchFamily="34" charset="-120"/>
              </a:rPr>
              <a:t>flagged + queued for review</a:t>
            </a:r>
            <a:endParaRPr lang="en-US" sz="880" dirty="0"/>
          </a:p>
        </p:txBody>
      </p:sp>
      <p:sp>
        <p:nvSpPr>
          <p:cNvPr id="63" name="Shape 51"/>
          <p:cNvSpPr/>
          <p:nvPr/>
        </p:nvSpPr>
        <p:spPr>
          <a:xfrm flipH="1">
            <a:off x="8138160" y="4480560"/>
            <a:ext cx="457200" cy="109728"/>
          </a:xfrm>
          <a:prstGeom prst="line">
            <a:avLst/>
          </a:prstGeom>
          <a:noFill/>
          <a:ln w="15240">
            <a:solidFill>
              <a:srgbClr val="2F8F48"/>
            </a:solidFill>
            <a:prstDash val="solid"/>
            <a:headEnd type="none"/>
            <a:tailEnd type="triangle"/>
          </a:ln>
        </p:spPr>
      </p:sp>
      <p:sp>
        <p:nvSpPr>
          <p:cNvPr id="64" name="Shape 52"/>
          <p:cNvSpPr/>
          <p:nvPr/>
        </p:nvSpPr>
        <p:spPr>
          <a:xfrm>
            <a:off x="9144000" y="4480560"/>
            <a:ext cx="914400" cy="109728"/>
          </a:xfrm>
          <a:prstGeom prst="line">
            <a:avLst/>
          </a:prstGeom>
          <a:noFill/>
          <a:ln w="15240">
            <a:solidFill>
              <a:srgbClr val="CE3D64"/>
            </a:solidFill>
            <a:prstDash val="solid"/>
            <a:headEnd type="none"/>
            <a:tailEnd type="triangle"/>
          </a:ln>
        </p:spPr>
      </p:sp>
      <p:sp>
        <p:nvSpPr>
          <p:cNvPr id="65" name="Shape 53"/>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66" name="Text 54"/>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67" name="Text 55"/>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arp/portfolio/{aggregation,analytics,qa_agent}.py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arp/portfolio/{datapoint_mapping,entity_resolution}.py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arp/portfolio/climate/* · arp/portfolio/news/*</a:t>
            </a:r>
            <a:endParaRPr lang="en-US" sz="860" dirty="0"/>
          </a:p>
        </p:txBody>
      </p:sp>
      <p:sp>
        <p:nvSpPr>
          <p:cNvPr id="68" name="Shape 56"/>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69" name="Text 57"/>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70" name="Text 58"/>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holdings snapshots, registries, climate observations.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grouped exposures, WACI, financed emissions,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coverage %, saved analytics.</a:t>
            </a:r>
            <a:endParaRPr lang="en-US" sz="860" dirty="0"/>
          </a:p>
        </p:txBody>
      </p:sp>
      <p:sp>
        <p:nvSpPr>
          <p:cNvPr id="71" name="Shape 59"/>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72" name="Text 60"/>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73" name="Text 61"/>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No LLM inside an aggregate; the spec is always shown.</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Trend mode never looks ahead to a later restatement.</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Proxy emissions stay opt-in and visibly tagged.</a:t>
            </a:r>
            <a:endParaRPr lang="en-US" sz="8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03   ·   GENERATIVE BI</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A brief becomes a dashboard</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Four stages — and only the first and last involve a model, neither of which ever produces a figure.</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72768"/>
            <a:ext cx="1907438"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1673352"/>
            <a:ext cx="182880" cy="182880"/>
          </a:xfrm>
          <a:prstGeom prst="rect">
            <a:avLst/>
          </a:prstGeom>
        </p:spPr>
      </p:pic>
      <p:sp>
        <p:nvSpPr>
          <p:cNvPr id="9" name="Text 5"/>
          <p:cNvSpPr txBox="1"/>
          <p:nvPr/>
        </p:nvSpPr>
        <p:spPr>
          <a:xfrm>
            <a:off x="685800"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Brief</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“climate risk overview of the leaders fund”</a:t>
            </a:r>
            <a:endParaRPr lang="en-US" sz="1050" dirty="0"/>
          </a:p>
        </p:txBody>
      </p:sp>
      <p:sp>
        <p:nvSpPr>
          <p:cNvPr id="10" name="Shape 6"/>
          <p:cNvSpPr/>
          <p:nvPr/>
        </p:nvSpPr>
        <p:spPr>
          <a:xfrm>
            <a:off x="2556662" y="1947672"/>
            <a:ext cx="256032" cy="0"/>
          </a:xfrm>
          <a:prstGeom prst="line">
            <a:avLst/>
          </a:prstGeom>
          <a:noFill/>
          <a:ln w="21590">
            <a:solidFill>
              <a:srgbClr val="64798F"/>
            </a:solidFill>
            <a:prstDash val="solid"/>
            <a:headEnd type="none"/>
            <a:tailEnd type="triangle"/>
          </a:ln>
        </p:spPr>
      </p:sp>
      <p:sp>
        <p:nvSpPr>
          <p:cNvPr id="11" name="Shape 7"/>
          <p:cNvSpPr/>
          <p:nvPr/>
        </p:nvSpPr>
        <p:spPr>
          <a:xfrm>
            <a:off x="2867558" y="1572768"/>
            <a:ext cx="1907438"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2986430" y="1673352"/>
            <a:ext cx="182880" cy="182880"/>
          </a:xfrm>
          <a:prstGeom prst="rect">
            <a:avLst/>
          </a:prstGeom>
        </p:spPr>
      </p:pic>
      <p:sp>
        <p:nvSpPr>
          <p:cNvPr id="13" name="Text 8"/>
          <p:cNvSpPr txBox="1"/>
          <p:nvPr/>
        </p:nvSpPr>
        <p:spPr>
          <a:xfrm>
            <a:off x="2958998"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Planner</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which queries to run — a DashboardSpec</a:t>
            </a:r>
            <a:endParaRPr lang="en-US" sz="1050" dirty="0"/>
          </a:p>
        </p:txBody>
      </p:sp>
      <p:sp>
        <p:nvSpPr>
          <p:cNvPr id="14" name="Shape 9"/>
          <p:cNvSpPr/>
          <p:nvPr/>
        </p:nvSpPr>
        <p:spPr>
          <a:xfrm>
            <a:off x="4829861" y="1947672"/>
            <a:ext cx="256032" cy="0"/>
          </a:xfrm>
          <a:prstGeom prst="line">
            <a:avLst/>
          </a:prstGeom>
          <a:noFill/>
          <a:ln w="21590">
            <a:solidFill>
              <a:srgbClr val="64798F"/>
            </a:solidFill>
            <a:prstDash val="solid"/>
            <a:headEnd type="none"/>
            <a:tailEnd type="triangle"/>
          </a:ln>
        </p:spPr>
      </p:sp>
      <p:sp>
        <p:nvSpPr>
          <p:cNvPr id="15" name="Shape 10"/>
          <p:cNvSpPr/>
          <p:nvPr/>
        </p:nvSpPr>
        <p:spPr>
          <a:xfrm>
            <a:off x="5140757"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5259629" y="1673352"/>
            <a:ext cx="182880" cy="182880"/>
          </a:xfrm>
          <a:prstGeom prst="rect">
            <a:avLst/>
          </a:prstGeom>
        </p:spPr>
      </p:pic>
      <p:sp>
        <p:nvSpPr>
          <p:cNvPr id="17" name="Text 11"/>
          <p:cNvSpPr txBox="1"/>
          <p:nvPr/>
        </p:nvSpPr>
        <p:spPr>
          <a:xfrm>
            <a:off x="5232197"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Executor</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the panels computed, one query each</a:t>
            </a:r>
            <a:endParaRPr lang="en-US" sz="1050" dirty="0"/>
          </a:p>
        </p:txBody>
      </p:sp>
      <p:sp>
        <p:nvSpPr>
          <p:cNvPr id="18" name="Shape 12"/>
          <p:cNvSpPr/>
          <p:nvPr/>
        </p:nvSpPr>
        <p:spPr>
          <a:xfrm>
            <a:off x="7103059" y="1947672"/>
            <a:ext cx="256032" cy="0"/>
          </a:xfrm>
          <a:prstGeom prst="line">
            <a:avLst/>
          </a:prstGeom>
          <a:noFill/>
          <a:ln w="21590">
            <a:solidFill>
              <a:srgbClr val="64798F"/>
            </a:solidFill>
            <a:prstDash val="solid"/>
            <a:headEnd type="none"/>
            <a:tailEnd type="triangle"/>
          </a:ln>
        </p:spPr>
      </p:sp>
      <p:sp>
        <p:nvSpPr>
          <p:cNvPr id="19" name="Shape 13"/>
          <p:cNvSpPr/>
          <p:nvPr/>
        </p:nvSpPr>
        <p:spPr>
          <a:xfrm>
            <a:off x="7413955"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7532827" y="1673352"/>
            <a:ext cx="182880" cy="182880"/>
          </a:xfrm>
          <a:prstGeom prst="rect">
            <a:avLst/>
          </a:prstGeom>
        </p:spPr>
      </p:pic>
      <p:sp>
        <p:nvSpPr>
          <p:cNvPr id="21" name="Text 14"/>
          <p:cNvSpPr txBox="1"/>
          <p:nvPr/>
        </p:nvSpPr>
        <p:spPr>
          <a:xfrm>
            <a:off x="7505395"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Observations</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the facts worth stating, by arithmetic</a:t>
            </a:r>
            <a:endParaRPr lang="en-US" sz="1050" dirty="0"/>
          </a:p>
        </p:txBody>
      </p:sp>
      <p:sp>
        <p:nvSpPr>
          <p:cNvPr id="22" name="Shape 15"/>
          <p:cNvSpPr/>
          <p:nvPr/>
        </p:nvSpPr>
        <p:spPr>
          <a:xfrm>
            <a:off x="9376258" y="1947672"/>
            <a:ext cx="256032" cy="0"/>
          </a:xfrm>
          <a:prstGeom prst="line">
            <a:avLst/>
          </a:prstGeom>
          <a:noFill/>
          <a:ln w="21590">
            <a:solidFill>
              <a:srgbClr val="64798F"/>
            </a:solidFill>
            <a:prstDash val="solid"/>
            <a:headEnd type="none"/>
            <a:tailEnd type="triangle"/>
          </a:ln>
        </p:spPr>
      </p:sp>
      <p:sp>
        <p:nvSpPr>
          <p:cNvPr id="23" name="Shape 16"/>
          <p:cNvSpPr/>
          <p:nvPr/>
        </p:nvSpPr>
        <p:spPr>
          <a:xfrm>
            <a:off x="9687154" y="1572768"/>
            <a:ext cx="1907438"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4" name="Image 5" descr="preencoded.png">    </p:cNvPr>
          <p:cNvPicPr>
            <a:picLocks noChangeAspect="1"/>
          </p:cNvPicPr>
          <p:nvPr/>
        </p:nvPicPr>
        <p:blipFill>
          <a:blip r:embed="rId6"/>
          <a:stretch>
            <a:fillRect/>
          </a:stretch>
        </p:blipFill>
        <p:spPr>
          <a:xfrm>
            <a:off x="9806026" y="1673352"/>
            <a:ext cx="182880" cy="182880"/>
          </a:xfrm>
          <a:prstGeom prst="rect">
            <a:avLst/>
          </a:prstGeom>
        </p:spPr>
      </p:pic>
      <p:sp>
        <p:nvSpPr>
          <p:cNvPr id="25" name="Text 17"/>
          <p:cNvSpPr txBox="1"/>
          <p:nvPr/>
        </p:nvSpPr>
        <p:spPr>
          <a:xfrm>
            <a:off x="9778594"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Narrator</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prose over those facts, then checked</a:t>
            </a:r>
            <a:endParaRPr lang="en-US" sz="1050" dirty="0"/>
          </a:p>
        </p:txBody>
      </p:sp>
      <p:sp>
        <p:nvSpPr>
          <p:cNvPr id="26" name="Shape 18"/>
          <p:cNvSpPr/>
          <p:nvPr/>
        </p:nvSpPr>
        <p:spPr>
          <a:xfrm>
            <a:off x="594360" y="2670048"/>
            <a:ext cx="3483864" cy="1371600"/>
          </a:xfrm>
          <a:prstGeom prst="roundRect">
            <a:avLst>
              <a:gd name="adj" fmla="val 6667"/>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27" name="Shape 19"/>
          <p:cNvSpPr/>
          <p:nvPr/>
        </p:nvSpPr>
        <p:spPr>
          <a:xfrm>
            <a:off x="3621024" y="2807208"/>
            <a:ext cx="310896" cy="310896"/>
          </a:xfrm>
          <a:prstGeom prst="roundRect">
            <a:avLst>
              <a:gd name="adj" fmla="val 29412"/>
            </a:avLst>
          </a:prstGeom>
          <a:solidFill>
            <a:srgbClr val="C9871B"/>
          </a:solidFill>
          <a:ln/>
        </p:spPr>
      </p:sp>
      <p:pic>
        <p:nvPicPr>
          <p:cNvPr id="28" name="Image 6" descr="preencoded.png">    </p:cNvPr>
          <p:cNvPicPr>
            <a:picLocks noChangeAspect="1"/>
          </p:cNvPicPr>
          <p:nvPr/>
        </p:nvPicPr>
        <p:blipFill>
          <a:blip r:embed="rId7"/>
          <a:stretch>
            <a:fillRect/>
          </a:stretch>
        </p:blipFill>
        <p:spPr>
          <a:xfrm>
            <a:off x="3689421" y="2875605"/>
            <a:ext cx="174102" cy="174102"/>
          </a:xfrm>
          <a:prstGeom prst="rect">
            <a:avLst/>
          </a:prstGeom>
        </p:spPr>
      </p:pic>
      <p:sp>
        <p:nvSpPr>
          <p:cNvPr id="29" name="Text 20"/>
          <p:cNvSpPr txBox="1"/>
          <p:nvPr/>
        </p:nvSpPr>
        <p:spPr>
          <a:xfrm>
            <a:off x="795528" y="2670048"/>
            <a:ext cx="3081528" cy="1371600"/>
          </a:xfrm>
          <a:prstGeom prst="rect">
            <a:avLst/>
          </a:prstGeom>
          <a:noFill/>
          <a:ln/>
        </p:spPr>
        <p:txBody>
          <a:bodyPr wrap="square" lIns="0" tIns="0" rIns="0" bIns="0" rtlCol="0" anchor="ctr"/>
          <a:lstStyle/>
          <a:p>
            <a:pPr algn="l" indent="0" marL="0">
              <a:lnSpc>
                <a:spcPct val="104000"/>
              </a:lnSpc>
              <a:buNone/>
            </a:pPr>
            <a:r>
              <a:rPr lang="en-US" sz="750" b="1" spc="110" kern="0" dirty="0">
                <a:solidFill>
                  <a:srgbClr val="C9871B"/>
                </a:solidFill>
                <a:latin typeface="Calibri" pitchFamily="34" charset="0"/>
                <a:ea typeface="Calibri" pitchFamily="34" charset="-122"/>
                <a:cs typeface="Calibri" pitchFamily="34" charset="-120"/>
              </a:rPr>
              <a:t>VALIDATED AGAINST WHAT EXISTS</a:t>
            </a:r>
            <a:endParaRPr lang="en-US" sz="750" dirty="0"/>
          </a:p>
          <a:p>
            <a:pPr algn="l" indent="0" marL="0">
              <a:lnSpc>
                <a:spcPct val="104000"/>
              </a:lnSpc>
              <a:buNone/>
            </a:pPr>
            <a:r>
              <a:rPr lang="en-US" sz="860" dirty="0">
                <a:solidFill>
                  <a:srgbClr val="64430A"/>
                </a:solidFill>
                <a:latin typeface="Calibri" pitchFamily="34" charset="0"/>
                <a:ea typeface="Calibri" pitchFamily="34" charset="-122"/>
                <a:cs typeface="Calibri" pitchFamily="34" charset="-120"/>
              </a:rPr>
              <a:t>Every panel is re-checked against the live portfolio, issuer, sector, field and snapshot-date directories. One naming something unknown is dropped with a visible warning — never quietly coerced into something valid, which would answer a question nobody asked. A rejected panel gets exactly one repair attempt, validated the same way.</a:t>
            </a:r>
            <a:endParaRPr lang="en-US" sz="750" dirty="0"/>
          </a:p>
        </p:txBody>
      </p:sp>
      <p:sp>
        <p:nvSpPr>
          <p:cNvPr id="30" name="Shape 21"/>
          <p:cNvSpPr/>
          <p:nvPr/>
        </p:nvSpPr>
        <p:spPr>
          <a:xfrm>
            <a:off x="3821278" y="2359152"/>
            <a:ext cx="0" cy="274320"/>
          </a:xfrm>
          <a:prstGeom prst="line">
            <a:avLst/>
          </a:prstGeom>
          <a:noFill/>
          <a:ln w="19050">
            <a:solidFill>
              <a:srgbClr val="C9871B"/>
            </a:solidFill>
            <a:prstDash val="solid"/>
            <a:headEnd type="none"/>
            <a:tailEnd type="triangle"/>
          </a:ln>
        </p:spPr>
      </p:sp>
      <p:sp>
        <p:nvSpPr>
          <p:cNvPr id="31" name="Shape 22"/>
          <p:cNvSpPr/>
          <p:nvPr/>
        </p:nvSpPr>
        <p:spPr>
          <a:xfrm>
            <a:off x="4352544" y="2670048"/>
            <a:ext cx="3483864" cy="1371600"/>
          </a:xfrm>
          <a:prstGeom prst="roundRect">
            <a:avLst>
              <a:gd name="adj" fmla="val 6667"/>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32" name="Shape 23"/>
          <p:cNvSpPr/>
          <p:nvPr/>
        </p:nvSpPr>
        <p:spPr>
          <a:xfrm>
            <a:off x="7379208" y="2807208"/>
            <a:ext cx="310896" cy="310896"/>
          </a:xfrm>
          <a:prstGeom prst="roundRect">
            <a:avLst>
              <a:gd name="adj" fmla="val 29412"/>
            </a:avLst>
          </a:prstGeom>
          <a:solidFill>
            <a:srgbClr val="108494"/>
          </a:solidFill>
          <a:ln/>
        </p:spPr>
      </p:sp>
      <p:pic>
        <p:nvPicPr>
          <p:cNvPr id="33" name="Image 7" descr="preencoded.png">    </p:cNvPr>
          <p:cNvPicPr>
            <a:picLocks noChangeAspect="1"/>
          </p:cNvPicPr>
          <p:nvPr/>
        </p:nvPicPr>
        <p:blipFill>
          <a:blip r:embed="rId8"/>
          <a:stretch>
            <a:fillRect/>
          </a:stretch>
        </p:blipFill>
        <p:spPr>
          <a:xfrm>
            <a:off x="7447605" y="2875605"/>
            <a:ext cx="174102" cy="174102"/>
          </a:xfrm>
          <a:prstGeom prst="rect">
            <a:avLst/>
          </a:prstGeom>
        </p:spPr>
      </p:pic>
      <p:sp>
        <p:nvSpPr>
          <p:cNvPr id="34" name="Text 24"/>
          <p:cNvSpPr txBox="1"/>
          <p:nvPr/>
        </p:nvSpPr>
        <p:spPr>
          <a:xfrm>
            <a:off x="4553712" y="2670048"/>
            <a:ext cx="3081528" cy="1371600"/>
          </a:xfrm>
          <a:prstGeom prst="rect">
            <a:avLst/>
          </a:prstGeom>
          <a:noFill/>
          <a:ln/>
        </p:spPr>
        <p:txBody>
          <a:bodyPr wrap="square" lIns="0" tIns="0" rIns="0" bIns="0" rtlCol="0" anchor="ctr"/>
          <a:lstStyle/>
          <a:p>
            <a:pPr algn="l" indent="0" marL="0">
              <a:lnSpc>
                <a:spcPct val="104000"/>
              </a:lnSpc>
              <a:buNone/>
            </a:pPr>
            <a:r>
              <a:rPr lang="en-US" sz="750" b="1" spc="110" kern="0" dirty="0">
                <a:solidFill>
                  <a:srgbClr val="108494"/>
                </a:solidFill>
                <a:latin typeface="Calibri" pitchFamily="34" charset="0"/>
                <a:ea typeface="Calibri" pitchFamily="34" charset="-122"/>
                <a:cs typeface="Calibri" pitchFamily="34" charset="-120"/>
              </a:rPr>
              <a:t>NO BI-SPECIFIC ARITHMETIC</a:t>
            </a:r>
            <a:endParaRPr lang="en-US" sz="750" dirty="0"/>
          </a:p>
          <a:p>
            <a:pPr algn="l" indent="0" marL="0">
              <a:lnSpc>
                <a:spcPct val="104000"/>
              </a:lnSpc>
              <a:buNone/>
            </a:pPr>
            <a:r>
              <a:rPr lang="en-US" sz="860" dirty="0">
                <a:solidFill>
                  <a:srgbClr val="0A4451"/>
                </a:solidFill>
                <a:latin typeface="Calibri" pitchFamily="34" charset="0"/>
                <a:ea typeface="Calibri" pitchFamily="34" charset="-122"/>
                <a:cs typeface="Calibri" pitchFamily="34" charset="-120"/>
              </a:rPr>
              <a:t>Each panel runs through the same deterministic analytics engine the Explore and Pivot tabs use — there is no generative-BI computation anywhere in the system. A panel that fails carries its error and renders as a failed panel; it never takes the dashboard down with it.</a:t>
            </a:r>
            <a:endParaRPr lang="en-US" sz="750" dirty="0"/>
          </a:p>
        </p:txBody>
      </p:sp>
      <p:sp>
        <p:nvSpPr>
          <p:cNvPr id="35" name="Shape 25"/>
          <p:cNvSpPr/>
          <p:nvPr/>
        </p:nvSpPr>
        <p:spPr>
          <a:xfrm>
            <a:off x="6094476" y="2359152"/>
            <a:ext cx="0" cy="274320"/>
          </a:xfrm>
          <a:prstGeom prst="line">
            <a:avLst/>
          </a:prstGeom>
          <a:noFill/>
          <a:ln w="19050">
            <a:solidFill>
              <a:srgbClr val="108494"/>
            </a:solidFill>
            <a:prstDash val="solid"/>
            <a:headEnd type="none"/>
            <a:tailEnd type="triangle"/>
          </a:ln>
        </p:spPr>
      </p:sp>
      <p:sp>
        <p:nvSpPr>
          <p:cNvPr id="36" name="Shape 26"/>
          <p:cNvSpPr/>
          <p:nvPr/>
        </p:nvSpPr>
        <p:spPr>
          <a:xfrm>
            <a:off x="8110728" y="2670048"/>
            <a:ext cx="3483864" cy="1371600"/>
          </a:xfrm>
          <a:prstGeom prst="roundRect">
            <a:avLst>
              <a:gd name="adj" fmla="val 6667"/>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37" name="Shape 27"/>
          <p:cNvSpPr/>
          <p:nvPr/>
        </p:nvSpPr>
        <p:spPr>
          <a:xfrm>
            <a:off x="11137392" y="2807208"/>
            <a:ext cx="310896" cy="310896"/>
          </a:xfrm>
          <a:prstGeom prst="roundRect">
            <a:avLst>
              <a:gd name="adj" fmla="val 29412"/>
            </a:avLst>
          </a:prstGeom>
          <a:solidFill>
            <a:srgbClr val="C9871B"/>
          </a:solidFill>
          <a:ln/>
        </p:spPr>
      </p:sp>
      <p:pic>
        <p:nvPicPr>
          <p:cNvPr id="38" name="Image 8" descr="preencoded.png">    </p:cNvPr>
          <p:cNvPicPr>
            <a:picLocks noChangeAspect="1"/>
          </p:cNvPicPr>
          <p:nvPr/>
        </p:nvPicPr>
        <p:blipFill>
          <a:blip r:embed="rId9"/>
          <a:stretch>
            <a:fillRect/>
          </a:stretch>
        </p:blipFill>
        <p:spPr>
          <a:xfrm>
            <a:off x="11205789" y="2875605"/>
            <a:ext cx="174102" cy="174102"/>
          </a:xfrm>
          <a:prstGeom prst="rect">
            <a:avLst/>
          </a:prstGeom>
        </p:spPr>
      </p:pic>
      <p:sp>
        <p:nvSpPr>
          <p:cNvPr id="39" name="Text 28"/>
          <p:cNvSpPr txBox="1"/>
          <p:nvPr/>
        </p:nvSpPr>
        <p:spPr>
          <a:xfrm>
            <a:off x="8311896" y="2670048"/>
            <a:ext cx="3081528" cy="1371600"/>
          </a:xfrm>
          <a:prstGeom prst="rect">
            <a:avLst/>
          </a:prstGeom>
          <a:noFill/>
          <a:ln/>
        </p:spPr>
        <p:txBody>
          <a:bodyPr wrap="square" lIns="0" tIns="0" rIns="0" bIns="0" rtlCol="0" anchor="ctr"/>
          <a:lstStyle/>
          <a:p>
            <a:pPr algn="l" indent="0" marL="0">
              <a:lnSpc>
                <a:spcPct val="104000"/>
              </a:lnSpc>
              <a:buNone/>
            </a:pPr>
            <a:r>
              <a:rPr lang="en-US" sz="750" b="1" spc="110" kern="0" dirty="0">
                <a:solidFill>
                  <a:srgbClr val="C9871B"/>
                </a:solidFill>
                <a:latin typeface="Calibri" pitchFamily="34" charset="0"/>
                <a:ea typeface="Calibri" pitchFamily="34" charset="-122"/>
                <a:cs typeface="Calibri" pitchFamily="34" charset="-120"/>
              </a:rPr>
              <a:t>NUMERIC GROUNDING, PER SENTENCE</a:t>
            </a:r>
            <a:endParaRPr lang="en-US" sz="750" dirty="0"/>
          </a:p>
          <a:p>
            <a:pPr algn="l" indent="0" marL="0">
              <a:lnSpc>
                <a:spcPct val="104000"/>
              </a:lnSpc>
              <a:buNone/>
            </a:pPr>
            <a:r>
              <a:rPr lang="en-US" sz="860" dirty="0">
                <a:solidFill>
                  <a:srgbClr val="64430A"/>
                </a:solidFill>
                <a:latin typeface="Calibri" pitchFamily="34" charset="0"/>
                <a:ea typeface="Calibri" pitchFamily="34" charset="-122"/>
                <a:cs typeface="Calibri" pitchFamily="34" charset="-120"/>
              </a:rPr>
              <a:t>Every number and date in the prose must match a computed fact — an honest rescaling (“EUR 1.23 million” for 1,234,567) allowed within 1%, a figure merely derivable from two facts is not. The sentence carrying an unsupported figure is dropped and the rest is kept.</a:t>
            </a:r>
            <a:endParaRPr lang="en-US" sz="750" dirty="0"/>
          </a:p>
        </p:txBody>
      </p:sp>
      <p:sp>
        <p:nvSpPr>
          <p:cNvPr id="40" name="Shape 29"/>
          <p:cNvSpPr/>
          <p:nvPr/>
        </p:nvSpPr>
        <p:spPr>
          <a:xfrm>
            <a:off x="10640873" y="2359152"/>
            <a:ext cx="0" cy="274320"/>
          </a:xfrm>
          <a:prstGeom prst="line">
            <a:avLst/>
          </a:prstGeom>
          <a:noFill/>
          <a:ln w="19050">
            <a:solidFill>
              <a:srgbClr val="C9871B"/>
            </a:solidFill>
            <a:prstDash val="solid"/>
            <a:headEnd type="none"/>
            <a:tailEnd type="triangle"/>
          </a:ln>
        </p:spPr>
      </p:sp>
      <p:sp>
        <p:nvSpPr>
          <p:cNvPr id="41" name="Shape 30"/>
          <p:cNvSpPr/>
          <p:nvPr/>
        </p:nvSpPr>
        <p:spPr>
          <a:xfrm>
            <a:off x="594360" y="4315968"/>
            <a:ext cx="3483864" cy="713232"/>
          </a:xfrm>
          <a:prstGeom prst="roundRect">
            <a:avLst>
              <a:gd name="adj" fmla="val 12821"/>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42" name="Shape 31"/>
          <p:cNvSpPr/>
          <p:nvPr/>
        </p:nvSpPr>
        <p:spPr>
          <a:xfrm>
            <a:off x="731520" y="4517136"/>
            <a:ext cx="310896" cy="310896"/>
          </a:xfrm>
          <a:prstGeom prst="roundRect">
            <a:avLst>
              <a:gd name="adj" fmla="val 29412"/>
            </a:avLst>
          </a:prstGeom>
          <a:solidFill>
            <a:srgbClr val="2F8F48"/>
          </a:solidFill>
          <a:ln/>
        </p:spPr>
      </p:sp>
      <p:pic>
        <p:nvPicPr>
          <p:cNvPr id="43" name="Image 9" descr="preencoded.png">    </p:cNvPr>
          <p:cNvPicPr>
            <a:picLocks noChangeAspect="1"/>
          </p:cNvPicPr>
          <p:nvPr/>
        </p:nvPicPr>
        <p:blipFill>
          <a:blip r:embed="rId10"/>
          <a:stretch>
            <a:fillRect/>
          </a:stretch>
        </p:blipFill>
        <p:spPr>
          <a:xfrm>
            <a:off x="799917" y="4585533"/>
            <a:ext cx="174102" cy="174102"/>
          </a:xfrm>
          <a:prstGeom prst="rect">
            <a:avLst/>
          </a:prstGeom>
        </p:spPr>
      </p:pic>
      <p:sp>
        <p:nvSpPr>
          <p:cNvPr id="44" name="Text 32"/>
          <p:cNvSpPr txBox="1"/>
          <p:nvPr/>
        </p:nvSpPr>
        <p:spPr>
          <a:xfrm>
            <a:off x="1179576" y="4315968"/>
            <a:ext cx="2788920" cy="713232"/>
          </a:xfrm>
          <a:prstGeom prst="rect">
            <a:avLst/>
          </a:prstGeom>
          <a:noFill/>
          <a:ln/>
        </p:spPr>
        <p:txBody>
          <a:bodyPr wrap="square" lIns="0" tIns="0" rIns="0" bIns="0" rtlCol="0" anchor="ctr"/>
          <a:lstStyle/>
          <a:p>
            <a:pPr algn="l" indent="0" marL="0">
              <a:lnSpc>
                <a:spcPct val="104000"/>
              </a:lnSpc>
              <a:buNone/>
            </a:pPr>
            <a:r>
              <a:rPr lang="en-US" sz="1000" b="1" dirty="0">
                <a:solidFill>
                  <a:srgbClr val="17431F"/>
                </a:solidFill>
                <a:latin typeface="Calibri" pitchFamily="34" charset="0"/>
                <a:ea typeface="Calibri" pitchFamily="34" charset="-122"/>
                <a:cs typeface="Calibri" pitchFamily="34" charset="-120"/>
              </a:rPr>
              <a:t>Saved as a plan, not as prose</a:t>
            </a:r>
            <a:endParaRPr lang="en-US" sz="100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a DashboardSpec re-runs with zero LLM calls — the numbers can only move if the holdings do</a:t>
            </a:r>
            <a:endParaRPr lang="en-US" sz="1000" dirty="0"/>
          </a:p>
        </p:txBody>
      </p:sp>
      <p:sp>
        <p:nvSpPr>
          <p:cNvPr id="45" name="Shape 33"/>
          <p:cNvSpPr/>
          <p:nvPr/>
        </p:nvSpPr>
        <p:spPr>
          <a:xfrm>
            <a:off x="2336292" y="4059936"/>
            <a:ext cx="0" cy="219456"/>
          </a:xfrm>
          <a:prstGeom prst="line">
            <a:avLst/>
          </a:prstGeom>
          <a:noFill/>
          <a:ln w="17780">
            <a:solidFill>
              <a:srgbClr val="64798F"/>
            </a:solidFill>
            <a:prstDash val="solid"/>
            <a:headEnd type="none"/>
            <a:tailEnd type="triangle"/>
          </a:ln>
        </p:spPr>
      </p:sp>
      <p:sp>
        <p:nvSpPr>
          <p:cNvPr id="46" name="Shape 34"/>
          <p:cNvSpPr/>
          <p:nvPr/>
        </p:nvSpPr>
        <p:spPr>
          <a:xfrm>
            <a:off x="4352544" y="4315968"/>
            <a:ext cx="3483864" cy="713232"/>
          </a:xfrm>
          <a:prstGeom prst="roundRect">
            <a:avLst>
              <a:gd name="adj" fmla="val 12821"/>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sp>
        <p:nvSpPr>
          <p:cNvPr id="47" name="Shape 35"/>
          <p:cNvSpPr/>
          <p:nvPr/>
        </p:nvSpPr>
        <p:spPr>
          <a:xfrm>
            <a:off x="4489704" y="4517136"/>
            <a:ext cx="310896" cy="310896"/>
          </a:xfrm>
          <a:prstGeom prst="roundRect">
            <a:avLst>
              <a:gd name="adj" fmla="val 29412"/>
            </a:avLst>
          </a:prstGeom>
          <a:solidFill>
            <a:srgbClr val="CE3D64"/>
          </a:solidFill>
          <a:ln/>
        </p:spPr>
      </p:sp>
      <p:pic>
        <p:nvPicPr>
          <p:cNvPr id="48" name="Image 10" descr="preencoded.png">    </p:cNvPr>
          <p:cNvPicPr>
            <a:picLocks noChangeAspect="1"/>
          </p:cNvPicPr>
          <p:nvPr/>
        </p:nvPicPr>
        <p:blipFill>
          <a:blip r:embed="rId11"/>
          <a:stretch>
            <a:fillRect/>
          </a:stretch>
        </p:blipFill>
        <p:spPr>
          <a:xfrm>
            <a:off x="4558101" y="4585533"/>
            <a:ext cx="174102" cy="174102"/>
          </a:xfrm>
          <a:prstGeom prst="rect">
            <a:avLst/>
          </a:prstGeom>
        </p:spPr>
      </p:pic>
      <p:sp>
        <p:nvSpPr>
          <p:cNvPr id="49" name="Text 36"/>
          <p:cNvSpPr txBox="1"/>
          <p:nvPr/>
        </p:nvSpPr>
        <p:spPr>
          <a:xfrm>
            <a:off x="4937760" y="4315968"/>
            <a:ext cx="2788920" cy="713232"/>
          </a:xfrm>
          <a:prstGeom prst="rect">
            <a:avLst/>
          </a:prstGeom>
          <a:noFill/>
          <a:ln/>
        </p:spPr>
        <p:txBody>
          <a:bodyPr wrap="square" lIns="0" tIns="0" rIns="0" bIns="0" rtlCol="0" anchor="ctr"/>
          <a:lstStyle/>
          <a:p>
            <a:pPr algn="l" indent="0" marL="0">
              <a:lnSpc>
                <a:spcPct val="104000"/>
              </a:lnSpc>
              <a:buNone/>
            </a:pPr>
            <a:r>
              <a:rPr lang="en-US" sz="1000" b="1" dirty="0">
                <a:solidFill>
                  <a:srgbClr val="68182F"/>
                </a:solidFill>
                <a:latin typeface="Calibri" pitchFamily="34" charset="0"/>
                <a:ea typeface="Calibri" pitchFamily="34" charset="-122"/>
                <a:cs typeface="Calibri" pitchFamily="34" charset="-120"/>
              </a:rPr>
              <a:t>A brief it cannot map is refused</a:t>
            </a:r>
            <a:endParaRPr lang="en-US" sz="1000" dirty="0"/>
          </a:p>
          <a:p>
            <a:pPr algn="l" indent="0" marL="0">
              <a:lnSpc>
                <a:spcPct val="104000"/>
              </a:lnSpc>
              <a:buNone/>
            </a:pPr>
            <a:r>
              <a:rPr lang="en-US" sz="800" dirty="0">
                <a:solidFill>
                  <a:srgbClr val="68182F"/>
                </a:solidFill>
                <a:latin typeface="Calibri" pitchFamily="34" charset="0"/>
                <a:ea typeface="Calibri" pitchFamily="34" charset="-122"/>
                <a:cs typeface="Calibri" pitchFamily="34" charset="-120"/>
              </a:rPr>
              <a:t>clarification_needed comes back instead of invented panels</a:t>
            </a:r>
            <a:endParaRPr lang="en-US" sz="1000" dirty="0"/>
          </a:p>
        </p:txBody>
      </p:sp>
      <p:sp>
        <p:nvSpPr>
          <p:cNvPr id="50" name="Shape 37"/>
          <p:cNvSpPr/>
          <p:nvPr/>
        </p:nvSpPr>
        <p:spPr>
          <a:xfrm>
            <a:off x="6094476" y="4059936"/>
            <a:ext cx="0" cy="219456"/>
          </a:xfrm>
          <a:prstGeom prst="line">
            <a:avLst/>
          </a:prstGeom>
          <a:noFill/>
          <a:ln w="17780">
            <a:solidFill>
              <a:srgbClr val="64798F"/>
            </a:solidFill>
            <a:prstDash val="solid"/>
            <a:headEnd type="none"/>
            <a:tailEnd type="triangle"/>
          </a:ln>
        </p:spPr>
      </p:sp>
      <p:sp>
        <p:nvSpPr>
          <p:cNvPr id="51" name="Shape 38"/>
          <p:cNvSpPr/>
          <p:nvPr/>
        </p:nvSpPr>
        <p:spPr>
          <a:xfrm>
            <a:off x="8110728" y="4315968"/>
            <a:ext cx="3483864" cy="713232"/>
          </a:xfrm>
          <a:prstGeom prst="roundRect">
            <a:avLst>
              <a:gd name="adj" fmla="val 12821"/>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52" name="Shape 39"/>
          <p:cNvSpPr/>
          <p:nvPr/>
        </p:nvSpPr>
        <p:spPr>
          <a:xfrm>
            <a:off x="8247888" y="4517136"/>
            <a:ext cx="310896" cy="310896"/>
          </a:xfrm>
          <a:prstGeom prst="roundRect">
            <a:avLst>
              <a:gd name="adj" fmla="val 29412"/>
            </a:avLst>
          </a:prstGeom>
          <a:solidFill>
            <a:srgbClr val="C9871B"/>
          </a:solidFill>
          <a:ln/>
        </p:spPr>
      </p:sp>
      <p:pic>
        <p:nvPicPr>
          <p:cNvPr id="53" name="Image 11" descr="preencoded.png">    </p:cNvPr>
          <p:cNvPicPr>
            <a:picLocks noChangeAspect="1"/>
          </p:cNvPicPr>
          <p:nvPr/>
        </p:nvPicPr>
        <p:blipFill>
          <a:blip r:embed="rId12"/>
          <a:stretch>
            <a:fillRect/>
          </a:stretch>
        </p:blipFill>
        <p:spPr>
          <a:xfrm>
            <a:off x="8316285" y="4585533"/>
            <a:ext cx="174102" cy="174102"/>
          </a:xfrm>
          <a:prstGeom prst="rect">
            <a:avLst/>
          </a:prstGeom>
        </p:spPr>
      </p:pic>
      <p:sp>
        <p:nvSpPr>
          <p:cNvPr id="54" name="Text 40"/>
          <p:cNvSpPr txBox="1"/>
          <p:nvPr/>
        </p:nvSpPr>
        <p:spPr>
          <a:xfrm>
            <a:off x="8695944" y="4315968"/>
            <a:ext cx="2788920" cy="713232"/>
          </a:xfrm>
          <a:prstGeom prst="rect">
            <a:avLst/>
          </a:prstGeom>
          <a:noFill/>
          <a:ln/>
        </p:spPr>
        <p:txBody>
          <a:bodyPr wrap="square" lIns="0" tIns="0" rIns="0" bIns="0" rtlCol="0" anchor="ctr"/>
          <a:lstStyle/>
          <a:p>
            <a:pPr algn="l" indent="0" marL="0">
              <a:lnSpc>
                <a:spcPct val="104000"/>
              </a:lnSpc>
              <a:buNone/>
            </a:pPr>
            <a:r>
              <a:rPr lang="en-US" sz="1000" b="1" dirty="0">
                <a:solidFill>
                  <a:srgbClr val="64430A"/>
                </a:solidFill>
                <a:latin typeface="Calibri" pitchFamily="34" charset="0"/>
                <a:ea typeface="Calibri" pitchFamily="34" charset="-122"/>
                <a:cs typeface="Calibri" pitchFamily="34" charset="-120"/>
              </a:rPr>
              <a:t>arp golden-set planner</a:t>
            </a:r>
            <a:endParaRPr lang="en-US" sz="1000" dirty="0"/>
          </a:p>
          <a:p>
            <a:pPr algn="l" indent="0" marL="0">
              <a:lnSpc>
                <a:spcPct val="104000"/>
              </a:lnSpc>
              <a:buNone/>
            </a:pPr>
            <a:r>
              <a:rPr lang="en-US" sz="800" dirty="0">
                <a:solidFill>
                  <a:srgbClr val="64430A"/>
                </a:solidFill>
                <a:latin typeface="Calibri" pitchFamily="34" charset="0"/>
                <a:ea typeface="Calibri" pitchFamily="34" charset="-122"/>
                <a:cs typeface="Calibri" pitchFamily="34" charset="-120"/>
              </a:rPr>
              <a:t>briefs with known-correct dashboard shapes, run before the planning prompt changes</a:t>
            </a:r>
            <a:endParaRPr lang="en-US" sz="1000" dirty="0"/>
          </a:p>
        </p:txBody>
      </p:sp>
      <p:sp>
        <p:nvSpPr>
          <p:cNvPr id="55" name="Shape 41"/>
          <p:cNvSpPr/>
          <p:nvPr/>
        </p:nvSpPr>
        <p:spPr>
          <a:xfrm>
            <a:off x="9852660" y="4059936"/>
            <a:ext cx="0" cy="219456"/>
          </a:xfrm>
          <a:prstGeom prst="line">
            <a:avLst/>
          </a:prstGeom>
          <a:noFill/>
          <a:ln w="17780">
            <a:solidFill>
              <a:srgbClr val="64798F"/>
            </a:solidFill>
            <a:prstDash val="solid"/>
            <a:headEnd type="none"/>
            <a:tailEnd type="triangle"/>
          </a:ln>
        </p:spPr>
      </p:sp>
      <p:sp>
        <p:nvSpPr>
          <p:cNvPr id="56" name="Shape 42"/>
          <p:cNvSpPr/>
          <p:nvPr/>
        </p:nvSpPr>
        <p:spPr>
          <a:xfrm>
            <a:off x="594360" y="5138928"/>
            <a:ext cx="3532632" cy="941832"/>
          </a:xfrm>
          <a:prstGeom prst="roundRect">
            <a:avLst>
              <a:gd name="adj" fmla="val 3883"/>
            </a:avLst>
          </a:prstGeom>
          <a:solidFill>
            <a:srgbClr val="F4F7FA"/>
          </a:solidFill>
          <a:ln w="15875">
            <a:solidFill>
              <a:srgbClr val="DDE5ED"/>
            </a:solidFill>
            <a:prstDash val="solid"/>
          </a:ln>
        </p:spPr>
      </p:sp>
      <p:sp>
        <p:nvSpPr>
          <p:cNvPr id="57" name="Text 43"/>
          <p:cNvSpPr txBox="1"/>
          <p:nvPr/>
        </p:nvSpPr>
        <p:spPr>
          <a:xfrm>
            <a:off x="758952" y="523951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58" name="Text 44"/>
          <p:cNvSpPr txBox="1"/>
          <p:nvPr/>
        </p:nvSpPr>
        <p:spPr>
          <a:xfrm>
            <a:off x="758952" y="545896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arp/portfolio/genbi/{planner,executor}.py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arp/portfolio/genbi/{observations,narrator,service}.py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arp/golden_set/planner_runner.py · data/planner_cases.json</a:t>
            </a:r>
            <a:endParaRPr lang="en-US" sz="860" dirty="0"/>
          </a:p>
        </p:txBody>
      </p:sp>
      <p:sp>
        <p:nvSpPr>
          <p:cNvPr id="59" name="Shape 45"/>
          <p:cNvSpPr/>
          <p:nvPr/>
        </p:nvSpPr>
        <p:spPr>
          <a:xfrm>
            <a:off x="4328160" y="5138928"/>
            <a:ext cx="3532632" cy="941832"/>
          </a:xfrm>
          <a:prstGeom prst="roundRect">
            <a:avLst>
              <a:gd name="adj" fmla="val 3883"/>
            </a:avLst>
          </a:prstGeom>
          <a:solidFill>
            <a:srgbClr val="F4F7FA"/>
          </a:solidFill>
          <a:ln w="15875">
            <a:solidFill>
              <a:srgbClr val="DDE5ED"/>
            </a:solidFill>
            <a:prstDash val="solid"/>
          </a:ln>
        </p:spPr>
      </p:sp>
      <p:sp>
        <p:nvSpPr>
          <p:cNvPr id="60" name="Text 46"/>
          <p:cNvSpPr txBox="1"/>
          <p:nvPr/>
        </p:nvSpPr>
        <p:spPr>
          <a:xfrm>
            <a:off x="4492752" y="523951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61" name="Text 47"/>
          <p:cNvSpPr txBox="1"/>
          <p:nvPr/>
        </p:nvSpPr>
        <p:spPr>
          <a:xfrm>
            <a:off x="4492752" y="545896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a plain-language brief + the live holdings directories.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a DashboardSpec of validated panels, each with its result,</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its facts, its commentary and the grounding verdict.</a:t>
            </a:r>
            <a:endParaRPr lang="en-US" sz="860" dirty="0"/>
          </a:p>
        </p:txBody>
      </p:sp>
      <p:sp>
        <p:nvSpPr>
          <p:cNvPr id="62" name="Shape 48"/>
          <p:cNvSpPr/>
          <p:nvPr/>
        </p:nvSpPr>
        <p:spPr>
          <a:xfrm>
            <a:off x="8061960" y="5138928"/>
            <a:ext cx="3532632" cy="941832"/>
          </a:xfrm>
          <a:prstGeom prst="roundRect">
            <a:avLst>
              <a:gd name="adj" fmla="val 3883"/>
            </a:avLst>
          </a:prstGeom>
          <a:solidFill>
            <a:srgbClr val="F4F7FA"/>
          </a:solidFill>
          <a:ln w="15875">
            <a:solidFill>
              <a:srgbClr val="DDE5ED"/>
            </a:solidFill>
            <a:prstDash val="solid"/>
          </a:ln>
        </p:spPr>
      </p:sp>
      <p:sp>
        <p:nvSpPr>
          <p:cNvPr id="63" name="Text 49"/>
          <p:cNvSpPr txBox="1"/>
          <p:nvPr/>
        </p:nvSpPr>
        <p:spPr>
          <a:xfrm>
            <a:off x="8226552" y="523951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64" name="Text 50"/>
          <p:cNvSpPr txBox="1"/>
          <p:nvPr/>
        </p:nvSpPr>
        <p:spPr>
          <a:xfrm>
            <a:off x="8226552" y="545896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Worked examples come only from dashboards a human saved.</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The repair pass is bounded to one attempt and never silent.</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Every figure on screen is reproducible from its own query.</a:t>
            </a:r>
            <a:endParaRPr lang="en-US" sz="8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04   ·   COMPANY FINANCIALS EXTRACTION</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Segments, CapEx and R&amp;D</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The three things almost always wanted together, pulled in a single combined pass per company.</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594360" y="1463040"/>
            <a:ext cx="6858000" cy="201168"/>
          </a:xfrm>
          <a:prstGeom prst="rect">
            <a:avLst/>
          </a:prstGeom>
          <a:noFill/>
          <a:ln/>
        </p:spPr>
        <p:txBody>
          <a:bodyPr wrap="square" lIns="0" tIns="0" rIns="0" bIns="0" rtlCol="0" anchor="ctr"/>
          <a:lstStyle/>
          <a:p>
            <a:pPr algn="ctr" indent="0" marL="0">
              <a:buNone/>
            </a:pPr>
            <a:r>
              <a:rPr lang="en-US" sz="900" b="1" spc="140" kern="0" dirty="0">
                <a:solidFill>
                  <a:srgbClr val="108494"/>
                </a:solidFill>
                <a:latin typeface="Calibri" pitchFamily="34" charset="0"/>
                <a:ea typeface="Calibri" pitchFamily="34" charset="-122"/>
                <a:cs typeface="Calibri" pitchFamily="34" charset="-120"/>
              </a:rPr>
              <a:t>ONE COMBINED PASS PER COMPANY</a:t>
            </a:r>
            <a:endParaRPr lang="en-US" sz="900" dirty="0"/>
          </a:p>
        </p:txBody>
      </p:sp>
      <p:sp>
        <p:nvSpPr>
          <p:cNvPr id="8" name="Shape 5"/>
          <p:cNvSpPr/>
          <p:nvPr/>
        </p:nvSpPr>
        <p:spPr>
          <a:xfrm>
            <a:off x="594360" y="2194560"/>
            <a:ext cx="2148840" cy="1051560"/>
          </a:xfrm>
          <a:prstGeom prst="roundRect">
            <a:avLst>
              <a:gd name="adj" fmla="val 8696"/>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9" name="Image 1" descr="preencoded.png">    </p:cNvPr>
          <p:cNvPicPr>
            <a:picLocks noChangeAspect="1"/>
          </p:cNvPicPr>
          <p:nvPr/>
        </p:nvPicPr>
        <p:blipFill>
          <a:blip r:embed="rId2"/>
          <a:stretch>
            <a:fillRect/>
          </a:stretch>
        </p:blipFill>
        <p:spPr>
          <a:xfrm>
            <a:off x="713232" y="2295144"/>
            <a:ext cx="182880" cy="182880"/>
          </a:xfrm>
          <a:prstGeom prst="rect">
            <a:avLst/>
          </a:prstGeom>
        </p:spPr>
      </p:pic>
      <p:sp>
        <p:nvSpPr>
          <p:cNvPr id="10" name="Text 6"/>
          <p:cNvSpPr txBox="1"/>
          <p:nvPr/>
        </p:nvSpPr>
        <p:spPr>
          <a:xfrm>
            <a:off x="685800" y="2194560"/>
            <a:ext cx="1965960" cy="105156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2F6FD0"/>
                </a:solidFill>
                <a:latin typeface="Calibri" pitchFamily="34" charset="0"/>
                <a:ea typeface="Calibri" pitchFamily="34" charset="-122"/>
                <a:cs typeface="Calibri" pitchFamily="34" charset="-120"/>
              </a:rPr>
              <a:t>ONE FETCH</a:t>
            </a:r>
            <a:endParaRPr lang="en-US" sz="750" dirty="0"/>
          </a:p>
          <a:p>
            <a:pPr algn="ctr" indent="0" marL="0">
              <a:lnSpc>
                <a:spcPct val="104000"/>
              </a:lnSpc>
              <a:buNone/>
            </a:pPr>
            <a:r>
              <a:rPr lang="en-US" sz="1100" b="1" dirty="0">
                <a:solidFill>
                  <a:srgbClr val="153A61"/>
                </a:solidFill>
                <a:latin typeface="Calibri" pitchFamily="34" charset="0"/>
                <a:ea typeface="Calibri" pitchFamily="34" charset="-122"/>
                <a:cs typeface="Calibri" pitchFamily="34" charset="-120"/>
              </a:rPr>
              <a:t>Every document type</a:t>
            </a:r>
            <a:endParaRPr lang="en-US" sz="7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annual &amp; sustainability reports, decks, transcripts</a:t>
            </a:r>
            <a:endParaRPr lang="en-US" sz="750" dirty="0"/>
          </a:p>
        </p:txBody>
      </p:sp>
      <p:sp>
        <p:nvSpPr>
          <p:cNvPr id="11" name="Shape 7"/>
          <p:cNvSpPr/>
          <p:nvPr/>
        </p:nvSpPr>
        <p:spPr>
          <a:xfrm>
            <a:off x="3017520" y="2194560"/>
            <a:ext cx="1828800" cy="1051560"/>
          </a:xfrm>
          <a:prstGeom prst="roundRect">
            <a:avLst>
              <a:gd name="adj" fmla="val 8696"/>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3136392" y="2295144"/>
            <a:ext cx="182880" cy="182880"/>
          </a:xfrm>
          <a:prstGeom prst="rect">
            <a:avLst/>
          </a:prstGeom>
        </p:spPr>
      </p:pic>
      <p:sp>
        <p:nvSpPr>
          <p:cNvPr id="13" name="Text 8"/>
          <p:cNvSpPr txBox="1"/>
          <p:nvPr/>
        </p:nvSpPr>
        <p:spPr>
          <a:xfrm>
            <a:off x="3108960" y="2194560"/>
            <a:ext cx="1645920" cy="105156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108494"/>
                </a:solidFill>
                <a:latin typeface="Calibri" pitchFamily="34" charset="0"/>
                <a:ea typeface="Calibri" pitchFamily="34" charset="-122"/>
                <a:cs typeface="Calibri" pitchFamily="34" charset="-120"/>
              </a:rPr>
              <a:t>ONE STEP</a:t>
            </a:r>
            <a:endParaRPr lang="en-US" sz="750" dirty="0"/>
          </a:p>
          <a:p>
            <a:pPr algn="ctr" indent="0" marL="0">
              <a:lnSpc>
                <a:spcPct val="104000"/>
              </a:lnSpc>
              <a:buNone/>
            </a:pPr>
            <a:r>
              <a:rPr lang="en-US" sz="1100" b="1" dirty="0">
                <a:solidFill>
                  <a:srgbClr val="0A4451"/>
                </a:solidFill>
                <a:latin typeface="Calibri" pitchFamily="34" charset="0"/>
                <a:ea typeface="Calibri" pitchFamily="34" charset="-122"/>
                <a:cs typeface="Calibri" pitchFamily="34" charset="-120"/>
              </a:rPr>
              <a:t>Evidence gathering</a:t>
            </a:r>
            <a:endParaRPr lang="en-US" sz="7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shared by all three sections</a:t>
            </a:r>
            <a:endParaRPr lang="en-US" sz="750" dirty="0"/>
          </a:p>
        </p:txBody>
      </p:sp>
      <p:sp>
        <p:nvSpPr>
          <p:cNvPr id="14" name="Shape 9"/>
          <p:cNvSpPr/>
          <p:nvPr/>
        </p:nvSpPr>
        <p:spPr>
          <a:xfrm>
            <a:off x="2761488" y="2724912"/>
            <a:ext cx="201168" cy="0"/>
          </a:xfrm>
          <a:prstGeom prst="line">
            <a:avLst/>
          </a:prstGeom>
          <a:noFill/>
          <a:ln w="19050">
            <a:solidFill>
              <a:srgbClr val="64798F"/>
            </a:solidFill>
            <a:prstDash val="solid"/>
            <a:headEnd type="none"/>
            <a:tailEnd type="triangle"/>
          </a:ln>
        </p:spPr>
      </p:sp>
      <p:sp>
        <p:nvSpPr>
          <p:cNvPr id="15" name="Shape 10"/>
          <p:cNvSpPr/>
          <p:nvPr/>
        </p:nvSpPr>
        <p:spPr>
          <a:xfrm>
            <a:off x="5074920" y="1828800"/>
            <a:ext cx="2377440" cy="1783080"/>
          </a:xfrm>
          <a:prstGeom prst="roundRect">
            <a:avLst>
              <a:gd name="adj" fmla="val 2051"/>
            </a:avLst>
          </a:prstGeom>
          <a:solidFill>
            <a:srgbClr val="F4F7FA"/>
          </a:solidFill>
          <a:ln w="15875">
            <a:solidFill>
              <a:srgbClr val="9FB2C4"/>
            </a:solidFill>
            <a:prstDash val="dash"/>
          </a:ln>
        </p:spPr>
      </p:sp>
      <p:sp>
        <p:nvSpPr>
          <p:cNvPr id="16" name="Shape 11"/>
          <p:cNvSpPr/>
          <p:nvPr/>
        </p:nvSpPr>
        <p:spPr>
          <a:xfrm>
            <a:off x="5221224" y="1709928"/>
            <a:ext cx="1704442" cy="274320"/>
          </a:xfrm>
          <a:prstGeom prst="roundRect">
            <a:avLst>
              <a:gd name="adj" fmla="val 50000"/>
            </a:avLst>
          </a:prstGeom>
          <a:solidFill>
            <a:srgbClr val="64798F"/>
          </a:solidFill>
          <a:ln/>
        </p:spPr>
      </p:sp>
      <p:pic>
        <p:nvPicPr>
          <p:cNvPr id="17" name="Image 3" descr="preencoded.png">    </p:cNvPr>
          <p:cNvPicPr>
            <a:picLocks noChangeAspect="1"/>
          </p:cNvPicPr>
          <p:nvPr/>
        </p:nvPicPr>
        <p:blipFill>
          <a:blip r:embed="rId4"/>
          <a:stretch>
            <a:fillRect/>
          </a:stretch>
        </p:blipFill>
        <p:spPr>
          <a:xfrm>
            <a:off x="5340096" y="1778508"/>
            <a:ext cx="132588" cy="132588"/>
          </a:xfrm>
          <a:prstGeom prst="rect">
            <a:avLst/>
          </a:prstGeom>
        </p:spPr>
      </p:pic>
      <p:sp>
        <p:nvSpPr>
          <p:cNvPr id="18" name="Text 12"/>
          <p:cNvSpPr txBox="1"/>
          <p:nvPr/>
        </p:nvSpPr>
        <p:spPr>
          <a:xfrm>
            <a:off x="5495544" y="1709928"/>
            <a:ext cx="1430122"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ONE VERIFIED PASS</a:t>
            </a:r>
            <a:endParaRPr lang="en-US" sz="850" dirty="0"/>
          </a:p>
        </p:txBody>
      </p:sp>
      <p:sp>
        <p:nvSpPr>
          <p:cNvPr id="19" name="Shape 13"/>
          <p:cNvSpPr/>
          <p:nvPr/>
        </p:nvSpPr>
        <p:spPr>
          <a:xfrm>
            <a:off x="5285232" y="2212848"/>
            <a:ext cx="1956816" cy="548640"/>
          </a:xfrm>
          <a:prstGeom prst="roundRect">
            <a:avLst>
              <a:gd name="adj" fmla="val 16667"/>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5404104" y="2313432"/>
            <a:ext cx="182880" cy="182880"/>
          </a:xfrm>
          <a:prstGeom prst="rect">
            <a:avLst/>
          </a:prstGeom>
        </p:spPr>
      </p:pic>
      <p:sp>
        <p:nvSpPr>
          <p:cNvPr id="21" name="Text 14"/>
          <p:cNvSpPr txBox="1"/>
          <p:nvPr/>
        </p:nvSpPr>
        <p:spPr>
          <a:xfrm>
            <a:off x="5376672" y="2212848"/>
            <a:ext cx="1773936" cy="548640"/>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Extractor</a:t>
            </a:r>
            <a:endParaRPr lang="en-US" sz="1050" dirty="0"/>
          </a:p>
        </p:txBody>
      </p:sp>
      <p:sp>
        <p:nvSpPr>
          <p:cNvPr id="22" name="Shape 15"/>
          <p:cNvSpPr/>
          <p:nvPr/>
        </p:nvSpPr>
        <p:spPr>
          <a:xfrm>
            <a:off x="5285232" y="2889504"/>
            <a:ext cx="1956816" cy="548640"/>
          </a:xfrm>
          <a:prstGeom prst="roundRect">
            <a:avLst>
              <a:gd name="adj" fmla="val 16667"/>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3" name="Image 5" descr="preencoded.png">    </p:cNvPr>
          <p:cNvPicPr>
            <a:picLocks noChangeAspect="1"/>
          </p:cNvPicPr>
          <p:nvPr/>
        </p:nvPicPr>
        <p:blipFill>
          <a:blip r:embed="rId6"/>
          <a:stretch>
            <a:fillRect/>
          </a:stretch>
        </p:blipFill>
        <p:spPr>
          <a:xfrm>
            <a:off x="5404104" y="2990088"/>
            <a:ext cx="182880" cy="182880"/>
          </a:xfrm>
          <a:prstGeom prst="rect">
            <a:avLst/>
          </a:prstGeom>
        </p:spPr>
      </p:pic>
      <p:sp>
        <p:nvSpPr>
          <p:cNvPr id="24" name="Text 16"/>
          <p:cNvSpPr txBox="1"/>
          <p:nvPr/>
        </p:nvSpPr>
        <p:spPr>
          <a:xfrm>
            <a:off x="5376672" y="2889504"/>
            <a:ext cx="1773936" cy="548640"/>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Verifier</a:t>
            </a:r>
            <a:endParaRPr lang="en-US" sz="1050" dirty="0"/>
          </a:p>
          <a:p>
            <a:pPr algn="ctr" indent="0" marL="0">
              <a:lnSpc>
                <a:spcPct val="104000"/>
              </a:lnSpc>
              <a:buNone/>
            </a:pPr>
            <a:r>
              <a:rPr lang="en-US" sz="780" dirty="0">
                <a:solidFill>
                  <a:srgbClr val="35236E"/>
                </a:solidFill>
                <a:latin typeface="Calibri" pitchFamily="34" charset="0"/>
                <a:ea typeface="Calibri" pitchFamily="34" charset="-122"/>
                <a:cs typeface="Calibri" pitchFamily="34" charset="-120"/>
              </a:rPr>
              <a:t>different model</a:t>
            </a:r>
            <a:endParaRPr lang="en-US" sz="1050" dirty="0"/>
          </a:p>
        </p:txBody>
      </p:sp>
      <p:sp>
        <p:nvSpPr>
          <p:cNvPr id="25" name="Shape 17"/>
          <p:cNvSpPr/>
          <p:nvPr/>
        </p:nvSpPr>
        <p:spPr>
          <a:xfrm>
            <a:off x="6263640" y="2779776"/>
            <a:ext cx="0" cy="91440"/>
          </a:xfrm>
          <a:prstGeom prst="line">
            <a:avLst/>
          </a:prstGeom>
          <a:noFill/>
          <a:ln w="17780">
            <a:solidFill>
              <a:srgbClr val="6D4DD1"/>
            </a:solidFill>
            <a:prstDash val="solid"/>
            <a:headEnd type="none"/>
            <a:tailEnd type="triangle"/>
          </a:ln>
        </p:spPr>
      </p:sp>
      <p:sp>
        <p:nvSpPr>
          <p:cNvPr id="26" name="Shape 18"/>
          <p:cNvSpPr/>
          <p:nvPr/>
        </p:nvSpPr>
        <p:spPr>
          <a:xfrm>
            <a:off x="4901184" y="2724912"/>
            <a:ext cx="128016" cy="0"/>
          </a:xfrm>
          <a:prstGeom prst="line">
            <a:avLst/>
          </a:prstGeom>
          <a:noFill/>
          <a:ln w="19050">
            <a:solidFill>
              <a:srgbClr val="64798F"/>
            </a:solidFill>
            <a:prstDash val="solid"/>
            <a:headEnd type="none"/>
            <a:tailEnd type="triangle"/>
          </a:ln>
        </p:spPr>
      </p:sp>
      <p:sp>
        <p:nvSpPr>
          <p:cNvPr id="27" name="Shape 19"/>
          <p:cNvSpPr/>
          <p:nvPr/>
        </p:nvSpPr>
        <p:spPr>
          <a:xfrm>
            <a:off x="8549640" y="1572768"/>
            <a:ext cx="3044952" cy="914400"/>
          </a:xfrm>
          <a:prstGeom prst="roundRect">
            <a:avLst>
              <a:gd name="adj" fmla="val 10000"/>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28" name="Shape 20"/>
          <p:cNvSpPr/>
          <p:nvPr/>
        </p:nvSpPr>
        <p:spPr>
          <a:xfrm>
            <a:off x="8686800" y="1837944"/>
            <a:ext cx="384048" cy="384048"/>
          </a:xfrm>
          <a:prstGeom prst="roundRect">
            <a:avLst>
              <a:gd name="adj" fmla="val 23810"/>
            </a:avLst>
          </a:prstGeom>
          <a:solidFill>
            <a:srgbClr val="2F8F48"/>
          </a:solidFill>
          <a:ln/>
        </p:spPr>
      </p:sp>
      <p:pic>
        <p:nvPicPr>
          <p:cNvPr id="29" name="Image 6" descr="preencoded.png">    </p:cNvPr>
          <p:cNvPicPr>
            <a:picLocks noChangeAspect="1"/>
          </p:cNvPicPr>
          <p:nvPr/>
        </p:nvPicPr>
        <p:blipFill>
          <a:blip r:embed="rId7"/>
          <a:stretch>
            <a:fillRect/>
          </a:stretch>
        </p:blipFill>
        <p:spPr>
          <a:xfrm>
            <a:off x="8771291" y="1922435"/>
            <a:ext cx="215067" cy="215067"/>
          </a:xfrm>
          <a:prstGeom prst="rect">
            <a:avLst/>
          </a:prstGeom>
        </p:spPr>
      </p:pic>
      <p:sp>
        <p:nvSpPr>
          <p:cNvPr id="30" name="Text 21"/>
          <p:cNvSpPr txBox="1"/>
          <p:nvPr/>
        </p:nvSpPr>
        <p:spPr>
          <a:xfrm>
            <a:off x="9208008" y="1572768"/>
            <a:ext cx="2276856" cy="914400"/>
          </a:xfrm>
          <a:prstGeom prst="rect">
            <a:avLst/>
          </a:prstGeom>
          <a:noFill/>
          <a:ln/>
        </p:spPr>
        <p:txBody>
          <a:bodyPr wrap="square" lIns="0" tIns="0" rIns="0" bIns="0" rtlCol="0" anchor="ctr"/>
          <a:lstStyle/>
          <a:p>
            <a:pPr algn="l" indent="0" marL="0">
              <a:lnSpc>
                <a:spcPct val="104000"/>
              </a:lnSpc>
              <a:buNone/>
            </a:pPr>
            <a:r>
              <a:rPr lang="en-US" sz="1150" b="1" dirty="0">
                <a:solidFill>
                  <a:srgbClr val="17431F"/>
                </a:solidFill>
                <a:latin typeface="Calibri" pitchFamily="34" charset="0"/>
                <a:ea typeface="Calibri" pitchFamily="34" charset="-122"/>
                <a:cs typeface="Calibri" pitchFamily="34" charset="-120"/>
              </a:rPr>
              <a:t>Business segments</a:t>
            </a:r>
            <a:endParaRPr lang="en-US" sz="11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name, description, revenue, operating income, assets</a:t>
            </a:r>
            <a:endParaRPr lang="en-US" sz="1150" dirty="0"/>
          </a:p>
        </p:txBody>
      </p:sp>
      <p:sp>
        <p:nvSpPr>
          <p:cNvPr id="31" name="Shape 22"/>
          <p:cNvSpPr/>
          <p:nvPr/>
        </p:nvSpPr>
        <p:spPr>
          <a:xfrm flipV="1">
            <a:off x="7498080" y="2029968"/>
            <a:ext cx="996696" cy="694944"/>
          </a:xfrm>
          <a:prstGeom prst="line">
            <a:avLst/>
          </a:prstGeom>
          <a:noFill/>
          <a:ln w="16510">
            <a:solidFill>
              <a:srgbClr val="2F8F48"/>
            </a:solidFill>
            <a:prstDash val="solid"/>
            <a:headEnd type="none"/>
            <a:tailEnd type="triangle"/>
          </a:ln>
        </p:spPr>
      </p:sp>
      <p:sp>
        <p:nvSpPr>
          <p:cNvPr id="32" name="Shape 23"/>
          <p:cNvSpPr/>
          <p:nvPr/>
        </p:nvSpPr>
        <p:spPr>
          <a:xfrm>
            <a:off x="8549640" y="2697480"/>
            <a:ext cx="3044952" cy="914400"/>
          </a:xfrm>
          <a:prstGeom prst="roundRect">
            <a:avLst>
              <a:gd name="adj" fmla="val 10000"/>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33" name="Shape 24"/>
          <p:cNvSpPr/>
          <p:nvPr/>
        </p:nvSpPr>
        <p:spPr>
          <a:xfrm>
            <a:off x="8686800" y="2962656"/>
            <a:ext cx="384048" cy="384048"/>
          </a:xfrm>
          <a:prstGeom prst="roundRect">
            <a:avLst>
              <a:gd name="adj" fmla="val 23810"/>
            </a:avLst>
          </a:prstGeom>
          <a:solidFill>
            <a:srgbClr val="2F8F48"/>
          </a:solidFill>
          <a:ln/>
        </p:spPr>
      </p:sp>
      <p:pic>
        <p:nvPicPr>
          <p:cNvPr id="34" name="Image 7" descr="preencoded.png">    </p:cNvPr>
          <p:cNvPicPr>
            <a:picLocks noChangeAspect="1"/>
          </p:cNvPicPr>
          <p:nvPr/>
        </p:nvPicPr>
        <p:blipFill>
          <a:blip r:embed="rId8"/>
          <a:stretch>
            <a:fillRect/>
          </a:stretch>
        </p:blipFill>
        <p:spPr>
          <a:xfrm>
            <a:off x="8771291" y="3047147"/>
            <a:ext cx="215067" cy="215067"/>
          </a:xfrm>
          <a:prstGeom prst="rect">
            <a:avLst/>
          </a:prstGeom>
        </p:spPr>
      </p:pic>
      <p:sp>
        <p:nvSpPr>
          <p:cNvPr id="35" name="Text 25"/>
          <p:cNvSpPr txBox="1"/>
          <p:nvPr/>
        </p:nvSpPr>
        <p:spPr>
          <a:xfrm>
            <a:off x="9208008" y="2697480"/>
            <a:ext cx="2276856" cy="914400"/>
          </a:xfrm>
          <a:prstGeom prst="rect">
            <a:avLst/>
          </a:prstGeom>
          <a:noFill/>
          <a:ln/>
        </p:spPr>
        <p:txBody>
          <a:bodyPr wrap="square" lIns="0" tIns="0" rIns="0" bIns="0" rtlCol="0" anchor="ctr"/>
          <a:lstStyle/>
          <a:p>
            <a:pPr algn="l" indent="0" marL="0">
              <a:lnSpc>
                <a:spcPct val="104000"/>
              </a:lnSpc>
              <a:buNone/>
            </a:pPr>
            <a:r>
              <a:rPr lang="en-US" sz="1150" b="1" dirty="0">
                <a:solidFill>
                  <a:srgbClr val="17431F"/>
                </a:solidFill>
                <a:latin typeface="Calibri" pitchFamily="34" charset="0"/>
                <a:ea typeface="Calibri" pitchFamily="34" charset="-122"/>
                <a:cs typeface="Calibri" pitchFamily="34" charset="-120"/>
              </a:rPr>
              <a:t>Capital expenditure</a:t>
            </a:r>
            <a:endParaRPr lang="en-US" sz="11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total + what it is going toward + disclosed split</a:t>
            </a:r>
            <a:endParaRPr lang="en-US" sz="1150" dirty="0"/>
          </a:p>
        </p:txBody>
      </p:sp>
      <p:sp>
        <p:nvSpPr>
          <p:cNvPr id="36" name="Shape 26"/>
          <p:cNvSpPr/>
          <p:nvPr/>
        </p:nvSpPr>
        <p:spPr>
          <a:xfrm>
            <a:off x="7498080" y="2724912"/>
            <a:ext cx="996696" cy="429768"/>
          </a:xfrm>
          <a:prstGeom prst="line">
            <a:avLst/>
          </a:prstGeom>
          <a:noFill/>
          <a:ln w="16510">
            <a:solidFill>
              <a:srgbClr val="2F8F48"/>
            </a:solidFill>
            <a:prstDash val="solid"/>
            <a:headEnd type="none"/>
            <a:tailEnd type="triangle"/>
          </a:ln>
        </p:spPr>
      </p:sp>
      <p:sp>
        <p:nvSpPr>
          <p:cNvPr id="37" name="Shape 27"/>
          <p:cNvSpPr/>
          <p:nvPr/>
        </p:nvSpPr>
        <p:spPr>
          <a:xfrm>
            <a:off x="8549640" y="3822192"/>
            <a:ext cx="3044952" cy="914400"/>
          </a:xfrm>
          <a:prstGeom prst="roundRect">
            <a:avLst>
              <a:gd name="adj" fmla="val 10000"/>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38" name="Shape 28"/>
          <p:cNvSpPr/>
          <p:nvPr/>
        </p:nvSpPr>
        <p:spPr>
          <a:xfrm>
            <a:off x="8686800" y="4087368"/>
            <a:ext cx="384048" cy="384048"/>
          </a:xfrm>
          <a:prstGeom prst="roundRect">
            <a:avLst>
              <a:gd name="adj" fmla="val 23810"/>
            </a:avLst>
          </a:prstGeom>
          <a:solidFill>
            <a:srgbClr val="2F8F48"/>
          </a:solidFill>
          <a:ln/>
        </p:spPr>
      </p:sp>
      <p:pic>
        <p:nvPicPr>
          <p:cNvPr id="39" name="Image 8" descr="preencoded.png">    </p:cNvPr>
          <p:cNvPicPr>
            <a:picLocks noChangeAspect="1"/>
          </p:cNvPicPr>
          <p:nvPr/>
        </p:nvPicPr>
        <p:blipFill>
          <a:blip r:embed="rId9"/>
          <a:stretch>
            <a:fillRect/>
          </a:stretch>
        </p:blipFill>
        <p:spPr>
          <a:xfrm>
            <a:off x="8771291" y="4171859"/>
            <a:ext cx="215067" cy="215067"/>
          </a:xfrm>
          <a:prstGeom prst="rect">
            <a:avLst/>
          </a:prstGeom>
        </p:spPr>
      </p:pic>
      <p:sp>
        <p:nvSpPr>
          <p:cNvPr id="40" name="Text 29"/>
          <p:cNvSpPr txBox="1"/>
          <p:nvPr/>
        </p:nvSpPr>
        <p:spPr>
          <a:xfrm>
            <a:off x="9208008" y="3822192"/>
            <a:ext cx="2276856" cy="914400"/>
          </a:xfrm>
          <a:prstGeom prst="rect">
            <a:avLst/>
          </a:prstGeom>
          <a:noFill/>
          <a:ln/>
        </p:spPr>
        <p:txBody>
          <a:bodyPr wrap="square" lIns="0" tIns="0" rIns="0" bIns="0" rtlCol="0" anchor="ctr"/>
          <a:lstStyle/>
          <a:p>
            <a:pPr algn="l" indent="0" marL="0">
              <a:lnSpc>
                <a:spcPct val="104000"/>
              </a:lnSpc>
              <a:buNone/>
            </a:pPr>
            <a:r>
              <a:rPr lang="en-US" sz="1150" b="1" dirty="0">
                <a:solidFill>
                  <a:srgbClr val="17431F"/>
                </a:solidFill>
                <a:latin typeface="Calibri" pitchFamily="34" charset="0"/>
                <a:ea typeface="Calibri" pitchFamily="34" charset="-122"/>
                <a:cs typeface="Calibri" pitchFamily="34" charset="-120"/>
              </a:rPr>
              <a:t>Research &amp; development</a:t>
            </a:r>
            <a:endParaRPr lang="en-US" sz="11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total + the disclosed focus areas</a:t>
            </a:r>
            <a:endParaRPr lang="en-US" sz="1150" dirty="0"/>
          </a:p>
        </p:txBody>
      </p:sp>
      <p:sp>
        <p:nvSpPr>
          <p:cNvPr id="41" name="Shape 30"/>
          <p:cNvSpPr/>
          <p:nvPr/>
        </p:nvSpPr>
        <p:spPr>
          <a:xfrm>
            <a:off x="7498080" y="2724912"/>
            <a:ext cx="996696" cy="1554480"/>
          </a:xfrm>
          <a:prstGeom prst="line">
            <a:avLst/>
          </a:prstGeom>
          <a:noFill/>
          <a:ln w="16510">
            <a:solidFill>
              <a:srgbClr val="2F8F48"/>
            </a:solidFill>
            <a:prstDash val="solid"/>
            <a:headEnd type="none"/>
            <a:tailEnd type="triangle"/>
          </a:ln>
        </p:spPr>
      </p:sp>
      <p:sp>
        <p:nvSpPr>
          <p:cNvPr id="42" name="Shape 31"/>
          <p:cNvSpPr/>
          <p:nvPr/>
        </p:nvSpPr>
        <p:spPr>
          <a:xfrm>
            <a:off x="5074920" y="4160520"/>
            <a:ext cx="2377440" cy="822960"/>
          </a:xfrm>
          <a:prstGeom prst="roundRect">
            <a:avLst>
              <a:gd name="adj" fmla="val 1111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43" name="Image 9" descr="preencoded.png">    </p:cNvPr>
          <p:cNvPicPr>
            <a:picLocks noChangeAspect="1"/>
          </p:cNvPicPr>
          <p:nvPr/>
        </p:nvPicPr>
        <p:blipFill>
          <a:blip r:embed="rId10"/>
          <a:stretch>
            <a:fillRect/>
          </a:stretch>
        </p:blipFill>
        <p:spPr>
          <a:xfrm>
            <a:off x="5193792" y="4261104"/>
            <a:ext cx="182880" cy="182880"/>
          </a:xfrm>
          <a:prstGeom prst="rect">
            <a:avLst/>
          </a:prstGeom>
        </p:spPr>
      </p:pic>
      <p:sp>
        <p:nvSpPr>
          <p:cNvPr id="44" name="Text 32"/>
          <p:cNvSpPr txBox="1"/>
          <p:nvPr/>
        </p:nvSpPr>
        <p:spPr>
          <a:xfrm>
            <a:off x="5166360" y="4160520"/>
            <a:ext cx="2194560" cy="82296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108494"/>
                </a:solidFill>
                <a:latin typeface="Calibri" pitchFamily="34" charset="0"/>
                <a:ea typeface="Calibri" pitchFamily="34" charset="-122"/>
                <a:cs typeface="Calibri" pitchFamily="34" charset="-120"/>
              </a:rPr>
              <a:t>PATH 0</a:t>
            </a:r>
            <a:endParaRPr lang="en-US" sz="750" dirty="0"/>
          </a:p>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SEC XBRL facts</a:t>
            </a:r>
            <a:endParaRPr lang="en-US" sz="750" dirty="0"/>
          </a:p>
          <a:p>
            <a:pPr algn="ctr" indent="0" marL="0">
              <a:lnSpc>
                <a:spcPct val="104000"/>
              </a:lnSpc>
              <a:buNone/>
            </a:pPr>
            <a:r>
              <a:rPr lang="en-US" sz="780" dirty="0">
                <a:solidFill>
                  <a:srgbClr val="0A4451"/>
                </a:solidFill>
                <a:latin typeface="Calibri" pitchFamily="34" charset="0"/>
                <a:ea typeface="Calibri" pitchFamily="34" charset="-122"/>
                <a:cs typeface="Calibri" pitchFamily="34" charset="-120"/>
              </a:rPr>
              <a:t>machine-tagged totals replace the model's read of prose</a:t>
            </a:r>
            <a:endParaRPr lang="en-US" sz="750" dirty="0"/>
          </a:p>
        </p:txBody>
      </p:sp>
      <p:sp>
        <p:nvSpPr>
          <p:cNvPr id="45" name="Shape 33"/>
          <p:cNvSpPr/>
          <p:nvPr/>
        </p:nvSpPr>
        <p:spPr>
          <a:xfrm>
            <a:off x="7488936" y="4572000"/>
            <a:ext cx="832104" cy="0"/>
          </a:xfrm>
          <a:prstGeom prst="line">
            <a:avLst/>
          </a:prstGeom>
          <a:noFill/>
          <a:ln w="17780">
            <a:solidFill>
              <a:srgbClr val="108494"/>
            </a:solidFill>
            <a:prstDash val="dash"/>
            <a:headEnd type="none"/>
            <a:tailEnd type="none"/>
          </a:ln>
        </p:spPr>
      </p:sp>
      <p:sp>
        <p:nvSpPr>
          <p:cNvPr id="46" name="Shape 34"/>
          <p:cNvSpPr/>
          <p:nvPr/>
        </p:nvSpPr>
        <p:spPr>
          <a:xfrm flipV="1">
            <a:off x="8321040" y="3154680"/>
            <a:ext cx="0" cy="1417320"/>
          </a:xfrm>
          <a:prstGeom prst="line">
            <a:avLst/>
          </a:prstGeom>
          <a:noFill/>
          <a:ln w="17780">
            <a:solidFill>
              <a:srgbClr val="108494"/>
            </a:solidFill>
            <a:prstDash val="dash"/>
            <a:headEnd type="none"/>
            <a:tailEnd type="none"/>
          </a:ln>
        </p:spPr>
      </p:sp>
      <p:sp>
        <p:nvSpPr>
          <p:cNvPr id="47" name="Shape 35"/>
          <p:cNvSpPr/>
          <p:nvPr/>
        </p:nvSpPr>
        <p:spPr>
          <a:xfrm>
            <a:off x="8321040" y="3154680"/>
            <a:ext cx="173736" cy="0"/>
          </a:xfrm>
          <a:prstGeom prst="line">
            <a:avLst/>
          </a:prstGeom>
          <a:noFill/>
          <a:ln w="17780">
            <a:solidFill>
              <a:srgbClr val="108494"/>
            </a:solidFill>
            <a:prstDash val="dash"/>
            <a:headEnd type="none"/>
            <a:tailEnd type="triangle"/>
          </a:ln>
        </p:spPr>
      </p:sp>
      <p:sp>
        <p:nvSpPr>
          <p:cNvPr id="48" name="Shape 36"/>
          <p:cNvSpPr/>
          <p:nvPr/>
        </p:nvSpPr>
        <p:spPr>
          <a:xfrm>
            <a:off x="8321040" y="4279392"/>
            <a:ext cx="173736" cy="0"/>
          </a:xfrm>
          <a:prstGeom prst="line">
            <a:avLst/>
          </a:prstGeom>
          <a:noFill/>
          <a:ln w="17780">
            <a:solidFill>
              <a:srgbClr val="108494"/>
            </a:solidFill>
            <a:prstDash val="dash"/>
            <a:headEnd type="none"/>
            <a:tailEnd type="triangle"/>
          </a:ln>
        </p:spPr>
      </p:sp>
      <p:sp>
        <p:nvSpPr>
          <p:cNvPr id="49" name="Text 37"/>
          <p:cNvSpPr txBox="1"/>
          <p:nvPr/>
        </p:nvSpPr>
        <p:spPr>
          <a:xfrm>
            <a:off x="7498080" y="4681728"/>
            <a:ext cx="1463040" cy="182880"/>
          </a:xfrm>
          <a:prstGeom prst="rect">
            <a:avLst/>
          </a:prstGeom>
          <a:noFill/>
          <a:ln/>
        </p:spPr>
        <p:txBody>
          <a:bodyPr wrap="square" lIns="0" tIns="0" rIns="0" bIns="0" rtlCol="0" anchor="ctr"/>
          <a:lstStyle/>
          <a:p>
            <a:pPr algn="ctr" indent="0" marL="0">
              <a:buNone/>
            </a:pPr>
            <a:r>
              <a:rPr lang="en-US" sz="750" i="1" dirty="0">
                <a:solidFill>
                  <a:srgbClr val="108494"/>
                </a:solidFill>
                <a:latin typeface="Calibri" pitchFamily="34" charset="0"/>
                <a:ea typeface="Calibri" pitchFamily="34" charset="-122"/>
                <a:cs typeface="Calibri" pitchFamily="34" charset="-120"/>
              </a:rPr>
              <a:t>overlay</a:t>
            </a:r>
            <a:endParaRPr lang="en-US" sz="750" dirty="0"/>
          </a:p>
        </p:txBody>
      </p:sp>
      <p:sp>
        <p:nvSpPr>
          <p:cNvPr id="50" name="Shape 38"/>
          <p:cNvSpPr/>
          <p:nvPr/>
        </p:nvSpPr>
        <p:spPr>
          <a:xfrm>
            <a:off x="594360" y="4160520"/>
            <a:ext cx="4251960" cy="822960"/>
          </a:xfrm>
          <a:prstGeom prst="roundRect">
            <a:avLst>
              <a:gd name="adj" fmla="val 4444"/>
            </a:avLst>
          </a:prstGeom>
          <a:solidFill>
            <a:srgbClr val="F4F7FA"/>
          </a:solidFill>
          <a:ln w="15875">
            <a:solidFill>
              <a:srgbClr val="DDE5ED"/>
            </a:solidFill>
            <a:prstDash val="solid"/>
          </a:ln>
        </p:spPr>
      </p:sp>
      <p:sp>
        <p:nvSpPr>
          <p:cNvPr id="51" name="Text 39"/>
          <p:cNvSpPr txBox="1"/>
          <p:nvPr/>
        </p:nvSpPr>
        <p:spPr>
          <a:xfrm>
            <a:off x="777240" y="4160520"/>
            <a:ext cx="3886200" cy="822960"/>
          </a:xfrm>
          <a:prstGeom prst="rect">
            <a:avLst/>
          </a:prstGeom>
          <a:noFill/>
          <a:ln/>
        </p:spPr>
        <p:txBody>
          <a:bodyPr wrap="square" lIns="0" tIns="0" rIns="0" bIns="0" rtlCol="0" anchor="ctr"/>
          <a:lstStyle/>
          <a:p>
            <a:pPr indent="0" marL="0">
              <a:buNone/>
            </a:pPr>
            <a:r>
              <a:rPr lang="en-US" sz="920" b="1" dirty="0">
                <a:solidFill>
                  <a:srgbClr val="108494"/>
                </a:solidFill>
                <a:latin typeface="Calibri" pitchFamily="34" charset="0"/>
                <a:ea typeface="Calibri" pitchFamily="34" charset="-122"/>
                <a:cs typeface="Calibri" pitchFamily="34" charset="-120"/>
              </a:rPr>
              <a:t>Why combined:  </a:t>
            </a:r>
            <a:pPr indent="0" marL="0">
              <a:buNone/>
            </a:pPr>
            <a:r>
              <a:rPr lang="en-US" sz="920" dirty="0">
                <a:solidFill>
                  <a:srgbClr val="43566B"/>
                </a:solidFill>
                <a:latin typeface="Calibri" pitchFamily="34" charset="0"/>
                <a:ea typeface="Calibri" pitchFamily="34" charset="-122"/>
                <a:cs typeface="Calibri" pitchFamily="34" charset="-120"/>
              </a:rPr>
              <a:t>these three are almost always wanted together. Extracting them separately would mean three fetches, three evidence steps and six model calls per company instead of two.</a:t>
            </a:r>
            <a:endParaRPr lang="en-US" sz="920" dirty="0"/>
          </a:p>
        </p:txBody>
      </p:sp>
      <p:sp>
        <p:nvSpPr>
          <p:cNvPr id="52" name="Shape 40"/>
          <p:cNvSpPr/>
          <p:nvPr/>
        </p:nvSpPr>
        <p:spPr>
          <a:xfrm>
            <a:off x="594360" y="5193792"/>
            <a:ext cx="11000232" cy="566928"/>
          </a:xfrm>
          <a:prstGeom prst="roundRect">
            <a:avLst>
              <a:gd name="adj" fmla="val 6452"/>
            </a:avLst>
          </a:prstGeom>
          <a:solidFill>
            <a:srgbClr val="F4F7FA"/>
          </a:solidFill>
          <a:ln w="15875">
            <a:solidFill>
              <a:srgbClr val="DDE5ED"/>
            </a:solidFill>
            <a:prstDash val="solid"/>
          </a:ln>
        </p:spPr>
      </p:sp>
      <p:sp>
        <p:nvSpPr>
          <p:cNvPr id="53" name="Text 41"/>
          <p:cNvSpPr txBox="1"/>
          <p:nvPr/>
        </p:nvSpPr>
        <p:spPr>
          <a:xfrm>
            <a:off x="795528" y="5193792"/>
            <a:ext cx="10597896" cy="566928"/>
          </a:xfrm>
          <a:prstGeom prst="rect">
            <a:avLst/>
          </a:prstGeom>
          <a:noFill/>
          <a:ln/>
        </p:spPr>
        <p:txBody>
          <a:bodyPr wrap="square" lIns="0" tIns="0" rIns="0" bIns="0" rtlCol="0" anchor="ctr"/>
          <a:lstStyle/>
          <a:p>
            <a:pPr indent="0" marL="0">
              <a:buNone/>
            </a:pPr>
            <a:r>
              <a:rPr lang="en-US" sz="950" b="1" dirty="0">
                <a:solidFill>
                  <a:srgbClr val="CE3D64"/>
                </a:solidFill>
                <a:latin typeface="Calibri" pitchFamily="34" charset="0"/>
                <a:ea typeface="Calibri" pitchFamily="34" charset="-122"/>
                <a:cs typeface="Calibri" pitchFamily="34" charset="-120"/>
              </a:rPr>
              <a:t>Nothing is backed into.  </a:t>
            </a:r>
            <a:pPr indent="0" marL="0">
              <a:buNone/>
            </a:pPr>
            <a:r>
              <a:rPr lang="en-US" sz="950" dirty="0">
                <a:solidFill>
                  <a:srgbClr val="43566B"/>
                </a:solidFill>
                <a:latin typeface="Calibri" pitchFamily="34" charset="0"/>
                <a:ea typeface="Calibri" pitchFamily="34" charset="-122"/>
                <a:cs typeface="Calibri" pitchFamily="34" charset="-120"/>
              </a:rPr>
              <a:t>A segment or figure the company did not explicitly disclose stays null rather than being derived from a group total — and each of the three sections carries its own review flag, so one weak section never blocks the others.</a:t>
            </a:r>
            <a:endParaRPr lang="en-US" sz="950" dirty="0"/>
          </a:p>
        </p:txBody>
      </p:sp>
      <p:sp>
        <p:nvSpPr>
          <p:cNvPr id="54" name="Shape 42"/>
          <p:cNvSpPr/>
          <p:nvPr/>
        </p:nvSpPr>
        <p:spPr>
          <a:xfrm>
            <a:off x="594360" y="6172200"/>
            <a:ext cx="155448" cy="155448"/>
          </a:xfrm>
          <a:prstGeom prst="roundRect">
            <a:avLst>
              <a:gd name="adj" fmla="val 29412"/>
            </a:avLst>
          </a:prstGeom>
          <a:solidFill>
            <a:srgbClr val="2F6FD0"/>
          </a:solidFill>
          <a:ln/>
        </p:spPr>
      </p:sp>
      <p:sp>
        <p:nvSpPr>
          <p:cNvPr id="55" name="Text 43"/>
          <p:cNvSpPr txBox="1"/>
          <p:nvPr/>
        </p:nvSpPr>
        <p:spPr>
          <a:xfrm>
            <a:off x="81381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56" name="Shape 44"/>
          <p:cNvSpPr/>
          <p:nvPr/>
        </p:nvSpPr>
        <p:spPr>
          <a:xfrm>
            <a:off x="2427732" y="6172200"/>
            <a:ext cx="155448" cy="155448"/>
          </a:xfrm>
          <a:prstGeom prst="roundRect">
            <a:avLst>
              <a:gd name="adj" fmla="val 29412"/>
            </a:avLst>
          </a:prstGeom>
          <a:solidFill>
            <a:srgbClr val="108494"/>
          </a:solidFill>
          <a:ln/>
        </p:spPr>
      </p:sp>
      <p:sp>
        <p:nvSpPr>
          <p:cNvPr id="57" name="Text 45"/>
          <p:cNvSpPr txBox="1"/>
          <p:nvPr/>
        </p:nvSpPr>
        <p:spPr>
          <a:xfrm>
            <a:off x="2647188"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58" name="Shape 46"/>
          <p:cNvSpPr/>
          <p:nvPr/>
        </p:nvSpPr>
        <p:spPr>
          <a:xfrm>
            <a:off x="4261104" y="6172200"/>
            <a:ext cx="155448" cy="155448"/>
          </a:xfrm>
          <a:prstGeom prst="roundRect">
            <a:avLst>
              <a:gd name="adj" fmla="val 29412"/>
            </a:avLst>
          </a:prstGeom>
          <a:solidFill>
            <a:srgbClr val="6D4DD1"/>
          </a:solidFill>
          <a:ln/>
        </p:spPr>
      </p:sp>
      <p:sp>
        <p:nvSpPr>
          <p:cNvPr id="59" name="Text 47"/>
          <p:cNvSpPr txBox="1"/>
          <p:nvPr/>
        </p:nvSpPr>
        <p:spPr>
          <a:xfrm>
            <a:off x="4480560"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60" name="Shape 48"/>
          <p:cNvSpPr/>
          <p:nvPr/>
        </p:nvSpPr>
        <p:spPr>
          <a:xfrm>
            <a:off x="6094476" y="6172200"/>
            <a:ext cx="155448" cy="155448"/>
          </a:xfrm>
          <a:prstGeom prst="roundRect">
            <a:avLst>
              <a:gd name="adj" fmla="val 29412"/>
            </a:avLst>
          </a:prstGeom>
          <a:solidFill>
            <a:srgbClr val="C9871B"/>
          </a:solidFill>
          <a:ln/>
        </p:spPr>
      </p:sp>
      <p:sp>
        <p:nvSpPr>
          <p:cNvPr id="61" name="Text 49"/>
          <p:cNvSpPr txBox="1"/>
          <p:nvPr/>
        </p:nvSpPr>
        <p:spPr>
          <a:xfrm>
            <a:off x="6313932"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62" name="Shape 50"/>
          <p:cNvSpPr/>
          <p:nvPr/>
        </p:nvSpPr>
        <p:spPr>
          <a:xfrm>
            <a:off x="7927848" y="6172200"/>
            <a:ext cx="155448" cy="155448"/>
          </a:xfrm>
          <a:prstGeom prst="roundRect">
            <a:avLst>
              <a:gd name="adj" fmla="val 29412"/>
            </a:avLst>
          </a:prstGeom>
          <a:solidFill>
            <a:srgbClr val="CE3D64"/>
          </a:solidFill>
          <a:ln/>
        </p:spPr>
      </p:sp>
      <p:sp>
        <p:nvSpPr>
          <p:cNvPr id="63" name="Text 51"/>
          <p:cNvSpPr txBox="1"/>
          <p:nvPr/>
        </p:nvSpPr>
        <p:spPr>
          <a:xfrm>
            <a:off x="8147304"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64" name="Shape 52"/>
          <p:cNvSpPr/>
          <p:nvPr/>
        </p:nvSpPr>
        <p:spPr>
          <a:xfrm>
            <a:off x="9761220" y="6172200"/>
            <a:ext cx="155448" cy="155448"/>
          </a:xfrm>
          <a:prstGeom prst="roundRect">
            <a:avLst>
              <a:gd name="adj" fmla="val 29412"/>
            </a:avLst>
          </a:prstGeom>
          <a:solidFill>
            <a:srgbClr val="2F8F48"/>
          </a:solidFill>
          <a:ln/>
        </p:spPr>
      </p:sp>
      <p:sp>
        <p:nvSpPr>
          <p:cNvPr id="65" name="Text 53"/>
          <p:cNvSpPr txBox="1"/>
          <p:nvPr/>
        </p:nvSpPr>
        <p:spPr>
          <a:xfrm>
            <a:off x="998067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04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Financials: one fetch, one verified pass</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The same graph shape as data-point extraction, widened to three sections and overlaid with SEC's own facts.</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72768"/>
            <a:ext cx="1907438" cy="749808"/>
          </a:xfrm>
          <a:prstGeom prst="roundRect">
            <a:avLst>
              <a:gd name="adj" fmla="val 12195"/>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1673352"/>
            <a:ext cx="182880" cy="182880"/>
          </a:xfrm>
          <a:prstGeom prst="rect">
            <a:avLst/>
          </a:prstGeom>
        </p:spPr>
      </p:pic>
      <p:sp>
        <p:nvSpPr>
          <p:cNvPr id="9" name="Text 5"/>
          <p:cNvSpPr txBox="1"/>
          <p:nvPr/>
        </p:nvSpPr>
        <p:spPr>
          <a:xfrm>
            <a:off x="685800"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24354A"/>
                </a:solidFill>
                <a:latin typeface="Calibri" pitchFamily="34" charset="0"/>
                <a:ea typeface="Calibri" pitchFamily="34" charset="-122"/>
                <a:cs typeface="Calibri" pitchFamily="34" charset="-120"/>
              </a:rPr>
              <a:t>Run created</a:t>
            </a:r>
            <a:endParaRPr lang="en-US" sz="1050" dirty="0"/>
          </a:p>
          <a:p>
            <a:pPr algn="ctr" indent="0" marL="0">
              <a:lnSpc>
                <a:spcPct val="104000"/>
              </a:lnSpc>
              <a:buNone/>
            </a:pPr>
            <a:r>
              <a:rPr lang="en-US" sz="800" dirty="0">
                <a:solidFill>
                  <a:srgbClr val="24354A"/>
                </a:solidFill>
                <a:latin typeface="Calibri" pitchFamily="34" charset="0"/>
                <a:ea typeface="Calibri" pitchFamily="34" charset="-122"/>
                <a:cs typeface="Calibri" pitchFamily="34" charset="-120"/>
              </a:rPr>
              <a:t>arp extract financials-run</a:t>
            </a:r>
            <a:endParaRPr lang="en-US" sz="1050" dirty="0"/>
          </a:p>
        </p:txBody>
      </p:sp>
      <p:sp>
        <p:nvSpPr>
          <p:cNvPr id="10" name="Shape 6"/>
          <p:cNvSpPr/>
          <p:nvPr/>
        </p:nvSpPr>
        <p:spPr>
          <a:xfrm>
            <a:off x="2556662" y="1947672"/>
            <a:ext cx="256032" cy="0"/>
          </a:xfrm>
          <a:prstGeom prst="line">
            <a:avLst/>
          </a:prstGeom>
          <a:noFill/>
          <a:ln w="21590">
            <a:solidFill>
              <a:srgbClr val="64798F"/>
            </a:solidFill>
            <a:prstDash val="solid"/>
            <a:headEnd type="none"/>
            <a:tailEnd type="triangle"/>
          </a:ln>
        </p:spPr>
      </p:sp>
      <p:sp>
        <p:nvSpPr>
          <p:cNvPr id="11" name="Shape 7"/>
          <p:cNvSpPr/>
          <p:nvPr/>
        </p:nvSpPr>
        <p:spPr>
          <a:xfrm>
            <a:off x="2867558" y="1572768"/>
            <a:ext cx="1907438"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2986430" y="1673352"/>
            <a:ext cx="182880" cy="182880"/>
          </a:xfrm>
          <a:prstGeom prst="rect">
            <a:avLst/>
          </a:prstGeom>
        </p:spPr>
      </p:pic>
      <p:sp>
        <p:nvSpPr>
          <p:cNvPr id="13" name="Text 8"/>
          <p:cNvSpPr txBox="1"/>
          <p:nvPr/>
        </p:nvSpPr>
        <p:spPr>
          <a:xfrm>
            <a:off x="2958998"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Fetch documents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one registry call per company</a:t>
            </a:r>
            <a:endParaRPr lang="en-US" sz="1050" dirty="0"/>
          </a:p>
        </p:txBody>
      </p:sp>
      <p:sp>
        <p:nvSpPr>
          <p:cNvPr id="14" name="Shape 9"/>
          <p:cNvSpPr/>
          <p:nvPr/>
        </p:nvSpPr>
        <p:spPr>
          <a:xfrm>
            <a:off x="4829861" y="1947672"/>
            <a:ext cx="256032" cy="0"/>
          </a:xfrm>
          <a:prstGeom prst="line">
            <a:avLst/>
          </a:prstGeom>
          <a:noFill/>
          <a:ln w="21590">
            <a:solidFill>
              <a:srgbClr val="64798F"/>
            </a:solidFill>
            <a:prstDash val="solid"/>
            <a:headEnd type="none"/>
            <a:tailEnd type="triangle"/>
          </a:ln>
        </p:spPr>
      </p:sp>
      <p:sp>
        <p:nvSpPr>
          <p:cNvPr id="15" name="Shape 10"/>
          <p:cNvSpPr/>
          <p:nvPr/>
        </p:nvSpPr>
        <p:spPr>
          <a:xfrm>
            <a:off x="5140757"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5259629" y="1673352"/>
            <a:ext cx="182880" cy="182880"/>
          </a:xfrm>
          <a:prstGeom prst="rect">
            <a:avLst/>
          </a:prstGeom>
        </p:spPr>
      </p:pic>
      <p:sp>
        <p:nvSpPr>
          <p:cNvPr id="17" name="Text 11"/>
          <p:cNvSpPr txBox="1"/>
          <p:nvPr/>
        </p:nvSpPr>
        <p:spPr>
          <a:xfrm>
            <a:off x="5232197"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Gather evidence</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once, for all three sections</a:t>
            </a:r>
            <a:endParaRPr lang="en-US" sz="1050" dirty="0"/>
          </a:p>
        </p:txBody>
      </p:sp>
      <p:sp>
        <p:nvSpPr>
          <p:cNvPr id="18" name="Shape 12"/>
          <p:cNvSpPr/>
          <p:nvPr/>
        </p:nvSpPr>
        <p:spPr>
          <a:xfrm>
            <a:off x="7103059" y="1947672"/>
            <a:ext cx="256032" cy="0"/>
          </a:xfrm>
          <a:prstGeom prst="line">
            <a:avLst/>
          </a:prstGeom>
          <a:noFill/>
          <a:ln w="21590">
            <a:solidFill>
              <a:srgbClr val="64798F"/>
            </a:solidFill>
            <a:prstDash val="solid"/>
            <a:headEnd type="none"/>
            <a:tailEnd type="triangle"/>
          </a:ln>
        </p:spPr>
      </p:sp>
      <p:sp>
        <p:nvSpPr>
          <p:cNvPr id="19" name="Shape 13"/>
          <p:cNvSpPr/>
          <p:nvPr/>
        </p:nvSpPr>
        <p:spPr>
          <a:xfrm>
            <a:off x="7413955" y="1572768"/>
            <a:ext cx="1907438"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7532827" y="1673352"/>
            <a:ext cx="182880" cy="182880"/>
          </a:xfrm>
          <a:prstGeom prst="rect">
            <a:avLst/>
          </a:prstGeom>
        </p:spPr>
      </p:pic>
      <p:sp>
        <p:nvSpPr>
          <p:cNvPr id="21" name="Text 14"/>
          <p:cNvSpPr txBox="1"/>
          <p:nvPr/>
        </p:nvSpPr>
        <p:spPr>
          <a:xfrm>
            <a:off x="7505395"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Extract → verify</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financials_graph, two models</a:t>
            </a:r>
            <a:endParaRPr lang="en-US" sz="1050" dirty="0"/>
          </a:p>
        </p:txBody>
      </p:sp>
      <p:sp>
        <p:nvSpPr>
          <p:cNvPr id="22" name="Shape 15"/>
          <p:cNvSpPr/>
          <p:nvPr/>
        </p:nvSpPr>
        <p:spPr>
          <a:xfrm>
            <a:off x="9376258" y="1947672"/>
            <a:ext cx="256032" cy="0"/>
          </a:xfrm>
          <a:prstGeom prst="line">
            <a:avLst/>
          </a:prstGeom>
          <a:noFill/>
          <a:ln w="21590">
            <a:solidFill>
              <a:srgbClr val="64798F"/>
            </a:solidFill>
            <a:prstDash val="solid"/>
            <a:headEnd type="none"/>
            <a:tailEnd type="triangle"/>
          </a:ln>
        </p:spPr>
      </p:sp>
      <p:sp>
        <p:nvSpPr>
          <p:cNvPr id="23" name="Shape 16"/>
          <p:cNvSpPr/>
          <p:nvPr/>
        </p:nvSpPr>
        <p:spPr>
          <a:xfrm>
            <a:off x="9687154" y="1572768"/>
            <a:ext cx="1907438" cy="749808"/>
          </a:xfrm>
          <a:prstGeom prst="roundRect">
            <a:avLst>
              <a:gd name="adj" fmla="val 1219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24" name="Image 5" descr="preencoded.png">    </p:cNvPr>
          <p:cNvPicPr>
            <a:picLocks noChangeAspect="1"/>
          </p:cNvPicPr>
          <p:nvPr/>
        </p:nvPicPr>
        <p:blipFill>
          <a:blip r:embed="rId6"/>
          <a:stretch>
            <a:fillRect/>
          </a:stretch>
        </p:blipFill>
        <p:spPr>
          <a:xfrm>
            <a:off x="9806026" y="1673352"/>
            <a:ext cx="182880" cy="182880"/>
          </a:xfrm>
          <a:prstGeom prst="rect">
            <a:avLst/>
          </a:prstGeom>
        </p:spPr>
      </p:pic>
      <p:sp>
        <p:nvSpPr>
          <p:cNvPr id="25" name="Text 17"/>
          <p:cNvSpPr txBox="1"/>
          <p:nvPr/>
        </p:nvSpPr>
        <p:spPr>
          <a:xfrm>
            <a:off x="9778594"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Ground citations</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quote matched against the source</a:t>
            </a:r>
            <a:endParaRPr lang="en-US" sz="1050" dirty="0"/>
          </a:p>
        </p:txBody>
      </p:sp>
      <p:sp>
        <p:nvSpPr>
          <p:cNvPr id="26" name="Shape 18"/>
          <p:cNvSpPr/>
          <p:nvPr/>
        </p:nvSpPr>
        <p:spPr>
          <a:xfrm>
            <a:off x="594360" y="2743200"/>
            <a:ext cx="3200400" cy="914400"/>
          </a:xfrm>
          <a:prstGeom prst="roundRect">
            <a:avLst>
              <a:gd name="adj" fmla="val 10000"/>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27" name="Image 6" descr="preencoded.png">    </p:cNvPr>
          <p:cNvPicPr>
            <a:picLocks noChangeAspect="1"/>
          </p:cNvPicPr>
          <p:nvPr/>
        </p:nvPicPr>
        <p:blipFill>
          <a:blip r:embed="rId7"/>
          <a:stretch>
            <a:fillRect/>
          </a:stretch>
        </p:blipFill>
        <p:spPr>
          <a:xfrm>
            <a:off x="713232" y="2843784"/>
            <a:ext cx="182880" cy="182880"/>
          </a:xfrm>
          <a:prstGeom prst="rect">
            <a:avLst/>
          </a:prstGeom>
        </p:spPr>
      </p:pic>
      <p:sp>
        <p:nvSpPr>
          <p:cNvPr id="28" name="Text 19"/>
          <p:cNvSpPr txBox="1"/>
          <p:nvPr/>
        </p:nvSpPr>
        <p:spPr>
          <a:xfrm>
            <a:off x="685800" y="2743200"/>
            <a:ext cx="3017520" cy="91440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108494"/>
                </a:solidFill>
                <a:latin typeface="Calibri" pitchFamily="34" charset="0"/>
                <a:ea typeface="Calibri" pitchFamily="34" charset="-122"/>
                <a:cs typeface="Calibri" pitchFamily="34" charset="-120"/>
              </a:rPr>
              <a:t>OVERLAY, EDGAR FILERS ONLY</a:t>
            </a:r>
            <a:endParaRPr lang="en-US" sz="700" dirty="0"/>
          </a:p>
          <a:p>
            <a:pPr algn="ctr" indent="0" marL="0">
              <a:lnSpc>
                <a:spcPct val="104000"/>
              </a:lnSpc>
              <a:buNone/>
            </a:pPr>
            <a:r>
              <a:rPr lang="en-US" sz="1100" b="1" dirty="0">
                <a:solidFill>
                  <a:srgbClr val="0A4451"/>
                </a:solidFill>
                <a:latin typeface="Calibri" pitchFamily="34" charset="0"/>
                <a:ea typeface="Calibri" pitchFamily="34" charset="-122"/>
                <a:cs typeface="Calibri" pitchFamily="34" charset="-120"/>
              </a:rPr>
              <a:t>SEC companyfacts (XBRL)</a:t>
            </a:r>
            <a:endParaRPr lang="en-US" sz="70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resolve CIK → fetch tagged CapEx / R&amp;D totals</a:t>
            </a:r>
            <a:endParaRPr lang="en-US" sz="700" dirty="0"/>
          </a:p>
        </p:txBody>
      </p:sp>
      <p:sp>
        <p:nvSpPr>
          <p:cNvPr id="29" name="Shape 20"/>
          <p:cNvSpPr/>
          <p:nvPr/>
        </p:nvSpPr>
        <p:spPr>
          <a:xfrm>
            <a:off x="3931920" y="2743200"/>
            <a:ext cx="3291840" cy="914400"/>
          </a:xfrm>
          <a:prstGeom prst="diamond">
            <a:avLst/>
          </a:prstGeom>
          <a:solidFill>
            <a:srgbClr val="FCEDD4"/>
          </a:solidFill>
          <a:ln w="15875">
            <a:solidFill>
              <a:srgbClr val="C9871B"/>
            </a:solidFill>
            <a:prstDash val="solid"/>
          </a:ln>
        </p:spPr>
      </p:sp>
      <p:sp>
        <p:nvSpPr>
          <p:cNvPr id="30" name="Text 21"/>
          <p:cNvSpPr txBox="1"/>
          <p:nvPr/>
        </p:nvSpPr>
        <p:spPr>
          <a:xfrm>
            <a:off x="4023360" y="2743200"/>
            <a:ext cx="3108960" cy="914400"/>
          </a:xfrm>
          <a:prstGeom prst="rect">
            <a:avLst/>
          </a:prstGeom>
          <a:noFill/>
          <a:ln/>
        </p:spPr>
        <p:txBody>
          <a:bodyPr wrap="square" lIns="0" tIns="0" rIns="0" bIns="0" rtlCol="0" anchor="ctr"/>
          <a:lstStyle/>
          <a:p>
            <a:pPr algn="ctr" indent="0" marL="0">
              <a:lnSpc>
                <a:spcPct val="104000"/>
              </a:lnSpc>
              <a:buNone/>
            </a:pPr>
            <a:r>
              <a:rPr lang="en-US" sz="950" b="1" dirty="0">
                <a:solidFill>
                  <a:srgbClr val="64430A"/>
                </a:solidFill>
                <a:latin typeface="Calibri" pitchFamily="34" charset="0"/>
                <a:ea typeface="Calibri" pitchFamily="34" charset="-122"/>
                <a:cs typeface="Calibri" pitchFamily="34" charset="-120"/>
              </a:rPr>
              <a:t>tagged figure present?</a:t>
            </a:r>
            <a:endParaRPr lang="en-US" sz="950" dirty="0"/>
          </a:p>
        </p:txBody>
      </p:sp>
      <p:sp>
        <p:nvSpPr>
          <p:cNvPr id="31" name="Shape 22"/>
          <p:cNvSpPr/>
          <p:nvPr/>
        </p:nvSpPr>
        <p:spPr>
          <a:xfrm>
            <a:off x="3822192" y="3200400"/>
            <a:ext cx="338328" cy="0"/>
          </a:xfrm>
          <a:prstGeom prst="line">
            <a:avLst/>
          </a:prstGeom>
          <a:noFill/>
          <a:ln w="17780">
            <a:solidFill>
              <a:srgbClr val="108494"/>
            </a:solidFill>
            <a:prstDash val="solid"/>
            <a:headEnd type="none"/>
            <a:tailEnd type="triangle"/>
          </a:ln>
        </p:spPr>
      </p:sp>
      <p:sp>
        <p:nvSpPr>
          <p:cNvPr id="32" name="Shape 23"/>
          <p:cNvSpPr/>
          <p:nvPr/>
        </p:nvSpPr>
        <p:spPr>
          <a:xfrm>
            <a:off x="7955280" y="2542032"/>
            <a:ext cx="3639312" cy="548640"/>
          </a:xfrm>
          <a:prstGeom prst="roundRect">
            <a:avLst>
              <a:gd name="adj" fmla="val 16667"/>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33" name="Text 24"/>
          <p:cNvSpPr txBox="1"/>
          <p:nvPr/>
        </p:nvSpPr>
        <p:spPr>
          <a:xfrm>
            <a:off x="8046720" y="2542032"/>
            <a:ext cx="3456432" cy="548640"/>
          </a:xfrm>
          <a:prstGeom prst="rect">
            <a:avLst/>
          </a:prstGeom>
          <a:noFill/>
          <a:ln/>
        </p:spPr>
        <p:txBody>
          <a:bodyPr wrap="square" lIns="0" tIns="0" rIns="0" bIns="0" rtlCol="0" anchor="ctr"/>
          <a:lstStyle/>
          <a:p>
            <a:pPr algn="ctr" indent="0" marL="0">
              <a:lnSpc>
                <a:spcPct val="104000"/>
              </a:lnSpc>
              <a:buNone/>
            </a:pPr>
            <a:r>
              <a:rPr lang="en-US" sz="950" b="1" dirty="0">
                <a:solidFill>
                  <a:srgbClr val="17431F"/>
                </a:solidFill>
                <a:latin typeface="Calibri" pitchFamily="34" charset="0"/>
                <a:ea typeface="Calibri" pitchFamily="34" charset="-122"/>
                <a:cs typeface="Calibri" pitchFamily="34" charset="-120"/>
              </a:rPr>
              <a:t>Scalar total replaced, marked grounded, confidence 1.0</a:t>
            </a:r>
            <a:endParaRPr lang="en-US" sz="950" dirty="0"/>
          </a:p>
        </p:txBody>
      </p:sp>
      <p:sp>
        <p:nvSpPr>
          <p:cNvPr id="34" name="Shape 25"/>
          <p:cNvSpPr/>
          <p:nvPr/>
        </p:nvSpPr>
        <p:spPr>
          <a:xfrm>
            <a:off x="7955280" y="3310128"/>
            <a:ext cx="3639312" cy="548640"/>
          </a:xfrm>
          <a:prstGeom prst="roundRect">
            <a:avLst>
              <a:gd name="adj" fmla="val 16667"/>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5" name="Text 26"/>
          <p:cNvSpPr txBox="1"/>
          <p:nvPr/>
        </p:nvSpPr>
        <p:spPr>
          <a:xfrm>
            <a:off x="8046720" y="3310128"/>
            <a:ext cx="3456432" cy="548640"/>
          </a:xfrm>
          <a:prstGeom prst="rect">
            <a:avLst/>
          </a:prstGeom>
          <a:noFill/>
          <a:ln/>
        </p:spPr>
        <p:txBody>
          <a:bodyPr wrap="square" lIns="0" tIns="0" rIns="0" bIns="0" rtlCol="0" anchor="ctr"/>
          <a:lstStyle/>
          <a:p>
            <a:pPr algn="ctr" indent="0" marL="0">
              <a:lnSpc>
                <a:spcPct val="104000"/>
              </a:lnSpc>
              <a:buNone/>
            </a:pPr>
            <a:r>
              <a:rPr lang="en-US" sz="950" b="1" dirty="0">
                <a:solidFill>
                  <a:srgbClr val="35236E"/>
                </a:solidFill>
                <a:latin typeface="Calibri" pitchFamily="34" charset="0"/>
                <a:ea typeface="Calibri" pitchFamily="34" charset="-122"/>
                <a:cs typeface="Calibri" pitchFamily="34" charset="-120"/>
              </a:rPr>
              <a:t>The pipeline's own extracted total stands</a:t>
            </a:r>
            <a:endParaRPr lang="en-US" sz="950" dirty="0"/>
          </a:p>
        </p:txBody>
      </p:sp>
      <p:sp>
        <p:nvSpPr>
          <p:cNvPr id="36" name="Shape 27"/>
          <p:cNvSpPr/>
          <p:nvPr/>
        </p:nvSpPr>
        <p:spPr>
          <a:xfrm flipV="1">
            <a:off x="7086600" y="2816352"/>
            <a:ext cx="813816" cy="182880"/>
          </a:xfrm>
          <a:prstGeom prst="line">
            <a:avLst/>
          </a:prstGeom>
          <a:noFill/>
          <a:ln w="16510">
            <a:solidFill>
              <a:srgbClr val="2F8F48"/>
            </a:solidFill>
            <a:prstDash val="solid"/>
            <a:headEnd type="none"/>
            <a:tailEnd type="triangle"/>
          </a:ln>
        </p:spPr>
      </p:sp>
      <p:sp>
        <p:nvSpPr>
          <p:cNvPr id="37" name="Shape 28"/>
          <p:cNvSpPr/>
          <p:nvPr/>
        </p:nvSpPr>
        <p:spPr>
          <a:xfrm>
            <a:off x="7086600" y="3401568"/>
            <a:ext cx="813816" cy="182880"/>
          </a:xfrm>
          <a:prstGeom prst="line">
            <a:avLst/>
          </a:prstGeom>
          <a:noFill/>
          <a:ln w="16510">
            <a:solidFill>
              <a:srgbClr val="64798F"/>
            </a:solidFill>
            <a:prstDash val="solid"/>
            <a:headEnd type="none"/>
            <a:tailEnd type="triangle"/>
          </a:ln>
        </p:spPr>
      </p:sp>
      <p:sp>
        <p:nvSpPr>
          <p:cNvPr id="38" name="Text 29"/>
          <p:cNvSpPr txBox="1"/>
          <p:nvPr/>
        </p:nvSpPr>
        <p:spPr>
          <a:xfrm>
            <a:off x="7132320" y="2633472"/>
            <a:ext cx="731520" cy="182880"/>
          </a:xfrm>
          <a:prstGeom prst="rect">
            <a:avLst/>
          </a:prstGeom>
          <a:noFill/>
          <a:ln/>
        </p:spPr>
        <p:txBody>
          <a:bodyPr wrap="square" lIns="0" tIns="0" rIns="0" bIns="0" rtlCol="0" anchor="ctr"/>
          <a:lstStyle/>
          <a:p>
            <a:pPr algn="ctr" indent="0" marL="0">
              <a:buNone/>
            </a:pPr>
            <a:r>
              <a:rPr lang="en-US" sz="800" i="1" dirty="0">
                <a:solidFill>
                  <a:srgbClr val="2F8F48"/>
                </a:solidFill>
                <a:latin typeface="Calibri" pitchFamily="34" charset="0"/>
                <a:ea typeface="Calibri" pitchFamily="34" charset="-122"/>
                <a:cs typeface="Calibri" pitchFamily="34" charset="-120"/>
              </a:rPr>
              <a:t>yes</a:t>
            </a:r>
            <a:endParaRPr lang="en-US" sz="800" dirty="0"/>
          </a:p>
        </p:txBody>
      </p:sp>
      <p:sp>
        <p:nvSpPr>
          <p:cNvPr id="39" name="Text 30"/>
          <p:cNvSpPr txBox="1"/>
          <p:nvPr/>
        </p:nvSpPr>
        <p:spPr>
          <a:xfrm>
            <a:off x="7132320" y="3657600"/>
            <a:ext cx="731520" cy="182880"/>
          </a:xfrm>
          <a:prstGeom prst="rect">
            <a:avLst/>
          </a:prstGeom>
          <a:noFill/>
          <a:ln/>
        </p:spPr>
        <p:txBody>
          <a:bodyPr wrap="square" lIns="0" tIns="0" rIns="0" bIns="0" rtlCol="0" anchor="ctr"/>
          <a:lstStyle/>
          <a:p>
            <a:pPr algn="ctr" indent="0" marL="0">
              <a:buNone/>
            </a:pPr>
            <a:r>
              <a:rPr lang="en-US" sz="800" i="1" dirty="0">
                <a:solidFill>
                  <a:srgbClr val="58697A"/>
                </a:solidFill>
                <a:latin typeface="Calibri" pitchFamily="34" charset="0"/>
                <a:ea typeface="Calibri" pitchFamily="34" charset="-122"/>
                <a:cs typeface="Calibri" pitchFamily="34" charset="-120"/>
              </a:rPr>
              <a:t>no</a:t>
            </a:r>
            <a:endParaRPr lang="en-US" sz="800" dirty="0"/>
          </a:p>
        </p:txBody>
      </p:sp>
      <p:sp>
        <p:nvSpPr>
          <p:cNvPr id="40" name="Text 31"/>
          <p:cNvSpPr txBox="1"/>
          <p:nvPr/>
        </p:nvSpPr>
        <p:spPr>
          <a:xfrm>
            <a:off x="594360" y="3703320"/>
            <a:ext cx="3200400" cy="219456"/>
          </a:xfrm>
          <a:prstGeom prst="rect">
            <a:avLst/>
          </a:prstGeom>
          <a:noFill/>
          <a:ln/>
        </p:spPr>
        <p:txBody>
          <a:bodyPr wrap="square" lIns="0" tIns="0" rIns="0" bIns="0" rtlCol="0" anchor="ctr"/>
          <a:lstStyle/>
          <a:p>
            <a:pPr algn="ctr" indent="0" marL="0">
              <a:buNone/>
            </a:pPr>
            <a:r>
              <a:rPr lang="en-US" sz="800" i="1" dirty="0">
                <a:solidFill>
                  <a:srgbClr val="58697A"/>
                </a:solidFill>
                <a:latin typeface="Calibri" pitchFamily="34" charset="0"/>
                <a:ea typeface="Calibri" pitchFamily="34" charset="-122"/>
                <a:cs typeface="Calibri" pitchFamily="34" charset="-120"/>
              </a:rPr>
              <a:t>descriptions and category splits always stay with the LLM pass</a:t>
            </a:r>
            <a:endParaRPr lang="en-US" sz="800" dirty="0"/>
          </a:p>
        </p:txBody>
      </p:sp>
      <p:sp>
        <p:nvSpPr>
          <p:cNvPr id="41" name="Shape 32"/>
          <p:cNvSpPr/>
          <p:nvPr/>
        </p:nvSpPr>
        <p:spPr>
          <a:xfrm>
            <a:off x="594360" y="4160520"/>
            <a:ext cx="11000232" cy="914400"/>
          </a:xfrm>
          <a:prstGeom prst="roundRect">
            <a:avLst>
              <a:gd name="adj" fmla="val 4000"/>
            </a:avLst>
          </a:prstGeom>
          <a:solidFill>
            <a:srgbClr val="F4F7FA"/>
          </a:solidFill>
          <a:ln w="15875">
            <a:solidFill>
              <a:srgbClr val="9FB2C4"/>
            </a:solidFill>
            <a:prstDash val="dash"/>
          </a:ln>
        </p:spPr>
      </p:sp>
      <p:sp>
        <p:nvSpPr>
          <p:cNvPr id="42" name="Shape 33"/>
          <p:cNvSpPr/>
          <p:nvPr/>
        </p:nvSpPr>
        <p:spPr>
          <a:xfrm>
            <a:off x="740664" y="4041648"/>
            <a:ext cx="2165299" cy="274320"/>
          </a:xfrm>
          <a:prstGeom prst="roundRect">
            <a:avLst>
              <a:gd name="adj" fmla="val 50000"/>
            </a:avLst>
          </a:prstGeom>
          <a:solidFill>
            <a:srgbClr val="64798F"/>
          </a:solidFill>
          <a:ln/>
        </p:spPr>
      </p:sp>
      <p:pic>
        <p:nvPicPr>
          <p:cNvPr id="43" name="Image 7" descr="preencoded.png">    </p:cNvPr>
          <p:cNvPicPr>
            <a:picLocks noChangeAspect="1"/>
          </p:cNvPicPr>
          <p:nvPr/>
        </p:nvPicPr>
        <p:blipFill>
          <a:blip r:embed="rId8"/>
          <a:stretch>
            <a:fillRect/>
          </a:stretch>
        </p:blipFill>
        <p:spPr>
          <a:xfrm>
            <a:off x="859536" y="4110228"/>
            <a:ext cx="132588" cy="132588"/>
          </a:xfrm>
          <a:prstGeom prst="rect">
            <a:avLst/>
          </a:prstGeom>
        </p:spPr>
      </p:pic>
      <p:sp>
        <p:nvSpPr>
          <p:cNvPr id="44" name="Text 34"/>
          <p:cNvSpPr txBox="1"/>
          <p:nvPr/>
        </p:nvSpPr>
        <p:spPr>
          <a:xfrm>
            <a:off x="1014984" y="4041648"/>
            <a:ext cx="1890979"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PER-SECTION REVIEW FLAGS</a:t>
            </a:r>
            <a:endParaRPr lang="en-US" sz="850" dirty="0"/>
          </a:p>
        </p:txBody>
      </p:sp>
      <p:sp>
        <p:nvSpPr>
          <p:cNvPr id="45" name="Shape 35"/>
          <p:cNvSpPr/>
          <p:nvPr/>
        </p:nvSpPr>
        <p:spPr>
          <a:xfrm>
            <a:off x="822960" y="4526280"/>
            <a:ext cx="3291840" cy="411480"/>
          </a:xfrm>
          <a:prstGeom prst="roundRect">
            <a:avLst>
              <a:gd name="adj" fmla="val 22222"/>
            </a:avLst>
          </a:prstGeom>
          <a:solidFill>
            <a:srgbClr val="FBE2E8"/>
          </a:solidFill>
          <a:ln w="15875">
            <a:solidFill>
              <a:srgbClr val="CE3D64"/>
            </a:solidFill>
            <a:prstDash val="solid"/>
          </a:ln>
        </p:spPr>
      </p:sp>
      <p:sp>
        <p:nvSpPr>
          <p:cNvPr id="46" name="Text 36"/>
          <p:cNvSpPr txBox="1"/>
          <p:nvPr/>
        </p:nvSpPr>
        <p:spPr>
          <a:xfrm>
            <a:off x="914400" y="4526280"/>
            <a:ext cx="3108960" cy="411480"/>
          </a:xfrm>
          <a:prstGeom prst="rect">
            <a:avLst/>
          </a:prstGeom>
          <a:noFill/>
          <a:ln/>
        </p:spPr>
        <p:txBody>
          <a:bodyPr wrap="square" lIns="0" tIns="0" rIns="0" bIns="0" rtlCol="0" anchor="ctr"/>
          <a:lstStyle/>
          <a:p>
            <a:pPr algn="ctr" indent="0" marL="0">
              <a:lnSpc>
                <a:spcPct val="104000"/>
              </a:lnSpc>
              <a:buNone/>
            </a:pPr>
            <a:r>
              <a:rPr lang="en-US" sz="920" b="1" dirty="0">
                <a:solidFill>
                  <a:srgbClr val="68182F"/>
                </a:solidFill>
                <a:latin typeface="Calibri" pitchFamily="34" charset="0"/>
                <a:ea typeface="Calibri" pitchFamily="34" charset="-122"/>
                <a:cs typeface="Calibri" pitchFamily="34" charset="-120"/>
              </a:rPr>
              <a:t>Segments — its own needs_review flag</a:t>
            </a:r>
            <a:endParaRPr lang="en-US" sz="920" dirty="0"/>
          </a:p>
        </p:txBody>
      </p:sp>
      <p:sp>
        <p:nvSpPr>
          <p:cNvPr id="47" name="Shape 37"/>
          <p:cNvSpPr/>
          <p:nvPr/>
        </p:nvSpPr>
        <p:spPr>
          <a:xfrm>
            <a:off x="4434840" y="4526280"/>
            <a:ext cx="3291840" cy="411480"/>
          </a:xfrm>
          <a:prstGeom prst="roundRect">
            <a:avLst>
              <a:gd name="adj" fmla="val 22222"/>
            </a:avLst>
          </a:prstGeom>
          <a:solidFill>
            <a:srgbClr val="FBE2E8"/>
          </a:solidFill>
          <a:ln w="15875">
            <a:solidFill>
              <a:srgbClr val="CE3D64"/>
            </a:solidFill>
            <a:prstDash val="solid"/>
          </a:ln>
        </p:spPr>
      </p:sp>
      <p:sp>
        <p:nvSpPr>
          <p:cNvPr id="48" name="Text 38"/>
          <p:cNvSpPr txBox="1"/>
          <p:nvPr/>
        </p:nvSpPr>
        <p:spPr>
          <a:xfrm>
            <a:off x="4526280" y="4526280"/>
            <a:ext cx="3108960" cy="411480"/>
          </a:xfrm>
          <a:prstGeom prst="rect">
            <a:avLst/>
          </a:prstGeom>
          <a:noFill/>
          <a:ln/>
        </p:spPr>
        <p:txBody>
          <a:bodyPr wrap="square" lIns="0" tIns="0" rIns="0" bIns="0" rtlCol="0" anchor="ctr"/>
          <a:lstStyle/>
          <a:p>
            <a:pPr algn="ctr" indent="0" marL="0">
              <a:lnSpc>
                <a:spcPct val="104000"/>
              </a:lnSpc>
              <a:buNone/>
            </a:pPr>
            <a:r>
              <a:rPr lang="en-US" sz="920" b="1" dirty="0">
                <a:solidFill>
                  <a:srgbClr val="68182F"/>
                </a:solidFill>
                <a:latin typeface="Calibri" pitchFamily="34" charset="0"/>
                <a:ea typeface="Calibri" pitchFamily="34" charset="-122"/>
                <a:cs typeface="Calibri" pitchFamily="34" charset="-120"/>
              </a:rPr>
              <a:t>CapEx — its own needs_review flag</a:t>
            </a:r>
            <a:endParaRPr lang="en-US" sz="920" dirty="0"/>
          </a:p>
        </p:txBody>
      </p:sp>
      <p:sp>
        <p:nvSpPr>
          <p:cNvPr id="49" name="Shape 39"/>
          <p:cNvSpPr/>
          <p:nvPr/>
        </p:nvSpPr>
        <p:spPr>
          <a:xfrm>
            <a:off x="8046720" y="4526280"/>
            <a:ext cx="3291840" cy="411480"/>
          </a:xfrm>
          <a:prstGeom prst="roundRect">
            <a:avLst>
              <a:gd name="adj" fmla="val 22222"/>
            </a:avLst>
          </a:prstGeom>
          <a:solidFill>
            <a:srgbClr val="FBE2E8"/>
          </a:solidFill>
          <a:ln w="15875">
            <a:solidFill>
              <a:srgbClr val="CE3D64"/>
            </a:solidFill>
            <a:prstDash val="solid"/>
          </a:ln>
        </p:spPr>
      </p:sp>
      <p:sp>
        <p:nvSpPr>
          <p:cNvPr id="50" name="Text 40"/>
          <p:cNvSpPr txBox="1"/>
          <p:nvPr/>
        </p:nvSpPr>
        <p:spPr>
          <a:xfrm>
            <a:off x="8138160" y="4526280"/>
            <a:ext cx="3108960" cy="411480"/>
          </a:xfrm>
          <a:prstGeom prst="rect">
            <a:avLst/>
          </a:prstGeom>
          <a:noFill/>
          <a:ln/>
        </p:spPr>
        <p:txBody>
          <a:bodyPr wrap="square" lIns="0" tIns="0" rIns="0" bIns="0" rtlCol="0" anchor="ctr"/>
          <a:lstStyle/>
          <a:p>
            <a:pPr algn="ctr" indent="0" marL="0">
              <a:lnSpc>
                <a:spcPct val="104000"/>
              </a:lnSpc>
              <a:buNone/>
            </a:pPr>
            <a:r>
              <a:rPr lang="en-US" sz="920" b="1" dirty="0">
                <a:solidFill>
                  <a:srgbClr val="68182F"/>
                </a:solidFill>
                <a:latin typeface="Calibri" pitchFamily="34" charset="0"/>
                <a:ea typeface="Calibri" pitchFamily="34" charset="-122"/>
                <a:cs typeface="Calibri" pitchFamily="34" charset="-120"/>
              </a:rPr>
              <a:t>R&amp;D — its own needs_review flag</a:t>
            </a:r>
            <a:endParaRPr lang="en-US" sz="920" dirty="0"/>
          </a:p>
        </p:txBody>
      </p:sp>
      <p:sp>
        <p:nvSpPr>
          <p:cNvPr id="51" name="Shape 41"/>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52" name="Text 42"/>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53" name="Text 43"/>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arp/extraction/{financials_pipeline,financials_graph}.py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arp/extraction/segment_*.py, spend_*.py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arp/ingestion/xbrl.py (free SEC endpoint, no key)</a:t>
            </a:r>
            <a:endParaRPr lang="en-US" sz="860" dirty="0"/>
          </a:p>
        </p:txBody>
      </p:sp>
      <p:sp>
        <p:nvSpPr>
          <p:cNvPr id="54" name="Shape 44"/>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55" name="Text 45"/>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6" name="Text 46"/>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company universe (company_id, name, ticker, cik).</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CompanyFinancialsRecord — segments, capex, rnd,</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each with citations, confidence and provenance.</a:t>
            </a:r>
            <a:endParaRPr lang="en-US" sz="860" dirty="0"/>
          </a:p>
        </p:txBody>
      </p:sp>
      <p:sp>
        <p:nvSpPr>
          <p:cNvPr id="57" name="Shape 47"/>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58" name="Text 48"/>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59" name="Text 49"/>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An undisclosed figure stays null, never derived from a total.</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XBRL replaces only the scalar, never the narrative.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One weak section does not invalidate the other two.</a:t>
            </a:r>
            <a:endParaRPr lang="en-US" sz="8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05   ·   DOCUMENT DISCOVERY</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Finding the documents</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Locate each company's investor-relations site, crawl it politely, and raise an event the moment something new appears.</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1097280" y="1463040"/>
            <a:ext cx="3017520" cy="201168"/>
          </a:xfrm>
          <a:prstGeom prst="rect">
            <a:avLst/>
          </a:prstGeom>
          <a:noFill/>
          <a:ln/>
        </p:spPr>
        <p:txBody>
          <a:bodyPr wrap="square" lIns="0" tIns="0" rIns="0" bIns="0" rtlCol="0" anchor="ctr"/>
          <a:lstStyle/>
          <a:p>
            <a:pPr algn="ctr" indent="0" marL="0">
              <a:buNone/>
            </a:pPr>
            <a:r>
              <a:rPr lang="en-US" sz="900" b="1" spc="140" kern="0" dirty="0">
                <a:solidFill>
                  <a:srgbClr val="2F6FD0"/>
                </a:solidFill>
                <a:latin typeface="Calibri" pitchFamily="34" charset="0"/>
                <a:ea typeface="Calibri" pitchFamily="34" charset="-122"/>
                <a:cs typeface="Calibri" pitchFamily="34" charset="-120"/>
              </a:rPr>
              <a:t>PER COMPANY</a:t>
            </a:r>
            <a:endParaRPr lang="en-US" sz="900" dirty="0"/>
          </a:p>
        </p:txBody>
      </p:sp>
      <p:sp>
        <p:nvSpPr>
          <p:cNvPr id="8" name="Shape 5"/>
          <p:cNvSpPr/>
          <p:nvPr/>
        </p:nvSpPr>
        <p:spPr>
          <a:xfrm>
            <a:off x="1097280" y="1627632"/>
            <a:ext cx="3017520"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9" name="Shape 6"/>
          <p:cNvSpPr/>
          <p:nvPr/>
        </p:nvSpPr>
        <p:spPr>
          <a:xfrm>
            <a:off x="1234440" y="1810512"/>
            <a:ext cx="384048" cy="384048"/>
          </a:xfrm>
          <a:prstGeom prst="roundRect">
            <a:avLst>
              <a:gd name="adj" fmla="val 23810"/>
            </a:avLst>
          </a:prstGeom>
          <a:solidFill>
            <a:srgbClr val="2F6FD0"/>
          </a:solidFill>
          <a:ln/>
        </p:spPr>
      </p:sp>
      <p:pic>
        <p:nvPicPr>
          <p:cNvPr id="10" name="Image 1" descr="preencoded.png">    </p:cNvPr>
          <p:cNvPicPr>
            <a:picLocks noChangeAspect="1"/>
          </p:cNvPicPr>
          <p:nvPr/>
        </p:nvPicPr>
        <p:blipFill>
          <a:blip r:embed="rId2"/>
          <a:stretch>
            <a:fillRect/>
          </a:stretch>
        </p:blipFill>
        <p:spPr>
          <a:xfrm>
            <a:off x="1318931" y="1895003"/>
            <a:ext cx="215067" cy="215067"/>
          </a:xfrm>
          <a:prstGeom prst="rect">
            <a:avLst/>
          </a:prstGeom>
        </p:spPr>
      </p:pic>
      <p:sp>
        <p:nvSpPr>
          <p:cNvPr id="11" name="Text 7"/>
          <p:cNvSpPr txBox="1"/>
          <p:nvPr/>
        </p:nvSpPr>
        <p:spPr>
          <a:xfrm>
            <a:off x="1755648" y="1627632"/>
            <a:ext cx="2249424" cy="749808"/>
          </a:xfrm>
          <a:prstGeom prst="rect">
            <a:avLst/>
          </a:prstGeom>
          <a:noFill/>
          <a:ln/>
        </p:spPr>
        <p:txBody>
          <a:bodyPr wrap="square" lIns="0" tIns="0" rIns="0" bIns="0" rtlCol="0" anchor="ctr"/>
          <a:lstStyle/>
          <a:p>
            <a:pPr algn="l" indent="0" marL="0">
              <a:lnSpc>
                <a:spcPct val="104000"/>
              </a:lnSpc>
              <a:buNone/>
            </a:pPr>
            <a:r>
              <a:rPr lang="en-US" sz="1150" b="1" dirty="0">
                <a:solidFill>
                  <a:srgbClr val="153A61"/>
                </a:solidFill>
                <a:latin typeface="Calibri" pitchFamily="34" charset="0"/>
                <a:ea typeface="Calibri" pitchFamily="34" charset="-122"/>
                <a:cs typeface="Calibri" pitchFamily="34" charset="-120"/>
              </a:rPr>
              <a:t>Resolve</a:t>
            </a:r>
            <a:endParaRPr lang="en-US" sz="1150" dirty="0"/>
          </a:p>
          <a:p>
            <a:pPr algn="l" indent="0" marL="0">
              <a:lnSpc>
                <a:spcPct val="104000"/>
              </a:lnSpc>
              <a:buNone/>
            </a:pPr>
            <a:r>
              <a:rPr lang="en-US" sz="800" dirty="0">
                <a:solidFill>
                  <a:srgbClr val="153A61"/>
                </a:solidFill>
                <a:latin typeface="Calibri" pitchFamily="34" charset="0"/>
                <a:ea typeface="Calibri" pitchFamily="34" charset="-122"/>
                <a:cs typeface="Calibri" pitchFamily="34" charset="-120"/>
              </a:rPr>
              <a:t>the supplied IR URL, or a free web-search fallback</a:t>
            </a:r>
            <a:endParaRPr lang="en-US" sz="1150" dirty="0"/>
          </a:p>
        </p:txBody>
      </p:sp>
      <p:sp>
        <p:nvSpPr>
          <p:cNvPr id="12" name="Shape 8"/>
          <p:cNvSpPr/>
          <p:nvPr/>
        </p:nvSpPr>
        <p:spPr>
          <a:xfrm>
            <a:off x="2606040" y="2395728"/>
            <a:ext cx="0" cy="146304"/>
          </a:xfrm>
          <a:prstGeom prst="line">
            <a:avLst/>
          </a:prstGeom>
          <a:noFill/>
          <a:ln w="19050">
            <a:solidFill>
              <a:srgbClr val="64798F"/>
            </a:solidFill>
            <a:prstDash val="solid"/>
            <a:headEnd type="none"/>
            <a:tailEnd type="triangle"/>
          </a:ln>
        </p:spPr>
      </p:sp>
      <p:sp>
        <p:nvSpPr>
          <p:cNvPr id="13" name="Shape 9"/>
          <p:cNvSpPr/>
          <p:nvPr/>
        </p:nvSpPr>
        <p:spPr>
          <a:xfrm>
            <a:off x="1097280" y="2560320"/>
            <a:ext cx="3017520" cy="749808"/>
          </a:xfrm>
          <a:prstGeom prst="roundRect">
            <a:avLst>
              <a:gd name="adj" fmla="val 1219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14" name="Shape 10"/>
          <p:cNvSpPr/>
          <p:nvPr/>
        </p:nvSpPr>
        <p:spPr>
          <a:xfrm>
            <a:off x="1234440" y="2743200"/>
            <a:ext cx="384048" cy="384048"/>
          </a:xfrm>
          <a:prstGeom prst="roundRect">
            <a:avLst>
              <a:gd name="adj" fmla="val 23810"/>
            </a:avLst>
          </a:prstGeom>
          <a:solidFill>
            <a:srgbClr val="C9871B"/>
          </a:solidFill>
          <a:ln/>
        </p:spPr>
      </p:sp>
      <p:pic>
        <p:nvPicPr>
          <p:cNvPr id="15" name="Image 2" descr="preencoded.png">    </p:cNvPr>
          <p:cNvPicPr>
            <a:picLocks noChangeAspect="1"/>
          </p:cNvPicPr>
          <p:nvPr/>
        </p:nvPicPr>
        <p:blipFill>
          <a:blip r:embed="rId3"/>
          <a:stretch>
            <a:fillRect/>
          </a:stretch>
        </p:blipFill>
        <p:spPr>
          <a:xfrm>
            <a:off x="1318931" y="2827691"/>
            <a:ext cx="215067" cy="215067"/>
          </a:xfrm>
          <a:prstGeom prst="rect">
            <a:avLst/>
          </a:prstGeom>
        </p:spPr>
      </p:pic>
      <p:sp>
        <p:nvSpPr>
          <p:cNvPr id="16" name="Text 11"/>
          <p:cNvSpPr txBox="1"/>
          <p:nvPr/>
        </p:nvSpPr>
        <p:spPr>
          <a:xfrm>
            <a:off x="1755648" y="2560320"/>
            <a:ext cx="2249424" cy="749808"/>
          </a:xfrm>
          <a:prstGeom prst="rect">
            <a:avLst/>
          </a:prstGeom>
          <a:noFill/>
          <a:ln/>
        </p:spPr>
        <p:txBody>
          <a:bodyPr wrap="square" lIns="0" tIns="0" rIns="0" bIns="0" rtlCol="0" anchor="ctr"/>
          <a:lstStyle/>
          <a:p>
            <a:pPr algn="l" indent="0" marL="0">
              <a:lnSpc>
                <a:spcPct val="104000"/>
              </a:lnSpc>
              <a:buNone/>
            </a:pPr>
            <a:r>
              <a:rPr lang="en-US" sz="1150" b="1" dirty="0">
                <a:solidFill>
                  <a:srgbClr val="64430A"/>
                </a:solidFill>
                <a:latin typeface="Calibri" pitchFamily="34" charset="0"/>
                <a:ea typeface="Calibri" pitchFamily="34" charset="-122"/>
                <a:cs typeface="Calibri" pitchFamily="34" charset="-120"/>
              </a:rPr>
              <a:t>Crawl</a:t>
            </a:r>
            <a:endParaRPr lang="en-US" sz="1150" dirty="0"/>
          </a:p>
          <a:p>
            <a:pPr algn="l" indent="0" marL="0">
              <a:lnSpc>
                <a:spcPct val="104000"/>
              </a:lnSpc>
              <a:buNone/>
            </a:pPr>
            <a:r>
              <a:rPr lang="en-US" sz="800" dirty="0">
                <a:solidFill>
                  <a:srgbClr val="64430A"/>
                </a:solidFill>
                <a:latin typeface="Calibri" pitchFamily="34" charset="0"/>
                <a:ea typeface="Calibri" pitchFamily="34" charset="-122"/>
                <a:cs typeface="Calibri" pitchFamily="34" charset="-120"/>
              </a:rPr>
              <a:t>same domain, robots.txt, depth caps, SSRF guard</a:t>
            </a:r>
            <a:endParaRPr lang="en-US" sz="1150" dirty="0"/>
          </a:p>
        </p:txBody>
      </p:sp>
      <p:sp>
        <p:nvSpPr>
          <p:cNvPr id="17" name="Shape 12"/>
          <p:cNvSpPr/>
          <p:nvPr/>
        </p:nvSpPr>
        <p:spPr>
          <a:xfrm>
            <a:off x="2606040" y="3328416"/>
            <a:ext cx="0" cy="146304"/>
          </a:xfrm>
          <a:prstGeom prst="line">
            <a:avLst/>
          </a:prstGeom>
          <a:noFill/>
          <a:ln w="19050">
            <a:solidFill>
              <a:srgbClr val="64798F"/>
            </a:solidFill>
            <a:prstDash val="solid"/>
            <a:headEnd type="none"/>
            <a:tailEnd type="triangle"/>
          </a:ln>
        </p:spPr>
      </p:sp>
      <p:sp>
        <p:nvSpPr>
          <p:cNvPr id="18" name="Shape 13"/>
          <p:cNvSpPr/>
          <p:nvPr/>
        </p:nvSpPr>
        <p:spPr>
          <a:xfrm>
            <a:off x="1097280" y="3493008"/>
            <a:ext cx="3017520"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19" name="Shape 14"/>
          <p:cNvSpPr/>
          <p:nvPr/>
        </p:nvSpPr>
        <p:spPr>
          <a:xfrm>
            <a:off x="1234440" y="3675888"/>
            <a:ext cx="384048" cy="384048"/>
          </a:xfrm>
          <a:prstGeom prst="roundRect">
            <a:avLst>
              <a:gd name="adj" fmla="val 23810"/>
            </a:avLst>
          </a:prstGeom>
          <a:solidFill>
            <a:srgbClr val="108494"/>
          </a:solidFill>
          <a:ln/>
        </p:spPr>
      </p:sp>
      <p:pic>
        <p:nvPicPr>
          <p:cNvPr id="20" name="Image 3" descr="preencoded.png">    </p:cNvPr>
          <p:cNvPicPr>
            <a:picLocks noChangeAspect="1"/>
          </p:cNvPicPr>
          <p:nvPr/>
        </p:nvPicPr>
        <p:blipFill>
          <a:blip r:embed="rId4"/>
          <a:stretch>
            <a:fillRect/>
          </a:stretch>
        </p:blipFill>
        <p:spPr>
          <a:xfrm>
            <a:off x="1318931" y="3760379"/>
            <a:ext cx="215067" cy="215067"/>
          </a:xfrm>
          <a:prstGeom prst="rect">
            <a:avLst/>
          </a:prstGeom>
        </p:spPr>
      </p:pic>
      <p:sp>
        <p:nvSpPr>
          <p:cNvPr id="21" name="Text 15"/>
          <p:cNvSpPr txBox="1"/>
          <p:nvPr/>
        </p:nvSpPr>
        <p:spPr>
          <a:xfrm>
            <a:off x="1755648" y="3493008"/>
            <a:ext cx="2249424" cy="749808"/>
          </a:xfrm>
          <a:prstGeom prst="rect">
            <a:avLst/>
          </a:prstGeom>
          <a:noFill/>
          <a:ln/>
        </p:spPr>
        <p:txBody>
          <a:bodyPr wrap="square" lIns="0" tIns="0" rIns="0" bIns="0" rtlCol="0" anchor="ctr"/>
          <a:lstStyle/>
          <a:p>
            <a:pPr algn="l" indent="0" marL="0">
              <a:lnSpc>
                <a:spcPct val="104000"/>
              </a:lnSpc>
              <a:buNone/>
            </a:pPr>
            <a:r>
              <a:rPr lang="en-US" sz="1150" b="1" dirty="0">
                <a:solidFill>
                  <a:srgbClr val="0A4451"/>
                </a:solidFill>
                <a:latin typeface="Calibri" pitchFamily="34" charset="0"/>
                <a:ea typeface="Calibri" pitchFamily="34" charset="-122"/>
                <a:cs typeface="Calibri" pitchFamily="34" charset="-120"/>
              </a:rPr>
              <a:t>Classify</a:t>
            </a:r>
            <a:endParaRPr lang="en-US" sz="1150" dirty="0"/>
          </a:p>
          <a:p>
            <a:pPr algn="l" indent="0" marL="0">
              <a:lnSpc>
                <a:spcPct val="104000"/>
              </a:lnSpc>
              <a:buNone/>
            </a:pPr>
            <a:r>
              <a:rPr lang="en-US" sz="800" dirty="0">
                <a:solidFill>
                  <a:srgbClr val="0A4451"/>
                </a:solidFill>
                <a:latin typeface="Calibri" pitchFamily="34" charset="0"/>
                <a:ea typeface="Calibri" pitchFamily="34" charset="-122"/>
                <a:cs typeface="Calibri" pitchFamily="34" charset="-120"/>
              </a:rPr>
              <a:t>link text and href → document type, first match wins</a:t>
            </a:r>
            <a:endParaRPr lang="en-US" sz="1150" dirty="0"/>
          </a:p>
        </p:txBody>
      </p:sp>
      <p:sp>
        <p:nvSpPr>
          <p:cNvPr id="22" name="Shape 16"/>
          <p:cNvSpPr/>
          <p:nvPr/>
        </p:nvSpPr>
        <p:spPr>
          <a:xfrm>
            <a:off x="2606040" y="4261104"/>
            <a:ext cx="0" cy="146304"/>
          </a:xfrm>
          <a:prstGeom prst="line">
            <a:avLst/>
          </a:prstGeom>
          <a:noFill/>
          <a:ln w="19050">
            <a:solidFill>
              <a:srgbClr val="64798F"/>
            </a:solidFill>
            <a:prstDash val="solid"/>
            <a:headEnd type="none"/>
            <a:tailEnd type="triangle"/>
          </a:ln>
        </p:spPr>
      </p:sp>
      <p:sp>
        <p:nvSpPr>
          <p:cNvPr id="23" name="Shape 17"/>
          <p:cNvSpPr/>
          <p:nvPr/>
        </p:nvSpPr>
        <p:spPr>
          <a:xfrm>
            <a:off x="1097280" y="4425696"/>
            <a:ext cx="3017520" cy="749808"/>
          </a:xfrm>
          <a:prstGeom prst="roundRect">
            <a:avLst>
              <a:gd name="adj" fmla="val 1219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24" name="Shape 18"/>
          <p:cNvSpPr/>
          <p:nvPr/>
        </p:nvSpPr>
        <p:spPr>
          <a:xfrm>
            <a:off x="1234440" y="4608576"/>
            <a:ext cx="384048" cy="384048"/>
          </a:xfrm>
          <a:prstGeom prst="roundRect">
            <a:avLst>
              <a:gd name="adj" fmla="val 23810"/>
            </a:avLst>
          </a:prstGeom>
          <a:solidFill>
            <a:srgbClr val="2F8F48"/>
          </a:solidFill>
          <a:ln/>
        </p:spPr>
      </p:sp>
      <p:pic>
        <p:nvPicPr>
          <p:cNvPr id="25" name="Image 4" descr="preencoded.png">    </p:cNvPr>
          <p:cNvPicPr>
            <a:picLocks noChangeAspect="1"/>
          </p:cNvPicPr>
          <p:nvPr/>
        </p:nvPicPr>
        <p:blipFill>
          <a:blip r:embed="rId5"/>
          <a:stretch>
            <a:fillRect/>
          </a:stretch>
        </p:blipFill>
        <p:spPr>
          <a:xfrm>
            <a:off x="1318931" y="4693067"/>
            <a:ext cx="215067" cy="215067"/>
          </a:xfrm>
          <a:prstGeom prst="rect">
            <a:avLst/>
          </a:prstGeom>
        </p:spPr>
      </p:pic>
      <p:sp>
        <p:nvSpPr>
          <p:cNvPr id="26" name="Text 19"/>
          <p:cNvSpPr txBox="1"/>
          <p:nvPr/>
        </p:nvSpPr>
        <p:spPr>
          <a:xfrm>
            <a:off x="1755648" y="4425696"/>
            <a:ext cx="2249424" cy="749808"/>
          </a:xfrm>
          <a:prstGeom prst="rect">
            <a:avLst/>
          </a:prstGeom>
          <a:noFill/>
          <a:ln/>
        </p:spPr>
        <p:txBody>
          <a:bodyPr wrap="square" lIns="0" tIns="0" rIns="0" bIns="0" rtlCol="0" anchor="ctr"/>
          <a:lstStyle/>
          <a:p>
            <a:pPr algn="l" indent="0" marL="0">
              <a:lnSpc>
                <a:spcPct val="104000"/>
              </a:lnSpc>
              <a:buNone/>
            </a:pPr>
            <a:r>
              <a:rPr lang="en-US" sz="1150" b="1" dirty="0">
                <a:solidFill>
                  <a:srgbClr val="17431F"/>
                </a:solidFill>
                <a:latin typeface="Calibri" pitchFamily="34" charset="0"/>
                <a:ea typeface="Calibri" pitchFamily="34" charset="-122"/>
                <a:cs typeface="Calibri" pitchFamily="34" charset="-120"/>
              </a:rPr>
              <a:t>Download</a:t>
            </a:r>
            <a:endParaRPr lang="en-US" sz="11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into the store manual uploads already use</a:t>
            </a:r>
            <a:endParaRPr lang="en-US" sz="1150" dirty="0"/>
          </a:p>
        </p:txBody>
      </p:sp>
      <p:sp>
        <p:nvSpPr>
          <p:cNvPr id="27" name="Text 20"/>
          <p:cNvSpPr txBox="1"/>
          <p:nvPr/>
        </p:nvSpPr>
        <p:spPr>
          <a:xfrm>
            <a:off x="4617720" y="1463040"/>
            <a:ext cx="3611880" cy="201168"/>
          </a:xfrm>
          <a:prstGeom prst="rect">
            <a:avLst/>
          </a:prstGeom>
          <a:noFill/>
          <a:ln/>
        </p:spPr>
        <p:txBody>
          <a:bodyPr wrap="square" lIns="0" tIns="0" rIns="0" bIns="0" rtlCol="0" anchor="ctr"/>
          <a:lstStyle/>
          <a:p>
            <a:pPr algn="ctr" indent="0" marL="0">
              <a:buNone/>
            </a:pPr>
            <a:r>
              <a:rPr lang="en-US" sz="900" b="1" spc="140" kern="0" dirty="0">
                <a:solidFill>
                  <a:srgbClr val="108494"/>
                </a:solidFill>
                <a:latin typeface="Calibri" pitchFamily="34" charset="0"/>
                <a:ea typeface="Calibri" pitchFamily="34" charset="-122"/>
                <a:cs typeface="Calibri" pitchFamily="34" charset="-120"/>
              </a:rPr>
              <a:t>FIVE DOCUMENT TYPES, CLASSIFIED</a:t>
            </a:r>
            <a:endParaRPr lang="en-US" sz="900" dirty="0"/>
          </a:p>
        </p:txBody>
      </p:sp>
      <p:sp>
        <p:nvSpPr>
          <p:cNvPr id="28" name="Shape 21"/>
          <p:cNvSpPr/>
          <p:nvPr/>
        </p:nvSpPr>
        <p:spPr>
          <a:xfrm>
            <a:off x="4617720" y="1737360"/>
            <a:ext cx="1755648" cy="548640"/>
          </a:xfrm>
          <a:prstGeom prst="roundRect">
            <a:avLst>
              <a:gd name="adj" fmla="val 16667"/>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29" name="Shape 22"/>
          <p:cNvSpPr/>
          <p:nvPr/>
        </p:nvSpPr>
        <p:spPr>
          <a:xfrm>
            <a:off x="4754880" y="1892808"/>
            <a:ext cx="237744" cy="237744"/>
          </a:xfrm>
          <a:prstGeom prst="roundRect">
            <a:avLst>
              <a:gd name="adj" fmla="val 38462"/>
            </a:avLst>
          </a:prstGeom>
          <a:solidFill>
            <a:srgbClr val="2F6FD0"/>
          </a:solidFill>
          <a:ln/>
        </p:spPr>
      </p:sp>
      <p:pic>
        <p:nvPicPr>
          <p:cNvPr id="30" name="Image 5" descr="preencoded.png">    </p:cNvPr>
          <p:cNvPicPr>
            <a:picLocks noChangeAspect="1"/>
          </p:cNvPicPr>
          <p:nvPr/>
        </p:nvPicPr>
        <p:blipFill>
          <a:blip r:embed="rId6"/>
          <a:stretch>
            <a:fillRect/>
          </a:stretch>
        </p:blipFill>
        <p:spPr>
          <a:xfrm>
            <a:off x="4807184" y="1945112"/>
            <a:ext cx="133137" cy="133137"/>
          </a:xfrm>
          <a:prstGeom prst="rect">
            <a:avLst/>
          </a:prstGeom>
        </p:spPr>
      </p:pic>
      <p:sp>
        <p:nvSpPr>
          <p:cNvPr id="31" name="Text 23"/>
          <p:cNvSpPr txBox="1"/>
          <p:nvPr/>
        </p:nvSpPr>
        <p:spPr>
          <a:xfrm>
            <a:off x="5129784" y="1737360"/>
            <a:ext cx="1133856" cy="548640"/>
          </a:xfrm>
          <a:prstGeom prst="rect">
            <a:avLst/>
          </a:prstGeom>
          <a:noFill/>
          <a:ln/>
        </p:spPr>
        <p:txBody>
          <a:bodyPr wrap="square" lIns="0" tIns="0" rIns="0" bIns="0" rtlCol="0" anchor="ctr"/>
          <a:lstStyle/>
          <a:p>
            <a:pPr algn="l" indent="0" marL="0">
              <a:lnSpc>
                <a:spcPct val="104000"/>
              </a:lnSpc>
              <a:buNone/>
            </a:pPr>
            <a:r>
              <a:rPr lang="en-US" sz="900" b="1" dirty="0">
                <a:solidFill>
                  <a:srgbClr val="153A61"/>
                </a:solidFill>
                <a:latin typeface="Calibri" pitchFamily="34" charset="0"/>
                <a:ea typeface="Calibri" pitchFamily="34" charset="-122"/>
                <a:cs typeface="Calibri" pitchFamily="34" charset="-120"/>
              </a:rPr>
              <a:t>10-K / annual report</a:t>
            </a:r>
            <a:endParaRPr lang="en-US" sz="900" dirty="0"/>
          </a:p>
        </p:txBody>
      </p:sp>
      <p:sp>
        <p:nvSpPr>
          <p:cNvPr id="32" name="Shape 24"/>
          <p:cNvSpPr/>
          <p:nvPr/>
        </p:nvSpPr>
        <p:spPr>
          <a:xfrm>
            <a:off x="6473952" y="1737360"/>
            <a:ext cx="1755648" cy="548640"/>
          </a:xfrm>
          <a:prstGeom prst="roundRect">
            <a:avLst>
              <a:gd name="adj" fmla="val 16667"/>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3" name="Shape 25"/>
          <p:cNvSpPr/>
          <p:nvPr/>
        </p:nvSpPr>
        <p:spPr>
          <a:xfrm>
            <a:off x="6611112" y="1892808"/>
            <a:ext cx="237744" cy="237744"/>
          </a:xfrm>
          <a:prstGeom prst="roundRect">
            <a:avLst>
              <a:gd name="adj" fmla="val 38462"/>
            </a:avLst>
          </a:prstGeom>
          <a:solidFill>
            <a:srgbClr val="6D4DD1"/>
          </a:solidFill>
          <a:ln/>
        </p:spPr>
      </p:sp>
      <p:pic>
        <p:nvPicPr>
          <p:cNvPr id="34" name="Image 6" descr="preencoded.png">    </p:cNvPr>
          <p:cNvPicPr>
            <a:picLocks noChangeAspect="1"/>
          </p:cNvPicPr>
          <p:nvPr/>
        </p:nvPicPr>
        <p:blipFill>
          <a:blip r:embed="rId7"/>
          <a:stretch>
            <a:fillRect/>
          </a:stretch>
        </p:blipFill>
        <p:spPr>
          <a:xfrm>
            <a:off x="6663416" y="1945112"/>
            <a:ext cx="133137" cy="133137"/>
          </a:xfrm>
          <a:prstGeom prst="rect">
            <a:avLst/>
          </a:prstGeom>
        </p:spPr>
      </p:pic>
      <p:sp>
        <p:nvSpPr>
          <p:cNvPr id="35" name="Text 26"/>
          <p:cNvSpPr txBox="1"/>
          <p:nvPr/>
        </p:nvSpPr>
        <p:spPr>
          <a:xfrm>
            <a:off x="6986016" y="1737360"/>
            <a:ext cx="1133856" cy="548640"/>
          </a:xfrm>
          <a:prstGeom prst="rect">
            <a:avLst/>
          </a:prstGeom>
          <a:noFill/>
          <a:ln/>
        </p:spPr>
        <p:txBody>
          <a:bodyPr wrap="square" lIns="0" tIns="0" rIns="0" bIns="0" rtlCol="0" anchor="ctr"/>
          <a:lstStyle/>
          <a:p>
            <a:pPr algn="l" indent="0" marL="0">
              <a:lnSpc>
                <a:spcPct val="104000"/>
              </a:lnSpc>
              <a:buNone/>
            </a:pPr>
            <a:r>
              <a:rPr lang="en-US" sz="900" b="1" dirty="0">
                <a:solidFill>
                  <a:srgbClr val="35236E"/>
                </a:solidFill>
                <a:latin typeface="Calibri" pitchFamily="34" charset="0"/>
                <a:ea typeface="Calibri" pitchFamily="34" charset="-122"/>
                <a:cs typeface="Calibri" pitchFamily="34" charset="-120"/>
              </a:rPr>
              <a:t>DEF 14A proxy</a:t>
            </a:r>
            <a:endParaRPr lang="en-US" sz="900" dirty="0"/>
          </a:p>
        </p:txBody>
      </p:sp>
      <p:sp>
        <p:nvSpPr>
          <p:cNvPr id="36" name="Shape 27"/>
          <p:cNvSpPr/>
          <p:nvPr/>
        </p:nvSpPr>
        <p:spPr>
          <a:xfrm>
            <a:off x="4617720" y="2432304"/>
            <a:ext cx="1755648" cy="548640"/>
          </a:xfrm>
          <a:prstGeom prst="roundRect">
            <a:avLst>
              <a:gd name="adj" fmla="val 16667"/>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37" name="Shape 28"/>
          <p:cNvSpPr/>
          <p:nvPr/>
        </p:nvSpPr>
        <p:spPr>
          <a:xfrm>
            <a:off x="4754880" y="2587752"/>
            <a:ext cx="237744" cy="237744"/>
          </a:xfrm>
          <a:prstGeom prst="roundRect">
            <a:avLst>
              <a:gd name="adj" fmla="val 38462"/>
            </a:avLst>
          </a:prstGeom>
          <a:solidFill>
            <a:srgbClr val="2F8F48"/>
          </a:solidFill>
          <a:ln/>
        </p:spPr>
      </p:sp>
      <p:pic>
        <p:nvPicPr>
          <p:cNvPr id="38" name="Image 7" descr="preencoded.png">    </p:cNvPr>
          <p:cNvPicPr>
            <a:picLocks noChangeAspect="1"/>
          </p:cNvPicPr>
          <p:nvPr/>
        </p:nvPicPr>
        <p:blipFill>
          <a:blip r:embed="rId8"/>
          <a:stretch>
            <a:fillRect/>
          </a:stretch>
        </p:blipFill>
        <p:spPr>
          <a:xfrm>
            <a:off x="4807184" y="2640056"/>
            <a:ext cx="133137" cy="133137"/>
          </a:xfrm>
          <a:prstGeom prst="rect">
            <a:avLst/>
          </a:prstGeom>
        </p:spPr>
      </p:pic>
      <p:sp>
        <p:nvSpPr>
          <p:cNvPr id="39" name="Text 29"/>
          <p:cNvSpPr txBox="1"/>
          <p:nvPr/>
        </p:nvSpPr>
        <p:spPr>
          <a:xfrm>
            <a:off x="5129784" y="2432304"/>
            <a:ext cx="1133856" cy="548640"/>
          </a:xfrm>
          <a:prstGeom prst="rect">
            <a:avLst/>
          </a:prstGeom>
          <a:noFill/>
          <a:ln/>
        </p:spPr>
        <p:txBody>
          <a:bodyPr wrap="square" lIns="0" tIns="0" rIns="0" bIns="0" rtlCol="0" anchor="ctr"/>
          <a:lstStyle/>
          <a:p>
            <a:pPr algn="l" indent="0" marL="0">
              <a:lnSpc>
                <a:spcPct val="104000"/>
              </a:lnSpc>
              <a:buNone/>
            </a:pPr>
            <a:r>
              <a:rPr lang="en-US" sz="900" b="1" dirty="0">
                <a:solidFill>
                  <a:srgbClr val="17431F"/>
                </a:solidFill>
                <a:latin typeface="Calibri" pitchFamily="34" charset="0"/>
                <a:ea typeface="Calibri" pitchFamily="34" charset="-122"/>
                <a:cs typeface="Calibri" pitchFamily="34" charset="-120"/>
              </a:rPr>
              <a:t>Sustainability report</a:t>
            </a:r>
            <a:endParaRPr lang="en-US" sz="900" dirty="0"/>
          </a:p>
        </p:txBody>
      </p:sp>
      <p:sp>
        <p:nvSpPr>
          <p:cNvPr id="40" name="Shape 30"/>
          <p:cNvSpPr/>
          <p:nvPr/>
        </p:nvSpPr>
        <p:spPr>
          <a:xfrm>
            <a:off x="6473952" y="2432304"/>
            <a:ext cx="1755648" cy="548640"/>
          </a:xfrm>
          <a:prstGeom prst="roundRect">
            <a:avLst>
              <a:gd name="adj" fmla="val 16667"/>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41" name="Shape 31"/>
          <p:cNvSpPr/>
          <p:nvPr/>
        </p:nvSpPr>
        <p:spPr>
          <a:xfrm>
            <a:off x="6611112" y="2587752"/>
            <a:ext cx="237744" cy="237744"/>
          </a:xfrm>
          <a:prstGeom prst="roundRect">
            <a:avLst>
              <a:gd name="adj" fmla="val 38462"/>
            </a:avLst>
          </a:prstGeom>
          <a:solidFill>
            <a:srgbClr val="C9871B"/>
          </a:solidFill>
          <a:ln/>
        </p:spPr>
      </p:sp>
      <p:pic>
        <p:nvPicPr>
          <p:cNvPr id="42" name="Image 8" descr="preencoded.png">    </p:cNvPr>
          <p:cNvPicPr>
            <a:picLocks noChangeAspect="1"/>
          </p:cNvPicPr>
          <p:nvPr/>
        </p:nvPicPr>
        <p:blipFill>
          <a:blip r:embed="rId9"/>
          <a:stretch>
            <a:fillRect/>
          </a:stretch>
        </p:blipFill>
        <p:spPr>
          <a:xfrm>
            <a:off x="6663416" y="2640056"/>
            <a:ext cx="133137" cy="133137"/>
          </a:xfrm>
          <a:prstGeom prst="rect">
            <a:avLst/>
          </a:prstGeom>
        </p:spPr>
      </p:pic>
      <p:sp>
        <p:nvSpPr>
          <p:cNvPr id="43" name="Text 32"/>
          <p:cNvSpPr txBox="1"/>
          <p:nvPr/>
        </p:nvSpPr>
        <p:spPr>
          <a:xfrm>
            <a:off x="6986016" y="2432304"/>
            <a:ext cx="1133856" cy="548640"/>
          </a:xfrm>
          <a:prstGeom prst="rect">
            <a:avLst/>
          </a:prstGeom>
          <a:noFill/>
          <a:ln/>
        </p:spPr>
        <p:txBody>
          <a:bodyPr wrap="square" lIns="0" tIns="0" rIns="0" bIns="0" rtlCol="0" anchor="ctr"/>
          <a:lstStyle/>
          <a:p>
            <a:pPr algn="l" indent="0" marL="0">
              <a:lnSpc>
                <a:spcPct val="104000"/>
              </a:lnSpc>
              <a:buNone/>
            </a:pPr>
            <a:r>
              <a:rPr lang="en-US" sz="900" b="1" dirty="0">
                <a:solidFill>
                  <a:srgbClr val="64430A"/>
                </a:solidFill>
                <a:latin typeface="Calibri" pitchFamily="34" charset="0"/>
                <a:ea typeface="Calibri" pitchFamily="34" charset="-122"/>
                <a:cs typeface="Calibri" pitchFamily="34" charset="-120"/>
              </a:rPr>
              <a:t>Investor presentation</a:t>
            </a:r>
            <a:endParaRPr lang="en-US" sz="900" dirty="0"/>
          </a:p>
        </p:txBody>
      </p:sp>
      <p:sp>
        <p:nvSpPr>
          <p:cNvPr id="44" name="Shape 33"/>
          <p:cNvSpPr/>
          <p:nvPr/>
        </p:nvSpPr>
        <p:spPr>
          <a:xfrm>
            <a:off x="4617720" y="3127248"/>
            <a:ext cx="3611880" cy="548640"/>
          </a:xfrm>
          <a:prstGeom prst="roundRect">
            <a:avLst>
              <a:gd name="adj" fmla="val 16667"/>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45" name="Shape 34"/>
          <p:cNvSpPr/>
          <p:nvPr/>
        </p:nvSpPr>
        <p:spPr>
          <a:xfrm>
            <a:off x="4754880" y="3282696"/>
            <a:ext cx="237744" cy="237744"/>
          </a:xfrm>
          <a:prstGeom prst="roundRect">
            <a:avLst>
              <a:gd name="adj" fmla="val 38462"/>
            </a:avLst>
          </a:prstGeom>
          <a:solidFill>
            <a:srgbClr val="108494"/>
          </a:solidFill>
          <a:ln/>
        </p:spPr>
      </p:sp>
      <p:pic>
        <p:nvPicPr>
          <p:cNvPr id="46" name="Image 9" descr="preencoded.png">    </p:cNvPr>
          <p:cNvPicPr>
            <a:picLocks noChangeAspect="1"/>
          </p:cNvPicPr>
          <p:nvPr/>
        </p:nvPicPr>
        <p:blipFill>
          <a:blip r:embed="rId10"/>
          <a:stretch>
            <a:fillRect/>
          </a:stretch>
        </p:blipFill>
        <p:spPr>
          <a:xfrm>
            <a:off x="4807184" y="3335000"/>
            <a:ext cx="133137" cy="133137"/>
          </a:xfrm>
          <a:prstGeom prst="rect">
            <a:avLst/>
          </a:prstGeom>
        </p:spPr>
      </p:pic>
      <p:sp>
        <p:nvSpPr>
          <p:cNvPr id="47" name="Text 35"/>
          <p:cNvSpPr txBox="1"/>
          <p:nvPr/>
        </p:nvSpPr>
        <p:spPr>
          <a:xfrm>
            <a:off x="5129784" y="3127248"/>
            <a:ext cx="2990088" cy="548640"/>
          </a:xfrm>
          <a:prstGeom prst="rect">
            <a:avLst/>
          </a:prstGeom>
          <a:noFill/>
          <a:ln/>
        </p:spPr>
        <p:txBody>
          <a:bodyPr wrap="square" lIns="0" tIns="0" rIns="0" bIns="0" rtlCol="0" anchor="ctr"/>
          <a:lstStyle/>
          <a:p>
            <a:pPr algn="l" indent="0" marL="0">
              <a:lnSpc>
                <a:spcPct val="104000"/>
              </a:lnSpc>
              <a:buNone/>
            </a:pPr>
            <a:r>
              <a:rPr lang="en-US" sz="900" b="1" dirty="0">
                <a:solidFill>
                  <a:srgbClr val="0A4451"/>
                </a:solidFill>
                <a:latin typeface="Calibri" pitchFamily="34" charset="0"/>
                <a:ea typeface="Calibri" pitchFamily="34" charset="-122"/>
                <a:cs typeface="Calibri" pitchFamily="34" charset="-120"/>
              </a:rPr>
              <a:t>Earnings-call transcript</a:t>
            </a:r>
            <a:endParaRPr lang="en-US" sz="900" dirty="0"/>
          </a:p>
        </p:txBody>
      </p:sp>
      <p:sp>
        <p:nvSpPr>
          <p:cNvPr id="48" name="Shape 36"/>
          <p:cNvSpPr/>
          <p:nvPr/>
        </p:nvSpPr>
        <p:spPr>
          <a:xfrm>
            <a:off x="4151376" y="3867912"/>
            <a:ext cx="219456" cy="0"/>
          </a:xfrm>
          <a:prstGeom prst="line">
            <a:avLst/>
          </a:prstGeom>
          <a:noFill/>
          <a:ln w="17780">
            <a:solidFill>
              <a:srgbClr val="108494"/>
            </a:solidFill>
            <a:prstDash val="solid"/>
            <a:headEnd type="none"/>
            <a:tailEnd type="none"/>
          </a:ln>
        </p:spPr>
      </p:sp>
      <p:sp>
        <p:nvSpPr>
          <p:cNvPr id="49" name="Shape 37"/>
          <p:cNvSpPr/>
          <p:nvPr/>
        </p:nvSpPr>
        <p:spPr>
          <a:xfrm flipV="1">
            <a:off x="4370832" y="2432304"/>
            <a:ext cx="0" cy="1435608"/>
          </a:xfrm>
          <a:prstGeom prst="line">
            <a:avLst/>
          </a:prstGeom>
          <a:noFill/>
          <a:ln w="17780">
            <a:solidFill>
              <a:srgbClr val="108494"/>
            </a:solidFill>
            <a:prstDash val="solid"/>
            <a:headEnd type="none"/>
            <a:tailEnd type="none"/>
          </a:ln>
        </p:spPr>
      </p:sp>
      <p:sp>
        <p:nvSpPr>
          <p:cNvPr id="50" name="Shape 38"/>
          <p:cNvSpPr/>
          <p:nvPr/>
        </p:nvSpPr>
        <p:spPr>
          <a:xfrm>
            <a:off x="4370832" y="2432304"/>
            <a:ext cx="192024" cy="0"/>
          </a:xfrm>
          <a:prstGeom prst="line">
            <a:avLst/>
          </a:prstGeom>
          <a:noFill/>
          <a:ln w="17780">
            <a:solidFill>
              <a:srgbClr val="108494"/>
            </a:solidFill>
            <a:prstDash val="solid"/>
            <a:headEnd type="none"/>
            <a:tailEnd type="triangle"/>
          </a:ln>
        </p:spPr>
      </p:sp>
      <p:sp>
        <p:nvSpPr>
          <p:cNvPr id="51" name="Shape 39"/>
          <p:cNvSpPr/>
          <p:nvPr/>
        </p:nvSpPr>
        <p:spPr>
          <a:xfrm>
            <a:off x="4617720" y="4425696"/>
            <a:ext cx="3611880" cy="749808"/>
          </a:xfrm>
          <a:prstGeom prst="roundRect">
            <a:avLst>
              <a:gd name="adj" fmla="val 1219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52" name="Image 10" descr="preencoded.png">    </p:cNvPr>
          <p:cNvPicPr>
            <a:picLocks noChangeAspect="1"/>
          </p:cNvPicPr>
          <p:nvPr/>
        </p:nvPicPr>
        <p:blipFill>
          <a:blip r:embed="rId11"/>
          <a:stretch>
            <a:fillRect/>
          </a:stretch>
        </p:blipFill>
        <p:spPr>
          <a:xfrm>
            <a:off x="4736592" y="4526280"/>
            <a:ext cx="182880" cy="182880"/>
          </a:xfrm>
          <a:prstGeom prst="rect">
            <a:avLst/>
          </a:prstGeom>
        </p:spPr>
      </p:pic>
      <p:sp>
        <p:nvSpPr>
          <p:cNvPr id="53" name="Text 40"/>
          <p:cNvSpPr txBox="1"/>
          <p:nvPr/>
        </p:nvSpPr>
        <p:spPr>
          <a:xfrm>
            <a:off x="4709160" y="4425696"/>
            <a:ext cx="3429000" cy="749808"/>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C9871B"/>
                </a:solidFill>
                <a:latin typeface="Calibri" pitchFamily="34" charset="0"/>
                <a:ea typeface="Calibri" pitchFamily="34" charset="-122"/>
                <a:cs typeface="Calibri" pitchFamily="34" charset="-120"/>
              </a:rPr>
              <a:t>CHANGE DETECTOR</a:t>
            </a:r>
            <a:endParaRPr lang="en-US" sz="750" dirty="0"/>
          </a:p>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URL + content-hash manifest</a:t>
            </a:r>
            <a:endParaRPr lang="en-US" sz="7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only genuinely new or changed documents raise an event</a:t>
            </a:r>
            <a:endParaRPr lang="en-US" sz="750" dirty="0"/>
          </a:p>
        </p:txBody>
      </p:sp>
      <p:sp>
        <p:nvSpPr>
          <p:cNvPr id="54" name="Shape 41"/>
          <p:cNvSpPr/>
          <p:nvPr/>
        </p:nvSpPr>
        <p:spPr>
          <a:xfrm>
            <a:off x="4151376" y="4800600"/>
            <a:ext cx="411480" cy="0"/>
          </a:xfrm>
          <a:prstGeom prst="line">
            <a:avLst/>
          </a:prstGeom>
          <a:noFill/>
          <a:ln w="19050">
            <a:solidFill>
              <a:srgbClr val="64798F"/>
            </a:solidFill>
            <a:prstDash val="solid"/>
            <a:headEnd type="none"/>
            <a:tailEnd type="triangle"/>
          </a:ln>
        </p:spPr>
      </p:sp>
      <p:sp>
        <p:nvSpPr>
          <p:cNvPr id="55" name="Shape 42"/>
          <p:cNvSpPr/>
          <p:nvPr/>
        </p:nvSpPr>
        <p:spPr>
          <a:xfrm>
            <a:off x="8549640" y="1737360"/>
            <a:ext cx="3044952" cy="914400"/>
          </a:xfrm>
          <a:prstGeom prst="roundRect">
            <a:avLst>
              <a:gd name="adj" fmla="val 10000"/>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pic>
        <p:nvPicPr>
          <p:cNvPr id="56" name="Image 11" descr="preencoded.png">    </p:cNvPr>
          <p:cNvPicPr>
            <a:picLocks noChangeAspect="1"/>
          </p:cNvPicPr>
          <p:nvPr/>
        </p:nvPicPr>
        <p:blipFill>
          <a:blip r:embed="rId12"/>
          <a:stretch>
            <a:fillRect/>
          </a:stretch>
        </p:blipFill>
        <p:spPr>
          <a:xfrm>
            <a:off x="8668512" y="1837944"/>
            <a:ext cx="182880" cy="182880"/>
          </a:xfrm>
          <a:prstGeom prst="rect">
            <a:avLst/>
          </a:prstGeom>
        </p:spPr>
      </p:pic>
      <p:sp>
        <p:nvSpPr>
          <p:cNvPr id="57" name="Text 43"/>
          <p:cNvSpPr txBox="1"/>
          <p:nvPr/>
        </p:nvSpPr>
        <p:spPr>
          <a:xfrm>
            <a:off x="8641080" y="1737360"/>
            <a:ext cx="2862072" cy="91440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64798F"/>
                </a:solidFill>
                <a:latin typeface="Calibri" pitchFamily="34" charset="0"/>
                <a:ea typeface="Calibri" pitchFamily="34" charset="-122"/>
                <a:cs typeface="Calibri" pitchFamily="34" charset="-120"/>
              </a:rPr>
              <a:t>SCHEDULER</a:t>
            </a:r>
            <a:endParaRPr lang="en-US" sz="750" dirty="0"/>
          </a:p>
          <a:p>
            <a:pPr algn="ctr" indent="0" marL="0">
              <a:lnSpc>
                <a:spcPct val="104000"/>
              </a:lnSpc>
              <a:buNone/>
            </a:pPr>
            <a:r>
              <a:rPr lang="en-US" sz="1050" b="1" dirty="0">
                <a:solidFill>
                  <a:srgbClr val="24354A"/>
                </a:solidFill>
                <a:latin typeface="Calibri" pitchFamily="34" charset="0"/>
                <a:ea typeface="Calibri" pitchFamily="34" charset="-122"/>
                <a:cs typeface="Calibri" pitchFamily="34" charset="-120"/>
              </a:rPr>
              <a:t>Same entry point as “run now”</a:t>
            </a:r>
            <a:endParaRPr lang="en-US" sz="750" dirty="0"/>
          </a:p>
          <a:p>
            <a:pPr algn="ctr" indent="0" marL="0">
              <a:lnSpc>
                <a:spcPct val="104000"/>
              </a:lnSpc>
              <a:buNone/>
            </a:pPr>
            <a:r>
              <a:rPr lang="en-US" sz="800" dirty="0">
                <a:solidFill>
                  <a:srgbClr val="24354A"/>
                </a:solidFill>
                <a:latin typeface="Calibri" pitchFamily="34" charset="0"/>
                <a:ea typeface="Calibri" pitchFamily="34" charset="-122"/>
                <a:cs typeface="Calibri" pitchFamily="34" charset="-120"/>
              </a:rPr>
              <a:t>APScheduler, 24h by default</a:t>
            </a:r>
            <a:endParaRPr lang="en-US" sz="750" dirty="0"/>
          </a:p>
        </p:txBody>
      </p:sp>
      <p:sp>
        <p:nvSpPr>
          <p:cNvPr id="58" name="Shape 44"/>
          <p:cNvSpPr/>
          <p:nvPr/>
        </p:nvSpPr>
        <p:spPr>
          <a:xfrm>
            <a:off x="8549640" y="3017520"/>
            <a:ext cx="3044952" cy="868680"/>
          </a:xfrm>
          <a:prstGeom prst="roundRect">
            <a:avLst>
              <a:gd name="adj" fmla="val 10526"/>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59" name="Image 12" descr="preencoded.png">    </p:cNvPr>
          <p:cNvPicPr>
            <a:picLocks noChangeAspect="1"/>
          </p:cNvPicPr>
          <p:nvPr/>
        </p:nvPicPr>
        <p:blipFill>
          <a:blip r:embed="rId13"/>
          <a:stretch>
            <a:fillRect/>
          </a:stretch>
        </p:blipFill>
        <p:spPr>
          <a:xfrm>
            <a:off x="8668512" y="3118104"/>
            <a:ext cx="182880" cy="182880"/>
          </a:xfrm>
          <a:prstGeom prst="rect">
            <a:avLst/>
          </a:prstGeom>
        </p:spPr>
      </p:pic>
      <p:sp>
        <p:nvSpPr>
          <p:cNvPr id="60" name="Text 45"/>
          <p:cNvSpPr txBox="1"/>
          <p:nvPr/>
        </p:nvSpPr>
        <p:spPr>
          <a:xfrm>
            <a:off x="8641080" y="3017520"/>
            <a:ext cx="2862072" cy="868680"/>
          </a:xfrm>
          <a:prstGeom prst="rect">
            <a:avLst/>
          </a:prstGeom>
          <a:noFill/>
          <a:ln/>
        </p:spPr>
        <p:txBody>
          <a:bodyPr wrap="square" lIns="0" tIns="0" rIns="0" bIns="0" rtlCol="0" anchor="ctr"/>
          <a:lstStyle/>
          <a:p>
            <a:pPr algn="ctr" indent="0" marL="0">
              <a:lnSpc>
                <a:spcPct val="104000"/>
              </a:lnSpc>
              <a:buNone/>
            </a:pPr>
            <a:r>
              <a:rPr lang="en-US" sz="1100" b="1" dirty="0">
                <a:solidFill>
                  <a:srgbClr val="17431F"/>
                </a:solidFill>
                <a:latin typeface="Calibri" pitchFamily="34" charset="0"/>
                <a:ea typeface="Calibri" pitchFamily="34" charset="-122"/>
                <a:cs typeface="Calibri" pitchFamily="34" charset="-120"/>
              </a:rPr>
              <a:t>events.jsonl feed</a:t>
            </a:r>
            <a:endParaRPr lang="en-US" sz="110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a rolling feed the UI and API poll</a:t>
            </a:r>
            <a:endParaRPr lang="en-US" sz="1100" dirty="0"/>
          </a:p>
        </p:txBody>
      </p:sp>
      <p:sp>
        <p:nvSpPr>
          <p:cNvPr id="61" name="Shape 46"/>
          <p:cNvSpPr/>
          <p:nvPr/>
        </p:nvSpPr>
        <p:spPr>
          <a:xfrm>
            <a:off x="8549640" y="4160520"/>
            <a:ext cx="3044952" cy="868680"/>
          </a:xfrm>
          <a:prstGeom prst="roundRect">
            <a:avLst>
              <a:gd name="adj" fmla="val 10526"/>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62" name="Image 13" descr="preencoded.png">    </p:cNvPr>
          <p:cNvPicPr>
            <a:picLocks noChangeAspect="1"/>
          </p:cNvPicPr>
          <p:nvPr/>
        </p:nvPicPr>
        <p:blipFill>
          <a:blip r:embed="rId14"/>
          <a:stretch>
            <a:fillRect/>
          </a:stretch>
        </p:blipFill>
        <p:spPr>
          <a:xfrm>
            <a:off x="8668512" y="4261104"/>
            <a:ext cx="182880" cy="182880"/>
          </a:xfrm>
          <a:prstGeom prst="rect">
            <a:avLst/>
          </a:prstGeom>
        </p:spPr>
      </p:pic>
      <p:sp>
        <p:nvSpPr>
          <p:cNvPr id="63" name="Text 47"/>
          <p:cNvSpPr txBox="1"/>
          <p:nvPr/>
        </p:nvSpPr>
        <p:spPr>
          <a:xfrm>
            <a:off x="8641080" y="4160520"/>
            <a:ext cx="2862072" cy="868680"/>
          </a:xfrm>
          <a:prstGeom prst="rect">
            <a:avLst/>
          </a:prstGeom>
          <a:noFill/>
          <a:ln/>
        </p:spPr>
        <p:txBody>
          <a:bodyPr wrap="square" lIns="0" tIns="0" rIns="0" bIns="0" rtlCol="0" anchor="ctr"/>
          <a:lstStyle/>
          <a:p>
            <a:pPr algn="ctr" indent="0" marL="0">
              <a:lnSpc>
                <a:spcPct val="104000"/>
              </a:lnSpc>
              <a:buNone/>
            </a:pPr>
            <a:r>
              <a:rPr lang="en-US" sz="1100" b="1" dirty="0">
                <a:solidFill>
                  <a:srgbClr val="17431F"/>
                </a:solidFill>
                <a:latin typeface="Calibri" pitchFamily="34" charset="0"/>
                <a:ea typeface="Calibri" pitchFamily="34" charset="-122"/>
                <a:cs typeface="Calibri" pitchFamily="34" charset="-120"/>
              </a:rPr>
              <a:t>Webhook POST</a:t>
            </a:r>
            <a:endParaRPr lang="en-US" sz="110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best-effort, to a configured endpoint</a:t>
            </a:r>
            <a:endParaRPr lang="en-US" sz="1100" dirty="0"/>
          </a:p>
        </p:txBody>
      </p:sp>
      <p:sp>
        <p:nvSpPr>
          <p:cNvPr id="64" name="Shape 48"/>
          <p:cNvSpPr/>
          <p:nvPr/>
        </p:nvSpPr>
        <p:spPr>
          <a:xfrm flipV="1">
            <a:off x="8266176" y="3520440"/>
            <a:ext cx="228600" cy="1143000"/>
          </a:xfrm>
          <a:prstGeom prst="line">
            <a:avLst/>
          </a:prstGeom>
          <a:noFill/>
          <a:ln w="16510">
            <a:solidFill>
              <a:srgbClr val="2F8F48"/>
            </a:solidFill>
            <a:prstDash val="solid"/>
            <a:headEnd type="none"/>
            <a:tailEnd type="triangle"/>
          </a:ln>
        </p:spPr>
      </p:sp>
      <p:sp>
        <p:nvSpPr>
          <p:cNvPr id="65" name="Shape 49"/>
          <p:cNvSpPr/>
          <p:nvPr/>
        </p:nvSpPr>
        <p:spPr>
          <a:xfrm flipV="1">
            <a:off x="8266176" y="4572000"/>
            <a:ext cx="228600" cy="274320"/>
          </a:xfrm>
          <a:prstGeom prst="line">
            <a:avLst/>
          </a:prstGeom>
          <a:noFill/>
          <a:ln w="16510">
            <a:solidFill>
              <a:srgbClr val="2F8F48"/>
            </a:solidFill>
            <a:prstDash val="solid"/>
            <a:headEnd type="none"/>
            <a:tailEnd type="triangle"/>
          </a:ln>
        </p:spPr>
      </p:sp>
      <p:sp>
        <p:nvSpPr>
          <p:cNvPr id="66" name="Shape 50"/>
          <p:cNvSpPr/>
          <p:nvPr/>
        </p:nvSpPr>
        <p:spPr>
          <a:xfrm flipH="1">
            <a:off x="8394192" y="2194560"/>
            <a:ext cx="118872" cy="0"/>
          </a:xfrm>
          <a:prstGeom prst="line">
            <a:avLst/>
          </a:prstGeom>
          <a:noFill/>
          <a:ln w="15240">
            <a:solidFill>
              <a:srgbClr val="64798F"/>
            </a:solidFill>
            <a:prstDash val="dash"/>
            <a:headEnd type="none"/>
            <a:tailEnd type="none"/>
          </a:ln>
        </p:spPr>
      </p:sp>
      <p:sp>
        <p:nvSpPr>
          <p:cNvPr id="67" name="Shape 51"/>
          <p:cNvSpPr/>
          <p:nvPr/>
        </p:nvSpPr>
        <p:spPr>
          <a:xfrm>
            <a:off x="8394192" y="2194560"/>
            <a:ext cx="0" cy="3246120"/>
          </a:xfrm>
          <a:prstGeom prst="line">
            <a:avLst/>
          </a:prstGeom>
          <a:noFill/>
          <a:ln w="15240">
            <a:solidFill>
              <a:srgbClr val="64798F"/>
            </a:solidFill>
            <a:prstDash val="dash"/>
            <a:headEnd type="none"/>
            <a:tailEnd type="none"/>
          </a:ln>
        </p:spPr>
      </p:sp>
      <p:sp>
        <p:nvSpPr>
          <p:cNvPr id="68" name="Shape 52"/>
          <p:cNvSpPr/>
          <p:nvPr/>
        </p:nvSpPr>
        <p:spPr>
          <a:xfrm flipH="1">
            <a:off x="777240" y="5440680"/>
            <a:ext cx="7616952" cy="0"/>
          </a:xfrm>
          <a:prstGeom prst="line">
            <a:avLst/>
          </a:prstGeom>
          <a:noFill/>
          <a:ln w="15240">
            <a:solidFill>
              <a:srgbClr val="64798F"/>
            </a:solidFill>
            <a:prstDash val="dash"/>
            <a:headEnd type="none"/>
            <a:tailEnd type="none"/>
          </a:ln>
        </p:spPr>
      </p:sp>
      <p:sp>
        <p:nvSpPr>
          <p:cNvPr id="69" name="Shape 53"/>
          <p:cNvSpPr/>
          <p:nvPr/>
        </p:nvSpPr>
        <p:spPr>
          <a:xfrm flipV="1">
            <a:off x="777240" y="2002536"/>
            <a:ext cx="0" cy="3438144"/>
          </a:xfrm>
          <a:prstGeom prst="line">
            <a:avLst/>
          </a:prstGeom>
          <a:noFill/>
          <a:ln w="15240">
            <a:solidFill>
              <a:srgbClr val="64798F"/>
            </a:solidFill>
            <a:prstDash val="dash"/>
            <a:headEnd type="none"/>
            <a:tailEnd type="none"/>
          </a:ln>
        </p:spPr>
      </p:sp>
      <p:sp>
        <p:nvSpPr>
          <p:cNvPr id="70" name="Shape 54"/>
          <p:cNvSpPr/>
          <p:nvPr/>
        </p:nvSpPr>
        <p:spPr>
          <a:xfrm>
            <a:off x="777240" y="2002536"/>
            <a:ext cx="265176" cy="0"/>
          </a:xfrm>
          <a:prstGeom prst="line">
            <a:avLst/>
          </a:prstGeom>
          <a:noFill/>
          <a:ln w="15240">
            <a:solidFill>
              <a:srgbClr val="64798F"/>
            </a:solidFill>
            <a:prstDash val="dash"/>
            <a:headEnd type="none"/>
            <a:tailEnd type="triangle"/>
          </a:ln>
        </p:spPr>
      </p:sp>
      <p:sp>
        <p:nvSpPr>
          <p:cNvPr id="71" name="Text 55"/>
          <p:cNvSpPr txBox="1"/>
          <p:nvPr/>
        </p:nvSpPr>
        <p:spPr>
          <a:xfrm>
            <a:off x="1828800" y="5193792"/>
            <a:ext cx="3108960" cy="201168"/>
          </a:xfrm>
          <a:prstGeom prst="rect">
            <a:avLst/>
          </a:prstGeom>
          <a:noFill/>
          <a:ln/>
        </p:spPr>
        <p:txBody>
          <a:bodyPr wrap="square" lIns="0" tIns="0" rIns="0" bIns="0" rtlCol="0" anchor="ctr"/>
          <a:lstStyle/>
          <a:p>
            <a:pPr algn="l" indent="0" marL="0">
              <a:buNone/>
            </a:pPr>
            <a:r>
              <a:rPr lang="en-US" sz="800" i="1" dirty="0">
                <a:solidFill>
                  <a:srgbClr val="58697A"/>
                </a:solidFill>
                <a:latin typeface="Calibri" pitchFamily="34" charset="0"/>
                <a:ea typeface="Calibri" pitchFamily="34" charset="-122"/>
                <a:cs typeface="Calibri" pitchFamily="34" charset="-120"/>
              </a:rPr>
              <a:t>the scheduled run is the same run</a:t>
            </a:r>
            <a:endParaRPr lang="en-US" sz="800" dirty="0"/>
          </a:p>
        </p:txBody>
      </p:sp>
      <p:sp>
        <p:nvSpPr>
          <p:cNvPr id="72" name="Shape 56"/>
          <p:cNvSpPr/>
          <p:nvPr/>
        </p:nvSpPr>
        <p:spPr>
          <a:xfrm>
            <a:off x="594360" y="5669280"/>
            <a:ext cx="11000232" cy="411480"/>
          </a:xfrm>
          <a:prstGeom prst="roundRect">
            <a:avLst>
              <a:gd name="adj" fmla="val 8889"/>
            </a:avLst>
          </a:prstGeom>
          <a:solidFill>
            <a:srgbClr val="F4F7FA"/>
          </a:solidFill>
          <a:ln w="15875">
            <a:solidFill>
              <a:srgbClr val="DDE5ED"/>
            </a:solidFill>
            <a:prstDash val="solid"/>
          </a:ln>
        </p:spPr>
      </p:sp>
      <p:sp>
        <p:nvSpPr>
          <p:cNvPr id="73" name="Text 57"/>
          <p:cNvSpPr txBox="1"/>
          <p:nvPr/>
        </p:nvSpPr>
        <p:spPr>
          <a:xfrm>
            <a:off x="795528" y="5669280"/>
            <a:ext cx="10597896" cy="411480"/>
          </a:xfrm>
          <a:prstGeom prst="rect">
            <a:avLst/>
          </a:prstGeom>
          <a:noFill/>
          <a:ln/>
        </p:spPr>
        <p:txBody>
          <a:bodyPr wrap="square" lIns="0" tIns="0" rIns="0" bIns="0" rtlCol="0" anchor="ctr"/>
          <a:lstStyle/>
          <a:p>
            <a:pPr indent="0" marL="0">
              <a:buNone/>
            </a:pPr>
            <a:r>
              <a:rPr lang="en-US" sz="930" b="1" dirty="0">
                <a:solidFill>
                  <a:srgbClr val="CE3D64"/>
                </a:solidFill>
                <a:latin typeface="Calibri" pitchFamily="34" charset="0"/>
                <a:ea typeface="Calibri" pitchFamily="34" charset="-122"/>
                <a:cs typeface="Calibri" pitchFamily="34" charset="-120"/>
              </a:rPr>
              <a:t>Unreachable is not empty.  </a:t>
            </a:r>
            <a:pPr indent="0" marL="0">
              <a:buNone/>
            </a:pPr>
            <a:r>
              <a:rPr lang="en-US" sz="930" dirty="0">
                <a:solidFill>
                  <a:srgbClr val="43566B"/>
                </a:solidFill>
                <a:latin typeface="Calibri" pitchFamily="34" charset="0"/>
                <a:ea typeface="Calibri" pitchFamily="34" charset="-122"/>
                <a:cs typeface="Calibri" pitchFamily="34" charset="-120"/>
              </a:rPr>
              <a:t>A known homepage that could not be fetched is reported as homepage_unreachable and routed to review — deliberately distinct from “crawled fine, nothing matched.”</a:t>
            </a:r>
            <a:endParaRPr lang="en-US" sz="930" dirty="0"/>
          </a:p>
        </p:txBody>
      </p:sp>
      <p:sp>
        <p:nvSpPr>
          <p:cNvPr id="74" name="Shape 58"/>
          <p:cNvSpPr/>
          <p:nvPr/>
        </p:nvSpPr>
        <p:spPr>
          <a:xfrm>
            <a:off x="594360" y="6199632"/>
            <a:ext cx="155448" cy="155448"/>
          </a:xfrm>
          <a:prstGeom prst="roundRect">
            <a:avLst>
              <a:gd name="adj" fmla="val 29412"/>
            </a:avLst>
          </a:prstGeom>
          <a:solidFill>
            <a:srgbClr val="2F6FD0"/>
          </a:solidFill>
          <a:ln/>
        </p:spPr>
      </p:sp>
      <p:sp>
        <p:nvSpPr>
          <p:cNvPr id="75" name="Text 59"/>
          <p:cNvSpPr txBox="1"/>
          <p:nvPr/>
        </p:nvSpPr>
        <p:spPr>
          <a:xfrm>
            <a:off x="813816" y="617220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76" name="Shape 60"/>
          <p:cNvSpPr/>
          <p:nvPr/>
        </p:nvSpPr>
        <p:spPr>
          <a:xfrm>
            <a:off x="2427732" y="6199632"/>
            <a:ext cx="155448" cy="155448"/>
          </a:xfrm>
          <a:prstGeom prst="roundRect">
            <a:avLst>
              <a:gd name="adj" fmla="val 29412"/>
            </a:avLst>
          </a:prstGeom>
          <a:solidFill>
            <a:srgbClr val="108494"/>
          </a:solidFill>
          <a:ln/>
        </p:spPr>
      </p:sp>
      <p:sp>
        <p:nvSpPr>
          <p:cNvPr id="77" name="Text 61"/>
          <p:cNvSpPr txBox="1"/>
          <p:nvPr/>
        </p:nvSpPr>
        <p:spPr>
          <a:xfrm>
            <a:off x="2647188" y="617220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78" name="Shape 62"/>
          <p:cNvSpPr/>
          <p:nvPr/>
        </p:nvSpPr>
        <p:spPr>
          <a:xfrm>
            <a:off x="4261104" y="6199632"/>
            <a:ext cx="155448" cy="155448"/>
          </a:xfrm>
          <a:prstGeom prst="roundRect">
            <a:avLst>
              <a:gd name="adj" fmla="val 29412"/>
            </a:avLst>
          </a:prstGeom>
          <a:solidFill>
            <a:srgbClr val="6D4DD1"/>
          </a:solidFill>
          <a:ln/>
        </p:spPr>
      </p:sp>
      <p:sp>
        <p:nvSpPr>
          <p:cNvPr id="79" name="Text 63"/>
          <p:cNvSpPr txBox="1"/>
          <p:nvPr/>
        </p:nvSpPr>
        <p:spPr>
          <a:xfrm>
            <a:off x="4480560" y="617220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80" name="Shape 64"/>
          <p:cNvSpPr/>
          <p:nvPr/>
        </p:nvSpPr>
        <p:spPr>
          <a:xfrm>
            <a:off x="6094476" y="6199632"/>
            <a:ext cx="155448" cy="155448"/>
          </a:xfrm>
          <a:prstGeom prst="roundRect">
            <a:avLst>
              <a:gd name="adj" fmla="val 29412"/>
            </a:avLst>
          </a:prstGeom>
          <a:solidFill>
            <a:srgbClr val="C9871B"/>
          </a:solidFill>
          <a:ln/>
        </p:spPr>
      </p:sp>
      <p:sp>
        <p:nvSpPr>
          <p:cNvPr id="81" name="Text 65"/>
          <p:cNvSpPr txBox="1"/>
          <p:nvPr/>
        </p:nvSpPr>
        <p:spPr>
          <a:xfrm>
            <a:off x="6313932" y="617220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82" name="Shape 66"/>
          <p:cNvSpPr/>
          <p:nvPr/>
        </p:nvSpPr>
        <p:spPr>
          <a:xfrm>
            <a:off x="7927848" y="6199632"/>
            <a:ext cx="155448" cy="155448"/>
          </a:xfrm>
          <a:prstGeom prst="roundRect">
            <a:avLst>
              <a:gd name="adj" fmla="val 29412"/>
            </a:avLst>
          </a:prstGeom>
          <a:solidFill>
            <a:srgbClr val="CE3D64"/>
          </a:solidFill>
          <a:ln/>
        </p:spPr>
      </p:sp>
      <p:sp>
        <p:nvSpPr>
          <p:cNvPr id="83" name="Text 67"/>
          <p:cNvSpPr txBox="1"/>
          <p:nvPr/>
        </p:nvSpPr>
        <p:spPr>
          <a:xfrm>
            <a:off x="8147304" y="617220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84" name="Shape 68"/>
          <p:cNvSpPr/>
          <p:nvPr/>
        </p:nvSpPr>
        <p:spPr>
          <a:xfrm>
            <a:off x="9761220" y="6199632"/>
            <a:ext cx="155448" cy="155448"/>
          </a:xfrm>
          <a:prstGeom prst="roundRect">
            <a:avLst>
              <a:gd name="adj" fmla="val 29412"/>
            </a:avLst>
          </a:prstGeom>
          <a:solidFill>
            <a:srgbClr val="2F8F48"/>
          </a:solidFill>
          <a:ln/>
        </p:spPr>
      </p:sp>
      <p:sp>
        <p:nvSpPr>
          <p:cNvPr id="85" name="Text 69"/>
          <p:cNvSpPr txBox="1"/>
          <p:nvPr/>
        </p:nvSpPr>
        <p:spPr>
          <a:xfrm>
            <a:off x="9980676" y="617220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05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Discovery: crawl, classify, notify</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The only pipeline here that reaches out to the open web — so the guards are part of the architecture.</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72768"/>
            <a:ext cx="1907438"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1673352"/>
            <a:ext cx="182880" cy="182880"/>
          </a:xfrm>
          <a:prstGeom prst="rect">
            <a:avLst/>
          </a:prstGeom>
        </p:spPr>
      </p:pic>
      <p:sp>
        <p:nvSpPr>
          <p:cNvPr id="9" name="Text 5"/>
          <p:cNvSpPr txBox="1"/>
          <p:nvPr/>
        </p:nvSpPr>
        <p:spPr>
          <a:xfrm>
            <a:off x="685800"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Resolve site</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supplied URL, else search</a:t>
            </a:r>
            <a:endParaRPr lang="en-US" sz="1050" dirty="0"/>
          </a:p>
        </p:txBody>
      </p:sp>
      <p:sp>
        <p:nvSpPr>
          <p:cNvPr id="10" name="Shape 6"/>
          <p:cNvSpPr/>
          <p:nvPr/>
        </p:nvSpPr>
        <p:spPr>
          <a:xfrm>
            <a:off x="2556662" y="1947672"/>
            <a:ext cx="256032" cy="0"/>
          </a:xfrm>
          <a:prstGeom prst="line">
            <a:avLst/>
          </a:prstGeom>
          <a:noFill/>
          <a:ln w="21590">
            <a:solidFill>
              <a:srgbClr val="64798F"/>
            </a:solidFill>
            <a:prstDash val="solid"/>
            <a:headEnd type="none"/>
            <a:tailEnd type="triangle"/>
          </a:ln>
        </p:spPr>
      </p:sp>
      <p:sp>
        <p:nvSpPr>
          <p:cNvPr id="11" name="Shape 7"/>
          <p:cNvSpPr/>
          <p:nvPr/>
        </p:nvSpPr>
        <p:spPr>
          <a:xfrm>
            <a:off x="2867558" y="1572768"/>
            <a:ext cx="1907438" cy="749808"/>
          </a:xfrm>
          <a:prstGeom prst="roundRect">
            <a:avLst>
              <a:gd name="adj" fmla="val 1219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2986430" y="1673352"/>
            <a:ext cx="182880" cy="182880"/>
          </a:xfrm>
          <a:prstGeom prst="rect">
            <a:avLst/>
          </a:prstGeom>
        </p:spPr>
      </p:pic>
      <p:sp>
        <p:nvSpPr>
          <p:cNvPr id="13" name="Text 8"/>
          <p:cNvSpPr txBox="1"/>
          <p:nvPr/>
        </p:nvSpPr>
        <p:spPr>
          <a:xfrm>
            <a:off x="2958998"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Fetch root</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guarded by the SSRF hook</a:t>
            </a:r>
            <a:endParaRPr lang="en-US" sz="1050" dirty="0"/>
          </a:p>
        </p:txBody>
      </p:sp>
      <p:sp>
        <p:nvSpPr>
          <p:cNvPr id="14" name="Shape 9"/>
          <p:cNvSpPr/>
          <p:nvPr/>
        </p:nvSpPr>
        <p:spPr>
          <a:xfrm>
            <a:off x="4829861" y="1947672"/>
            <a:ext cx="256032" cy="0"/>
          </a:xfrm>
          <a:prstGeom prst="line">
            <a:avLst/>
          </a:prstGeom>
          <a:noFill/>
          <a:ln w="21590">
            <a:solidFill>
              <a:srgbClr val="64798F"/>
            </a:solidFill>
            <a:prstDash val="solid"/>
            <a:headEnd type="none"/>
            <a:tailEnd type="triangle"/>
          </a:ln>
        </p:spPr>
      </p:sp>
      <p:sp>
        <p:nvSpPr>
          <p:cNvPr id="15" name="Shape 10"/>
          <p:cNvSpPr/>
          <p:nvPr/>
        </p:nvSpPr>
        <p:spPr>
          <a:xfrm>
            <a:off x="5140757" y="1572768"/>
            <a:ext cx="1907438" cy="749808"/>
          </a:xfrm>
          <a:prstGeom prst="roundRect">
            <a:avLst>
              <a:gd name="adj" fmla="val 1219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5259629" y="1673352"/>
            <a:ext cx="182880" cy="182880"/>
          </a:xfrm>
          <a:prstGeom prst="rect">
            <a:avLst/>
          </a:prstGeom>
        </p:spPr>
      </p:pic>
      <p:sp>
        <p:nvSpPr>
          <p:cNvPr id="17" name="Text 11"/>
          <p:cNvSpPr txBox="1"/>
          <p:nvPr/>
        </p:nvSpPr>
        <p:spPr>
          <a:xfrm>
            <a:off x="5232197"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Crawl</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same domain, robots, depth cap</a:t>
            </a:r>
            <a:endParaRPr lang="en-US" sz="1050" dirty="0"/>
          </a:p>
        </p:txBody>
      </p:sp>
      <p:sp>
        <p:nvSpPr>
          <p:cNvPr id="18" name="Shape 12"/>
          <p:cNvSpPr/>
          <p:nvPr/>
        </p:nvSpPr>
        <p:spPr>
          <a:xfrm>
            <a:off x="7103059" y="1947672"/>
            <a:ext cx="256032" cy="0"/>
          </a:xfrm>
          <a:prstGeom prst="line">
            <a:avLst/>
          </a:prstGeom>
          <a:noFill/>
          <a:ln w="21590">
            <a:solidFill>
              <a:srgbClr val="64798F"/>
            </a:solidFill>
            <a:prstDash val="solid"/>
            <a:headEnd type="none"/>
            <a:tailEnd type="triangle"/>
          </a:ln>
        </p:spPr>
      </p:sp>
      <p:sp>
        <p:nvSpPr>
          <p:cNvPr id="19" name="Shape 13"/>
          <p:cNvSpPr/>
          <p:nvPr/>
        </p:nvSpPr>
        <p:spPr>
          <a:xfrm>
            <a:off x="7413955"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7532827" y="1673352"/>
            <a:ext cx="182880" cy="182880"/>
          </a:xfrm>
          <a:prstGeom prst="rect">
            <a:avLst/>
          </a:prstGeom>
        </p:spPr>
      </p:pic>
      <p:sp>
        <p:nvSpPr>
          <p:cNvPr id="21" name="Text 14"/>
          <p:cNvSpPr txBox="1"/>
          <p:nvPr/>
        </p:nvSpPr>
        <p:spPr>
          <a:xfrm>
            <a:off x="7505395"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Classify links</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ordered keyword patterns</a:t>
            </a:r>
            <a:endParaRPr lang="en-US" sz="1050" dirty="0"/>
          </a:p>
        </p:txBody>
      </p:sp>
      <p:sp>
        <p:nvSpPr>
          <p:cNvPr id="22" name="Shape 15"/>
          <p:cNvSpPr/>
          <p:nvPr/>
        </p:nvSpPr>
        <p:spPr>
          <a:xfrm>
            <a:off x="9376258" y="1947672"/>
            <a:ext cx="256032" cy="0"/>
          </a:xfrm>
          <a:prstGeom prst="line">
            <a:avLst/>
          </a:prstGeom>
          <a:noFill/>
          <a:ln w="21590">
            <a:solidFill>
              <a:srgbClr val="64798F"/>
            </a:solidFill>
            <a:prstDash val="solid"/>
            <a:headEnd type="none"/>
            <a:tailEnd type="triangle"/>
          </a:ln>
        </p:spPr>
      </p:sp>
      <p:sp>
        <p:nvSpPr>
          <p:cNvPr id="23" name="Shape 16"/>
          <p:cNvSpPr/>
          <p:nvPr/>
        </p:nvSpPr>
        <p:spPr>
          <a:xfrm>
            <a:off x="9687154" y="1572768"/>
            <a:ext cx="1907438" cy="749808"/>
          </a:xfrm>
          <a:prstGeom prst="roundRect">
            <a:avLst>
              <a:gd name="adj" fmla="val 1219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24" name="Image 5" descr="preencoded.png">    </p:cNvPr>
          <p:cNvPicPr>
            <a:picLocks noChangeAspect="1"/>
          </p:cNvPicPr>
          <p:nvPr/>
        </p:nvPicPr>
        <p:blipFill>
          <a:blip r:embed="rId6"/>
          <a:stretch>
            <a:fillRect/>
          </a:stretch>
        </p:blipFill>
        <p:spPr>
          <a:xfrm>
            <a:off x="9806026" y="1673352"/>
            <a:ext cx="182880" cy="182880"/>
          </a:xfrm>
          <a:prstGeom prst="rect">
            <a:avLst/>
          </a:prstGeom>
        </p:spPr>
      </p:pic>
      <p:sp>
        <p:nvSpPr>
          <p:cNvPr id="25" name="Text 17"/>
          <p:cNvSpPr txBox="1"/>
          <p:nvPr/>
        </p:nvSpPr>
        <p:spPr>
          <a:xfrm>
            <a:off x="9778594"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Download</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into the shared document store</a:t>
            </a:r>
            <a:endParaRPr lang="en-US" sz="1050" dirty="0"/>
          </a:p>
        </p:txBody>
      </p:sp>
      <p:sp>
        <p:nvSpPr>
          <p:cNvPr id="26" name="Shape 18"/>
          <p:cNvSpPr/>
          <p:nvPr/>
        </p:nvSpPr>
        <p:spPr>
          <a:xfrm>
            <a:off x="2377440" y="2852928"/>
            <a:ext cx="2331720" cy="713232"/>
          </a:xfrm>
          <a:prstGeom prst="diamond">
            <a:avLst/>
          </a:prstGeom>
          <a:solidFill>
            <a:srgbClr val="FCEDD4"/>
          </a:solidFill>
          <a:ln w="15875">
            <a:solidFill>
              <a:srgbClr val="C9871B"/>
            </a:solidFill>
            <a:prstDash val="solid"/>
          </a:ln>
        </p:spPr>
      </p:sp>
      <p:sp>
        <p:nvSpPr>
          <p:cNvPr id="27" name="Text 19"/>
          <p:cNvSpPr txBox="1"/>
          <p:nvPr/>
        </p:nvSpPr>
        <p:spPr>
          <a:xfrm>
            <a:off x="2468880" y="2852928"/>
            <a:ext cx="2148840" cy="713232"/>
          </a:xfrm>
          <a:prstGeom prst="rect">
            <a:avLst/>
          </a:prstGeom>
          <a:noFill/>
          <a:ln/>
        </p:spPr>
        <p:txBody>
          <a:bodyPr wrap="square" lIns="0" tIns="0" rIns="0" bIns="0" rtlCol="0" anchor="ctr"/>
          <a:lstStyle/>
          <a:p>
            <a:pPr algn="ctr" indent="0" marL="0">
              <a:lnSpc>
                <a:spcPct val="104000"/>
              </a:lnSpc>
              <a:buNone/>
            </a:pPr>
            <a:r>
              <a:rPr lang="en-US" sz="950" b="1" dirty="0">
                <a:solidFill>
                  <a:srgbClr val="64430A"/>
                </a:solidFill>
                <a:latin typeface="Calibri" pitchFamily="34" charset="0"/>
                <a:ea typeface="Calibri" pitchFamily="34" charset="-122"/>
                <a:cs typeface="Calibri" pitchFamily="34" charset="-120"/>
              </a:rPr>
              <a:t>root reachable?</a:t>
            </a:r>
            <a:endParaRPr lang="en-US" sz="950" dirty="0"/>
          </a:p>
        </p:txBody>
      </p:sp>
      <p:sp>
        <p:nvSpPr>
          <p:cNvPr id="28" name="Shape 20"/>
          <p:cNvSpPr/>
          <p:nvPr/>
        </p:nvSpPr>
        <p:spPr>
          <a:xfrm>
            <a:off x="3547872" y="2359152"/>
            <a:ext cx="0" cy="457200"/>
          </a:xfrm>
          <a:prstGeom prst="line">
            <a:avLst/>
          </a:prstGeom>
          <a:noFill/>
          <a:ln w="16510">
            <a:solidFill>
              <a:srgbClr val="64798F"/>
            </a:solidFill>
            <a:prstDash val="solid"/>
            <a:headEnd type="none"/>
            <a:tailEnd type="triangle"/>
          </a:ln>
        </p:spPr>
      </p:sp>
      <p:sp>
        <p:nvSpPr>
          <p:cNvPr id="29" name="Shape 21"/>
          <p:cNvSpPr/>
          <p:nvPr/>
        </p:nvSpPr>
        <p:spPr>
          <a:xfrm>
            <a:off x="594360" y="3840480"/>
            <a:ext cx="2834640" cy="777240"/>
          </a:xfrm>
          <a:prstGeom prst="roundRect">
            <a:avLst>
              <a:gd name="adj" fmla="val 11765"/>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30" name="Image 6" descr="preencoded.png">    </p:cNvPr>
          <p:cNvPicPr>
            <a:picLocks noChangeAspect="1"/>
          </p:cNvPicPr>
          <p:nvPr/>
        </p:nvPicPr>
        <p:blipFill>
          <a:blip r:embed="rId7"/>
          <a:stretch>
            <a:fillRect/>
          </a:stretch>
        </p:blipFill>
        <p:spPr>
          <a:xfrm>
            <a:off x="713232" y="3941064"/>
            <a:ext cx="182880" cy="182880"/>
          </a:xfrm>
          <a:prstGeom prst="rect">
            <a:avLst/>
          </a:prstGeom>
        </p:spPr>
      </p:pic>
      <p:sp>
        <p:nvSpPr>
          <p:cNvPr id="31" name="Text 22"/>
          <p:cNvSpPr txBox="1"/>
          <p:nvPr/>
        </p:nvSpPr>
        <p:spPr>
          <a:xfrm>
            <a:off x="685800" y="3840480"/>
            <a:ext cx="2651760" cy="777240"/>
          </a:xfrm>
          <a:prstGeom prst="rect">
            <a:avLst/>
          </a:prstGeom>
          <a:noFill/>
          <a:ln/>
        </p:spPr>
        <p:txBody>
          <a:bodyPr wrap="square" lIns="0" tIns="0" rIns="0" bIns="0" rtlCol="0" anchor="ctr"/>
          <a:lstStyle/>
          <a:p>
            <a:pPr algn="ctr" indent="0" marL="0">
              <a:lnSpc>
                <a:spcPct val="104000"/>
              </a:lnSpc>
              <a:buNone/>
            </a:pPr>
            <a:r>
              <a:rPr lang="en-US" sz="1000" b="1" dirty="0">
                <a:solidFill>
                  <a:srgbClr val="68182F"/>
                </a:solidFill>
                <a:latin typeface="Calibri" pitchFamily="34" charset="0"/>
                <a:ea typeface="Calibri" pitchFamily="34" charset="-122"/>
                <a:cs typeface="Calibri" pitchFamily="34" charset="-120"/>
              </a:rPr>
              <a:t>homepage_unreachable</a:t>
            </a:r>
            <a:endParaRPr lang="en-US" sz="1000" dirty="0"/>
          </a:p>
          <a:p>
            <a:pPr algn="ctr" indent="0" marL="0">
              <a:lnSpc>
                <a:spcPct val="104000"/>
              </a:lnSpc>
              <a:buNone/>
            </a:pPr>
            <a:r>
              <a:rPr lang="en-US" sz="800" dirty="0">
                <a:solidFill>
                  <a:srgbClr val="68182F"/>
                </a:solidFill>
                <a:latin typeface="Calibri" pitchFamily="34" charset="0"/>
                <a:ea typeface="Calibri" pitchFamily="34" charset="-122"/>
                <a:cs typeface="Calibri" pitchFamily="34" charset="-120"/>
              </a:rPr>
              <a:t>crawl_error recorded → review queue</a:t>
            </a:r>
            <a:endParaRPr lang="en-US" sz="1000" dirty="0"/>
          </a:p>
        </p:txBody>
      </p:sp>
      <p:sp>
        <p:nvSpPr>
          <p:cNvPr id="32" name="Shape 23"/>
          <p:cNvSpPr/>
          <p:nvPr/>
        </p:nvSpPr>
        <p:spPr>
          <a:xfrm flipH="1">
            <a:off x="2011680" y="3209544"/>
            <a:ext cx="365760" cy="0"/>
          </a:xfrm>
          <a:prstGeom prst="line">
            <a:avLst/>
          </a:prstGeom>
          <a:noFill/>
          <a:ln w="16510">
            <a:solidFill>
              <a:srgbClr val="CE3D64"/>
            </a:solidFill>
            <a:prstDash val="solid"/>
            <a:headEnd type="none"/>
            <a:tailEnd type="none"/>
          </a:ln>
        </p:spPr>
      </p:sp>
      <p:sp>
        <p:nvSpPr>
          <p:cNvPr id="33" name="Shape 24"/>
          <p:cNvSpPr/>
          <p:nvPr/>
        </p:nvSpPr>
        <p:spPr>
          <a:xfrm>
            <a:off x="2011680" y="3209544"/>
            <a:ext cx="0" cy="594360"/>
          </a:xfrm>
          <a:prstGeom prst="line">
            <a:avLst/>
          </a:prstGeom>
          <a:noFill/>
          <a:ln w="16510">
            <a:solidFill>
              <a:srgbClr val="CE3D64"/>
            </a:solidFill>
            <a:prstDash val="solid"/>
            <a:headEnd type="none"/>
            <a:tailEnd type="triangle"/>
          </a:ln>
        </p:spPr>
      </p:sp>
      <p:sp>
        <p:nvSpPr>
          <p:cNvPr id="34" name="Text 25"/>
          <p:cNvSpPr txBox="1"/>
          <p:nvPr/>
        </p:nvSpPr>
        <p:spPr>
          <a:xfrm>
            <a:off x="1417320" y="3310128"/>
            <a:ext cx="640080" cy="182880"/>
          </a:xfrm>
          <a:prstGeom prst="rect">
            <a:avLst/>
          </a:prstGeom>
          <a:noFill/>
          <a:ln/>
        </p:spPr>
        <p:txBody>
          <a:bodyPr wrap="square" lIns="0" tIns="0" rIns="0" bIns="0" rtlCol="0" anchor="ctr"/>
          <a:lstStyle/>
          <a:p>
            <a:pPr algn="ctr" indent="0" marL="0">
              <a:buNone/>
            </a:pPr>
            <a:r>
              <a:rPr lang="en-US" sz="800" i="1" dirty="0">
                <a:solidFill>
                  <a:srgbClr val="CE3D64"/>
                </a:solidFill>
                <a:latin typeface="Calibri" pitchFamily="34" charset="0"/>
                <a:ea typeface="Calibri" pitchFamily="34" charset="-122"/>
                <a:cs typeface="Calibri" pitchFamily="34" charset="-120"/>
              </a:rPr>
              <a:t>no</a:t>
            </a:r>
            <a:endParaRPr lang="en-US" sz="800" dirty="0"/>
          </a:p>
        </p:txBody>
      </p:sp>
      <p:sp>
        <p:nvSpPr>
          <p:cNvPr id="35" name="Shape 26"/>
          <p:cNvSpPr/>
          <p:nvPr/>
        </p:nvSpPr>
        <p:spPr>
          <a:xfrm>
            <a:off x="5166360" y="2852928"/>
            <a:ext cx="2834640" cy="713232"/>
          </a:xfrm>
          <a:prstGeom prst="roundRect">
            <a:avLst>
              <a:gd name="adj" fmla="val 12821"/>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pic>
        <p:nvPicPr>
          <p:cNvPr id="36" name="Image 7" descr="preencoded.png">    </p:cNvPr>
          <p:cNvPicPr>
            <a:picLocks noChangeAspect="1"/>
          </p:cNvPicPr>
          <p:nvPr/>
        </p:nvPicPr>
        <p:blipFill>
          <a:blip r:embed="rId8"/>
          <a:stretch>
            <a:fillRect/>
          </a:stretch>
        </p:blipFill>
        <p:spPr>
          <a:xfrm>
            <a:off x="5285232" y="2953512"/>
            <a:ext cx="182880" cy="182880"/>
          </a:xfrm>
          <a:prstGeom prst="rect">
            <a:avLst/>
          </a:prstGeom>
        </p:spPr>
      </p:pic>
      <p:sp>
        <p:nvSpPr>
          <p:cNvPr id="37" name="Text 27"/>
          <p:cNvSpPr txBox="1"/>
          <p:nvPr/>
        </p:nvSpPr>
        <p:spPr>
          <a:xfrm>
            <a:off x="5257800" y="2852928"/>
            <a:ext cx="2651760" cy="713232"/>
          </a:xfrm>
          <a:prstGeom prst="rect">
            <a:avLst/>
          </a:prstGeom>
          <a:noFill/>
          <a:ln/>
        </p:spPr>
        <p:txBody>
          <a:bodyPr wrap="square" lIns="0" tIns="0" rIns="0" bIns="0" rtlCol="0" anchor="ctr"/>
          <a:lstStyle/>
          <a:p>
            <a:pPr algn="ctr" indent="0" marL="0">
              <a:lnSpc>
                <a:spcPct val="104000"/>
              </a:lnSpc>
              <a:buNone/>
            </a:pPr>
            <a:r>
              <a:rPr lang="en-US" sz="1000" b="1" dirty="0">
                <a:solidFill>
                  <a:srgbClr val="24354A"/>
                </a:solidFill>
                <a:latin typeface="Calibri" pitchFamily="34" charset="0"/>
                <a:ea typeface="Calibri" pitchFamily="34" charset="-122"/>
                <a:cs typeface="Calibri" pitchFamily="34" charset="-120"/>
              </a:rPr>
              <a:t>Crawled, nothing matched</a:t>
            </a:r>
            <a:endParaRPr lang="en-US" sz="1000" dirty="0"/>
          </a:p>
          <a:p>
            <a:pPr algn="ctr" indent="0" marL="0">
              <a:lnSpc>
                <a:spcPct val="104000"/>
              </a:lnSpc>
              <a:buNone/>
            </a:pPr>
            <a:r>
              <a:rPr lang="en-US" sz="800" dirty="0">
                <a:solidFill>
                  <a:srgbClr val="24354A"/>
                </a:solidFill>
                <a:latin typeface="Calibri" pitchFamily="34" charset="0"/>
                <a:ea typeface="Calibri" pitchFamily="34" charset="-122"/>
                <a:cs typeface="Calibri" pitchFamily="34" charset="-120"/>
              </a:rPr>
              <a:t>a real result, not an error</a:t>
            </a:r>
            <a:endParaRPr lang="en-US" sz="1000" dirty="0"/>
          </a:p>
        </p:txBody>
      </p:sp>
      <p:sp>
        <p:nvSpPr>
          <p:cNvPr id="38" name="Shape 28"/>
          <p:cNvSpPr/>
          <p:nvPr/>
        </p:nvSpPr>
        <p:spPr>
          <a:xfrm>
            <a:off x="5166360" y="3840480"/>
            <a:ext cx="2834640" cy="777240"/>
          </a:xfrm>
          <a:prstGeom prst="roundRect">
            <a:avLst>
              <a:gd name="adj" fmla="val 1176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39" name="Image 8" descr="preencoded.png">    </p:cNvPr>
          <p:cNvPicPr>
            <a:picLocks noChangeAspect="1"/>
          </p:cNvPicPr>
          <p:nvPr/>
        </p:nvPicPr>
        <p:blipFill>
          <a:blip r:embed="rId9"/>
          <a:stretch>
            <a:fillRect/>
          </a:stretch>
        </p:blipFill>
        <p:spPr>
          <a:xfrm>
            <a:off x="5285232" y="3941064"/>
            <a:ext cx="182880" cy="182880"/>
          </a:xfrm>
          <a:prstGeom prst="rect">
            <a:avLst/>
          </a:prstGeom>
        </p:spPr>
      </p:pic>
      <p:sp>
        <p:nvSpPr>
          <p:cNvPr id="40" name="Text 29"/>
          <p:cNvSpPr txBox="1"/>
          <p:nvPr/>
        </p:nvSpPr>
        <p:spPr>
          <a:xfrm>
            <a:off x="5257800" y="3840480"/>
            <a:ext cx="2651760" cy="77724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C9871B"/>
                </a:solidFill>
                <a:latin typeface="Calibri" pitchFamily="34" charset="0"/>
                <a:ea typeface="Calibri" pitchFamily="34" charset="-122"/>
                <a:cs typeface="Calibri" pitchFamily="34" charset="-120"/>
              </a:rPr>
              <a:t>DIFF</a:t>
            </a:r>
            <a:endParaRPr lang="en-US" sz="700" dirty="0"/>
          </a:p>
          <a:p>
            <a:pPr algn="ctr" indent="0" marL="0">
              <a:lnSpc>
                <a:spcPct val="104000"/>
              </a:lnSpc>
              <a:buNone/>
            </a:pPr>
            <a:r>
              <a:rPr lang="en-US" sz="1000" b="1" dirty="0">
                <a:solidFill>
                  <a:srgbClr val="64430A"/>
                </a:solidFill>
                <a:latin typeface="Calibri" pitchFamily="34" charset="0"/>
                <a:ea typeface="Calibri" pitchFamily="34" charset="-122"/>
                <a:cs typeface="Calibri" pitchFamily="34" charset="-120"/>
              </a:rPr>
              <a:t>URL + content hash</a:t>
            </a:r>
            <a:endParaRPr lang="en-US" sz="70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per-company manifest</a:t>
            </a:r>
            <a:endParaRPr lang="en-US" sz="700" dirty="0"/>
          </a:p>
        </p:txBody>
      </p:sp>
      <p:sp>
        <p:nvSpPr>
          <p:cNvPr id="41" name="Shape 30"/>
          <p:cNvSpPr/>
          <p:nvPr/>
        </p:nvSpPr>
        <p:spPr>
          <a:xfrm>
            <a:off x="6583680" y="3584448"/>
            <a:ext cx="0" cy="219456"/>
          </a:xfrm>
          <a:prstGeom prst="line">
            <a:avLst/>
          </a:prstGeom>
          <a:noFill/>
          <a:ln w="16510">
            <a:solidFill>
              <a:srgbClr val="64798F"/>
            </a:solidFill>
            <a:prstDash val="solid"/>
            <a:headEnd type="none"/>
            <a:tailEnd type="triangle"/>
          </a:ln>
        </p:spPr>
      </p:sp>
      <p:sp>
        <p:nvSpPr>
          <p:cNvPr id="42" name="Shape 31"/>
          <p:cNvSpPr/>
          <p:nvPr/>
        </p:nvSpPr>
        <p:spPr>
          <a:xfrm>
            <a:off x="8503920" y="2852928"/>
            <a:ext cx="3090672" cy="713232"/>
          </a:xfrm>
          <a:prstGeom prst="roundRect">
            <a:avLst>
              <a:gd name="adj" fmla="val 12821"/>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43" name="Image 9" descr="preencoded.png">    </p:cNvPr>
          <p:cNvPicPr>
            <a:picLocks noChangeAspect="1"/>
          </p:cNvPicPr>
          <p:nvPr/>
        </p:nvPicPr>
        <p:blipFill>
          <a:blip r:embed="rId10"/>
          <a:stretch>
            <a:fillRect/>
          </a:stretch>
        </p:blipFill>
        <p:spPr>
          <a:xfrm>
            <a:off x="8622792" y="2953512"/>
            <a:ext cx="182880" cy="182880"/>
          </a:xfrm>
          <a:prstGeom prst="rect">
            <a:avLst/>
          </a:prstGeom>
        </p:spPr>
      </p:pic>
      <p:sp>
        <p:nvSpPr>
          <p:cNvPr id="44" name="Text 32"/>
          <p:cNvSpPr txBox="1"/>
          <p:nvPr/>
        </p:nvSpPr>
        <p:spPr>
          <a:xfrm>
            <a:off x="8595360" y="2852928"/>
            <a:ext cx="2907792" cy="713232"/>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DocumentEvent</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new or updated, per document</a:t>
            </a:r>
            <a:endParaRPr lang="en-US" sz="1050" dirty="0"/>
          </a:p>
        </p:txBody>
      </p:sp>
      <p:sp>
        <p:nvSpPr>
          <p:cNvPr id="45" name="Shape 33"/>
          <p:cNvSpPr/>
          <p:nvPr/>
        </p:nvSpPr>
        <p:spPr>
          <a:xfrm>
            <a:off x="8503920" y="3840480"/>
            <a:ext cx="3090672" cy="777240"/>
          </a:xfrm>
          <a:prstGeom prst="roundRect">
            <a:avLst>
              <a:gd name="adj" fmla="val 1176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46" name="Image 10" descr="preencoded.png">    </p:cNvPr>
          <p:cNvPicPr>
            <a:picLocks noChangeAspect="1"/>
          </p:cNvPicPr>
          <p:nvPr/>
        </p:nvPicPr>
        <p:blipFill>
          <a:blip r:embed="rId11"/>
          <a:stretch>
            <a:fillRect/>
          </a:stretch>
        </p:blipFill>
        <p:spPr>
          <a:xfrm>
            <a:off x="8622792" y="3941064"/>
            <a:ext cx="182880" cy="182880"/>
          </a:xfrm>
          <a:prstGeom prst="rect">
            <a:avLst/>
          </a:prstGeom>
        </p:spPr>
      </p:pic>
      <p:sp>
        <p:nvSpPr>
          <p:cNvPr id="47" name="Text 34"/>
          <p:cNvSpPr txBox="1"/>
          <p:nvPr/>
        </p:nvSpPr>
        <p:spPr>
          <a:xfrm>
            <a:off x="8595360" y="3840480"/>
            <a:ext cx="2907792"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events.jsonl  +  webhook POST</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polled by the UI and API; the webhook is best-effort</a:t>
            </a:r>
            <a:endParaRPr lang="en-US" sz="1050" dirty="0"/>
          </a:p>
        </p:txBody>
      </p:sp>
      <p:sp>
        <p:nvSpPr>
          <p:cNvPr id="48" name="Shape 35"/>
          <p:cNvSpPr/>
          <p:nvPr/>
        </p:nvSpPr>
        <p:spPr>
          <a:xfrm flipV="1">
            <a:off x="8046720" y="3209544"/>
            <a:ext cx="402336" cy="1014984"/>
          </a:xfrm>
          <a:prstGeom prst="line">
            <a:avLst/>
          </a:prstGeom>
          <a:noFill/>
          <a:ln w="16510">
            <a:solidFill>
              <a:srgbClr val="2F8F48"/>
            </a:solidFill>
            <a:prstDash val="solid"/>
            <a:headEnd type="none"/>
            <a:tailEnd type="triangle"/>
          </a:ln>
        </p:spPr>
      </p:sp>
      <p:sp>
        <p:nvSpPr>
          <p:cNvPr id="49" name="Shape 36"/>
          <p:cNvSpPr/>
          <p:nvPr/>
        </p:nvSpPr>
        <p:spPr>
          <a:xfrm>
            <a:off x="10049256" y="3584448"/>
            <a:ext cx="0" cy="219456"/>
          </a:xfrm>
          <a:prstGeom prst="line">
            <a:avLst/>
          </a:prstGeom>
          <a:noFill/>
          <a:ln w="16510">
            <a:solidFill>
              <a:srgbClr val="2F8F48"/>
            </a:solidFill>
            <a:prstDash val="solid"/>
            <a:headEnd type="none"/>
            <a:tailEnd type="triangle"/>
          </a:ln>
        </p:spPr>
      </p:sp>
      <p:sp>
        <p:nvSpPr>
          <p:cNvPr id="50" name="Shape 37"/>
          <p:cNvSpPr/>
          <p:nvPr/>
        </p:nvSpPr>
        <p:spPr>
          <a:xfrm>
            <a:off x="594360" y="4846320"/>
            <a:ext cx="11000232" cy="384048"/>
          </a:xfrm>
          <a:prstGeom prst="roundRect">
            <a:avLst>
              <a:gd name="adj" fmla="val 9524"/>
            </a:avLst>
          </a:prstGeom>
          <a:solidFill>
            <a:srgbClr val="FCEBCD"/>
          </a:solidFill>
          <a:ln w="15875">
            <a:solidFill>
              <a:srgbClr val="D2932A"/>
            </a:solidFill>
            <a:prstDash val="solid"/>
          </a:ln>
        </p:spPr>
      </p:sp>
      <p:sp>
        <p:nvSpPr>
          <p:cNvPr id="51" name="Text 38"/>
          <p:cNvSpPr txBox="1"/>
          <p:nvPr/>
        </p:nvSpPr>
        <p:spPr>
          <a:xfrm>
            <a:off x="795528" y="4846320"/>
            <a:ext cx="10597896" cy="384048"/>
          </a:xfrm>
          <a:prstGeom prst="rect">
            <a:avLst/>
          </a:prstGeom>
          <a:noFill/>
          <a:ln/>
        </p:spPr>
        <p:txBody>
          <a:bodyPr wrap="square" lIns="0" tIns="0" rIns="0" bIns="0" rtlCol="0" anchor="ctr"/>
          <a:lstStyle/>
          <a:p>
            <a:pPr indent="0" marL="0">
              <a:buNone/>
            </a:pPr>
            <a:r>
              <a:rPr lang="en-US" sz="920" b="1" dirty="0">
                <a:solidFill>
                  <a:srgbClr val="64430A"/>
                </a:solidFill>
                <a:latin typeface="Calibri" pitchFamily="34" charset="0"/>
                <a:ea typeface="Calibri" pitchFamily="34" charset="-122"/>
                <a:cs typeface="Calibri" pitchFamily="34" charset="-120"/>
              </a:rPr>
              <a:t>Guards run on every request:  </a:t>
            </a:r>
            <a:pPr indent="0" marL="0">
              <a:buNone/>
            </a:pPr>
            <a:r>
              <a:rPr lang="en-US" sz="920" dirty="0">
                <a:solidFill>
                  <a:srgbClr val="6B4A05"/>
                </a:solidFill>
                <a:latin typeface="Calibri" pitchFamily="34" charset="0"/>
                <a:ea typeface="Calibri" pitchFamily="34" charset="-122"/>
                <a:cs typeface="Calibri" pitchFamily="34" charset="-120"/>
              </a:rPr>
              <a:t>robots.txt parsed and respected  ·  same-domain only  ·  depth and page caps  ·  SSRF guard as an httpx request hook, so a redirect to an internal address cannot be followed.</a:t>
            </a:r>
            <a:endParaRPr lang="en-US" sz="920" dirty="0"/>
          </a:p>
        </p:txBody>
      </p:sp>
      <p:sp>
        <p:nvSpPr>
          <p:cNvPr id="52" name="Shape 39"/>
          <p:cNvSpPr/>
          <p:nvPr/>
        </p:nvSpPr>
        <p:spPr>
          <a:xfrm>
            <a:off x="594360" y="5349240"/>
            <a:ext cx="3532632" cy="941832"/>
          </a:xfrm>
          <a:prstGeom prst="roundRect">
            <a:avLst>
              <a:gd name="adj" fmla="val 3883"/>
            </a:avLst>
          </a:prstGeom>
          <a:solidFill>
            <a:srgbClr val="F4F7FA"/>
          </a:solidFill>
          <a:ln w="15875">
            <a:solidFill>
              <a:srgbClr val="DDE5ED"/>
            </a:solidFill>
            <a:prstDash val="solid"/>
          </a:ln>
        </p:spPr>
      </p:sp>
      <p:sp>
        <p:nvSpPr>
          <p:cNvPr id="53" name="Text 40"/>
          <p:cNvSpPr txBox="1"/>
          <p:nvPr/>
        </p:nvSpPr>
        <p:spPr>
          <a:xfrm>
            <a:off x="758952" y="5449824"/>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54" name="Text 41"/>
          <p:cNvSpPr txBox="1"/>
          <p:nvPr/>
        </p:nvSpPr>
        <p:spPr>
          <a:xfrm>
            <a:off x="758952" y="5669280"/>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arp/discovery/{pipeline,site_finder,crawler}.py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arp/discovery/{downloader,change_detector,scheduler}.py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arp/net_safety.py · arp/ingestion/{registry,parsing}.py</a:t>
            </a:r>
            <a:endParaRPr lang="en-US" sz="860" dirty="0"/>
          </a:p>
        </p:txBody>
      </p:sp>
      <p:sp>
        <p:nvSpPr>
          <p:cNvPr id="55" name="Shape 42"/>
          <p:cNvSpPr/>
          <p:nvPr/>
        </p:nvSpPr>
        <p:spPr>
          <a:xfrm>
            <a:off x="4328160" y="5349240"/>
            <a:ext cx="3532632" cy="941832"/>
          </a:xfrm>
          <a:prstGeom prst="roundRect">
            <a:avLst>
              <a:gd name="adj" fmla="val 3883"/>
            </a:avLst>
          </a:prstGeom>
          <a:solidFill>
            <a:srgbClr val="F4F7FA"/>
          </a:solidFill>
          <a:ln w="15875">
            <a:solidFill>
              <a:srgbClr val="DDE5ED"/>
            </a:solidFill>
            <a:prstDash val="solid"/>
          </a:ln>
        </p:spPr>
      </p:sp>
      <p:sp>
        <p:nvSpPr>
          <p:cNvPr id="56" name="Text 43"/>
          <p:cNvSpPr txBox="1"/>
          <p:nvPr/>
        </p:nvSpPr>
        <p:spPr>
          <a:xfrm>
            <a:off x="4492752" y="5449824"/>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7" name="Text 44"/>
          <p:cNvSpPr txBox="1"/>
          <p:nvPr/>
        </p:nvSpPr>
        <p:spPr>
          <a:xfrm>
            <a:off x="4492752" y="5669280"/>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company universe (ideally with website),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optional document-type filter.</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DiscoveryCompanyResult, files on disk, an event feed.</a:t>
            </a:r>
            <a:endParaRPr lang="en-US" sz="860" dirty="0"/>
          </a:p>
        </p:txBody>
      </p:sp>
      <p:sp>
        <p:nvSpPr>
          <p:cNvPr id="58" name="Shape 45"/>
          <p:cNvSpPr/>
          <p:nvPr/>
        </p:nvSpPr>
        <p:spPr>
          <a:xfrm>
            <a:off x="8061960" y="5349240"/>
            <a:ext cx="3532632" cy="941832"/>
          </a:xfrm>
          <a:prstGeom prst="roundRect">
            <a:avLst>
              <a:gd name="adj" fmla="val 3883"/>
            </a:avLst>
          </a:prstGeom>
          <a:solidFill>
            <a:srgbClr val="F4F7FA"/>
          </a:solidFill>
          <a:ln w="15875">
            <a:solidFill>
              <a:srgbClr val="DDE5ED"/>
            </a:solidFill>
            <a:prstDash val="solid"/>
          </a:ln>
        </p:spPr>
      </p:sp>
      <p:sp>
        <p:nvSpPr>
          <p:cNvPr id="59" name="Text 46"/>
          <p:cNvSpPr txBox="1"/>
          <p:nvPr/>
        </p:nvSpPr>
        <p:spPr>
          <a:xfrm>
            <a:off x="8226552" y="5449824"/>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60" name="Text 47"/>
          <p:cNvSpPr txBox="1"/>
          <p:nvPr/>
        </p:nvSpPr>
        <p:spPr>
          <a:xfrm>
            <a:off x="8226552" y="5669280"/>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An unreachable homepage is a status, never a silent zero.</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Deep-link failures are expected and stay silent skips.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The search backend is an interface a paid API can replace.</a:t>
            </a:r>
            <a:endParaRPr lang="en-US" sz="8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06   ·   COMPANY IDENTITY RESOLUTION</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Which company is this?</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A name on a list is not an identity. This resolves it — cheaply where it can, carefully where it cannot.</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594360" y="1463040"/>
            <a:ext cx="6949440" cy="201168"/>
          </a:xfrm>
          <a:prstGeom prst="rect">
            <a:avLst/>
          </a:prstGeom>
          <a:noFill/>
          <a:ln/>
        </p:spPr>
        <p:txBody>
          <a:bodyPr wrap="square" lIns="0" tIns="0" rIns="0" bIns="0" rtlCol="0" anchor="ctr"/>
          <a:lstStyle/>
          <a:p>
            <a:pPr algn="ctr" indent="0" marL="0">
              <a:buNone/>
            </a:pPr>
            <a:r>
              <a:rPr lang="en-US" sz="900" b="1" spc="140" kern="0" dirty="0">
                <a:solidFill>
                  <a:srgbClr val="108494"/>
                </a:solidFill>
                <a:latin typeface="Calibri" pitchFamily="34" charset="0"/>
                <a:ea typeface="Calibri" pitchFamily="34" charset="-122"/>
                <a:cs typeface="Calibri" pitchFamily="34" charset="-120"/>
              </a:rPr>
              <a:t>THE CHEAP PATHS, TAKEN FIRST — MOST COMPANIES NEVER REACH A MODEL CALL</a:t>
            </a:r>
            <a:endParaRPr lang="en-US" sz="900" dirty="0"/>
          </a:p>
        </p:txBody>
      </p:sp>
      <p:sp>
        <p:nvSpPr>
          <p:cNvPr id="8" name="Shape 5"/>
          <p:cNvSpPr/>
          <p:nvPr/>
        </p:nvSpPr>
        <p:spPr>
          <a:xfrm>
            <a:off x="594360" y="2331720"/>
            <a:ext cx="1737360" cy="731520"/>
          </a:xfrm>
          <a:prstGeom prst="roundRect">
            <a:avLst>
              <a:gd name="adj" fmla="val 12500"/>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pic>
        <p:nvPicPr>
          <p:cNvPr id="9" name="Image 1" descr="preencoded.png">    </p:cNvPr>
          <p:cNvPicPr>
            <a:picLocks noChangeAspect="1"/>
          </p:cNvPicPr>
          <p:nvPr/>
        </p:nvPicPr>
        <p:blipFill>
          <a:blip r:embed="rId2"/>
          <a:stretch>
            <a:fillRect/>
          </a:stretch>
        </p:blipFill>
        <p:spPr>
          <a:xfrm>
            <a:off x="713232" y="2432304"/>
            <a:ext cx="182880" cy="182880"/>
          </a:xfrm>
          <a:prstGeom prst="rect">
            <a:avLst/>
          </a:prstGeom>
        </p:spPr>
      </p:pic>
      <p:sp>
        <p:nvSpPr>
          <p:cNvPr id="10" name="Text 6"/>
          <p:cNvSpPr txBox="1"/>
          <p:nvPr/>
        </p:nvSpPr>
        <p:spPr>
          <a:xfrm>
            <a:off x="685800" y="2331720"/>
            <a:ext cx="1554480" cy="731520"/>
          </a:xfrm>
          <a:prstGeom prst="rect">
            <a:avLst/>
          </a:prstGeom>
          <a:noFill/>
          <a:ln/>
        </p:spPr>
        <p:txBody>
          <a:bodyPr wrap="square" lIns="0" tIns="0" rIns="0" bIns="0" rtlCol="0" anchor="ctr"/>
          <a:lstStyle/>
          <a:p>
            <a:pPr algn="ctr" indent="0" marL="0">
              <a:lnSpc>
                <a:spcPct val="104000"/>
              </a:lnSpc>
              <a:buNone/>
            </a:pPr>
            <a:r>
              <a:rPr lang="en-US" sz="1000" b="1" dirty="0">
                <a:solidFill>
                  <a:srgbClr val="24354A"/>
                </a:solidFill>
                <a:latin typeface="Calibri" pitchFamily="34" charset="0"/>
                <a:ea typeface="Calibri" pitchFamily="34" charset="-122"/>
                <a:cs typeface="Calibri" pitchFamily="34" charset="-120"/>
              </a:rPr>
              <a:t>A row in the universe</a:t>
            </a:r>
            <a:endParaRPr lang="en-US" sz="1000" dirty="0"/>
          </a:p>
          <a:p>
            <a:pPr algn="ctr" indent="0" marL="0">
              <a:lnSpc>
                <a:spcPct val="104000"/>
              </a:lnSpc>
              <a:buNone/>
            </a:pPr>
            <a:r>
              <a:rPr lang="en-US" sz="800" dirty="0">
                <a:solidFill>
                  <a:srgbClr val="24354A"/>
                </a:solidFill>
                <a:latin typeface="Calibri" pitchFamily="34" charset="0"/>
                <a:ea typeface="Calibri" pitchFamily="34" charset="-122"/>
                <a:cs typeface="Calibri" pitchFamily="34" charset="-120"/>
              </a:rPr>
              <a:t>name, maybe a ticker</a:t>
            </a:r>
            <a:endParaRPr lang="en-US" sz="1000" dirty="0"/>
          </a:p>
        </p:txBody>
      </p:sp>
      <p:sp>
        <p:nvSpPr>
          <p:cNvPr id="11" name="Shape 7"/>
          <p:cNvSpPr/>
          <p:nvPr/>
        </p:nvSpPr>
        <p:spPr>
          <a:xfrm>
            <a:off x="2697480" y="2240280"/>
            <a:ext cx="2103120" cy="914400"/>
          </a:xfrm>
          <a:prstGeom prst="diamond">
            <a:avLst/>
          </a:prstGeom>
          <a:solidFill>
            <a:srgbClr val="FCEDD4"/>
          </a:solidFill>
          <a:ln w="15875">
            <a:solidFill>
              <a:srgbClr val="C9871B"/>
            </a:solidFill>
            <a:prstDash val="solid"/>
          </a:ln>
        </p:spPr>
      </p:sp>
      <p:sp>
        <p:nvSpPr>
          <p:cNvPr id="12" name="Text 8"/>
          <p:cNvSpPr txBox="1"/>
          <p:nvPr/>
        </p:nvSpPr>
        <p:spPr>
          <a:xfrm>
            <a:off x="2788920" y="2240280"/>
            <a:ext cx="1920240" cy="914400"/>
          </a:xfrm>
          <a:prstGeom prst="rect">
            <a:avLst/>
          </a:prstGeom>
          <a:noFill/>
          <a:ln/>
        </p:spPr>
        <p:txBody>
          <a:bodyPr wrap="square" lIns="0" tIns="0" rIns="0" bIns="0" rtlCol="0" anchor="ctr"/>
          <a:lstStyle/>
          <a:p>
            <a:pPr algn="ctr" indent="0" marL="0">
              <a:lnSpc>
                <a:spcPct val="104000"/>
              </a:lnSpc>
              <a:buNone/>
            </a:pPr>
            <a:r>
              <a:rPr lang="en-US" sz="950" b="1" dirty="0">
                <a:solidFill>
                  <a:srgbClr val="64430A"/>
                </a:solidFill>
                <a:latin typeface="Calibri" pitchFamily="34" charset="0"/>
                <a:ea typeface="Calibri" pitchFamily="34" charset="-122"/>
                <a:cs typeface="Calibri" pitchFamily="34" charset="-120"/>
              </a:rPr>
              <a:t>CIK or website supplied?</a:t>
            </a:r>
            <a:endParaRPr lang="en-US" sz="950" dirty="0"/>
          </a:p>
        </p:txBody>
      </p:sp>
      <p:sp>
        <p:nvSpPr>
          <p:cNvPr id="13" name="Shape 9"/>
          <p:cNvSpPr/>
          <p:nvPr/>
        </p:nvSpPr>
        <p:spPr>
          <a:xfrm>
            <a:off x="5166360" y="2240280"/>
            <a:ext cx="2103120" cy="914400"/>
          </a:xfrm>
          <a:prstGeom prst="diamond">
            <a:avLst/>
          </a:prstGeom>
          <a:solidFill>
            <a:srgbClr val="FCEDD4"/>
          </a:solidFill>
          <a:ln w="15875">
            <a:solidFill>
              <a:srgbClr val="C9871B"/>
            </a:solidFill>
            <a:prstDash val="solid"/>
          </a:ln>
        </p:spPr>
      </p:sp>
      <p:sp>
        <p:nvSpPr>
          <p:cNvPr id="14" name="Text 10"/>
          <p:cNvSpPr txBox="1"/>
          <p:nvPr/>
        </p:nvSpPr>
        <p:spPr>
          <a:xfrm>
            <a:off x="5257800" y="2240280"/>
            <a:ext cx="1920240" cy="914400"/>
          </a:xfrm>
          <a:prstGeom prst="rect">
            <a:avLst/>
          </a:prstGeom>
          <a:noFill/>
          <a:ln/>
        </p:spPr>
        <p:txBody>
          <a:bodyPr wrap="square" lIns="0" tIns="0" rIns="0" bIns="0" rtlCol="0" anchor="ctr"/>
          <a:lstStyle/>
          <a:p>
            <a:pPr algn="ctr" indent="0" marL="0">
              <a:lnSpc>
                <a:spcPct val="104000"/>
              </a:lnSpc>
              <a:buNone/>
            </a:pPr>
            <a:r>
              <a:rPr lang="en-US" sz="950" b="1" dirty="0">
                <a:solidFill>
                  <a:srgbClr val="64430A"/>
                </a:solidFill>
                <a:latin typeface="Calibri" pitchFamily="34" charset="0"/>
                <a:ea typeface="Calibri" pitchFamily="34" charset="-122"/>
                <a:cs typeface="Calibri" pitchFamily="34" charset="-120"/>
              </a:rPr>
              <a:t>one clean EDGAR match?</a:t>
            </a:r>
            <a:endParaRPr lang="en-US" sz="950" dirty="0"/>
          </a:p>
        </p:txBody>
      </p:sp>
      <p:sp>
        <p:nvSpPr>
          <p:cNvPr id="15" name="Shape 11"/>
          <p:cNvSpPr/>
          <p:nvPr/>
        </p:nvSpPr>
        <p:spPr>
          <a:xfrm>
            <a:off x="2377440" y="2697480"/>
            <a:ext cx="274320" cy="0"/>
          </a:xfrm>
          <a:prstGeom prst="line">
            <a:avLst/>
          </a:prstGeom>
          <a:noFill/>
          <a:ln w="17780">
            <a:solidFill>
              <a:srgbClr val="64798F"/>
            </a:solidFill>
            <a:prstDash val="solid"/>
            <a:headEnd type="none"/>
            <a:tailEnd type="triangle"/>
          </a:ln>
        </p:spPr>
      </p:sp>
      <p:sp>
        <p:nvSpPr>
          <p:cNvPr id="16" name="Shape 12"/>
          <p:cNvSpPr/>
          <p:nvPr/>
        </p:nvSpPr>
        <p:spPr>
          <a:xfrm>
            <a:off x="4828032" y="2697480"/>
            <a:ext cx="292608" cy="0"/>
          </a:xfrm>
          <a:prstGeom prst="line">
            <a:avLst/>
          </a:prstGeom>
          <a:noFill/>
          <a:ln w="17780">
            <a:solidFill>
              <a:srgbClr val="64798F"/>
            </a:solidFill>
            <a:prstDash val="solid"/>
            <a:headEnd type="none"/>
            <a:tailEnd type="triangle"/>
          </a:ln>
        </p:spPr>
      </p:sp>
      <p:sp>
        <p:nvSpPr>
          <p:cNvPr id="17" name="Text 13"/>
          <p:cNvSpPr txBox="1"/>
          <p:nvPr/>
        </p:nvSpPr>
        <p:spPr>
          <a:xfrm>
            <a:off x="4069080" y="2468880"/>
            <a:ext cx="1005840" cy="182880"/>
          </a:xfrm>
          <a:prstGeom prst="rect">
            <a:avLst/>
          </a:prstGeom>
          <a:noFill/>
          <a:ln/>
        </p:spPr>
        <p:txBody>
          <a:bodyPr wrap="square" lIns="0" tIns="0" rIns="0" bIns="0" rtlCol="0" anchor="ctr"/>
          <a:lstStyle/>
          <a:p>
            <a:pPr algn="ctr" indent="0" marL="0">
              <a:buNone/>
            </a:pPr>
            <a:r>
              <a:rPr lang="en-US" sz="800" i="1" dirty="0">
                <a:solidFill>
                  <a:srgbClr val="58697A"/>
                </a:solidFill>
                <a:latin typeface="Calibri" pitchFamily="34" charset="0"/>
                <a:ea typeface="Calibri" pitchFamily="34" charset="-122"/>
                <a:cs typeface="Calibri" pitchFamily="34" charset="-120"/>
              </a:rPr>
              <a:t>no</a:t>
            </a:r>
            <a:endParaRPr lang="en-US" sz="800" dirty="0"/>
          </a:p>
        </p:txBody>
      </p:sp>
      <p:sp>
        <p:nvSpPr>
          <p:cNvPr id="18" name="Text 14"/>
          <p:cNvSpPr txBox="1"/>
          <p:nvPr/>
        </p:nvSpPr>
        <p:spPr>
          <a:xfrm>
            <a:off x="6537960" y="2468880"/>
            <a:ext cx="1005840" cy="182880"/>
          </a:xfrm>
          <a:prstGeom prst="rect">
            <a:avLst/>
          </a:prstGeom>
          <a:noFill/>
          <a:ln/>
        </p:spPr>
        <p:txBody>
          <a:bodyPr wrap="square" lIns="0" tIns="0" rIns="0" bIns="0" rtlCol="0" anchor="ctr"/>
          <a:lstStyle/>
          <a:p>
            <a:pPr algn="ctr" indent="0" marL="0">
              <a:buNone/>
            </a:pPr>
            <a:r>
              <a:rPr lang="en-US" sz="800" i="1" dirty="0">
                <a:solidFill>
                  <a:srgbClr val="58697A"/>
                </a:solidFill>
                <a:latin typeface="Calibri" pitchFamily="34" charset="0"/>
                <a:ea typeface="Calibri" pitchFamily="34" charset="-122"/>
                <a:cs typeface="Calibri" pitchFamily="34" charset="-120"/>
              </a:rPr>
              <a:t>no</a:t>
            </a:r>
            <a:endParaRPr lang="en-US" sz="800" dirty="0"/>
          </a:p>
        </p:txBody>
      </p:sp>
      <p:sp>
        <p:nvSpPr>
          <p:cNvPr id="19" name="Text 15"/>
          <p:cNvSpPr txBox="1"/>
          <p:nvPr/>
        </p:nvSpPr>
        <p:spPr>
          <a:xfrm>
            <a:off x="2697480" y="4206240"/>
            <a:ext cx="2103120" cy="402336"/>
          </a:xfrm>
          <a:prstGeom prst="rect">
            <a:avLst/>
          </a:prstGeom>
          <a:noFill/>
          <a:ln/>
        </p:spPr>
        <p:txBody>
          <a:bodyPr wrap="square" lIns="0" tIns="0" rIns="0" bIns="0" rtlCol="0" anchor="ctr"/>
          <a:lstStyle/>
          <a:p>
            <a:pPr algn="ctr" indent="0" marL="0">
              <a:buNone/>
            </a:pPr>
            <a:r>
              <a:rPr lang="en-US" sz="800" dirty="0">
                <a:solidFill>
                  <a:srgbClr val="58697A"/>
                </a:solidFill>
                <a:latin typeface="Calibri" pitchFamily="34" charset="0"/>
                <a:ea typeface="Calibri" pitchFamily="34" charset="-122"/>
                <a:cs typeface="Calibri" pitchFamily="34" charset="-120"/>
              </a:rPr>
              <a:t>a supplied identity is an identity — no search, no call</a:t>
            </a:r>
            <a:endParaRPr lang="en-US" sz="800" dirty="0"/>
          </a:p>
        </p:txBody>
      </p:sp>
      <p:sp>
        <p:nvSpPr>
          <p:cNvPr id="20" name="Text 16"/>
          <p:cNvSpPr txBox="1"/>
          <p:nvPr/>
        </p:nvSpPr>
        <p:spPr>
          <a:xfrm>
            <a:off x="5166360" y="4206240"/>
            <a:ext cx="2103120" cy="402336"/>
          </a:xfrm>
          <a:prstGeom prst="rect">
            <a:avLst/>
          </a:prstGeom>
          <a:noFill/>
          <a:ln/>
        </p:spPr>
        <p:txBody>
          <a:bodyPr wrap="square" lIns="0" tIns="0" rIns="0" bIns="0" rtlCol="0" anchor="ctr"/>
          <a:lstStyle/>
          <a:p>
            <a:pPr algn="ctr" indent="0" marL="0">
              <a:buNone/>
            </a:pPr>
            <a:r>
              <a:rPr lang="en-US" sz="800" dirty="0">
                <a:solidFill>
                  <a:srgbClr val="58697A"/>
                </a:solidFill>
                <a:latin typeface="Calibri" pitchFamily="34" charset="0"/>
                <a:ea typeface="Calibri" pitchFamily="34" charset="-122"/>
                <a:cs typeface="Calibri" pitchFamily="34" charset="-120"/>
              </a:rPr>
              <a:t>EDGAR's own fuzzy name search settles the common case</a:t>
            </a:r>
            <a:endParaRPr lang="en-US" sz="800" dirty="0"/>
          </a:p>
        </p:txBody>
      </p:sp>
      <p:sp>
        <p:nvSpPr>
          <p:cNvPr id="21" name="Shape 17"/>
          <p:cNvSpPr/>
          <p:nvPr/>
        </p:nvSpPr>
        <p:spPr>
          <a:xfrm>
            <a:off x="7635240" y="2103120"/>
            <a:ext cx="3959352" cy="868680"/>
          </a:xfrm>
          <a:prstGeom prst="roundRect">
            <a:avLst>
              <a:gd name="adj" fmla="val 10526"/>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22" name="Shape 18"/>
          <p:cNvSpPr/>
          <p:nvPr/>
        </p:nvSpPr>
        <p:spPr>
          <a:xfrm>
            <a:off x="7772400" y="2345436"/>
            <a:ext cx="384048" cy="384048"/>
          </a:xfrm>
          <a:prstGeom prst="roundRect">
            <a:avLst>
              <a:gd name="adj" fmla="val 23810"/>
            </a:avLst>
          </a:prstGeom>
          <a:solidFill>
            <a:srgbClr val="6D4DD1"/>
          </a:solidFill>
          <a:ln/>
        </p:spPr>
      </p:sp>
      <p:pic>
        <p:nvPicPr>
          <p:cNvPr id="23" name="Image 2" descr="preencoded.png">    </p:cNvPr>
          <p:cNvPicPr>
            <a:picLocks noChangeAspect="1"/>
          </p:cNvPicPr>
          <p:nvPr/>
        </p:nvPicPr>
        <p:blipFill>
          <a:blip r:embed="rId3"/>
          <a:stretch>
            <a:fillRect/>
          </a:stretch>
        </p:blipFill>
        <p:spPr>
          <a:xfrm>
            <a:off x="7856891" y="2429927"/>
            <a:ext cx="215067" cy="215067"/>
          </a:xfrm>
          <a:prstGeom prst="rect">
            <a:avLst/>
          </a:prstGeom>
        </p:spPr>
      </p:pic>
      <p:sp>
        <p:nvSpPr>
          <p:cNvPr id="24" name="Text 19"/>
          <p:cNvSpPr txBox="1"/>
          <p:nvPr/>
        </p:nvSpPr>
        <p:spPr>
          <a:xfrm>
            <a:off x="8293608" y="2103120"/>
            <a:ext cx="3191256" cy="868680"/>
          </a:xfrm>
          <a:prstGeom prst="rect">
            <a:avLst/>
          </a:prstGeom>
          <a:noFill/>
          <a:ln/>
        </p:spPr>
        <p:txBody>
          <a:bodyPr wrap="square" lIns="0" tIns="0" rIns="0" bIns="0" rtlCol="0" anchor="ctr"/>
          <a:lstStyle/>
          <a:p>
            <a:pPr algn="l" indent="0" marL="0">
              <a:lnSpc>
                <a:spcPct val="104000"/>
              </a:lnSpc>
              <a:buNone/>
            </a:pPr>
            <a:r>
              <a:rPr lang="en-US" sz="700" b="1" spc="110" kern="0" dirty="0">
                <a:solidFill>
                  <a:srgbClr val="6D4DD1"/>
                </a:solidFill>
                <a:latin typeface="Calibri" pitchFamily="34" charset="0"/>
                <a:ea typeface="Calibri" pitchFamily="34" charset="-122"/>
                <a:cs typeface="Calibri" pitchFamily="34" charset="-120"/>
              </a:rPr>
              <a:t>ONE CALL, ONLY HERE</a:t>
            </a:r>
            <a:endParaRPr lang="en-US" sz="700" dirty="0"/>
          </a:p>
          <a:p>
            <a:pPr algn="l" indent="0" marL="0">
              <a:lnSpc>
                <a:spcPct val="104000"/>
              </a:lnSpc>
              <a:buNone/>
            </a:pPr>
            <a:r>
              <a:rPr lang="en-US" sz="1100" b="1" dirty="0">
                <a:solidFill>
                  <a:srgbClr val="35236E"/>
                </a:solidFill>
                <a:latin typeface="Calibri" pitchFamily="34" charset="0"/>
                <a:ea typeface="Calibri" pitchFamily="34" charset="-122"/>
                <a:cs typeface="Calibri" pitchFamily="34" charset="-120"/>
              </a:rPr>
              <a:t>Adjudication over real signals</a:t>
            </a:r>
            <a:endParaRPr lang="en-US" sz="70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EDGAR candidates + web hits; website and CIK must be copied verbatim, never composed</a:t>
            </a:r>
            <a:endParaRPr lang="en-US" sz="700" dirty="0"/>
          </a:p>
        </p:txBody>
      </p:sp>
      <p:sp>
        <p:nvSpPr>
          <p:cNvPr id="25" name="Shape 20"/>
          <p:cNvSpPr/>
          <p:nvPr/>
        </p:nvSpPr>
        <p:spPr>
          <a:xfrm flipV="1">
            <a:off x="7296912" y="2560320"/>
            <a:ext cx="283464" cy="137160"/>
          </a:xfrm>
          <a:prstGeom prst="line">
            <a:avLst/>
          </a:prstGeom>
          <a:noFill/>
          <a:ln w="17780">
            <a:solidFill>
              <a:srgbClr val="6D4DD1"/>
            </a:solidFill>
            <a:prstDash val="solid"/>
            <a:headEnd type="none"/>
            <a:tailEnd type="triangle"/>
          </a:ln>
        </p:spPr>
      </p:sp>
      <p:sp>
        <p:nvSpPr>
          <p:cNvPr id="26" name="Shape 21"/>
          <p:cNvSpPr/>
          <p:nvPr/>
        </p:nvSpPr>
        <p:spPr>
          <a:xfrm>
            <a:off x="7635240" y="3154680"/>
            <a:ext cx="3959352" cy="640080"/>
          </a:xfrm>
          <a:prstGeom prst="roundRect">
            <a:avLst>
              <a:gd name="adj" fmla="val 14286"/>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27" name="Shape 22"/>
          <p:cNvSpPr/>
          <p:nvPr/>
        </p:nvSpPr>
        <p:spPr>
          <a:xfrm>
            <a:off x="7772400" y="3282696"/>
            <a:ext cx="384048" cy="384048"/>
          </a:xfrm>
          <a:prstGeom prst="roundRect">
            <a:avLst>
              <a:gd name="adj" fmla="val 23810"/>
            </a:avLst>
          </a:prstGeom>
          <a:solidFill>
            <a:srgbClr val="C9871B"/>
          </a:solidFill>
          <a:ln/>
        </p:spPr>
      </p:sp>
      <p:pic>
        <p:nvPicPr>
          <p:cNvPr id="28" name="Image 3" descr="preencoded.png">    </p:cNvPr>
          <p:cNvPicPr>
            <a:picLocks noChangeAspect="1"/>
          </p:cNvPicPr>
          <p:nvPr/>
        </p:nvPicPr>
        <p:blipFill>
          <a:blip r:embed="rId4"/>
          <a:stretch>
            <a:fillRect/>
          </a:stretch>
        </p:blipFill>
        <p:spPr>
          <a:xfrm>
            <a:off x="7856891" y="3367187"/>
            <a:ext cx="215067" cy="215067"/>
          </a:xfrm>
          <a:prstGeom prst="rect">
            <a:avLst/>
          </a:prstGeom>
        </p:spPr>
      </p:pic>
      <p:sp>
        <p:nvSpPr>
          <p:cNvPr id="29" name="Text 23"/>
          <p:cNvSpPr txBox="1"/>
          <p:nvPr/>
        </p:nvSpPr>
        <p:spPr>
          <a:xfrm>
            <a:off x="8293608" y="3154680"/>
            <a:ext cx="3191256" cy="640080"/>
          </a:xfrm>
          <a:prstGeom prst="rect">
            <a:avLst/>
          </a:prstGeom>
          <a:noFill/>
          <a:ln/>
        </p:spPr>
        <p:txBody>
          <a:bodyPr wrap="square" lIns="0" tIns="0" rIns="0" bIns="0" rtlCol="0" anchor="ctr"/>
          <a:lstStyle/>
          <a:p>
            <a:pPr algn="l" indent="0" marL="0">
              <a:lnSpc>
                <a:spcPct val="104000"/>
              </a:lnSpc>
              <a:buNone/>
            </a:pPr>
            <a:r>
              <a:rPr lang="en-US" sz="1000" b="1" dirty="0">
                <a:solidFill>
                  <a:srgbClr val="64430A"/>
                </a:solidFill>
                <a:latin typeface="Calibri" pitchFamily="34" charset="0"/>
                <a:ea typeface="Calibri" pitchFamily="34" charset="-122"/>
                <a:cs typeface="Calibri" pitchFamily="34" charset="-120"/>
              </a:rPr>
              <a:t>Then checked in code against those signals</a:t>
            </a:r>
            <a:endParaRPr lang="en-US" sz="1000" dirty="0"/>
          </a:p>
          <a:p>
            <a:pPr algn="l" indent="0" marL="0">
              <a:lnSpc>
                <a:spcPct val="104000"/>
              </a:lnSpc>
              <a:buNone/>
            </a:pPr>
            <a:r>
              <a:rPr lang="en-US" sz="800" dirty="0">
                <a:solidFill>
                  <a:srgbClr val="64430A"/>
                </a:solidFill>
                <a:latin typeface="Calibri" pitchFamily="34" charset="0"/>
                <a:ea typeface="Calibri" pitchFamily="34" charset="-122"/>
                <a:cs typeface="Calibri" pitchFamily="34" charset="-120"/>
              </a:rPr>
              <a:t>there is no quote to ground, so the claim itself is verified</a:t>
            </a:r>
            <a:endParaRPr lang="en-US" sz="1000" dirty="0"/>
          </a:p>
        </p:txBody>
      </p:sp>
      <p:sp>
        <p:nvSpPr>
          <p:cNvPr id="30" name="Shape 24"/>
          <p:cNvSpPr/>
          <p:nvPr/>
        </p:nvSpPr>
        <p:spPr>
          <a:xfrm>
            <a:off x="9601200" y="2999232"/>
            <a:ext cx="0" cy="118872"/>
          </a:xfrm>
          <a:prstGeom prst="line">
            <a:avLst/>
          </a:prstGeom>
          <a:noFill/>
          <a:ln w="16510">
            <a:solidFill>
              <a:srgbClr val="64798F"/>
            </a:solidFill>
            <a:prstDash val="solid"/>
            <a:headEnd type="none"/>
            <a:tailEnd type="triangle"/>
          </a:ln>
        </p:spPr>
      </p:sp>
      <p:sp>
        <p:nvSpPr>
          <p:cNvPr id="31" name="Shape 25"/>
          <p:cNvSpPr/>
          <p:nvPr/>
        </p:nvSpPr>
        <p:spPr>
          <a:xfrm>
            <a:off x="2697480" y="3703320"/>
            <a:ext cx="2103120" cy="457200"/>
          </a:xfrm>
          <a:prstGeom prst="roundRect">
            <a:avLst>
              <a:gd name="adj" fmla="val 20000"/>
            </a:avLst>
          </a:prstGeom>
          <a:solidFill>
            <a:srgbClr val="E0F3E3"/>
          </a:solidFill>
          <a:ln w="15875">
            <a:solidFill>
              <a:srgbClr val="2F8F48"/>
            </a:solidFill>
            <a:prstDash val="solid"/>
          </a:ln>
        </p:spPr>
      </p:sp>
      <p:sp>
        <p:nvSpPr>
          <p:cNvPr id="32" name="Text 26"/>
          <p:cNvSpPr txBox="1"/>
          <p:nvPr/>
        </p:nvSpPr>
        <p:spPr>
          <a:xfrm>
            <a:off x="2788920" y="3703320"/>
            <a:ext cx="1920240" cy="457200"/>
          </a:xfrm>
          <a:prstGeom prst="rect">
            <a:avLst/>
          </a:prstGeom>
          <a:noFill/>
          <a:ln/>
        </p:spPr>
        <p:txBody>
          <a:bodyPr wrap="square" lIns="0" tIns="0" rIns="0" bIns="0" rtlCol="0" anchor="ctr"/>
          <a:lstStyle/>
          <a:p>
            <a:pPr algn="ctr" indent="0" marL="0">
              <a:lnSpc>
                <a:spcPct val="104000"/>
              </a:lnSpc>
              <a:buNone/>
            </a:pPr>
            <a:r>
              <a:rPr lang="en-US" sz="950" b="1" dirty="0">
                <a:solidFill>
                  <a:srgbClr val="17431F"/>
                </a:solidFill>
                <a:latin typeface="Calibri" pitchFamily="34" charset="0"/>
                <a:ea typeface="Calibri" pitchFamily="34" charset="-122"/>
                <a:cs typeface="Calibri" pitchFamily="34" charset="-120"/>
              </a:rPr>
              <a:t>Resolved — 0 LLM calls</a:t>
            </a:r>
            <a:endParaRPr lang="en-US" sz="950" dirty="0"/>
          </a:p>
        </p:txBody>
      </p:sp>
      <p:sp>
        <p:nvSpPr>
          <p:cNvPr id="33" name="Shape 27"/>
          <p:cNvSpPr/>
          <p:nvPr/>
        </p:nvSpPr>
        <p:spPr>
          <a:xfrm>
            <a:off x="3749040" y="3200400"/>
            <a:ext cx="0" cy="466344"/>
          </a:xfrm>
          <a:prstGeom prst="line">
            <a:avLst/>
          </a:prstGeom>
          <a:noFill/>
          <a:ln w="16510">
            <a:solidFill>
              <a:srgbClr val="2F8F48"/>
            </a:solidFill>
            <a:prstDash val="solid"/>
            <a:headEnd type="none"/>
            <a:tailEnd type="triangle"/>
          </a:ln>
        </p:spPr>
      </p:sp>
      <p:sp>
        <p:nvSpPr>
          <p:cNvPr id="34" name="Shape 28"/>
          <p:cNvSpPr/>
          <p:nvPr/>
        </p:nvSpPr>
        <p:spPr>
          <a:xfrm>
            <a:off x="5166360" y="3703320"/>
            <a:ext cx="2103120" cy="457200"/>
          </a:xfrm>
          <a:prstGeom prst="roundRect">
            <a:avLst>
              <a:gd name="adj" fmla="val 20000"/>
            </a:avLst>
          </a:prstGeom>
          <a:solidFill>
            <a:srgbClr val="E0F3E3"/>
          </a:solidFill>
          <a:ln w="15875">
            <a:solidFill>
              <a:srgbClr val="2F8F48"/>
            </a:solidFill>
            <a:prstDash val="solid"/>
          </a:ln>
        </p:spPr>
      </p:sp>
      <p:sp>
        <p:nvSpPr>
          <p:cNvPr id="35" name="Text 29"/>
          <p:cNvSpPr txBox="1"/>
          <p:nvPr/>
        </p:nvSpPr>
        <p:spPr>
          <a:xfrm>
            <a:off x="5257800" y="3703320"/>
            <a:ext cx="1920240" cy="457200"/>
          </a:xfrm>
          <a:prstGeom prst="rect">
            <a:avLst/>
          </a:prstGeom>
          <a:noFill/>
          <a:ln/>
        </p:spPr>
        <p:txBody>
          <a:bodyPr wrap="square" lIns="0" tIns="0" rIns="0" bIns="0" rtlCol="0" anchor="ctr"/>
          <a:lstStyle/>
          <a:p>
            <a:pPr algn="ctr" indent="0" marL="0">
              <a:lnSpc>
                <a:spcPct val="104000"/>
              </a:lnSpc>
              <a:buNone/>
            </a:pPr>
            <a:r>
              <a:rPr lang="en-US" sz="950" b="1" dirty="0">
                <a:solidFill>
                  <a:srgbClr val="17431F"/>
                </a:solidFill>
                <a:latin typeface="Calibri" pitchFamily="34" charset="0"/>
                <a:ea typeface="Calibri" pitchFamily="34" charset="-122"/>
                <a:cs typeface="Calibri" pitchFamily="34" charset="-120"/>
              </a:rPr>
              <a:t>Resolved — 0 LLM calls</a:t>
            </a:r>
            <a:endParaRPr lang="en-US" sz="950" dirty="0"/>
          </a:p>
        </p:txBody>
      </p:sp>
      <p:sp>
        <p:nvSpPr>
          <p:cNvPr id="36" name="Shape 30"/>
          <p:cNvSpPr/>
          <p:nvPr/>
        </p:nvSpPr>
        <p:spPr>
          <a:xfrm>
            <a:off x="6217920" y="3200400"/>
            <a:ext cx="0" cy="466344"/>
          </a:xfrm>
          <a:prstGeom prst="line">
            <a:avLst/>
          </a:prstGeom>
          <a:noFill/>
          <a:ln w="16510">
            <a:solidFill>
              <a:srgbClr val="2F8F48"/>
            </a:solidFill>
            <a:prstDash val="solid"/>
            <a:headEnd type="none"/>
            <a:tailEnd type="triangle"/>
          </a:ln>
        </p:spPr>
      </p:sp>
      <p:sp>
        <p:nvSpPr>
          <p:cNvPr id="37" name="Text 31"/>
          <p:cNvSpPr txBox="1"/>
          <p:nvPr/>
        </p:nvSpPr>
        <p:spPr>
          <a:xfrm>
            <a:off x="2880360" y="3346704"/>
            <a:ext cx="548640" cy="182880"/>
          </a:xfrm>
          <a:prstGeom prst="rect">
            <a:avLst/>
          </a:prstGeom>
          <a:noFill/>
          <a:ln/>
        </p:spPr>
        <p:txBody>
          <a:bodyPr wrap="square" lIns="0" tIns="0" rIns="0" bIns="0" rtlCol="0" anchor="ctr"/>
          <a:lstStyle/>
          <a:p>
            <a:pPr algn="ctr" indent="0" marL="0">
              <a:buNone/>
            </a:pPr>
            <a:r>
              <a:rPr lang="en-US" sz="800" i="1" dirty="0">
                <a:solidFill>
                  <a:srgbClr val="2F8F48"/>
                </a:solidFill>
                <a:latin typeface="Calibri" pitchFamily="34" charset="0"/>
                <a:ea typeface="Calibri" pitchFamily="34" charset="-122"/>
                <a:cs typeface="Calibri" pitchFamily="34" charset="-120"/>
              </a:rPr>
              <a:t>yes</a:t>
            </a:r>
            <a:endParaRPr lang="en-US" sz="800" dirty="0"/>
          </a:p>
        </p:txBody>
      </p:sp>
      <p:sp>
        <p:nvSpPr>
          <p:cNvPr id="38" name="Text 32"/>
          <p:cNvSpPr txBox="1"/>
          <p:nvPr/>
        </p:nvSpPr>
        <p:spPr>
          <a:xfrm>
            <a:off x="5349240" y="3346704"/>
            <a:ext cx="548640" cy="182880"/>
          </a:xfrm>
          <a:prstGeom prst="rect">
            <a:avLst/>
          </a:prstGeom>
          <a:noFill/>
          <a:ln/>
        </p:spPr>
        <p:txBody>
          <a:bodyPr wrap="square" lIns="0" tIns="0" rIns="0" bIns="0" rtlCol="0" anchor="ctr"/>
          <a:lstStyle/>
          <a:p>
            <a:pPr algn="ctr" indent="0" marL="0">
              <a:buNone/>
            </a:pPr>
            <a:r>
              <a:rPr lang="en-US" sz="800" i="1" dirty="0">
                <a:solidFill>
                  <a:srgbClr val="2F8F48"/>
                </a:solidFill>
                <a:latin typeface="Calibri" pitchFamily="34" charset="0"/>
                <a:ea typeface="Calibri" pitchFamily="34" charset="-122"/>
                <a:cs typeface="Calibri" pitchFamily="34" charset="-120"/>
              </a:rPr>
              <a:t>yes</a:t>
            </a:r>
            <a:endParaRPr lang="en-US" sz="800" dirty="0"/>
          </a:p>
        </p:txBody>
      </p:sp>
      <p:sp>
        <p:nvSpPr>
          <p:cNvPr id="39" name="Text 33"/>
          <p:cNvSpPr txBox="1"/>
          <p:nvPr/>
        </p:nvSpPr>
        <p:spPr>
          <a:xfrm>
            <a:off x="7635240" y="3913632"/>
            <a:ext cx="3959352" cy="201168"/>
          </a:xfrm>
          <a:prstGeom prst="rect">
            <a:avLst/>
          </a:prstGeom>
          <a:noFill/>
          <a:ln/>
        </p:spPr>
        <p:txBody>
          <a:bodyPr wrap="square" lIns="0" tIns="0" rIns="0" bIns="0" rtlCol="0" anchor="ctr"/>
          <a:lstStyle/>
          <a:p>
            <a:pPr algn="ctr" indent="0" marL="0">
              <a:buNone/>
            </a:pPr>
            <a:r>
              <a:rPr lang="en-US" sz="900" b="1" spc="140" kern="0" dirty="0">
                <a:solidFill>
                  <a:srgbClr val="64798F"/>
                </a:solidFill>
                <a:latin typeface="Calibri" pitchFamily="34" charset="0"/>
                <a:ea typeface="Calibri" pitchFamily="34" charset="-122"/>
                <a:cs typeface="Calibri" pitchFamily="34" charset="-120"/>
              </a:rPr>
              <a:t>THREE VERDICTS, ONE OF THEM PROCEEDS</a:t>
            </a:r>
            <a:endParaRPr lang="en-US" sz="900" dirty="0"/>
          </a:p>
        </p:txBody>
      </p:sp>
      <p:sp>
        <p:nvSpPr>
          <p:cNvPr id="40" name="Shape 34"/>
          <p:cNvSpPr/>
          <p:nvPr/>
        </p:nvSpPr>
        <p:spPr>
          <a:xfrm>
            <a:off x="7635240" y="4169664"/>
            <a:ext cx="1234440" cy="347472"/>
          </a:xfrm>
          <a:prstGeom prst="roundRect">
            <a:avLst>
              <a:gd name="adj" fmla="val 36842"/>
            </a:avLst>
          </a:prstGeom>
          <a:solidFill>
            <a:srgbClr val="E0F3E3"/>
          </a:solidFill>
          <a:ln w="12700">
            <a:solidFill>
              <a:srgbClr val="2F8F48"/>
            </a:solidFill>
            <a:prstDash val="solid"/>
          </a:ln>
        </p:spPr>
      </p:sp>
      <p:sp>
        <p:nvSpPr>
          <p:cNvPr id="41" name="Text 35"/>
          <p:cNvSpPr txBox="1"/>
          <p:nvPr/>
        </p:nvSpPr>
        <p:spPr>
          <a:xfrm>
            <a:off x="7635240" y="4169664"/>
            <a:ext cx="1234440" cy="347472"/>
          </a:xfrm>
          <a:prstGeom prst="rect">
            <a:avLst/>
          </a:prstGeom>
          <a:noFill/>
          <a:ln/>
        </p:spPr>
        <p:txBody>
          <a:bodyPr wrap="square" lIns="0" tIns="0" rIns="0" bIns="0" rtlCol="0" anchor="ctr"/>
          <a:lstStyle/>
          <a:p>
            <a:pPr algn="ctr" indent="0" marL="0">
              <a:buNone/>
            </a:pPr>
            <a:r>
              <a:rPr lang="en-US" sz="900" b="1" dirty="0">
                <a:solidFill>
                  <a:srgbClr val="17431F"/>
                </a:solidFill>
                <a:latin typeface="Calibri" pitchFamily="34" charset="0"/>
                <a:ea typeface="Calibri" pitchFamily="34" charset="-122"/>
                <a:cs typeface="Calibri" pitchFamily="34" charset="-120"/>
              </a:rPr>
              <a:t>Resolved</a:t>
            </a:r>
            <a:endParaRPr lang="en-US" sz="900" dirty="0"/>
          </a:p>
        </p:txBody>
      </p:sp>
      <p:sp>
        <p:nvSpPr>
          <p:cNvPr id="42" name="Shape 36"/>
          <p:cNvSpPr/>
          <p:nvPr/>
        </p:nvSpPr>
        <p:spPr>
          <a:xfrm>
            <a:off x="8997696" y="4169664"/>
            <a:ext cx="1234440" cy="347472"/>
          </a:xfrm>
          <a:prstGeom prst="roundRect">
            <a:avLst>
              <a:gd name="adj" fmla="val 36842"/>
            </a:avLst>
          </a:prstGeom>
          <a:solidFill>
            <a:srgbClr val="FCEDD4"/>
          </a:solidFill>
          <a:ln w="12700">
            <a:solidFill>
              <a:srgbClr val="C9871B"/>
            </a:solidFill>
            <a:prstDash val="solid"/>
          </a:ln>
        </p:spPr>
      </p:sp>
      <p:sp>
        <p:nvSpPr>
          <p:cNvPr id="43" name="Text 37"/>
          <p:cNvSpPr txBox="1"/>
          <p:nvPr/>
        </p:nvSpPr>
        <p:spPr>
          <a:xfrm>
            <a:off x="8997696" y="4169664"/>
            <a:ext cx="1234440" cy="347472"/>
          </a:xfrm>
          <a:prstGeom prst="rect">
            <a:avLst/>
          </a:prstGeom>
          <a:noFill/>
          <a:ln/>
        </p:spPr>
        <p:txBody>
          <a:bodyPr wrap="square" lIns="0" tIns="0" rIns="0" bIns="0" rtlCol="0" anchor="ctr"/>
          <a:lstStyle/>
          <a:p>
            <a:pPr algn="ctr" indent="0" marL="0">
              <a:buNone/>
            </a:pPr>
            <a:r>
              <a:rPr lang="en-US" sz="900" b="1" dirty="0">
                <a:solidFill>
                  <a:srgbClr val="64430A"/>
                </a:solidFill>
                <a:latin typeface="Calibri" pitchFamily="34" charset="0"/>
                <a:ea typeface="Calibri" pitchFamily="34" charset="-122"/>
                <a:cs typeface="Calibri" pitchFamily="34" charset="-120"/>
              </a:rPr>
              <a:t>Uncertain</a:t>
            </a:r>
            <a:endParaRPr lang="en-US" sz="900" dirty="0"/>
          </a:p>
        </p:txBody>
      </p:sp>
      <p:sp>
        <p:nvSpPr>
          <p:cNvPr id="44" name="Shape 38"/>
          <p:cNvSpPr/>
          <p:nvPr/>
        </p:nvSpPr>
        <p:spPr>
          <a:xfrm>
            <a:off x="10360152" y="4169664"/>
            <a:ext cx="1234440" cy="347472"/>
          </a:xfrm>
          <a:prstGeom prst="roundRect">
            <a:avLst>
              <a:gd name="adj" fmla="val 36842"/>
            </a:avLst>
          </a:prstGeom>
          <a:solidFill>
            <a:srgbClr val="FBE2E8"/>
          </a:solidFill>
          <a:ln w="12700">
            <a:solidFill>
              <a:srgbClr val="CE3D64"/>
            </a:solidFill>
            <a:prstDash val="solid"/>
          </a:ln>
        </p:spPr>
      </p:sp>
      <p:sp>
        <p:nvSpPr>
          <p:cNvPr id="45" name="Text 39"/>
          <p:cNvSpPr txBox="1"/>
          <p:nvPr/>
        </p:nvSpPr>
        <p:spPr>
          <a:xfrm>
            <a:off x="10360152" y="4169664"/>
            <a:ext cx="1234440" cy="347472"/>
          </a:xfrm>
          <a:prstGeom prst="rect">
            <a:avLst/>
          </a:prstGeom>
          <a:noFill/>
          <a:ln/>
        </p:spPr>
        <p:txBody>
          <a:bodyPr wrap="square" lIns="0" tIns="0" rIns="0" bIns="0" rtlCol="0" anchor="ctr"/>
          <a:lstStyle/>
          <a:p>
            <a:pPr algn="ctr" indent="0" marL="0">
              <a:buNone/>
            </a:pPr>
            <a:r>
              <a:rPr lang="en-US" sz="900" b="1" dirty="0">
                <a:solidFill>
                  <a:srgbClr val="68182F"/>
                </a:solidFill>
                <a:latin typeface="Calibri" pitchFamily="34" charset="0"/>
                <a:ea typeface="Calibri" pitchFamily="34" charset="-122"/>
                <a:cs typeface="Calibri" pitchFamily="34" charset="-120"/>
              </a:rPr>
              <a:t>Unresolved</a:t>
            </a:r>
            <a:endParaRPr lang="en-US" sz="900" dirty="0"/>
          </a:p>
        </p:txBody>
      </p:sp>
      <p:sp>
        <p:nvSpPr>
          <p:cNvPr id="46" name="Shape 40"/>
          <p:cNvSpPr/>
          <p:nvPr/>
        </p:nvSpPr>
        <p:spPr>
          <a:xfrm>
            <a:off x="7635240" y="4572000"/>
            <a:ext cx="3959352" cy="457200"/>
          </a:xfrm>
          <a:prstGeom prst="roundRect">
            <a:avLst>
              <a:gd name="adj" fmla="val 20000"/>
            </a:avLst>
          </a:prstGeom>
          <a:solidFill>
            <a:srgbClr val="FBE2E8"/>
          </a:solidFill>
          <a:ln w="15875">
            <a:solidFill>
              <a:srgbClr val="CE3D64"/>
            </a:solidFill>
            <a:prstDash val="solid"/>
          </a:ln>
        </p:spPr>
      </p:sp>
      <p:sp>
        <p:nvSpPr>
          <p:cNvPr id="47" name="Text 41"/>
          <p:cNvSpPr txBox="1"/>
          <p:nvPr/>
        </p:nvSpPr>
        <p:spPr>
          <a:xfrm>
            <a:off x="7726680" y="4572000"/>
            <a:ext cx="3776472" cy="457200"/>
          </a:xfrm>
          <a:prstGeom prst="rect">
            <a:avLst/>
          </a:prstGeom>
          <a:noFill/>
          <a:ln/>
        </p:spPr>
        <p:txBody>
          <a:bodyPr wrap="square" lIns="0" tIns="0" rIns="0" bIns="0" rtlCol="0" anchor="ctr"/>
          <a:lstStyle/>
          <a:p>
            <a:pPr algn="ctr" indent="0" marL="0">
              <a:lnSpc>
                <a:spcPct val="104000"/>
              </a:lnSpc>
              <a:buNone/>
            </a:pPr>
            <a:r>
              <a:rPr lang="en-US" sz="950" b="1" dirty="0">
                <a:solidFill>
                  <a:srgbClr val="68182F"/>
                </a:solidFill>
                <a:latin typeface="Calibri" pitchFamily="34" charset="0"/>
                <a:ea typeface="Calibri" pitchFamily="34" charset="-122"/>
                <a:cs typeface="Calibri" pitchFamily="34" charset="-120"/>
              </a:rPr>
              <a:t>uncertain and unresolved → review queue</a:t>
            </a:r>
            <a:endParaRPr lang="en-US" sz="950" dirty="0"/>
          </a:p>
        </p:txBody>
      </p:sp>
      <p:sp>
        <p:nvSpPr>
          <p:cNvPr id="48" name="Shape 42"/>
          <p:cNvSpPr/>
          <p:nvPr/>
        </p:nvSpPr>
        <p:spPr>
          <a:xfrm>
            <a:off x="594360" y="5257800"/>
            <a:ext cx="11000232" cy="566928"/>
          </a:xfrm>
          <a:prstGeom prst="roundRect">
            <a:avLst>
              <a:gd name="adj" fmla="val 6452"/>
            </a:avLst>
          </a:prstGeom>
          <a:solidFill>
            <a:srgbClr val="F4F7FA"/>
          </a:solidFill>
          <a:ln w="15875">
            <a:solidFill>
              <a:srgbClr val="DDE5ED"/>
            </a:solidFill>
            <a:prstDash val="solid"/>
          </a:ln>
        </p:spPr>
      </p:sp>
      <p:sp>
        <p:nvSpPr>
          <p:cNvPr id="49" name="Text 43"/>
          <p:cNvSpPr txBox="1"/>
          <p:nvPr/>
        </p:nvSpPr>
        <p:spPr>
          <a:xfrm>
            <a:off x="795528" y="5257800"/>
            <a:ext cx="10597896" cy="566928"/>
          </a:xfrm>
          <a:prstGeom prst="rect">
            <a:avLst/>
          </a:prstGeom>
          <a:noFill/>
          <a:ln/>
        </p:spPr>
        <p:txBody>
          <a:bodyPr wrap="square" lIns="0" tIns="0" rIns="0" bIns="0" rtlCol="0" anchor="ctr"/>
          <a:lstStyle/>
          <a:p>
            <a:pPr indent="0" marL="0">
              <a:buNone/>
            </a:pPr>
            <a:r>
              <a:rPr lang="en-US" sz="930" b="1" dirty="0">
                <a:solidFill>
                  <a:srgbClr val="6D4DD1"/>
                </a:solidFill>
                <a:latin typeface="Calibri" pitchFamily="34" charset="0"/>
                <a:ea typeface="Calibri" pitchFamily="34" charset="-122"/>
                <a:cs typeface="Calibri" pitchFamily="34" charset="-120"/>
              </a:rPr>
              <a:t>Deliberately not a three-agent debate.  </a:t>
            </a:r>
            <a:pPr indent="0" marL="0">
              <a:buNone/>
            </a:pPr>
            <a:r>
              <a:rPr lang="en-US" sz="930" dirty="0">
                <a:solidFill>
                  <a:srgbClr val="43566B"/>
                </a:solidFill>
                <a:latin typeface="Calibri" pitchFamily="34" charset="0"/>
                <a:ea typeface="Calibri" pitchFamily="34" charset="-122"/>
                <a:cs typeface="Calibri" pitchFamily="34" charset="-120"/>
              </a:rPr>
              <a:t>Unlike thematic classification, “which company is this” rarely has two defensible sides, and EDGAR's own name search already resolves the common case with no model involved at all. An earlier version mirrored the Advocate/Opposing/Adjudicator triad here and was cut back to one call.</a:t>
            </a:r>
            <a:endParaRPr lang="en-US" sz="930" dirty="0"/>
          </a:p>
        </p:txBody>
      </p:sp>
      <p:sp>
        <p:nvSpPr>
          <p:cNvPr id="50" name="Shape 44"/>
          <p:cNvSpPr/>
          <p:nvPr/>
        </p:nvSpPr>
        <p:spPr>
          <a:xfrm>
            <a:off x="594360" y="6172200"/>
            <a:ext cx="155448" cy="155448"/>
          </a:xfrm>
          <a:prstGeom prst="roundRect">
            <a:avLst>
              <a:gd name="adj" fmla="val 29412"/>
            </a:avLst>
          </a:prstGeom>
          <a:solidFill>
            <a:srgbClr val="2F6FD0"/>
          </a:solidFill>
          <a:ln/>
        </p:spPr>
      </p:sp>
      <p:sp>
        <p:nvSpPr>
          <p:cNvPr id="51" name="Text 45"/>
          <p:cNvSpPr txBox="1"/>
          <p:nvPr/>
        </p:nvSpPr>
        <p:spPr>
          <a:xfrm>
            <a:off x="81381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52" name="Shape 46"/>
          <p:cNvSpPr/>
          <p:nvPr/>
        </p:nvSpPr>
        <p:spPr>
          <a:xfrm>
            <a:off x="2427732" y="6172200"/>
            <a:ext cx="155448" cy="155448"/>
          </a:xfrm>
          <a:prstGeom prst="roundRect">
            <a:avLst>
              <a:gd name="adj" fmla="val 29412"/>
            </a:avLst>
          </a:prstGeom>
          <a:solidFill>
            <a:srgbClr val="108494"/>
          </a:solidFill>
          <a:ln/>
        </p:spPr>
      </p:sp>
      <p:sp>
        <p:nvSpPr>
          <p:cNvPr id="53" name="Text 47"/>
          <p:cNvSpPr txBox="1"/>
          <p:nvPr/>
        </p:nvSpPr>
        <p:spPr>
          <a:xfrm>
            <a:off x="2647188"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54" name="Shape 48"/>
          <p:cNvSpPr/>
          <p:nvPr/>
        </p:nvSpPr>
        <p:spPr>
          <a:xfrm>
            <a:off x="4261104" y="6172200"/>
            <a:ext cx="155448" cy="155448"/>
          </a:xfrm>
          <a:prstGeom prst="roundRect">
            <a:avLst>
              <a:gd name="adj" fmla="val 29412"/>
            </a:avLst>
          </a:prstGeom>
          <a:solidFill>
            <a:srgbClr val="6D4DD1"/>
          </a:solidFill>
          <a:ln/>
        </p:spPr>
      </p:sp>
      <p:sp>
        <p:nvSpPr>
          <p:cNvPr id="55" name="Text 49"/>
          <p:cNvSpPr txBox="1"/>
          <p:nvPr/>
        </p:nvSpPr>
        <p:spPr>
          <a:xfrm>
            <a:off x="4480560"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56" name="Shape 50"/>
          <p:cNvSpPr/>
          <p:nvPr/>
        </p:nvSpPr>
        <p:spPr>
          <a:xfrm>
            <a:off x="6094476" y="6172200"/>
            <a:ext cx="155448" cy="155448"/>
          </a:xfrm>
          <a:prstGeom prst="roundRect">
            <a:avLst>
              <a:gd name="adj" fmla="val 29412"/>
            </a:avLst>
          </a:prstGeom>
          <a:solidFill>
            <a:srgbClr val="C9871B"/>
          </a:solidFill>
          <a:ln/>
        </p:spPr>
      </p:sp>
      <p:sp>
        <p:nvSpPr>
          <p:cNvPr id="57" name="Text 51"/>
          <p:cNvSpPr txBox="1"/>
          <p:nvPr/>
        </p:nvSpPr>
        <p:spPr>
          <a:xfrm>
            <a:off x="6313932"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58" name="Shape 52"/>
          <p:cNvSpPr/>
          <p:nvPr/>
        </p:nvSpPr>
        <p:spPr>
          <a:xfrm>
            <a:off x="7927848" y="6172200"/>
            <a:ext cx="155448" cy="155448"/>
          </a:xfrm>
          <a:prstGeom prst="roundRect">
            <a:avLst>
              <a:gd name="adj" fmla="val 29412"/>
            </a:avLst>
          </a:prstGeom>
          <a:solidFill>
            <a:srgbClr val="CE3D64"/>
          </a:solidFill>
          <a:ln/>
        </p:spPr>
      </p:sp>
      <p:sp>
        <p:nvSpPr>
          <p:cNvPr id="59" name="Text 53"/>
          <p:cNvSpPr txBox="1"/>
          <p:nvPr/>
        </p:nvSpPr>
        <p:spPr>
          <a:xfrm>
            <a:off x="8147304"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60" name="Shape 54"/>
          <p:cNvSpPr/>
          <p:nvPr/>
        </p:nvSpPr>
        <p:spPr>
          <a:xfrm>
            <a:off x="9761220" y="6172200"/>
            <a:ext cx="155448" cy="155448"/>
          </a:xfrm>
          <a:prstGeom prst="roundRect">
            <a:avLst>
              <a:gd name="adj" fmla="val 29412"/>
            </a:avLst>
          </a:prstGeom>
          <a:solidFill>
            <a:srgbClr val="2F8F48"/>
          </a:solidFill>
          <a:ln/>
        </p:spPr>
      </p:sp>
      <p:sp>
        <p:nvSpPr>
          <p:cNvPr id="61" name="Text 55"/>
          <p:cNvSpPr txBox="1"/>
          <p:nvPr/>
        </p:nvSpPr>
        <p:spPr>
          <a:xfrm>
            <a:off x="998067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06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Identity: a graph built to short-circuit</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Conditional edges leave the graph early wherever a factual lookup already answers the question.</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36192"/>
            <a:ext cx="11000232" cy="3291840"/>
          </a:xfrm>
          <a:prstGeom prst="roundRect">
            <a:avLst>
              <a:gd name="adj" fmla="val 1111"/>
            </a:avLst>
          </a:prstGeom>
          <a:solidFill>
            <a:srgbClr val="F7FAFC"/>
          </a:solidFill>
          <a:ln w="15875">
            <a:solidFill>
              <a:srgbClr val="9FB2C4"/>
            </a:solidFill>
            <a:prstDash val="dash"/>
          </a:ln>
        </p:spPr>
      </p:sp>
      <p:sp>
        <p:nvSpPr>
          <p:cNvPr id="8" name="Shape 5"/>
          <p:cNvSpPr/>
          <p:nvPr/>
        </p:nvSpPr>
        <p:spPr>
          <a:xfrm>
            <a:off x="740664" y="1417320"/>
            <a:ext cx="3218688" cy="274320"/>
          </a:xfrm>
          <a:prstGeom prst="roundRect">
            <a:avLst>
              <a:gd name="adj" fmla="val 50000"/>
            </a:avLst>
          </a:prstGeom>
          <a:solidFill>
            <a:srgbClr val="64798F"/>
          </a:solidFill>
          <a:ln/>
        </p:spPr>
      </p:sp>
      <p:pic>
        <p:nvPicPr>
          <p:cNvPr id="9" name="Image 1" descr="preencoded.png">    </p:cNvPr>
          <p:cNvPicPr>
            <a:picLocks noChangeAspect="1"/>
          </p:cNvPicPr>
          <p:nvPr/>
        </p:nvPicPr>
        <p:blipFill>
          <a:blip r:embed="rId2"/>
          <a:stretch>
            <a:fillRect/>
          </a:stretch>
        </p:blipFill>
        <p:spPr>
          <a:xfrm>
            <a:off x="859536" y="1485900"/>
            <a:ext cx="132588" cy="132588"/>
          </a:xfrm>
          <a:prstGeom prst="rect">
            <a:avLst/>
          </a:prstGeom>
        </p:spPr>
      </p:pic>
      <p:sp>
        <p:nvSpPr>
          <p:cNvPr id="10" name="Text 6"/>
          <p:cNvSpPr txBox="1"/>
          <p:nvPr/>
        </p:nvSpPr>
        <p:spPr>
          <a:xfrm>
            <a:off x="1014984" y="1417320"/>
            <a:ext cx="2944368"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identity_graph  ·  LangGraph state graph</a:t>
            </a:r>
            <a:endParaRPr lang="en-US" sz="850" dirty="0"/>
          </a:p>
        </p:txBody>
      </p:sp>
      <p:sp>
        <p:nvSpPr>
          <p:cNvPr id="11" name="Shape 7"/>
          <p:cNvSpPr/>
          <p:nvPr/>
        </p:nvSpPr>
        <p:spPr>
          <a:xfrm>
            <a:off x="914400" y="2103120"/>
            <a:ext cx="2011680" cy="777240"/>
          </a:xfrm>
          <a:prstGeom prst="roundRect">
            <a:avLst>
              <a:gd name="adj" fmla="val 1176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1033272" y="2203704"/>
            <a:ext cx="182880" cy="182880"/>
          </a:xfrm>
          <a:prstGeom prst="rect">
            <a:avLst/>
          </a:prstGeom>
        </p:spPr>
      </p:pic>
      <p:sp>
        <p:nvSpPr>
          <p:cNvPr id="13" name="Text 8"/>
          <p:cNvSpPr txBox="1"/>
          <p:nvPr/>
        </p:nvSpPr>
        <p:spPr>
          <a:xfrm>
            <a:off x="1005840" y="2103120"/>
            <a:ext cx="182880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check_known</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supplied CIK or website</a:t>
            </a:r>
            <a:endParaRPr lang="en-US" sz="1050" dirty="0"/>
          </a:p>
        </p:txBody>
      </p:sp>
      <p:sp>
        <p:nvSpPr>
          <p:cNvPr id="14" name="Shape 9"/>
          <p:cNvSpPr/>
          <p:nvPr/>
        </p:nvSpPr>
        <p:spPr>
          <a:xfrm>
            <a:off x="2962656" y="2487168"/>
            <a:ext cx="292608" cy="0"/>
          </a:xfrm>
          <a:prstGeom prst="line">
            <a:avLst/>
          </a:prstGeom>
          <a:noFill/>
          <a:ln w="19050">
            <a:solidFill>
              <a:srgbClr val="64798F"/>
            </a:solidFill>
            <a:prstDash val="solid"/>
            <a:headEnd type="none"/>
            <a:tailEnd type="triangle"/>
          </a:ln>
        </p:spPr>
      </p:sp>
      <p:sp>
        <p:nvSpPr>
          <p:cNvPr id="15" name="Shape 10"/>
          <p:cNvSpPr/>
          <p:nvPr/>
        </p:nvSpPr>
        <p:spPr>
          <a:xfrm>
            <a:off x="3291840" y="2103120"/>
            <a:ext cx="2011680" cy="777240"/>
          </a:xfrm>
          <a:prstGeom prst="roundRect">
            <a:avLst>
              <a:gd name="adj" fmla="val 1176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3410712" y="2203704"/>
            <a:ext cx="182880" cy="182880"/>
          </a:xfrm>
          <a:prstGeom prst="rect">
            <a:avLst/>
          </a:prstGeom>
        </p:spPr>
      </p:pic>
      <p:sp>
        <p:nvSpPr>
          <p:cNvPr id="17" name="Text 11"/>
          <p:cNvSpPr txBox="1"/>
          <p:nvPr/>
        </p:nvSpPr>
        <p:spPr>
          <a:xfrm>
            <a:off x="3383280" y="2103120"/>
            <a:ext cx="182880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gather_signals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EDGAR name search + web hits</a:t>
            </a:r>
            <a:endParaRPr lang="en-US" sz="1050" dirty="0"/>
          </a:p>
        </p:txBody>
      </p:sp>
      <p:sp>
        <p:nvSpPr>
          <p:cNvPr id="18" name="Shape 12"/>
          <p:cNvSpPr/>
          <p:nvPr/>
        </p:nvSpPr>
        <p:spPr>
          <a:xfrm>
            <a:off x="5340096" y="2487168"/>
            <a:ext cx="475488" cy="0"/>
          </a:xfrm>
          <a:prstGeom prst="line">
            <a:avLst/>
          </a:prstGeom>
          <a:noFill/>
          <a:ln w="19050">
            <a:solidFill>
              <a:srgbClr val="64798F"/>
            </a:solidFill>
            <a:prstDash val="solid"/>
            <a:headEnd type="none"/>
            <a:tailEnd type="triangle"/>
          </a:ln>
        </p:spPr>
      </p:sp>
      <p:sp>
        <p:nvSpPr>
          <p:cNvPr id="19" name="Shape 13"/>
          <p:cNvSpPr/>
          <p:nvPr/>
        </p:nvSpPr>
        <p:spPr>
          <a:xfrm>
            <a:off x="5852160" y="2103120"/>
            <a:ext cx="2011680" cy="777240"/>
          </a:xfrm>
          <a:prstGeom prst="roundRect">
            <a:avLst>
              <a:gd name="adj" fmla="val 1176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5971032" y="2203704"/>
            <a:ext cx="182880" cy="182880"/>
          </a:xfrm>
          <a:prstGeom prst="rect">
            <a:avLst/>
          </a:prstGeom>
        </p:spPr>
      </p:pic>
      <p:sp>
        <p:nvSpPr>
          <p:cNvPr id="21" name="Text 14"/>
          <p:cNvSpPr txBox="1"/>
          <p:nvPr/>
        </p:nvSpPr>
        <p:spPr>
          <a:xfrm>
            <a:off x="5943600" y="2103120"/>
            <a:ext cx="182880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adjudicate</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one schema-first call</a:t>
            </a:r>
            <a:endParaRPr lang="en-US" sz="1050" dirty="0"/>
          </a:p>
        </p:txBody>
      </p:sp>
      <p:sp>
        <p:nvSpPr>
          <p:cNvPr id="22" name="Shape 15"/>
          <p:cNvSpPr/>
          <p:nvPr/>
        </p:nvSpPr>
        <p:spPr>
          <a:xfrm>
            <a:off x="7900416" y="2487168"/>
            <a:ext cx="475488" cy="0"/>
          </a:xfrm>
          <a:prstGeom prst="line">
            <a:avLst/>
          </a:prstGeom>
          <a:noFill/>
          <a:ln w="19050">
            <a:solidFill>
              <a:srgbClr val="64798F"/>
            </a:solidFill>
            <a:prstDash val="solid"/>
            <a:headEnd type="none"/>
            <a:tailEnd type="triangle"/>
          </a:ln>
        </p:spPr>
      </p:sp>
      <p:sp>
        <p:nvSpPr>
          <p:cNvPr id="23" name="Shape 16"/>
          <p:cNvSpPr/>
          <p:nvPr/>
        </p:nvSpPr>
        <p:spPr>
          <a:xfrm>
            <a:off x="8412480" y="2103120"/>
            <a:ext cx="2011680" cy="777240"/>
          </a:xfrm>
          <a:prstGeom prst="roundRect">
            <a:avLst>
              <a:gd name="adj" fmla="val 1176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24" name="Image 5" descr="preencoded.png">    </p:cNvPr>
          <p:cNvPicPr>
            <a:picLocks noChangeAspect="1"/>
          </p:cNvPicPr>
          <p:nvPr/>
        </p:nvPicPr>
        <p:blipFill>
          <a:blip r:embed="rId6"/>
          <a:stretch>
            <a:fillRect/>
          </a:stretch>
        </p:blipFill>
        <p:spPr>
          <a:xfrm>
            <a:off x="8531352" y="2203704"/>
            <a:ext cx="182880" cy="182880"/>
          </a:xfrm>
          <a:prstGeom prst="rect">
            <a:avLst/>
          </a:prstGeom>
        </p:spPr>
      </p:pic>
      <p:sp>
        <p:nvSpPr>
          <p:cNvPr id="25" name="Text 17"/>
          <p:cNvSpPr txBox="1"/>
          <p:nvPr/>
        </p:nvSpPr>
        <p:spPr>
          <a:xfrm>
            <a:off x="8503920" y="2103120"/>
            <a:ext cx="182880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finalize</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verdict, confidence, resolved ids</a:t>
            </a:r>
            <a:endParaRPr lang="en-US" sz="1050" dirty="0"/>
          </a:p>
        </p:txBody>
      </p:sp>
      <p:sp>
        <p:nvSpPr>
          <p:cNvPr id="26" name="Shape 18"/>
          <p:cNvSpPr/>
          <p:nvPr/>
        </p:nvSpPr>
        <p:spPr>
          <a:xfrm>
            <a:off x="10607040" y="2103120"/>
            <a:ext cx="914400" cy="777240"/>
          </a:xfrm>
          <a:prstGeom prst="roundRect">
            <a:avLst>
              <a:gd name="adj" fmla="val 11765"/>
            </a:avLst>
          </a:prstGeom>
          <a:solidFill>
            <a:srgbClr val="E0F3E3"/>
          </a:solidFill>
          <a:ln w="15875">
            <a:solidFill>
              <a:srgbClr val="2F8F48"/>
            </a:solidFill>
            <a:prstDash val="solid"/>
          </a:ln>
        </p:spPr>
      </p:sp>
      <p:sp>
        <p:nvSpPr>
          <p:cNvPr id="27" name="Text 19"/>
          <p:cNvSpPr txBox="1"/>
          <p:nvPr/>
        </p:nvSpPr>
        <p:spPr>
          <a:xfrm>
            <a:off x="10698480" y="2103120"/>
            <a:ext cx="731520" cy="777240"/>
          </a:xfrm>
          <a:prstGeom prst="rect">
            <a:avLst/>
          </a:prstGeom>
          <a:noFill/>
          <a:ln/>
        </p:spPr>
        <p:txBody>
          <a:bodyPr wrap="square" lIns="0" tIns="0" rIns="0" bIns="0" rtlCol="0" anchor="ctr"/>
          <a:lstStyle/>
          <a:p>
            <a:pPr algn="ctr" indent="0" marL="0">
              <a:lnSpc>
                <a:spcPct val="104000"/>
              </a:lnSpc>
              <a:buNone/>
            </a:pPr>
            <a:r>
              <a:rPr lang="en-US" sz="1000" b="1" dirty="0">
                <a:solidFill>
                  <a:srgbClr val="17431F"/>
                </a:solidFill>
                <a:latin typeface="Calibri" pitchFamily="34" charset="0"/>
                <a:ea typeface="Calibri" pitchFamily="34" charset="-122"/>
                <a:cs typeface="Calibri" pitchFamily="34" charset="-120"/>
              </a:rPr>
              <a:t>END</a:t>
            </a:r>
            <a:endParaRPr lang="en-US" sz="1000" dirty="0"/>
          </a:p>
        </p:txBody>
      </p:sp>
      <p:sp>
        <p:nvSpPr>
          <p:cNvPr id="28" name="Shape 20"/>
          <p:cNvSpPr/>
          <p:nvPr/>
        </p:nvSpPr>
        <p:spPr>
          <a:xfrm>
            <a:off x="10460736" y="2487168"/>
            <a:ext cx="109728" cy="0"/>
          </a:xfrm>
          <a:prstGeom prst="line">
            <a:avLst/>
          </a:prstGeom>
          <a:noFill/>
          <a:ln w="17780">
            <a:solidFill>
              <a:srgbClr val="2F8F48"/>
            </a:solidFill>
            <a:prstDash val="solid"/>
            <a:headEnd type="none"/>
            <a:tailEnd type="triangle"/>
          </a:ln>
        </p:spPr>
      </p:sp>
      <p:sp>
        <p:nvSpPr>
          <p:cNvPr id="29" name="Shape 21"/>
          <p:cNvSpPr/>
          <p:nvPr/>
        </p:nvSpPr>
        <p:spPr>
          <a:xfrm>
            <a:off x="914400" y="3611880"/>
            <a:ext cx="2011680" cy="640080"/>
          </a:xfrm>
          <a:prstGeom prst="roundRect">
            <a:avLst>
              <a:gd name="adj" fmla="val 14286"/>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0" name="Image 6" descr="preencoded.png">    </p:cNvPr>
          <p:cNvPicPr>
            <a:picLocks noChangeAspect="1"/>
          </p:cNvPicPr>
          <p:nvPr/>
        </p:nvPicPr>
        <p:blipFill>
          <a:blip r:embed="rId7"/>
          <a:stretch>
            <a:fillRect/>
          </a:stretch>
        </p:blipFill>
        <p:spPr>
          <a:xfrm>
            <a:off x="1033272" y="3712464"/>
            <a:ext cx="182880" cy="182880"/>
          </a:xfrm>
          <a:prstGeom prst="rect">
            <a:avLst/>
          </a:prstGeom>
        </p:spPr>
      </p:pic>
      <p:sp>
        <p:nvSpPr>
          <p:cNvPr id="31" name="Text 22"/>
          <p:cNvSpPr txBox="1"/>
          <p:nvPr/>
        </p:nvSpPr>
        <p:spPr>
          <a:xfrm>
            <a:off x="1005840" y="3611880"/>
            <a:ext cx="1828800" cy="640080"/>
          </a:xfrm>
          <a:prstGeom prst="rect">
            <a:avLst/>
          </a:prstGeom>
          <a:noFill/>
          <a:ln/>
        </p:spPr>
        <p:txBody>
          <a:bodyPr wrap="square" lIns="0" tIns="0" rIns="0" bIns="0" rtlCol="0" anchor="ctr"/>
          <a:lstStyle/>
          <a:p>
            <a:pPr algn="ctr" indent="0" marL="0">
              <a:lnSpc>
                <a:spcPct val="104000"/>
              </a:lnSpc>
              <a:buNone/>
            </a:pPr>
            <a:r>
              <a:rPr lang="en-US" sz="1000" b="1" dirty="0">
                <a:solidFill>
                  <a:srgbClr val="17431F"/>
                </a:solidFill>
                <a:latin typeface="Calibri" pitchFamily="34" charset="0"/>
                <a:ea typeface="Calibri" pitchFamily="34" charset="-122"/>
                <a:cs typeface="Calibri" pitchFamily="34" charset="-120"/>
              </a:rPr>
              <a:t>finalize_known</a:t>
            </a:r>
            <a:endParaRPr lang="en-US" sz="100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0 LLM calls</a:t>
            </a:r>
            <a:endParaRPr lang="en-US" sz="1000" dirty="0"/>
          </a:p>
        </p:txBody>
      </p:sp>
      <p:sp>
        <p:nvSpPr>
          <p:cNvPr id="32" name="Shape 23"/>
          <p:cNvSpPr/>
          <p:nvPr/>
        </p:nvSpPr>
        <p:spPr>
          <a:xfrm>
            <a:off x="3291840" y="3611880"/>
            <a:ext cx="2011680" cy="640080"/>
          </a:xfrm>
          <a:prstGeom prst="roundRect">
            <a:avLst>
              <a:gd name="adj" fmla="val 14286"/>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3" name="Image 7" descr="preencoded.png">    </p:cNvPr>
          <p:cNvPicPr>
            <a:picLocks noChangeAspect="1"/>
          </p:cNvPicPr>
          <p:nvPr/>
        </p:nvPicPr>
        <p:blipFill>
          <a:blip r:embed="rId8"/>
          <a:stretch>
            <a:fillRect/>
          </a:stretch>
        </p:blipFill>
        <p:spPr>
          <a:xfrm>
            <a:off x="3410712" y="3712464"/>
            <a:ext cx="182880" cy="182880"/>
          </a:xfrm>
          <a:prstGeom prst="rect">
            <a:avLst/>
          </a:prstGeom>
        </p:spPr>
      </p:pic>
      <p:sp>
        <p:nvSpPr>
          <p:cNvPr id="34" name="Text 24"/>
          <p:cNvSpPr txBox="1"/>
          <p:nvPr/>
        </p:nvSpPr>
        <p:spPr>
          <a:xfrm>
            <a:off x="3383280" y="3611880"/>
            <a:ext cx="1828800" cy="640080"/>
          </a:xfrm>
          <a:prstGeom prst="rect">
            <a:avLst/>
          </a:prstGeom>
          <a:noFill/>
          <a:ln/>
        </p:spPr>
        <p:txBody>
          <a:bodyPr wrap="square" lIns="0" tIns="0" rIns="0" bIns="0" rtlCol="0" anchor="ctr"/>
          <a:lstStyle/>
          <a:p>
            <a:pPr algn="ctr" indent="0" marL="0">
              <a:lnSpc>
                <a:spcPct val="104000"/>
              </a:lnSpc>
              <a:buNone/>
            </a:pPr>
            <a:r>
              <a:rPr lang="en-US" sz="1000" b="1" dirty="0">
                <a:solidFill>
                  <a:srgbClr val="17431F"/>
                </a:solidFill>
                <a:latin typeface="Calibri" pitchFamily="34" charset="0"/>
                <a:ea typeface="Calibri" pitchFamily="34" charset="-122"/>
                <a:cs typeface="Calibri" pitchFamily="34" charset="-120"/>
              </a:rPr>
              <a:t>finalize_clean_match</a:t>
            </a:r>
            <a:endParaRPr lang="en-US" sz="100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0 LLM calls</a:t>
            </a:r>
            <a:endParaRPr lang="en-US" sz="1000" dirty="0"/>
          </a:p>
        </p:txBody>
      </p:sp>
      <p:sp>
        <p:nvSpPr>
          <p:cNvPr id="35" name="Shape 25"/>
          <p:cNvSpPr/>
          <p:nvPr/>
        </p:nvSpPr>
        <p:spPr>
          <a:xfrm>
            <a:off x="1920240" y="2898648"/>
            <a:ext cx="0" cy="676656"/>
          </a:xfrm>
          <a:prstGeom prst="line">
            <a:avLst/>
          </a:prstGeom>
          <a:noFill/>
          <a:ln w="16510">
            <a:solidFill>
              <a:srgbClr val="2F8F48"/>
            </a:solidFill>
            <a:prstDash val="solid"/>
            <a:headEnd type="none"/>
            <a:tailEnd type="triangle"/>
          </a:ln>
        </p:spPr>
      </p:sp>
      <p:sp>
        <p:nvSpPr>
          <p:cNvPr id="36" name="Shape 26"/>
          <p:cNvSpPr/>
          <p:nvPr/>
        </p:nvSpPr>
        <p:spPr>
          <a:xfrm>
            <a:off x="4297680" y="2898648"/>
            <a:ext cx="0" cy="676656"/>
          </a:xfrm>
          <a:prstGeom prst="line">
            <a:avLst/>
          </a:prstGeom>
          <a:noFill/>
          <a:ln w="16510">
            <a:solidFill>
              <a:srgbClr val="2F8F48"/>
            </a:solidFill>
            <a:prstDash val="solid"/>
            <a:headEnd type="none"/>
            <a:tailEnd type="triangle"/>
          </a:ln>
        </p:spPr>
      </p:sp>
      <p:sp>
        <p:nvSpPr>
          <p:cNvPr id="37" name="Shape 27"/>
          <p:cNvSpPr/>
          <p:nvPr/>
        </p:nvSpPr>
        <p:spPr>
          <a:xfrm>
            <a:off x="1920240" y="4288536"/>
            <a:ext cx="0" cy="210312"/>
          </a:xfrm>
          <a:prstGeom prst="line">
            <a:avLst/>
          </a:prstGeom>
          <a:noFill/>
          <a:ln w="15240">
            <a:solidFill>
              <a:srgbClr val="2F8F48"/>
            </a:solidFill>
            <a:prstDash val="dash"/>
            <a:headEnd type="none"/>
            <a:tailEnd type="none"/>
          </a:ln>
        </p:spPr>
      </p:sp>
      <p:sp>
        <p:nvSpPr>
          <p:cNvPr id="38" name="Shape 28"/>
          <p:cNvSpPr/>
          <p:nvPr/>
        </p:nvSpPr>
        <p:spPr>
          <a:xfrm>
            <a:off x="1920240" y="4498848"/>
            <a:ext cx="8961120" cy="0"/>
          </a:xfrm>
          <a:prstGeom prst="line">
            <a:avLst/>
          </a:prstGeom>
          <a:noFill/>
          <a:ln w="15240">
            <a:solidFill>
              <a:srgbClr val="2F8F48"/>
            </a:solidFill>
            <a:prstDash val="dash"/>
            <a:headEnd type="none"/>
            <a:tailEnd type="none"/>
          </a:ln>
        </p:spPr>
      </p:sp>
      <p:sp>
        <p:nvSpPr>
          <p:cNvPr id="39" name="Shape 29"/>
          <p:cNvSpPr/>
          <p:nvPr/>
        </p:nvSpPr>
        <p:spPr>
          <a:xfrm flipV="1">
            <a:off x="10881360" y="2916936"/>
            <a:ext cx="0" cy="1581912"/>
          </a:xfrm>
          <a:prstGeom prst="line">
            <a:avLst/>
          </a:prstGeom>
          <a:noFill/>
          <a:ln w="15240">
            <a:solidFill>
              <a:srgbClr val="2F8F48"/>
            </a:solidFill>
            <a:prstDash val="dash"/>
            <a:headEnd type="none"/>
            <a:tailEnd type="triangle"/>
          </a:ln>
        </p:spPr>
      </p:sp>
      <p:sp>
        <p:nvSpPr>
          <p:cNvPr id="40" name="Shape 30"/>
          <p:cNvSpPr/>
          <p:nvPr/>
        </p:nvSpPr>
        <p:spPr>
          <a:xfrm>
            <a:off x="4297680" y="4288536"/>
            <a:ext cx="0" cy="210312"/>
          </a:xfrm>
          <a:prstGeom prst="line">
            <a:avLst/>
          </a:prstGeom>
          <a:noFill/>
          <a:ln w="15240">
            <a:solidFill>
              <a:srgbClr val="2F8F48"/>
            </a:solidFill>
            <a:prstDash val="dash"/>
            <a:headEnd type="none"/>
            <a:tailEnd type="none"/>
          </a:ln>
        </p:spPr>
      </p:sp>
      <p:sp>
        <p:nvSpPr>
          <p:cNvPr id="41" name="Text 31"/>
          <p:cNvSpPr txBox="1"/>
          <p:nvPr/>
        </p:nvSpPr>
        <p:spPr>
          <a:xfrm>
            <a:off x="5486400" y="4535424"/>
            <a:ext cx="3108960" cy="182880"/>
          </a:xfrm>
          <a:prstGeom prst="rect">
            <a:avLst/>
          </a:prstGeom>
          <a:noFill/>
          <a:ln/>
        </p:spPr>
        <p:txBody>
          <a:bodyPr wrap="square" lIns="0" tIns="0" rIns="0" bIns="0" rtlCol="0" anchor="ctr"/>
          <a:lstStyle/>
          <a:p>
            <a:pPr algn="ctr" indent="0" marL="0">
              <a:buNone/>
            </a:pPr>
            <a:r>
              <a:rPr lang="en-US" sz="750" i="1" dirty="0">
                <a:solidFill>
                  <a:srgbClr val="2F8F48"/>
                </a:solidFill>
                <a:latin typeface="Calibri" pitchFamily="34" charset="0"/>
                <a:ea typeface="Calibri" pitchFamily="34" charset="-122"/>
                <a:cs typeface="Calibri" pitchFamily="34" charset="-120"/>
              </a:rPr>
              <a:t>an early exit is still a finished run</a:t>
            </a:r>
            <a:endParaRPr lang="en-US" sz="750" dirty="0"/>
          </a:p>
        </p:txBody>
      </p:sp>
      <p:sp>
        <p:nvSpPr>
          <p:cNvPr id="42" name="Text 32"/>
          <p:cNvSpPr txBox="1"/>
          <p:nvPr/>
        </p:nvSpPr>
        <p:spPr>
          <a:xfrm>
            <a:off x="1051560" y="3310128"/>
            <a:ext cx="1737360" cy="182880"/>
          </a:xfrm>
          <a:prstGeom prst="rect">
            <a:avLst/>
          </a:prstGeom>
          <a:noFill/>
          <a:ln/>
        </p:spPr>
        <p:txBody>
          <a:bodyPr wrap="square" lIns="0" tIns="0" rIns="0" bIns="0" rtlCol="0" anchor="ctr"/>
          <a:lstStyle/>
          <a:p>
            <a:pPr algn="ctr" indent="0" marL="0">
              <a:buNone/>
            </a:pPr>
            <a:r>
              <a:rPr lang="en-US" sz="750" i="1" dirty="0">
                <a:solidFill>
                  <a:srgbClr val="58697A"/>
                </a:solidFill>
                <a:latin typeface="Calibri" pitchFamily="34" charset="0"/>
                <a:ea typeface="Calibri" pitchFamily="34" charset="-122"/>
                <a:cs typeface="Calibri" pitchFamily="34" charset="-120"/>
              </a:rPr>
              <a:t>conditional edge</a:t>
            </a:r>
            <a:endParaRPr lang="en-US" sz="750" dirty="0"/>
          </a:p>
        </p:txBody>
      </p:sp>
      <p:sp>
        <p:nvSpPr>
          <p:cNvPr id="43" name="Text 33"/>
          <p:cNvSpPr txBox="1"/>
          <p:nvPr/>
        </p:nvSpPr>
        <p:spPr>
          <a:xfrm>
            <a:off x="3429000" y="3310128"/>
            <a:ext cx="1737360" cy="182880"/>
          </a:xfrm>
          <a:prstGeom prst="rect">
            <a:avLst/>
          </a:prstGeom>
          <a:noFill/>
          <a:ln/>
        </p:spPr>
        <p:txBody>
          <a:bodyPr wrap="square" lIns="0" tIns="0" rIns="0" bIns="0" rtlCol="0" anchor="ctr"/>
          <a:lstStyle/>
          <a:p>
            <a:pPr algn="ctr" indent="0" marL="0">
              <a:buNone/>
            </a:pPr>
            <a:r>
              <a:rPr lang="en-US" sz="750" i="1" dirty="0">
                <a:solidFill>
                  <a:srgbClr val="58697A"/>
                </a:solidFill>
                <a:latin typeface="Calibri" pitchFamily="34" charset="0"/>
                <a:ea typeface="Calibri" pitchFamily="34" charset="-122"/>
                <a:cs typeface="Calibri" pitchFamily="34" charset="-120"/>
              </a:rPr>
              <a:t>conditional edge</a:t>
            </a:r>
            <a:endParaRPr lang="en-US" sz="750" dirty="0"/>
          </a:p>
        </p:txBody>
      </p:sp>
      <p:sp>
        <p:nvSpPr>
          <p:cNvPr id="44" name="Shape 34"/>
          <p:cNvSpPr/>
          <p:nvPr/>
        </p:nvSpPr>
        <p:spPr>
          <a:xfrm>
            <a:off x="5852160" y="3611880"/>
            <a:ext cx="4572000" cy="640080"/>
          </a:xfrm>
          <a:prstGeom prst="roundRect">
            <a:avLst>
              <a:gd name="adj" fmla="val 14286"/>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45" name="Image 8" descr="preencoded.png">    </p:cNvPr>
          <p:cNvPicPr>
            <a:picLocks noChangeAspect="1"/>
          </p:cNvPicPr>
          <p:nvPr/>
        </p:nvPicPr>
        <p:blipFill>
          <a:blip r:embed="rId9"/>
          <a:stretch>
            <a:fillRect/>
          </a:stretch>
        </p:blipFill>
        <p:spPr>
          <a:xfrm>
            <a:off x="5971032" y="3712464"/>
            <a:ext cx="182880" cy="182880"/>
          </a:xfrm>
          <a:prstGeom prst="rect">
            <a:avLst/>
          </a:prstGeom>
        </p:spPr>
      </p:pic>
      <p:sp>
        <p:nvSpPr>
          <p:cNvPr id="46" name="Text 35"/>
          <p:cNvSpPr txBox="1"/>
          <p:nvPr/>
        </p:nvSpPr>
        <p:spPr>
          <a:xfrm>
            <a:off x="5943600" y="3611880"/>
            <a:ext cx="4389120" cy="640080"/>
          </a:xfrm>
          <a:prstGeom prst="rect">
            <a:avLst/>
          </a:prstGeom>
          <a:noFill/>
          <a:ln/>
        </p:spPr>
        <p:txBody>
          <a:bodyPr wrap="square" lIns="0" tIns="0" rIns="0" bIns="0" rtlCol="0" anchor="ctr"/>
          <a:lstStyle/>
          <a:p>
            <a:pPr algn="ctr" indent="0" marL="0">
              <a:lnSpc>
                <a:spcPct val="104000"/>
              </a:lnSpc>
              <a:buNone/>
            </a:pPr>
            <a:r>
              <a:rPr lang="en-US" sz="950" b="1" dirty="0">
                <a:solidFill>
                  <a:srgbClr val="64430A"/>
                </a:solidFill>
                <a:latin typeface="Calibri" pitchFamily="34" charset="0"/>
                <a:ea typeface="Calibri" pitchFamily="34" charset="-122"/>
                <a:cs typeface="Calibri" pitchFamily="34" charset="-120"/>
              </a:rPr>
              <a:t>resolved_website / resolved_cik verified against the gathered signals, in code</a:t>
            </a:r>
            <a:endParaRPr lang="en-US" sz="9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an invented or paraphrased identifier cannot survive this step</a:t>
            </a:r>
            <a:endParaRPr lang="en-US" sz="950" dirty="0"/>
          </a:p>
        </p:txBody>
      </p:sp>
      <p:sp>
        <p:nvSpPr>
          <p:cNvPr id="47" name="Shape 36"/>
          <p:cNvSpPr/>
          <p:nvPr/>
        </p:nvSpPr>
        <p:spPr>
          <a:xfrm>
            <a:off x="6858000" y="2916936"/>
            <a:ext cx="0" cy="658368"/>
          </a:xfrm>
          <a:prstGeom prst="line">
            <a:avLst/>
          </a:prstGeom>
          <a:noFill/>
          <a:ln w="16510">
            <a:solidFill>
              <a:srgbClr val="C9871B"/>
            </a:solidFill>
            <a:prstDash val="solid"/>
            <a:headEnd type="none"/>
            <a:tailEnd type="triangle"/>
          </a:ln>
        </p:spPr>
      </p:sp>
      <p:sp>
        <p:nvSpPr>
          <p:cNvPr id="48" name="Shape 37"/>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49" name="Text 38"/>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50" name="Text 39"/>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arp/discovery/identity_pipeline.py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arp/discovery/{identity_graph,identity_agents}.py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arp/ingestion/edgar.py (search_by_name) · site_finder.py</a:t>
            </a:r>
            <a:endParaRPr lang="en-US" sz="860" dirty="0"/>
          </a:p>
        </p:txBody>
      </p:sp>
      <p:sp>
        <p:nvSpPr>
          <p:cNvPr id="51" name="Shape 40"/>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52" name="Text 41"/>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3" name="Text 42"/>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universe rows — name, optional ticker, CIK, website.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IdentityResolutionResult — verdict, confidence,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resolved website and CIK.</a:t>
            </a:r>
            <a:endParaRPr lang="en-US" sz="860" dirty="0"/>
          </a:p>
        </p:txBody>
      </p:sp>
      <p:sp>
        <p:nvSpPr>
          <p:cNvPr id="54" name="Shape 43"/>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55" name="Text 44"/>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56" name="Text 45"/>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Low confidence is required for anything short of a clean match.</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Candidates come only from EDGAR and real search results.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“Uncertain” is a routing decision, not a softened “resolved”.</a:t>
            </a:r>
            <a:endParaRPr lang="en-US" sz="8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07   ·   INDIRECT EXPOSURE TIER</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Exposure a company never mentions</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A structural, purely quantitative read on supply-chain exposure — for companies whose disclosures stay silent.</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691640"/>
            <a:ext cx="3200400" cy="2788920"/>
          </a:xfrm>
          <a:prstGeom prst="roundRect">
            <a:avLst>
              <a:gd name="adj" fmla="val 1311"/>
            </a:avLst>
          </a:prstGeom>
          <a:solidFill>
            <a:srgbClr val="F4F7FA"/>
          </a:solidFill>
          <a:ln w="15875">
            <a:solidFill>
              <a:srgbClr val="9FB2C4"/>
            </a:solidFill>
            <a:prstDash val="solid"/>
          </a:ln>
        </p:spPr>
      </p:sp>
      <p:sp>
        <p:nvSpPr>
          <p:cNvPr id="8" name="Shape 5"/>
          <p:cNvSpPr/>
          <p:nvPr/>
        </p:nvSpPr>
        <p:spPr>
          <a:xfrm>
            <a:off x="740664" y="1572768"/>
            <a:ext cx="2231136" cy="274320"/>
          </a:xfrm>
          <a:prstGeom prst="roundRect">
            <a:avLst>
              <a:gd name="adj" fmla="val 50000"/>
            </a:avLst>
          </a:prstGeom>
          <a:solidFill>
            <a:srgbClr val="64798F"/>
          </a:solidFill>
          <a:ln/>
        </p:spPr>
      </p:sp>
      <p:pic>
        <p:nvPicPr>
          <p:cNvPr id="9" name="Image 1" descr="preencoded.png">    </p:cNvPr>
          <p:cNvPicPr>
            <a:picLocks noChangeAspect="1"/>
          </p:cNvPicPr>
          <p:nvPr/>
        </p:nvPicPr>
        <p:blipFill>
          <a:blip r:embed="rId2"/>
          <a:stretch>
            <a:fillRect/>
          </a:stretch>
        </p:blipFill>
        <p:spPr>
          <a:xfrm>
            <a:off x="859536" y="1641348"/>
            <a:ext cx="132588" cy="132588"/>
          </a:xfrm>
          <a:prstGeom prst="rect">
            <a:avLst/>
          </a:prstGeom>
        </p:spPr>
      </p:pic>
      <p:sp>
        <p:nvSpPr>
          <p:cNvPr id="10" name="Text 6"/>
          <p:cNvSpPr txBox="1"/>
          <p:nvPr/>
        </p:nvSpPr>
        <p:spPr>
          <a:xfrm>
            <a:off x="1014984" y="1572768"/>
            <a:ext cx="1956816"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INDUSTRY × INDUSTRY FLOWS</a:t>
            </a:r>
            <a:endParaRPr lang="en-US" sz="850" dirty="0"/>
          </a:p>
        </p:txBody>
      </p:sp>
      <p:sp>
        <p:nvSpPr>
          <p:cNvPr id="11" name="Shape 7"/>
          <p:cNvSpPr/>
          <p:nvPr/>
        </p:nvSpPr>
        <p:spPr>
          <a:xfrm>
            <a:off x="1051560" y="2148840"/>
            <a:ext cx="429768" cy="429768"/>
          </a:xfrm>
          <a:prstGeom prst="rect">
            <a:avLst/>
          </a:prstGeom>
          <a:solidFill>
            <a:srgbClr val="108494"/>
          </a:solidFill>
          <a:ln w="9525">
            <a:solidFill>
              <a:srgbClr val="AFC0D0"/>
            </a:solidFill>
            <a:prstDash val="solid"/>
          </a:ln>
        </p:spPr>
      </p:sp>
      <p:sp>
        <p:nvSpPr>
          <p:cNvPr id="12" name="Shape 8"/>
          <p:cNvSpPr/>
          <p:nvPr/>
        </p:nvSpPr>
        <p:spPr>
          <a:xfrm>
            <a:off x="1554480" y="2148840"/>
            <a:ext cx="429768" cy="429768"/>
          </a:xfrm>
          <a:prstGeom prst="rect">
            <a:avLst/>
          </a:prstGeom>
          <a:solidFill>
            <a:srgbClr val="E3EDFC"/>
          </a:solidFill>
          <a:ln w="9525">
            <a:solidFill>
              <a:srgbClr val="AFC0D0"/>
            </a:solidFill>
            <a:prstDash val="solid"/>
          </a:ln>
        </p:spPr>
      </p:sp>
      <p:sp>
        <p:nvSpPr>
          <p:cNvPr id="13" name="Shape 9"/>
          <p:cNvSpPr/>
          <p:nvPr/>
        </p:nvSpPr>
        <p:spPr>
          <a:xfrm>
            <a:off x="2057400" y="2148840"/>
            <a:ext cx="429768" cy="429768"/>
          </a:xfrm>
          <a:prstGeom prst="rect">
            <a:avLst/>
          </a:prstGeom>
          <a:solidFill>
            <a:srgbClr val="EAF0F5"/>
          </a:solidFill>
          <a:ln w="9525">
            <a:solidFill>
              <a:srgbClr val="AFC0D0"/>
            </a:solidFill>
            <a:prstDash val="solid"/>
          </a:ln>
        </p:spPr>
      </p:sp>
      <p:sp>
        <p:nvSpPr>
          <p:cNvPr id="14" name="Shape 10"/>
          <p:cNvSpPr/>
          <p:nvPr/>
        </p:nvSpPr>
        <p:spPr>
          <a:xfrm>
            <a:off x="2560320" y="2148840"/>
            <a:ext cx="429768" cy="429768"/>
          </a:xfrm>
          <a:prstGeom prst="rect">
            <a:avLst/>
          </a:prstGeom>
          <a:solidFill>
            <a:srgbClr val="DCF2F4"/>
          </a:solidFill>
          <a:ln w="9525">
            <a:solidFill>
              <a:srgbClr val="AFC0D0"/>
            </a:solidFill>
            <a:prstDash val="solid"/>
          </a:ln>
        </p:spPr>
      </p:sp>
      <p:sp>
        <p:nvSpPr>
          <p:cNvPr id="15" name="Shape 11"/>
          <p:cNvSpPr/>
          <p:nvPr/>
        </p:nvSpPr>
        <p:spPr>
          <a:xfrm>
            <a:off x="1051560" y="2651760"/>
            <a:ext cx="429768" cy="429768"/>
          </a:xfrm>
          <a:prstGeom prst="rect">
            <a:avLst/>
          </a:prstGeom>
          <a:solidFill>
            <a:srgbClr val="EAF0F5"/>
          </a:solidFill>
          <a:ln w="9525">
            <a:solidFill>
              <a:srgbClr val="AFC0D0"/>
            </a:solidFill>
            <a:prstDash val="solid"/>
          </a:ln>
        </p:spPr>
      </p:sp>
      <p:sp>
        <p:nvSpPr>
          <p:cNvPr id="16" name="Shape 12"/>
          <p:cNvSpPr/>
          <p:nvPr/>
        </p:nvSpPr>
        <p:spPr>
          <a:xfrm>
            <a:off x="1554480" y="2651760"/>
            <a:ext cx="429768" cy="429768"/>
          </a:xfrm>
          <a:prstGeom prst="rect">
            <a:avLst/>
          </a:prstGeom>
          <a:solidFill>
            <a:srgbClr val="2F6FD0"/>
          </a:solidFill>
          <a:ln w="9525">
            <a:solidFill>
              <a:srgbClr val="AFC0D0"/>
            </a:solidFill>
            <a:prstDash val="solid"/>
          </a:ln>
        </p:spPr>
      </p:sp>
      <p:sp>
        <p:nvSpPr>
          <p:cNvPr id="17" name="Shape 13"/>
          <p:cNvSpPr/>
          <p:nvPr/>
        </p:nvSpPr>
        <p:spPr>
          <a:xfrm>
            <a:off x="2057400" y="2651760"/>
            <a:ext cx="429768" cy="429768"/>
          </a:xfrm>
          <a:prstGeom prst="rect">
            <a:avLst/>
          </a:prstGeom>
          <a:solidFill>
            <a:srgbClr val="E0F3E3"/>
          </a:solidFill>
          <a:ln w="9525">
            <a:solidFill>
              <a:srgbClr val="AFC0D0"/>
            </a:solidFill>
            <a:prstDash val="solid"/>
          </a:ln>
        </p:spPr>
      </p:sp>
      <p:sp>
        <p:nvSpPr>
          <p:cNvPr id="18" name="Shape 14"/>
          <p:cNvSpPr/>
          <p:nvPr/>
        </p:nvSpPr>
        <p:spPr>
          <a:xfrm>
            <a:off x="2560320" y="2651760"/>
            <a:ext cx="429768" cy="429768"/>
          </a:xfrm>
          <a:prstGeom prst="rect">
            <a:avLst/>
          </a:prstGeom>
          <a:solidFill>
            <a:srgbClr val="EAF0F5"/>
          </a:solidFill>
          <a:ln w="9525">
            <a:solidFill>
              <a:srgbClr val="AFC0D0"/>
            </a:solidFill>
            <a:prstDash val="solid"/>
          </a:ln>
        </p:spPr>
      </p:sp>
      <p:sp>
        <p:nvSpPr>
          <p:cNvPr id="19" name="Shape 15"/>
          <p:cNvSpPr/>
          <p:nvPr/>
        </p:nvSpPr>
        <p:spPr>
          <a:xfrm>
            <a:off x="1051560" y="3154680"/>
            <a:ext cx="429768" cy="429768"/>
          </a:xfrm>
          <a:prstGeom prst="rect">
            <a:avLst/>
          </a:prstGeom>
          <a:solidFill>
            <a:srgbClr val="DCF2F4"/>
          </a:solidFill>
          <a:ln w="9525">
            <a:solidFill>
              <a:srgbClr val="AFC0D0"/>
            </a:solidFill>
            <a:prstDash val="solid"/>
          </a:ln>
        </p:spPr>
      </p:sp>
      <p:sp>
        <p:nvSpPr>
          <p:cNvPr id="20" name="Shape 16"/>
          <p:cNvSpPr/>
          <p:nvPr/>
        </p:nvSpPr>
        <p:spPr>
          <a:xfrm>
            <a:off x="1554480" y="3154680"/>
            <a:ext cx="429768" cy="429768"/>
          </a:xfrm>
          <a:prstGeom prst="rect">
            <a:avLst/>
          </a:prstGeom>
          <a:solidFill>
            <a:srgbClr val="EAF0F5"/>
          </a:solidFill>
          <a:ln w="9525">
            <a:solidFill>
              <a:srgbClr val="AFC0D0"/>
            </a:solidFill>
            <a:prstDash val="solid"/>
          </a:ln>
        </p:spPr>
      </p:sp>
      <p:sp>
        <p:nvSpPr>
          <p:cNvPr id="21" name="Shape 17"/>
          <p:cNvSpPr/>
          <p:nvPr/>
        </p:nvSpPr>
        <p:spPr>
          <a:xfrm>
            <a:off x="2057400" y="3154680"/>
            <a:ext cx="429768" cy="429768"/>
          </a:xfrm>
          <a:prstGeom prst="rect">
            <a:avLst/>
          </a:prstGeom>
          <a:solidFill>
            <a:srgbClr val="108494"/>
          </a:solidFill>
          <a:ln w="9525">
            <a:solidFill>
              <a:srgbClr val="AFC0D0"/>
            </a:solidFill>
            <a:prstDash val="solid"/>
          </a:ln>
        </p:spPr>
      </p:sp>
      <p:sp>
        <p:nvSpPr>
          <p:cNvPr id="22" name="Shape 18"/>
          <p:cNvSpPr/>
          <p:nvPr/>
        </p:nvSpPr>
        <p:spPr>
          <a:xfrm>
            <a:off x="2560320" y="3154680"/>
            <a:ext cx="429768" cy="429768"/>
          </a:xfrm>
          <a:prstGeom prst="rect">
            <a:avLst/>
          </a:prstGeom>
          <a:solidFill>
            <a:srgbClr val="E3EDFC"/>
          </a:solidFill>
          <a:ln w="9525">
            <a:solidFill>
              <a:srgbClr val="AFC0D0"/>
            </a:solidFill>
            <a:prstDash val="solid"/>
          </a:ln>
        </p:spPr>
      </p:sp>
      <p:sp>
        <p:nvSpPr>
          <p:cNvPr id="23" name="Shape 19"/>
          <p:cNvSpPr/>
          <p:nvPr/>
        </p:nvSpPr>
        <p:spPr>
          <a:xfrm>
            <a:off x="1051560" y="3657600"/>
            <a:ext cx="429768" cy="429768"/>
          </a:xfrm>
          <a:prstGeom prst="rect">
            <a:avLst/>
          </a:prstGeom>
          <a:solidFill>
            <a:srgbClr val="EAF0F5"/>
          </a:solidFill>
          <a:ln w="9525">
            <a:solidFill>
              <a:srgbClr val="AFC0D0"/>
            </a:solidFill>
            <a:prstDash val="solid"/>
          </a:ln>
        </p:spPr>
      </p:sp>
      <p:sp>
        <p:nvSpPr>
          <p:cNvPr id="24" name="Shape 20"/>
          <p:cNvSpPr/>
          <p:nvPr/>
        </p:nvSpPr>
        <p:spPr>
          <a:xfrm>
            <a:off x="1554480" y="3657600"/>
            <a:ext cx="429768" cy="429768"/>
          </a:xfrm>
          <a:prstGeom prst="rect">
            <a:avLst/>
          </a:prstGeom>
          <a:solidFill>
            <a:srgbClr val="E0F3E3"/>
          </a:solidFill>
          <a:ln w="9525">
            <a:solidFill>
              <a:srgbClr val="AFC0D0"/>
            </a:solidFill>
            <a:prstDash val="solid"/>
          </a:ln>
        </p:spPr>
      </p:sp>
      <p:sp>
        <p:nvSpPr>
          <p:cNvPr id="25" name="Shape 21"/>
          <p:cNvSpPr/>
          <p:nvPr/>
        </p:nvSpPr>
        <p:spPr>
          <a:xfrm>
            <a:off x="2057400" y="3657600"/>
            <a:ext cx="429768" cy="429768"/>
          </a:xfrm>
          <a:prstGeom prst="rect">
            <a:avLst/>
          </a:prstGeom>
          <a:solidFill>
            <a:srgbClr val="EAF0F5"/>
          </a:solidFill>
          <a:ln w="9525">
            <a:solidFill>
              <a:srgbClr val="AFC0D0"/>
            </a:solidFill>
            <a:prstDash val="solid"/>
          </a:ln>
        </p:spPr>
      </p:sp>
      <p:sp>
        <p:nvSpPr>
          <p:cNvPr id="26" name="Shape 22"/>
          <p:cNvSpPr/>
          <p:nvPr/>
        </p:nvSpPr>
        <p:spPr>
          <a:xfrm>
            <a:off x="2560320" y="3657600"/>
            <a:ext cx="429768" cy="429768"/>
          </a:xfrm>
          <a:prstGeom prst="rect">
            <a:avLst/>
          </a:prstGeom>
          <a:solidFill>
            <a:srgbClr val="108494"/>
          </a:solidFill>
          <a:ln w="9525">
            <a:solidFill>
              <a:srgbClr val="AFC0D0"/>
            </a:solidFill>
            <a:prstDash val="solid"/>
          </a:ln>
        </p:spPr>
      </p:sp>
      <p:sp>
        <p:nvSpPr>
          <p:cNvPr id="27" name="Text 23"/>
          <p:cNvSpPr txBox="1"/>
          <p:nvPr/>
        </p:nvSpPr>
        <p:spPr>
          <a:xfrm>
            <a:off x="704088" y="2148840"/>
            <a:ext cx="384048" cy="2011680"/>
          </a:xfrm>
          <a:prstGeom prst="rect">
            <a:avLst/>
          </a:prstGeom>
          <a:noFill/>
          <a:ln/>
        </p:spPr>
        <p:txBody>
          <a:bodyPr wrap="square" lIns="0" tIns="0" rIns="0" bIns="0" rtlCol="0" anchor="ctr"/>
          <a:lstStyle/>
          <a:p>
            <a:pPr algn="ctr" indent="0" marL="0">
              <a:buNone/>
            </a:pPr>
            <a:r>
              <a:rPr lang="en-US" sz="750" dirty="0">
                <a:solidFill>
                  <a:srgbClr val="58697A"/>
                </a:solidFill>
                <a:latin typeface="Calibri" pitchFamily="34" charset="0"/>
                <a:ea typeface="Calibri" pitchFamily="34" charset="-122"/>
                <a:cs typeface="Calibri" pitchFamily="34" charset="-120"/>
              </a:rPr>
              <a:t>supplying</a:t>
            </a:r>
            <a:endParaRPr lang="en-US" sz="750" dirty="0"/>
          </a:p>
          <a:p>
            <a:pPr algn="ctr" indent="0" marL="0">
              <a:buNone/>
            </a:pPr>
            <a:r>
              <a:rPr lang="en-US" sz="750" dirty="0">
                <a:solidFill>
                  <a:srgbClr val="58697A"/>
                </a:solidFill>
                <a:latin typeface="Calibri" pitchFamily="34" charset="0"/>
                <a:ea typeface="Calibri" pitchFamily="34" charset="-122"/>
                <a:cs typeface="Calibri" pitchFamily="34" charset="-120"/>
              </a:rPr>
              <a:t>industry</a:t>
            </a:r>
            <a:endParaRPr lang="en-US" sz="750" dirty="0"/>
          </a:p>
        </p:txBody>
      </p:sp>
      <p:sp>
        <p:nvSpPr>
          <p:cNvPr id="28" name="Text 24"/>
          <p:cNvSpPr txBox="1"/>
          <p:nvPr/>
        </p:nvSpPr>
        <p:spPr>
          <a:xfrm>
            <a:off x="1051560" y="4187952"/>
            <a:ext cx="2011680" cy="219456"/>
          </a:xfrm>
          <a:prstGeom prst="rect">
            <a:avLst/>
          </a:prstGeom>
          <a:noFill/>
          <a:ln/>
        </p:spPr>
        <p:txBody>
          <a:bodyPr wrap="square" lIns="0" tIns="0" rIns="0" bIns="0" rtlCol="0" anchor="ctr"/>
          <a:lstStyle/>
          <a:p>
            <a:pPr algn="ctr" indent="0" marL="0">
              <a:buNone/>
            </a:pPr>
            <a:r>
              <a:rPr lang="en-US" sz="750" dirty="0">
                <a:solidFill>
                  <a:srgbClr val="58697A"/>
                </a:solidFill>
                <a:latin typeface="Calibri" pitchFamily="34" charset="0"/>
                <a:ea typeface="Calibri" pitchFamily="34" charset="-122"/>
                <a:cs typeface="Calibri" pitchFamily="34" charset="-120"/>
              </a:rPr>
              <a:t>using industry</a:t>
            </a:r>
            <a:endParaRPr lang="en-US" sz="750" dirty="0"/>
          </a:p>
        </p:txBody>
      </p:sp>
      <p:sp>
        <p:nvSpPr>
          <p:cNvPr id="29" name="Shape 25"/>
          <p:cNvSpPr/>
          <p:nvPr/>
        </p:nvSpPr>
        <p:spPr>
          <a:xfrm>
            <a:off x="4069080" y="2103120"/>
            <a:ext cx="2834640" cy="914400"/>
          </a:xfrm>
          <a:prstGeom prst="roundRect">
            <a:avLst>
              <a:gd name="adj" fmla="val 10000"/>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30" name="Image 2" descr="preencoded.png">    </p:cNvPr>
          <p:cNvPicPr>
            <a:picLocks noChangeAspect="1"/>
          </p:cNvPicPr>
          <p:nvPr/>
        </p:nvPicPr>
        <p:blipFill>
          <a:blip r:embed="rId3"/>
          <a:stretch>
            <a:fillRect/>
          </a:stretch>
        </p:blipFill>
        <p:spPr>
          <a:xfrm>
            <a:off x="4187952" y="2203704"/>
            <a:ext cx="182880" cy="182880"/>
          </a:xfrm>
          <a:prstGeom prst="rect">
            <a:avLst/>
          </a:prstGeom>
        </p:spPr>
      </p:pic>
      <p:sp>
        <p:nvSpPr>
          <p:cNvPr id="31" name="Text 26"/>
          <p:cNvSpPr txBox="1"/>
          <p:nvPr/>
        </p:nvSpPr>
        <p:spPr>
          <a:xfrm>
            <a:off x="4160520" y="2103120"/>
            <a:ext cx="2651760" cy="91440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108494"/>
                </a:solidFill>
                <a:latin typeface="Calibri" pitchFamily="34" charset="0"/>
                <a:ea typeface="Calibri" pitchFamily="34" charset="-122"/>
                <a:cs typeface="Calibri" pitchFamily="34" charset="-120"/>
              </a:rPr>
              <a:t>TECHNICAL COEFFICIENTS</a:t>
            </a:r>
            <a:endParaRPr lang="en-US" sz="700" dirty="0"/>
          </a:p>
          <a:p>
            <a:pPr algn="ctr" indent="0" marL="0">
              <a:lnSpc>
                <a:spcPct val="104000"/>
              </a:lnSpc>
              <a:buNone/>
            </a:pPr>
            <a:r>
              <a:rPr lang="en-US" sz="1150" b="1" dirty="0">
                <a:solidFill>
                  <a:srgbClr val="0A4451"/>
                </a:solidFill>
                <a:latin typeface="Calibri" pitchFamily="34" charset="0"/>
                <a:ea typeface="Calibri" pitchFamily="34" charset="-122"/>
                <a:cs typeface="Calibri" pitchFamily="34" charset="-120"/>
              </a:rPr>
              <a:t>A[i,j] = flow[i,j] ÷ output[j]</a:t>
            </a:r>
            <a:endParaRPr lang="en-US" sz="70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computed once per run</a:t>
            </a:r>
            <a:endParaRPr lang="en-US" sz="700" dirty="0"/>
          </a:p>
        </p:txBody>
      </p:sp>
      <p:sp>
        <p:nvSpPr>
          <p:cNvPr id="32" name="Shape 27"/>
          <p:cNvSpPr/>
          <p:nvPr/>
        </p:nvSpPr>
        <p:spPr>
          <a:xfrm flipV="1">
            <a:off x="3840480" y="2560320"/>
            <a:ext cx="182880" cy="502920"/>
          </a:xfrm>
          <a:prstGeom prst="line">
            <a:avLst/>
          </a:prstGeom>
          <a:noFill/>
          <a:ln w="17780">
            <a:solidFill>
              <a:srgbClr val="108494"/>
            </a:solidFill>
            <a:prstDash val="solid"/>
            <a:headEnd type="none"/>
            <a:tailEnd type="triangle"/>
          </a:ln>
        </p:spPr>
      </p:sp>
      <p:sp>
        <p:nvSpPr>
          <p:cNvPr id="33" name="Shape 28"/>
          <p:cNvSpPr/>
          <p:nvPr/>
        </p:nvSpPr>
        <p:spPr>
          <a:xfrm>
            <a:off x="4069080" y="3246120"/>
            <a:ext cx="2834640" cy="1234440"/>
          </a:xfrm>
          <a:prstGeom prst="roundRect">
            <a:avLst>
              <a:gd name="adj" fmla="val 7407"/>
            </a:avLst>
          </a:prstGeom>
          <a:solidFill>
            <a:srgbClr val="E8E1FB"/>
          </a:solidFill>
          <a:ln w="15875">
            <a:solidFill>
              <a:srgbClr val="7B5BD6"/>
            </a:solidFill>
            <a:prstDash val="solid"/>
          </a:ln>
          <a:effectLst>
            <a:outerShdw sx="100000" sy="100000" kx="0" ky="0" algn="bl" rotWithShape="0" blurRad="101600" dist="19050" dir="5400000">
              <a:srgbClr val="9FB0C2">
                <a:alpha val="24000"/>
              </a:srgbClr>
            </a:outerShdw>
          </a:effectLst>
        </p:spPr>
      </p:sp>
      <p:sp>
        <p:nvSpPr>
          <p:cNvPr id="34" name="Text 29"/>
          <p:cNvSpPr txBox="1"/>
          <p:nvPr/>
        </p:nvSpPr>
        <p:spPr>
          <a:xfrm>
            <a:off x="4160520" y="3346704"/>
            <a:ext cx="2651760" cy="182880"/>
          </a:xfrm>
          <a:prstGeom prst="rect">
            <a:avLst/>
          </a:prstGeom>
          <a:noFill/>
          <a:ln/>
        </p:spPr>
        <p:txBody>
          <a:bodyPr wrap="square" lIns="0" tIns="0" rIns="0" bIns="0" rtlCol="0" anchor="ctr"/>
          <a:lstStyle/>
          <a:p>
            <a:pPr algn="ctr" indent="0" marL="0">
              <a:buNone/>
            </a:pPr>
            <a:r>
              <a:rPr lang="en-US" sz="750" b="1" spc="110" kern="0" dirty="0">
                <a:solidFill>
                  <a:srgbClr val="6D4DD1"/>
                </a:solidFill>
                <a:latin typeface="Calibri" pitchFamily="34" charset="0"/>
                <a:ea typeface="Calibri" pitchFamily="34" charset="-122"/>
                <a:cs typeface="Calibri" pitchFamily="34" charset="-120"/>
              </a:rPr>
              <a:t>LEONTIEF INVERSE</a:t>
            </a:r>
            <a:endParaRPr lang="en-US" sz="750" dirty="0"/>
          </a:p>
        </p:txBody>
      </p:sp>
      <p:sp>
        <p:nvSpPr>
          <p:cNvPr id="35" name="Text 30"/>
          <p:cNvSpPr txBox="1"/>
          <p:nvPr/>
        </p:nvSpPr>
        <p:spPr>
          <a:xfrm>
            <a:off x="4160520" y="3566160"/>
            <a:ext cx="2651760" cy="457200"/>
          </a:xfrm>
          <a:prstGeom prst="rect">
            <a:avLst/>
          </a:prstGeom>
          <a:noFill/>
          <a:ln/>
        </p:spPr>
        <p:txBody>
          <a:bodyPr wrap="square" lIns="0" tIns="0" rIns="0" bIns="0" rtlCol="0" anchor="ctr"/>
          <a:lstStyle/>
          <a:p>
            <a:pPr algn="ctr" indent="0" marL="0">
              <a:buNone/>
            </a:pPr>
            <a:r>
              <a:rPr lang="en-US" sz="2400" b="1" dirty="0">
                <a:solidFill>
                  <a:srgbClr val="35236E"/>
                </a:solidFill>
                <a:latin typeface="Cambria" pitchFamily="34" charset="0"/>
                <a:ea typeface="Cambria" pitchFamily="34" charset="-122"/>
                <a:cs typeface="Cambria" pitchFamily="34" charset="-120"/>
              </a:rPr>
              <a:t>L = (I − A)</a:t>
            </a:r>
            <a:pPr algn="ctr" indent="0" marL="0">
              <a:buNone/>
            </a:pPr>
            <a:r>
              <a:rPr lang="en-US" sz="2400" b="1" baseline="30000" dirty="0">
                <a:solidFill>
                  <a:srgbClr val="35236E"/>
                </a:solidFill>
                <a:latin typeface="Cambria" pitchFamily="34" charset="0"/>
                <a:ea typeface="Cambria" pitchFamily="34" charset="-122"/>
                <a:cs typeface="Cambria" pitchFamily="34" charset="-120"/>
              </a:rPr>
              <a:t>−1</a:t>
            </a:r>
            <a:endParaRPr lang="en-US" sz="2400" dirty="0"/>
          </a:p>
        </p:txBody>
      </p:sp>
      <p:sp>
        <p:nvSpPr>
          <p:cNvPr id="36" name="Text 31"/>
          <p:cNvSpPr txBox="1"/>
          <p:nvPr/>
        </p:nvSpPr>
        <p:spPr>
          <a:xfrm>
            <a:off x="4206240" y="4005072"/>
            <a:ext cx="2560320" cy="365760"/>
          </a:xfrm>
          <a:prstGeom prst="rect">
            <a:avLst/>
          </a:prstGeom>
          <a:noFill/>
          <a:ln/>
        </p:spPr>
        <p:txBody>
          <a:bodyPr wrap="square" lIns="0" tIns="0" rIns="0" bIns="0" rtlCol="0" anchor="ctr"/>
          <a:lstStyle/>
          <a:p>
            <a:pPr algn="ctr" indent="0" marL="0">
              <a:buNone/>
            </a:pPr>
            <a:r>
              <a:rPr lang="en-US" sz="820" dirty="0">
                <a:solidFill>
                  <a:srgbClr val="35236E"/>
                </a:solidFill>
                <a:latin typeface="Calibri" pitchFamily="34" charset="0"/>
                <a:ea typeface="Calibri" pitchFamily="34" charset="-122"/>
                <a:cs typeface="Calibri" pitchFamily="34" charset="-120"/>
              </a:rPr>
              <a:t>direct plus indirect share of an industry's inputs or outputs tracing to the theme's core sectors</a:t>
            </a:r>
            <a:endParaRPr lang="en-US" sz="820" dirty="0"/>
          </a:p>
        </p:txBody>
      </p:sp>
      <p:sp>
        <p:nvSpPr>
          <p:cNvPr id="37" name="Shape 32"/>
          <p:cNvSpPr/>
          <p:nvPr/>
        </p:nvSpPr>
        <p:spPr>
          <a:xfrm>
            <a:off x="5486400" y="3035808"/>
            <a:ext cx="0" cy="173736"/>
          </a:xfrm>
          <a:prstGeom prst="line">
            <a:avLst/>
          </a:prstGeom>
          <a:noFill/>
          <a:ln w="17780">
            <a:solidFill>
              <a:srgbClr val="108494"/>
            </a:solidFill>
            <a:prstDash val="solid"/>
            <a:headEnd type="none"/>
            <a:tailEnd type="triangle"/>
          </a:ln>
        </p:spPr>
      </p:sp>
      <p:sp>
        <p:nvSpPr>
          <p:cNvPr id="38" name="Shape 33"/>
          <p:cNvSpPr/>
          <p:nvPr/>
        </p:nvSpPr>
        <p:spPr>
          <a:xfrm>
            <a:off x="7635240" y="1691640"/>
            <a:ext cx="3959352" cy="777240"/>
          </a:xfrm>
          <a:prstGeom prst="roundRect">
            <a:avLst>
              <a:gd name="adj" fmla="val 1176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39" name="Image 3" descr="preencoded.png">    </p:cNvPr>
          <p:cNvPicPr>
            <a:picLocks noChangeAspect="1"/>
          </p:cNvPicPr>
          <p:nvPr/>
        </p:nvPicPr>
        <p:blipFill>
          <a:blip r:embed="rId4"/>
          <a:stretch>
            <a:fillRect/>
          </a:stretch>
        </p:blipFill>
        <p:spPr>
          <a:xfrm>
            <a:off x="7754112" y="1792224"/>
            <a:ext cx="182880" cy="182880"/>
          </a:xfrm>
          <a:prstGeom prst="rect">
            <a:avLst/>
          </a:prstGeom>
        </p:spPr>
      </p:pic>
      <p:sp>
        <p:nvSpPr>
          <p:cNvPr id="40" name="Text 34"/>
          <p:cNvSpPr txBox="1"/>
          <p:nvPr/>
        </p:nvSpPr>
        <p:spPr>
          <a:xfrm>
            <a:off x="7726680" y="1691640"/>
            <a:ext cx="3776472" cy="77724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2F6FD0"/>
                </a:solidFill>
                <a:latin typeface="Calibri" pitchFamily="34" charset="0"/>
                <a:ea typeface="Calibri" pitchFamily="34" charset="-122"/>
                <a:cs typeface="Calibri" pitchFamily="34" charset="-120"/>
              </a:rPr>
              <a:t>UPSTREAM</a:t>
            </a:r>
            <a:endParaRPr lang="en-US" sz="700" dirty="0"/>
          </a:p>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Its inputs trace back to the theme</a:t>
            </a:r>
            <a:endParaRPr lang="en-US" sz="70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a miner supplying battery manufacturing</a:t>
            </a:r>
            <a:endParaRPr lang="en-US" sz="700" dirty="0"/>
          </a:p>
        </p:txBody>
      </p:sp>
      <p:sp>
        <p:nvSpPr>
          <p:cNvPr id="41" name="Shape 35"/>
          <p:cNvSpPr/>
          <p:nvPr/>
        </p:nvSpPr>
        <p:spPr>
          <a:xfrm>
            <a:off x="7635240" y="2633472"/>
            <a:ext cx="3959352" cy="777240"/>
          </a:xfrm>
          <a:prstGeom prst="roundRect">
            <a:avLst>
              <a:gd name="adj" fmla="val 1176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42" name="Image 4" descr="preencoded.png">    </p:cNvPr>
          <p:cNvPicPr>
            <a:picLocks noChangeAspect="1"/>
          </p:cNvPicPr>
          <p:nvPr/>
        </p:nvPicPr>
        <p:blipFill>
          <a:blip r:embed="rId5"/>
          <a:stretch>
            <a:fillRect/>
          </a:stretch>
        </p:blipFill>
        <p:spPr>
          <a:xfrm>
            <a:off x="7754112" y="2734056"/>
            <a:ext cx="182880" cy="182880"/>
          </a:xfrm>
          <a:prstGeom prst="rect">
            <a:avLst/>
          </a:prstGeom>
        </p:spPr>
      </p:pic>
      <p:sp>
        <p:nvSpPr>
          <p:cNvPr id="43" name="Text 36"/>
          <p:cNvSpPr txBox="1"/>
          <p:nvPr/>
        </p:nvSpPr>
        <p:spPr>
          <a:xfrm>
            <a:off x="7726680" y="2633472"/>
            <a:ext cx="3776472" cy="77724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2F8F48"/>
                </a:solidFill>
                <a:latin typeface="Calibri" pitchFamily="34" charset="0"/>
                <a:ea typeface="Calibri" pitchFamily="34" charset="-122"/>
                <a:cs typeface="Calibri" pitchFamily="34" charset="-120"/>
              </a:rPr>
              <a:t>DOWNSTREAM</a:t>
            </a:r>
            <a:endParaRPr lang="en-US" sz="700" dirty="0"/>
          </a:p>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Its output flows into the theme</a:t>
            </a:r>
            <a:endParaRPr lang="en-US" sz="70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a utility whose demand is driven by EV charging</a:t>
            </a:r>
            <a:endParaRPr lang="en-US" sz="700" dirty="0"/>
          </a:p>
        </p:txBody>
      </p:sp>
      <p:sp>
        <p:nvSpPr>
          <p:cNvPr id="44" name="Shape 37"/>
          <p:cNvSpPr/>
          <p:nvPr/>
        </p:nvSpPr>
        <p:spPr>
          <a:xfrm flipV="1">
            <a:off x="6949440" y="2103120"/>
            <a:ext cx="630936" cy="1463040"/>
          </a:xfrm>
          <a:prstGeom prst="line">
            <a:avLst/>
          </a:prstGeom>
          <a:noFill/>
          <a:ln w="17780">
            <a:solidFill>
              <a:srgbClr val="2F6FD0"/>
            </a:solidFill>
            <a:prstDash val="solid"/>
            <a:headEnd type="none"/>
            <a:tailEnd type="triangle"/>
          </a:ln>
        </p:spPr>
      </p:sp>
      <p:sp>
        <p:nvSpPr>
          <p:cNvPr id="45" name="Shape 38"/>
          <p:cNvSpPr/>
          <p:nvPr/>
        </p:nvSpPr>
        <p:spPr>
          <a:xfrm flipV="1">
            <a:off x="6949440" y="3017520"/>
            <a:ext cx="630936" cy="731520"/>
          </a:xfrm>
          <a:prstGeom prst="line">
            <a:avLst/>
          </a:prstGeom>
          <a:noFill/>
          <a:ln w="17780">
            <a:solidFill>
              <a:srgbClr val="2F8F48"/>
            </a:solidFill>
            <a:prstDash val="solid"/>
            <a:headEnd type="none"/>
            <a:tailEnd type="triangle"/>
          </a:ln>
        </p:spPr>
      </p:sp>
      <p:sp>
        <p:nvSpPr>
          <p:cNvPr id="46" name="Text 39"/>
          <p:cNvSpPr txBox="1"/>
          <p:nvPr/>
        </p:nvSpPr>
        <p:spPr>
          <a:xfrm>
            <a:off x="6995160" y="3456432"/>
            <a:ext cx="640080" cy="182880"/>
          </a:xfrm>
          <a:prstGeom prst="rect">
            <a:avLst/>
          </a:prstGeom>
          <a:noFill/>
          <a:ln/>
        </p:spPr>
        <p:txBody>
          <a:bodyPr wrap="square" lIns="0" tIns="0" rIns="0" bIns="0" rtlCol="0" anchor="ctr"/>
          <a:lstStyle/>
          <a:p>
            <a:pPr algn="ctr" indent="0" marL="0">
              <a:buNone/>
            </a:pPr>
            <a:endParaRPr lang="en-US" sz="750" dirty="0"/>
          </a:p>
        </p:txBody>
      </p:sp>
      <p:sp>
        <p:nvSpPr>
          <p:cNvPr id="47" name="Shape 40"/>
          <p:cNvSpPr/>
          <p:nvPr/>
        </p:nvSpPr>
        <p:spPr>
          <a:xfrm>
            <a:off x="7635240" y="3703320"/>
            <a:ext cx="3959352" cy="777240"/>
          </a:xfrm>
          <a:prstGeom prst="roundRect">
            <a:avLst>
              <a:gd name="adj" fmla="val 1176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48" name="Image 5" descr="preencoded.png">    </p:cNvPr>
          <p:cNvPicPr>
            <a:picLocks noChangeAspect="1"/>
          </p:cNvPicPr>
          <p:nvPr/>
        </p:nvPicPr>
        <p:blipFill>
          <a:blip r:embed="rId6"/>
          <a:stretch>
            <a:fillRect/>
          </a:stretch>
        </p:blipFill>
        <p:spPr>
          <a:xfrm>
            <a:off x="7754112" y="3803904"/>
            <a:ext cx="182880" cy="182880"/>
          </a:xfrm>
          <a:prstGeom prst="rect">
            <a:avLst/>
          </a:prstGeom>
        </p:spPr>
      </p:pic>
      <p:sp>
        <p:nvSpPr>
          <p:cNvPr id="49" name="Text 41"/>
          <p:cNvSpPr txBox="1"/>
          <p:nvPr/>
        </p:nvSpPr>
        <p:spPr>
          <a:xfrm>
            <a:off x="7726680" y="3703320"/>
            <a:ext cx="3776472" cy="77724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C9871B"/>
                </a:solidFill>
                <a:latin typeface="Calibri" pitchFamily="34" charset="0"/>
                <a:ea typeface="Calibri" pitchFamily="34" charset="-122"/>
                <a:cs typeface="Calibri" pitchFamily="34" charset="-120"/>
              </a:rPr>
              <a:t>WHAT IT ACTUALLY CHANGES</a:t>
            </a:r>
            <a:endParaRPr lang="en-US" sz="700" dirty="0"/>
          </a:p>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The no-evidence path</a:t>
            </a:r>
            <a:endParaRPr lang="en-US" sz="70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above the threshold, a silent company is queued for review instead of dropped</a:t>
            </a:r>
            <a:endParaRPr lang="en-US" sz="700" dirty="0"/>
          </a:p>
        </p:txBody>
      </p:sp>
      <p:sp>
        <p:nvSpPr>
          <p:cNvPr id="50" name="Shape 42"/>
          <p:cNvSpPr/>
          <p:nvPr/>
        </p:nvSpPr>
        <p:spPr>
          <a:xfrm>
            <a:off x="594360" y="4709160"/>
            <a:ext cx="11000232" cy="1097280"/>
          </a:xfrm>
          <a:prstGeom prst="roundRect">
            <a:avLst>
              <a:gd name="adj" fmla="val 3333"/>
            </a:avLst>
          </a:prstGeom>
          <a:solidFill>
            <a:srgbClr val="F4F7FA"/>
          </a:solidFill>
          <a:ln w="15875">
            <a:solidFill>
              <a:srgbClr val="DDE5ED"/>
            </a:solidFill>
            <a:prstDash val="solid"/>
          </a:ln>
        </p:spPr>
      </p:sp>
      <p:sp>
        <p:nvSpPr>
          <p:cNvPr id="51" name="Text 43"/>
          <p:cNvSpPr txBox="1"/>
          <p:nvPr/>
        </p:nvSpPr>
        <p:spPr>
          <a:xfrm>
            <a:off x="813816" y="4782312"/>
            <a:ext cx="10561320" cy="950976"/>
          </a:xfrm>
          <a:prstGeom prst="rect">
            <a:avLst/>
          </a:prstGeom>
          <a:noFill/>
          <a:ln/>
        </p:spPr>
        <p:txBody>
          <a:bodyPr wrap="square" lIns="0" tIns="0" rIns="0" bIns="0" rtlCol="0" anchor="ctr"/>
          <a:lstStyle/>
          <a:p>
            <a:pPr indent="0" marL="0">
              <a:lnSpc>
                <a:spcPct val="106000"/>
              </a:lnSpc>
              <a:buNone/>
            </a:pPr>
            <a:r>
              <a:rPr lang="en-US" sz="940" b="1" dirty="0">
                <a:solidFill>
                  <a:srgbClr val="108494"/>
                </a:solidFill>
                <a:latin typeface="Calibri" pitchFamily="34" charset="0"/>
                <a:ea typeface="Calibri" pitchFamily="34" charset="-122"/>
                <a:cs typeface="Calibri" pitchFamily="34" charset="-120"/>
              </a:rPr>
              <a:t>No LLM in the mathematics.  </a:t>
            </a:r>
            <a:pPr indent="0" marL="0">
              <a:lnSpc>
                <a:spcPct val="106000"/>
              </a:lnSpc>
              <a:buNone/>
            </a:pPr>
            <a:r>
              <a:rPr lang="en-US" sz="940" dirty="0">
                <a:solidFill>
                  <a:srgbClr val="43566B"/>
                </a:solidFill>
                <a:latin typeface="Calibri" pitchFamily="34" charset="0"/>
                <a:ea typeface="Calibri" pitchFamily="34" charset="-122"/>
                <a:cs typeface="Calibri" pitchFamily="34" charset="-120"/>
              </a:rPr>
              <a:t>The only model calls are two cheap, one-off classification steps around it: mapping each taxonomy activity to ISIC codes, and mapping each company to its industry — both skippable by supplying codes in the universe file, and both reusable across the whole run. A code the loaded model does not contain is rejected outright rather than coerced, because a wrong industry code would corrupt every number computed from it.
</a:t>
            </a:r>
            <a:pPr indent="0" marL="0">
              <a:lnSpc>
                <a:spcPct val="106000"/>
              </a:lnSpc>
              <a:buNone/>
            </a:pPr>
            <a:r>
              <a:rPr lang="en-US" sz="940" b="1" dirty="0">
                <a:solidFill>
                  <a:srgbClr val="C9871B"/>
                </a:solidFill>
                <a:latin typeface="Calibri" pitchFamily="34" charset="0"/>
                <a:ea typeface="Calibri" pitchFamily="34" charset="-122"/>
                <a:cs typeface="Calibri" pitchFamily="34" charset="-120"/>
              </a:rPr>
              <a:t>Opt-in: </a:t>
            </a:r>
            <a:pPr indent="0" marL="0">
              <a:lnSpc>
                <a:spcPct val="106000"/>
              </a:lnSpc>
              <a:buNone/>
            </a:pPr>
            <a:r>
              <a:rPr lang="en-US" sz="940" dirty="0">
                <a:solidFill>
                  <a:srgbClr val="43566B"/>
                </a:solidFill>
                <a:latin typeface="Calibri" pitchFamily="34" charset="0"/>
                <a:ea typeface="Calibri" pitchFamily="34" charset="-122"/>
                <a:cs typeface="Calibri" pitchFamily="34" charset="-120"/>
              </a:rPr>
              <a:t>off unless an input-output dataset is configured, and carried in its own field — never blended into the qualitative verdict the debate produced.</a:t>
            </a:r>
            <a:endParaRPr lang="en-US" sz="940" dirty="0"/>
          </a:p>
        </p:txBody>
      </p:sp>
      <p:sp>
        <p:nvSpPr>
          <p:cNvPr id="52" name="Shape 44"/>
          <p:cNvSpPr/>
          <p:nvPr/>
        </p:nvSpPr>
        <p:spPr>
          <a:xfrm>
            <a:off x="594360" y="6062472"/>
            <a:ext cx="155448" cy="155448"/>
          </a:xfrm>
          <a:prstGeom prst="roundRect">
            <a:avLst>
              <a:gd name="adj" fmla="val 29412"/>
            </a:avLst>
          </a:prstGeom>
          <a:solidFill>
            <a:srgbClr val="2F6FD0"/>
          </a:solidFill>
          <a:ln/>
        </p:spPr>
      </p:sp>
      <p:sp>
        <p:nvSpPr>
          <p:cNvPr id="53" name="Text 45"/>
          <p:cNvSpPr txBox="1"/>
          <p:nvPr/>
        </p:nvSpPr>
        <p:spPr>
          <a:xfrm>
            <a:off x="813816" y="603504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54" name="Shape 46"/>
          <p:cNvSpPr/>
          <p:nvPr/>
        </p:nvSpPr>
        <p:spPr>
          <a:xfrm>
            <a:off x="2427732" y="6062472"/>
            <a:ext cx="155448" cy="155448"/>
          </a:xfrm>
          <a:prstGeom prst="roundRect">
            <a:avLst>
              <a:gd name="adj" fmla="val 29412"/>
            </a:avLst>
          </a:prstGeom>
          <a:solidFill>
            <a:srgbClr val="108494"/>
          </a:solidFill>
          <a:ln/>
        </p:spPr>
      </p:sp>
      <p:sp>
        <p:nvSpPr>
          <p:cNvPr id="55" name="Text 47"/>
          <p:cNvSpPr txBox="1"/>
          <p:nvPr/>
        </p:nvSpPr>
        <p:spPr>
          <a:xfrm>
            <a:off x="2647188" y="603504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56" name="Shape 48"/>
          <p:cNvSpPr/>
          <p:nvPr/>
        </p:nvSpPr>
        <p:spPr>
          <a:xfrm>
            <a:off x="4261104" y="6062472"/>
            <a:ext cx="155448" cy="155448"/>
          </a:xfrm>
          <a:prstGeom prst="roundRect">
            <a:avLst>
              <a:gd name="adj" fmla="val 29412"/>
            </a:avLst>
          </a:prstGeom>
          <a:solidFill>
            <a:srgbClr val="6D4DD1"/>
          </a:solidFill>
          <a:ln/>
        </p:spPr>
      </p:sp>
      <p:sp>
        <p:nvSpPr>
          <p:cNvPr id="57" name="Text 49"/>
          <p:cNvSpPr txBox="1"/>
          <p:nvPr/>
        </p:nvSpPr>
        <p:spPr>
          <a:xfrm>
            <a:off x="4480560" y="603504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58" name="Shape 50"/>
          <p:cNvSpPr/>
          <p:nvPr/>
        </p:nvSpPr>
        <p:spPr>
          <a:xfrm>
            <a:off x="6094476" y="6062472"/>
            <a:ext cx="155448" cy="155448"/>
          </a:xfrm>
          <a:prstGeom prst="roundRect">
            <a:avLst>
              <a:gd name="adj" fmla="val 29412"/>
            </a:avLst>
          </a:prstGeom>
          <a:solidFill>
            <a:srgbClr val="C9871B"/>
          </a:solidFill>
          <a:ln/>
        </p:spPr>
      </p:sp>
      <p:sp>
        <p:nvSpPr>
          <p:cNvPr id="59" name="Text 51"/>
          <p:cNvSpPr txBox="1"/>
          <p:nvPr/>
        </p:nvSpPr>
        <p:spPr>
          <a:xfrm>
            <a:off x="6313932" y="603504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60" name="Shape 52"/>
          <p:cNvSpPr/>
          <p:nvPr/>
        </p:nvSpPr>
        <p:spPr>
          <a:xfrm>
            <a:off x="7927848" y="6062472"/>
            <a:ext cx="155448" cy="155448"/>
          </a:xfrm>
          <a:prstGeom prst="roundRect">
            <a:avLst>
              <a:gd name="adj" fmla="val 29412"/>
            </a:avLst>
          </a:prstGeom>
          <a:solidFill>
            <a:srgbClr val="CE3D64"/>
          </a:solidFill>
          <a:ln/>
        </p:spPr>
      </p:sp>
      <p:sp>
        <p:nvSpPr>
          <p:cNvPr id="61" name="Text 53"/>
          <p:cNvSpPr txBox="1"/>
          <p:nvPr/>
        </p:nvSpPr>
        <p:spPr>
          <a:xfrm>
            <a:off x="8147304" y="603504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62" name="Shape 54"/>
          <p:cNvSpPr/>
          <p:nvPr/>
        </p:nvSpPr>
        <p:spPr>
          <a:xfrm>
            <a:off x="9761220" y="6062472"/>
            <a:ext cx="155448" cy="155448"/>
          </a:xfrm>
          <a:prstGeom prst="roundRect">
            <a:avLst>
              <a:gd name="adj" fmla="val 29412"/>
            </a:avLst>
          </a:prstGeom>
          <a:solidFill>
            <a:srgbClr val="2F8F48"/>
          </a:solidFill>
          <a:ln/>
        </p:spPr>
      </p:sp>
      <p:sp>
        <p:nvSpPr>
          <p:cNvPr id="63" name="Text 55"/>
          <p:cNvSpPr txBox="1"/>
          <p:nvPr/>
        </p:nvSpPr>
        <p:spPr>
          <a:xfrm>
            <a:off x="9980676" y="603504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07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Input-output: classification around the maths</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Two one-off classification steps bracket a computation that has no model inside it at all.</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36192"/>
            <a:ext cx="6949440" cy="1828800"/>
          </a:xfrm>
          <a:prstGeom prst="roundRect">
            <a:avLst>
              <a:gd name="adj" fmla="val 2000"/>
            </a:avLst>
          </a:prstGeom>
          <a:solidFill>
            <a:srgbClr val="EAF8FA"/>
          </a:solidFill>
          <a:ln w="15875">
            <a:solidFill>
              <a:srgbClr val="1C93A4"/>
            </a:solidFill>
            <a:prstDash val="solid"/>
          </a:ln>
        </p:spPr>
      </p:sp>
      <p:sp>
        <p:nvSpPr>
          <p:cNvPr id="8" name="Shape 5"/>
          <p:cNvSpPr/>
          <p:nvPr/>
        </p:nvSpPr>
        <p:spPr>
          <a:xfrm>
            <a:off x="740664" y="1417320"/>
            <a:ext cx="2691994" cy="274320"/>
          </a:xfrm>
          <a:prstGeom prst="roundRect">
            <a:avLst>
              <a:gd name="adj" fmla="val 50000"/>
            </a:avLst>
          </a:prstGeom>
          <a:solidFill>
            <a:srgbClr val="108494"/>
          </a:solidFill>
          <a:ln/>
        </p:spPr>
      </p:sp>
      <p:pic>
        <p:nvPicPr>
          <p:cNvPr id="9" name="Image 1" descr="preencoded.png">    </p:cNvPr>
          <p:cNvPicPr>
            <a:picLocks noChangeAspect="1"/>
          </p:cNvPicPr>
          <p:nvPr/>
        </p:nvPicPr>
        <p:blipFill>
          <a:blip r:embed="rId2"/>
          <a:stretch>
            <a:fillRect/>
          </a:stretch>
        </p:blipFill>
        <p:spPr>
          <a:xfrm>
            <a:off x="859536" y="1485900"/>
            <a:ext cx="132588" cy="132588"/>
          </a:xfrm>
          <a:prstGeom prst="rect">
            <a:avLst/>
          </a:prstGeom>
        </p:spPr>
      </p:pic>
      <p:sp>
        <p:nvSpPr>
          <p:cNvPr id="10" name="Text 6"/>
          <p:cNvSpPr txBox="1"/>
          <p:nvPr/>
        </p:nvSpPr>
        <p:spPr>
          <a:xfrm>
            <a:off x="1014984" y="1417320"/>
            <a:ext cx="2417674"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ONCE PER RUN — NO MODEL INVOLVED</a:t>
            </a:r>
            <a:endParaRPr lang="en-US" sz="850" dirty="0"/>
          </a:p>
        </p:txBody>
      </p:sp>
      <p:sp>
        <p:nvSpPr>
          <p:cNvPr id="11" name="Shape 7"/>
          <p:cNvSpPr/>
          <p:nvPr/>
        </p:nvSpPr>
        <p:spPr>
          <a:xfrm>
            <a:off x="822960" y="2011680"/>
            <a:ext cx="1950720" cy="1005840"/>
          </a:xfrm>
          <a:prstGeom prst="roundRect">
            <a:avLst>
              <a:gd name="adj" fmla="val 909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941832" y="2112264"/>
            <a:ext cx="182880" cy="182880"/>
          </a:xfrm>
          <a:prstGeom prst="rect">
            <a:avLst/>
          </a:prstGeom>
        </p:spPr>
      </p:pic>
      <p:sp>
        <p:nvSpPr>
          <p:cNvPr id="13" name="Text 8"/>
          <p:cNvSpPr txBox="1"/>
          <p:nvPr/>
        </p:nvSpPr>
        <p:spPr>
          <a:xfrm>
            <a:off x="914400" y="2011680"/>
            <a:ext cx="1767840" cy="1005840"/>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Load the tables</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industries.csv + icio_matrix.csv</a:t>
            </a:r>
            <a:endParaRPr lang="en-US" sz="1050" dirty="0"/>
          </a:p>
        </p:txBody>
      </p:sp>
      <p:sp>
        <p:nvSpPr>
          <p:cNvPr id="14" name="Shape 9"/>
          <p:cNvSpPr/>
          <p:nvPr/>
        </p:nvSpPr>
        <p:spPr>
          <a:xfrm>
            <a:off x="2828544" y="2514600"/>
            <a:ext cx="210312" cy="0"/>
          </a:xfrm>
          <a:prstGeom prst="line">
            <a:avLst/>
          </a:prstGeom>
          <a:noFill/>
          <a:ln w="21590">
            <a:solidFill>
              <a:srgbClr val="64798F"/>
            </a:solidFill>
            <a:prstDash val="solid"/>
            <a:headEnd type="none"/>
            <a:tailEnd type="triangle"/>
          </a:ln>
        </p:spPr>
      </p:sp>
      <p:sp>
        <p:nvSpPr>
          <p:cNvPr id="15" name="Shape 10"/>
          <p:cNvSpPr/>
          <p:nvPr/>
        </p:nvSpPr>
        <p:spPr>
          <a:xfrm>
            <a:off x="3093720" y="2011680"/>
            <a:ext cx="1950720" cy="1005840"/>
          </a:xfrm>
          <a:prstGeom prst="roundRect">
            <a:avLst>
              <a:gd name="adj" fmla="val 909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3212592" y="2112264"/>
            <a:ext cx="182880" cy="182880"/>
          </a:xfrm>
          <a:prstGeom prst="rect">
            <a:avLst/>
          </a:prstGeom>
        </p:spPr>
      </p:pic>
      <p:sp>
        <p:nvSpPr>
          <p:cNvPr id="17" name="Text 11"/>
          <p:cNvSpPr txBox="1"/>
          <p:nvPr/>
        </p:nvSpPr>
        <p:spPr>
          <a:xfrm>
            <a:off x="3185160" y="2011680"/>
            <a:ext cx="1767840" cy="1005840"/>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Build coefficients</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A[i,j] = flow ÷ total output</a:t>
            </a:r>
            <a:endParaRPr lang="en-US" sz="1050" dirty="0"/>
          </a:p>
        </p:txBody>
      </p:sp>
      <p:sp>
        <p:nvSpPr>
          <p:cNvPr id="18" name="Shape 12"/>
          <p:cNvSpPr/>
          <p:nvPr/>
        </p:nvSpPr>
        <p:spPr>
          <a:xfrm>
            <a:off x="5099304" y="2514600"/>
            <a:ext cx="210312" cy="0"/>
          </a:xfrm>
          <a:prstGeom prst="line">
            <a:avLst/>
          </a:prstGeom>
          <a:noFill/>
          <a:ln w="21590">
            <a:solidFill>
              <a:srgbClr val="64798F"/>
            </a:solidFill>
            <a:prstDash val="solid"/>
            <a:headEnd type="none"/>
            <a:tailEnd type="triangle"/>
          </a:ln>
        </p:spPr>
      </p:sp>
      <p:sp>
        <p:nvSpPr>
          <p:cNvPr id="19" name="Shape 13"/>
          <p:cNvSpPr/>
          <p:nvPr/>
        </p:nvSpPr>
        <p:spPr>
          <a:xfrm>
            <a:off x="5364480" y="2011680"/>
            <a:ext cx="1950720" cy="1005840"/>
          </a:xfrm>
          <a:prstGeom prst="roundRect">
            <a:avLst>
              <a:gd name="adj" fmla="val 909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5483352" y="2112264"/>
            <a:ext cx="182880" cy="182880"/>
          </a:xfrm>
          <a:prstGeom prst="rect">
            <a:avLst/>
          </a:prstGeom>
        </p:spPr>
      </p:pic>
      <p:sp>
        <p:nvSpPr>
          <p:cNvPr id="21" name="Text 14"/>
          <p:cNvSpPr txBox="1"/>
          <p:nvPr/>
        </p:nvSpPr>
        <p:spPr>
          <a:xfrm>
            <a:off x="5455920" y="2011680"/>
            <a:ext cx="1767840" cy="1005840"/>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Invert once</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the Leontief inverse, per run</a:t>
            </a:r>
            <a:endParaRPr lang="en-US" sz="1050" dirty="0"/>
          </a:p>
        </p:txBody>
      </p:sp>
      <p:sp>
        <p:nvSpPr>
          <p:cNvPr id="22" name="Shape 15"/>
          <p:cNvSpPr/>
          <p:nvPr/>
        </p:nvSpPr>
        <p:spPr>
          <a:xfrm>
            <a:off x="7818120" y="1536192"/>
            <a:ext cx="3776472" cy="1828800"/>
          </a:xfrm>
          <a:prstGeom prst="roundRect">
            <a:avLst>
              <a:gd name="adj" fmla="val 2000"/>
            </a:avLst>
          </a:prstGeom>
          <a:solidFill>
            <a:srgbClr val="F1ECFD"/>
          </a:solidFill>
          <a:ln w="15875">
            <a:solidFill>
              <a:srgbClr val="7B5BD6"/>
            </a:solidFill>
            <a:prstDash val="solid"/>
          </a:ln>
        </p:spPr>
      </p:sp>
      <p:sp>
        <p:nvSpPr>
          <p:cNvPr id="23" name="Shape 16"/>
          <p:cNvSpPr/>
          <p:nvPr/>
        </p:nvSpPr>
        <p:spPr>
          <a:xfrm>
            <a:off x="7964424" y="1417320"/>
            <a:ext cx="2033626" cy="274320"/>
          </a:xfrm>
          <a:prstGeom prst="roundRect">
            <a:avLst>
              <a:gd name="adj" fmla="val 50000"/>
            </a:avLst>
          </a:prstGeom>
          <a:solidFill>
            <a:srgbClr val="6D4DD1"/>
          </a:solidFill>
          <a:ln/>
        </p:spPr>
      </p:sp>
      <p:pic>
        <p:nvPicPr>
          <p:cNvPr id="24" name="Image 5" descr="preencoded.png">    </p:cNvPr>
          <p:cNvPicPr>
            <a:picLocks noChangeAspect="1"/>
          </p:cNvPicPr>
          <p:nvPr/>
        </p:nvPicPr>
        <p:blipFill>
          <a:blip r:embed="rId6"/>
          <a:stretch>
            <a:fillRect/>
          </a:stretch>
        </p:blipFill>
        <p:spPr>
          <a:xfrm>
            <a:off x="8083296" y="1485900"/>
            <a:ext cx="132588" cy="132588"/>
          </a:xfrm>
          <a:prstGeom prst="rect">
            <a:avLst/>
          </a:prstGeom>
        </p:spPr>
      </p:pic>
      <p:sp>
        <p:nvSpPr>
          <p:cNvPr id="25" name="Text 17"/>
          <p:cNvSpPr txBox="1"/>
          <p:nvPr/>
        </p:nvSpPr>
        <p:spPr>
          <a:xfrm>
            <a:off x="8238744" y="1417320"/>
            <a:ext cx="1759306"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ONE CALL EACH, OR ZERO</a:t>
            </a:r>
            <a:endParaRPr lang="en-US" sz="850" dirty="0"/>
          </a:p>
        </p:txBody>
      </p:sp>
      <p:sp>
        <p:nvSpPr>
          <p:cNvPr id="26" name="Shape 18"/>
          <p:cNvSpPr/>
          <p:nvPr/>
        </p:nvSpPr>
        <p:spPr>
          <a:xfrm>
            <a:off x="8046720" y="2011680"/>
            <a:ext cx="3319272" cy="457200"/>
          </a:xfrm>
          <a:prstGeom prst="roundRect">
            <a:avLst>
              <a:gd name="adj" fmla="val 20000"/>
            </a:avLst>
          </a:prstGeom>
          <a:solidFill>
            <a:srgbClr val="EBE5FC"/>
          </a:solidFill>
          <a:ln w="15875">
            <a:solidFill>
              <a:srgbClr val="6D4DD1"/>
            </a:solidFill>
            <a:prstDash val="solid"/>
          </a:ln>
        </p:spPr>
      </p:sp>
      <p:sp>
        <p:nvSpPr>
          <p:cNvPr id="27" name="Text 19"/>
          <p:cNvSpPr txBox="1"/>
          <p:nvPr/>
        </p:nvSpPr>
        <p:spPr>
          <a:xfrm>
            <a:off x="8138160" y="2011680"/>
            <a:ext cx="3136392" cy="457200"/>
          </a:xfrm>
          <a:prstGeom prst="rect">
            <a:avLst/>
          </a:prstGeom>
          <a:noFill/>
          <a:ln/>
        </p:spPr>
        <p:txBody>
          <a:bodyPr wrap="square" lIns="0" tIns="0" rIns="0" bIns="0" rtlCol="0" anchor="ctr"/>
          <a:lstStyle/>
          <a:p>
            <a:pPr algn="ctr" indent="0" marL="0">
              <a:lnSpc>
                <a:spcPct val="104000"/>
              </a:lnSpc>
              <a:buNone/>
            </a:pPr>
            <a:r>
              <a:rPr lang="en-US" sz="980" b="1" dirty="0">
                <a:solidFill>
                  <a:srgbClr val="35236E"/>
                </a:solidFill>
                <a:latin typeface="Calibri" pitchFamily="34" charset="0"/>
                <a:ea typeface="Calibri" pitchFamily="34" charset="-122"/>
                <a:cs typeface="Calibri" pitchFamily="34" charset="-120"/>
              </a:rPr>
              <a:t>activity → core ISIC codes</a:t>
            </a:r>
            <a:endParaRPr lang="en-US" sz="980" dirty="0"/>
          </a:p>
        </p:txBody>
      </p:sp>
      <p:sp>
        <p:nvSpPr>
          <p:cNvPr id="28" name="Shape 20"/>
          <p:cNvSpPr/>
          <p:nvPr/>
        </p:nvSpPr>
        <p:spPr>
          <a:xfrm>
            <a:off x="8046720" y="2560320"/>
            <a:ext cx="3319272" cy="457200"/>
          </a:xfrm>
          <a:prstGeom prst="roundRect">
            <a:avLst>
              <a:gd name="adj" fmla="val 20000"/>
            </a:avLst>
          </a:prstGeom>
          <a:solidFill>
            <a:srgbClr val="EBE5FC"/>
          </a:solidFill>
          <a:ln w="15875">
            <a:solidFill>
              <a:srgbClr val="6D4DD1"/>
            </a:solidFill>
            <a:prstDash val="solid"/>
          </a:ln>
        </p:spPr>
      </p:sp>
      <p:sp>
        <p:nvSpPr>
          <p:cNvPr id="29" name="Text 21"/>
          <p:cNvSpPr txBox="1"/>
          <p:nvPr/>
        </p:nvSpPr>
        <p:spPr>
          <a:xfrm>
            <a:off x="8138160" y="2560320"/>
            <a:ext cx="3136392" cy="457200"/>
          </a:xfrm>
          <a:prstGeom prst="rect">
            <a:avLst/>
          </a:prstGeom>
          <a:noFill/>
          <a:ln/>
        </p:spPr>
        <p:txBody>
          <a:bodyPr wrap="square" lIns="0" tIns="0" rIns="0" bIns="0" rtlCol="0" anchor="ctr"/>
          <a:lstStyle/>
          <a:p>
            <a:pPr algn="ctr" indent="0" marL="0">
              <a:lnSpc>
                <a:spcPct val="104000"/>
              </a:lnSpc>
              <a:buNone/>
            </a:pPr>
            <a:r>
              <a:rPr lang="en-US" sz="980" b="1" dirty="0">
                <a:solidFill>
                  <a:srgbClr val="35236E"/>
                </a:solidFill>
                <a:latin typeface="Calibri" pitchFamily="34" charset="0"/>
                <a:ea typeface="Calibri" pitchFamily="34" charset="-122"/>
                <a:cs typeface="Calibri" pitchFamily="34" charset="-120"/>
              </a:rPr>
              <a:t>company → its own ISIC code</a:t>
            </a:r>
            <a:endParaRPr lang="en-US" sz="980" dirty="0"/>
          </a:p>
        </p:txBody>
      </p:sp>
      <p:sp>
        <p:nvSpPr>
          <p:cNvPr id="30" name="Text 22"/>
          <p:cNvSpPr txBox="1"/>
          <p:nvPr/>
        </p:nvSpPr>
        <p:spPr>
          <a:xfrm>
            <a:off x="8046720" y="3017520"/>
            <a:ext cx="3319272" cy="219456"/>
          </a:xfrm>
          <a:prstGeom prst="rect">
            <a:avLst/>
          </a:prstGeom>
          <a:noFill/>
          <a:ln/>
        </p:spPr>
        <p:txBody>
          <a:bodyPr wrap="square" lIns="0" tIns="0" rIns="0" bIns="0" rtlCol="0" anchor="ctr"/>
          <a:lstStyle/>
          <a:p>
            <a:pPr algn="ctr" indent="0" marL="0">
              <a:buNone/>
            </a:pPr>
            <a:r>
              <a:rPr lang="en-US" sz="800" i="1" dirty="0">
                <a:solidFill>
                  <a:srgbClr val="35236E"/>
                </a:solidFill>
                <a:latin typeface="Calibri" pitchFamily="34" charset="0"/>
                <a:ea typeface="Calibri" pitchFamily="34" charset="-122"/>
                <a:cs typeface="Calibri" pitchFamily="34" charset="-120"/>
              </a:rPr>
              <a:t>zero calls when the universe file supplies isic_code</a:t>
            </a:r>
            <a:endParaRPr lang="en-US" sz="800" dirty="0"/>
          </a:p>
        </p:txBody>
      </p:sp>
      <p:sp>
        <p:nvSpPr>
          <p:cNvPr id="31" name="Shape 23"/>
          <p:cNvSpPr/>
          <p:nvPr/>
        </p:nvSpPr>
        <p:spPr>
          <a:xfrm>
            <a:off x="2377440" y="3703320"/>
            <a:ext cx="2743200" cy="777240"/>
          </a:xfrm>
          <a:prstGeom prst="roundRect">
            <a:avLst>
              <a:gd name="adj" fmla="val 1176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32" name="Image 6" descr="preencoded.png">    </p:cNvPr>
          <p:cNvPicPr>
            <a:picLocks noChangeAspect="1"/>
          </p:cNvPicPr>
          <p:nvPr/>
        </p:nvPicPr>
        <p:blipFill>
          <a:blip r:embed="rId7"/>
          <a:stretch>
            <a:fillRect/>
          </a:stretch>
        </p:blipFill>
        <p:spPr>
          <a:xfrm>
            <a:off x="2496312" y="3803904"/>
            <a:ext cx="182880" cy="182880"/>
          </a:xfrm>
          <a:prstGeom prst="rect">
            <a:avLst/>
          </a:prstGeom>
        </p:spPr>
      </p:pic>
      <p:sp>
        <p:nvSpPr>
          <p:cNvPr id="33" name="Text 24"/>
          <p:cNvSpPr txBox="1"/>
          <p:nvPr/>
        </p:nvSpPr>
        <p:spPr>
          <a:xfrm>
            <a:off x="2468880" y="3703320"/>
            <a:ext cx="256032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Upstream exposure</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inputs tracing to the core sectors</a:t>
            </a:r>
            <a:endParaRPr lang="en-US" sz="1050" dirty="0"/>
          </a:p>
        </p:txBody>
      </p:sp>
      <p:sp>
        <p:nvSpPr>
          <p:cNvPr id="34" name="Shape 25"/>
          <p:cNvSpPr/>
          <p:nvPr/>
        </p:nvSpPr>
        <p:spPr>
          <a:xfrm>
            <a:off x="5577840" y="3703320"/>
            <a:ext cx="2743200" cy="777240"/>
          </a:xfrm>
          <a:prstGeom prst="roundRect">
            <a:avLst>
              <a:gd name="adj" fmla="val 1176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5" name="Image 7" descr="preencoded.png">    </p:cNvPr>
          <p:cNvPicPr>
            <a:picLocks noChangeAspect="1"/>
          </p:cNvPicPr>
          <p:nvPr/>
        </p:nvPicPr>
        <p:blipFill>
          <a:blip r:embed="rId8"/>
          <a:stretch>
            <a:fillRect/>
          </a:stretch>
        </p:blipFill>
        <p:spPr>
          <a:xfrm>
            <a:off x="5696712" y="3803904"/>
            <a:ext cx="182880" cy="182880"/>
          </a:xfrm>
          <a:prstGeom prst="rect">
            <a:avLst/>
          </a:prstGeom>
        </p:spPr>
      </p:pic>
      <p:sp>
        <p:nvSpPr>
          <p:cNvPr id="36" name="Text 26"/>
          <p:cNvSpPr txBox="1"/>
          <p:nvPr/>
        </p:nvSpPr>
        <p:spPr>
          <a:xfrm>
            <a:off x="5669280" y="3703320"/>
            <a:ext cx="256032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Downstream exposure</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output flowing into them</a:t>
            </a:r>
            <a:endParaRPr lang="en-US" sz="1050" dirty="0"/>
          </a:p>
        </p:txBody>
      </p:sp>
      <p:sp>
        <p:nvSpPr>
          <p:cNvPr id="37" name="Shape 27"/>
          <p:cNvSpPr/>
          <p:nvPr/>
        </p:nvSpPr>
        <p:spPr>
          <a:xfrm>
            <a:off x="3749040" y="3401568"/>
            <a:ext cx="0" cy="265176"/>
          </a:xfrm>
          <a:prstGeom prst="line">
            <a:avLst/>
          </a:prstGeom>
          <a:noFill/>
          <a:ln w="17780">
            <a:solidFill>
              <a:srgbClr val="108494"/>
            </a:solidFill>
            <a:prstDash val="solid"/>
            <a:headEnd type="none"/>
            <a:tailEnd type="triangle"/>
          </a:ln>
        </p:spPr>
      </p:sp>
      <p:sp>
        <p:nvSpPr>
          <p:cNvPr id="38" name="Shape 28"/>
          <p:cNvSpPr/>
          <p:nvPr/>
        </p:nvSpPr>
        <p:spPr>
          <a:xfrm>
            <a:off x="6949440" y="3401568"/>
            <a:ext cx="0" cy="265176"/>
          </a:xfrm>
          <a:prstGeom prst="line">
            <a:avLst/>
          </a:prstGeom>
          <a:noFill/>
          <a:ln w="17780">
            <a:solidFill>
              <a:srgbClr val="108494"/>
            </a:solidFill>
            <a:prstDash val="solid"/>
            <a:headEnd type="none"/>
            <a:tailEnd type="triangle"/>
          </a:ln>
        </p:spPr>
      </p:sp>
      <p:sp>
        <p:nvSpPr>
          <p:cNvPr id="39" name="Shape 29"/>
          <p:cNvSpPr/>
          <p:nvPr/>
        </p:nvSpPr>
        <p:spPr>
          <a:xfrm flipH="1">
            <a:off x="7589520" y="2697480"/>
            <a:ext cx="585216" cy="0"/>
          </a:xfrm>
          <a:prstGeom prst="line">
            <a:avLst/>
          </a:prstGeom>
          <a:noFill/>
          <a:ln w="16510">
            <a:solidFill>
              <a:srgbClr val="6D4DD1"/>
            </a:solidFill>
            <a:prstDash val="dash"/>
            <a:headEnd type="none"/>
            <a:tailEnd type="triangle"/>
          </a:ln>
        </p:spPr>
      </p:sp>
      <p:sp>
        <p:nvSpPr>
          <p:cNvPr id="40" name="Shape 30"/>
          <p:cNvSpPr/>
          <p:nvPr/>
        </p:nvSpPr>
        <p:spPr>
          <a:xfrm>
            <a:off x="2377440" y="4663440"/>
            <a:ext cx="5943600" cy="502920"/>
          </a:xfrm>
          <a:prstGeom prst="roundRect">
            <a:avLst>
              <a:gd name="adj" fmla="val 18182"/>
            </a:avLst>
          </a:prstGeom>
          <a:solidFill>
            <a:srgbClr val="E0F3E3"/>
          </a:solidFill>
          <a:ln w="15875">
            <a:solidFill>
              <a:srgbClr val="2F8F48"/>
            </a:solidFill>
            <a:prstDash val="solid"/>
          </a:ln>
        </p:spPr>
      </p:sp>
      <p:sp>
        <p:nvSpPr>
          <p:cNvPr id="41" name="Text 31"/>
          <p:cNvSpPr txBox="1"/>
          <p:nvPr/>
        </p:nvSpPr>
        <p:spPr>
          <a:xfrm>
            <a:off x="2468880" y="4663440"/>
            <a:ext cx="576072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17431F"/>
                </a:solidFill>
                <a:latin typeface="Calibri" pitchFamily="34" charset="0"/>
                <a:ea typeface="Calibri" pitchFamily="34" charset="-122"/>
                <a:cs typeface="Calibri" pitchFamily="34" charset="-120"/>
              </a:rPr>
              <a:t>attached to CompanyMatch.indirect_exposure — kept separate from the qualitative verdict</a:t>
            </a:r>
            <a:endParaRPr lang="en-US" sz="1000" dirty="0"/>
          </a:p>
        </p:txBody>
      </p:sp>
      <p:sp>
        <p:nvSpPr>
          <p:cNvPr id="42" name="Shape 32"/>
          <p:cNvSpPr/>
          <p:nvPr/>
        </p:nvSpPr>
        <p:spPr>
          <a:xfrm>
            <a:off x="3749040" y="4517136"/>
            <a:ext cx="0" cy="109728"/>
          </a:xfrm>
          <a:prstGeom prst="line">
            <a:avLst/>
          </a:prstGeom>
          <a:noFill/>
          <a:ln w="17780">
            <a:solidFill>
              <a:srgbClr val="2F8F48"/>
            </a:solidFill>
            <a:prstDash val="solid"/>
            <a:headEnd type="none"/>
            <a:tailEnd type="triangle"/>
          </a:ln>
        </p:spPr>
      </p:sp>
      <p:sp>
        <p:nvSpPr>
          <p:cNvPr id="43" name="Shape 33"/>
          <p:cNvSpPr/>
          <p:nvPr/>
        </p:nvSpPr>
        <p:spPr>
          <a:xfrm>
            <a:off x="6949440" y="4517136"/>
            <a:ext cx="0" cy="109728"/>
          </a:xfrm>
          <a:prstGeom prst="line">
            <a:avLst/>
          </a:prstGeom>
          <a:noFill/>
          <a:ln w="17780">
            <a:solidFill>
              <a:srgbClr val="2F8F48"/>
            </a:solidFill>
            <a:prstDash val="solid"/>
            <a:headEnd type="none"/>
            <a:tailEnd type="triangle"/>
          </a:ln>
        </p:spPr>
      </p:sp>
      <p:sp>
        <p:nvSpPr>
          <p:cNvPr id="44" name="Shape 34"/>
          <p:cNvSpPr/>
          <p:nvPr/>
        </p:nvSpPr>
        <p:spPr>
          <a:xfrm>
            <a:off x="8732520" y="3703320"/>
            <a:ext cx="2862072" cy="1463040"/>
          </a:xfrm>
          <a:prstGeom prst="roundRect">
            <a:avLst>
              <a:gd name="adj" fmla="val 6250"/>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45" name="Image 8" descr="preencoded.png">    </p:cNvPr>
          <p:cNvPicPr>
            <a:picLocks noChangeAspect="1"/>
          </p:cNvPicPr>
          <p:nvPr/>
        </p:nvPicPr>
        <p:blipFill>
          <a:blip r:embed="rId9"/>
          <a:stretch>
            <a:fillRect/>
          </a:stretch>
        </p:blipFill>
        <p:spPr>
          <a:xfrm>
            <a:off x="8851392" y="3803904"/>
            <a:ext cx="182880" cy="182880"/>
          </a:xfrm>
          <a:prstGeom prst="rect">
            <a:avLst/>
          </a:prstGeom>
        </p:spPr>
      </p:pic>
      <p:sp>
        <p:nvSpPr>
          <p:cNvPr id="46" name="Text 35"/>
          <p:cNvSpPr txBox="1"/>
          <p:nvPr/>
        </p:nvSpPr>
        <p:spPr>
          <a:xfrm>
            <a:off x="8823960" y="3703320"/>
            <a:ext cx="2679192" cy="146304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C9871B"/>
                </a:solidFill>
                <a:latin typeface="Calibri" pitchFamily="34" charset="0"/>
                <a:ea typeface="Calibri" pitchFamily="34" charset="-122"/>
                <a:cs typeface="Calibri" pitchFamily="34" charset="-120"/>
              </a:rPr>
              <a:t>REJECT, NEVER COERCE</a:t>
            </a:r>
            <a:endParaRPr lang="en-US" sz="700" dirty="0"/>
          </a:p>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A code the model does not contain fails</a:t>
            </a:r>
            <a:endParaRPr lang="en-US" sz="700" dirty="0"/>
          </a:p>
          <a:p>
            <a:pPr algn="ctr" indent="0" marL="0">
              <a:lnSpc>
                <a:spcPct val="104000"/>
              </a:lnSpc>
              <a:buNone/>
            </a:pPr>
            <a:endParaRPr lang="en-US" sz="70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a wrong industry code would corrupt every number computed from it, so the mapping step refuses rather than guesses</a:t>
            </a:r>
            <a:endParaRPr lang="en-US" sz="700" dirty="0"/>
          </a:p>
        </p:txBody>
      </p:sp>
      <p:sp>
        <p:nvSpPr>
          <p:cNvPr id="47" name="Shape 36"/>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48" name="Text 37"/>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49" name="Text 38"/>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arp/research/indirect_exposure/leontief.py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arp/research/indirect_exposure/{icio_loader,factory}.py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core_sectors.py · company_mapper.py · sample_data/</a:t>
            </a:r>
            <a:endParaRPr lang="en-US" sz="860" dirty="0"/>
          </a:p>
        </p:txBody>
      </p:sp>
      <p:sp>
        <p:nvSpPr>
          <p:cNvPr id="50" name="Shape 39"/>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51" name="Text 40"/>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2" name="Text 41"/>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a pre-aggregated ICIO matrix + industries table,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 taxonomy, a company universe.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IndirectExposureResult on each CompanyMatch.</a:t>
            </a:r>
            <a:endParaRPr lang="en-US" sz="860" dirty="0"/>
          </a:p>
        </p:txBody>
      </p:sp>
      <p:sp>
        <p:nvSpPr>
          <p:cNvPr id="53" name="Shape 42"/>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54" name="Text 43"/>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55" name="Text 44"/>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ARP_ICIO_* paths or --use-sample-icio; off entirely when unset.</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Upstream and downstream are never blended into one score.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Results are labelled structural, never disclosed.</a:t>
            </a:r>
            <a:endParaRPr lang="en-US" sz="8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08   ·   TRANSITION PLAN ASSESSMENT</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Walk versus talk</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A direct replication of Colesanti Senni, Schimanski, Bingler, Ni &amp; Leippold (2024) — with citations checked, not trusted.</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664208"/>
            <a:ext cx="3383280" cy="3291840"/>
          </a:xfrm>
          <a:prstGeom prst="roundRect">
            <a:avLst>
              <a:gd name="adj" fmla="val 1111"/>
            </a:avLst>
          </a:prstGeom>
          <a:solidFill>
            <a:srgbClr val="F4F7FA"/>
          </a:solidFill>
          <a:ln w="15875">
            <a:solidFill>
              <a:srgbClr val="9FB2C4"/>
            </a:solidFill>
            <a:prstDash val="solid"/>
          </a:ln>
        </p:spPr>
      </p:sp>
      <p:sp>
        <p:nvSpPr>
          <p:cNvPr id="8" name="Shape 5"/>
          <p:cNvSpPr/>
          <p:nvPr/>
        </p:nvSpPr>
        <p:spPr>
          <a:xfrm>
            <a:off x="740664" y="1545336"/>
            <a:ext cx="1836115" cy="274320"/>
          </a:xfrm>
          <a:prstGeom prst="roundRect">
            <a:avLst>
              <a:gd name="adj" fmla="val 50000"/>
            </a:avLst>
          </a:prstGeom>
          <a:solidFill>
            <a:srgbClr val="64798F"/>
          </a:solidFill>
          <a:ln/>
        </p:spPr>
      </p:sp>
      <p:pic>
        <p:nvPicPr>
          <p:cNvPr id="9" name="Image 1" descr="preencoded.png">    </p:cNvPr>
          <p:cNvPicPr>
            <a:picLocks noChangeAspect="1"/>
          </p:cNvPicPr>
          <p:nvPr/>
        </p:nvPicPr>
        <p:blipFill>
          <a:blip r:embed="rId2"/>
          <a:stretch>
            <a:fillRect/>
          </a:stretch>
        </p:blipFill>
        <p:spPr>
          <a:xfrm>
            <a:off x="859536" y="1613916"/>
            <a:ext cx="132588" cy="132588"/>
          </a:xfrm>
          <a:prstGeom prst="rect">
            <a:avLst/>
          </a:prstGeom>
        </p:spPr>
      </p:pic>
      <p:sp>
        <p:nvSpPr>
          <p:cNvPr id="10" name="Text 6"/>
          <p:cNvSpPr txBox="1"/>
          <p:nvPr/>
        </p:nvSpPr>
        <p:spPr>
          <a:xfrm>
            <a:off x="1014984" y="1545336"/>
            <a:ext cx="1561795"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64 FIXED INDICATORS</a:t>
            </a:r>
            <a:endParaRPr lang="en-US" sz="850" dirty="0"/>
          </a:p>
        </p:txBody>
      </p:sp>
      <p:sp>
        <p:nvSpPr>
          <p:cNvPr id="11" name="Shape 7"/>
          <p:cNvSpPr/>
          <p:nvPr/>
        </p:nvSpPr>
        <p:spPr>
          <a:xfrm>
            <a:off x="813816" y="2103120"/>
            <a:ext cx="1417320" cy="502920"/>
          </a:xfrm>
          <a:prstGeom prst="roundRect">
            <a:avLst>
              <a:gd name="adj" fmla="val 18182"/>
            </a:avLst>
          </a:prstGeom>
          <a:solidFill>
            <a:srgbClr val="E3EDFC"/>
          </a:solidFill>
          <a:ln w="15875">
            <a:solidFill>
              <a:srgbClr val="2F6FD0"/>
            </a:solidFill>
            <a:prstDash val="solid"/>
          </a:ln>
        </p:spPr>
      </p:sp>
      <p:sp>
        <p:nvSpPr>
          <p:cNvPr id="12" name="Text 8"/>
          <p:cNvSpPr txBox="1"/>
          <p:nvPr/>
        </p:nvSpPr>
        <p:spPr>
          <a:xfrm>
            <a:off x="905256" y="2103120"/>
            <a:ext cx="123444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153A61"/>
                </a:solidFill>
                <a:latin typeface="Calibri" pitchFamily="34" charset="0"/>
                <a:ea typeface="Calibri" pitchFamily="34" charset="-122"/>
                <a:cs typeface="Calibri" pitchFamily="34" charset="-120"/>
              </a:rPr>
              <a:t>Target</a:t>
            </a:r>
            <a:endParaRPr lang="en-US" sz="1000" dirty="0"/>
          </a:p>
        </p:txBody>
      </p:sp>
      <p:sp>
        <p:nvSpPr>
          <p:cNvPr id="13" name="Shape 9"/>
          <p:cNvSpPr/>
          <p:nvPr/>
        </p:nvSpPr>
        <p:spPr>
          <a:xfrm>
            <a:off x="2423160" y="2221992"/>
            <a:ext cx="219456" cy="256032"/>
          </a:xfrm>
          <a:prstGeom prst="rect">
            <a:avLst/>
          </a:prstGeom>
          <a:solidFill>
            <a:srgbClr val="E0F3E3"/>
          </a:solidFill>
          <a:ln w="9525">
            <a:solidFill>
              <a:srgbClr val="2F8F48"/>
            </a:solidFill>
            <a:prstDash val="solid"/>
          </a:ln>
        </p:spPr>
      </p:sp>
      <p:sp>
        <p:nvSpPr>
          <p:cNvPr id="14" name="Shape 10"/>
          <p:cNvSpPr/>
          <p:nvPr/>
        </p:nvSpPr>
        <p:spPr>
          <a:xfrm>
            <a:off x="2715768" y="2221992"/>
            <a:ext cx="219456" cy="256032"/>
          </a:xfrm>
          <a:prstGeom prst="rect">
            <a:avLst/>
          </a:prstGeom>
          <a:solidFill>
            <a:srgbClr val="FCEDD4"/>
          </a:solidFill>
          <a:ln w="9525">
            <a:solidFill>
              <a:srgbClr val="C9871B"/>
            </a:solidFill>
            <a:prstDash val="solid"/>
          </a:ln>
        </p:spPr>
      </p:sp>
      <p:sp>
        <p:nvSpPr>
          <p:cNvPr id="15" name="Shape 11"/>
          <p:cNvSpPr/>
          <p:nvPr/>
        </p:nvSpPr>
        <p:spPr>
          <a:xfrm>
            <a:off x="3008376" y="2221992"/>
            <a:ext cx="219456" cy="256032"/>
          </a:xfrm>
          <a:prstGeom prst="rect">
            <a:avLst/>
          </a:prstGeom>
          <a:solidFill>
            <a:srgbClr val="E0F3E3"/>
          </a:solidFill>
          <a:ln w="9525">
            <a:solidFill>
              <a:srgbClr val="2F8F48"/>
            </a:solidFill>
            <a:prstDash val="solid"/>
          </a:ln>
        </p:spPr>
      </p:sp>
      <p:sp>
        <p:nvSpPr>
          <p:cNvPr id="16" name="Shape 12"/>
          <p:cNvSpPr/>
          <p:nvPr/>
        </p:nvSpPr>
        <p:spPr>
          <a:xfrm>
            <a:off x="3300984" y="2221992"/>
            <a:ext cx="219456" cy="256032"/>
          </a:xfrm>
          <a:prstGeom prst="rect">
            <a:avLst/>
          </a:prstGeom>
          <a:solidFill>
            <a:srgbClr val="FCEDD4"/>
          </a:solidFill>
          <a:ln w="9525">
            <a:solidFill>
              <a:srgbClr val="C9871B"/>
            </a:solidFill>
            <a:prstDash val="solid"/>
          </a:ln>
        </p:spPr>
      </p:sp>
      <p:sp>
        <p:nvSpPr>
          <p:cNvPr id="17" name="Shape 13"/>
          <p:cNvSpPr/>
          <p:nvPr/>
        </p:nvSpPr>
        <p:spPr>
          <a:xfrm>
            <a:off x="813816" y="2743200"/>
            <a:ext cx="1417320" cy="502920"/>
          </a:xfrm>
          <a:prstGeom prst="roundRect">
            <a:avLst>
              <a:gd name="adj" fmla="val 18182"/>
            </a:avLst>
          </a:prstGeom>
          <a:solidFill>
            <a:srgbClr val="EBE5FC"/>
          </a:solidFill>
          <a:ln w="15875">
            <a:solidFill>
              <a:srgbClr val="6D4DD1"/>
            </a:solidFill>
            <a:prstDash val="solid"/>
          </a:ln>
        </p:spPr>
      </p:sp>
      <p:sp>
        <p:nvSpPr>
          <p:cNvPr id="18" name="Text 14"/>
          <p:cNvSpPr txBox="1"/>
          <p:nvPr/>
        </p:nvSpPr>
        <p:spPr>
          <a:xfrm>
            <a:off x="905256" y="2743200"/>
            <a:ext cx="123444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35236E"/>
                </a:solidFill>
                <a:latin typeface="Calibri" pitchFamily="34" charset="0"/>
                <a:ea typeface="Calibri" pitchFamily="34" charset="-122"/>
                <a:cs typeface="Calibri" pitchFamily="34" charset="-120"/>
              </a:rPr>
              <a:t>Governance</a:t>
            </a:r>
            <a:endParaRPr lang="en-US" sz="1000" dirty="0"/>
          </a:p>
        </p:txBody>
      </p:sp>
      <p:sp>
        <p:nvSpPr>
          <p:cNvPr id="19" name="Shape 15"/>
          <p:cNvSpPr/>
          <p:nvPr/>
        </p:nvSpPr>
        <p:spPr>
          <a:xfrm>
            <a:off x="2423160" y="2862072"/>
            <a:ext cx="219456" cy="256032"/>
          </a:xfrm>
          <a:prstGeom prst="rect">
            <a:avLst/>
          </a:prstGeom>
          <a:solidFill>
            <a:srgbClr val="E0F3E3"/>
          </a:solidFill>
          <a:ln w="9525">
            <a:solidFill>
              <a:srgbClr val="2F8F48"/>
            </a:solidFill>
            <a:prstDash val="solid"/>
          </a:ln>
        </p:spPr>
      </p:sp>
      <p:sp>
        <p:nvSpPr>
          <p:cNvPr id="20" name="Shape 16"/>
          <p:cNvSpPr/>
          <p:nvPr/>
        </p:nvSpPr>
        <p:spPr>
          <a:xfrm>
            <a:off x="2715768" y="2862072"/>
            <a:ext cx="219456" cy="256032"/>
          </a:xfrm>
          <a:prstGeom prst="rect">
            <a:avLst/>
          </a:prstGeom>
          <a:solidFill>
            <a:srgbClr val="FCEDD4"/>
          </a:solidFill>
          <a:ln w="9525">
            <a:solidFill>
              <a:srgbClr val="C9871B"/>
            </a:solidFill>
            <a:prstDash val="solid"/>
          </a:ln>
        </p:spPr>
      </p:sp>
      <p:sp>
        <p:nvSpPr>
          <p:cNvPr id="21" name="Shape 17"/>
          <p:cNvSpPr/>
          <p:nvPr/>
        </p:nvSpPr>
        <p:spPr>
          <a:xfrm>
            <a:off x="3008376" y="2862072"/>
            <a:ext cx="219456" cy="256032"/>
          </a:xfrm>
          <a:prstGeom prst="rect">
            <a:avLst/>
          </a:prstGeom>
          <a:solidFill>
            <a:srgbClr val="E0F3E3"/>
          </a:solidFill>
          <a:ln w="9525">
            <a:solidFill>
              <a:srgbClr val="2F8F48"/>
            </a:solidFill>
            <a:prstDash val="solid"/>
          </a:ln>
        </p:spPr>
      </p:sp>
      <p:sp>
        <p:nvSpPr>
          <p:cNvPr id="22" name="Shape 18"/>
          <p:cNvSpPr/>
          <p:nvPr/>
        </p:nvSpPr>
        <p:spPr>
          <a:xfrm>
            <a:off x="3300984" y="2862072"/>
            <a:ext cx="219456" cy="256032"/>
          </a:xfrm>
          <a:prstGeom prst="rect">
            <a:avLst/>
          </a:prstGeom>
          <a:solidFill>
            <a:srgbClr val="FCEDD4"/>
          </a:solidFill>
          <a:ln w="9525">
            <a:solidFill>
              <a:srgbClr val="C9871B"/>
            </a:solidFill>
            <a:prstDash val="solid"/>
          </a:ln>
        </p:spPr>
      </p:sp>
      <p:sp>
        <p:nvSpPr>
          <p:cNvPr id="23" name="Shape 19"/>
          <p:cNvSpPr/>
          <p:nvPr/>
        </p:nvSpPr>
        <p:spPr>
          <a:xfrm>
            <a:off x="813816" y="3383280"/>
            <a:ext cx="1417320" cy="502920"/>
          </a:xfrm>
          <a:prstGeom prst="roundRect">
            <a:avLst>
              <a:gd name="adj" fmla="val 18182"/>
            </a:avLst>
          </a:prstGeom>
          <a:solidFill>
            <a:srgbClr val="DCF2F4"/>
          </a:solidFill>
          <a:ln w="15875">
            <a:solidFill>
              <a:srgbClr val="108494"/>
            </a:solidFill>
            <a:prstDash val="solid"/>
          </a:ln>
        </p:spPr>
      </p:sp>
      <p:sp>
        <p:nvSpPr>
          <p:cNvPr id="24" name="Text 20"/>
          <p:cNvSpPr txBox="1"/>
          <p:nvPr/>
        </p:nvSpPr>
        <p:spPr>
          <a:xfrm>
            <a:off x="905256" y="3383280"/>
            <a:ext cx="123444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0A4451"/>
                </a:solidFill>
                <a:latin typeface="Calibri" pitchFamily="34" charset="0"/>
                <a:ea typeface="Calibri" pitchFamily="34" charset="-122"/>
                <a:cs typeface="Calibri" pitchFamily="34" charset="-120"/>
              </a:rPr>
              <a:t>Strategy</a:t>
            </a:r>
            <a:endParaRPr lang="en-US" sz="1000" dirty="0"/>
          </a:p>
        </p:txBody>
      </p:sp>
      <p:sp>
        <p:nvSpPr>
          <p:cNvPr id="25" name="Shape 21"/>
          <p:cNvSpPr/>
          <p:nvPr/>
        </p:nvSpPr>
        <p:spPr>
          <a:xfrm>
            <a:off x="2423160" y="3502152"/>
            <a:ext cx="219456" cy="256032"/>
          </a:xfrm>
          <a:prstGeom prst="rect">
            <a:avLst/>
          </a:prstGeom>
          <a:solidFill>
            <a:srgbClr val="E0F3E3"/>
          </a:solidFill>
          <a:ln w="9525">
            <a:solidFill>
              <a:srgbClr val="2F8F48"/>
            </a:solidFill>
            <a:prstDash val="solid"/>
          </a:ln>
        </p:spPr>
      </p:sp>
      <p:sp>
        <p:nvSpPr>
          <p:cNvPr id="26" name="Shape 22"/>
          <p:cNvSpPr/>
          <p:nvPr/>
        </p:nvSpPr>
        <p:spPr>
          <a:xfrm>
            <a:off x="2715768" y="3502152"/>
            <a:ext cx="219456" cy="256032"/>
          </a:xfrm>
          <a:prstGeom prst="rect">
            <a:avLst/>
          </a:prstGeom>
          <a:solidFill>
            <a:srgbClr val="FCEDD4"/>
          </a:solidFill>
          <a:ln w="9525">
            <a:solidFill>
              <a:srgbClr val="C9871B"/>
            </a:solidFill>
            <a:prstDash val="solid"/>
          </a:ln>
        </p:spPr>
      </p:sp>
      <p:sp>
        <p:nvSpPr>
          <p:cNvPr id="27" name="Shape 23"/>
          <p:cNvSpPr/>
          <p:nvPr/>
        </p:nvSpPr>
        <p:spPr>
          <a:xfrm>
            <a:off x="3008376" y="3502152"/>
            <a:ext cx="219456" cy="256032"/>
          </a:xfrm>
          <a:prstGeom prst="rect">
            <a:avLst/>
          </a:prstGeom>
          <a:solidFill>
            <a:srgbClr val="E0F3E3"/>
          </a:solidFill>
          <a:ln w="9525">
            <a:solidFill>
              <a:srgbClr val="2F8F48"/>
            </a:solidFill>
            <a:prstDash val="solid"/>
          </a:ln>
        </p:spPr>
      </p:sp>
      <p:sp>
        <p:nvSpPr>
          <p:cNvPr id="28" name="Shape 24"/>
          <p:cNvSpPr/>
          <p:nvPr/>
        </p:nvSpPr>
        <p:spPr>
          <a:xfrm>
            <a:off x="3300984" y="3502152"/>
            <a:ext cx="219456" cy="256032"/>
          </a:xfrm>
          <a:prstGeom prst="rect">
            <a:avLst/>
          </a:prstGeom>
          <a:solidFill>
            <a:srgbClr val="FCEDD4"/>
          </a:solidFill>
          <a:ln w="9525">
            <a:solidFill>
              <a:srgbClr val="C9871B"/>
            </a:solidFill>
            <a:prstDash val="solid"/>
          </a:ln>
        </p:spPr>
      </p:sp>
      <p:sp>
        <p:nvSpPr>
          <p:cNvPr id="29" name="Shape 25"/>
          <p:cNvSpPr/>
          <p:nvPr/>
        </p:nvSpPr>
        <p:spPr>
          <a:xfrm>
            <a:off x="813816" y="4023360"/>
            <a:ext cx="1417320" cy="502920"/>
          </a:xfrm>
          <a:prstGeom prst="roundRect">
            <a:avLst>
              <a:gd name="adj" fmla="val 18182"/>
            </a:avLst>
          </a:prstGeom>
          <a:solidFill>
            <a:srgbClr val="E0F3E3"/>
          </a:solidFill>
          <a:ln w="15875">
            <a:solidFill>
              <a:srgbClr val="2F8F48"/>
            </a:solidFill>
            <a:prstDash val="solid"/>
          </a:ln>
        </p:spPr>
      </p:sp>
      <p:sp>
        <p:nvSpPr>
          <p:cNvPr id="30" name="Text 26"/>
          <p:cNvSpPr txBox="1"/>
          <p:nvPr/>
        </p:nvSpPr>
        <p:spPr>
          <a:xfrm>
            <a:off x="905256" y="4023360"/>
            <a:ext cx="123444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17431F"/>
                </a:solidFill>
                <a:latin typeface="Calibri" pitchFamily="34" charset="0"/>
                <a:ea typeface="Calibri" pitchFamily="34" charset="-122"/>
                <a:cs typeface="Calibri" pitchFamily="34" charset="-120"/>
              </a:rPr>
              <a:t>Tracking</a:t>
            </a:r>
            <a:endParaRPr lang="en-US" sz="1000" dirty="0"/>
          </a:p>
        </p:txBody>
      </p:sp>
      <p:sp>
        <p:nvSpPr>
          <p:cNvPr id="31" name="Shape 27"/>
          <p:cNvSpPr/>
          <p:nvPr/>
        </p:nvSpPr>
        <p:spPr>
          <a:xfrm>
            <a:off x="2423160" y="4142232"/>
            <a:ext cx="219456" cy="256032"/>
          </a:xfrm>
          <a:prstGeom prst="rect">
            <a:avLst/>
          </a:prstGeom>
          <a:solidFill>
            <a:srgbClr val="E0F3E3"/>
          </a:solidFill>
          <a:ln w="9525">
            <a:solidFill>
              <a:srgbClr val="2F8F48"/>
            </a:solidFill>
            <a:prstDash val="solid"/>
          </a:ln>
        </p:spPr>
      </p:sp>
      <p:sp>
        <p:nvSpPr>
          <p:cNvPr id="32" name="Shape 28"/>
          <p:cNvSpPr/>
          <p:nvPr/>
        </p:nvSpPr>
        <p:spPr>
          <a:xfrm>
            <a:off x="2715768" y="4142232"/>
            <a:ext cx="219456" cy="256032"/>
          </a:xfrm>
          <a:prstGeom prst="rect">
            <a:avLst/>
          </a:prstGeom>
          <a:solidFill>
            <a:srgbClr val="FCEDD4"/>
          </a:solidFill>
          <a:ln w="9525">
            <a:solidFill>
              <a:srgbClr val="C9871B"/>
            </a:solidFill>
            <a:prstDash val="solid"/>
          </a:ln>
        </p:spPr>
      </p:sp>
      <p:sp>
        <p:nvSpPr>
          <p:cNvPr id="33" name="Shape 29"/>
          <p:cNvSpPr/>
          <p:nvPr/>
        </p:nvSpPr>
        <p:spPr>
          <a:xfrm>
            <a:off x="3008376" y="4142232"/>
            <a:ext cx="219456" cy="256032"/>
          </a:xfrm>
          <a:prstGeom prst="rect">
            <a:avLst/>
          </a:prstGeom>
          <a:solidFill>
            <a:srgbClr val="E0F3E3"/>
          </a:solidFill>
          <a:ln w="9525">
            <a:solidFill>
              <a:srgbClr val="2F8F48"/>
            </a:solidFill>
            <a:prstDash val="solid"/>
          </a:ln>
        </p:spPr>
      </p:sp>
      <p:sp>
        <p:nvSpPr>
          <p:cNvPr id="34" name="Shape 30"/>
          <p:cNvSpPr/>
          <p:nvPr/>
        </p:nvSpPr>
        <p:spPr>
          <a:xfrm>
            <a:off x="3300984" y="4142232"/>
            <a:ext cx="219456" cy="256032"/>
          </a:xfrm>
          <a:prstGeom prst="rect">
            <a:avLst/>
          </a:prstGeom>
          <a:solidFill>
            <a:srgbClr val="FCEDD4"/>
          </a:solidFill>
          <a:ln w="9525">
            <a:solidFill>
              <a:srgbClr val="C9871B"/>
            </a:solidFill>
            <a:prstDash val="solid"/>
          </a:ln>
        </p:spPr>
      </p:sp>
      <p:sp>
        <p:nvSpPr>
          <p:cNvPr id="35" name="Shape 31"/>
          <p:cNvSpPr/>
          <p:nvPr/>
        </p:nvSpPr>
        <p:spPr>
          <a:xfrm>
            <a:off x="868680" y="4626864"/>
            <a:ext cx="182880" cy="182880"/>
          </a:xfrm>
          <a:prstGeom prst="rect">
            <a:avLst/>
          </a:prstGeom>
          <a:solidFill>
            <a:srgbClr val="E0F3E3"/>
          </a:solidFill>
          <a:ln w="9525">
            <a:solidFill>
              <a:srgbClr val="2F8F48"/>
            </a:solidFill>
            <a:prstDash val="solid"/>
          </a:ln>
        </p:spPr>
      </p:sp>
      <p:sp>
        <p:nvSpPr>
          <p:cNvPr id="36" name="Text 32"/>
          <p:cNvSpPr txBox="1"/>
          <p:nvPr/>
        </p:nvSpPr>
        <p:spPr>
          <a:xfrm>
            <a:off x="1106424" y="4590288"/>
            <a:ext cx="731520" cy="237744"/>
          </a:xfrm>
          <a:prstGeom prst="rect">
            <a:avLst/>
          </a:prstGeom>
          <a:noFill/>
          <a:ln/>
        </p:spPr>
        <p:txBody>
          <a:bodyPr wrap="square" lIns="0" tIns="0" rIns="0" bIns="0" rtlCol="0" anchor="ctr"/>
          <a:lstStyle/>
          <a:p>
            <a:pPr algn="l" indent="0" marL="0">
              <a:buNone/>
            </a:pPr>
            <a:r>
              <a:rPr lang="en-US" sz="850" dirty="0">
                <a:solidFill>
                  <a:srgbClr val="17431F"/>
                </a:solidFill>
                <a:latin typeface="Calibri" pitchFamily="34" charset="0"/>
                <a:ea typeface="Calibri" pitchFamily="34" charset="-122"/>
                <a:cs typeface="Calibri" pitchFamily="34" charset="-120"/>
              </a:rPr>
              <a:t>walk</a:t>
            </a:r>
            <a:endParaRPr lang="en-US" sz="850" dirty="0"/>
          </a:p>
        </p:txBody>
      </p:sp>
      <p:sp>
        <p:nvSpPr>
          <p:cNvPr id="37" name="Shape 33"/>
          <p:cNvSpPr/>
          <p:nvPr/>
        </p:nvSpPr>
        <p:spPr>
          <a:xfrm>
            <a:off x="1920240" y="4626864"/>
            <a:ext cx="182880" cy="182880"/>
          </a:xfrm>
          <a:prstGeom prst="rect">
            <a:avLst/>
          </a:prstGeom>
          <a:solidFill>
            <a:srgbClr val="FCEDD4"/>
          </a:solidFill>
          <a:ln w="9525">
            <a:solidFill>
              <a:srgbClr val="C9871B"/>
            </a:solidFill>
            <a:prstDash val="solid"/>
          </a:ln>
        </p:spPr>
      </p:sp>
      <p:sp>
        <p:nvSpPr>
          <p:cNvPr id="38" name="Text 34"/>
          <p:cNvSpPr txBox="1"/>
          <p:nvPr/>
        </p:nvSpPr>
        <p:spPr>
          <a:xfrm>
            <a:off x="2157984" y="4590288"/>
            <a:ext cx="731520" cy="237744"/>
          </a:xfrm>
          <a:prstGeom prst="rect">
            <a:avLst/>
          </a:prstGeom>
          <a:noFill/>
          <a:ln/>
        </p:spPr>
        <p:txBody>
          <a:bodyPr wrap="square" lIns="0" tIns="0" rIns="0" bIns="0" rtlCol="0" anchor="ctr"/>
          <a:lstStyle/>
          <a:p>
            <a:pPr algn="l" indent="0" marL="0">
              <a:buNone/>
            </a:pPr>
            <a:r>
              <a:rPr lang="en-US" sz="850" dirty="0">
                <a:solidFill>
                  <a:srgbClr val="64430A"/>
                </a:solidFill>
                <a:latin typeface="Calibri" pitchFamily="34" charset="0"/>
                <a:ea typeface="Calibri" pitchFamily="34" charset="-122"/>
                <a:cs typeface="Calibri" pitchFamily="34" charset="-120"/>
              </a:rPr>
              <a:t>talk</a:t>
            </a:r>
            <a:endParaRPr lang="en-US" sz="850" dirty="0"/>
          </a:p>
        </p:txBody>
      </p:sp>
      <p:sp>
        <p:nvSpPr>
          <p:cNvPr id="39" name="Text 35"/>
          <p:cNvSpPr txBox="1"/>
          <p:nvPr/>
        </p:nvSpPr>
        <p:spPr>
          <a:xfrm>
            <a:off x="2788920" y="4590288"/>
            <a:ext cx="1097280" cy="237744"/>
          </a:xfrm>
          <a:prstGeom prst="rect">
            <a:avLst/>
          </a:prstGeom>
          <a:noFill/>
          <a:ln/>
        </p:spPr>
        <p:txBody>
          <a:bodyPr wrap="square" lIns="0" tIns="0" rIns="0" bIns="0" rtlCol="0" anchor="ctr"/>
          <a:lstStyle/>
          <a:p>
            <a:pPr algn="r" indent="0" marL="0">
              <a:buNone/>
            </a:pPr>
            <a:r>
              <a:rPr lang="en-US" sz="800" dirty="0">
                <a:solidFill>
                  <a:srgbClr val="58697A"/>
                </a:solidFill>
                <a:latin typeface="Calibri" pitchFamily="34" charset="0"/>
                <a:ea typeface="Calibri" pitchFamily="34" charset="-122"/>
                <a:cs typeface="Calibri" pitchFamily="34" charset="-120"/>
              </a:rPr>
              <a:t>per indicator</a:t>
            </a:r>
            <a:endParaRPr lang="en-US" sz="800" dirty="0"/>
          </a:p>
        </p:txBody>
      </p:sp>
      <p:sp>
        <p:nvSpPr>
          <p:cNvPr id="40" name="Shape 36"/>
          <p:cNvSpPr/>
          <p:nvPr/>
        </p:nvSpPr>
        <p:spPr>
          <a:xfrm>
            <a:off x="4434840" y="1783080"/>
            <a:ext cx="3383280" cy="841248"/>
          </a:xfrm>
          <a:prstGeom prst="roundRect">
            <a:avLst>
              <a:gd name="adj" fmla="val 10870"/>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41" name="Shape 37"/>
          <p:cNvSpPr/>
          <p:nvPr/>
        </p:nvSpPr>
        <p:spPr>
          <a:xfrm>
            <a:off x="4572000" y="2011680"/>
            <a:ext cx="384048" cy="384048"/>
          </a:xfrm>
          <a:prstGeom prst="roundRect">
            <a:avLst>
              <a:gd name="adj" fmla="val 23810"/>
            </a:avLst>
          </a:prstGeom>
          <a:solidFill>
            <a:srgbClr val="108494"/>
          </a:solidFill>
          <a:ln/>
        </p:spPr>
      </p:sp>
      <p:pic>
        <p:nvPicPr>
          <p:cNvPr id="42" name="Image 2" descr="preencoded.png">    </p:cNvPr>
          <p:cNvPicPr>
            <a:picLocks noChangeAspect="1"/>
          </p:cNvPicPr>
          <p:nvPr/>
        </p:nvPicPr>
        <p:blipFill>
          <a:blip r:embed="rId3"/>
          <a:stretch>
            <a:fillRect/>
          </a:stretch>
        </p:blipFill>
        <p:spPr>
          <a:xfrm>
            <a:off x="4656491" y="2096171"/>
            <a:ext cx="215067" cy="215067"/>
          </a:xfrm>
          <a:prstGeom prst="rect">
            <a:avLst/>
          </a:prstGeom>
        </p:spPr>
      </p:pic>
      <p:sp>
        <p:nvSpPr>
          <p:cNvPr id="43" name="Text 38"/>
          <p:cNvSpPr txBox="1"/>
          <p:nvPr/>
        </p:nvSpPr>
        <p:spPr>
          <a:xfrm>
            <a:off x="5093208" y="1783080"/>
            <a:ext cx="2615184" cy="841248"/>
          </a:xfrm>
          <a:prstGeom prst="rect">
            <a:avLst/>
          </a:prstGeom>
          <a:noFill/>
          <a:ln/>
        </p:spPr>
        <p:txBody>
          <a:bodyPr wrap="square" lIns="0" tIns="0" rIns="0" bIns="0" rtlCol="0" anchor="ctr"/>
          <a:lstStyle/>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Retrieve top-8 chunks</a:t>
            </a:r>
            <a:endParaRPr lang="en-US" sz="1050" dirty="0"/>
          </a:p>
          <a:p>
            <a:pPr algn="l" indent="0" marL="0">
              <a:lnSpc>
                <a:spcPct val="104000"/>
              </a:lnSpc>
              <a:buNone/>
            </a:pPr>
            <a:r>
              <a:rPr lang="en-US" sz="800" dirty="0">
                <a:solidFill>
                  <a:srgbClr val="0A4451"/>
                </a:solidFill>
                <a:latin typeface="Calibri" pitchFamily="34" charset="0"/>
                <a:ea typeface="Calibri" pitchFamily="34" charset="-122"/>
                <a:cs typeface="Calibri" pitchFamily="34" charset="-120"/>
              </a:rPr>
              <a:t>BM25 only — hybrid retrieval deliberately off, to reproduce the paper's behaviour</a:t>
            </a:r>
            <a:endParaRPr lang="en-US" sz="1050" dirty="0"/>
          </a:p>
        </p:txBody>
      </p:sp>
      <p:sp>
        <p:nvSpPr>
          <p:cNvPr id="44" name="Shape 39"/>
          <p:cNvSpPr/>
          <p:nvPr/>
        </p:nvSpPr>
        <p:spPr>
          <a:xfrm>
            <a:off x="6126480" y="2642616"/>
            <a:ext cx="0" cy="146304"/>
          </a:xfrm>
          <a:prstGeom prst="line">
            <a:avLst/>
          </a:prstGeom>
          <a:noFill/>
          <a:ln w="17780">
            <a:solidFill>
              <a:srgbClr val="64798F"/>
            </a:solidFill>
            <a:prstDash val="solid"/>
            <a:headEnd type="none"/>
            <a:tailEnd type="triangle"/>
          </a:ln>
        </p:spPr>
      </p:sp>
      <p:sp>
        <p:nvSpPr>
          <p:cNvPr id="45" name="Shape 40"/>
          <p:cNvSpPr/>
          <p:nvPr/>
        </p:nvSpPr>
        <p:spPr>
          <a:xfrm>
            <a:off x="4434840" y="2807208"/>
            <a:ext cx="3383280" cy="841248"/>
          </a:xfrm>
          <a:prstGeom prst="roundRect">
            <a:avLst>
              <a:gd name="adj" fmla="val 10870"/>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46" name="Shape 41"/>
          <p:cNvSpPr/>
          <p:nvPr/>
        </p:nvSpPr>
        <p:spPr>
          <a:xfrm>
            <a:off x="4572000" y="3035808"/>
            <a:ext cx="384048" cy="384048"/>
          </a:xfrm>
          <a:prstGeom prst="roundRect">
            <a:avLst>
              <a:gd name="adj" fmla="val 23810"/>
            </a:avLst>
          </a:prstGeom>
          <a:solidFill>
            <a:srgbClr val="6D4DD1"/>
          </a:solidFill>
          <a:ln/>
        </p:spPr>
      </p:sp>
      <p:pic>
        <p:nvPicPr>
          <p:cNvPr id="47" name="Image 3" descr="preencoded.png">    </p:cNvPr>
          <p:cNvPicPr>
            <a:picLocks noChangeAspect="1"/>
          </p:cNvPicPr>
          <p:nvPr/>
        </p:nvPicPr>
        <p:blipFill>
          <a:blip r:embed="rId4"/>
          <a:stretch>
            <a:fillRect/>
          </a:stretch>
        </p:blipFill>
        <p:spPr>
          <a:xfrm>
            <a:off x="4656491" y="3120299"/>
            <a:ext cx="215067" cy="215067"/>
          </a:xfrm>
          <a:prstGeom prst="rect">
            <a:avLst/>
          </a:prstGeom>
        </p:spPr>
      </p:pic>
      <p:sp>
        <p:nvSpPr>
          <p:cNvPr id="48" name="Text 42"/>
          <p:cNvSpPr txBox="1"/>
          <p:nvPr/>
        </p:nvSpPr>
        <p:spPr>
          <a:xfrm>
            <a:off x="5093208" y="2807208"/>
            <a:ext cx="2615184" cy="841248"/>
          </a:xfrm>
          <a:prstGeom prst="rect">
            <a:avLst/>
          </a:prstGeom>
          <a:noFill/>
          <a:ln/>
        </p:spPr>
        <p:txBody>
          <a:bodyPr wrap="square" lIns="0" tIns="0" rIns="0" bIns="0" rtlCol="0" anchor="ctr"/>
          <a:lstStyle/>
          <a:p>
            <a:pPr algn="l" indent="0" marL="0">
              <a:lnSpc>
                <a:spcPct val="104000"/>
              </a:lnSpc>
              <a:buNone/>
            </a:pPr>
            <a:r>
              <a:rPr lang="en-US" sz="1050" b="1" dirty="0">
                <a:solidFill>
                  <a:srgbClr val="35236E"/>
                </a:solidFill>
                <a:latin typeface="Calibri" pitchFamily="34" charset="0"/>
                <a:ea typeface="Calibri" pitchFamily="34" charset="-122"/>
                <a:cs typeface="Calibri" pitchFamily="34" charset="-120"/>
              </a:rPr>
              <a:t>Ask once</a:t>
            </a:r>
            <a:endParaRPr lang="en-US" sz="105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the paper's senior-analyst persona, sceptical of cheap talk, 200-word cap</a:t>
            </a:r>
            <a:endParaRPr lang="en-US" sz="1050" dirty="0"/>
          </a:p>
        </p:txBody>
      </p:sp>
      <p:sp>
        <p:nvSpPr>
          <p:cNvPr id="49" name="Shape 43"/>
          <p:cNvSpPr/>
          <p:nvPr/>
        </p:nvSpPr>
        <p:spPr>
          <a:xfrm>
            <a:off x="6126480" y="3666744"/>
            <a:ext cx="0" cy="146304"/>
          </a:xfrm>
          <a:prstGeom prst="line">
            <a:avLst/>
          </a:prstGeom>
          <a:noFill/>
          <a:ln w="17780">
            <a:solidFill>
              <a:srgbClr val="64798F"/>
            </a:solidFill>
            <a:prstDash val="solid"/>
            <a:headEnd type="none"/>
            <a:tailEnd type="triangle"/>
          </a:ln>
        </p:spPr>
      </p:sp>
      <p:sp>
        <p:nvSpPr>
          <p:cNvPr id="50" name="Shape 44"/>
          <p:cNvSpPr/>
          <p:nvPr/>
        </p:nvSpPr>
        <p:spPr>
          <a:xfrm>
            <a:off x="4434840" y="3831336"/>
            <a:ext cx="3383280" cy="841248"/>
          </a:xfrm>
          <a:prstGeom prst="roundRect">
            <a:avLst>
              <a:gd name="adj" fmla="val 10870"/>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51" name="Shape 45"/>
          <p:cNvSpPr/>
          <p:nvPr/>
        </p:nvSpPr>
        <p:spPr>
          <a:xfrm>
            <a:off x="4572000" y="4059936"/>
            <a:ext cx="384048" cy="384048"/>
          </a:xfrm>
          <a:prstGeom prst="roundRect">
            <a:avLst>
              <a:gd name="adj" fmla="val 23810"/>
            </a:avLst>
          </a:prstGeom>
          <a:solidFill>
            <a:srgbClr val="C9871B"/>
          </a:solidFill>
          <a:ln/>
        </p:spPr>
      </p:sp>
      <p:pic>
        <p:nvPicPr>
          <p:cNvPr id="52" name="Image 4" descr="preencoded.png">    </p:cNvPr>
          <p:cNvPicPr>
            <a:picLocks noChangeAspect="1"/>
          </p:cNvPicPr>
          <p:nvPr/>
        </p:nvPicPr>
        <p:blipFill>
          <a:blip r:embed="rId5"/>
          <a:stretch>
            <a:fillRect/>
          </a:stretch>
        </p:blipFill>
        <p:spPr>
          <a:xfrm>
            <a:off x="4656491" y="4144427"/>
            <a:ext cx="215067" cy="215067"/>
          </a:xfrm>
          <a:prstGeom prst="rect">
            <a:avLst/>
          </a:prstGeom>
        </p:spPr>
      </p:pic>
      <p:sp>
        <p:nvSpPr>
          <p:cNvPr id="53" name="Text 46"/>
          <p:cNvSpPr txBox="1"/>
          <p:nvPr/>
        </p:nvSpPr>
        <p:spPr>
          <a:xfrm>
            <a:off x="5093208" y="3831336"/>
            <a:ext cx="2615184" cy="841248"/>
          </a:xfrm>
          <a:prstGeom prst="rect">
            <a:avLst/>
          </a:prstGeom>
          <a:noFill/>
          <a:ln/>
        </p:spPr>
        <p:txBody>
          <a:bodyPr wrap="square" lIns="0" tIns="0" rIns="0" bIns="0" rtlCol="0" anchor="ctr"/>
          <a:lstStyle/>
          <a:p>
            <a:pPr algn="l" indent="0" marL="0">
              <a:lnSpc>
                <a:spcPct val="104000"/>
              </a:lnSpc>
              <a:buNone/>
            </a:pPr>
            <a:r>
              <a:rPr lang="en-US" sz="1050" b="1" dirty="0">
                <a:solidFill>
                  <a:srgbClr val="64430A"/>
                </a:solidFill>
                <a:latin typeface="Calibri" pitchFamily="34" charset="0"/>
                <a:ea typeface="Calibri" pitchFamily="34" charset="-122"/>
                <a:cs typeface="Calibri" pitchFamily="34" charset="-120"/>
              </a:rPr>
              <a:t>Ground the citation</a:t>
            </a:r>
            <a:endParaRPr lang="en-US" sz="1050" dirty="0"/>
          </a:p>
          <a:p>
            <a:pPr algn="l" indent="0" marL="0">
              <a:lnSpc>
                <a:spcPct val="104000"/>
              </a:lnSpc>
              <a:buNone/>
            </a:pPr>
            <a:r>
              <a:rPr lang="en-US" sz="800" dirty="0">
                <a:solidFill>
                  <a:srgbClr val="64430A"/>
                </a:solidFill>
                <a:latin typeface="Calibri" pitchFamily="34" charset="0"/>
                <a:ea typeface="Calibri" pitchFamily="34" charset="-122"/>
                <a:cs typeface="Calibri" pitchFamily="34" charset="-120"/>
              </a:rPr>
              <a:t>quote re-verified against the source document, in code</a:t>
            </a:r>
            <a:endParaRPr lang="en-US" sz="1050" dirty="0"/>
          </a:p>
        </p:txBody>
      </p:sp>
      <p:sp>
        <p:nvSpPr>
          <p:cNvPr id="54" name="Shape 47"/>
          <p:cNvSpPr/>
          <p:nvPr/>
        </p:nvSpPr>
        <p:spPr>
          <a:xfrm>
            <a:off x="4023360" y="3200400"/>
            <a:ext cx="356616" cy="0"/>
          </a:xfrm>
          <a:prstGeom prst="line">
            <a:avLst/>
          </a:prstGeom>
          <a:noFill/>
          <a:ln w="19050">
            <a:solidFill>
              <a:srgbClr val="64798F"/>
            </a:solidFill>
            <a:prstDash val="solid"/>
            <a:headEnd type="none"/>
            <a:tailEnd type="triangle"/>
          </a:ln>
        </p:spPr>
      </p:sp>
      <p:sp>
        <p:nvSpPr>
          <p:cNvPr id="55" name="Shape 48"/>
          <p:cNvSpPr/>
          <p:nvPr/>
        </p:nvSpPr>
        <p:spPr>
          <a:xfrm flipH="1">
            <a:off x="4160520" y="4572000"/>
            <a:ext cx="274320" cy="0"/>
          </a:xfrm>
          <a:prstGeom prst="line">
            <a:avLst/>
          </a:prstGeom>
          <a:noFill/>
          <a:ln w="15240">
            <a:solidFill>
              <a:srgbClr val="64798F"/>
            </a:solidFill>
            <a:prstDash val="dash"/>
            <a:headEnd type="none"/>
            <a:tailEnd type="none"/>
          </a:ln>
        </p:spPr>
      </p:sp>
      <p:sp>
        <p:nvSpPr>
          <p:cNvPr id="56" name="Shape 49"/>
          <p:cNvSpPr/>
          <p:nvPr/>
        </p:nvSpPr>
        <p:spPr>
          <a:xfrm flipV="1">
            <a:off x="4160520" y="2203704"/>
            <a:ext cx="0" cy="2368296"/>
          </a:xfrm>
          <a:prstGeom prst="line">
            <a:avLst/>
          </a:prstGeom>
          <a:noFill/>
          <a:ln w="15240">
            <a:solidFill>
              <a:srgbClr val="64798F"/>
            </a:solidFill>
            <a:prstDash val="dash"/>
            <a:headEnd type="none"/>
            <a:tailEnd type="none"/>
          </a:ln>
        </p:spPr>
      </p:sp>
      <p:sp>
        <p:nvSpPr>
          <p:cNvPr id="57" name="Shape 50"/>
          <p:cNvSpPr/>
          <p:nvPr/>
        </p:nvSpPr>
        <p:spPr>
          <a:xfrm>
            <a:off x="4160520" y="2203704"/>
            <a:ext cx="237744" cy="0"/>
          </a:xfrm>
          <a:prstGeom prst="line">
            <a:avLst/>
          </a:prstGeom>
          <a:noFill/>
          <a:ln w="15240">
            <a:solidFill>
              <a:srgbClr val="64798F"/>
            </a:solidFill>
            <a:prstDash val="dash"/>
            <a:headEnd type="none"/>
            <a:tailEnd type="triangle"/>
          </a:ln>
        </p:spPr>
      </p:sp>
      <p:sp>
        <p:nvSpPr>
          <p:cNvPr id="58" name="Text 51"/>
          <p:cNvSpPr txBox="1"/>
          <p:nvPr/>
        </p:nvSpPr>
        <p:spPr>
          <a:xfrm>
            <a:off x="4206240" y="4754880"/>
            <a:ext cx="2743200" cy="201168"/>
          </a:xfrm>
          <a:prstGeom prst="rect">
            <a:avLst/>
          </a:prstGeom>
          <a:noFill/>
          <a:ln/>
        </p:spPr>
        <p:txBody>
          <a:bodyPr wrap="square" lIns="0" tIns="0" rIns="0" bIns="0" rtlCol="0" anchor="ctr"/>
          <a:lstStyle/>
          <a:p>
            <a:pPr algn="l" indent="0" marL="0">
              <a:buNone/>
            </a:pPr>
            <a:r>
              <a:rPr lang="en-US" sz="800" i="1" dirty="0">
                <a:solidFill>
                  <a:srgbClr val="58697A"/>
                </a:solidFill>
                <a:latin typeface="Calibri" pitchFamily="34" charset="0"/>
                <a:ea typeface="Calibri" pitchFamily="34" charset="-122"/>
                <a:cs typeface="Calibri" pitchFamily="34" charset="-120"/>
              </a:rPr>
              <a:t>repeated for all 64 indicators</a:t>
            </a:r>
            <a:endParaRPr lang="en-US" sz="800" dirty="0"/>
          </a:p>
        </p:txBody>
      </p:sp>
      <p:sp>
        <p:nvSpPr>
          <p:cNvPr id="59" name="Shape 52"/>
          <p:cNvSpPr/>
          <p:nvPr/>
        </p:nvSpPr>
        <p:spPr>
          <a:xfrm>
            <a:off x="8229600" y="1783080"/>
            <a:ext cx="3364992" cy="731520"/>
          </a:xfrm>
          <a:prstGeom prst="roundRect">
            <a:avLst>
              <a:gd name="adj" fmla="val 12500"/>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60" name="Image 5" descr="preencoded.png">    </p:cNvPr>
          <p:cNvPicPr>
            <a:picLocks noChangeAspect="1"/>
          </p:cNvPicPr>
          <p:nvPr/>
        </p:nvPicPr>
        <p:blipFill>
          <a:blip r:embed="rId6"/>
          <a:stretch>
            <a:fillRect/>
          </a:stretch>
        </p:blipFill>
        <p:spPr>
          <a:xfrm>
            <a:off x="8348472" y="1883664"/>
            <a:ext cx="182880" cy="182880"/>
          </a:xfrm>
          <a:prstGeom prst="rect">
            <a:avLst/>
          </a:prstGeom>
        </p:spPr>
      </p:pic>
      <p:sp>
        <p:nvSpPr>
          <p:cNvPr id="61" name="Text 53"/>
          <p:cNvSpPr txBox="1"/>
          <p:nvPr/>
        </p:nvSpPr>
        <p:spPr>
          <a:xfrm>
            <a:off x="8321040" y="1783080"/>
            <a:ext cx="3182112" cy="73152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YES / NO / NA + explanation</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NA is a real answer, not a skip</a:t>
            </a:r>
            <a:endParaRPr lang="en-US" sz="1050" dirty="0"/>
          </a:p>
        </p:txBody>
      </p:sp>
      <p:sp>
        <p:nvSpPr>
          <p:cNvPr id="62" name="Shape 54"/>
          <p:cNvSpPr/>
          <p:nvPr/>
        </p:nvSpPr>
        <p:spPr>
          <a:xfrm>
            <a:off x="8229600" y="2697480"/>
            <a:ext cx="3364992" cy="731520"/>
          </a:xfrm>
          <a:prstGeom prst="roundRect">
            <a:avLst>
              <a:gd name="adj" fmla="val 12500"/>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63" name="Image 6" descr="preencoded.png">    </p:cNvPr>
          <p:cNvPicPr>
            <a:picLocks noChangeAspect="1"/>
          </p:cNvPicPr>
          <p:nvPr/>
        </p:nvPicPr>
        <p:blipFill>
          <a:blip r:embed="rId7"/>
          <a:stretch>
            <a:fillRect/>
          </a:stretch>
        </p:blipFill>
        <p:spPr>
          <a:xfrm>
            <a:off x="8348472" y="2798064"/>
            <a:ext cx="182880" cy="182880"/>
          </a:xfrm>
          <a:prstGeom prst="rect">
            <a:avLst/>
          </a:prstGeom>
        </p:spPr>
      </p:pic>
      <p:sp>
        <p:nvSpPr>
          <p:cNvPr id="64" name="Text 55"/>
          <p:cNvSpPr txBox="1"/>
          <p:nvPr/>
        </p:nvSpPr>
        <p:spPr>
          <a:xfrm>
            <a:off x="8321040" y="2697480"/>
            <a:ext cx="3182112" cy="731520"/>
          </a:xfrm>
          <a:prstGeom prst="rect">
            <a:avLst/>
          </a:prstGeom>
          <a:noFill/>
          <a:ln/>
        </p:spPr>
        <p:txBody>
          <a:bodyPr wrap="square" lIns="0" tIns="0" rIns="0" bIns="0" rtlCol="0" anchor="ctr"/>
          <a:lstStyle/>
          <a:p>
            <a:pPr algn="ctr" indent="0" marL="0">
              <a:lnSpc>
                <a:spcPct val="104000"/>
              </a:lnSpc>
              <a:buNone/>
            </a:pPr>
            <a:r>
              <a:rPr lang="en-US" sz="1050" b="1" dirty="0">
                <a:solidFill>
                  <a:srgbClr val="68182F"/>
                </a:solidFill>
                <a:latin typeface="Calibri" pitchFamily="34" charset="0"/>
                <a:ea typeface="Calibri" pitchFamily="34" charset="-122"/>
                <a:cs typeface="Calibri" pitchFamily="34" charset="-120"/>
              </a:rPr>
              <a:t>Ungrounded verdict → review</a:t>
            </a:r>
            <a:endParaRPr lang="en-US" sz="1050" dirty="0"/>
          </a:p>
          <a:p>
            <a:pPr algn="ctr" indent="0" marL="0">
              <a:lnSpc>
                <a:spcPct val="104000"/>
              </a:lnSpc>
              <a:buNone/>
            </a:pPr>
            <a:r>
              <a:rPr lang="en-US" sz="800" dirty="0">
                <a:solidFill>
                  <a:srgbClr val="68182F"/>
                </a:solidFill>
                <a:latin typeface="Calibri" pitchFamily="34" charset="0"/>
                <a:ea typeface="Calibri" pitchFamily="34" charset="-122"/>
                <a:cs typeface="Calibri" pitchFamily="34" charset="-120"/>
              </a:rPr>
              <a:t>not accepted at face value</a:t>
            </a:r>
            <a:endParaRPr lang="en-US" sz="1050" dirty="0"/>
          </a:p>
        </p:txBody>
      </p:sp>
      <p:sp>
        <p:nvSpPr>
          <p:cNvPr id="65" name="Shape 56"/>
          <p:cNvSpPr/>
          <p:nvPr/>
        </p:nvSpPr>
        <p:spPr>
          <a:xfrm>
            <a:off x="8229600" y="3611880"/>
            <a:ext cx="3364992" cy="1115568"/>
          </a:xfrm>
          <a:prstGeom prst="roundRect">
            <a:avLst>
              <a:gd name="adj" fmla="val 8197"/>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66" name="Image 7" descr="preencoded.png">    </p:cNvPr>
          <p:cNvPicPr>
            <a:picLocks noChangeAspect="1"/>
          </p:cNvPicPr>
          <p:nvPr/>
        </p:nvPicPr>
        <p:blipFill>
          <a:blip r:embed="rId8"/>
          <a:stretch>
            <a:fillRect/>
          </a:stretch>
        </p:blipFill>
        <p:spPr>
          <a:xfrm>
            <a:off x="8348472" y="3712464"/>
            <a:ext cx="182880" cy="182880"/>
          </a:xfrm>
          <a:prstGeom prst="rect">
            <a:avLst/>
          </a:prstGeom>
        </p:spPr>
      </p:pic>
      <p:sp>
        <p:nvSpPr>
          <p:cNvPr id="67" name="Text 57"/>
          <p:cNvSpPr txBox="1"/>
          <p:nvPr/>
        </p:nvSpPr>
        <p:spPr>
          <a:xfrm>
            <a:off x="8321040" y="3611880"/>
            <a:ext cx="3182112" cy="1115568"/>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2F8F48"/>
                </a:solidFill>
                <a:latin typeface="Calibri" pitchFamily="34" charset="0"/>
                <a:ea typeface="Calibri" pitchFamily="34" charset="-122"/>
                <a:cs typeface="Calibri" pitchFamily="34" charset="-120"/>
              </a:rPr>
              <a:t>HEADLINE METRIC</a:t>
            </a:r>
            <a:endParaRPr lang="en-US" sz="700" dirty="0"/>
          </a:p>
          <a:p>
            <a:pPr algn="ctr" indent="0" marL="0">
              <a:lnSpc>
                <a:spcPct val="104000"/>
              </a:lnSpc>
              <a:buNone/>
            </a:pPr>
            <a:r>
              <a:rPr lang="en-US" sz="1150" b="1" dirty="0">
                <a:solidFill>
                  <a:srgbClr val="17431F"/>
                </a:solidFill>
                <a:latin typeface="Calibri" pitchFamily="34" charset="0"/>
                <a:ea typeface="Calibri" pitchFamily="34" charset="-122"/>
                <a:cs typeface="Calibri" pitchFamily="34" charset="-120"/>
              </a:rPr>
              <a:t>Walk / talk grid</a:t>
            </a:r>
            <a:endParaRPr lang="en-US" sz="70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disclosed count out of 64, per category — the paper's disclosure-completeness score</a:t>
            </a:r>
            <a:endParaRPr lang="en-US" sz="700" dirty="0"/>
          </a:p>
        </p:txBody>
      </p:sp>
      <p:sp>
        <p:nvSpPr>
          <p:cNvPr id="68" name="Shape 58"/>
          <p:cNvSpPr/>
          <p:nvPr/>
        </p:nvSpPr>
        <p:spPr>
          <a:xfrm flipV="1">
            <a:off x="7863840" y="2148840"/>
            <a:ext cx="310896" cy="777240"/>
          </a:xfrm>
          <a:prstGeom prst="line">
            <a:avLst/>
          </a:prstGeom>
          <a:noFill/>
          <a:ln w="16510">
            <a:solidFill>
              <a:srgbClr val="2F8F48"/>
            </a:solidFill>
            <a:prstDash val="solid"/>
            <a:headEnd type="none"/>
            <a:tailEnd type="triangle"/>
          </a:ln>
        </p:spPr>
      </p:sp>
      <p:sp>
        <p:nvSpPr>
          <p:cNvPr id="69" name="Shape 59"/>
          <p:cNvSpPr/>
          <p:nvPr/>
        </p:nvSpPr>
        <p:spPr>
          <a:xfrm flipV="1">
            <a:off x="7863840" y="3063240"/>
            <a:ext cx="310896" cy="137160"/>
          </a:xfrm>
          <a:prstGeom prst="line">
            <a:avLst/>
          </a:prstGeom>
          <a:noFill/>
          <a:ln w="16510">
            <a:solidFill>
              <a:srgbClr val="CE3D64"/>
            </a:solidFill>
            <a:prstDash val="solid"/>
            <a:headEnd type="none"/>
            <a:tailEnd type="triangle"/>
          </a:ln>
        </p:spPr>
      </p:sp>
      <p:sp>
        <p:nvSpPr>
          <p:cNvPr id="70" name="Shape 60"/>
          <p:cNvSpPr/>
          <p:nvPr/>
        </p:nvSpPr>
        <p:spPr>
          <a:xfrm>
            <a:off x="7863840" y="3474720"/>
            <a:ext cx="310896" cy="457200"/>
          </a:xfrm>
          <a:prstGeom prst="line">
            <a:avLst/>
          </a:prstGeom>
          <a:noFill/>
          <a:ln w="16510">
            <a:solidFill>
              <a:srgbClr val="2F8F48"/>
            </a:solidFill>
            <a:prstDash val="solid"/>
            <a:headEnd type="none"/>
            <a:tailEnd type="triangle"/>
          </a:ln>
        </p:spPr>
      </p:sp>
      <p:sp>
        <p:nvSpPr>
          <p:cNvPr id="71" name="Shape 61"/>
          <p:cNvSpPr/>
          <p:nvPr/>
        </p:nvSpPr>
        <p:spPr>
          <a:xfrm>
            <a:off x="594360" y="5120640"/>
            <a:ext cx="11000232" cy="658368"/>
          </a:xfrm>
          <a:prstGeom prst="roundRect">
            <a:avLst>
              <a:gd name="adj" fmla="val 5556"/>
            </a:avLst>
          </a:prstGeom>
          <a:solidFill>
            <a:srgbClr val="F4F7FA"/>
          </a:solidFill>
          <a:ln w="15875">
            <a:solidFill>
              <a:srgbClr val="DDE5ED"/>
            </a:solidFill>
            <a:prstDash val="solid"/>
          </a:ln>
        </p:spPr>
      </p:sp>
      <p:sp>
        <p:nvSpPr>
          <p:cNvPr id="72" name="Text 62"/>
          <p:cNvSpPr txBox="1"/>
          <p:nvPr/>
        </p:nvSpPr>
        <p:spPr>
          <a:xfrm>
            <a:off x="795528" y="5120640"/>
            <a:ext cx="10597896" cy="658368"/>
          </a:xfrm>
          <a:prstGeom prst="rect">
            <a:avLst/>
          </a:prstGeom>
          <a:noFill/>
          <a:ln/>
        </p:spPr>
        <p:txBody>
          <a:bodyPr wrap="square" lIns="0" tIns="0" rIns="0" bIns="0" rtlCol="0" anchor="ctr"/>
          <a:lstStyle/>
          <a:p>
            <a:pPr indent="0" marL="0">
              <a:buNone/>
            </a:pPr>
            <a:r>
              <a:rPr lang="en-US" sz="930" b="1" dirty="0">
                <a:solidFill>
                  <a:srgbClr val="C9871B"/>
                </a:solidFill>
                <a:latin typeface="Calibri" pitchFamily="34" charset="0"/>
                <a:ea typeface="Calibri" pitchFamily="34" charset="-122"/>
                <a:cs typeface="Calibri" pitchFamily="34" charset="-120"/>
              </a:rPr>
              <a:t>Two deliberate deviations from the paper, both about not trusting a self-report.  </a:t>
            </a:r>
            <a:pPr indent="0" marL="0">
              <a:buNone/>
            </a:pPr>
            <a:r>
              <a:rPr lang="en-US" sz="930" dirty="0">
                <a:solidFill>
                  <a:srgbClr val="43566B"/>
                </a:solidFill>
                <a:latin typeface="Calibri" pitchFamily="34" charset="0"/>
                <a:ea typeface="Calibri" pitchFamily="34" charset="-122"/>
                <a:cs typeface="Calibri" pitchFamily="34" charset="-120"/>
              </a:rPr>
              <a:t>The paper's tool asks the model which source chunk it used; this asks for verbatim quotes and re-verifies each one. And BM25 stands in for the paper's OpenAI embeddings — behaviourally equivalent top-8 retrieval, consistent with the rest of this codebase, at no extra API cost. Everything else, including the single-pass shape with no verifier, is kept as published.</a:t>
            </a:r>
            <a:endParaRPr lang="en-US" sz="930" dirty="0"/>
          </a:p>
        </p:txBody>
      </p:sp>
      <p:sp>
        <p:nvSpPr>
          <p:cNvPr id="73" name="Shape 63"/>
          <p:cNvSpPr/>
          <p:nvPr/>
        </p:nvSpPr>
        <p:spPr>
          <a:xfrm>
            <a:off x="594360" y="6172200"/>
            <a:ext cx="155448" cy="155448"/>
          </a:xfrm>
          <a:prstGeom prst="roundRect">
            <a:avLst>
              <a:gd name="adj" fmla="val 29412"/>
            </a:avLst>
          </a:prstGeom>
          <a:solidFill>
            <a:srgbClr val="2F6FD0"/>
          </a:solidFill>
          <a:ln/>
        </p:spPr>
      </p:sp>
      <p:sp>
        <p:nvSpPr>
          <p:cNvPr id="74" name="Text 64"/>
          <p:cNvSpPr txBox="1"/>
          <p:nvPr/>
        </p:nvSpPr>
        <p:spPr>
          <a:xfrm>
            <a:off x="81381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75" name="Shape 65"/>
          <p:cNvSpPr/>
          <p:nvPr/>
        </p:nvSpPr>
        <p:spPr>
          <a:xfrm>
            <a:off x="2427732" y="6172200"/>
            <a:ext cx="155448" cy="155448"/>
          </a:xfrm>
          <a:prstGeom prst="roundRect">
            <a:avLst>
              <a:gd name="adj" fmla="val 29412"/>
            </a:avLst>
          </a:prstGeom>
          <a:solidFill>
            <a:srgbClr val="108494"/>
          </a:solidFill>
          <a:ln/>
        </p:spPr>
      </p:sp>
      <p:sp>
        <p:nvSpPr>
          <p:cNvPr id="76" name="Text 66"/>
          <p:cNvSpPr txBox="1"/>
          <p:nvPr/>
        </p:nvSpPr>
        <p:spPr>
          <a:xfrm>
            <a:off x="2647188"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77" name="Shape 67"/>
          <p:cNvSpPr/>
          <p:nvPr/>
        </p:nvSpPr>
        <p:spPr>
          <a:xfrm>
            <a:off x="4261104" y="6172200"/>
            <a:ext cx="155448" cy="155448"/>
          </a:xfrm>
          <a:prstGeom prst="roundRect">
            <a:avLst>
              <a:gd name="adj" fmla="val 29412"/>
            </a:avLst>
          </a:prstGeom>
          <a:solidFill>
            <a:srgbClr val="6D4DD1"/>
          </a:solidFill>
          <a:ln/>
        </p:spPr>
      </p:sp>
      <p:sp>
        <p:nvSpPr>
          <p:cNvPr id="78" name="Text 68"/>
          <p:cNvSpPr txBox="1"/>
          <p:nvPr/>
        </p:nvSpPr>
        <p:spPr>
          <a:xfrm>
            <a:off x="4480560"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79" name="Shape 69"/>
          <p:cNvSpPr/>
          <p:nvPr/>
        </p:nvSpPr>
        <p:spPr>
          <a:xfrm>
            <a:off x="6094476" y="6172200"/>
            <a:ext cx="155448" cy="155448"/>
          </a:xfrm>
          <a:prstGeom prst="roundRect">
            <a:avLst>
              <a:gd name="adj" fmla="val 29412"/>
            </a:avLst>
          </a:prstGeom>
          <a:solidFill>
            <a:srgbClr val="C9871B"/>
          </a:solidFill>
          <a:ln/>
        </p:spPr>
      </p:sp>
      <p:sp>
        <p:nvSpPr>
          <p:cNvPr id="80" name="Text 70"/>
          <p:cNvSpPr txBox="1"/>
          <p:nvPr/>
        </p:nvSpPr>
        <p:spPr>
          <a:xfrm>
            <a:off x="6313932"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81" name="Shape 71"/>
          <p:cNvSpPr/>
          <p:nvPr/>
        </p:nvSpPr>
        <p:spPr>
          <a:xfrm>
            <a:off x="7927848" y="6172200"/>
            <a:ext cx="155448" cy="155448"/>
          </a:xfrm>
          <a:prstGeom prst="roundRect">
            <a:avLst>
              <a:gd name="adj" fmla="val 29412"/>
            </a:avLst>
          </a:prstGeom>
          <a:solidFill>
            <a:srgbClr val="CE3D64"/>
          </a:solidFill>
          <a:ln/>
        </p:spPr>
      </p:sp>
      <p:sp>
        <p:nvSpPr>
          <p:cNvPr id="82" name="Text 72"/>
          <p:cNvSpPr txBox="1"/>
          <p:nvPr/>
        </p:nvSpPr>
        <p:spPr>
          <a:xfrm>
            <a:off x="8147304"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83" name="Shape 73"/>
          <p:cNvSpPr/>
          <p:nvPr/>
        </p:nvSpPr>
        <p:spPr>
          <a:xfrm>
            <a:off x="9761220" y="6172200"/>
            <a:ext cx="155448" cy="155448"/>
          </a:xfrm>
          <a:prstGeom prst="roundRect">
            <a:avLst>
              <a:gd name="adj" fmla="val 29412"/>
            </a:avLst>
          </a:prstGeom>
          <a:solidFill>
            <a:srgbClr val="2F8F48"/>
          </a:solidFill>
          <a:ln/>
        </p:spPr>
      </p:sp>
      <p:sp>
        <p:nvSpPr>
          <p:cNvPr id="84" name="Text 74"/>
          <p:cNvSpPr txBox="1"/>
          <p:nvPr/>
        </p:nvSpPr>
        <p:spPr>
          <a:xfrm>
            <a:off x="998067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08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Transition plan: 64 indicators, one at a time</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A faithful single-pass RAG replication, wrapped in this codebase's grounding and review machinery.</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72768"/>
            <a:ext cx="1907438"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1673352"/>
            <a:ext cx="182880" cy="182880"/>
          </a:xfrm>
          <a:prstGeom prst="rect">
            <a:avLst/>
          </a:prstGeom>
        </p:spPr>
      </p:pic>
      <p:sp>
        <p:nvSpPr>
          <p:cNvPr id="9" name="Text 5"/>
          <p:cNvSpPr txBox="1"/>
          <p:nvPr/>
        </p:nvSpPr>
        <p:spPr>
          <a:xfrm>
            <a:off x="685800"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Load indicators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verbatim from the paper's repo</a:t>
            </a:r>
            <a:endParaRPr lang="en-US" sz="1050" dirty="0"/>
          </a:p>
        </p:txBody>
      </p:sp>
      <p:sp>
        <p:nvSpPr>
          <p:cNvPr id="10" name="Shape 6"/>
          <p:cNvSpPr/>
          <p:nvPr/>
        </p:nvSpPr>
        <p:spPr>
          <a:xfrm>
            <a:off x="2556662" y="1947672"/>
            <a:ext cx="256032" cy="0"/>
          </a:xfrm>
          <a:prstGeom prst="line">
            <a:avLst/>
          </a:prstGeom>
          <a:noFill/>
          <a:ln w="21590">
            <a:solidFill>
              <a:srgbClr val="64798F"/>
            </a:solidFill>
            <a:prstDash val="solid"/>
            <a:headEnd type="none"/>
            <a:tailEnd type="triangle"/>
          </a:ln>
        </p:spPr>
      </p:sp>
      <p:sp>
        <p:nvSpPr>
          <p:cNvPr id="11" name="Shape 7"/>
          <p:cNvSpPr/>
          <p:nvPr/>
        </p:nvSpPr>
        <p:spPr>
          <a:xfrm>
            <a:off x="2867558" y="1572768"/>
            <a:ext cx="1907438"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2986430" y="1673352"/>
            <a:ext cx="182880" cy="182880"/>
          </a:xfrm>
          <a:prstGeom prst="rect">
            <a:avLst/>
          </a:prstGeom>
        </p:spPr>
      </p:pic>
      <p:sp>
        <p:nvSpPr>
          <p:cNvPr id="13" name="Text 8"/>
          <p:cNvSpPr txBox="1"/>
          <p:nvPr/>
        </p:nvSpPr>
        <p:spPr>
          <a:xfrm>
            <a:off x="2958998"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Fetch reports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the shared document registry</a:t>
            </a:r>
            <a:endParaRPr lang="en-US" sz="1050" dirty="0"/>
          </a:p>
        </p:txBody>
      </p:sp>
      <p:sp>
        <p:nvSpPr>
          <p:cNvPr id="14" name="Shape 9"/>
          <p:cNvSpPr/>
          <p:nvPr/>
        </p:nvSpPr>
        <p:spPr>
          <a:xfrm>
            <a:off x="4829861" y="1947672"/>
            <a:ext cx="256032" cy="0"/>
          </a:xfrm>
          <a:prstGeom prst="line">
            <a:avLst/>
          </a:prstGeom>
          <a:noFill/>
          <a:ln w="21590">
            <a:solidFill>
              <a:srgbClr val="64798F"/>
            </a:solidFill>
            <a:prstDash val="solid"/>
            <a:headEnd type="none"/>
            <a:tailEnd type="triangle"/>
          </a:ln>
        </p:spPr>
      </p:sp>
      <p:sp>
        <p:nvSpPr>
          <p:cNvPr id="15" name="Shape 10"/>
          <p:cNvSpPr/>
          <p:nvPr/>
        </p:nvSpPr>
        <p:spPr>
          <a:xfrm>
            <a:off x="5140757"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5259629" y="1673352"/>
            <a:ext cx="182880" cy="182880"/>
          </a:xfrm>
          <a:prstGeom prst="rect">
            <a:avLst/>
          </a:prstGeom>
        </p:spPr>
      </p:pic>
      <p:sp>
        <p:nvSpPr>
          <p:cNvPr id="17" name="Text 11"/>
          <p:cNvSpPr txBox="1"/>
          <p:nvPr/>
        </p:nvSpPr>
        <p:spPr>
          <a:xfrm>
            <a:off x="5232197"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Per-indicator RAG</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top-8 BM25 chunks, always</a:t>
            </a:r>
            <a:endParaRPr lang="en-US" sz="1050" dirty="0"/>
          </a:p>
        </p:txBody>
      </p:sp>
      <p:sp>
        <p:nvSpPr>
          <p:cNvPr id="18" name="Shape 12"/>
          <p:cNvSpPr/>
          <p:nvPr/>
        </p:nvSpPr>
        <p:spPr>
          <a:xfrm>
            <a:off x="7103059" y="1947672"/>
            <a:ext cx="256032" cy="0"/>
          </a:xfrm>
          <a:prstGeom prst="line">
            <a:avLst/>
          </a:prstGeom>
          <a:noFill/>
          <a:ln w="21590">
            <a:solidFill>
              <a:srgbClr val="64798F"/>
            </a:solidFill>
            <a:prstDash val="solid"/>
            <a:headEnd type="none"/>
            <a:tailEnd type="triangle"/>
          </a:ln>
        </p:spPr>
      </p:sp>
      <p:sp>
        <p:nvSpPr>
          <p:cNvPr id="19" name="Shape 13"/>
          <p:cNvSpPr/>
          <p:nvPr/>
        </p:nvSpPr>
        <p:spPr>
          <a:xfrm>
            <a:off x="7413955" y="1572768"/>
            <a:ext cx="1907438"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7532827" y="1673352"/>
            <a:ext cx="182880" cy="182880"/>
          </a:xfrm>
          <a:prstGeom prst="rect">
            <a:avLst/>
          </a:prstGeom>
        </p:spPr>
      </p:pic>
      <p:sp>
        <p:nvSpPr>
          <p:cNvPr id="21" name="Text 14"/>
          <p:cNvSpPr txBox="1"/>
          <p:nvPr/>
        </p:nvSpPr>
        <p:spPr>
          <a:xfrm>
            <a:off x="7505395"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One call</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persona + guideline, 200 words</a:t>
            </a:r>
            <a:endParaRPr lang="en-US" sz="1050" dirty="0"/>
          </a:p>
        </p:txBody>
      </p:sp>
      <p:sp>
        <p:nvSpPr>
          <p:cNvPr id="22" name="Shape 15"/>
          <p:cNvSpPr/>
          <p:nvPr/>
        </p:nvSpPr>
        <p:spPr>
          <a:xfrm>
            <a:off x="9376258" y="1947672"/>
            <a:ext cx="256032" cy="0"/>
          </a:xfrm>
          <a:prstGeom prst="line">
            <a:avLst/>
          </a:prstGeom>
          <a:noFill/>
          <a:ln w="21590">
            <a:solidFill>
              <a:srgbClr val="64798F"/>
            </a:solidFill>
            <a:prstDash val="solid"/>
            <a:headEnd type="none"/>
            <a:tailEnd type="triangle"/>
          </a:ln>
        </p:spPr>
      </p:sp>
      <p:sp>
        <p:nvSpPr>
          <p:cNvPr id="23" name="Shape 16"/>
          <p:cNvSpPr/>
          <p:nvPr/>
        </p:nvSpPr>
        <p:spPr>
          <a:xfrm>
            <a:off x="9687154" y="1572768"/>
            <a:ext cx="1907438" cy="749808"/>
          </a:xfrm>
          <a:prstGeom prst="roundRect">
            <a:avLst>
              <a:gd name="adj" fmla="val 1219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24" name="Image 5" descr="preencoded.png">    </p:cNvPr>
          <p:cNvPicPr>
            <a:picLocks noChangeAspect="1"/>
          </p:cNvPicPr>
          <p:nvPr/>
        </p:nvPicPr>
        <p:blipFill>
          <a:blip r:embed="rId6"/>
          <a:stretch>
            <a:fillRect/>
          </a:stretch>
        </p:blipFill>
        <p:spPr>
          <a:xfrm>
            <a:off x="9806026" y="1673352"/>
            <a:ext cx="182880" cy="182880"/>
          </a:xfrm>
          <a:prstGeom prst="rect">
            <a:avLst/>
          </a:prstGeom>
        </p:spPr>
      </p:pic>
      <p:sp>
        <p:nvSpPr>
          <p:cNvPr id="25" name="Text 17"/>
          <p:cNvSpPr txBox="1"/>
          <p:nvPr/>
        </p:nvSpPr>
        <p:spPr>
          <a:xfrm>
            <a:off x="9778594"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Aggregate</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walk/talk grid and score</a:t>
            </a:r>
            <a:endParaRPr lang="en-US" sz="1050" dirty="0"/>
          </a:p>
        </p:txBody>
      </p:sp>
      <p:sp>
        <p:nvSpPr>
          <p:cNvPr id="26" name="Shape 18"/>
          <p:cNvSpPr/>
          <p:nvPr/>
        </p:nvSpPr>
        <p:spPr>
          <a:xfrm>
            <a:off x="4480560" y="2880360"/>
            <a:ext cx="3108960" cy="777240"/>
          </a:xfrm>
          <a:prstGeom prst="diamond">
            <a:avLst/>
          </a:prstGeom>
          <a:solidFill>
            <a:srgbClr val="FCEDD4"/>
          </a:solidFill>
          <a:ln w="15875">
            <a:solidFill>
              <a:srgbClr val="C9871B"/>
            </a:solidFill>
            <a:prstDash val="solid"/>
          </a:ln>
        </p:spPr>
      </p:sp>
      <p:sp>
        <p:nvSpPr>
          <p:cNvPr id="27" name="Text 19"/>
          <p:cNvSpPr txBox="1"/>
          <p:nvPr/>
        </p:nvSpPr>
        <p:spPr>
          <a:xfrm>
            <a:off x="4572000" y="2880360"/>
            <a:ext cx="2926080" cy="777240"/>
          </a:xfrm>
          <a:prstGeom prst="rect">
            <a:avLst/>
          </a:prstGeom>
          <a:noFill/>
          <a:ln/>
        </p:spPr>
        <p:txBody>
          <a:bodyPr wrap="square" lIns="0" tIns="0" rIns="0" bIns="0" rtlCol="0" anchor="ctr"/>
          <a:lstStyle/>
          <a:p>
            <a:pPr algn="ctr" indent="0" marL="0">
              <a:lnSpc>
                <a:spcPct val="104000"/>
              </a:lnSpc>
              <a:buNone/>
            </a:pPr>
            <a:r>
              <a:rPr lang="en-US" sz="1000" b="1" dirty="0">
                <a:solidFill>
                  <a:srgbClr val="64430A"/>
                </a:solidFill>
                <a:latin typeface="Calibri" pitchFamily="34" charset="0"/>
                <a:ea typeface="Calibri" pitchFamily="34" charset="-122"/>
                <a:cs typeface="Calibri" pitchFamily="34" charset="-120"/>
              </a:rPr>
              <a:t>citation grounded?</a:t>
            </a:r>
            <a:endParaRPr lang="en-US" sz="1000" dirty="0"/>
          </a:p>
        </p:txBody>
      </p:sp>
      <p:sp>
        <p:nvSpPr>
          <p:cNvPr id="28" name="Shape 20"/>
          <p:cNvSpPr/>
          <p:nvPr/>
        </p:nvSpPr>
        <p:spPr>
          <a:xfrm>
            <a:off x="6035040" y="2359152"/>
            <a:ext cx="0" cy="484632"/>
          </a:xfrm>
          <a:prstGeom prst="line">
            <a:avLst/>
          </a:prstGeom>
          <a:noFill/>
          <a:ln w="17780">
            <a:solidFill>
              <a:srgbClr val="6D4DD1"/>
            </a:solidFill>
            <a:prstDash val="solid"/>
            <a:headEnd type="none"/>
            <a:tailEnd type="triangle"/>
          </a:ln>
        </p:spPr>
      </p:sp>
      <p:sp>
        <p:nvSpPr>
          <p:cNvPr id="29" name="Shape 21"/>
          <p:cNvSpPr/>
          <p:nvPr/>
        </p:nvSpPr>
        <p:spPr>
          <a:xfrm>
            <a:off x="1463040" y="4023360"/>
            <a:ext cx="3291840" cy="777240"/>
          </a:xfrm>
          <a:prstGeom prst="roundRect">
            <a:avLst>
              <a:gd name="adj" fmla="val 1176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0" name="Image 6" descr="preencoded.png">    </p:cNvPr>
          <p:cNvPicPr>
            <a:picLocks noChangeAspect="1"/>
          </p:cNvPicPr>
          <p:nvPr/>
        </p:nvPicPr>
        <p:blipFill>
          <a:blip r:embed="rId7"/>
          <a:stretch>
            <a:fillRect/>
          </a:stretch>
        </p:blipFill>
        <p:spPr>
          <a:xfrm>
            <a:off x="1581912" y="4123944"/>
            <a:ext cx="182880" cy="182880"/>
          </a:xfrm>
          <a:prstGeom prst="rect">
            <a:avLst/>
          </a:prstGeom>
        </p:spPr>
      </p:pic>
      <p:sp>
        <p:nvSpPr>
          <p:cNvPr id="31" name="Text 22"/>
          <p:cNvSpPr txBox="1"/>
          <p:nvPr/>
        </p:nvSpPr>
        <p:spPr>
          <a:xfrm>
            <a:off x="1554480" y="4023360"/>
            <a:ext cx="310896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Verdict accepted</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YES / NO / NA with its explanation</a:t>
            </a:r>
            <a:endParaRPr lang="en-US" sz="1050" dirty="0"/>
          </a:p>
        </p:txBody>
      </p:sp>
      <p:sp>
        <p:nvSpPr>
          <p:cNvPr id="32" name="Shape 23"/>
          <p:cNvSpPr/>
          <p:nvPr/>
        </p:nvSpPr>
        <p:spPr>
          <a:xfrm>
            <a:off x="7406640" y="4023360"/>
            <a:ext cx="3291840" cy="777240"/>
          </a:xfrm>
          <a:prstGeom prst="roundRect">
            <a:avLst>
              <a:gd name="adj" fmla="val 11765"/>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33" name="Image 7" descr="preencoded.png">    </p:cNvPr>
          <p:cNvPicPr>
            <a:picLocks noChangeAspect="1"/>
          </p:cNvPicPr>
          <p:nvPr/>
        </p:nvPicPr>
        <p:blipFill>
          <a:blip r:embed="rId8"/>
          <a:stretch>
            <a:fillRect/>
          </a:stretch>
        </p:blipFill>
        <p:spPr>
          <a:xfrm>
            <a:off x="7525512" y="4123944"/>
            <a:ext cx="182880" cy="182880"/>
          </a:xfrm>
          <a:prstGeom prst="rect">
            <a:avLst/>
          </a:prstGeom>
        </p:spPr>
      </p:pic>
      <p:sp>
        <p:nvSpPr>
          <p:cNvPr id="34" name="Text 24"/>
          <p:cNvSpPr txBox="1"/>
          <p:nvPr/>
        </p:nvSpPr>
        <p:spPr>
          <a:xfrm>
            <a:off x="7498080" y="4023360"/>
            <a:ext cx="310896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68182F"/>
                </a:solidFill>
                <a:latin typeface="Calibri" pitchFamily="34" charset="0"/>
                <a:ea typeface="Calibri" pitchFamily="34" charset="-122"/>
                <a:cs typeface="Calibri" pitchFamily="34" charset="-120"/>
              </a:rPr>
              <a:t>Routed to review</a:t>
            </a:r>
            <a:endParaRPr lang="en-US" sz="1050" dirty="0"/>
          </a:p>
          <a:p>
            <a:pPr algn="ctr" indent="0" marL="0">
              <a:lnSpc>
                <a:spcPct val="104000"/>
              </a:lnSpc>
              <a:buNone/>
            </a:pPr>
            <a:r>
              <a:rPr lang="en-US" sz="800" dirty="0">
                <a:solidFill>
                  <a:srgbClr val="68182F"/>
                </a:solidFill>
                <a:latin typeface="Calibri" pitchFamily="34" charset="0"/>
                <a:ea typeface="Calibri" pitchFamily="34" charset="-122"/>
                <a:cs typeface="Calibri" pitchFamily="34" charset="-120"/>
              </a:rPr>
              <a:t>a YES or NO with nothing verifiable behind it</a:t>
            </a:r>
            <a:endParaRPr lang="en-US" sz="1050" dirty="0"/>
          </a:p>
        </p:txBody>
      </p:sp>
      <p:sp>
        <p:nvSpPr>
          <p:cNvPr id="35" name="Shape 25"/>
          <p:cNvSpPr/>
          <p:nvPr/>
        </p:nvSpPr>
        <p:spPr>
          <a:xfrm>
            <a:off x="6035040" y="3694176"/>
            <a:ext cx="0" cy="109728"/>
          </a:xfrm>
          <a:prstGeom prst="line">
            <a:avLst/>
          </a:prstGeom>
          <a:noFill/>
          <a:ln w="16510">
            <a:solidFill>
              <a:srgbClr val="2F8F48"/>
            </a:solidFill>
            <a:prstDash val="solid"/>
            <a:headEnd type="none"/>
            <a:tailEnd type="none"/>
          </a:ln>
        </p:spPr>
      </p:sp>
      <p:sp>
        <p:nvSpPr>
          <p:cNvPr id="36" name="Shape 26"/>
          <p:cNvSpPr/>
          <p:nvPr/>
        </p:nvSpPr>
        <p:spPr>
          <a:xfrm flipH="1">
            <a:off x="3108960" y="3803904"/>
            <a:ext cx="2926080" cy="0"/>
          </a:xfrm>
          <a:prstGeom prst="line">
            <a:avLst/>
          </a:prstGeom>
          <a:noFill/>
          <a:ln w="16510">
            <a:solidFill>
              <a:srgbClr val="2F8F48"/>
            </a:solidFill>
            <a:prstDash val="solid"/>
            <a:headEnd type="none"/>
            <a:tailEnd type="none"/>
          </a:ln>
        </p:spPr>
      </p:sp>
      <p:sp>
        <p:nvSpPr>
          <p:cNvPr id="37" name="Shape 27"/>
          <p:cNvSpPr/>
          <p:nvPr/>
        </p:nvSpPr>
        <p:spPr>
          <a:xfrm>
            <a:off x="3108960" y="3803904"/>
            <a:ext cx="0" cy="182880"/>
          </a:xfrm>
          <a:prstGeom prst="line">
            <a:avLst/>
          </a:prstGeom>
          <a:noFill/>
          <a:ln w="16510">
            <a:solidFill>
              <a:srgbClr val="2F8F48"/>
            </a:solidFill>
            <a:prstDash val="solid"/>
            <a:headEnd type="none"/>
            <a:tailEnd type="triangle"/>
          </a:ln>
        </p:spPr>
      </p:sp>
      <p:sp>
        <p:nvSpPr>
          <p:cNvPr id="38" name="Shape 28"/>
          <p:cNvSpPr/>
          <p:nvPr/>
        </p:nvSpPr>
        <p:spPr>
          <a:xfrm>
            <a:off x="6035040" y="3803904"/>
            <a:ext cx="3017520" cy="0"/>
          </a:xfrm>
          <a:prstGeom prst="line">
            <a:avLst/>
          </a:prstGeom>
          <a:noFill/>
          <a:ln w="16510">
            <a:solidFill>
              <a:srgbClr val="CE3D64"/>
            </a:solidFill>
            <a:prstDash val="solid"/>
            <a:headEnd type="none"/>
            <a:tailEnd type="none"/>
          </a:ln>
        </p:spPr>
      </p:sp>
      <p:sp>
        <p:nvSpPr>
          <p:cNvPr id="39" name="Shape 29"/>
          <p:cNvSpPr/>
          <p:nvPr/>
        </p:nvSpPr>
        <p:spPr>
          <a:xfrm>
            <a:off x="9052560" y="3803904"/>
            <a:ext cx="0" cy="182880"/>
          </a:xfrm>
          <a:prstGeom prst="line">
            <a:avLst/>
          </a:prstGeom>
          <a:noFill/>
          <a:ln w="16510">
            <a:solidFill>
              <a:srgbClr val="CE3D64"/>
            </a:solidFill>
            <a:prstDash val="solid"/>
            <a:headEnd type="none"/>
            <a:tailEnd type="triangle"/>
          </a:ln>
        </p:spPr>
      </p:sp>
      <p:sp>
        <p:nvSpPr>
          <p:cNvPr id="40" name="Text 30"/>
          <p:cNvSpPr txBox="1"/>
          <p:nvPr/>
        </p:nvSpPr>
        <p:spPr>
          <a:xfrm>
            <a:off x="3200400" y="3803904"/>
            <a:ext cx="1188720" cy="182880"/>
          </a:xfrm>
          <a:prstGeom prst="rect">
            <a:avLst/>
          </a:prstGeom>
          <a:noFill/>
          <a:ln/>
        </p:spPr>
        <p:txBody>
          <a:bodyPr wrap="square" lIns="0" tIns="0" rIns="0" bIns="0" rtlCol="0" anchor="ctr"/>
          <a:lstStyle/>
          <a:p>
            <a:pPr algn="l" indent="0" marL="0">
              <a:buNone/>
            </a:pPr>
            <a:r>
              <a:rPr lang="en-US" sz="800" i="1" dirty="0">
                <a:solidFill>
                  <a:srgbClr val="2F8F48"/>
                </a:solidFill>
                <a:latin typeface="Calibri" pitchFamily="34" charset="0"/>
                <a:ea typeface="Calibri" pitchFamily="34" charset="-122"/>
                <a:cs typeface="Calibri" pitchFamily="34" charset="-120"/>
              </a:rPr>
              <a:t>grounded</a:t>
            </a:r>
            <a:endParaRPr lang="en-US" sz="800" dirty="0"/>
          </a:p>
        </p:txBody>
      </p:sp>
      <p:sp>
        <p:nvSpPr>
          <p:cNvPr id="41" name="Text 31"/>
          <p:cNvSpPr txBox="1"/>
          <p:nvPr/>
        </p:nvSpPr>
        <p:spPr>
          <a:xfrm>
            <a:off x="7772400" y="3803904"/>
            <a:ext cx="1188720" cy="182880"/>
          </a:xfrm>
          <a:prstGeom prst="rect">
            <a:avLst/>
          </a:prstGeom>
          <a:noFill/>
          <a:ln/>
        </p:spPr>
        <p:txBody>
          <a:bodyPr wrap="square" lIns="0" tIns="0" rIns="0" bIns="0" rtlCol="0" anchor="ctr"/>
          <a:lstStyle/>
          <a:p>
            <a:pPr algn="r" indent="0" marL="0">
              <a:buNone/>
            </a:pPr>
            <a:r>
              <a:rPr lang="en-US" sz="800" i="1" dirty="0">
                <a:solidFill>
                  <a:srgbClr val="CE3D64"/>
                </a:solidFill>
                <a:latin typeface="Calibri" pitchFamily="34" charset="0"/>
                <a:ea typeface="Calibri" pitchFamily="34" charset="-122"/>
                <a:cs typeface="Calibri" pitchFamily="34" charset="-120"/>
              </a:rPr>
              <a:t>not grounded</a:t>
            </a:r>
            <a:endParaRPr lang="en-US" sz="800" dirty="0"/>
          </a:p>
        </p:txBody>
      </p:sp>
      <p:sp>
        <p:nvSpPr>
          <p:cNvPr id="42" name="Shape 32"/>
          <p:cNvSpPr/>
          <p:nvPr/>
        </p:nvSpPr>
        <p:spPr>
          <a:xfrm>
            <a:off x="594360" y="2697480"/>
            <a:ext cx="3200400" cy="457200"/>
          </a:xfrm>
          <a:prstGeom prst="roundRect">
            <a:avLst>
              <a:gd name="adj" fmla="val 20000"/>
            </a:avLst>
          </a:prstGeom>
          <a:solidFill>
            <a:srgbClr val="DCF2F4"/>
          </a:solidFill>
          <a:ln w="15875">
            <a:solidFill>
              <a:srgbClr val="108494"/>
            </a:solidFill>
            <a:prstDash val="solid"/>
          </a:ln>
        </p:spPr>
      </p:sp>
      <p:pic>
        <p:nvPicPr>
          <p:cNvPr id="43" name="Image 8" descr="preencoded.png">    </p:cNvPr>
          <p:cNvPicPr>
            <a:picLocks noChangeAspect="1"/>
          </p:cNvPicPr>
          <p:nvPr/>
        </p:nvPicPr>
        <p:blipFill>
          <a:blip r:embed="rId9"/>
          <a:stretch>
            <a:fillRect/>
          </a:stretch>
        </p:blipFill>
        <p:spPr>
          <a:xfrm>
            <a:off x="713232" y="2798064"/>
            <a:ext cx="146304" cy="146304"/>
          </a:xfrm>
          <a:prstGeom prst="rect">
            <a:avLst/>
          </a:prstGeom>
        </p:spPr>
      </p:pic>
      <p:sp>
        <p:nvSpPr>
          <p:cNvPr id="44" name="Text 33"/>
          <p:cNvSpPr txBox="1"/>
          <p:nvPr/>
        </p:nvSpPr>
        <p:spPr>
          <a:xfrm>
            <a:off x="685800" y="2697480"/>
            <a:ext cx="3017520" cy="457200"/>
          </a:xfrm>
          <a:prstGeom prst="rect">
            <a:avLst/>
          </a:prstGeom>
          <a:noFill/>
          <a:ln/>
        </p:spPr>
        <p:txBody>
          <a:bodyPr wrap="square" lIns="0" tIns="0" rIns="0" bIns="0" rtlCol="0" anchor="ctr"/>
          <a:lstStyle/>
          <a:p>
            <a:pPr algn="ctr" indent="0" marL="0">
              <a:lnSpc>
                <a:spcPct val="104000"/>
              </a:lnSpc>
              <a:buNone/>
            </a:pPr>
            <a:r>
              <a:rPr lang="en-US" sz="950" b="1" dirty="0">
                <a:solidFill>
                  <a:srgbClr val="0A4451"/>
                </a:solidFill>
                <a:latin typeface="Calibri" pitchFamily="34" charset="0"/>
                <a:ea typeface="Calibri" pitchFamily="34" charset="-122"/>
                <a:cs typeface="Calibri" pitchFamily="34" charset="-120"/>
              </a:rPr>
              <a:t>NA when the report is genuinely silent</a:t>
            </a:r>
            <a:endParaRPr lang="en-US" sz="950" dirty="0"/>
          </a:p>
        </p:txBody>
      </p:sp>
      <p:sp>
        <p:nvSpPr>
          <p:cNvPr id="45" name="Text 34"/>
          <p:cNvSpPr txBox="1"/>
          <p:nvPr/>
        </p:nvSpPr>
        <p:spPr>
          <a:xfrm>
            <a:off x="594360" y="3200400"/>
            <a:ext cx="3200400" cy="384048"/>
          </a:xfrm>
          <a:prstGeom prst="rect">
            <a:avLst/>
          </a:prstGeom>
          <a:noFill/>
          <a:ln/>
        </p:spPr>
        <p:txBody>
          <a:bodyPr wrap="square" lIns="0" tIns="0" rIns="0" bIns="0" rtlCol="0" anchor="ctr"/>
          <a:lstStyle/>
          <a:p>
            <a:pPr algn="ctr" indent="0" marL="0">
              <a:buNone/>
            </a:pPr>
            <a:r>
              <a:rPr lang="en-US" sz="820" dirty="0">
                <a:solidFill>
                  <a:srgbClr val="58697A"/>
                </a:solidFill>
                <a:latin typeface="Calibri" pitchFamily="34" charset="0"/>
                <a:ea typeface="Calibri" pitchFamily="34" charset="-122"/>
                <a:cs typeface="Calibri" pitchFamily="34" charset="-120"/>
              </a:rPr>
              <a:t>the top-8 chunks are retrieved regardless of keyword overlap, so a silent report answers NA rather than being skipped</a:t>
            </a:r>
            <a:endParaRPr lang="en-US" sz="820" dirty="0"/>
          </a:p>
        </p:txBody>
      </p:sp>
      <p:sp>
        <p:nvSpPr>
          <p:cNvPr id="46" name="Shape 35"/>
          <p:cNvSpPr/>
          <p:nvPr/>
        </p:nvSpPr>
        <p:spPr>
          <a:xfrm>
            <a:off x="7818120" y="2697480"/>
            <a:ext cx="3776472" cy="457200"/>
          </a:xfrm>
          <a:prstGeom prst="roundRect">
            <a:avLst>
              <a:gd name="adj" fmla="val 20000"/>
            </a:avLst>
          </a:prstGeom>
          <a:solidFill>
            <a:srgbClr val="EBE5FC"/>
          </a:solidFill>
          <a:ln w="15875">
            <a:solidFill>
              <a:srgbClr val="6D4DD1"/>
            </a:solidFill>
            <a:prstDash val="solid"/>
          </a:ln>
        </p:spPr>
      </p:sp>
      <p:pic>
        <p:nvPicPr>
          <p:cNvPr id="47" name="Image 9" descr="preencoded.png">    </p:cNvPr>
          <p:cNvPicPr>
            <a:picLocks noChangeAspect="1"/>
          </p:cNvPicPr>
          <p:nvPr/>
        </p:nvPicPr>
        <p:blipFill>
          <a:blip r:embed="rId10"/>
          <a:stretch>
            <a:fillRect/>
          </a:stretch>
        </p:blipFill>
        <p:spPr>
          <a:xfrm>
            <a:off x="7936992" y="2798064"/>
            <a:ext cx="146304" cy="146304"/>
          </a:xfrm>
          <a:prstGeom prst="rect">
            <a:avLst/>
          </a:prstGeom>
        </p:spPr>
      </p:pic>
      <p:sp>
        <p:nvSpPr>
          <p:cNvPr id="48" name="Text 36"/>
          <p:cNvSpPr txBox="1"/>
          <p:nvPr/>
        </p:nvSpPr>
        <p:spPr>
          <a:xfrm>
            <a:off x="7909560" y="2697480"/>
            <a:ext cx="3593592" cy="457200"/>
          </a:xfrm>
          <a:prstGeom prst="rect">
            <a:avLst/>
          </a:prstGeom>
          <a:noFill/>
          <a:ln/>
        </p:spPr>
        <p:txBody>
          <a:bodyPr wrap="square" lIns="0" tIns="0" rIns="0" bIns="0" rtlCol="0" anchor="ctr"/>
          <a:lstStyle/>
          <a:p>
            <a:pPr algn="ctr" indent="0" marL="0">
              <a:lnSpc>
                <a:spcPct val="104000"/>
              </a:lnSpc>
              <a:buNone/>
            </a:pPr>
            <a:r>
              <a:rPr lang="en-US" sz="950" b="1" dirty="0">
                <a:solidFill>
                  <a:srgbClr val="35236E"/>
                </a:solidFill>
                <a:latin typeface="Calibri" pitchFamily="34" charset="0"/>
                <a:ea typeface="Calibri" pitchFamily="34" charset="-122"/>
                <a:cs typeface="Calibri" pitchFamily="34" charset="-120"/>
              </a:rPr>
              <a:t>No verifier second pass — by design</a:t>
            </a:r>
            <a:endParaRPr lang="en-US" sz="950" dirty="0"/>
          </a:p>
        </p:txBody>
      </p:sp>
      <p:sp>
        <p:nvSpPr>
          <p:cNvPr id="49" name="Text 37"/>
          <p:cNvSpPr txBox="1"/>
          <p:nvPr/>
        </p:nvSpPr>
        <p:spPr>
          <a:xfrm>
            <a:off x="7818120" y="3200400"/>
            <a:ext cx="3776472" cy="384048"/>
          </a:xfrm>
          <a:prstGeom prst="rect">
            <a:avLst/>
          </a:prstGeom>
          <a:noFill/>
          <a:ln/>
        </p:spPr>
        <p:txBody>
          <a:bodyPr wrap="square" lIns="0" tIns="0" rIns="0" bIns="0" rtlCol="0" anchor="ctr"/>
          <a:lstStyle/>
          <a:p>
            <a:pPr algn="ctr" indent="0" marL="0">
              <a:buNone/>
            </a:pPr>
            <a:r>
              <a:rPr lang="en-US" sz="820" dirty="0">
                <a:solidFill>
                  <a:srgbClr val="58697A"/>
                </a:solidFill>
                <a:latin typeface="Calibri" pitchFamily="34" charset="0"/>
                <a:ea typeface="Calibri" pitchFamily="34" charset="-122"/>
                <a:cs typeface="Calibri" pitchFamily="34" charset="-120"/>
              </a:rPr>
              <a:t>the paper's tool is single-pass RAG and the replication keeps that shape rather than adding this codebase's usual verifier</a:t>
            </a:r>
            <a:endParaRPr lang="en-US" sz="820" dirty="0"/>
          </a:p>
        </p:txBody>
      </p:sp>
      <p:sp>
        <p:nvSpPr>
          <p:cNvPr id="50" name="Shape 38"/>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51" name="Text 39"/>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52" name="Text 40"/>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arp/transition_plan/{pipeline,company_assessment}.py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arp/transition_plan/{indicator_graph,indicator_agent}.py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data/indicators.json — 64 indicators, verbatim</a:t>
            </a:r>
            <a:endParaRPr lang="en-US" sz="860" dirty="0"/>
          </a:p>
        </p:txBody>
      </p:sp>
      <p:sp>
        <p:nvSpPr>
          <p:cNvPr id="53" name="Shape 41"/>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54" name="Text 42"/>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5" name="Text 43"/>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company universe.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TransitionPlanAssessmentRecord — 64 verdicts with</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explanations, citations and the walk/talk score.</a:t>
            </a:r>
            <a:endParaRPr lang="en-US" sz="860" dirty="0"/>
          </a:p>
        </p:txBody>
      </p:sp>
      <p:sp>
        <p:nvSpPr>
          <p:cNvPr id="56" name="Shape 44"/>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57" name="Text 45"/>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58" name="Text 46"/>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Indicator wording and prompt text are never paraphrased.</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Hybrid retrieval stays off here, to match the paper exactly.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An ungrounded verdict is queued, not accepted.</a:t>
            </a:r>
            <a:endParaRPr lang="en-US" sz="8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09   ·   ENGAGEMENT (STEWARDSHIP)</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Company engagement, on the record</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One shared record per company, a state machine instead of a chatbot, and a human at every point that touches the outside world.</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594360" y="1463040"/>
            <a:ext cx="11000232" cy="201168"/>
          </a:xfrm>
          <a:prstGeom prst="rect">
            <a:avLst/>
          </a:prstGeom>
          <a:noFill/>
          <a:ln/>
        </p:spPr>
        <p:txBody>
          <a:bodyPr wrap="square" lIns="0" tIns="0" rIns="0" bIns="0" rtlCol="0" anchor="ctr"/>
          <a:lstStyle/>
          <a:p>
            <a:pPr algn="ctr" indent="0" marL="0">
              <a:buNone/>
            </a:pPr>
            <a:r>
              <a:rPr lang="en-US" sz="900" b="1" spc="140" kern="0" dirty="0">
                <a:solidFill>
                  <a:srgbClr val="64798F"/>
                </a:solidFill>
                <a:latin typeface="Calibri" pitchFamily="34" charset="0"/>
                <a:ea typeface="Calibri" pitchFamily="34" charset="-122"/>
                <a:cs typeface="Calibri" pitchFamily="34" charset="-120"/>
              </a:rPr>
              <a:t>MILESTONE STAGES — THE ORCHESTRATOR MAPS EACH TO THE NEXT ACTION</a:t>
            </a:r>
            <a:endParaRPr lang="en-US" sz="900" dirty="0"/>
          </a:p>
        </p:txBody>
      </p:sp>
      <p:sp>
        <p:nvSpPr>
          <p:cNvPr id="8" name="Shape 5"/>
          <p:cNvSpPr/>
          <p:nvPr/>
        </p:nvSpPr>
        <p:spPr>
          <a:xfrm>
            <a:off x="594360" y="1719072"/>
            <a:ext cx="1574292" cy="566928"/>
          </a:xfrm>
          <a:prstGeom prst="roundRect">
            <a:avLst>
              <a:gd name="adj" fmla="val 16129"/>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sp>
        <p:nvSpPr>
          <p:cNvPr id="9" name="Text 6"/>
          <p:cNvSpPr txBox="1"/>
          <p:nvPr/>
        </p:nvSpPr>
        <p:spPr>
          <a:xfrm>
            <a:off x="685800" y="1719072"/>
            <a:ext cx="1391412"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24354A"/>
                </a:solidFill>
                <a:latin typeface="Calibri" pitchFamily="34" charset="0"/>
                <a:ea typeface="Calibri" pitchFamily="34" charset="-122"/>
                <a:cs typeface="Calibri" pitchFamily="34" charset="-120"/>
              </a:rPr>
              <a:t>Identified</a:t>
            </a:r>
            <a:endParaRPr lang="en-US" sz="980" dirty="0"/>
          </a:p>
        </p:txBody>
      </p:sp>
      <p:sp>
        <p:nvSpPr>
          <p:cNvPr id="10" name="Shape 7"/>
          <p:cNvSpPr/>
          <p:nvPr/>
        </p:nvSpPr>
        <p:spPr>
          <a:xfrm>
            <a:off x="2205228" y="2002536"/>
            <a:ext cx="237744" cy="0"/>
          </a:xfrm>
          <a:prstGeom prst="line">
            <a:avLst/>
          </a:prstGeom>
          <a:noFill/>
          <a:ln w="17780">
            <a:solidFill>
              <a:srgbClr val="64798F"/>
            </a:solidFill>
            <a:prstDash val="solid"/>
            <a:headEnd type="none"/>
            <a:tailEnd type="triangle"/>
          </a:ln>
        </p:spPr>
      </p:sp>
      <p:sp>
        <p:nvSpPr>
          <p:cNvPr id="11" name="Shape 8"/>
          <p:cNvSpPr/>
          <p:nvPr/>
        </p:nvSpPr>
        <p:spPr>
          <a:xfrm>
            <a:off x="2479548" y="1719072"/>
            <a:ext cx="1574292" cy="566928"/>
          </a:xfrm>
          <a:prstGeom prst="roundRect">
            <a:avLst>
              <a:gd name="adj" fmla="val 16129"/>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sp>
        <p:nvSpPr>
          <p:cNvPr id="12" name="Text 9"/>
          <p:cNvSpPr txBox="1"/>
          <p:nvPr/>
        </p:nvSpPr>
        <p:spPr>
          <a:xfrm>
            <a:off x="2570988" y="1719072"/>
            <a:ext cx="1391412"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24354A"/>
                </a:solidFill>
                <a:latin typeface="Calibri" pitchFamily="34" charset="0"/>
                <a:ea typeface="Calibri" pitchFamily="34" charset="-122"/>
                <a:cs typeface="Calibri" pitchFamily="34" charset="-120"/>
              </a:rPr>
              <a:t>Contacted</a:t>
            </a:r>
            <a:endParaRPr lang="en-US" sz="980" dirty="0"/>
          </a:p>
        </p:txBody>
      </p:sp>
      <p:sp>
        <p:nvSpPr>
          <p:cNvPr id="13" name="Shape 10"/>
          <p:cNvSpPr/>
          <p:nvPr/>
        </p:nvSpPr>
        <p:spPr>
          <a:xfrm>
            <a:off x="4090416" y="2002536"/>
            <a:ext cx="237744" cy="0"/>
          </a:xfrm>
          <a:prstGeom prst="line">
            <a:avLst/>
          </a:prstGeom>
          <a:noFill/>
          <a:ln w="17780">
            <a:solidFill>
              <a:srgbClr val="64798F"/>
            </a:solidFill>
            <a:prstDash val="solid"/>
            <a:headEnd type="none"/>
            <a:tailEnd type="triangle"/>
          </a:ln>
        </p:spPr>
      </p:sp>
      <p:sp>
        <p:nvSpPr>
          <p:cNvPr id="14" name="Shape 11"/>
          <p:cNvSpPr/>
          <p:nvPr/>
        </p:nvSpPr>
        <p:spPr>
          <a:xfrm>
            <a:off x="4364736" y="1719072"/>
            <a:ext cx="1574292" cy="566928"/>
          </a:xfrm>
          <a:prstGeom prst="roundRect">
            <a:avLst>
              <a:gd name="adj" fmla="val 16129"/>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sp>
        <p:nvSpPr>
          <p:cNvPr id="15" name="Text 12"/>
          <p:cNvSpPr txBox="1"/>
          <p:nvPr/>
        </p:nvSpPr>
        <p:spPr>
          <a:xfrm>
            <a:off x="4456176" y="1719072"/>
            <a:ext cx="1391412"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24354A"/>
                </a:solidFill>
                <a:latin typeface="Calibri" pitchFamily="34" charset="0"/>
                <a:ea typeface="Calibri" pitchFamily="34" charset="-122"/>
                <a:cs typeface="Calibri" pitchFamily="34" charset="-120"/>
              </a:rPr>
              <a:t>Dialogue opened</a:t>
            </a:r>
            <a:endParaRPr lang="en-US" sz="980" dirty="0"/>
          </a:p>
        </p:txBody>
      </p:sp>
      <p:sp>
        <p:nvSpPr>
          <p:cNvPr id="16" name="Shape 13"/>
          <p:cNvSpPr/>
          <p:nvPr/>
        </p:nvSpPr>
        <p:spPr>
          <a:xfrm>
            <a:off x="5975604" y="2002536"/>
            <a:ext cx="237744" cy="0"/>
          </a:xfrm>
          <a:prstGeom prst="line">
            <a:avLst/>
          </a:prstGeom>
          <a:noFill/>
          <a:ln w="17780">
            <a:solidFill>
              <a:srgbClr val="64798F"/>
            </a:solidFill>
            <a:prstDash val="solid"/>
            <a:headEnd type="none"/>
            <a:tailEnd type="triangle"/>
          </a:ln>
        </p:spPr>
      </p:sp>
      <p:sp>
        <p:nvSpPr>
          <p:cNvPr id="17" name="Shape 14"/>
          <p:cNvSpPr/>
          <p:nvPr/>
        </p:nvSpPr>
        <p:spPr>
          <a:xfrm>
            <a:off x="6249924" y="1719072"/>
            <a:ext cx="1574292" cy="566928"/>
          </a:xfrm>
          <a:prstGeom prst="roundRect">
            <a:avLst>
              <a:gd name="adj" fmla="val 16129"/>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sp>
        <p:nvSpPr>
          <p:cNvPr id="18" name="Text 15"/>
          <p:cNvSpPr txBox="1"/>
          <p:nvPr/>
        </p:nvSpPr>
        <p:spPr>
          <a:xfrm>
            <a:off x="6341364" y="1719072"/>
            <a:ext cx="1391412"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24354A"/>
                </a:solidFill>
                <a:latin typeface="Calibri" pitchFamily="34" charset="0"/>
                <a:ea typeface="Calibri" pitchFamily="34" charset="-122"/>
                <a:cs typeface="Calibri" pitchFamily="34" charset="-120"/>
              </a:rPr>
              <a:t>Response received</a:t>
            </a:r>
            <a:endParaRPr lang="en-US" sz="980" dirty="0"/>
          </a:p>
        </p:txBody>
      </p:sp>
      <p:sp>
        <p:nvSpPr>
          <p:cNvPr id="19" name="Shape 16"/>
          <p:cNvSpPr/>
          <p:nvPr/>
        </p:nvSpPr>
        <p:spPr>
          <a:xfrm>
            <a:off x="7860792" y="2002536"/>
            <a:ext cx="237744" cy="0"/>
          </a:xfrm>
          <a:prstGeom prst="line">
            <a:avLst/>
          </a:prstGeom>
          <a:noFill/>
          <a:ln w="17780">
            <a:solidFill>
              <a:srgbClr val="64798F"/>
            </a:solidFill>
            <a:prstDash val="solid"/>
            <a:headEnd type="none"/>
            <a:tailEnd type="triangle"/>
          </a:ln>
        </p:spPr>
      </p:sp>
      <p:sp>
        <p:nvSpPr>
          <p:cNvPr id="20" name="Shape 17"/>
          <p:cNvSpPr/>
          <p:nvPr/>
        </p:nvSpPr>
        <p:spPr>
          <a:xfrm>
            <a:off x="8135112" y="1719072"/>
            <a:ext cx="1574292" cy="566928"/>
          </a:xfrm>
          <a:prstGeom prst="roundRect">
            <a:avLst>
              <a:gd name="adj" fmla="val 16129"/>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sp>
        <p:nvSpPr>
          <p:cNvPr id="21" name="Text 18"/>
          <p:cNvSpPr txBox="1"/>
          <p:nvPr/>
        </p:nvSpPr>
        <p:spPr>
          <a:xfrm>
            <a:off x="8226552" y="1719072"/>
            <a:ext cx="1391412"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24354A"/>
                </a:solidFill>
                <a:latin typeface="Calibri" pitchFamily="34" charset="0"/>
                <a:ea typeface="Calibri" pitchFamily="34" charset="-122"/>
                <a:cs typeface="Calibri" pitchFamily="34" charset="-120"/>
              </a:rPr>
              <a:t>Commitment made</a:t>
            </a:r>
            <a:endParaRPr lang="en-US" sz="980" dirty="0"/>
          </a:p>
        </p:txBody>
      </p:sp>
      <p:sp>
        <p:nvSpPr>
          <p:cNvPr id="22" name="Shape 19"/>
          <p:cNvSpPr/>
          <p:nvPr/>
        </p:nvSpPr>
        <p:spPr>
          <a:xfrm>
            <a:off x="9745980" y="2002536"/>
            <a:ext cx="237744" cy="0"/>
          </a:xfrm>
          <a:prstGeom prst="line">
            <a:avLst/>
          </a:prstGeom>
          <a:noFill/>
          <a:ln w="17780">
            <a:solidFill>
              <a:srgbClr val="64798F"/>
            </a:solidFill>
            <a:prstDash val="solid"/>
            <a:headEnd type="none"/>
            <a:tailEnd type="triangle"/>
          </a:ln>
        </p:spPr>
      </p:sp>
      <p:sp>
        <p:nvSpPr>
          <p:cNvPr id="23" name="Shape 20"/>
          <p:cNvSpPr/>
          <p:nvPr/>
        </p:nvSpPr>
        <p:spPr>
          <a:xfrm>
            <a:off x="10020300" y="1719072"/>
            <a:ext cx="1574292" cy="566928"/>
          </a:xfrm>
          <a:prstGeom prst="roundRect">
            <a:avLst>
              <a:gd name="adj" fmla="val 16129"/>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24" name="Text 21"/>
          <p:cNvSpPr txBox="1"/>
          <p:nvPr/>
        </p:nvSpPr>
        <p:spPr>
          <a:xfrm>
            <a:off x="10111740" y="1719072"/>
            <a:ext cx="1391412"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17431F"/>
                </a:solidFill>
                <a:latin typeface="Calibri" pitchFamily="34" charset="0"/>
                <a:ea typeface="Calibri" pitchFamily="34" charset="-122"/>
                <a:cs typeface="Calibri" pitchFamily="34" charset="-120"/>
              </a:rPr>
              <a:t>Commitment verified</a:t>
            </a:r>
            <a:endParaRPr lang="en-US" sz="980" dirty="0"/>
          </a:p>
        </p:txBody>
      </p:sp>
      <p:sp>
        <p:nvSpPr>
          <p:cNvPr id="25" name="Shape 22"/>
          <p:cNvSpPr/>
          <p:nvPr/>
        </p:nvSpPr>
        <p:spPr>
          <a:xfrm>
            <a:off x="594360" y="2542032"/>
            <a:ext cx="5486400" cy="2240280"/>
          </a:xfrm>
          <a:prstGeom prst="roundRect">
            <a:avLst>
              <a:gd name="adj" fmla="val 1633"/>
            </a:avLst>
          </a:prstGeom>
          <a:solidFill>
            <a:srgbClr val="F7FAFC"/>
          </a:solidFill>
          <a:ln w="15875">
            <a:solidFill>
              <a:srgbClr val="9FB2C4"/>
            </a:solidFill>
            <a:prstDash val="dash"/>
          </a:ln>
        </p:spPr>
      </p:sp>
      <p:sp>
        <p:nvSpPr>
          <p:cNvPr id="26" name="Shape 23"/>
          <p:cNvSpPr/>
          <p:nvPr/>
        </p:nvSpPr>
        <p:spPr>
          <a:xfrm>
            <a:off x="740664" y="2423160"/>
            <a:ext cx="980237" cy="274320"/>
          </a:xfrm>
          <a:prstGeom prst="roundRect">
            <a:avLst>
              <a:gd name="adj" fmla="val 50000"/>
            </a:avLst>
          </a:prstGeom>
          <a:solidFill>
            <a:srgbClr val="64798F"/>
          </a:solidFill>
          <a:ln/>
        </p:spPr>
      </p:sp>
      <p:pic>
        <p:nvPicPr>
          <p:cNvPr id="27" name="Image 1" descr="preencoded.png">    </p:cNvPr>
          <p:cNvPicPr>
            <a:picLocks noChangeAspect="1"/>
          </p:cNvPicPr>
          <p:nvPr/>
        </p:nvPicPr>
        <p:blipFill>
          <a:blip r:embed="rId2"/>
          <a:stretch>
            <a:fillRect/>
          </a:stretch>
        </p:blipFill>
        <p:spPr>
          <a:xfrm>
            <a:off x="859536" y="2491740"/>
            <a:ext cx="132588" cy="132588"/>
          </a:xfrm>
          <a:prstGeom prst="rect">
            <a:avLst/>
          </a:prstGeom>
        </p:spPr>
      </p:pic>
      <p:sp>
        <p:nvSpPr>
          <p:cNvPr id="28" name="Text 24"/>
          <p:cNvSpPr txBox="1"/>
          <p:nvPr/>
        </p:nvSpPr>
        <p:spPr>
          <a:xfrm>
            <a:off x="1014984" y="2423160"/>
            <a:ext cx="705917"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AGENTS</a:t>
            </a:r>
            <a:endParaRPr lang="en-US" sz="850" dirty="0"/>
          </a:p>
        </p:txBody>
      </p:sp>
      <p:sp>
        <p:nvSpPr>
          <p:cNvPr id="29" name="Shape 25"/>
          <p:cNvSpPr/>
          <p:nvPr/>
        </p:nvSpPr>
        <p:spPr>
          <a:xfrm>
            <a:off x="822960" y="2926080"/>
            <a:ext cx="2377440"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0" name="Shape 26"/>
          <p:cNvSpPr/>
          <p:nvPr/>
        </p:nvSpPr>
        <p:spPr>
          <a:xfrm>
            <a:off x="960120" y="3145536"/>
            <a:ext cx="310896" cy="310896"/>
          </a:xfrm>
          <a:prstGeom prst="roundRect">
            <a:avLst>
              <a:gd name="adj" fmla="val 29412"/>
            </a:avLst>
          </a:prstGeom>
          <a:solidFill>
            <a:srgbClr val="6D4DD1"/>
          </a:solidFill>
          <a:ln/>
        </p:spPr>
      </p:sp>
      <p:pic>
        <p:nvPicPr>
          <p:cNvPr id="31" name="Image 2" descr="preencoded.png">    </p:cNvPr>
          <p:cNvPicPr>
            <a:picLocks noChangeAspect="1"/>
          </p:cNvPicPr>
          <p:nvPr/>
        </p:nvPicPr>
        <p:blipFill>
          <a:blip r:embed="rId3"/>
          <a:stretch>
            <a:fillRect/>
          </a:stretch>
        </p:blipFill>
        <p:spPr>
          <a:xfrm>
            <a:off x="1028517" y="3213933"/>
            <a:ext cx="174102" cy="174102"/>
          </a:xfrm>
          <a:prstGeom prst="rect">
            <a:avLst/>
          </a:prstGeom>
        </p:spPr>
      </p:pic>
      <p:sp>
        <p:nvSpPr>
          <p:cNvPr id="32" name="Text 27"/>
          <p:cNvSpPr txBox="1"/>
          <p:nvPr/>
        </p:nvSpPr>
        <p:spPr>
          <a:xfrm>
            <a:off x="1408176" y="2926080"/>
            <a:ext cx="1682496" cy="749808"/>
          </a:xfrm>
          <a:prstGeom prst="rect">
            <a:avLst/>
          </a:prstGeom>
          <a:noFill/>
          <a:ln/>
        </p:spPr>
        <p:txBody>
          <a:bodyPr wrap="square" lIns="0" tIns="0" rIns="0" bIns="0" rtlCol="0" anchor="ctr"/>
          <a:lstStyle/>
          <a:p>
            <a:pPr algn="l" indent="0" marL="0">
              <a:lnSpc>
                <a:spcPct val="104000"/>
              </a:lnSpc>
              <a:buNone/>
            </a:pPr>
            <a:r>
              <a:rPr lang="en-US" sz="1050" b="1" dirty="0">
                <a:solidFill>
                  <a:srgbClr val="35236E"/>
                </a:solidFill>
                <a:latin typeface="Calibri" pitchFamily="34" charset="0"/>
                <a:ea typeface="Calibri" pitchFamily="34" charset="-122"/>
                <a:cs typeface="Calibri" pitchFamily="34" charset="-120"/>
              </a:rPr>
              <a:t>Research</a:t>
            </a:r>
            <a:endParaRPr lang="en-US" sz="1050" dirty="0"/>
          </a:p>
          <a:p>
            <a:pPr algn="l" indent="0" marL="0">
              <a:lnSpc>
                <a:spcPct val="104000"/>
              </a:lnSpc>
              <a:buNone/>
            </a:pPr>
            <a:r>
              <a:rPr lang="en-US" sz="780" dirty="0">
                <a:solidFill>
                  <a:srgbClr val="35236E"/>
                </a:solidFill>
                <a:latin typeface="Calibri" pitchFamily="34" charset="0"/>
                <a:ea typeface="Calibri" pitchFamily="34" charset="-122"/>
                <a:cs typeface="Calibri" pitchFamily="34" charset="-120"/>
              </a:rPr>
              <a:t>grounded dossier from the company's own disclosures</a:t>
            </a:r>
            <a:endParaRPr lang="en-US" sz="1050" dirty="0"/>
          </a:p>
        </p:txBody>
      </p:sp>
      <p:sp>
        <p:nvSpPr>
          <p:cNvPr id="33" name="Shape 28"/>
          <p:cNvSpPr/>
          <p:nvPr/>
        </p:nvSpPr>
        <p:spPr>
          <a:xfrm>
            <a:off x="3429000" y="2926080"/>
            <a:ext cx="2377440"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4" name="Shape 29"/>
          <p:cNvSpPr/>
          <p:nvPr/>
        </p:nvSpPr>
        <p:spPr>
          <a:xfrm>
            <a:off x="3566160" y="3145536"/>
            <a:ext cx="310896" cy="310896"/>
          </a:xfrm>
          <a:prstGeom prst="roundRect">
            <a:avLst>
              <a:gd name="adj" fmla="val 29412"/>
            </a:avLst>
          </a:prstGeom>
          <a:solidFill>
            <a:srgbClr val="6D4DD1"/>
          </a:solidFill>
          <a:ln/>
        </p:spPr>
      </p:sp>
      <p:pic>
        <p:nvPicPr>
          <p:cNvPr id="35" name="Image 3" descr="preencoded.png">    </p:cNvPr>
          <p:cNvPicPr>
            <a:picLocks noChangeAspect="1"/>
          </p:cNvPicPr>
          <p:nvPr/>
        </p:nvPicPr>
        <p:blipFill>
          <a:blip r:embed="rId4"/>
          <a:stretch>
            <a:fillRect/>
          </a:stretch>
        </p:blipFill>
        <p:spPr>
          <a:xfrm>
            <a:off x="3634557" y="3213933"/>
            <a:ext cx="174102" cy="174102"/>
          </a:xfrm>
          <a:prstGeom prst="rect">
            <a:avLst/>
          </a:prstGeom>
        </p:spPr>
      </p:pic>
      <p:sp>
        <p:nvSpPr>
          <p:cNvPr id="36" name="Text 30"/>
          <p:cNvSpPr txBox="1"/>
          <p:nvPr/>
        </p:nvSpPr>
        <p:spPr>
          <a:xfrm>
            <a:off x="4014216" y="2926080"/>
            <a:ext cx="1682496" cy="749808"/>
          </a:xfrm>
          <a:prstGeom prst="rect">
            <a:avLst/>
          </a:prstGeom>
          <a:noFill/>
          <a:ln/>
        </p:spPr>
        <p:txBody>
          <a:bodyPr wrap="square" lIns="0" tIns="0" rIns="0" bIns="0" rtlCol="0" anchor="ctr"/>
          <a:lstStyle/>
          <a:p>
            <a:pPr algn="l" indent="0" marL="0">
              <a:lnSpc>
                <a:spcPct val="104000"/>
              </a:lnSpc>
              <a:buNone/>
            </a:pPr>
            <a:r>
              <a:rPr lang="en-US" sz="1050" b="1" dirty="0">
                <a:solidFill>
                  <a:srgbClr val="35236E"/>
                </a:solidFill>
                <a:latin typeface="Calibri" pitchFamily="34" charset="0"/>
                <a:ea typeface="Calibri" pitchFamily="34" charset="-122"/>
                <a:cs typeface="Calibri" pitchFamily="34" charset="-120"/>
              </a:rPr>
              <a:t>Drafting</a:t>
            </a:r>
            <a:endParaRPr lang="en-US" sz="1050" dirty="0"/>
          </a:p>
          <a:p>
            <a:pPr algn="l" indent="0" marL="0">
              <a:lnSpc>
                <a:spcPct val="104000"/>
              </a:lnSpc>
              <a:buNone/>
            </a:pPr>
            <a:r>
              <a:rPr lang="en-US" sz="780" dirty="0">
                <a:solidFill>
                  <a:srgbClr val="35236E"/>
                </a:solidFill>
                <a:latin typeface="Calibri" pitchFamily="34" charset="0"/>
                <a:ea typeface="Calibri" pitchFamily="34" charset="-122"/>
                <a:cs typeface="Calibri" pitchFamily="34" charset="-120"/>
              </a:rPr>
              <a:t>letter, talking points, meeting summary</a:t>
            </a:r>
            <a:endParaRPr lang="en-US" sz="1050" dirty="0"/>
          </a:p>
        </p:txBody>
      </p:sp>
      <p:sp>
        <p:nvSpPr>
          <p:cNvPr id="37" name="Shape 31"/>
          <p:cNvSpPr/>
          <p:nvPr/>
        </p:nvSpPr>
        <p:spPr>
          <a:xfrm>
            <a:off x="822960" y="3822192"/>
            <a:ext cx="2377440"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38" name="Shape 32"/>
          <p:cNvSpPr/>
          <p:nvPr/>
        </p:nvSpPr>
        <p:spPr>
          <a:xfrm>
            <a:off x="960120" y="4041648"/>
            <a:ext cx="310896" cy="310896"/>
          </a:xfrm>
          <a:prstGeom prst="roundRect">
            <a:avLst>
              <a:gd name="adj" fmla="val 29412"/>
            </a:avLst>
          </a:prstGeom>
          <a:solidFill>
            <a:srgbClr val="108494"/>
          </a:solidFill>
          <a:ln/>
        </p:spPr>
      </p:sp>
      <p:pic>
        <p:nvPicPr>
          <p:cNvPr id="39" name="Image 4" descr="preencoded.png">    </p:cNvPr>
          <p:cNvPicPr>
            <a:picLocks noChangeAspect="1"/>
          </p:cNvPicPr>
          <p:nvPr/>
        </p:nvPicPr>
        <p:blipFill>
          <a:blip r:embed="rId5"/>
          <a:stretch>
            <a:fillRect/>
          </a:stretch>
        </p:blipFill>
        <p:spPr>
          <a:xfrm>
            <a:off x="1028517" y="4110045"/>
            <a:ext cx="174102" cy="174102"/>
          </a:xfrm>
          <a:prstGeom prst="rect">
            <a:avLst/>
          </a:prstGeom>
        </p:spPr>
      </p:pic>
      <p:sp>
        <p:nvSpPr>
          <p:cNvPr id="40" name="Text 33"/>
          <p:cNvSpPr txBox="1"/>
          <p:nvPr/>
        </p:nvSpPr>
        <p:spPr>
          <a:xfrm>
            <a:off x="1408176" y="3822192"/>
            <a:ext cx="1682496" cy="749808"/>
          </a:xfrm>
          <a:prstGeom prst="rect">
            <a:avLst/>
          </a:prstGeom>
          <a:noFill/>
          <a:ln/>
        </p:spPr>
        <p:txBody>
          <a:bodyPr wrap="square" lIns="0" tIns="0" rIns="0" bIns="0" rtlCol="0" anchor="ctr"/>
          <a:lstStyle/>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Tracking</a:t>
            </a:r>
            <a:endParaRPr lang="en-US" sz="1050" dirty="0"/>
          </a:p>
          <a:p>
            <a:pPr algn="l" indent="0" marL="0">
              <a:lnSpc>
                <a:spcPct val="104000"/>
              </a:lnSpc>
              <a:buNone/>
            </a:pPr>
            <a:r>
              <a:rPr lang="en-US" sz="780" dirty="0">
                <a:solidFill>
                  <a:srgbClr val="0A4451"/>
                </a:solidFill>
                <a:latin typeface="Calibri" pitchFamily="34" charset="0"/>
                <a:ea typeface="Calibri" pitchFamily="34" charset="-122"/>
                <a:cs typeface="Calibri" pitchFamily="34" charset="-120"/>
              </a:rPr>
              <a:t>no LLM — logs what happened, advances the stage</a:t>
            </a:r>
            <a:endParaRPr lang="en-US" sz="1050" dirty="0"/>
          </a:p>
        </p:txBody>
      </p:sp>
      <p:sp>
        <p:nvSpPr>
          <p:cNvPr id="41" name="Shape 34"/>
          <p:cNvSpPr/>
          <p:nvPr/>
        </p:nvSpPr>
        <p:spPr>
          <a:xfrm>
            <a:off x="3429000" y="3822192"/>
            <a:ext cx="2377440"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42" name="Shape 35"/>
          <p:cNvSpPr/>
          <p:nvPr/>
        </p:nvSpPr>
        <p:spPr>
          <a:xfrm>
            <a:off x="3566160" y="4041648"/>
            <a:ext cx="310896" cy="310896"/>
          </a:xfrm>
          <a:prstGeom prst="roundRect">
            <a:avLst>
              <a:gd name="adj" fmla="val 29412"/>
            </a:avLst>
          </a:prstGeom>
          <a:solidFill>
            <a:srgbClr val="108494"/>
          </a:solidFill>
          <a:ln/>
        </p:spPr>
      </p:sp>
      <p:pic>
        <p:nvPicPr>
          <p:cNvPr id="43" name="Image 5" descr="preencoded.png">    </p:cNvPr>
          <p:cNvPicPr>
            <a:picLocks noChangeAspect="1"/>
          </p:cNvPicPr>
          <p:nvPr/>
        </p:nvPicPr>
        <p:blipFill>
          <a:blip r:embed="rId6"/>
          <a:stretch>
            <a:fillRect/>
          </a:stretch>
        </p:blipFill>
        <p:spPr>
          <a:xfrm>
            <a:off x="3634557" y="4110045"/>
            <a:ext cx="174102" cy="174102"/>
          </a:xfrm>
          <a:prstGeom prst="rect">
            <a:avLst/>
          </a:prstGeom>
        </p:spPr>
      </p:pic>
      <p:sp>
        <p:nvSpPr>
          <p:cNvPr id="44" name="Text 36"/>
          <p:cNvSpPr txBox="1"/>
          <p:nvPr/>
        </p:nvSpPr>
        <p:spPr>
          <a:xfrm>
            <a:off x="4014216" y="3822192"/>
            <a:ext cx="1682496" cy="749808"/>
          </a:xfrm>
          <a:prstGeom prst="rect">
            <a:avLst/>
          </a:prstGeom>
          <a:noFill/>
          <a:ln/>
        </p:spPr>
        <p:txBody>
          <a:bodyPr wrap="square" lIns="0" tIns="0" rIns="0" bIns="0" rtlCol="0" anchor="ctr"/>
          <a:lstStyle/>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Reporting</a:t>
            </a:r>
            <a:endParaRPr lang="en-US" sz="1050" dirty="0"/>
          </a:p>
          <a:p>
            <a:pPr algn="l" indent="0" marL="0">
              <a:lnSpc>
                <a:spcPct val="104000"/>
              </a:lnSpc>
              <a:buNone/>
            </a:pPr>
            <a:r>
              <a:rPr lang="en-US" sz="780" dirty="0">
                <a:solidFill>
                  <a:srgbClr val="0A4451"/>
                </a:solidFill>
                <a:latin typeface="Calibri" pitchFamily="34" charset="0"/>
                <a:ea typeface="Calibri" pitchFamily="34" charset="-122"/>
                <a:cs typeface="Calibri" pitchFamily="34" charset="-120"/>
              </a:rPr>
              <a:t>no LLM — pure aggregation over the store</a:t>
            </a:r>
            <a:endParaRPr lang="en-US" sz="1050" dirty="0"/>
          </a:p>
        </p:txBody>
      </p:sp>
      <p:sp>
        <p:nvSpPr>
          <p:cNvPr id="45" name="Shape 37"/>
          <p:cNvSpPr/>
          <p:nvPr/>
        </p:nvSpPr>
        <p:spPr>
          <a:xfrm>
            <a:off x="6400800" y="2542032"/>
            <a:ext cx="2331720" cy="2240280"/>
          </a:xfrm>
          <a:prstGeom prst="can">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46" name="Text 38"/>
          <p:cNvSpPr txBox="1"/>
          <p:nvPr/>
        </p:nvSpPr>
        <p:spPr>
          <a:xfrm>
            <a:off x="6492240" y="2542032"/>
            <a:ext cx="2148840" cy="2240280"/>
          </a:xfrm>
          <a:prstGeom prst="rect">
            <a:avLst/>
          </a:prstGeom>
          <a:noFill/>
          <a:ln/>
        </p:spPr>
        <p:txBody>
          <a:bodyPr wrap="square" lIns="0" tIns="0" rIns="0" bIns="0" rtlCol="0" anchor="ctr"/>
          <a:lstStyle/>
          <a:p>
            <a:pPr algn="ctr" indent="0" marL="0">
              <a:lnSpc>
                <a:spcPct val="104000"/>
              </a:lnSpc>
              <a:buNone/>
            </a:pPr>
            <a:r>
              <a:rPr lang="en-US" sz="680" b="1" spc="110" kern="0" dirty="0">
                <a:solidFill>
                  <a:srgbClr val="2F8F48"/>
                </a:solidFill>
                <a:latin typeface="Calibri" pitchFamily="34" charset="0"/>
                <a:ea typeface="Calibri" pitchFamily="34" charset="-122"/>
                <a:cs typeface="Calibri" pitchFamily="34" charset="-120"/>
              </a:rPr>
              <a:t>SINGLE SOURCE OF TRUTH</a:t>
            </a:r>
            <a:endParaRPr lang="en-US" sz="680" dirty="0"/>
          </a:p>
          <a:p>
            <a:pPr algn="ctr" indent="0" marL="0">
              <a:lnSpc>
                <a:spcPct val="104000"/>
              </a:lnSpc>
              <a:buNone/>
            </a:pPr>
            <a:r>
              <a:rPr lang="en-US" sz="1100" b="1" dirty="0">
                <a:solidFill>
                  <a:srgbClr val="17431F"/>
                </a:solidFill>
                <a:latin typeface="Calibri" pitchFamily="34" charset="0"/>
                <a:ea typeface="Calibri" pitchFamily="34" charset="-122"/>
                <a:cs typeface="Calibri" pitchFamily="34" charset="-120"/>
              </a:rPr>
              <a:t>Engagement record</a:t>
            </a:r>
            <a:endParaRPr lang="en-US" sz="680" dirty="0"/>
          </a:p>
          <a:p>
            <a:pPr algn="ctr" indent="0" marL="0">
              <a:lnSpc>
                <a:spcPct val="104000"/>
              </a:lnSpc>
              <a:buNone/>
            </a:pPr>
            <a:endParaRPr lang="en-US" sz="68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record.json — current state</a:t>
            </a:r>
            <a:endParaRPr lang="en-US" sz="68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events.jsonl — append-only audit trail</a:t>
            </a:r>
            <a:endParaRPr lang="en-US" sz="680" dirty="0"/>
          </a:p>
          <a:p>
            <a:pPr algn="ctr" indent="0" marL="0">
              <a:lnSpc>
                <a:spcPct val="104000"/>
              </a:lnSpc>
              <a:buNone/>
            </a:pPr>
            <a:endParaRPr lang="en-US" sz="68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issues · contacts · commitments · votes</a:t>
            </a:r>
            <a:endParaRPr lang="en-US" sz="680" dirty="0"/>
          </a:p>
        </p:txBody>
      </p:sp>
      <p:sp>
        <p:nvSpPr>
          <p:cNvPr id="47" name="Shape 39"/>
          <p:cNvSpPr/>
          <p:nvPr/>
        </p:nvSpPr>
        <p:spPr>
          <a:xfrm>
            <a:off x="5532120" y="3291840"/>
            <a:ext cx="813816" cy="0"/>
          </a:xfrm>
          <a:prstGeom prst="line">
            <a:avLst/>
          </a:prstGeom>
          <a:noFill/>
          <a:ln w="17780">
            <a:solidFill>
              <a:srgbClr val="64798F"/>
            </a:solidFill>
            <a:prstDash val="solid"/>
            <a:headEnd type="triangle"/>
            <a:tailEnd type="triangle"/>
          </a:ln>
        </p:spPr>
      </p:sp>
      <p:sp>
        <p:nvSpPr>
          <p:cNvPr id="48" name="Shape 40"/>
          <p:cNvSpPr/>
          <p:nvPr/>
        </p:nvSpPr>
        <p:spPr>
          <a:xfrm>
            <a:off x="5532120" y="4206240"/>
            <a:ext cx="813816" cy="0"/>
          </a:xfrm>
          <a:prstGeom prst="line">
            <a:avLst/>
          </a:prstGeom>
          <a:noFill/>
          <a:ln w="17780">
            <a:solidFill>
              <a:srgbClr val="64798F"/>
            </a:solidFill>
            <a:prstDash val="solid"/>
            <a:headEnd type="triangle"/>
            <a:tailEnd type="triangle"/>
          </a:ln>
        </p:spPr>
      </p:sp>
      <p:sp>
        <p:nvSpPr>
          <p:cNvPr id="49" name="Text 41"/>
          <p:cNvSpPr txBox="1"/>
          <p:nvPr/>
        </p:nvSpPr>
        <p:spPr>
          <a:xfrm>
            <a:off x="8915400" y="2322576"/>
            <a:ext cx="2679192" cy="201168"/>
          </a:xfrm>
          <a:prstGeom prst="rect">
            <a:avLst/>
          </a:prstGeom>
          <a:noFill/>
          <a:ln/>
        </p:spPr>
        <p:txBody>
          <a:bodyPr wrap="square" lIns="0" tIns="0" rIns="0" bIns="0" rtlCol="0" anchor="ctr"/>
          <a:lstStyle/>
          <a:p>
            <a:pPr algn="ctr" indent="0" marL="0">
              <a:buNone/>
            </a:pPr>
            <a:r>
              <a:rPr lang="en-US" sz="900" b="1" spc="140" kern="0" dirty="0">
                <a:solidFill>
                  <a:srgbClr val="CE3D64"/>
                </a:solidFill>
                <a:latin typeface="Calibri" pitchFamily="34" charset="0"/>
                <a:ea typeface="Calibri" pitchFamily="34" charset="-122"/>
                <a:cs typeface="Calibri" pitchFamily="34" charset="-120"/>
              </a:rPr>
              <a:t>ESCALATION LADDER</a:t>
            </a:r>
            <a:endParaRPr lang="en-US" sz="900" dirty="0"/>
          </a:p>
        </p:txBody>
      </p:sp>
      <p:sp>
        <p:nvSpPr>
          <p:cNvPr id="50" name="Shape 42"/>
          <p:cNvSpPr/>
          <p:nvPr/>
        </p:nvSpPr>
        <p:spPr>
          <a:xfrm>
            <a:off x="8915400" y="2542032"/>
            <a:ext cx="2679192" cy="365760"/>
          </a:xfrm>
          <a:prstGeom prst="roundRect">
            <a:avLst>
              <a:gd name="adj" fmla="val 25000"/>
            </a:avLst>
          </a:prstGeom>
          <a:solidFill>
            <a:srgbClr val="EAF0F5"/>
          </a:solidFill>
          <a:ln w="15875">
            <a:solidFill>
              <a:srgbClr val="64798F"/>
            </a:solidFill>
            <a:prstDash val="solid"/>
          </a:ln>
        </p:spPr>
      </p:sp>
      <p:sp>
        <p:nvSpPr>
          <p:cNvPr id="51" name="Text 43"/>
          <p:cNvSpPr txBox="1"/>
          <p:nvPr/>
        </p:nvSpPr>
        <p:spPr>
          <a:xfrm>
            <a:off x="9006840" y="2542032"/>
            <a:ext cx="2496312"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24354A"/>
                </a:solidFill>
                <a:latin typeface="Calibri" pitchFamily="34" charset="0"/>
                <a:ea typeface="Calibri" pitchFamily="34" charset="-122"/>
                <a:cs typeface="Calibri" pitchFamily="34" charset="-120"/>
              </a:rPr>
              <a:t>Private engagement</a:t>
            </a:r>
            <a:endParaRPr lang="en-US" sz="900" dirty="0"/>
          </a:p>
        </p:txBody>
      </p:sp>
      <p:sp>
        <p:nvSpPr>
          <p:cNvPr id="52" name="Shape 44"/>
          <p:cNvSpPr/>
          <p:nvPr/>
        </p:nvSpPr>
        <p:spPr>
          <a:xfrm>
            <a:off x="8915400" y="2999232"/>
            <a:ext cx="2679192" cy="365760"/>
          </a:xfrm>
          <a:prstGeom prst="roundRect">
            <a:avLst>
              <a:gd name="adj" fmla="val 25000"/>
            </a:avLst>
          </a:prstGeom>
          <a:solidFill>
            <a:srgbClr val="EAF0F5"/>
          </a:solidFill>
          <a:ln w="15875">
            <a:solidFill>
              <a:srgbClr val="64798F"/>
            </a:solidFill>
            <a:prstDash val="solid"/>
          </a:ln>
        </p:spPr>
      </p:sp>
      <p:sp>
        <p:nvSpPr>
          <p:cNvPr id="53" name="Text 45"/>
          <p:cNvSpPr txBox="1"/>
          <p:nvPr/>
        </p:nvSpPr>
        <p:spPr>
          <a:xfrm>
            <a:off x="9006840" y="2999232"/>
            <a:ext cx="2496312"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24354A"/>
                </a:solidFill>
                <a:latin typeface="Calibri" pitchFamily="34" charset="0"/>
                <a:ea typeface="Calibri" pitchFamily="34" charset="-122"/>
                <a:cs typeface="Calibri" pitchFamily="34" charset="-120"/>
              </a:rPr>
              <a:t>Joint engagement</a:t>
            </a:r>
            <a:endParaRPr lang="en-US" sz="900" dirty="0"/>
          </a:p>
        </p:txBody>
      </p:sp>
      <p:sp>
        <p:nvSpPr>
          <p:cNvPr id="54" name="Shape 46"/>
          <p:cNvSpPr/>
          <p:nvPr/>
        </p:nvSpPr>
        <p:spPr>
          <a:xfrm>
            <a:off x="8915400" y="3456432"/>
            <a:ext cx="2679192" cy="365760"/>
          </a:xfrm>
          <a:prstGeom prst="roundRect">
            <a:avLst>
              <a:gd name="adj" fmla="val 25000"/>
            </a:avLst>
          </a:prstGeom>
          <a:solidFill>
            <a:srgbClr val="FCEDD4"/>
          </a:solidFill>
          <a:ln w="15875">
            <a:solidFill>
              <a:srgbClr val="C9871B"/>
            </a:solidFill>
            <a:prstDash val="solid"/>
          </a:ln>
        </p:spPr>
      </p:sp>
      <p:sp>
        <p:nvSpPr>
          <p:cNvPr id="55" name="Text 47"/>
          <p:cNvSpPr txBox="1"/>
          <p:nvPr/>
        </p:nvSpPr>
        <p:spPr>
          <a:xfrm>
            <a:off x="9006840" y="3456432"/>
            <a:ext cx="2496312"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64430A"/>
                </a:solidFill>
                <a:latin typeface="Calibri" pitchFamily="34" charset="0"/>
                <a:ea typeface="Calibri" pitchFamily="34" charset="-122"/>
                <a:cs typeface="Calibri" pitchFamily="34" charset="-120"/>
              </a:rPr>
              <a:t>Written to the board</a:t>
            </a:r>
            <a:endParaRPr lang="en-US" sz="900" dirty="0"/>
          </a:p>
        </p:txBody>
      </p:sp>
      <p:sp>
        <p:nvSpPr>
          <p:cNvPr id="56" name="Shape 48"/>
          <p:cNvSpPr/>
          <p:nvPr/>
        </p:nvSpPr>
        <p:spPr>
          <a:xfrm>
            <a:off x="8915400" y="3913632"/>
            <a:ext cx="2679192" cy="365760"/>
          </a:xfrm>
          <a:prstGeom prst="roundRect">
            <a:avLst>
              <a:gd name="adj" fmla="val 25000"/>
            </a:avLst>
          </a:prstGeom>
          <a:solidFill>
            <a:srgbClr val="FCEDD4"/>
          </a:solidFill>
          <a:ln w="15875">
            <a:solidFill>
              <a:srgbClr val="C9871B"/>
            </a:solidFill>
            <a:prstDash val="solid"/>
          </a:ln>
        </p:spPr>
      </p:sp>
      <p:sp>
        <p:nvSpPr>
          <p:cNvPr id="57" name="Text 49"/>
          <p:cNvSpPr txBox="1"/>
          <p:nvPr/>
        </p:nvSpPr>
        <p:spPr>
          <a:xfrm>
            <a:off x="9006840" y="3913632"/>
            <a:ext cx="2496312"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64430A"/>
                </a:solidFill>
                <a:latin typeface="Calibri" pitchFamily="34" charset="0"/>
                <a:ea typeface="Calibri" pitchFamily="34" charset="-122"/>
                <a:cs typeface="Calibri" pitchFamily="34" charset="-120"/>
              </a:rPr>
              <a:t>Escalate to the chair</a:t>
            </a:r>
            <a:endParaRPr lang="en-US" sz="900" dirty="0"/>
          </a:p>
        </p:txBody>
      </p:sp>
      <p:sp>
        <p:nvSpPr>
          <p:cNvPr id="58" name="Shape 50"/>
          <p:cNvSpPr/>
          <p:nvPr/>
        </p:nvSpPr>
        <p:spPr>
          <a:xfrm>
            <a:off x="8915400" y="4370832"/>
            <a:ext cx="2679192" cy="365760"/>
          </a:xfrm>
          <a:prstGeom prst="roundRect">
            <a:avLst>
              <a:gd name="adj" fmla="val 25000"/>
            </a:avLst>
          </a:prstGeom>
          <a:solidFill>
            <a:srgbClr val="FBE2E8"/>
          </a:solidFill>
          <a:ln w="15875">
            <a:solidFill>
              <a:srgbClr val="CE3D64"/>
            </a:solidFill>
            <a:prstDash val="solid"/>
          </a:ln>
        </p:spPr>
      </p:sp>
      <p:sp>
        <p:nvSpPr>
          <p:cNvPr id="59" name="Text 51"/>
          <p:cNvSpPr txBox="1"/>
          <p:nvPr/>
        </p:nvSpPr>
        <p:spPr>
          <a:xfrm>
            <a:off x="9006840" y="4370832"/>
            <a:ext cx="2496312"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68182F"/>
                </a:solidFill>
                <a:latin typeface="Calibri" pitchFamily="34" charset="0"/>
                <a:ea typeface="Calibri" pitchFamily="34" charset="-122"/>
                <a:cs typeface="Calibri" pitchFamily="34" charset="-120"/>
              </a:rPr>
              <a:t>Vote against management</a:t>
            </a:r>
            <a:endParaRPr lang="en-US" sz="900" dirty="0"/>
          </a:p>
        </p:txBody>
      </p:sp>
      <p:sp>
        <p:nvSpPr>
          <p:cNvPr id="60" name="Shape 52"/>
          <p:cNvSpPr/>
          <p:nvPr/>
        </p:nvSpPr>
        <p:spPr>
          <a:xfrm>
            <a:off x="8915400" y="4828032"/>
            <a:ext cx="2679192" cy="365760"/>
          </a:xfrm>
          <a:prstGeom prst="roundRect">
            <a:avLst>
              <a:gd name="adj" fmla="val 25000"/>
            </a:avLst>
          </a:prstGeom>
          <a:solidFill>
            <a:srgbClr val="FBE2E8"/>
          </a:solidFill>
          <a:ln w="15875">
            <a:solidFill>
              <a:srgbClr val="CE3D64"/>
            </a:solidFill>
            <a:prstDash val="solid"/>
          </a:ln>
        </p:spPr>
      </p:sp>
      <p:sp>
        <p:nvSpPr>
          <p:cNvPr id="61" name="Text 53"/>
          <p:cNvSpPr txBox="1"/>
          <p:nvPr/>
        </p:nvSpPr>
        <p:spPr>
          <a:xfrm>
            <a:off x="9006840" y="4828032"/>
            <a:ext cx="2496312"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68182F"/>
                </a:solidFill>
                <a:latin typeface="Calibri" pitchFamily="34" charset="0"/>
                <a:ea typeface="Calibri" pitchFamily="34" charset="-122"/>
                <a:cs typeface="Calibri" pitchFamily="34" charset="-120"/>
              </a:rPr>
              <a:t>File / co-file</a:t>
            </a:r>
            <a:endParaRPr lang="en-US" sz="900" dirty="0"/>
          </a:p>
        </p:txBody>
      </p:sp>
      <p:sp>
        <p:nvSpPr>
          <p:cNvPr id="62" name="Shape 54"/>
          <p:cNvSpPr/>
          <p:nvPr/>
        </p:nvSpPr>
        <p:spPr>
          <a:xfrm>
            <a:off x="8915400" y="5285232"/>
            <a:ext cx="2679192" cy="365760"/>
          </a:xfrm>
          <a:prstGeom prst="roundRect">
            <a:avLst>
              <a:gd name="adj" fmla="val 25000"/>
            </a:avLst>
          </a:prstGeom>
          <a:solidFill>
            <a:srgbClr val="FBE2E8"/>
          </a:solidFill>
          <a:ln w="15875">
            <a:solidFill>
              <a:srgbClr val="CE3D64"/>
            </a:solidFill>
            <a:prstDash val="solid"/>
          </a:ln>
        </p:spPr>
      </p:sp>
      <p:sp>
        <p:nvSpPr>
          <p:cNvPr id="63" name="Text 55"/>
          <p:cNvSpPr txBox="1"/>
          <p:nvPr/>
        </p:nvSpPr>
        <p:spPr>
          <a:xfrm>
            <a:off x="9006840" y="5285232"/>
            <a:ext cx="2496312"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68182F"/>
                </a:solidFill>
                <a:latin typeface="Calibri" pitchFamily="34" charset="0"/>
                <a:ea typeface="Calibri" pitchFamily="34" charset="-122"/>
                <a:cs typeface="Calibri" pitchFamily="34" charset="-120"/>
              </a:rPr>
              <a:t>Public statement</a:t>
            </a:r>
            <a:endParaRPr lang="en-US" sz="900" dirty="0"/>
          </a:p>
        </p:txBody>
      </p:sp>
      <p:sp>
        <p:nvSpPr>
          <p:cNvPr id="64" name="Shape 56"/>
          <p:cNvSpPr/>
          <p:nvPr/>
        </p:nvSpPr>
        <p:spPr>
          <a:xfrm flipV="1">
            <a:off x="8778240" y="2606040"/>
            <a:ext cx="0" cy="3063240"/>
          </a:xfrm>
          <a:prstGeom prst="line">
            <a:avLst/>
          </a:prstGeom>
          <a:noFill/>
          <a:ln w="19050">
            <a:solidFill>
              <a:srgbClr val="CE3D64"/>
            </a:solidFill>
            <a:prstDash val="solid"/>
            <a:headEnd type="none"/>
            <a:tailEnd type="triangle"/>
          </a:ln>
        </p:spPr>
      </p:sp>
      <p:sp>
        <p:nvSpPr>
          <p:cNvPr id="65" name="Shape 57"/>
          <p:cNvSpPr/>
          <p:nvPr/>
        </p:nvSpPr>
        <p:spPr>
          <a:xfrm>
            <a:off x="594360" y="5102352"/>
            <a:ext cx="8138160" cy="713232"/>
          </a:xfrm>
          <a:prstGeom prst="roundRect">
            <a:avLst>
              <a:gd name="adj" fmla="val 5128"/>
            </a:avLst>
          </a:prstGeom>
          <a:solidFill>
            <a:srgbClr val="FBDEE5"/>
          </a:solidFill>
          <a:ln w="15875">
            <a:solidFill>
              <a:srgbClr val="D6486E"/>
            </a:solidFill>
            <a:prstDash val="solid"/>
          </a:ln>
        </p:spPr>
      </p:sp>
      <p:sp>
        <p:nvSpPr>
          <p:cNvPr id="66" name="Text 58"/>
          <p:cNvSpPr txBox="1"/>
          <p:nvPr/>
        </p:nvSpPr>
        <p:spPr>
          <a:xfrm>
            <a:off x="795528" y="5102352"/>
            <a:ext cx="7735824" cy="713232"/>
          </a:xfrm>
          <a:prstGeom prst="rect">
            <a:avLst/>
          </a:prstGeom>
          <a:noFill/>
          <a:ln/>
        </p:spPr>
        <p:txBody>
          <a:bodyPr wrap="square" lIns="0" tIns="0" rIns="0" bIns="0" rtlCol="0" anchor="ctr"/>
          <a:lstStyle/>
          <a:p>
            <a:pPr indent="0" marL="0">
              <a:buNone/>
            </a:pPr>
            <a:r>
              <a:rPr lang="en-US" sz="920" b="1" dirty="0">
                <a:solidFill>
                  <a:srgbClr val="68182F"/>
                </a:solidFill>
                <a:latin typeface="Calibri" pitchFamily="34" charset="0"/>
                <a:ea typeface="Calibri" pitchFamily="34" charset="-122"/>
                <a:cs typeface="Calibri" pitchFamily="34" charset="-120"/>
              </a:rPr>
              <a:t>Human gates, enforced by the shape of the code, not by policy.  </a:t>
            </a:r>
            <a:pPr indent="0" marL="0">
              <a:buNone/>
            </a:pPr>
            <a:r>
              <a:rPr lang="en-US" sz="920" dirty="0">
                <a:solidFill>
                  <a:srgbClr val="6E1B33"/>
                </a:solidFill>
                <a:latin typeface="Calibri" pitchFamily="34" charset="0"/>
                <a:ea typeface="Calibri" pitchFamily="34" charset="-122"/>
                <a:cs typeface="Calibri" pitchFamily="34" charset="-120"/>
              </a:rPr>
              <a:t>Nothing hands a dossier to drafting automatically. Only the validated-summary call writes commitments, and it requires validated_by. One code path moves the escalation stage, it requires decided_by, and the orchestrator never calls it. No code path in this module sends anything to a company.</a:t>
            </a:r>
            <a:endParaRPr lang="en-US" sz="920" dirty="0"/>
          </a:p>
        </p:txBody>
      </p:sp>
      <p:sp>
        <p:nvSpPr>
          <p:cNvPr id="67" name="Shape 59"/>
          <p:cNvSpPr/>
          <p:nvPr/>
        </p:nvSpPr>
        <p:spPr>
          <a:xfrm>
            <a:off x="594360" y="6080760"/>
            <a:ext cx="155448" cy="155448"/>
          </a:xfrm>
          <a:prstGeom prst="roundRect">
            <a:avLst>
              <a:gd name="adj" fmla="val 29412"/>
            </a:avLst>
          </a:prstGeom>
          <a:solidFill>
            <a:srgbClr val="2F6FD0"/>
          </a:solidFill>
          <a:ln/>
        </p:spPr>
      </p:sp>
      <p:sp>
        <p:nvSpPr>
          <p:cNvPr id="68" name="Text 60"/>
          <p:cNvSpPr txBox="1"/>
          <p:nvPr/>
        </p:nvSpPr>
        <p:spPr>
          <a:xfrm>
            <a:off x="813816" y="605332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69" name="Shape 61"/>
          <p:cNvSpPr/>
          <p:nvPr/>
        </p:nvSpPr>
        <p:spPr>
          <a:xfrm>
            <a:off x="2427732" y="6080760"/>
            <a:ext cx="155448" cy="155448"/>
          </a:xfrm>
          <a:prstGeom prst="roundRect">
            <a:avLst>
              <a:gd name="adj" fmla="val 29412"/>
            </a:avLst>
          </a:prstGeom>
          <a:solidFill>
            <a:srgbClr val="108494"/>
          </a:solidFill>
          <a:ln/>
        </p:spPr>
      </p:sp>
      <p:sp>
        <p:nvSpPr>
          <p:cNvPr id="70" name="Text 62"/>
          <p:cNvSpPr txBox="1"/>
          <p:nvPr/>
        </p:nvSpPr>
        <p:spPr>
          <a:xfrm>
            <a:off x="2647188" y="605332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71" name="Shape 63"/>
          <p:cNvSpPr/>
          <p:nvPr/>
        </p:nvSpPr>
        <p:spPr>
          <a:xfrm>
            <a:off x="4261104" y="6080760"/>
            <a:ext cx="155448" cy="155448"/>
          </a:xfrm>
          <a:prstGeom prst="roundRect">
            <a:avLst>
              <a:gd name="adj" fmla="val 29412"/>
            </a:avLst>
          </a:prstGeom>
          <a:solidFill>
            <a:srgbClr val="6D4DD1"/>
          </a:solidFill>
          <a:ln/>
        </p:spPr>
      </p:sp>
      <p:sp>
        <p:nvSpPr>
          <p:cNvPr id="72" name="Text 64"/>
          <p:cNvSpPr txBox="1"/>
          <p:nvPr/>
        </p:nvSpPr>
        <p:spPr>
          <a:xfrm>
            <a:off x="4480560" y="605332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73" name="Shape 65"/>
          <p:cNvSpPr/>
          <p:nvPr/>
        </p:nvSpPr>
        <p:spPr>
          <a:xfrm>
            <a:off x="6094476" y="6080760"/>
            <a:ext cx="155448" cy="155448"/>
          </a:xfrm>
          <a:prstGeom prst="roundRect">
            <a:avLst>
              <a:gd name="adj" fmla="val 29412"/>
            </a:avLst>
          </a:prstGeom>
          <a:solidFill>
            <a:srgbClr val="C9871B"/>
          </a:solidFill>
          <a:ln/>
        </p:spPr>
      </p:sp>
      <p:sp>
        <p:nvSpPr>
          <p:cNvPr id="74" name="Text 66"/>
          <p:cNvSpPr txBox="1"/>
          <p:nvPr/>
        </p:nvSpPr>
        <p:spPr>
          <a:xfrm>
            <a:off x="6313932" y="605332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75" name="Shape 67"/>
          <p:cNvSpPr/>
          <p:nvPr/>
        </p:nvSpPr>
        <p:spPr>
          <a:xfrm>
            <a:off x="7927848" y="6080760"/>
            <a:ext cx="155448" cy="155448"/>
          </a:xfrm>
          <a:prstGeom prst="roundRect">
            <a:avLst>
              <a:gd name="adj" fmla="val 29412"/>
            </a:avLst>
          </a:prstGeom>
          <a:solidFill>
            <a:srgbClr val="CE3D64"/>
          </a:solidFill>
          <a:ln/>
        </p:spPr>
      </p:sp>
      <p:sp>
        <p:nvSpPr>
          <p:cNvPr id="76" name="Text 68"/>
          <p:cNvSpPr txBox="1"/>
          <p:nvPr/>
        </p:nvSpPr>
        <p:spPr>
          <a:xfrm>
            <a:off x="8147304" y="605332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77" name="Shape 69"/>
          <p:cNvSpPr/>
          <p:nvPr/>
        </p:nvSpPr>
        <p:spPr>
          <a:xfrm>
            <a:off x="9761220" y="6080760"/>
            <a:ext cx="155448" cy="155448"/>
          </a:xfrm>
          <a:prstGeom prst="roundRect">
            <a:avLst>
              <a:gd name="adj" fmla="val 29412"/>
            </a:avLst>
          </a:prstGeom>
          <a:solidFill>
            <a:srgbClr val="2F8F48"/>
          </a:solidFill>
          <a:ln/>
        </p:spPr>
      </p:sp>
      <p:sp>
        <p:nvSpPr>
          <p:cNvPr id="78" name="Text 70"/>
          <p:cNvSpPr txBox="1"/>
          <p:nvPr/>
        </p:nvSpPr>
        <p:spPr>
          <a:xfrm>
            <a:off x="9980676" y="605332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09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Engagement: deciding, separated from acting</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The controller decides what should happen next; a person, or a scheduler someone adds later, makes it happen.</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691640"/>
            <a:ext cx="2651760" cy="713232"/>
          </a:xfrm>
          <a:prstGeom prst="roundRect">
            <a:avLst>
              <a:gd name="adj" fmla="val 12821"/>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1792224"/>
            <a:ext cx="182880" cy="182880"/>
          </a:xfrm>
          <a:prstGeom prst="rect">
            <a:avLst/>
          </a:prstGeom>
        </p:spPr>
      </p:pic>
      <p:sp>
        <p:nvSpPr>
          <p:cNvPr id="9" name="Text 5"/>
          <p:cNvSpPr txBox="1"/>
          <p:nvPr/>
        </p:nvSpPr>
        <p:spPr>
          <a:xfrm>
            <a:off x="685800" y="1691640"/>
            <a:ext cx="2468880" cy="713232"/>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2F6FD0"/>
                </a:solidFill>
                <a:latin typeface="Calibri" pitchFamily="34" charset="0"/>
                <a:ea typeface="Calibri" pitchFamily="34" charset="-122"/>
                <a:cs typeface="Calibri" pitchFamily="34" charset="-120"/>
              </a:rPr>
              <a:t>TRIGGER</a:t>
            </a:r>
            <a:endParaRPr lang="en-US" sz="700" dirty="0"/>
          </a:p>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Controversy screen</a:t>
            </a:r>
            <a:endParaRPr lang="en-US" sz="700" dirty="0"/>
          </a:p>
          <a:p>
            <a:pPr algn="ctr" indent="0" marL="0">
              <a:lnSpc>
                <a:spcPct val="104000"/>
              </a:lnSpc>
              <a:buNone/>
            </a:pPr>
            <a:r>
              <a:rPr lang="en-US" sz="780" dirty="0">
                <a:solidFill>
                  <a:srgbClr val="153A61"/>
                </a:solidFill>
                <a:latin typeface="Calibri" pitchFamily="34" charset="0"/>
                <a:ea typeface="Calibri" pitchFamily="34" charset="-122"/>
                <a:cs typeface="Calibri" pitchFamily="34" charset="-120"/>
              </a:rPr>
              <a:t>opens an issue per signal, deduplicated</a:t>
            </a:r>
            <a:endParaRPr lang="en-US" sz="700" dirty="0"/>
          </a:p>
        </p:txBody>
      </p:sp>
      <p:sp>
        <p:nvSpPr>
          <p:cNvPr id="10" name="Shape 6"/>
          <p:cNvSpPr/>
          <p:nvPr/>
        </p:nvSpPr>
        <p:spPr>
          <a:xfrm>
            <a:off x="594360" y="2587752"/>
            <a:ext cx="2651760" cy="713232"/>
          </a:xfrm>
          <a:prstGeom prst="roundRect">
            <a:avLst>
              <a:gd name="adj" fmla="val 12821"/>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11" name="Image 2" descr="preencoded.png">    </p:cNvPr>
          <p:cNvPicPr>
            <a:picLocks noChangeAspect="1"/>
          </p:cNvPicPr>
          <p:nvPr/>
        </p:nvPicPr>
        <p:blipFill>
          <a:blip r:embed="rId3"/>
          <a:stretch>
            <a:fillRect/>
          </a:stretch>
        </p:blipFill>
        <p:spPr>
          <a:xfrm>
            <a:off x="713232" y="2688336"/>
            <a:ext cx="182880" cy="182880"/>
          </a:xfrm>
          <a:prstGeom prst="rect">
            <a:avLst/>
          </a:prstGeom>
        </p:spPr>
      </p:pic>
      <p:sp>
        <p:nvSpPr>
          <p:cNvPr id="12" name="Text 7"/>
          <p:cNvSpPr txBox="1"/>
          <p:nvPr/>
        </p:nvSpPr>
        <p:spPr>
          <a:xfrm>
            <a:off x="685800" y="2587752"/>
            <a:ext cx="2468880" cy="713232"/>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2F6FD0"/>
                </a:solidFill>
                <a:latin typeface="Calibri" pitchFamily="34" charset="0"/>
                <a:ea typeface="Calibri" pitchFamily="34" charset="-122"/>
                <a:cs typeface="Calibri" pitchFamily="34" charset="-120"/>
              </a:rPr>
              <a:t>TRIGGER</a:t>
            </a:r>
            <a:endParaRPr lang="en-US" sz="700" dirty="0"/>
          </a:p>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SLA stall sweep</a:t>
            </a:r>
            <a:endParaRPr lang="en-US" sz="700" dirty="0"/>
          </a:p>
          <a:p>
            <a:pPr algn="ctr" indent="0" marL="0">
              <a:lnSpc>
                <a:spcPct val="104000"/>
              </a:lnSpc>
              <a:buNone/>
            </a:pPr>
            <a:r>
              <a:rPr lang="en-US" sz="780" dirty="0">
                <a:solidFill>
                  <a:srgbClr val="153A61"/>
                </a:solidFill>
                <a:latin typeface="Calibri" pitchFamily="34" charset="0"/>
                <a:ea typeface="Calibri" pitchFamily="34" charset="-122"/>
                <a:cs typeface="Calibri" pitchFamily="34" charset="-120"/>
              </a:rPr>
              <a:t>45 days silent by default</a:t>
            </a:r>
            <a:endParaRPr lang="en-US" sz="700" dirty="0"/>
          </a:p>
        </p:txBody>
      </p:sp>
      <p:sp>
        <p:nvSpPr>
          <p:cNvPr id="13" name="Shape 8"/>
          <p:cNvSpPr/>
          <p:nvPr/>
        </p:nvSpPr>
        <p:spPr>
          <a:xfrm>
            <a:off x="3611880" y="1920240"/>
            <a:ext cx="2514600" cy="1143000"/>
          </a:xfrm>
          <a:prstGeom prst="hexagon">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14" name="Shape 9"/>
          <p:cNvSpPr/>
          <p:nvPr/>
        </p:nvSpPr>
        <p:spPr>
          <a:xfrm>
            <a:off x="4732020" y="2066544"/>
            <a:ext cx="274320" cy="274320"/>
          </a:xfrm>
          <a:prstGeom prst="roundRect">
            <a:avLst>
              <a:gd name="adj" fmla="val 33333"/>
            </a:avLst>
          </a:prstGeom>
          <a:solidFill>
            <a:srgbClr val="C9871B"/>
          </a:solidFill>
          <a:ln/>
        </p:spPr>
      </p:sp>
      <p:pic>
        <p:nvPicPr>
          <p:cNvPr id="15" name="Image 3" descr="preencoded.png">    </p:cNvPr>
          <p:cNvPicPr>
            <a:picLocks noChangeAspect="1"/>
          </p:cNvPicPr>
          <p:nvPr/>
        </p:nvPicPr>
        <p:blipFill>
          <a:blip r:embed="rId4"/>
          <a:stretch>
            <a:fillRect/>
          </a:stretch>
        </p:blipFill>
        <p:spPr>
          <a:xfrm>
            <a:off x="4792370" y="2126894"/>
            <a:ext cx="153619" cy="153619"/>
          </a:xfrm>
          <a:prstGeom prst="rect">
            <a:avLst/>
          </a:prstGeom>
        </p:spPr>
      </p:pic>
      <p:sp>
        <p:nvSpPr>
          <p:cNvPr id="16" name="Text 10"/>
          <p:cNvSpPr txBox="1"/>
          <p:nvPr/>
        </p:nvSpPr>
        <p:spPr>
          <a:xfrm>
            <a:off x="3703320" y="2090318"/>
            <a:ext cx="2331720" cy="972922"/>
          </a:xfrm>
          <a:prstGeom prst="rect">
            <a:avLst/>
          </a:prstGeom>
          <a:noFill/>
          <a:ln/>
        </p:spPr>
        <p:txBody>
          <a:bodyPr wrap="square" lIns="0" tIns="0" rIns="0" bIns="0" rtlCol="0" anchor="ctr"/>
          <a:lstStyle/>
          <a:p>
            <a:pPr algn="ctr" indent="0" marL="0">
              <a:lnSpc>
                <a:spcPct val="104000"/>
              </a:lnSpc>
              <a:buNone/>
            </a:pPr>
            <a:r>
              <a:rPr lang="en-US" sz="1100" b="1" dirty="0">
                <a:solidFill>
                  <a:srgbClr val="64430A"/>
                </a:solidFill>
                <a:latin typeface="Calibri" pitchFamily="34" charset="0"/>
                <a:ea typeface="Calibri" pitchFamily="34" charset="-122"/>
                <a:cs typeface="Calibri" pitchFamily="34" charset="-120"/>
              </a:rPr>
              <a:t>decide_next_action</a:t>
            </a:r>
            <a:endParaRPr lang="en-US" sz="110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a pure function over one issue</a:t>
            </a:r>
            <a:endParaRPr lang="en-US" sz="1100" dirty="0"/>
          </a:p>
        </p:txBody>
      </p:sp>
      <p:sp>
        <p:nvSpPr>
          <p:cNvPr id="17" name="Shape 11"/>
          <p:cNvSpPr/>
          <p:nvPr/>
        </p:nvSpPr>
        <p:spPr>
          <a:xfrm>
            <a:off x="3291840" y="2048256"/>
            <a:ext cx="274320" cy="329184"/>
          </a:xfrm>
          <a:prstGeom prst="line">
            <a:avLst/>
          </a:prstGeom>
          <a:noFill/>
          <a:ln w="16510">
            <a:solidFill>
              <a:srgbClr val="64798F"/>
            </a:solidFill>
            <a:prstDash val="solid"/>
            <a:headEnd type="none"/>
            <a:tailEnd type="triangle"/>
          </a:ln>
        </p:spPr>
      </p:sp>
      <p:sp>
        <p:nvSpPr>
          <p:cNvPr id="18" name="Shape 12"/>
          <p:cNvSpPr/>
          <p:nvPr/>
        </p:nvSpPr>
        <p:spPr>
          <a:xfrm flipV="1">
            <a:off x="3291840" y="2697480"/>
            <a:ext cx="274320" cy="246888"/>
          </a:xfrm>
          <a:prstGeom prst="line">
            <a:avLst/>
          </a:prstGeom>
          <a:noFill/>
          <a:ln w="16510">
            <a:solidFill>
              <a:srgbClr val="64798F"/>
            </a:solidFill>
            <a:prstDash val="solid"/>
            <a:headEnd type="none"/>
            <a:tailEnd type="triangle"/>
          </a:ln>
        </p:spPr>
      </p:sp>
      <p:sp>
        <p:nvSpPr>
          <p:cNvPr id="19" name="Shape 13"/>
          <p:cNvSpPr/>
          <p:nvPr/>
        </p:nvSpPr>
        <p:spPr>
          <a:xfrm>
            <a:off x="6537960" y="1627632"/>
            <a:ext cx="3017520" cy="365760"/>
          </a:xfrm>
          <a:prstGeom prst="roundRect">
            <a:avLst>
              <a:gd name="adj" fmla="val 25000"/>
            </a:avLst>
          </a:prstGeom>
          <a:solidFill>
            <a:srgbClr val="EBE5FC"/>
          </a:solidFill>
          <a:ln w="15875">
            <a:solidFill>
              <a:srgbClr val="6D4DD1"/>
            </a:solidFill>
            <a:prstDash val="solid"/>
          </a:ln>
        </p:spPr>
      </p:sp>
      <p:sp>
        <p:nvSpPr>
          <p:cNvPr id="20" name="Text 14"/>
          <p:cNvSpPr txBox="1"/>
          <p:nvPr/>
        </p:nvSpPr>
        <p:spPr>
          <a:xfrm>
            <a:off x="6629400" y="1627632"/>
            <a:ext cx="2834640"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35236E"/>
                </a:solidFill>
                <a:latin typeface="Calibri" pitchFamily="34" charset="0"/>
                <a:ea typeface="Calibri" pitchFamily="34" charset="-122"/>
                <a:cs typeface="Calibri" pitchFamily="34" charset="-120"/>
              </a:rPr>
              <a:t>DISPATCH_RESEARCH</a:t>
            </a:r>
            <a:endParaRPr lang="en-US" sz="880" dirty="0"/>
          </a:p>
        </p:txBody>
      </p:sp>
      <p:sp>
        <p:nvSpPr>
          <p:cNvPr id="21" name="Shape 15"/>
          <p:cNvSpPr/>
          <p:nvPr/>
        </p:nvSpPr>
        <p:spPr>
          <a:xfrm flipV="1">
            <a:off x="6172200" y="1810512"/>
            <a:ext cx="310896" cy="676656"/>
          </a:xfrm>
          <a:prstGeom prst="line">
            <a:avLst/>
          </a:prstGeom>
          <a:noFill/>
          <a:ln w="13970">
            <a:solidFill>
              <a:srgbClr val="64798F"/>
            </a:solidFill>
            <a:prstDash val="solid"/>
            <a:headEnd type="none"/>
            <a:tailEnd type="triangle"/>
          </a:ln>
        </p:spPr>
      </p:sp>
      <p:sp>
        <p:nvSpPr>
          <p:cNvPr id="22" name="Shape 16"/>
          <p:cNvSpPr/>
          <p:nvPr/>
        </p:nvSpPr>
        <p:spPr>
          <a:xfrm>
            <a:off x="6537960" y="2084832"/>
            <a:ext cx="3017520" cy="365760"/>
          </a:xfrm>
          <a:prstGeom prst="roundRect">
            <a:avLst>
              <a:gd name="adj" fmla="val 25000"/>
            </a:avLst>
          </a:prstGeom>
          <a:solidFill>
            <a:srgbClr val="EBE5FC"/>
          </a:solidFill>
          <a:ln w="15875">
            <a:solidFill>
              <a:srgbClr val="6D4DD1"/>
            </a:solidFill>
            <a:prstDash val="solid"/>
          </a:ln>
        </p:spPr>
      </p:sp>
      <p:sp>
        <p:nvSpPr>
          <p:cNvPr id="23" name="Text 17"/>
          <p:cNvSpPr txBox="1"/>
          <p:nvPr/>
        </p:nvSpPr>
        <p:spPr>
          <a:xfrm>
            <a:off x="6629400" y="2084832"/>
            <a:ext cx="2834640"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35236E"/>
                </a:solidFill>
                <a:latin typeface="Calibri" pitchFamily="34" charset="0"/>
                <a:ea typeface="Calibri" pitchFamily="34" charset="-122"/>
                <a:cs typeface="Calibri" pitchFamily="34" charset="-120"/>
              </a:rPr>
              <a:t>DISPATCH_DRAFTING_SUMMARY</a:t>
            </a:r>
            <a:endParaRPr lang="en-US" sz="880" dirty="0"/>
          </a:p>
        </p:txBody>
      </p:sp>
      <p:sp>
        <p:nvSpPr>
          <p:cNvPr id="24" name="Shape 18"/>
          <p:cNvSpPr/>
          <p:nvPr/>
        </p:nvSpPr>
        <p:spPr>
          <a:xfrm flipV="1">
            <a:off x="6172200" y="2267712"/>
            <a:ext cx="310896" cy="219456"/>
          </a:xfrm>
          <a:prstGeom prst="line">
            <a:avLst/>
          </a:prstGeom>
          <a:noFill/>
          <a:ln w="13970">
            <a:solidFill>
              <a:srgbClr val="64798F"/>
            </a:solidFill>
            <a:prstDash val="solid"/>
            <a:headEnd type="none"/>
            <a:tailEnd type="triangle"/>
          </a:ln>
        </p:spPr>
      </p:sp>
      <p:sp>
        <p:nvSpPr>
          <p:cNvPr id="25" name="Shape 19"/>
          <p:cNvSpPr/>
          <p:nvPr/>
        </p:nvSpPr>
        <p:spPr>
          <a:xfrm>
            <a:off x="6537960" y="2542032"/>
            <a:ext cx="3017520" cy="365760"/>
          </a:xfrm>
          <a:prstGeom prst="roundRect">
            <a:avLst>
              <a:gd name="adj" fmla="val 25000"/>
            </a:avLst>
          </a:prstGeom>
          <a:solidFill>
            <a:srgbClr val="EAF0F5"/>
          </a:solidFill>
          <a:ln w="15875">
            <a:solidFill>
              <a:srgbClr val="64798F"/>
            </a:solidFill>
            <a:prstDash val="solid"/>
          </a:ln>
        </p:spPr>
      </p:sp>
      <p:sp>
        <p:nvSpPr>
          <p:cNvPr id="26" name="Text 20"/>
          <p:cNvSpPr txBox="1"/>
          <p:nvPr/>
        </p:nvSpPr>
        <p:spPr>
          <a:xfrm>
            <a:off x="6629400" y="2542032"/>
            <a:ext cx="2834640"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24354A"/>
                </a:solidFill>
                <a:latin typeface="Calibri" pitchFamily="34" charset="0"/>
                <a:ea typeface="Calibri" pitchFamily="34" charset="-122"/>
                <a:cs typeface="Calibri" pitchFamily="34" charset="-120"/>
              </a:rPr>
              <a:t>AWAIT_RESPONSE</a:t>
            </a:r>
            <a:endParaRPr lang="en-US" sz="880" dirty="0"/>
          </a:p>
        </p:txBody>
      </p:sp>
      <p:sp>
        <p:nvSpPr>
          <p:cNvPr id="27" name="Shape 21"/>
          <p:cNvSpPr/>
          <p:nvPr/>
        </p:nvSpPr>
        <p:spPr>
          <a:xfrm>
            <a:off x="6172200" y="2487168"/>
            <a:ext cx="310896" cy="237744"/>
          </a:xfrm>
          <a:prstGeom prst="line">
            <a:avLst/>
          </a:prstGeom>
          <a:noFill/>
          <a:ln w="13970">
            <a:solidFill>
              <a:srgbClr val="64798F"/>
            </a:solidFill>
            <a:prstDash val="solid"/>
            <a:headEnd type="none"/>
            <a:tailEnd type="triangle"/>
          </a:ln>
        </p:spPr>
      </p:sp>
      <p:sp>
        <p:nvSpPr>
          <p:cNvPr id="28" name="Shape 22"/>
          <p:cNvSpPr/>
          <p:nvPr/>
        </p:nvSpPr>
        <p:spPr>
          <a:xfrm>
            <a:off x="6537960" y="2999232"/>
            <a:ext cx="3017520" cy="365760"/>
          </a:xfrm>
          <a:prstGeom prst="roundRect">
            <a:avLst>
              <a:gd name="adj" fmla="val 25000"/>
            </a:avLst>
          </a:prstGeom>
          <a:solidFill>
            <a:srgbClr val="FBE2E8"/>
          </a:solidFill>
          <a:ln w="15875">
            <a:solidFill>
              <a:srgbClr val="CE3D64"/>
            </a:solidFill>
            <a:prstDash val="solid"/>
          </a:ln>
        </p:spPr>
      </p:sp>
      <p:sp>
        <p:nvSpPr>
          <p:cNvPr id="29" name="Text 23"/>
          <p:cNvSpPr txBox="1"/>
          <p:nvPr/>
        </p:nvSpPr>
        <p:spPr>
          <a:xfrm>
            <a:off x="6629400" y="2999232"/>
            <a:ext cx="2834640"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68182F"/>
                </a:solidFill>
                <a:latin typeface="Calibri" pitchFamily="34" charset="0"/>
                <a:ea typeface="Calibri" pitchFamily="34" charset="-122"/>
                <a:cs typeface="Calibri" pitchFamily="34" charset="-120"/>
              </a:rPr>
              <a:t>FLAG_FOR_ESCALATION_DECISION</a:t>
            </a:r>
            <a:endParaRPr lang="en-US" sz="880" dirty="0"/>
          </a:p>
        </p:txBody>
      </p:sp>
      <p:sp>
        <p:nvSpPr>
          <p:cNvPr id="30" name="Shape 24"/>
          <p:cNvSpPr/>
          <p:nvPr/>
        </p:nvSpPr>
        <p:spPr>
          <a:xfrm>
            <a:off x="6172200" y="2487168"/>
            <a:ext cx="310896" cy="694944"/>
          </a:xfrm>
          <a:prstGeom prst="line">
            <a:avLst/>
          </a:prstGeom>
          <a:noFill/>
          <a:ln w="13970">
            <a:solidFill>
              <a:srgbClr val="64798F"/>
            </a:solidFill>
            <a:prstDash val="solid"/>
            <a:headEnd type="none"/>
            <a:tailEnd type="triangle"/>
          </a:ln>
        </p:spPr>
      </p:sp>
      <p:sp>
        <p:nvSpPr>
          <p:cNvPr id="31" name="Text 25"/>
          <p:cNvSpPr txBox="1"/>
          <p:nvPr/>
        </p:nvSpPr>
        <p:spPr>
          <a:xfrm>
            <a:off x="9692640" y="2194560"/>
            <a:ext cx="1901952" cy="640080"/>
          </a:xfrm>
          <a:prstGeom prst="rect">
            <a:avLst/>
          </a:prstGeom>
          <a:noFill/>
          <a:ln/>
        </p:spPr>
        <p:txBody>
          <a:bodyPr wrap="square" lIns="0" tIns="0" rIns="0" bIns="0" rtlCol="0" anchor="ctr"/>
          <a:lstStyle/>
          <a:p>
            <a:pPr algn="l" indent="0" marL="0">
              <a:buNone/>
            </a:pPr>
            <a:r>
              <a:rPr lang="en-US" sz="820" dirty="0">
                <a:solidFill>
                  <a:srgbClr val="58697A"/>
                </a:solidFill>
                <a:latin typeface="Calibri" pitchFamily="34" charset="0"/>
                <a:ea typeface="Calibri" pitchFamily="34" charset="-122"/>
                <a:cs typeface="Calibri" pitchFamily="34" charset="-120"/>
              </a:rPr>
              <a:t>it never calls an agent itself — which is why a scheduler can be added later without touching the rules</a:t>
            </a:r>
            <a:endParaRPr lang="en-US" sz="820" dirty="0"/>
          </a:p>
        </p:txBody>
      </p:sp>
      <p:sp>
        <p:nvSpPr>
          <p:cNvPr id="32" name="Shape 26"/>
          <p:cNvSpPr/>
          <p:nvPr/>
        </p:nvSpPr>
        <p:spPr>
          <a:xfrm>
            <a:off x="594360" y="3657600"/>
            <a:ext cx="11000232" cy="1417320"/>
          </a:xfrm>
          <a:prstGeom prst="roundRect">
            <a:avLst>
              <a:gd name="adj" fmla="val 2581"/>
            </a:avLst>
          </a:prstGeom>
          <a:solidFill>
            <a:srgbClr val="F7FAFC"/>
          </a:solidFill>
          <a:ln w="15875">
            <a:solidFill>
              <a:srgbClr val="9FB2C4"/>
            </a:solidFill>
            <a:prstDash val="dash"/>
          </a:ln>
        </p:spPr>
      </p:sp>
      <p:sp>
        <p:nvSpPr>
          <p:cNvPr id="33" name="Shape 27"/>
          <p:cNvSpPr/>
          <p:nvPr/>
        </p:nvSpPr>
        <p:spPr>
          <a:xfrm>
            <a:off x="740664" y="3538728"/>
            <a:ext cx="2626157" cy="274320"/>
          </a:xfrm>
          <a:prstGeom prst="roundRect">
            <a:avLst>
              <a:gd name="adj" fmla="val 50000"/>
            </a:avLst>
          </a:prstGeom>
          <a:solidFill>
            <a:srgbClr val="64798F"/>
          </a:solidFill>
          <a:ln/>
        </p:spPr>
      </p:sp>
      <p:pic>
        <p:nvPicPr>
          <p:cNvPr id="34" name="Image 4" descr="preencoded.png">    </p:cNvPr>
          <p:cNvPicPr>
            <a:picLocks noChangeAspect="1"/>
          </p:cNvPicPr>
          <p:nvPr/>
        </p:nvPicPr>
        <p:blipFill>
          <a:blip r:embed="rId5"/>
          <a:stretch>
            <a:fillRect/>
          </a:stretch>
        </p:blipFill>
        <p:spPr>
          <a:xfrm>
            <a:off x="859536" y="3607308"/>
            <a:ext cx="132588" cy="132588"/>
          </a:xfrm>
          <a:prstGeom prst="rect">
            <a:avLst/>
          </a:prstGeom>
        </p:spPr>
      </p:pic>
      <p:sp>
        <p:nvSpPr>
          <p:cNvPr id="35" name="Text 28"/>
          <p:cNvSpPr txBox="1"/>
          <p:nvPr/>
        </p:nvSpPr>
        <p:spPr>
          <a:xfrm>
            <a:off x="1014984" y="3538728"/>
            <a:ext cx="2351837"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THE WORK ITSELF, WITH ITS GATES</a:t>
            </a:r>
            <a:endParaRPr lang="en-US" sz="850" dirty="0"/>
          </a:p>
        </p:txBody>
      </p:sp>
      <p:sp>
        <p:nvSpPr>
          <p:cNvPr id="36" name="Shape 29"/>
          <p:cNvSpPr/>
          <p:nvPr/>
        </p:nvSpPr>
        <p:spPr>
          <a:xfrm>
            <a:off x="822960" y="4069080"/>
            <a:ext cx="1543812"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37" name="Image 5" descr="preencoded.png">    </p:cNvPr>
          <p:cNvPicPr>
            <a:picLocks noChangeAspect="1"/>
          </p:cNvPicPr>
          <p:nvPr/>
        </p:nvPicPr>
        <p:blipFill>
          <a:blip r:embed="rId6"/>
          <a:stretch>
            <a:fillRect/>
          </a:stretch>
        </p:blipFill>
        <p:spPr>
          <a:xfrm>
            <a:off x="941832" y="4169664"/>
            <a:ext cx="155448" cy="155448"/>
          </a:xfrm>
          <a:prstGeom prst="rect">
            <a:avLst/>
          </a:prstGeom>
        </p:spPr>
      </p:pic>
      <p:sp>
        <p:nvSpPr>
          <p:cNvPr id="38" name="Text 30"/>
          <p:cNvSpPr txBox="1"/>
          <p:nvPr/>
        </p:nvSpPr>
        <p:spPr>
          <a:xfrm>
            <a:off x="914400" y="4069080"/>
            <a:ext cx="1360932"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35236E"/>
                </a:solidFill>
                <a:latin typeface="Calibri" pitchFamily="34" charset="0"/>
                <a:ea typeface="Calibri" pitchFamily="34" charset="-122"/>
                <a:cs typeface="Calibri" pitchFamily="34" charset="-120"/>
              </a:rPr>
              <a:t>Research Agent</a:t>
            </a:r>
            <a:endParaRPr lang="en-US" sz="950" dirty="0"/>
          </a:p>
          <a:p>
            <a:pPr algn="ctr" indent="0" marL="0">
              <a:lnSpc>
                <a:spcPct val="104000"/>
              </a:lnSpc>
              <a:buNone/>
            </a:pPr>
            <a:r>
              <a:rPr lang="en-US" sz="760" dirty="0">
                <a:solidFill>
                  <a:srgbClr val="35236E"/>
                </a:solidFill>
                <a:latin typeface="Calibri" pitchFamily="34" charset="0"/>
                <a:ea typeface="Calibri" pitchFamily="34" charset="-122"/>
                <a:cs typeface="Calibri" pitchFamily="34" charset="-120"/>
              </a:rPr>
              <a:t>drafts a grounded dossier</a:t>
            </a:r>
            <a:endParaRPr lang="en-US" sz="950" dirty="0"/>
          </a:p>
        </p:txBody>
      </p:sp>
      <p:sp>
        <p:nvSpPr>
          <p:cNvPr id="39" name="Shape 31"/>
          <p:cNvSpPr/>
          <p:nvPr/>
        </p:nvSpPr>
        <p:spPr>
          <a:xfrm>
            <a:off x="2394204" y="4443984"/>
            <a:ext cx="201168" cy="0"/>
          </a:xfrm>
          <a:prstGeom prst="line">
            <a:avLst/>
          </a:prstGeom>
          <a:noFill/>
          <a:ln w="16510">
            <a:solidFill>
              <a:srgbClr val="64798F"/>
            </a:solidFill>
            <a:prstDash val="solid"/>
            <a:headEnd type="none"/>
            <a:tailEnd type="triangle"/>
          </a:ln>
        </p:spPr>
      </p:sp>
      <p:sp>
        <p:nvSpPr>
          <p:cNvPr id="40" name="Shape 32"/>
          <p:cNvSpPr/>
          <p:nvPr/>
        </p:nvSpPr>
        <p:spPr>
          <a:xfrm>
            <a:off x="2622804" y="4069080"/>
            <a:ext cx="1543812" cy="749808"/>
          </a:xfrm>
          <a:prstGeom prst="roundRect">
            <a:avLst>
              <a:gd name="adj" fmla="val 12195"/>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41" name="Image 6" descr="preencoded.png">    </p:cNvPr>
          <p:cNvPicPr>
            <a:picLocks noChangeAspect="1"/>
          </p:cNvPicPr>
          <p:nvPr/>
        </p:nvPicPr>
        <p:blipFill>
          <a:blip r:embed="rId7"/>
          <a:stretch>
            <a:fillRect/>
          </a:stretch>
        </p:blipFill>
        <p:spPr>
          <a:xfrm>
            <a:off x="2741676" y="4169664"/>
            <a:ext cx="155448" cy="155448"/>
          </a:xfrm>
          <a:prstGeom prst="rect">
            <a:avLst/>
          </a:prstGeom>
        </p:spPr>
      </p:pic>
      <p:sp>
        <p:nvSpPr>
          <p:cNvPr id="42" name="Text 33"/>
          <p:cNvSpPr txBox="1"/>
          <p:nvPr/>
        </p:nvSpPr>
        <p:spPr>
          <a:xfrm>
            <a:off x="2714244" y="4069080"/>
            <a:ext cx="1360932"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68182F"/>
                </a:solidFill>
                <a:latin typeface="Calibri" pitchFamily="34" charset="0"/>
                <a:ea typeface="Calibri" pitchFamily="34" charset="-122"/>
                <a:cs typeface="Calibri" pitchFamily="34" charset="-120"/>
              </a:rPr>
              <a:t>Human review</a:t>
            </a:r>
            <a:endParaRPr lang="en-US" sz="950" dirty="0"/>
          </a:p>
          <a:p>
            <a:pPr algn="ctr" indent="0" marL="0">
              <a:lnSpc>
                <a:spcPct val="104000"/>
              </a:lnSpc>
              <a:buNone/>
            </a:pPr>
            <a:r>
              <a:rPr lang="en-US" sz="760" dirty="0">
                <a:solidFill>
                  <a:srgbClr val="68182F"/>
                </a:solidFill>
                <a:latin typeface="Calibri" pitchFamily="34" charset="0"/>
                <a:ea typeface="Calibri" pitchFamily="34" charset="-122"/>
                <a:cs typeface="Calibri" pitchFamily="34" charset="-120"/>
              </a:rPr>
              <a:t>accuracy check before handoff</a:t>
            </a:r>
            <a:endParaRPr lang="en-US" sz="950" dirty="0"/>
          </a:p>
        </p:txBody>
      </p:sp>
      <p:sp>
        <p:nvSpPr>
          <p:cNvPr id="43" name="Shape 34"/>
          <p:cNvSpPr/>
          <p:nvPr/>
        </p:nvSpPr>
        <p:spPr>
          <a:xfrm>
            <a:off x="4194048" y="4443984"/>
            <a:ext cx="201168" cy="0"/>
          </a:xfrm>
          <a:prstGeom prst="line">
            <a:avLst/>
          </a:prstGeom>
          <a:noFill/>
          <a:ln w="16510">
            <a:solidFill>
              <a:srgbClr val="64798F"/>
            </a:solidFill>
            <a:prstDash val="solid"/>
            <a:headEnd type="none"/>
            <a:tailEnd type="triangle"/>
          </a:ln>
        </p:spPr>
      </p:sp>
      <p:sp>
        <p:nvSpPr>
          <p:cNvPr id="44" name="Shape 35"/>
          <p:cNvSpPr/>
          <p:nvPr/>
        </p:nvSpPr>
        <p:spPr>
          <a:xfrm>
            <a:off x="4422648" y="4069080"/>
            <a:ext cx="1543812"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45" name="Image 7" descr="preencoded.png">    </p:cNvPr>
          <p:cNvPicPr>
            <a:picLocks noChangeAspect="1"/>
          </p:cNvPicPr>
          <p:nvPr/>
        </p:nvPicPr>
        <p:blipFill>
          <a:blip r:embed="rId8"/>
          <a:stretch>
            <a:fillRect/>
          </a:stretch>
        </p:blipFill>
        <p:spPr>
          <a:xfrm>
            <a:off x="4541520" y="4169664"/>
            <a:ext cx="155448" cy="155448"/>
          </a:xfrm>
          <a:prstGeom prst="rect">
            <a:avLst/>
          </a:prstGeom>
        </p:spPr>
      </p:pic>
      <p:sp>
        <p:nvSpPr>
          <p:cNvPr id="46" name="Text 36"/>
          <p:cNvSpPr txBox="1"/>
          <p:nvPr/>
        </p:nvSpPr>
        <p:spPr>
          <a:xfrm>
            <a:off x="4514088" y="4069080"/>
            <a:ext cx="1360932"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35236E"/>
                </a:solidFill>
                <a:latin typeface="Calibri" pitchFamily="34" charset="0"/>
                <a:ea typeface="Calibri" pitchFamily="34" charset="-122"/>
                <a:cs typeface="Calibri" pitchFamily="34" charset="-120"/>
              </a:rPr>
              <a:t>Drafting Agent</a:t>
            </a:r>
            <a:endParaRPr lang="en-US" sz="950" dirty="0"/>
          </a:p>
          <a:p>
            <a:pPr algn="ctr" indent="0" marL="0">
              <a:lnSpc>
                <a:spcPct val="104000"/>
              </a:lnSpc>
              <a:buNone/>
            </a:pPr>
            <a:r>
              <a:rPr lang="en-US" sz="760" dirty="0">
                <a:solidFill>
                  <a:srgbClr val="35236E"/>
                </a:solidFill>
                <a:latin typeface="Calibri" pitchFamily="34" charset="0"/>
                <a:ea typeface="Calibri" pitchFamily="34" charset="-122"/>
                <a:cs typeface="Calibri" pitchFamily="34" charset="-120"/>
              </a:rPr>
              <a:t>letter / points / summary</a:t>
            </a:r>
            <a:endParaRPr lang="en-US" sz="950" dirty="0"/>
          </a:p>
        </p:txBody>
      </p:sp>
      <p:sp>
        <p:nvSpPr>
          <p:cNvPr id="47" name="Shape 37"/>
          <p:cNvSpPr/>
          <p:nvPr/>
        </p:nvSpPr>
        <p:spPr>
          <a:xfrm>
            <a:off x="5993892" y="4443984"/>
            <a:ext cx="201168" cy="0"/>
          </a:xfrm>
          <a:prstGeom prst="line">
            <a:avLst/>
          </a:prstGeom>
          <a:noFill/>
          <a:ln w="16510">
            <a:solidFill>
              <a:srgbClr val="64798F"/>
            </a:solidFill>
            <a:prstDash val="solid"/>
            <a:headEnd type="none"/>
            <a:tailEnd type="triangle"/>
          </a:ln>
        </p:spPr>
      </p:sp>
      <p:sp>
        <p:nvSpPr>
          <p:cNvPr id="48" name="Shape 38"/>
          <p:cNvSpPr/>
          <p:nvPr/>
        </p:nvSpPr>
        <p:spPr>
          <a:xfrm>
            <a:off x="6222492" y="4069080"/>
            <a:ext cx="1543812" cy="749808"/>
          </a:xfrm>
          <a:prstGeom prst="roundRect">
            <a:avLst>
              <a:gd name="adj" fmla="val 12195"/>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49" name="Image 8" descr="preencoded.png">    </p:cNvPr>
          <p:cNvPicPr>
            <a:picLocks noChangeAspect="1"/>
          </p:cNvPicPr>
          <p:nvPr/>
        </p:nvPicPr>
        <p:blipFill>
          <a:blip r:embed="rId9"/>
          <a:stretch>
            <a:fillRect/>
          </a:stretch>
        </p:blipFill>
        <p:spPr>
          <a:xfrm>
            <a:off x="6341364" y="4169664"/>
            <a:ext cx="155448" cy="155448"/>
          </a:xfrm>
          <a:prstGeom prst="rect">
            <a:avLst/>
          </a:prstGeom>
        </p:spPr>
      </p:pic>
      <p:sp>
        <p:nvSpPr>
          <p:cNvPr id="50" name="Text 39"/>
          <p:cNvSpPr txBox="1"/>
          <p:nvPr/>
        </p:nvSpPr>
        <p:spPr>
          <a:xfrm>
            <a:off x="6313932" y="4069080"/>
            <a:ext cx="1360932"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68182F"/>
                </a:solidFill>
                <a:latin typeface="Calibri" pitchFamily="34" charset="0"/>
                <a:ea typeface="Calibri" pitchFamily="34" charset="-122"/>
                <a:cs typeface="Calibri" pitchFamily="34" charset="-120"/>
              </a:rPr>
              <a:t>Human validates</a:t>
            </a:r>
            <a:endParaRPr lang="en-US" sz="950" dirty="0"/>
          </a:p>
          <a:p>
            <a:pPr algn="ctr" indent="0" marL="0">
              <a:lnSpc>
                <a:spcPct val="104000"/>
              </a:lnSpc>
              <a:buNone/>
            </a:pPr>
            <a:r>
              <a:rPr lang="en-US" sz="760" dirty="0">
                <a:solidFill>
                  <a:srgbClr val="68182F"/>
                </a:solidFill>
                <a:latin typeface="Calibri" pitchFamily="34" charset="0"/>
                <a:ea typeface="Calibri" pitchFamily="34" charset="-122"/>
                <a:cs typeface="Calibri" pitchFamily="34" charset="-120"/>
              </a:rPr>
              <a:t>validated_by writes commitments</a:t>
            </a:r>
            <a:endParaRPr lang="en-US" sz="950" dirty="0"/>
          </a:p>
        </p:txBody>
      </p:sp>
      <p:sp>
        <p:nvSpPr>
          <p:cNvPr id="51" name="Shape 40"/>
          <p:cNvSpPr/>
          <p:nvPr/>
        </p:nvSpPr>
        <p:spPr>
          <a:xfrm>
            <a:off x="7793736" y="4443984"/>
            <a:ext cx="201168" cy="0"/>
          </a:xfrm>
          <a:prstGeom prst="line">
            <a:avLst/>
          </a:prstGeom>
          <a:noFill/>
          <a:ln w="16510">
            <a:solidFill>
              <a:srgbClr val="64798F"/>
            </a:solidFill>
            <a:prstDash val="solid"/>
            <a:headEnd type="none"/>
            <a:tailEnd type="triangle"/>
          </a:ln>
        </p:spPr>
      </p:sp>
      <p:sp>
        <p:nvSpPr>
          <p:cNvPr id="52" name="Shape 41"/>
          <p:cNvSpPr/>
          <p:nvPr/>
        </p:nvSpPr>
        <p:spPr>
          <a:xfrm>
            <a:off x="8022336" y="4069080"/>
            <a:ext cx="1543812"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53" name="Image 9" descr="preencoded.png">    </p:cNvPr>
          <p:cNvPicPr>
            <a:picLocks noChangeAspect="1"/>
          </p:cNvPicPr>
          <p:nvPr/>
        </p:nvPicPr>
        <p:blipFill>
          <a:blip r:embed="rId10"/>
          <a:stretch>
            <a:fillRect/>
          </a:stretch>
        </p:blipFill>
        <p:spPr>
          <a:xfrm>
            <a:off x="8141208" y="4169664"/>
            <a:ext cx="155448" cy="155448"/>
          </a:xfrm>
          <a:prstGeom prst="rect">
            <a:avLst/>
          </a:prstGeom>
        </p:spPr>
      </p:pic>
      <p:sp>
        <p:nvSpPr>
          <p:cNvPr id="54" name="Text 42"/>
          <p:cNvSpPr txBox="1"/>
          <p:nvPr/>
        </p:nvSpPr>
        <p:spPr>
          <a:xfrm>
            <a:off x="8113776" y="4069080"/>
            <a:ext cx="1360932"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0A4451"/>
                </a:solidFill>
                <a:latin typeface="Calibri" pitchFamily="34" charset="0"/>
                <a:ea typeface="Calibri" pitchFamily="34" charset="-122"/>
                <a:cs typeface="Calibri" pitchFamily="34" charset="-120"/>
              </a:rPr>
              <a:t>Tracking Agent</a:t>
            </a:r>
            <a:endParaRPr lang="en-US" sz="950" dirty="0"/>
          </a:p>
          <a:p>
            <a:pPr algn="ctr" indent="0" marL="0">
              <a:lnSpc>
                <a:spcPct val="104000"/>
              </a:lnSpc>
              <a:buNone/>
            </a:pPr>
            <a:r>
              <a:rPr lang="en-US" sz="760" dirty="0">
                <a:solidFill>
                  <a:srgbClr val="0A4451"/>
                </a:solidFill>
                <a:latin typeface="Calibri" pitchFamily="34" charset="0"/>
                <a:ea typeface="Calibri" pitchFamily="34" charset="-122"/>
                <a:cs typeface="Calibri" pitchFamily="34" charset="-120"/>
              </a:rPr>
              <a:t>logs it, advances the stage</a:t>
            </a:r>
            <a:endParaRPr lang="en-US" sz="950" dirty="0"/>
          </a:p>
        </p:txBody>
      </p:sp>
      <p:sp>
        <p:nvSpPr>
          <p:cNvPr id="55" name="Shape 43"/>
          <p:cNvSpPr/>
          <p:nvPr/>
        </p:nvSpPr>
        <p:spPr>
          <a:xfrm>
            <a:off x="9593580" y="4443984"/>
            <a:ext cx="201168" cy="0"/>
          </a:xfrm>
          <a:prstGeom prst="line">
            <a:avLst/>
          </a:prstGeom>
          <a:noFill/>
          <a:ln w="16510">
            <a:solidFill>
              <a:srgbClr val="64798F"/>
            </a:solidFill>
            <a:prstDash val="solid"/>
            <a:headEnd type="none"/>
            <a:tailEnd type="triangle"/>
          </a:ln>
        </p:spPr>
      </p:sp>
      <p:sp>
        <p:nvSpPr>
          <p:cNvPr id="56" name="Shape 44"/>
          <p:cNvSpPr/>
          <p:nvPr/>
        </p:nvSpPr>
        <p:spPr>
          <a:xfrm>
            <a:off x="9822180" y="4069080"/>
            <a:ext cx="1543812" cy="749808"/>
          </a:xfrm>
          <a:prstGeom prst="roundRect">
            <a:avLst>
              <a:gd name="adj" fmla="val 1219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57" name="Image 10" descr="preencoded.png">    </p:cNvPr>
          <p:cNvPicPr>
            <a:picLocks noChangeAspect="1"/>
          </p:cNvPicPr>
          <p:nvPr/>
        </p:nvPicPr>
        <p:blipFill>
          <a:blip r:embed="rId11"/>
          <a:stretch>
            <a:fillRect/>
          </a:stretch>
        </p:blipFill>
        <p:spPr>
          <a:xfrm>
            <a:off x="9941052" y="4169664"/>
            <a:ext cx="155448" cy="155448"/>
          </a:xfrm>
          <a:prstGeom prst="rect">
            <a:avLst/>
          </a:prstGeom>
        </p:spPr>
      </p:pic>
      <p:sp>
        <p:nvSpPr>
          <p:cNvPr id="58" name="Text 45"/>
          <p:cNvSpPr txBox="1"/>
          <p:nvPr/>
        </p:nvSpPr>
        <p:spPr>
          <a:xfrm>
            <a:off x="9913620" y="4069080"/>
            <a:ext cx="1360932"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17431F"/>
                </a:solidFill>
                <a:latin typeface="Calibri" pitchFamily="34" charset="0"/>
                <a:ea typeface="Calibri" pitchFamily="34" charset="-122"/>
                <a:cs typeface="Calibri" pitchFamily="34" charset="-120"/>
              </a:rPr>
              <a:t>events.jsonl</a:t>
            </a:r>
            <a:endParaRPr lang="en-US" sz="950" dirty="0"/>
          </a:p>
          <a:p>
            <a:pPr algn="ctr" indent="0" marL="0">
              <a:lnSpc>
                <a:spcPct val="104000"/>
              </a:lnSpc>
              <a:buNone/>
            </a:pPr>
            <a:r>
              <a:rPr lang="en-US" sz="760" dirty="0">
                <a:solidFill>
                  <a:srgbClr val="17431F"/>
                </a:solidFill>
                <a:latin typeface="Calibri" pitchFamily="34" charset="0"/>
                <a:ea typeface="Calibri" pitchFamily="34" charset="-122"/>
                <a:cs typeface="Calibri" pitchFamily="34" charset="-120"/>
              </a:rPr>
              <a:t>appended, never overwritten</a:t>
            </a:r>
            <a:endParaRPr lang="en-US" sz="950" dirty="0"/>
          </a:p>
        </p:txBody>
      </p:sp>
      <p:sp>
        <p:nvSpPr>
          <p:cNvPr id="59" name="Shape 46"/>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60" name="Text 47"/>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61" name="Text 48"/>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arp/engagement/{orchestrator,triggers}.py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arp/engagement/{research,drafting,tracking,reporting}_agent.py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arp/storage/engagement_store.py — record.json + events.jsonl</a:t>
            </a:r>
            <a:endParaRPr lang="en-US" sz="860" dirty="0"/>
          </a:p>
        </p:txBody>
      </p:sp>
      <p:sp>
        <p:nvSpPr>
          <p:cNvPr id="62" name="Shape 49"/>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63" name="Text 50"/>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64" name="Text 51"/>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a company universe plus controversy signals;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analyst actions through the CLI or API.</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EngagementRecord, an audit log, a period report.</a:t>
            </a:r>
            <a:endParaRPr lang="en-US" sz="860" dirty="0"/>
          </a:p>
        </p:txBody>
      </p:sp>
      <p:sp>
        <p:nvSpPr>
          <p:cNvPr id="65" name="Shape 52"/>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66" name="Text 53"/>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67" name="Text 54"/>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Milestone state is only ever written by the LLM-free tracker.</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set_escalation_stage requires decided_by and is never automated.</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The controversy feed is an interface; today's is static.</a:t>
            </a:r>
            <a:endParaRPr lang="en-US" sz="8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10   ·   PROXY VOTING</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From ballot to cast vote</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Rules before judgment, judgment before a recommendation — and a recommendation is never a vote.</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2240280"/>
            <a:ext cx="2011680" cy="822960"/>
          </a:xfrm>
          <a:prstGeom prst="roundRect">
            <a:avLst>
              <a:gd name="adj" fmla="val 11111"/>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2340864"/>
            <a:ext cx="182880" cy="182880"/>
          </a:xfrm>
          <a:prstGeom prst="rect">
            <a:avLst/>
          </a:prstGeom>
        </p:spPr>
      </p:pic>
      <p:sp>
        <p:nvSpPr>
          <p:cNvPr id="9" name="Text 5"/>
          <p:cNvSpPr txBox="1"/>
          <p:nvPr/>
        </p:nvSpPr>
        <p:spPr>
          <a:xfrm>
            <a:off x="685800" y="2240280"/>
            <a:ext cx="1828800" cy="822960"/>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Proxy statement</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DEF 14A, from the shared registry</a:t>
            </a:r>
            <a:endParaRPr lang="en-US" sz="1050" dirty="0"/>
          </a:p>
        </p:txBody>
      </p:sp>
      <p:sp>
        <p:nvSpPr>
          <p:cNvPr id="10" name="Shape 6"/>
          <p:cNvSpPr/>
          <p:nvPr/>
        </p:nvSpPr>
        <p:spPr>
          <a:xfrm>
            <a:off x="2971800" y="2240280"/>
            <a:ext cx="2103120" cy="822960"/>
          </a:xfrm>
          <a:prstGeom prst="roundRect">
            <a:avLst>
              <a:gd name="adj" fmla="val 11111"/>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11" name="Image 2" descr="preencoded.png">    </p:cNvPr>
          <p:cNvPicPr>
            <a:picLocks noChangeAspect="1"/>
          </p:cNvPicPr>
          <p:nvPr/>
        </p:nvPicPr>
        <p:blipFill>
          <a:blip r:embed="rId3"/>
          <a:stretch>
            <a:fillRect/>
          </a:stretch>
        </p:blipFill>
        <p:spPr>
          <a:xfrm>
            <a:off x="3090672" y="2340864"/>
            <a:ext cx="182880" cy="182880"/>
          </a:xfrm>
          <a:prstGeom prst="rect">
            <a:avLst/>
          </a:prstGeom>
        </p:spPr>
      </p:pic>
      <p:sp>
        <p:nvSpPr>
          <p:cNvPr id="12" name="Text 7"/>
          <p:cNvSpPr txBox="1"/>
          <p:nvPr/>
        </p:nvSpPr>
        <p:spPr>
          <a:xfrm>
            <a:off x="3063240" y="2240280"/>
            <a:ext cx="1920240" cy="822960"/>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Proposal extraction</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one schema-first pass, grounded</a:t>
            </a:r>
            <a:endParaRPr lang="en-US" sz="1050" dirty="0"/>
          </a:p>
        </p:txBody>
      </p:sp>
      <p:sp>
        <p:nvSpPr>
          <p:cNvPr id="13" name="Shape 8"/>
          <p:cNvSpPr/>
          <p:nvPr/>
        </p:nvSpPr>
        <p:spPr>
          <a:xfrm>
            <a:off x="2651760" y="2651760"/>
            <a:ext cx="265176" cy="0"/>
          </a:xfrm>
          <a:prstGeom prst="line">
            <a:avLst/>
          </a:prstGeom>
          <a:noFill/>
          <a:ln w="19050">
            <a:solidFill>
              <a:srgbClr val="64798F"/>
            </a:solidFill>
            <a:prstDash val="solid"/>
            <a:headEnd type="none"/>
            <a:tailEnd type="triangle"/>
          </a:ln>
        </p:spPr>
      </p:sp>
      <p:sp>
        <p:nvSpPr>
          <p:cNvPr id="14" name="Shape 9"/>
          <p:cNvSpPr/>
          <p:nvPr/>
        </p:nvSpPr>
        <p:spPr>
          <a:xfrm>
            <a:off x="5577840" y="2194560"/>
            <a:ext cx="2194560" cy="914400"/>
          </a:xfrm>
          <a:prstGeom prst="diamond">
            <a:avLst/>
          </a:prstGeom>
          <a:solidFill>
            <a:srgbClr val="FCEDD4"/>
          </a:solidFill>
          <a:ln w="15875">
            <a:solidFill>
              <a:srgbClr val="C9871B"/>
            </a:solidFill>
            <a:prstDash val="solid"/>
          </a:ln>
        </p:spPr>
      </p:sp>
      <p:sp>
        <p:nvSpPr>
          <p:cNvPr id="15" name="Text 10"/>
          <p:cNvSpPr txBox="1"/>
          <p:nvPr/>
        </p:nvSpPr>
        <p:spPr>
          <a:xfrm>
            <a:off x="5669280" y="2194560"/>
            <a:ext cx="2011680" cy="914400"/>
          </a:xfrm>
          <a:prstGeom prst="rect">
            <a:avLst/>
          </a:prstGeom>
          <a:noFill/>
          <a:ln/>
        </p:spPr>
        <p:txBody>
          <a:bodyPr wrap="square" lIns="0" tIns="0" rIns="0" bIns="0" rtlCol="0" anchor="ctr"/>
          <a:lstStyle/>
          <a:p>
            <a:pPr algn="ctr" indent="0" marL="0">
              <a:lnSpc>
                <a:spcPct val="104000"/>
              </a:lnSpc>
              <a:buNone/>
            </a:pPr>
            <a:r>
              <a:rPr lang="en-US" sz="980" b="1" dirty="0">
                <a:solidFill>
                  <a:srgbClr val="64430A"/>
                </a:solidFill>
                <a:latin typeface="Calibri" pitchFamily="34" charset="0"/>
                <a:ea typeface="Calibri" pitchFamily="34" charset="-122"/>
                <a:cs typeface="Calibri" pitchFamily="34" charset="-120"/>
              </a:rPr>
              <a:t>a rule resolves it?</a:t>
            </a:r>
            <a:endParaRPr lang="en-US" sz="980" dirty="0"/>
          </a:p>
        </p:txBody>
      </p:sp>
      <p:sp>
        <p:nvSpPr>
          <p:cNvPr id="16" name="Shape 11"/>
          <p:cNvSpPr/>
          <p:nvPr/>
        </p:nvSpPr>
        <p:spPr>
          <a:xfrm>
            <a:off x="5120640" y="2651760"/>
            <a:ext cx="411480" cy="0"/>
          </a:xfrm>
          <a:prstGeom prst="line">
            <a:avLst/>
          </a:prstGeom>
          <a:noFill/>
          <a:ln w="19050">
            <a:solidFill>
              <a:srgbClr val="64798F"/>
            </a:solidFill>
            <a:prstDash val="solid"/>
            <a:headEnd type="none"/>
            <a:tailEnd type="triangle"/>
          </a:ln>
        </p:spPr>
      </p:sp>
      <p:sp>
        <p:nvSpPr>
          <p:cNvPr id="17" name="Shape 12"/>
          <p:cNvSpPr/>
          <p:nvPr/>
        </p:nvSpPr>
        <p:spPr>
          <a:xfrm>
            <a:off x="8321040" y="1664208"/>
            <a:ext cx="3273552" cy="713232"/>
          </a:xfrm>
          <a:prstGeom prst="roundRect">
            <a:avLst>
              <a:gd name="adj" fmla="val 1282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8" name="Image 3" descr="preencoded.png">    </p:cNvPr>
          <p:cNvPicPr>
            <a:picLocks noChangeAspect="1"/>
          </p:cNvPicPr>
          <p:nvPr/>
        </p:nvPicPr>
        <p:blipFill>
          <a:blip r:embed="rId4"/>
          <a:stretch>
            <a:fillRect/>
          </a:stretch>
        </p:blipFill>
        <p:spPr>
          <a:xfrm>
            <a:off x="8439912" y="1764792"/>
            <a:ext cx="182880" cy="182880"/>
          </a:xfrm>
          <a:prstGeom prst="rect">
            <a:avLst/>
          </a:prstGeom>
        </p:spPr>
      </p:pic>
      <p:sp>
        <p:nvSpPr>
          <p:cNvPr id="19" name="Text 13"/>
          <p:cNvSpPr txBox="1"/>
          <p:nvPr/>
        </p:nvSpPr>
        <p:spPr>
          <a:xfrm>
            <a:off x="8412480" y="1664208"/>
            <a:ext cx="3090672" cy="713232"/>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108494"/>
                </a:solidFill>
                <a:latin typeface="Calibri" pitchFamily="34" charset="0"/>
                <a:ea typeface="Calibri" pitchFamily="34" charset="-122"/>
                <a:cs typeface="Calibri" pitchFamily="34" charset="-120"/>
              </a:rPr>
              <a:t>DETERMINISTIC</a:t>
            </a:r>
            <a:endParaRPr lang="en-US" sz="700" dirty="0"/>
          </a:p>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Ordered Python rules</a:t>
            </a:r>
            <a:endParaRPr lang="en-US" sz="700" dirty="0"/>
          </a:p>
          <a:p>
            <a:pPr algn="ctr" indent="0" marL="0">
              <a:lnSpc>
                <a:spcPct val="104000"/>
              </a:lnSpc>
              <a:buNone/>
            </a:pPr>
            <a:r>
              <a:rPr lang="en-US" sz="780" dirty="0">
                <a:solidFill>
                  <a:srgbClr val="0A4451"/>
                </a:solidFill>
                <a:latin typeface="Calibri" pitchFamily="34" charset="0"/>
                <a:ea typeface="Calibri" pitchFamily="34" charset="-122"/>
                <a:cs typeface="Calibri" pitchFamily="34" charset="-120"/>
              </a:rPr>
              <a:t>evaluated against the extracted figures</a:t>
            </a:r>
            <a:endParaRPr lang="en-US" sz="700" dirty="0"/>
          </a:p>
        </p:txBody>
      </p:sp>
      <p:sp>
        <p:nvSpPr>
          <p:cNvPr id="20" name="Shape 14"/>
          <p:cNvSpPr/>
          <p:nvPr/>
        </p:nvSpPr>
        <p:spPr>
          <a:xfrm>
            <a:off x="8321040" y="2944368"/>
            <a:ext cx="3273552" cy="713232"/>
          </a:xfrm>
          <a:prstGeom prst="roundRect">
            <a:avLst>
              <a:gd name="adj" fmla="val 12821"/>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1" name="Image 4" descr="preencoded.png">    </p:cNvPr>
          <p:cNvPicPr>
            <a:picLocks noChangeAspect="1"/>
          </p:cNvPicPr>
          <p:nvPr/>
        </p:nvPicPr>
        <p:blipFill>
          <a:blip r:embed="rId5"/>
          <a:stretch>
            <a:fillRect/>
          </a:stretch>
        </p:blipFill>
        <p:spPr>
          <a:xfrm>
            <a:off x="8439912" y="3044952"/>
            <a:ext cx="182880" cy="182880"/>
          </a:xfrm>
          <a:prstGeom prst="rect">
            <a:avLst/>
          </a:prstGeom>
        </p:spPr>
      </p:pic>
      <p:sp>
        <p:nvSpPr>
          <p:cNvPr id="22" name="Text 15"/>
          <p:cNvSpPr txBox="1"/>
          <p:nvPr/>
        </p:nvSpPr>
        <p:spPr>
          <a:xfrm>
            <a:off x="8412480" y="2944368"/>
            <a:ext cx="3090672" cy="713232"/>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6D4DD1"/>
                </a:solidFill>
                <a:latin typeface="Calibri" pitchFamily="34" charset="0"/>
                <a:ea typeface="Calibri" pitchFamily="34" charset="-122"/>
                <a:cs typeface="Calibri" pitchFamily="34" charset="-120"/>
              </a:rPr>
              <a:t>FALL-THROUGH</a:t>
            </a:r>
            <a:endParaRPr lang="en-US" sz="700" dirty="0"/>
          </a:p>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One policy judgment call</a:t>
            </a:r>
            <a:endParaRPr lang="en-US" sz="700" dirty="0"/>
          </a:p>
          <a:p>
            <a:pPr algn="ctr" indent="0" marL="0">
              <a:lnSpc>
                <a:spcPct val="104000"/>
              </a:lnSpc>
              <a:buNone/>
            </a:pPr>
            <a:r>
              <a:rPr lang="en-US" sz="780" dirty="0">
                <a:solidFill>
                  <a:srgbClr val="35236E"/>
                </a:solidFill>
                <a:latin typeface="Calibri" pitchFamily="34" charset="0"/>
                <a:ea typeface="Calibri" pitchFamily="34" charset="-122"/>
                <a:cs typeface="Calibri" pitchFamily="34" charset="-120"/>
              </a:rPr>
              <a:t>must return a cited rationale</a:t>
            </a:r>
            <a:endParaRPr lang="en-US" sz="700" dirty="0"/>
          </a:p>
        </p:txBody>
      </p:sp>
      <p:sp>
        <p:nvSpPr>
          <p:cNvPr id="23" name="Shape 16"/>
          <p:cNvSpPr/>
          <p:nvPr/>
        </p:nvSpPr>
        <p:spPr>
          <a:xfrm flipV="1">
            <a:off x="7818120" y="2103120"/>
            <a:ext cx="448056" cy="365760"/>
          </a:xfrm>
          <a:prstGeom prst="line">
            <a:avLst/>
          </a:prstGeom>
          <a:noFill/>
          <a:ln w="17780">
            <a:solidFill>
              <a:srgbClr val="108494"/>
            </a:solidFill>
            <a:prstDash val="solid"/>
            <a:headEnd type="none"/>
            <a:tailEnd type="triangle"/>
          </a:ln>
        </p:spPr>
      </p:sp>
      <p:sp>
        <p:nvSpPr>
          <p:cNvPr id="24" name="Shape 17"/>
          <p:cNvSpPr/>
          <p:nvPr/>
        </p:nvSpPr>
        <p:spPr>
          <a:xfrm>
            <a:off x="7818120" y="2834640"/>
            <a:ext cx="448056" cy="457200"/>
          </a:xfrm>
          <a:prstGeom prst="line">
            <a:avLst/>
          </a:prstGeom>
          <a:noFill/>
          <a:ln w="17780">
            <a:solidFill>
              <a:srgbClr val="6D4DD1"/>
            </a:solidFill>
            <a:prstDash val="solid"/>
            <a:headEnd type="none"/>
            <a:tailEnd type="triangle"/>
          </a:ln>
        </p:spPr>
      </p:sp>
      <p:sp>
        <p:nvSpPr>
          <p:cNvPr id="25" name="Text 18"/>
          <p:cNvSpPr txBox="1"/>
          <p:nvPr/>
        </p:nvSpPr>
        <p:spPr>
          <a:xfrm>
            <a:off x="7863840" y="2157984"/>
            <a:ext cx="457200" cy="182880"/>
          </a:xfrm>
          <a:prstGeom prst="rect">
            <a:avLst/>
          </a:prstGeom>
          <a:noFill/>
          <a:ln/>
        </p:spPr>
        <p:txBody>
          <a:bodyPr wrap="square" lIns="0" tIns="0" rIns="0" bIns="0" rtlCol="0" anchor="ctr"/>
          <a:lstStyle/>
          <a:p>
            <a:pPr algn="ctr" indent="0" marL="0">
              <a:buNone/>
            </a:pPr>
            <a:r>
              <a:rPr lang="en-US" sz="800" i="1" dirty="0">
                <a:solidFill>
                  <a:srgbClr val="108494"/>
                </a:solidFill>
                <a:latin typeface="Calibri" pitchFamily="34" charset="0"/>
                <a:ea typeface="Calibri" pitchFamily="34" charset="-122"/>
                <a:cs typeface="Calibri" pitchFamily="34" charset="-120"/>
              </a:rPr>
              <a:t>yes</a:t>
            </a:r>
            <a:endParaRPr lang="en-US" sz="800" dirty="0"/>
          </a:p>
        </p:txBody>
      </p:sp>
      <p:sp>
        <p:nvSpPr>
          <p:cNvPr id="26" name="Text 19"/>
          <p:cNvSpPr txBox="1"/>
          <p:nvPr/>
        </p:nvSpPr>
        <p:spPr>
          <a:xfrm>
            <a:off x="7863840" y="3310128"/>
            <a:ext cx="457200" cy="182880"/>
          </a:xfrm>
          <a:prstGeom prst="rect">
            <a:avLst/>
          </a:prstGeom>
          <a:noFill/>
          <a:ln/>
        </p:spPr>
        <p:txBody>
          <a:bodyPr wrap="square" lIns="0" tIns="0" rIns="0" bIns="0" rtlCol="0" anchor="ctr"/>
          <a:lstStyle/>
          <a:p>
            <a:pPr algn="ctr" indent="0" marL="0">
              <a:buNone/>
            </a:pPr>
            <a:r>
              <a:rPr lang="en-US" sz="800" i="1" dirty="0">
                <a:solidFill>
                  <a:srgbClr val="6D4DD1"/>
                </a:solidFill>
                <a:latin typeface="Calibri" pitchFamily="34" charset="0"/>
                <a:ea typeface="Calibri" pitchFamily="34" charset="-122"/>
                <a:cs typeface="Calibri" pitchFamily="34" charset="-120"/>
              </a:rPr>
              <a:t>no</a:t>
            </a:r>
            <a:endParaRPr lang="en-US" sz="800" dirty="0"/>
          </a:p>
        </p:txBody>
      </p:sp>
      <p:sp>
        <p:nvSpPr>
          <p:cNvPr id="27" name="Shape 20"/>
          <p:cNvSpPr/>
          <p:nvPr/>
        </p:nvSpPr>
        <p:spPr>
          <a:xfrm>
            <a:off x="5577840" y="3977640"/>
            <a:ext cx="6016752" cy="658368"/>
          </a:xfrm>
          <a:prstGeom prst="roundRect">
            <a:avLst>
              <a:gd name="adj" fmla="val 13889"/>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28" name="Image 5" descr="preencoded.png">    </p:cNvPr>
          <p:cNvPicPr>
            <a:picLocks noChangeAspect="1"/>
          </p:cNvPicPr>
          <p:nvPr/>
        </p:nvPicPr>
        <p:blipFill>
          <a:blip r:embed="rId6"/>
          <a:stretch>
            <a:fillRect/>
          </a:stretch>
        </p:blipFill>
        <p:spPr>
          <a:xfrm>
            <a:off x="5696712" y="4078224"/>
            <a:ext cx="182880" cy="182880"/>
          </a:xfrm>
          <a:prstGeom prst="rect">
            <a:avLst/>
          </a:prstGeom>
        </p:spPr>
      </p:pic>
      <p:sp>
        <p:nvSpPr>
          <p:cNvPr id="29" name="Text 21"/>
          <p:cNvSpPr txBox="1"/>
          <p:nvPr/>
        </p:nvSpPr>
        <p:spPr>
          <a:xfrm>
            <a:off x="5669280" y="3977640"/>
            <a:ext cx="5833872" cy="658368"/>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Engagement-alignment cross-check</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contradicting an escalation, or not backing the fund's own resolution, raises a flag with a readable note</a:t>
            </a:r>
            <a:endParaRPr lang="en-US" sz="1050" dirty="0"/>
          </a:p>
        </p:txBody>
      </p:sp>
      <p:sp>
        <p:nvSpPr>
          <p:cNvPr id="30" name="Shape 22"/>
          <p:cNvSpPr/>
          <p:nvPr/>
        </p:nvSpPr>
        <p:spPr>
          <a:xfrm>
            <a:off x="9957816" y="3694176"/>
            <a:ext cx="0" cy="246888"/>
          </a:xfrm>
          <a:prstGeom prst="line">
            <a:avLst/>
          </a:prstGeom>
          <a:noFill/>
          <a:ln w="17780">
            <a:solidFill>
              <a:srgbClr val="64798F"/>
            </a:solidFill>
            <a:prstDash val="solid"/>
            <a:headEnd type="none"/>
            <a:tailEnd type="triangle"/>
          </a:ln>
        </p:spPr>
      </p:sp>
      <p:sp>
        <p:nvSpPr>
          <p:cNvPr id="31" name="Shape 23"/>
          <p:cNvSpPr/>
          <p:nvPr/>
        </p:nvSpPr>
        <p:spPr>
          <a:xfrm>
            <a:off x="2971800" y="3977640"/>
            <a:ext cx="2103120" cy="658368"/>
          </a:xfrm>
          <a:prstGeom prst="roundRect">
            <a:avLst>
              <a:gd name="adj" fmla="val 13889"/>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32" name="Image 6" descr="preencoded.png">    </p:cNvPr>
          <p:cNvPicPr>
            <a:picLocks noChangeAspect="1"/>
          </p:cNvPicPr>
          <p:nvPr/>
        </p:nvPicPr>
        <p:blipFill>
          <a:blip r:embed="rId7"/>
          <a:stretch>
            <a:fillRect/>
          </a:stretch>
        </p:blipFill>
        <p:spPr>
          <a:xfrm>
            <a:off x="3090672" y="4078224"/>
            <a:ext cx="182880" cy="182880"/>
          </a:xfrm>
          <a:prstGeom prst="rect">
            <a:avLst/>
          </a:prstGeom>
        </p:spPr>
      </p:pic>
      <p:sp>
        <p:nvSpPr>
          <p:cNvPr id="33" name="Text 24"/>
          <p:cNvSpPr txBox="1"/>
          <p:nvPr/>
        </p:nvSpPr>
        <p:spPr>
          <a:xfrm>
            <a:off x="3063240" y="3977640"/>
            <a:ext cx="1920240" cy="658368"/>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CE3D64"/>
                </a:solidFill>
                <a:latin typeface="Calibri" pitchFamily="34" charset="0"/>
                <a:ea typeface="Calibri" pitchFamily="34" charset="-122"/>
                <a:cs typeface="Calibri" pitchFamily="34" charset="-120"/>
              </a:rPr>
              <a:t>NO EXCEPTIONS</a:t>
            </a:r>
            <a:endParaRPr lang="en-US" sz="700" dirty="0"/>
          </a:p>
          <a:p>
            <a:pPr algn="ctr" indent="0" marL="0">
              <a:lnSpc>
                <a:spcPct val="104000"/>
              </a:lnSpc>
              <a:buNone/>
            </a:pPr>
            <a:r>
              <a:rPr lang="en-US" sz="1050" b="1" dirty="0">
                <a:solidFill>
                  <a:srgbClr val="68182F"/>
                </a:solidFill>
                <a:latin typeface="Calibri" pitchFamily="34" charset="0"/>
                <a:ea typeface="Calibri" pitchFamily="34" charset="-122"/>
                <a:cs typeface="Calibri" pitchFamily="34" charset="-120"/>
              </a:rPr>
              <a:t>Human decision</a:t>
            </a:r>
            <a:endParaRPr lang="en-US" sz="700" dirty="0"/>
          </a:p>
          <a:p>
            <a:pPr algn="ctr" indent="0" marL="0">
              <a:lnSpc>
                <a:spcPct val="104000"/>
              </a:lnSpc>
              <a:buNone/>
            </a:pPr>
            <a:r>
              <a:rPr lang="en-US" sz="780" dirty="0">
                <a:solidFill>
                  <a:srgbClr val="68182F"/>
                </a:solidFill>
                <a:latin typeface="Calibri" pitchFamily="34" charset="0"/>
                <a:ea typeface="Calibri" pitchFamily="34" charset="-122"/>
                <a:cs typeface="Calibri" pitchFamily="34" charset="-120"/>
              </a:rPr>
              <a:t>every single proposal</a:t>
            </a:r>
            <a:endParaRPr lang="en-US" sz="700" dirty="0"/>
          </a:p>
        </p:txBody>
      </p:sp>
      <p:sp>
        <p:nvSpPr>
          <p:cNvPr id="34" name="Shape 25"/>
          <p:cNvSpPr/>
          <p:nvPr/>
        </p:nvSpPr>
        <p:spPr>
          <a:xfrm flipH="1">
            <a:off x="5120640" y="4306824"/>
            <a:ext cx="411480" cy="0"/>
          </a:xfrm>
          <a:prstGeom prst="line">
            <a:avLst/>
          </a:prstGeom>
          <a:noFill/>
          <a:ln w="19050">
            <a:solidFill>
              <a:srgbClr val="CE3D64"/>
            </a:solidFill>
            <a:prstDash val="solid"/>
            <a:headEnd type="none"/>
            <a:tailEnd type="triangle"/>
          </a:ln>
        </p:spPr>
      </p:sp>
      <p:sp>
        <p:nvSpPr>
          <p:cNvPr id="35" name="Shape 26"/>
          <p:cNvSpPr/>
          <p:nvPr/>
        </p:nvSpPr>
        <p:spPr>
          <a:xfrm>
            <a:off x="594360" y="3977640"/>
            <a:ext cx="2011680" cy="658368"/>
          </a:xfrm>
          <a:prstGeom prst="roundRect">
            <a:avLst>
              <a:gd name="adj" fmla="val 13889"/>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6" name="Image 7" descr="preencoded.png">    </p:cNvPr>
          <p:cNvPicPr>
            <a:picLocks noChangeAspect="1"/>
          </p:cNvPicPr>
          <p:nvPr/>
        </p:nvPicPr>
        <p:blipFill>
          <a:blip r:embed="rId8"/>
          <a:stretch>
            <a:fillRect/>
          </a:stretch>
        </p:blipFill>
        <p:spPr>
          <a:xfrm>
            <a:off x="713232" y="4078224"/>
            <a:ext cx="182880" cy="182880"/>
          </a:xfrm>
          <a:prstGeom prst="rect">
            <a:avLst/>
          </a:prstGeom>
        </p:spPr>
      </p:pic>
      <p:sp>
        <p:nvSpPr>
          <p:cNvPr id="37" name="Text 27"/>
          <p:cNvSpPr txBox="1"/>
          <p:nvPr/>
        </p:nvSpPr>
        <p:spPr>
          <a:xfrm>
            <a:off x="685800" y="3977640"/>
            <a:ext cx="1828800" cy="658368"/>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Cast</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idempotent, checkpointed</a:t>
            </a:r>
            <a:endParaRPr lang="en-US" sz="1050" dirty="0"/>
          </a:p>
        </p:txBody>
      </p:sp>
      <p:sp>
        <p:nvSpPr>
          <p:cNvPr id="38" name="Shape 28"/>
          <p:cNvSpPr/>
          <p:nvPr/>
        </p:nvSpPr>
        <p:spPr>
          <a:xfrm flipH="1">
            <a:off x="2651760" y="4306824"/>
            <a:ext cx="265176" cy="0"/>
          </a:xfrm>
          <a:prstGeom prst="line">
            <a:avLst/>
          </a:prstGeom>
          <a:noFill/>
          <a:ln w="19050">
            <a:solidFill>
              <a:srgbClr val="2F8F48"/>
            </a:solidFill>
            <a:prstDash val="solid"/>
            <a:headEnd type="none"/>
            <a:tailEnd type="triangle"/>
          </a:ln>
        </p:spPr>
      </p:sp>
      <p:sp>
        <p:nvSpPr>
          <p:cNvPr id="39" name="Shape 29"/>
          <p:cNvSpPr/>
          <p:nvPr/>
        </p:nvSpPr>
        <p:spPr>
          <a:xfrm>
            <a:off x="594360" y="4956048"/>
            <a:ext cx="11000232" cy="502920"/>
          </a:xfrm>
          <a:prstGeom prst="roundRect">
            <a:avLst>
              <a:gd name="adj" fmla="val 7273"/>
            </a:avLst>
          </a:prstGeom>
          <a:solidFill>
            <a:srgbClr val="FBDEE5"/>
          </a:solidFill>
          <a:ln w="15875">
            <a:solidFill>
              <a:srgbClr val="D6486E"/>
            </a:solidFill>
            <a:prstDash val="solid"/>
          </a:ln>
        </p:spPr>
      </p:sp>
      <p:sp>
        <p:nvSpPr>
          <p:cNvPr id="40" name="Text 30"/>
          <p:cNvSpPr txBox="1"/>
          <p:nvPr/>
        </p:nvSpPr>
        <p:spPr>
          <a:xfrm>
            <a:off x="795528" y="4956048"/>
            <a:ext cx="10597896" cy="502920"/>
          </a:xfrm>
          <a:prstGeom prst="rect">
            <a:avLst/>
          </a:prstGeom>
          <a:noFill/>
          <a:ln/>
        </p:spPr>
        <p:txBody>
          <a:bodyPr wrap="square" lIns="0" tIns="0" rIns="0" bIns="0" rtlCol="0" anchor="ctr"/>
          <a:lstStyle/>
          <a:p>
            <a:pPr indent="0" marL="0">
              <a:buNone/>
            </a:pPr>
            <a:r>
              <a:rPr lang="en-US" sz="930" b="1" dirty="0">
                <a:solidFill>
                  <a:srgbClr val="68182F"/>
                </a:solidFill>
                <a:latin typeface="Calibri" pitchFamily="34" charset="0"/>
                <a:ea typeface="Calibri" pitchFamily="34" charset="-122"/>
                <a:cs typeface="Calibri" pitchFamily="34" charset="-120"/>
              </a:rPr>
              <a:t>cast_vote raises outright when human_decision is None  —  </a:t>
            </a:r>
            <a:pPr indent="0" marL="0">
              <a:buNone/>
            </a:pPr>
            <a:r>
              <a:rPr lang="en-US" sz="930" dirty="0">
                <a:solidFill>
                  <a:srgbClr val="6E1B33"/>
                </a:solidFill>
                <a:latin typeface="Calibri" pitchFamily="34" charset="0"/>
                <a:ea typeface="Calibri" pitchFamily="34" charset="-122"/>
                <a:cs typeface="Calibri" pitchFamily="34" charset="-120"/>
              </a:rPr>
              <a:t>an unauthorised vote cannot reach a platform integration regardless of what upstream code does, by construction rather than convention.</a:t>
            </a:r>
            <a:endParaRPr lang="en-US" sz="930" dirty="0"/>
          </a:p>
        </p:txBody>
      </p:sp>
      <p:sp>
        <p:nvSpPr>
          <p:cNvPr id="41" name="Shape 31"/>
          <p:cNvSpPr/>
          <p:nvPr/>
        </p:nvSpPr>
        <p:spPr>
          <a:xfrm>
            <a:off x="594360" y="5577840"/>
            <a:ext cx="11000232" cy="457200"/>
          </a:xfrm>
          <a:prstGeom prst="roundRect">
            <a:avLst>
              <a:gd name="adj" fmla="val 8000"/>
            </a:avLst>
          </a:prstGeom>
          <a:solidFill>
            <a:srgbClr val="F4F7FA"/>
          </a:solidFill>
          <a:ln w="15875">
            <a:solidFill>
              <a:srgbClr val="DDE5ED"/>
            </a:solidFill>
            <a:prstDash val="solid"/>
          </a:ln>
        </p:spPr>
      </p:sp>
      <p:sp>
        <p:nvSpPr>
          <p:cNvPr id="42" name="Text 32"/>
          <p:cNvSpPr txBox="1"/>
          <p:nvPr/>
        </p:nvSpPr>
        <p:spPr>
          <a:xfrm>
            <a:off x="795528" y="5577840"/>
            <a:ext cx="10597896" cy="457200"/>
          </a:xfrm>
          <a:prstGeom prst="rect">
            <a:avLst/>
          </a:prstGeom>
          <a:noFill/>
          <a:ln/>
        </p:spPr>
        <p:txBody>
          <a:bodyPr wrap="square" lIns="0" tIns="0" rIns="0" bIns="0" rtlCol="0" anchor="ctr"/>
          <a:lstStyle/>
          <a:p>
            <a:pPr indent="0" marL="0">
              <a:buNone/>
            </a:pPr>
            <a:r>
              <a:rPr lang="en-US" sz="920" b="1" dirty="0">
                <a:solidFill>
                  <a:srgbClr val="58697A"/>
                </a:solidFill>
                <a:latin typeface="Calibri" pitchFamily="34" charset="0"/>
                <a:ea typeface="Calibri" pitchFamily="34" charset="-122"/>
                <a:cs typeface="Calibri" pitchFamily="34" charset="-120"/>
              </a:rPr>
              <a:t>Known v1 gap:  </a:t>
            </a:r>
            <a:pPr indent="0" marL="0">
              <a:buNone/>
            </a:pPr>
            <a:r>
              <a:rPr lang="en-US" sz="920" dirty="0">
                <a:solidFill>
                  <a:srgbClr val="43566B"/>
                </a:solidFill>
                <a:latin typeface="Calibri" pitchFamily="34" charset="0"/>
                <a:ea typeface="Calibri" pitchFamily="34" charset="-122"/>
                <a:cs typeface="Calibri" pitchFamily="34" charset="-120"/>
              </a:rPr>
              <a:t>no AGM calendar or new-filing trigger yet — a voting run is started explicitly against a supplied universe. Proxy season's scale is already handled by the same resumable batch runner everything else uses.</a:t>
            </a:r>
            <a:endParaRPr lang="en-US" sz="920" dirty="0"/>
          </a:p>
        </p:txBody>
      </p:sp>
      <p:sp>
        <p:nvSpPr>
          <p:cNvPr id="43" name="Shape 33"/>
          <p:cNvSpPr/>
          <p:nvPr/>
        </p:nvSpPr>
        <p:spPr>
          <a:xfrm>
            <a:off x="594360" y="6227064"/>
            <a:ext cx="155448" cy="155448"/>
          </a:xfrm>
          <a:prstGeom prst="roundRect">
            <a:avLst>
              <a:gd name="adj" fmla="val 29412"/>
            </a:avLst>
          </a:prstGeom>
          <a:solidFill>
            <a:srgbClr val="2F6FD0"/>
          </a:solidFill>
          <a:ln/>
        </p:spPr>
      </p:sp>
      <p:sp>
        <p:nvSpPr>
          <p:cNvPr id="44" name="Text 34"/>
          <p:cNvSpPr txBox="1"/>
          <p:nvPr/>
        </p:nvSpPr>
        <p:spPr>
          <a:xfrm>
            <a:off x="813816" y="6199632"/>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45" name="Shape 35"/>
          <p:cNvSpPr/>
          <p:nvPr/>
        </p:nvSpPr>
        <p:spPr>
          <a:xfrm>
            <a:off x="2427732" y="6227064"/>
            <a:ext cx="155448" cy="155448"/>
          </a:xfrm>
          <a:prstGeom prst="roundRect">
            <a:avLst>
              <a:gd name="adj" fmla="val 29412"/>
            </a:avLst>
          </a:prstGeom>
          <a:solidFill>
            <a:srgbClr val="108494"/>
          </a:solidFill>
          <a:ln/>
        </p:spPr>
      </p:sp>
      <p:sp>
        <p:nvSpPr>
          <p:cNvPr id="46" name="Text 36"/>
          <p:cNvSpPr txBox="1"/>
          <p:nvPr/>
        </p:nvSpPr>
        <p:spPr>
          <a:xfrm>
            <a:off x="2647188" y="6199632"/>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47" name="Shape 37"/>
          <p:cNvSpPr/>
          <p:nvPr/>
        </p:nvSpPr>
        <p:spPr>
          <a:xfrm>
            <a:off x="4261104" y="6227064"/>
            <a:ext cx="155448" cy="155448"/>
          </a:xfrm>
          <a:prstGeom prst="roundRect">
            <a:avLst>
              <a:gd name="adj" fmla="val 29412"/>
            </a:avLst>
          </a:prstGeom>
          <a:solidFill>
            <a:srgbClr val="6D4DD1"/>
          </a:solidFill>
          <a:ln/>
        </p:spPr>
      </p:sp>
      <p:sp>
        <p:nvSpPr>
          <p:cNvPr id="48" name="Text 38"/>
          <p:cNvSpPr txBox="1"/>
          <p:nvPr/>
        </p:nvSpPr>
        <p:spPr>
          <a:xfrm>
            <a:off x="4480560" y="6199632"/>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49" name="Shape 39"/>
          <p:cNvSpPr/>
          <p:nvPr/>
        </p:nvSpPr>
        <p:spPr>
          <a:xfrm>
            <a:off x="6094476" y="6227064"/>
            <a:ext cx="155448" cy="155448"/>
          </a:xfrm>
          <a:prstGeom prst="roundRect">
            <a:avLst>
              <a:gd name="adj" fmla="val 29412"/>
            </a:avLst>
          </a:prstGeom>
          <a:solidFill>
            <a:srgbClr val="C9871B"/>
          </a:solidFill>
          <a:ln/>
        </p:spPr>
      </p:sp>
      <p:sp>
        <p:nvSpPr>
          <p:cNvPr id="50" name="Text 40"/>
          <p:cNvSpPr txBox="1"/>
          <p:nvPr/>
        </p:nvSpPr>
        <p:spPr>
          <a:xfrm>
            <a:off x="6313932" y="6199632"/>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51" name="Shape 41"/>
          <p:cNvSpPr/>
          <p:nvPr/>
        </p:nvSpPr>
        <p:spPr>
          <a:xfrm>
            <a:off x="7927848" y="6227064"/>
            <a:ext cx="155448" cy="155448"/>
          </a:xfrm>
          <a:prstGeom prst="roundRect">
            <a:avLst>
              <a:gd name="adj" fmla="val 29412"/>
            </a:avLst>
          </a:prstGeom>
          <a:solidFill>
            <a:srgbClr val="CE3D64"/>
          </a:solidFill>
          <a:ln/>
        </p:spPr>
      </p:sp>
      <p:sp>
        <p:nvSpPr>
          <p:cNvPr id="52" name="Text 42"/>
          <p:cNvSpPr txBox="1"/>
          <p:nvPr/>
        </p:nvSpPr>
        <p:spPr>
          <a:xfrm>
            <a:off x="8147304" y="6199632"/>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53" name="Shape 43"/>
          <p:cNvSpPr/>
          <p:nvPr/>
        </p:nvSpPr>
        <p:spPr>
          <a:xfrm>
            <a:off x="9761220" y="6227064"/>
            <a:ext cx="155448" cy="155448"/>
          </a:xfrm>
          <a:prstGeom prst="roundRect">
            <a:avLst>
              <a:gd name="adj" fmla="val 29412"/>
            </a:avLst>
          </a:prstGeom>
          <a:solidFill>
            <a:srgbClr val="2F8F48"/>
          </a:solidFill>
          <a:ln/>
        </p:spPr>
      </p:sp>
      <p:sp>
        <p:nvSpPr>
          <p:cNvPr id="54" name="Text 44"/>
          <p:cNvSpPr txBox="1"/>
          <p:nvPr/>
        </p:nvSpPr>
        <p:spPr>
          <a:xfrm>
            <a:off x="9980676" y="6199632"/>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10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Voting: the gate is a precondition, not a step</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One irreversible action in the whole system — so it is held behind a check that code cannot route around.</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72768"/>
            <a:ext cx="1907438"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1673352"/>
            <a:ext cx="182880" cy="182880"/>
          </a:xfrm>
          <a:prstGeom prst="rect">
            <a:avLst/>
          </a:prstGeom>
        </p:spPr>
      </p:pic>
      <p:sp>
        <p:nvSpPr>
          <p:cNvPr id="9" name="Text 5"/>
          <p:cNvSpPr txBox="1"/>
          <p:nvPr/>
        </p:nvSpPr>
        <p:spPr>
          <a:xfrm>
            <a:off x="685800"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Fetch ballots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DEF-14A docs, same registry</a:t>
            </a:r>
            <a:endParaRPr lang="en-US" sz="1050" dirty="0"/>
          </a:p>
        </p:txBody>
      </p:sp>
      <p:sp>
        <p:nvSpPr>
          <p:cNvPr id="10" name="Shape 6"/>
          <p:cNvSpPr/>
          <p:nvPr/>
        </p:nvSpPr>
        <p:spPr>
          <a:xfrm>
            <a:off x="2556662" y="1947672"/>
            <a:ext cx="256032" cy="0"/>
          </a:xfrm>
          <a:prstGeom prst="line">
            <a:avLst/>
          </a:prstGeom>
          <a:noFill/>
          <a:ln w="21590">
            <a:solidFill>
              <a:srgbClr val="64798F"/>
            </a:solidFill>
            <a:prstDash val="solid"/>
            <a:headEnd type="none"/>
            <a:tailEnd type="triangle"/>
          </a:ln>
        </p:spPr>
      </p:sp>
      <p:sp>
        <p:nvSpPr>
          <p:cNvPr id="11" name="Shape 7"/>
          <p:cNvSpPr/>
          <p:nvPr/>
        </p:nvSpPr>
        <p:spPr>
          <a:xfrm>
            <a:off x="2867558" y="1572768"/>
            <a:ext cx="1907438"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2986430" y="1673352"/>
            <a:ext cx="182880" cy="182880"/>
          </a:xfrm>
          <a:prstGeom prst="rect">
            <a:avLst/>
          </a:prstGeom>
        </p:spPr>
      </p:pic>
      <p:sp>
        <p:nvSpPr>
          <p:cNvPr id="13" name="Text 8"/>
          <p:cNvSpPr txBox="1"/>
          <p:nvPr/>
        </p:nvSpPr>
        <p:spPr>
          <a:xfrm>
            <a:off x="2958998"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Extract proposals</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one pass — a list task, grounded</a:t>
            </a:r>
            <a:endParaRPr lang="en-US" sz="1050" dirty="0"/>
          </a:p>
        </p:txBody>
      </p:sp>
      <p:sp>
        <p:nvSpPr>
          <p:cNvPr id="14" name="Shape 9"/>
          <p:cNvSpPr/>
          <p:nvPr/>
        </p:nvSpPr>
        <p:spPr>
          <a:xfrm>
            <a:off x="4829861" y="1947672"/>
            <a:ext cx="256032" cy="0"/>
          </a:xfrm>
          <a:prstGeom prst="line">
            <a:avLst/>
          </a:prstGeom>
          <a:noFill/>
          <a:ln w="21590">
            <a:solidFill>
              <a:srgbClr val="64798F"/>
            </a:solidFill>
            <a:prstDash val="solid"/>
            <a:headEnd type="none"/>
            <a:tailEnd type="triangle"/>
          </a:ln>
        </p:spPr>
      </p:sp>
      <p:sp>
        <p:nvSpPr>
          <p:cNvPr id="15" name="Shape 10"/>
          <p:cNvSpPr/>
          <p:nvPr/>
        </p:nvSpPr>
        <p:spPr>
          <a:xfrm>
            <a:off x="5140757"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5259629" y="1673352"/>
            <a:ext cx="182880" cy="182880"/>
          </a:xfrm>
          <a:prstGeom prst="rect">
            <a:avLst/>
          </a:prstGeom>
        </p:spPr>
      </p:pic>
      <p:sp>
        <p:nvSpPr>
          <p:cNvPr id="17" name="Text 11"/>
          <p:cNvSpPr txBox="1"/>
          <p:nvPr/>
        </p:nvSpPr>
        <p:spPr>
          <a:xfrm>
            <a:off x="5232197"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Apply rules</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ordered predicates, first wins</a:t>
            </a:r>
            <a:endParaRPr lang="en-US" sz="1050" dirty="0"/>
          </a:p>
        </p:txBody>
      </p:sp>
      <p:sp>
        <p:nvSpPr>
          <p:cNvPr id="18" name="Shape 12"/>
          <p:cNvSpPr/>
          <p:nvPr/>
        </p:nvSpPr>
        <p:spPr>
          <a:xfrm>
            <a:off x="7103059" y="1947672"/>
            <a:ext cx="256032" cy="0"/>
          </a:xfrm>
          <a:prstGeom prst="line">
            <a:avLst/>
          </a:prstGeom>
          <a:noFill/>
          <a:ln w="21590">
            <a:solidFill>
              <a:srgbClr val="64798F"/>
            </a:solidFill>
            <a:prstDash val="solid"/>
            <a:headEnd type="none"/>
            <a:tailEnd type="triangle"/>
          </a:ln>
        </p:spPr>
      </p:sp>
      <p:sp>
        <p:nvSpPr>
          <p:cNvPr id="19" name="Shape 13"/>
          <p:cNvSpPr/>
          <p:nvPr/>
        </p:nvSpPr>
        <p:spPr>
          <a:xfrm>
            <a:off x="7413955" y="1572768"/>
            <a:ext cx="1907438"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7532827" y="1673352"/>
            <a:ext cx="182880" cy="182880"/>
          </a:xfrm>
          <a:prstGeom prst="rect">
            <a:avLst/>
          </a:prstGeom>
        </p:spPr>
      </p:pic>
      <p:sp>
        <p:nvSpPr>
          <p:cNvPr id="21" name="Text 14"/>
          <p:cNvSpPr txBox="1"/>
          <p:nvPr/>
        </p:nvSpPr>
        <p:spPr>
          <a:xfrm>
            <a:off x="7505395"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Judge the rest</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one call, cited rationale</a:t>
            </a:r>
            <a:endParaRPr lang="en-US" sz="1050" dirty="0"/>
          </a:p>
        </p:txBody>
      </p:sp>
      <p:sp>
        <p:nvSpPr>
          <p:cNvPr id="22" name="Shape 15"/>
          <p:cNvSpPr/>
          <p:nvPr/>
        </p:nvSpPr>
        <p:spPr>
          <a:xfrm>
            <a:off x="9376258" y="1947672"/>
            <a:ext cx="256032" cy="0"/>
          </a:xfrm>
          <a:prstGeom prst="line">
            <a:avLst/>
          </a:prstGeom>
          <a:noFill/>
          <a:ln w="21590">
            <a:solidFill>
              <a:srgbClr val="64798F"/>
            </a:solidFill>
            <a:prstDash val="solid"/>
            <a:headEnd type="none"/>
            <a:tailEnd type="triangle"/>
          </a:ln>
        </p:spPr>
      </p:sp>
      <p:sp>
        <p:nvSpPr>
          <p:cNvPr id="23" name="Shape 16"/>
          <p:cNvSpPr/>
          <p:nvPr/>
        </p:nvSpPr>
        <p:spPr>
          <a:xfrm>
            <a:off x="9687154" y="1572768"/>
            <a:ext cx="1907438" cy="749808"/>
          </a:xfrm>
          <a:prstGeom prst="roundRect">
            <a:avLst>
              <a:gd name="adj" fmla="val 1219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24" name="Image 5" descr="preencoded.png">    </p:cNvPr>
          <p:cNvPicPr>
            <a:picLocks noChangeAspect="1"/>
          </p:cNvPicPr>
          <p:nvPr/>
        </p:nvPicPr>
        <p:blipFill>
          <a:blip r:embed="rId6"/>
          <a:stretch>
            <a:fillRect/>
          </a:stretch>
        </p:blipFill>
        <p:spPr>
          <a:xfrm>
            <a:off x="9806026" y="1673352"/>
            <a:ext cx="182880" cy="182880"/>
          </a:xfrm>
          <a:prstGeom prst="rect">
            <a:avLst/>
          </a:prstGeom>
        </p:spPr>
      </p:pic>
      <p:sp>
        <p:nvSpPr>
          <p:cNvPr id="25" name="Text 17"/>
          <p:cNvSpPr txBox="1"/>
          <p:nvPr/>
        </p:nvSpPr>
        <p:spPr>
          <a:xfrm>
            <a:off x="9778594"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Cross-check</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against the engagement record</a:t>
            </a:r>
            <a:endParaRPr lang="en-US" sz="1050" dirty="0"/>
          </a:p>
        </p:txBody>
      </p:sp>
      <p:sp>
        <p:nvSpPr>
          <p:cNvPr id="26" name="Shape 18"/>
          <p:cNvSpPr/>
          <p:nvPr/>
        </p:nvSpPr>
        <p:spPr>
          <a:xfrm>
            <a:off x="3291840" y="2926080"/>
            <a:ext cx="5577840" cy="685800"/>
          </a:xfrm>
          <a:prstGeom prst="roundRect">
            <a:avLst>
              <a:gd name="adj" fmla="val 13333"/>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sp>
        <p:nvSpPr>
          <p:cNvPr id="27" name="Shape 19"/>
          <p:cNvSpPr/>
          <p:nvPr/>
        </p:nvSpPr>
        <p:spPr>
          <a:xfrm>
            <a:off x="3429000" y="3086100"/>
            <a:ext cx="365760" cy="365760"/>
          </a:xfrm>
          <a:prstGeom prst="roundRect">
            <a:avLst>
              <a:gd name="adj" fmla="val 25000"/>
            </a:avLst>
          </a:prstGeom>
          <a:solidFill>
            <a:srgbClr val="CE3D64"/>
          </a:solidFill>
          <a:ln/>
        </p:spPr>
      </p:sp>
      <p:pic>
        <p:nvPicPr>
          <p:cNvPr id="28" name="Image 6" descr="preencoded.png">    </p:cNvPr>
          <p:cNvPicPr>
            <a:picLocks noChangeAspect="1"/>
          </p:cNvPicPr>
          <p:nvPr/>
        </p:nvPicPr>
        <p:blipFill>
          <a:blip r:embed="rId7"/>
          <a:stretch>
            <a:fillRect/>
          </a:stretch>
        </p:blipFill>
        <p:spPr>
          <a:xfrm>
            <a:off x="3509467" y="3166567"/>
            <a:ext cx="204826" cy="204826"/>
          </a:xfrm>
          <a:prstGeom prst="rect">
            <a:avLst/>
          </a:prstGeom>
        </p:spPr>
      </p:pic>
      <p:sp>
        <p:nvSpPr>
          <p:cNvPr id="29" name="Text 20"/>
          <p:cNvSpPr txBox="1"/>
          <p:nvPr/>
        </p:nvSpPr>
        <p:spPr>
          <a:xfrm>
            <a:off x="3931920" y="2926080"/>
            <a:ext cx="4828032" cy="685800"/>
          </a:xfrm>
          <a:prstGeom prst="rect">
            <a:avLst/>
          </a:prstGeom>
          <a:noFill/>
          <a:ln/>
        </p:spPr>
        <p:txBody>
          <a:bodyPr wrap="square" lIns="0" tIns="0" rIns="0" bIns="0" rtlCol="0" anchor="ctr"/>
          <a:lstStyle/>
          <a:p>
            <a:pPr algn="l" indent="0" marL="0">
              <a:lnSpc>
                <a:spcPct val="104000"/>
              </a:lnSpc>
              <a:buNone/>
            </a:pPr>
            <a:r>
              <a:rPr lang="en-US" sz="700" b="1" spc="110" kern="0" dirty="0">
                <a:solidFill>
                  <a:srgbClr val="CE3D64"/>
                </a:solidFill>
                <a:latin typeface="Calibri" pitchFamily="34" charset="0"/>
                <a:ea typeface="Calibri" pitchFamily="34" charset="-122"/>
                <a:cs typeface="Calibri" pitchFamily="34" charset="-120"/>
              </a:rPr>
              <a:t>EVERY PROPOSAL, NO CONFIDENCE THRESHOLD</a:t>
            </a:r>
            <a:endParaRPr lang="en-US" sz="700" dirty="0"/>
          </a:p>
          <a:p>
            <a:pPr algn="l" indent="0" marL="0">
              <a:lnSpc>
                <a:spcPct val="104000"/>
              </a:lnSpc>
              <a:buNone/>
            </a:pPr>
            <a:r>
              <a:rPr lang="en-US" sz="1200" b="1" dirty="0">
                <a:solidFill>
                  <a:srgbClr val="68182F"/>
                </a:solidFill>
                <a:latin typeface="Calibri" pitchFamily="34" charset="0"/>
                <a:ea typeface="Calibri" pitchFamily="34" charset="-122"/>
                <a:cs typeface="Calibri" pitchFamily="34" charset="-120"/>
              </a:rPr>
              <a:t>Human decision — approve or override</a:t>
            </a:r>
            <a:endParaRPr lang="en-US" sz="700" dirty="0"/>
          </a:p>
        </p:txBody>
      </p:sp>
      <p:sp>
        <p:nvSpPr>
          <p:cNvPr id="30" name="Shape 21"/>
          <p:cNvSpPr/>
          <p:nvPr/>
        </p:nvSpPr>
        <p:spPr>
          <a:xfrm>
            <a:off x="10634472" y="2359152"/>
            <a:ext cx="0" cy="310896"/>
          </a:xfrm>
          <a:prstGeom prst="line">
            <a:avLst/>
          </a:prstGeom>
          <a:noFill/>
          <a:ln w="19050">
            <a:solidFill>
              <a:srgbClr val="64798F"/>
            </a:solidFill>
            <a:prstDash val="solid"/>
            <a:headEnd type="none"/>
            <a:tailEnd type="none"/>
          </a:ln>
        </p:spPr>
      </p:sp>
      <p:sp>
        <p:nvSpPr>
          <p:cNvPr id="31" name="Shape 22"/>
          <p:cNvSpPr/>
          <p:nvPr/>
        </p:nvSpPr>
        <p:spPr>
          <a:xfrm flipH="1">
            <a:off x="7315200" y="2670048"/>
            <a:ext cx="3319272" cy="0"/>
          </a:xfrm>
          <a:prstGeom prst="line">
            <a:avLst/>
          </a:prstGeom>
          <a:noFill/>
          <a:ln w="19050">
            <a:solidFill>
              <a:srgbClr val="64798F"/>
            </a:solidFill>
            <a:prstDash val="solid"/>
            <a:headEnd type="none"/>
            <a:tailEnd type="none"/>
          </a:ln>
        </p:spPr>
      </p:sp>
      <p:sp>
        <p:nvSpPr>
          <p:cNvPr id="32" name="Shape 23"/>
          <p:cNvSpPr/>
          <p:nvPr/>
        </p:nvSpPr>
        <p:spPr>
          <a:xfrm>
            <a:off x="7315200" y="2670048"/>
            <a:ext cx="0" cy="219456"/>
          </a:xfrm>
          <a:prstGeom prst="line">
            <a:avLst/>
          </a:prstGeom>
          <a:noFill/>
          <a:ln w="19050">
            <a:solidFill>
              <a:srgbClr val="64798F"/>
            </a:solidFill>
            <a:prstDash val="solid"/>
            <a:headEnd type="none"/>
            <a:tailEnd type="triangle"/>
          </a:ln>
        </p:spPr>
      </p:sp>
      <p:sp>
        <p:nvSpPr>
          <p:cNvPr id="33" name="Shape 24"/>
          <p:cNvSpPr/>
          <p:nvPr/>
        </p:nvSpPr>
        <p:spPr>
          <a:xfrm>
            <a:off x="3291840" y="3977640"/>
            <a:ext cx="2606040" cy="777240"/>
          </a:xfrm>
          <a:prstGeom prst="diamond">
            <a:avLst/>
          </a:prstGeom>
          <a:solidFill>
            <a:srgbClr val="FCEDD4"/>
          </a:solidFill>
          <a:ln w="15875">
            <a:solidFill>
              <a:srgbClr val="C9871B"/>
            </a:solidFill>
            <a:prstDash val="solid"/>
          </a:ln>
        </p:spPr>
      </p:sp>
      <p:sp>
        <p:nvSpPr>
          <p:cNvPr id="34" name="Text 25"/>
          <p:cNvSpPr txBox="1"/>
          <p:nvPr/>
        </p:nvSpPr>
        <p:spPr>
          <a:xfrm>
            <a:off x="3383280" y="3977640"/>
            <a:ext cx="2423160" cy="777240"/>
          </a:xfrm>
          <a:prstGeom prst="rect">
            <a:avLst/>
          </a:prstGeom>
          <a:noFill/>
          <a:ln/>
        </p:spPr>
        <p:txBody>
          <a:bodyPr wrap="square" lIns="0" tIns="0" rIns="0" bIns="0" rtlCol="0" anchor="ctr"/>
          <a:lstStyle/>
          <a:p>
            <a:pPr algn="ctr" indent="0" marL="0">
              <a:lnSpc>
                <a:spcPct val="104000"/>
              </a:lnSpc>
              <a:buNone/>
            </a:pPr>
            <a:r>
              <a:rPr lang="en-US" sz="950" b="1" dirty="0">
                <a:solidFill>
                  <a:srgbClr val="64430A"/>
                </a:solidFill>
                <a:latin typeface="Calibri" pitchFamily="34" charset="0"/>
                <a:ea typeface="Calibri" pitchFamily="34" charset="-122"/>
                <a:cs typeface="Calibri" pitchFamily="34" charset="-120"/>
              </a:rPr>
              <a:t>human_decision present?</a:t>
            </a:r>
            <a:endParaRPr lang="en-US" sz="950" dirty="0"/>
          </a:p>
        </p:txBody>
      </p:sp>
      <p:sp>
        <p:nvSpPr>
          <p:cNvPr id="35" name="Shape 26"/>
          <p:cNvSpPr/>
          <p:nvPr/>
        </p:nvSpPr>
        <p:spPr>
          <a:xfrm>
            <a:off x="4590288" y="3648456"/>
            <a:ext cx="0" cy="292608"/>
          </a:xfrm>
          <a:prstGeom prst="line">
            <a:avLst/>
          </a:prstGeom>
          <a:noFill/>
          <a:ln w="19050">
            <a:solidFill>
              <a:srgbClr val="64798F"/>
            </a:solidFill>
            <a:prstDash val="solid"/>
            <a:headEnd type="none"/>
            <a:tailEnd type="triangle"/>
          </a:ln>
        </p:spPr>
      </p:sp>
      <p:sp>
        <p:nvSpPr>
          <p:cNvPr id="36" name="Shape 27"/>
          <p:cNvSpPr/>
          <p:nvPr/>
        </p:nvSpPr>
        <p:spPr>
          <a:xfrm>
            <a:off x="822960" y="4114800"/>
            <a:ext cx="2148840" cy="502920"/>
          </a:xfrm>
          <a:prstGeom prst="roundRect">
            <a:avLst>
              <a:gd name="adj" fmla="val 18182"/>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37" name="Image 7" descr="preencoded.png">    </p:cNvPr>
          <p:cNvPicPr>
            <a:picLocks noChangeAspect="1"/>
          </p:cNvPicPr>
          <p:nvPr/>
        </p:nvPicPr>
        <p:blipFill>
          <a:blip r:embed="rId8"/>
          <a:stretch>
            <a:fillRect/>
          </a:stretch>
        </p:blipFill>
        <p:spPr>
          <a:xfrm>
            <a:off x="941832" y="4215384"/>
            <a:ext cx="146304" cy="146304"/>
          </a:xfrm>
          <a:prstGeom prst="rect">
            <a:avLst/>
          </a:prstGeom>
        </p:spPr>
      </p:pic>
      <p:sp>
        <p:nvSpPr>
          <p:cNvPr id="38" name="Text 28"/>
          <p:cNvSpPr txBox="1"/>
          <p:nvPr/>
        </p:nvSpPr>
        <p:spPr>
          <a:xfrm>
            <a:off x="914400" y="4114800"/>
            <a:ext cx="196596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68182F"/>
                </a:solidFill>
                <a:latin typeface="Calibri" pitchFamily="34" charset="0"/>
                <a:ea typeface="Calibri" pitchFamily="34" charset="-122"/>
                <a:cs typeface="Calibri" pitchFamily="34" charset="-120"/>
              </a:rPr>
              <a:t>CastVoteError</a:t>
            </a:r>
            <a:endParaRPr lang="en-US" sz="1000" dirty="0"/>
          </a:p>
          <a:p>
            <a:pPr algn="ctr" indent="0" marL="0">
              <a:lnSpc>
                <a:spcPct val="104000"/>
              </a:lnSpc>
              <a:buNone/>
            </a:pPr>
            <a:r>
              <a:rPr lang="en-US" sz="800" dirty="0">
                <a:solidFill>
                  <a:srgbClr val="68182F"/>
                </a:solidFill>
                <a:latin typeface="Calibri" pitchFamily="34" charset="0"/>
                <a:ea typeface="Calibri" pitchFamily="34" charset="-122"/>
                <a:cs typeface="Calibri" pitchFamily="34" charset="-120"/>
              </a:rPr>
              <a:t>nothing is transmitted</a:t>
            </a:r>
            <a:endParaRPr lang="en-US" sz="1000" dirty="0"/>
          </a:p>
        </p:txBody>
      </p:sp>
      <p:sp>
        <p:nvSpPr>
          <p:cNvPr id="39" name="Shape 29"/>
          <p:cNvSpPr/>
          <p:nvPr/>
        </p:nvSpPr>
        <p:spPr>
          <a:xfrm flipH="1">
            <a:off x="3008376" y="4370832"/>
            <a:ext cx="246888" cy="0"/>
          </a:xfrm>
          <a:prstGeom prst="line">
            <a:avLst/>
          </a:prstGeom>
          <a:noFill/>
          <a:ln w="17780">
            <a:solidFill>
              <a:srgbClr val="CE3D64"/>
            </a:solidFill>
            <a:prstDash val="solid"/>
            <a:headEnd type="none"/>
            <a:tailEnd type="triangle"/>
          </a:ln>
        </p:spPr>
      </p:sp>
      <p:sp>
        <p:nvSpPr>
          <p:cNvPr id="40" name="Shape 30"/>
          <p:cNvSpPr/>
          <p:nvPr/>
        </p:nvSpPr>
        <p:spPr>
          <a:xfrm>
            <a:off x="6309360" y="4114800"/>
            <a:ext cx="2377440" cy="502920"/>
          </a:xfrm>
          <a:prstGeom prst="roundRect">
            <a:avLst>
              <a:gd name="adj" fmla="val 18182"/>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41" name="Image 8" descr="preencoded.png">    </p:cNvPr>
          <p:cNvPicPr>
            <a:picLocks noChangeAspect="1"/>
          </p:cNvPicPr>
          <p:nvPr/>
        </p:nvPicPr>
        <p:blipFill>
          <a:blip r:embed="rId9"/>
          <a:stretch>
            <a:fillRect/>
          </a:stretch>
        </p:blipFill>
        <p:spPr>
          <a:xfrm>
            <a:off x="6428232" y="4215384"/>
            <a:ext cx="146304" cy="146304"/>
          </a:xfrm>
          <a:prstGeom prst="rect">
            <a:avLst/>
          </a:prstGeom>
        </p:spPr>
      </p:pic>
      <p:sp>
        <p:nvSpPr>
          <p:cNvPr id="42" name="Text 31"/>
          <p:cNvSpPr txBox="1"/>
          <p:nvPr/>
        </p:nvSpPr>
        <p:spPr>
          <a:xfrm>
            <a:off x="6400800" y="4114800"/>
            <a:ext cx="219456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17431F"/>
                </a:solidFill>
                <a:latin typeface="Calibri" pitchFamily="34" charset="0"/>
                <a:ea typeface="Calibri" pitchFamily="34" charset="-122"/>
                <a:cs typeface="Calibri" pitchFamily="34" charset="-120"/>
              </a:rPr>
              <a:t>Ballot platform</a:t>
            </a:r>
            <a:endParaRPr lang="en-US" sz="1000" dirty="0"/>
          </a:p>
          <a:p>
            <a:pPr algn="ctr" indent="0" marL="0">
              <a:lnSpc>
                <a:spcPct val="104000"/>
              </a:lnSpc>
              <a:buNone/>
            </a:pPr>
            <a:r>
              <a:rPr lang="en-US" sz="760" dirty="0">
                <a:solidFill>
                  <a:srgbClr val="17431F"/>
                </a:solidFill>
                <a:latin typeface="Calibri" pitchFamily="34" charset="0"/>
                <a:ea typeface="Calibri" pitchFamily="34" charset="-122"/>
                <a:cs typeface="Calibri" pitchFamily="34" charset="-120"/>
              </a:rPr>
              <a:t>an interface — today a written instruction file</a:t>
            </a:r>
            <a:endParaRPr lang="en-US" sz="1000" dirty="0"/>
          </a:p>
        </p:txBody>
      </p:sp>
      <p:sp>
        <p:nvSpPr>
          <p:cNvPr id="43" name="Shape 32"/>
          <p:cNvSpPr/>
          <p:nvPr/>
        </p:nvSpPr>
        <p:spPr>
          <a:xfrm>
            <a:off x="5943600" y="4370832"/>
            <a:ext cx="310896" cy="0"/>
          </a:xfrm>
          <a:prstGeom prst="line">
            <a:avLst/>
          </a:prstGeom>
          <a:noFill/>
          <a:ln w="17780">
            <a:solidFill>
              <a:srgbClr val="2F8F48"/>
            </a:solidFill>
            <a:prstDash val="solid"/>
            <a:headEnd type="none"/>
            <a:tailEnd type="triangle"/>
          </a:ln>
        </p:spPr>
      </p:sp>
      <p:sp>
        <p:nvSpPr>
          <p:cNvPr id="44" name="Shape 33"/>
          <p:cNvSpPr/>
          <p:nvPr/>
        </p:nvSpPr>
        <p:spPr>
          <a:xfrm>
            <a:off x="9052560" y="4114800"/>
            <a:ext cx="2542032" cy="502920"/>
          </a:xfrm>
          <a:prstGeom prst="roundRect">
            <a:avLst>
              <a:gd name="adj" fmla="val 18182"/>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45" name="Image 9" descr="preencoded.png">    </p:cNvPr>
          <p:cNvPicPr>
            <a:picLocks noChangeAspect="1"/>
          </p:cNvPicPr>
          <p:nvPr/>
        </p:nvPicPr>
        <p:blipFill>
          <a:blip r:embed="rId10"/>
          <a:stretch>
            <a:fillRect/>
          </a:stretch>
        </p:blipFill>
        <p:spPr>
          <a:xfrm>
            <a:off x="9171432" y="4215384"/>
            <a:ext cx="146304" cy="146304"/>
          </a:xfrm>
          <a:prstGeom prst="rect">
            <a:avLst/>
          </a:prstGeom>
        </p:spPr>
      </p:pic>
      <p:sp>
        <p:nvSpPr>
          <p:cNvPr id="46" name="Text 34"/>
          <p:cNvSpPr txBox="1"/>
          <p:nvPr/>
        </p:nvSpPr>
        <p:spPr>
          <a:xfrm>
            <a:off x="9144000" y="4114800"/>
            <a:ext cx="2359152"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17431F"/>
                </a:solidFill>
                <a:latin typeface="Calibri" pitchFamily="34" charset="0"/>
                <a:ea typeface="Calibri" pitchFamily="34" charset="-122"/>
                <a:cs typeface="Calibri" pitchFamily="34" charset="-120"/>
              </a:rPr>
              <a:t>cast_confirmations.jsonl</a:t>
            </a:r>
            <a:endParaRPr lang="en-US" sz="1000" dirty="0"/>
          </a:p>
          <a:p>
            <a:pPr algn="ctr" indent="0" marL="0">
              <a:lnSpc>
                <a:spcPct val="104000"/>
              </a:lnSpc>
              <a:buNone/>
            </a:pPr>
            <a:r>
              <a:rPr lang="en-US" sz="760" dirty="0">
                <a:solidFill>
                  <a:srgbClr val="17431F"/>
                </a:solidFill>
                <a:latin typeface="Calibri" pitchFamily="34" charset="0"/>
                <a:ea typeface="Calibri" pitchFamily="34" charset="-122"/>
                <a:cs typeface="Calibri" pitchFamily="34" charset="-120"/>
              </a:rPr>
              <a:t>skip-on-rerun, no double casting</a:t>
            </a:r>
            <a:endParaRPr lang="en-US" sz="1000" dirty="0"/>
          </a:p>
        </p:txBody>
      </p:sp>
      <p:sp>
        <p:nvSpPr>
          <p:cNvPr id="47" name="Shape 35"/>
          <p:cNvSpPr/>
          <p:nvPr/>
        </p:nvSpPr>
        <p:spPr>
          <a:xfrm>
            <a:off x="8723376" y="4370832"/>
            <a:ext cx="274320" cy="0"/>
          </a:xfrm>
          <a:prstGeom prst="line">
            <a:avLst/>
          </a:prstGeom>
          <a:noFill/>
          <a:ln w="17780">
            <a:solidFill>
              <a:srgbClr val="2F8F48"/>
            </a:solidFill>
            <a:prstDash val="solid"/>
            <a:headEnd type="none"/>
            <a:tailEnd type="triangle"/>
          </a:ln>
        </p:spPr>
      </p:sp>
      <p:sp>
        <p:nvSpPr>
          <p:cNvPr id="48" name="Text 36"/>
          <p:cNvSpPr txBox="1"/>
          <p:nvPr/>
        </p:nvSpPr>
        <p:spPr>
          <a:xfrm>
            <a:off x="822960" y="4681728"/>
            <a:ext cx="2148840" cy="201168"/>
          </a:xfrm>
          <a:prstGeom prst="rect">
            <a:avLst/>
          </a:prstGeom>
          <a:noFill/>
          <a:ln/>
        </p:spPr>
        <p:txBody>
          <a:bodyPr wrap="square" lIns="0" tIns="0" rIns="0" bIns="0" rtlCol="0" anchor="ctr"/>
          <a:lstStyle/>
          <a:p>
            <a:pPr algn="ctr" indent="0" marL="0">
              <a:buNone/>
            </a:pPr>
            <a:r>
              <a:rPr lang="en-US" sz="800" i="1" dirty="0">
                <a:solidFill>
                  <a:srgbClr val="CE3D64"/>
                </a:solidFill>
                <a:latin typeface="Calibri" pitchFamily="34" charset="0"/>
                <a:ea typeface="Calibri" pitchFamily="34" charset="-122"/>
                <a:cs typeface="Calibri" pitchFamily="34" charset="-120"/>
              </a:rPr>
              <a:t>no</a:t>
            </a:r>
            <a:endParaRPr lang="en-US" sz="800" dirty="0"/>
          </a:p>
        </p:txBody>
      </p:sp>
      <p:sp>
        <p:nvSpPr>
          <p:cNvPr id="49" name="Text 37"/>
          <p:cNvSpPr txBox="1"/>
          <p:nvPr/>
        </p:nvSpPr>
        <p:spPr>
          <a:xfrm>
            <a:off x="5943600" y="4681728"/>
            <a:ext cx="457200" cy="201168"/>
          </a:xfrm>
          <a:prstGeom prst="rect">
            <a:avLst/>
          </a:prstGeom>
          <a:noFill/>
          <a:ln/>
        </p:spPr>
        <p:txBody>
          <a:bodyPr wrap="square" lIns="0" tIns="0" rIns="0" bIns="0" rtlCol="0" anchor="ctr"/>
          <a:lstStyle/>
          <a:p>
            <a:pPr algn="ctr" indent="0" marL="0">
              <a:buNone/>
            </a:pPr>
            <a:r>
              <a:rPr lang="en-US" sz="800" i="1" dirty="0">
                <a:solidFill>
                  <a:srgbClr val="2F8F48"/>
                </a:solidFill>
                <a:latin typeface="Calibri" pitchFamily="34" charset="0"/>
                <a:ea typeface="Calibri" pitchFamily="34" charset="-122"/>
                <a:cs typeface="Calibri" pitchFamily="34" charset="-120"/>
              </a:rPr>
              <a:t>yes</a:t>
            </a:r>
            <a:endParaRPr lang="en-US" sz="800" dirty="0"/>
          </a:p>
        </p:txBody>
      </p:sp>
      <p:sp>
        <p:nvSpPr>
          <p:cNvPr id="50" name="Shape 38"/>
          <p:cNvSpPr/>
          <p:nvPr/>
        </p:nvSpPr>
        <p:spPr>
          <a:xfrm>
            <a:off x="9235440" y="2926080"/>
            <a:ext cx="2359152" cy="685800"/>
          </a:xfrm>
          <a:prstGeom prst="can">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51" name="Text 39"/>
          <p:cNvSpPr txBox="1"/>
          <p:nvPr/>
        </p:nvSpPr>
        <p:spPr>
          <a:xfrm>
            <a:off x="9326880" y="2926080"/>
            <a:ext cx="2176272" cy="685800"/>
          </a:xfrm>
          <a:prstGeom prst="rect">
            <a:avLst/>
          </a:prstGeom>
          <a:noFill/>
          <a:ln/>
        </p:spPr>
        <p:txBody>
          <a:bodyPr wrap="square" lIns="0" tIns="0" rIns="0" bIns="0" rtlCol="0" anchor="ctr"/>
          <a:lstStyle/>
          <a:p>
            <a:pPr algn="ctr" indent="0" marL="0">
              <a:lnSpc>
                <a:spcPct val="104000"/>
              </a:lnSpc>
              <a:buNone/>
            </a:pPr>
            <a:r>
              <a:rPr lang="en-US" sz="950" b="1" dirty="0">
                <a:solidFill>
                  <a:srgbClr val="17431F"/>
                </a:solidFill>
                <a:latin typeface="Calibri" pitchFamily="34" charset="0"/>
                <a:ea typeface="Calibri" pitchFamily="34" charset="-122"/>
                <a:cs typeface="Calibri" pitchFamily="34" charset="-120"/>
              </a:rPr>
              <a:t>Engagement record</a:t>
            </a:r>
            <a:endParaRPr lang="en-US" sz="950" dirty="0"/>
          </a:p>
          <a:p>
            <a:pPr algn="ctr" indent="0" marL="0">
              <a:lnSpc>
                <a:spcPct val="104000"/>
              </a:lnSpc>
              <a:buNone/>
            </a:pPr>
            <a:r>
              <a:rPr lang="en-US" sz="760" dirty="0">
                <a:solidFill>
                  <a:srgbClr val="17431F"/>
                </a:solidFill>
                <a:latin typeface="Calibri" pitchFamily="34" charset="0"/>
                <a:ea typeface="Calibri" pitchFamily="34" charset="-122"/>
                <a:cs typeface="Calibri" pitchFamily="34" charset="-120"/>
              </a:rPr>
              <a:t>shared with function 09</a:t>
            </a:r>
            <a:endParaRPr lang="en-US" sz="950" dirty="0"/>
          </a:p>
        </p:txBody>
      </p:sp>
      <p:sp>
        <p:nvSpPr>
          <p:cNvPr id="52" name="Shape 40"/>
          <p:cNvSpPr/>
          <p:nvPr/>
        </p:nvSpPr>
        <p:spPr>
          <a:xfrm flipV="1">
            <a:off x="10424160" y="2395728"/>
            <a:ext cx="210312" cy="493776"/>
          </a:xfrm>
          <a:prstGeom prst="line">
            <a:avLst/>
          </a:prstGeom>
          <a:noFill/>
          <a:ln w="16510">
            <a:solidFill>
              <a:srgbClr val="2F8F48"/>
            </a:solidFill>
            <a:prstDash val="dash"/>
            <a:headEnd type="none"/>
            <a:tailEnd type="triangle"/>
          </a:ln>
        </p:spPr>
      </p:sp>
      <p:sp>
        <p:nvSpPr>
          <p:cNvPr id="53" name="Shape 41"/>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54" name="Text 42"/>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55" name="Text 43"/>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arp/voting/{pipeline,ballot_graph}.py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arp/voting/{proposal_agent,policy_agent}.py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arp/voting/ballot_casting.py — BallotPlatform interface</a:t>
            </a:r>
            <a:endParaRPr lang="en-US" sz="860" dirty="0"/>
          </a:p>
        </p:txBody>
      </p:sp>
      <p:sp>
        <p:nvSpPr>
          <p:cNvPr id="56" name="Shape 44"/>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57" name="Text 45"/>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8" name="Text 46"/>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company universe + available proxy statements,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house policy rules.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VoteRecord per proposal, through to a cast confirmation.</a:t>
            </a:r>
            <a:endParaRPr lang="en-US" sz="860" dirty="0"/>
          </a:p>
        </p:txBody>
      </p:sp>
      <p:sp>
        <p:nvSpPr>
          <p:cNvPr id="59" name="Shape 47"/>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60" name="Text 48"/>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61" name="Text 49"/>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cast_vote raises CastVoteError without a human decision.</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Casting is idempotent and checkpointed per item.</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 company with no proxy statement yields an empty ballot, plainly.</a:t>
            </a:r>
            <a:endParaRPr lang="en-US" sz="8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11   ·   INVESTMENT STRATEGY REPLICATION</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Does the paper's edge survive?</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An academic outperformance claim reduced to an executable spec, then backtested in-sample and out-of-sample under identical rules.</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594360" y="1463040"/>
            <a:ext cx="2788920" cy="201168"/>
          </a:xfrm>
          <a:prstGeom prst="rect">
            <a:avLst/>
          </a:prstGeom>
          <a:noFill/>
          <a:ln/>
        </p:spPr>
        <p:txBody>
          <a:bodyPr wrap="square" lIns="0" tIns="0" rIns="0" bIns="0" rtlCol="0" anchor="ctr"/>
          <a:lstStyle/>
          <a:p>
            <a:pPr algn="ctr" indent="0" marL="0">
              <a:buNone/>
            </a:pPr>
            <a:r>
              <a:rPr lang="en-US" sz="900" b="1" spc="140" kern="0" dirty="0">
                <a:solidFill>
                  <a:srgbClr val="2F6FD0"/>
                </a:solidFill>
                <a:latin typeface="Calibri" pitchFamily="34" charset="0"/>
                <a:ea typeface="Calibri" pitchFamily="34" charset="-122"/>
                <a:cs typeface="Calibri" pitchFamily="34" charset="-120"/>
              </a:rPr>
              <a:t>INPUTS</a:t>
            </a:r>
            <a:endParaRPr lang="en-US" sz="900" dirty="0"/>
          </a:p>
        </p:txBody>
      </p:sp>
      <p:sp>
        <p:nvSpPr>
          <p:cNvPr id="8" name="Text 5"/>
          <p:cNvSpPr txBox="1"/>
          <p:nvPr/>
        </p:nvSpPr>
        <p:spPr>
          <a:xfrm>
            <a:off x="8321040" y="1463040"/>
            <a:ext cx="3273552" cy="201168"/>
          </a:xfrm>
          <a:prstGeom prst="rect">
            <a:avLst/>
          </a:prstGeom>
          <a:noFill/>
          <a:ln/>
        </p:spPr>
        <p:txBody>
          <a:bodyPr wrap="square" lIns="0" tIns="0" rIns="0" bIns="0" rtlCol="0" anchor="ctr"/>
          <a:lstStyle/>
          <a:p>
            <a:pPr algn="ctr" indent="0" marL="0">
              <a:buNone/>
            </a:pPr>
            <a:r>
              <a:rPr lang="en-US" sz="900" b="1" spc="140" kern="0" dirty="0">
                <a:solidFill>
                  <a:srgbClr val="2F8F48"/>
                </a:solidFill>
                <a:latin typeface="Calibri" pitchFamily="34" charset="0"/>
                <a:ea typeface="Calibri" pitchFamily="34" charset="-122"/>
                <a:cs typeface="Calibri" pitchFamily="34" charset="-120"/>
              </a:rPr>
              <a:t>OUTPUTS</a:t>
            </a:r>
            <a:endParaRPr lang="en-US" sz="900" dirty="0"/>
          </a:p>
        </p:txBody>
      </p:sp>
      <p:sp>
        <p:nvSpPr>
          <p:cNvPr id="9" name="Shape 6"/>
          <p:cNvSpPr/>
          <p:nvPr/>
        </p:nvSpPr>
        <p:spPr>
          <a:xfrm>
            <a:off x="594360" y="1719072"/>
            <a:ext cx="2788920" cy="713232"/>
          </a:xfrm>
          <a:prstGeom prst="roundRect">
            <a:avLst>
              <a:gd name="adj" fmla="val 12821"/>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10" name="Shape 7"/>
          <p:cNvSpPr/>
          <p:nvPr/>
        </p:nvSpPr>
        <p:spPr>
          <a:xfrm>
            <a:off x="731520" y="1883664"/>
            <a:ext cx="384048" cy="384048"/>
          </a:xfrm>
          <a:prstGeom prst="roundRect">
            <a:avLst>
              <a:gd name="adj" fmla="val 23810"/>
            </a:avLst>
          </a:prstGeom>
          <a:solidFill>
            <a:srgbClr val="2F6FD0"/>
          </a:solidFill>
          <a:ln/>
        </p:spPr>
      </p:sp>
      <p:pic>
        <p:nvPicPr>
          <p:cNvPr id="11" name="Image 1" descr="preencoded.png">    </p:cNvPr>
          <p:cNvPicPr>
            <a:picLocks noChangeAspect="1"/>
          </p:cNvPicPr>
          <p:nvPr/>
        </p:nvPicPr>
        <p:blipFill>
          <a:blip r:embed="rId2"/>
          <a:stretch>
            <a:fillRect/>
          </a:stretch>
        </p:blipFill>
        <p:spPr>
          <a:xfrm>
            <a:off x="816011" y="1968155"/>
            <a:ext cx="215067" cy="215067"/>
          </a:xfrm>
          <a:prstGeom prst="rect">
            <a:avLst/>
          </a:prstGeom>
        </p:spPr>
      </p:pic>
      <p:sp>
        <p:nvSpPr>
          <p:cNvPr id="12" name="Text 8"/>
          <p:cNvSpPr txBox="1"/>
          <p:nvPr/>
        </p:nvSpPr>
        <p:spPr>
          <a:xfrm>
            <a:off x="1252728" y="1719072"/>
            <a:ext cx="2020824"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53A61"/>
                </a:solidFill>
                <a:latin typeface="Calibri" pitchFamily="34" charset="0"/>
                <a:ea typeface="Calibri" pitchFamily="34" charset="-122"/>
                <a:cs typeface="Calibri" pitchFamily="34" charset="-120"/>
              </a:rPr>
              <a:t>Strategy paper</a:t>
            </a:r>
            <a:endParaRPr lang="en-US" sz="1050" dirty="0"/>
          </a:p>
          <a:p>
            <a:pPr algn="l" indent="0" marL="0">
              <a:lnSpc>
                <a:spcPct val="104000"/>
              </a:lnSpc>
              <a:buNone/>
            </a:pPr>
            <a:r>
              <a:rPr lang="en-US" sz="800" dirty="0">
                <a:solidFill>
                  <a:srgbClr val="153A61"/>
                </a:solidFill>
                <a:latin typeface="Calibri" pitchFamily="34" charset="0"/>
                <a:ea typeface="Calibri" pitchFamily="34" charset="-122"/>
                <a:cs typeface="Calibri" pitchFamily="34" charset="-120"/>
              </a:rPr>
              <a:t>momentum, value, quality — or one the discovery pass proposed</a:t>
            </a:r>
            <a:endParaRPr lang="en-US" sz="1050" dirty="0"/>
          </a:p>
        </p:txBody>
      </p:sp>
      <p:sp>
        <p:nvSpPr>
          <p:cNvPr id="13" name="Shape 9"/>
          <p:cNvSpPr/>
          <p:nvPr/>
        </p:nvSpPr>
        <p:spPr>
          <a:xfrm>
            <a:off x="3429000" y="2075688"/>
            <a:ext cx="219456" cy="1234440"/>
          </a:xfrm>
          <a:prstGeom prst="line">
            <a:avLst/>
          </a:prstGeom>
          <a:noFill/>
          <a:ln w="16510">
            <a:solidFill>
              <a:srgbClr val="2F6FD0"/>
            </a:solidFill>
            <a:prstDash val="solid"/>
            <a:headEnd type="none"/>
            <a:tailEnd type="triangle"/>
          </a:ln>
        </p:spPr>
      </p:sp>
      <p:sp>
        <p:nvSpPr>
          <p:cNvPr id="14" name="Shape 10"/>
          <p:cNvSpPr/>
          <p:nvPr/>
        </p:nvSpPr>
        <p:spPr>
          <a:xfrm>
            <a:off x="594360" y="2633472"/>
            <a:ext cx="2788920" cy="713232"/>
          </a:xfrm>
          <a:prstGeom prst="roundRect">
            <a:avLst>
              <a:gd name="adj" fmla="val 12821"/>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15" name="Shape 11"/>
          <p:cNvSpPr/>
          <p:nvPr/>
        </p:nvSpPr>
        <p:spPr>
          <a:xfrm>
            <a:off x="731520" y="2798064"/>
            <a:ext cx="384048" cy="384048"/>
          </a:xfrm>
          <a:prstGeom prst="roundRect">
            <a:avLst>
              <a:gd name="adj" fmla="val 23810"/>
            </a:avLst>
          </a:prstGeom>
          <a:solidFill>
            <a:srgbClr val="2F6FD0"/>
          </a:solidFill>
          <a:ln/>
        </p:spPr>
      </p:sp>
      <p:pic>
        <p:nvPicPr>
          <p:cNvPr id="16" name="Image 2" descr="preencoded.png">    </p:cNvPr>
          <p:cNvPicPr>
            <a:picLocks noChangeAspect="1"/>
          </p:cNvPicPr>
          <p:nvPr/>
        </p:nvPicPr>
        <p:blipFill>
          <a:blip r:embed="rId3"/>
          <a:stretch>
            <a:fillRect/>
          </a:stretch>
        </p:blipFill>
        <p:spPr>
          <a:xfrm>
            <a:off x="816011" y="2882555"/>
            <a:ext cx="215067" cy="215067"/>
          </a:xfrm>
          <a:prstGeom prst="rect">
            <a:avLst/>
          </a:prstGeom>
        </p:spPr>
      </p:pic>
      <p:sp>
        <p:nvSpPr>
          <p:cNvPr id="17" name="Text 12"/>
          <p:cNvSpPr txBox="1"/>
          <p:nvPr/>
        </p:nvSpPr>
        <p:spPr>
          <a:xfrm>
            <a:off x="1252728" y="2633472"/>
            <a:ext cx="2020824"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53A61"/>
                </a:solidFill>
                <a:latin typeface="Calibri" pitchFamily="34" charset="0"/>
                <a:ea typeface="Calibri" pitchFamily="34" charset="-122"/>
                <a:cs typeface="Calibri" pitchFamily="34" charset="-120"/>
              </a:rPr>
              <a:t>Price data</a:t>
            </a:r>
            <a:endParaRPr lang="en-US" sz="1050" dirty="0"/>
          </a:p>
          <a:p>
            <a:pPr algn="l" indent="0" marL="0">
              <a:lnSpc>
                <a:spcPct val="104000"/>
              </a:lnSpc>
              <a:buNone/>
            </a:pPr>
            <a:r>
              <a:rPr lang="en-US" sz="800" dirty="0">
                <a:solidFill>
                  <a:srgbClr val="153A61"/>
                </a:solidFill>
                <a:latin typeface="Calibri" pitchFamily="34" charset="0"/>
                <a:ea typeface="Calibri" pitchFamily="34" charset="-122"/>
                <a:cs typeface="Calibri" pitchFamily="34" charset="-120"/>
              </a:rPr>
              <a:t>a pluggable adapter, the only source a momentum spec needs</a:t>
            </a:r>
            <a:endParaRPr lang="en-US" sz="1050" dirty="0"/>
          </a:p>
        </p:txBody>
      </p:sp>
      <p:sp>
        <p:nvSpPr>
          <p:cNvPr id="18" name="Shape 13"/>
          <p:cNvSpPr/>
          <p:nvPr/>
        </p:nvSpPr>
        <p:spPr>
          <a:xfrm>
            <a:off x="3429000" y="2990088"/>
            <a:ext cx="219456" cy="320040"/>
          </a:xfrm>
          <a:prstGeom prst="line">
            <a:avLst/>
          </a:prstGeom>
          <a:noFill/>
          <a:ln w="16510">
            <a:solidFill>
              <a:srgbClr val="2F6FD0"/>
            </a:solidFill>
            <a:prstDash val="solid"/>
            <a:headEnd type="none"/>
            <a:tailEnd type="triangle"/>
          </a:ln>
        </p:spPr>
      </p:sp>
      <p:sp>
        <p:nvSpPr>
          <p:cNvPr id="19" name="Shape 14"/>
          <p:cNvSpPr/>
          <p:nvPr/>
        </p:nvSpPr>
        <p:spPr>
          <a:xfrm>
            <a:off x="594360" y="3547872"/>
            <a:ext cx="2788920" cy="713232"/>
          </a:xfrm>
          <a:prstGeom prst="roundRect">
            <a:avLst>
              <a:gd name="adj" fmla="val 12821"/>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20" name="Shape 15"/>
          <p:cNvSpPr/>
          <p:nvPr/>
        </p:nvSpPr>
        <p:spPr>
          <a:xfrm>
            <a:off x="731520" y="3712464"/>
            <a:ext cx="384048" cy="384048"/>
          </a:xfrm>
          <a:prstGeom prst="roundRect">
            <a:avLst>
              <a:gd name="adj" fmla="val 23810"/>
            </a:avLst>
          </a:prstGeom>
          <a:solidFill>
            <a:srgbClr val="2F6FD0"/>
          </a:solidFill>
          <a:ln/>
        </p:spPr>
      </p:sp>
      <p:pic>
        <p:nvPicPr>
          <p:cNvPr id="21" name="Image 3" descr="preencoded.png">    </p:cNvPr>
          <p:cNvPicPr>
            <a:picLocks noChangeAspect="1"/>
          </p:cNvPicPr>
          <p:nvPr/>
        </p:nvPicPr>
        <p:blipFill>
          <a:blip r:embed="rId4"/>
          <a:stretch>
            <a:fillRect/>
          </a:stretch>
        </p:blipFill>
        <p:spPr>
          <a:xfrm>
            <a:off x="816011" y="3796955"/>
            <a:ext cx="215067" cy="215067"/>
          </a:xfrm>
          <a:prstGeom prst="rect">
            <a:avLst/>
          </a:prstGeom>
        </p:spPr>
      </p:pic>
      <p:sp>
        <p:nvSpPr>
          <p:cNvPr id="22" name="Text 16"/>
          <p:cNvSpPr txBox="1"/>
          <p:nvPr/>
        </p:nvSpPr>
        <p:spPr>
          <a:xfrm>
            <a:off x="1252728" y="3547872"/>
            <a:ext cx="2020824"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53A61"/>
                </a:solidFill>
                <a:latin typeface="Calibri" pitchFamily="34" charset="0"/>
                <a:ea typeface="Calibri" pitchFamily="34" charset="-122"/>
                <a:cs typeface="Calibri" pitchFamily="34" charset="-120"/>
              </a:rPr>
              <a:t>Characteristics data</a:t>
            </a:r>
            <a:endParaRPr lang="en-US" sz="1050" dirty="0"/>
          </a:p>
          <a:p>
            <a:pPr algn="l" indent="0" marL="0">
              <a:lnSpc>
                <a:spcPct val="104000"/>
              </a:lnSpc>
              <a:buNone/>
            </a:pPr>
            <a:r>
              <a:rPr lang="en-US" sz="800" dirty="0">
                <a:solidFill>
                  <a:srgbClr val="153A61"/>
                </a:solidFill>
                <a:latin typeface="Calibri" pitchFamily="34" charset="0"/>
                <a:ea typeface="Calibri" pitchFamily="34" charset="-122"/>
                <a:cs typeface="Calibri" pitchFamily="34" charset="-120"/>
              </a:rPr>
              <a:t>book-to-market and the like, lagged behind the ranking month</a:t>
            </a:r>
            <a:endParaRPr lang="en-US" sz="1050" dirty="0"/>
          </a:p>
        </p:txBody>
      </p:sp>
      <p:sp>
        <p:nvSpPr>
          <p:cNvPr id="23" name="Shape 17"/>
          <p:cNvSpPr/>
          <p:nvPr/>
        </p:nvSpPr>
        <p:spPr>
          <a:xfrm flipV="1">
            <a:off x="3429000" y="3310128"/>
            <a:ext cx="219456" cy="594360"/>
          </a:xfrm>
          <a:prstGeom prst="line">
            <a:avLst/>
          </a:prstGeom>
          <a:noFill/>
          <a:ln w="16510">
            <a:solidFill>
              <a:srgbClr val="2F6FD0"/>
            </a:solidFill>
            <a:prstDash val="solid"/>
            <a:headEnd type="none"/>
            <a:tailEnd type="triangle"/>
          </a:ln>
        </p:spPr>
      </p:sp>
      <p:sp>
        <p:nvSpPr>
          <p:cNvPr id="24" name="Shape 18"/>
          <p:cNvSpPr/>
          <p:nvPr/>
        </p:nvSpPr>
        <p:spPr>
          <a:xfrm>
            <a:off x="594360" y="4462272"/>
            <a:ext cx="2788920" cy="713232"/>
          </a:xfrm>
          <a:prstGeom prst="roundRect">
            <a:avLst>
              <a:gd name="adj" fmla="val 12821"/>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25" name="Shape 19"/>
          <p:cNvSpPr/>
          <p:nvPr/>
        </p:nvSpPr>
        <p:spPr>
          <a:xfrm>
            <a:off x="731520" y="4626864"/>
            <a:ext cx="384048" cy="384048"/>
          </a:xfrm>
          <a:prstGeom prst="roundRect">
            <a:avLst>
              <a:gd name="adj" fmla="val 23810"/>
            </a:avLst>
          </a:prstGeom>
          <a:solidFill>
            <a:srgbClr val="6D4DD1"/>
          </a:solidFill>
          <a:ln/>
        </p:spPr>
      </p:sp>
      <p:pic>
        <p:nvPicPr>
          <p:cNvPr id="26" name="Image 4" descr="preencoded.png">    </p:cNvPr>
          <p:cNvPicPr>
            <a:picLocks noChangeAspect="1"/>
          </p:cNvPicPr>
          <p:nvPr/>
        </p:nvPicPr>
        <p:blipFill>
          <a:blip r:embed="rId5"/>
          <a:stretch>
            <a:fillRect/>
          </a:stretch>
        </p:blipFill>
        <p:spPr>
          <a:xfrm>
            <a:off x="816011" y="4711355"/>
            <a:ext cx="215067" cy="215067"/>
          </a:xfrm>
          <a:prstGeom prst="rect">
            <a:avLst/>
          </a:prstGeom>
        </p:spPr>
      </p:pic>
      <p:sp>
        <p:nvSpPr>
          <p:cNvPr id="27" name="Text 20"/>
          <p:cNvSpPr txBox="1"/>
          <p:nvPr/>
        </p:nvSpPr>
        <p:spPr>
          <a:xfrm>
            <a:off x="1252728" y="4462272"/>
            <a:ext cx="2020824" cy="713232"/>
          </a:xfrm>
          <a:prstGeom prst="rect">
            <a:avLst/>
          </a:prstGeom>
          <a:noFill/>
          <a:ln/>
        </p:spPr>
        <p:txBody>
          <a:bodyPr wrap="square" lIns="0" tIns="0" rIns="0" bIns="0" rtlCol="0" anchor="ctr"/>
          <a:lstStyle/>
          <a:p>
            <a:pPr algn="l" indent="0" marL="0">
              <a:lnSpc>
                <a:spcPct val="104000"/>
              </a:lnSpc>
              <a:buNone/>
            </a:pPr>
            <a:r>
              <a:rPr lang="en-US" sz="1050" b="1" dirty="0">
                <a:solidFill>
                  <a:srgbClr val="35236E"/>
                </a:solidFill>
                <a:latin typeface="Calibri" pitchFamily="34" charset="0"/>
                <a:ea typeface="Calibri" pitchFamily="34" charset="-122"/>
                <a:cs typeface="Calibri" pitchFamily="34" charset="-120"/>
              </a:rPr>
              <a:t>News &amp; transcripts</a:t>
            </a:r>
            <a:endParaRPr lang="en-US" sz="105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scored for sentiment with no hindsight past the document's own date</a:t>
            </a:r>
            <a:endParaRPr lang="en-US" sz="1050" dirty="0"/>
          </a:p>
        </p:txBody>
      </p:sp>
      <p:sp>
        <p:nvSpPr>
          <p:cNvPr id="28" name="Shape 21"/>
          <p:cNvSpPr/>
          <p:nvPr/>
        </p:nvSpPr>
        <p:spPr>
          <a:xfrm flipV="1">
            <a:off x="3429000" y="3310128"/>
            <a:ext cx="219456" cy="1508760"/>
          </a:xfrm>
          <a:prstGeom prst="line">
            <a:avLst/>
          </a:prstGeom>
          <a:noFill/>
          <a:ln w="16510">
            <a:solidFill>
              <a:srgbClr val="2F6FD0"/>
            </a:solidFill>
            <a:prstDash val="solid"/>
            <a:headEnd type="none"/>
            <a:tailEnd type="triangle"/>
          </a:ln>
        </p:spPr>
      </p:sp>
      <p:sp>
        <p:nvSpPr>
          <p:cNvPr id="29" name="Shape 22"/>
          <p:cNvSpPr/>
          <p:nvPr/>
        </p:nvSpPr>
        <p:spPr>
          <a:xfrm>
            <a:off x="3703320" y="1627632"/>
            <a:ext cx="3977640" cy="3529584"/>
          </a:xfrm>
          <a:prstGeom prst="roundRect">
            <a:avLst>
              <a:gd name="adj" fmla="val 1036"/>
            </a:avLst>
          </a:prstGeom>
          <a:solidFill>
            <a:srgbClr val="F7FAFC"/>
          </a:solidFill>
          <a:ln w="15875">
            <a:solidFill>
              <a:srgbClr val="9FB2C4"/>
            </a:solidFill>
            <a:prstDash val="dash"/>
          </a:ln>
        </p:spPr>
      </p:sp>
      <p:sp>
        <p:nvSpPr>
          <p:cNvPr id="30" name="Shape 23"/>
          <p:cNvSpPr/>
          <p:nvPr/>
        </p:nvSpPr>
        <p:spPr>
          <a:xfrm>
            <a:off x="3849624" y="1508760"/>
            <a:ext cx="1770278" cy="274320"/>
          </a:xfrm>
          <a:prstGeom prst="roundRect">
            <a:avLst>
              <a:gd name="adj" fmla="val 50000"/>
            </a:avLst>
          </a:prstGeom>
          <a:solidFill>
            <a:srgbClr val="64798F"/>
          </a:solidFill>
          <a:ln/>
        </p:spPr>
      </p:sp>
      <p:pic>
        <p:nvPicPr>
          <p:cNvPr id="31" name="Image 5" descr="preencoded.png">    </p:cNvPr>
          <p:cNvPicPr>
            <a:picLocks noChangeAspect="1"/>
          </p:cNvPicPr>
          <p:nvPr/>
        </p:nvPicPr>
        <p:blipFill>
          <a:blip r:embed="rId6"/>
          <a:stretch>
            <a:fillRect/>
          </a:stretch>
        </p:blipFill>
        <p:spPr>
          <a:xfrm>
            <a:off x="3968496" y="1577340"/>
            <a:ext cx="132588" cy="132588"/>
          </a:xfrm>
          <a:prstGeom prst="rect">
            <a:avLst/>
          </a:prstGeom>
        </p:spPr>
      </p:pic>
      <p:sp>
        <p:nvSpPr>
          <p:cNvPr id="32" name="Text 24"/>
          <p:cNvSpPr txBox="1"/>
          <p:nvPr/>
        </p:nvSpPr>
        <p:spPr>
          <a:xfrm>
            <a:off x="4123944" y="1508760"/>
            <a:ext cx="1495958"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REPLICATION ENGINE</a:t>
            </a:r>
            <a:endParaRPr lang="en-US" sz="850" dirty="0"/>
          </a:p>
        </p:txBody>
      </p:sp>
      <p:sp>
        <p:nvSpPr>
          <p:cNvPr id="33" name="Shape 25"/>
          <p:cNvSpPr/>
          <p:nvPr/>
        </p:nvSpPr>
        <p:spPr>
          <a:xfrm>
            <a:off x="3977640" y="2029968"/>
            <a:ext cx="3429000" cy="566928"/>
          </a:xfrm>
          <a:prstGeom prst="roundRect">
            <a:avLst>
              <a:gd name="adj" fmla="val 16129"/>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4" name="Shape 26"/>
          <p:cNvSpPr/>
          <p:nvPr/>
        </p:nvSpPr>
        <p:spPr>
          <a:xfrm>
            <a:off x="4114800" y="2167128"/>
            <a:ext cx="292608" cy="292608"/>
          </a:xfrm>
          <a:prstGeom prst="roundRect">
            <a:avLst>
              <a:gd name="adj" fmla="val 31250"/>
            </a:avLst>
          </a:prstGeom>
          <a:solidFill>
            <a:srgbClr val="6D4DD1"/>
          </a:solidFill>
          <a:ln/>
        </p:spPr>
      </p:sp>
      <p:pic>
        <p:nvPicPr>
          <p:cNvPr id="35" name="Image 6" descr="preencoded.png">    </p:cNvPr>
          <p:cNvPicPr>
            <a:picLocks noChangeAspect="1"/>
          </p:cNvPicPr>
          <p:nvPr/>
        </p:nvPicPr>
        <p:blipFill>
          <a:blip r:embed="rId7"/>
          <a:stretch>
            <a:fillRect/>
          </a:stretch>
        </p:blipFill>
        <p:spPr>
          <a:xfrm>
            <a:off x="4179174" y="2231502"/>
            <a:ext cx="163860" cy="163860"/>
          </a:xfrm>
          <a:prstGeom prst="rect">
            <a:avLst/>
          </a:prstGeom>
        </p:spPr>
      </p:pic>
      <p:sp>
        <p:nvSpPr>
          <p:cNvPr id="36" name="Text 27"/>
          <p:cNvSpPr txBox="1"/>
          <p:nvPr/>
        </p:nvSpPr>
        <p:spPr>
          <a:xfrm>
            <a:off x="4544568" y="2029968"/>
            <a:ext cx="2752344" cy="566928"/>
          </a:xfrm>
          <a:prstGeom prst="rect">
            <a:avLst/>
          </a:prstGeom>
          <a:noFill/>
          <a:ln/>
        </p:spPr>
        <p:txBody>
          <a:bodyPr wrap="square" lIns="0" tIns="0" rIns="0" bIns="0" rtlCol="0" anchor="ctr"/>
          <a:lstStyle/>
          <a:p>
            <a:pPr algn="l" indent="0" marL="0">
              <a:lnSpc>
                <a:spcPct val="104000"/>
              </a:lnSpc>
              <a:buNone/>
            </a:pPr>
            <a:r>
              <a:rPr lang="en-US" sz="1050" b="1" dirty="0">
                <a:solidFill>
                  <a:srgbClr val="35236E"/>
                </a:solidFill>
                <a:latin typeface="Calibri" pitchFamily="34" charset="0"/>
                <a:ea typeface="Calibri" pitchFamily="34" charset="-122"/>
                <a:cs typeface="Calibri" pitchFamily="34" charset="-120"/>
              </a:rPr>
              <a:t>Spec extraction</a:t>
            </a:r>
            <a:endParaRPr lang="en-US" sz="105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extract → verify → ground, the shared graph</a:t>
            </a:r>
            <a:endParaRPr lang="en-US" sz="1050" dirty="0"/>
          </a:p>
        </p:txBody>
      </p:sp>
      <p:sp>
        <p:nvSpPr>
          <p:cNvPr id="37" name="Shape 28"/>
          <p:cNvSpPr/>
          <p:nvPr/>
        </p:nvSpPr>
        <p:spPr>
          <a:xfrm>
            <a:off x="5692140" y="2606040"/>
            <a:ext cx="0" cy="164592"/>
          </a:xfrm>
          <a:prstGeom prst="line">
            <a:avLst/>
          </a:prstGeom>
          <a:noFill/>
          <a:ln w="17780">
            <a:solidFill>
              <a:srgbClr val="64798F"/>
            </a:solidFill>
            <a:prstDash val="solid"/>
            <a:headEnd type="none"/>
            <a:tailEnd type="triangle"/>
          </a:ln>
        </p:spPr>
      </p:sp>
      <p:sp>
        <p:nvSpPr>
          <p:cNvPr id="38" name="Shape 29"/>
          <p:cNvSpPr/>
          <p:nvPr/>
        </p:nvSpPr>
        <p:spPr>
          <a:xfrm>
            <a:off x="3977640" y="2788920"/>
            <a:ext cx="3429000" cy="566928"/>
          </a:xfrm>
          <a:prstGeom prst="roundRect">
            <a:avLst>
              <a:gd name="adj" fmla="val 16129"/>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39" name="Shape 30"/>
          <p:cNvSpPr/>
          <p:nvPr/>
        </p:nvSpPr>
        <p:spPr>
          <a:xfrm>
            <a:off x="4114800" y="2926080"/>
            <a:ext cx="292608" cy="292608"/>
          </a:xfrm>
          <a:prstGeom prst="roundRect">
            <a:avLst>
              <a:gd name="adj" fmla="val 31250"/>
            </a:avLst>
          </a:prstGeom>
          <a:solidFill>
            <a:srgbClr val="2F8F48"/>
          </a:solidFill>
          <a:ln/>
        </p:spPr>
      </p:sp>
      <p:pic>
        <p:nvPicPr>
          <p:cNvPr id="40" name="Image 7" descr="preencoded.png">    </p:cNvPr>
          <p:cNvPicPr>
            <a:picLocks noChangeAspect="1"/>
          </p:cNvPicPr>
          <p:nvPr/>
        </p:nvPicPr>
        <p:blipFill>
          <a:blip r:embed="rId8"/>
          <a:stretch>
            <a:fillRect/>
          </a:stretch>
        </p:blipFill>
        <p:spPr>
          <a:xfrm>
            <a:off x="4179174" y="2990454"/>
            <a:ext cx="163860" cy="163860"/>
          </a:xfrm>
          <a:prstGeom prst="rect">
            <a:avLst/>
          </a:prstGeom>
        </p:spPr>
      </p:pic>
      <p:sp>
        <p:nvSpPr>
          <p:cNvPr id="41" name="Text 31"/>
          <p:cNvSpPr txBox="1"/>
          <p:nvPr/>
        </p:nvSpPr>
        <p:spPr>
          <a:xfrm>
            <a:off x="4544568" y="2788920"/>
            <a:ext cx="2752344" cy="566928"/>
          </a:xfrm>
          <a:prstGeom prst="rect">
            <a:avLst/>
          </a:prstGeom>
          <a:noFill/>
          <a:ln/>
        </p:spPr>
        <p:txBody>
          <a:bodyPr wrap="square" lIns="0" tIns="0" rIns="0" bIns="0" rtlCol="0" anchor="ctr"/>
          <a:lstStyle/>
          <a:p>
            <a:pPr algn="l" indent="0" marL="0">
              <a:lnSpc>
                <a:spcPct val="104000"/>
              </a:lnSpc>
              <a:buNone/>
            </a:pPr>
            <a:r>
              <a:rPr lang="en-US" sz="1050" b="1" dirty="0">
                <a:solidFill>
                  <a:srgbClr val="17431F"/>
                </a:solidFill>
                <a:latin typeface="Calibri" pitchFamily="34" charset="0"/>
                <a:ea typeface="Calibri" pitchFamily="34" charset="-122"/>
                <a:cs typeface="Calibri" pitchFamily="34" charset="-120"/>
              </a:rPr>
              <a:t>StrategySpec</a:t>
            </a:r>
            <a:endParaRPr lang="en-US" sz="10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every field grounded in a quote, or flagged</a:t>
            </a:r>
            <a:endParaRPr lang="en-US" sz="1050" dirty="0"/>
          </a:p>
        </p:txBody>
      </p:sp>
      <p:sp>
        <p:nvSpPr>
          <p:cNvPr id="42" name="Shape 32"/>
          <p:cNvSpPr/>
          <p:nvPr/>
        </p:nvSpPr>
        <p:spPr>
          <a:xfrm>
            <a:off x="5692140" y="3364992"/>
            <a:ext cx="0" cy="164592"/>
          </a:xfrm>
          <a:prstGeom prst="line">
            <a:avLst/>
          </a:prstGeom>
          <a:noFill/>
          <a:ln w="17780">
            <a:solidFill>
              <a:srgbClr val="64798F"/>
            </a:solidFill>
            <a:prstDash val="solid"/>
            <a:headEnd type="none"/>
            <a:tailEnd type="triangle"/>
          </a:ln>
        </p:spPr>
      </p:sp>
      <p:sp>
        <p:nvSpPr>
          <p:cNvPr id="43" name="Shape 33"/>
          <p:cNvSpPr/>
          <p:nvPr/>
        </p:nvSpPr>
        <p:spPr>
          <a:xfrm>
            <a:off x="3977640" y="3547872"/>
            <a:ext cx="3429000" cy="566928"/>
          </a:xfrm>
          <a:prstGeom prst="roundRect">
            <a:avLst>
              <a:gd name="adj" fmla="val 16129"/>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44" name="Shape 34"/>
          <p:cNvSpPr/>
          <p:nvPr/>
        </p:nvSpPr>
        <p:spPr>
          <a:xfrm>
            <a:off x="4114800" y="3685032"/>
            <a:ext cx="292608" cy="292608"/>
          </a:xfrm>
          <a:prstGeom prst="roundRect">
            <a:avLst>
              <a:gd name="adj" fmla="val 31250"/>
            </a:avLst>
          </a:prstGeom>
          <a:solidFill>
            <a:srgbClr val="108494"/>
          </a:solidFill>
          <a:ln/>
        </p:spPr>
      </p:sp>
      <p:pic>
        <p:nvPicPr>
          <p:cNvPr id="45" name="Image 8" descr="preencoded.png">    </p:cNvPr>
          <p:cNvPicPr>
            <a:picLocks noChangeAspect="1"/>
          </p:cNvPicPr>
          <p:nvPr/>
        </p:nvPicPr>
        <p:blipFill>
          <a:blip r:embed="rId9"/>
          <a:stretch>
            <a:fillRect/>
          </a:stretch>
        </p:blipFill>
        <p:spPr>
          <a:xfrm>
            <a:off x="4179174" y="3749406"/>
            <a:ext cx="163860" cy="163860"/>
          </a:xfrm>
          <a:prstGeom prst="rect">
            <a:avLst/>
          </a:prstGeom>
        </p:spPr>
      </p:pic>
      <p:sp>
        <p:nvSpPr>
          <p:cNvPr id="46" name="Text 35"/>
          <p:cNvSpPr txBox="1"/>
          <p:nvPr/>
        </p:nvSpPr>
        <p:spPr>
          <a:xfrm>
            <a:off x="4544568" y="3547872"/>
            <a:ext cx="2752344" cy="566928"/>
          </a:xfrm>
          <a:prstGeom prst="rect">
            <a:avLst/>
          </a:prstGeom>
          <a:noFill/>
          <a:ln/>
        </p:spPr>
        <p:txBody>
          <a:bodyPr wrap="square" lIns="0" tIns="0" rIns="0" bIns="0" rtlCol="0" anchor="ctr"/>
          <a:lstStyle/>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Backtest</a:t>
            </a:r>
            <a:endParaRPr lang="en-US" sz="1050" dirty="0"/>
          </a:p>
          <a:p>
            <a:pPr algn="l" indent="0" marL="0">
              <a:lnSpc>
                <a:spcPct val="104000"/>
              </a:lnSpc>
              <a:buNone/>
            </a:pPr>
            <a:r>
              <a:rPr lang="en-US" sz="800" dirty="0">
                <a:solidFill>
                  <a:srgbClr val="0A4451"/>
                </a:solidFill>
                <a:latin typeface="Calibri" pitchFamily="34" charset="0"/>
                <a:ea typeface="Calibri" pitchFamily="34" charset="-122"/>
                <a:cs typeface="Calibri" pitchFamily="34" charset="-120"/>
              </a:rPr>
              <a:t>rank → bucket → rebalance · zero LLM</a:t>
            </a:r>
            <a:endParaRPr lang="en-US" sz="1050" dirty="0"/>
          </a:p>
        </p:txBody>
      </p:sp>
      <p:sp>
        <p:nvSpPr>
          <p:cNvPr id="47" name="Shape 36"/>
          <p:cNvSpPr/>
          <p:nvPr/>
        </p:nvSpPr>
        <p:spPr>
          <a:xfrm>
            <a:off x="5692140" y="4123944"/>
            <a:ext cx="0" cy="164592"/>
          </a:xfrm>
          <a:prstGeom prst="line">
            <a:avLst/>
          </a:prstGeom>
          <a:noFill/>
          <a:ln w="17780">
            <a:solidFill>
              <a:srgbClr val="64798F"/>
            </a:solidFill>
            <a:prstDash val="solid"/>
            <a:headEnd type="none"/>
            <a:tailEnd type="triangle"/>
          </a:ln>
        </p:spPr>
      </p:sp>
      <p:sp>
        <p:nvSpPr>
          <p:cNvPr id="48" name="Shape 37"/>
          <p:cNvSpPr/>
          <p:nvPr/>
        </p:nvSpPr>
        <p:spPr>
          <a:xfrm>
            <a:off x="3977640" y="4306824"/>
            <a:ext cx="3429000" cy="566928"/>
          </a:xfrm>
          <a:prstGeom prst="roundRect">
            <a:avLst>
              <a:gd name="adj" fmla="val 16129"/>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49" name="Shape 38"/>
          <p:cNvSpPr/>
          <p:nvPr/>
        </p:nvSpPr>
        <p:spPr>
          <a:xfrm>
            <a:off x="4114800" y="4443984"/>
            <a:ext cx="292608" cy="292608"/>
          </a:xfrm>
          <a:prstGeom prst="roundRect">
            <a:avLst>
              <a:gd name="adj" fmla="val 31250"/>
            </a:avLst>
          </a:prstGeom>
          <a:solidFill>
            <a:srgbClr val="108494"/>
          </a:solidFill>
          <a:ln/>
        </p:spPr>
      </p:sp>
      <p:pic>
        <p:nvPicPr>
          <p:cNvPr id="50" name="Image 9" descr="preencoded.png">    </p:cNvPr>
          <p:cNvPicPr>
            <a:picLocks noChangeAspect="1"/>
          </p:cNvPicPr>
          <p:nvPr/>
        </p:nvPicPr>
        <p:blipFill>
          <a:blip r:embed="rId10"/>
          <a:stretch>
            <a:fillRect/>
          </a:stretch>
        </p:blipFill>
        <p:spPr>
          <a:xfrm>
            <a:off x="4179174" y="4508358"/>
            <a:ext cx="163860" cy="163860"/>
          </a:xfrm>
          <a:prstGeom prst="rect">
            <a:avLst/>
          </a:prstGeom>
        </p:spPr>
      </p:pic>
      <p:sp>
        <p:nvSpPr>
          <p:cNvPr id="51" name="Text 39"/>
          <p:cNvSpPr txBox="1"/>
          <p:nvPr/>
        </p:nvSpPr>
        <p:spPr>
          <a:xfrm>
            <a:off x="4544568" y="4306824"/>
            <a:ext cx="2752344" cy="566928"/>
          </a:xfrm>
          <a:prstGeom prst="rect">
            <a:avLst/>
          </a:prstGeom>
          <a:noFill/>
          <a:ln/>
        </p:spPr>
        <p:txBody>
          <a:bodyPr wrap="square" lIns="0" tIns="0" rIns="0" bIns="0" rtlCol="0" anchor="ctr"/>
          <a:lstStyle/>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In-sample, then out-of-sample</a:t>
            </a:r>
            <a:endParaRPr lang="en-US" sz="1050" dirty="0"/>
          </a:p>
          <a:p>
            <a:pPr algn="l" indent="0" marL="0">
              <a:lnSpc>
                <a:spcPct val="104000"/>
              </a:lnSpc>
              <a:buNone/>
            </a:pPr>
            <a:r>
              <a:rPr lang="en-US" sz="800" dirty="0">
                <a:solidFill>
                  <a:srgbClr val="0A4451"/>
                </a:solidFill>
                <a:latin typeface="Calibri" pitchFamily="34" charset="0"/>
                <a:ea typeface="Calibri" pitchFamily="34" charset="-122"/>
                <a:cs typeface="Calibri" pitchFamily="34" charset="-120"/>
              </a:rPr>
              <a:t>the later window run under identical rules</a:t>
            </a:r>
            <a:endParaRPr lang="en-US" sz="1050" dirty="0"/>
          </a:p>
        </p:txBody>
      </p:sp>
      <p:sp>
        <p:nvSpPr>
          <p:cNvPr id="52" name="Shape 40"/>
          <p:cNvSpPr/>
          <p:nvPr/>
        </p:nvSpPr>
        <p:spPr>
          <a:xfrm>
            <a:off x="8321040" y="1719072"/>
            <a:ext cx="3273552" cy="713232"/>
          </a:xfrm>
          <a:prstGeom prst="roundRect">
            <a:avLst>
              <a:gd name="adj" fmla="val 12821"/>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53" name="Shape 41"/>
          <p:cNvSpPr/>
          <p:nvPr/>
        </p:nvSpPr>
        <p:spPr>
          <a:xfrm>
            <a:off x="8458200" y="1883664"/>
            <a:ext cx="384048" cy="384048"/>
          </a:xfrm>
          <a:prstGeom prst="roundRect">
            <a:avLst>
              <a:gd name="adj" fmla="val 23810"/>
            </a:avLst>
          </a:prstGeom>
          <a:solidFill>
            <a:srgbClr val="2F8F48"/>
          </a:solidFill>
          <a:ln/>
        </p:spPr>
      </p:sp>
      <p:pic>
        <p:nvPicPr>
          <p:cNvPr id="54" name="Image 10" descr="preencoded.png">    </p:cNvPr>
          <p:cNvPicPr>
            <a:picLocks noChangeAspect="1"/>
          </p:cNvPicPr>
          <p:nvPr/>
        </p:nvPicPr>
        <p:blipFill>
          <a:blip r:embed="rId11"/>
          <a:stretch>
            <a:fillRect/>
          </a:stretch>
        </p:blipFill>
        <p:spPr>
          <a:xfrm>
            <a:off x="8542691" y="1968155"/>
            <a:ext cx="215067" cy="215067"/>
          </a:xfrm>
          <a:prstGeom prst="rect">
            <a:avLst/>
          </a:prstGeom>
        </p:spPr>
      </p:pic>
      <p:sp>
        <p:nvSpPr>
          <p:cNvPr id="55" name="Text 42"/>
          <p:cNvSpPr txBox="1"/>
          <p:nvPr/>
        </p:nvSpPr>
        <p:spPr>
          <a:xfrm>
            <a:off x="8979408" y="1719072"/>
            <a:ext cx="2505456"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7431F"/>
                </a:solidFill>
                <a:latin typeface="Calibri" pitchFamily="34" charset="0"/>
                <a:ea typeface="Calibri" pitchFamily="34" charset="-122"/>
                <a:cs typeface="Calibri" pitchFamily="34" charset="-120"/>
              </a:rPr>
              <a:t>A verdict, not a number</a:t>
            </a:r>
            <a:endParaRPr lang="en-US" sz="10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replicated · partial · not replicated · decayed out of sample</a:t>
            </a:r>
            <a:endParaRPr lang="en-US" sz="1050" dirty="0"/>
          </a:p>
        </p:txBody>
      </p:sp>
      <p:sp>
        <p:nvSpPr>
          <p:cNvPr id="56" name="Shape 43"/>
          <p:cNvSpPr/>
          <p:nvPr/>
        </p:nvSpPr>
        <p:spPr>
          <a:xfrm flipV="1">
            <a:off x="7735824" y="2075688"/>
            <a:ext cx="530352" cy="1234440"/>
          </a:xfrm>
          <a:prstGeom prst="line">
            <a:avLst/>
          </a:prstGeom>
          <a:noFill/>
          <a:ln w="16510">
            <a:solidFill>
              <a:srgbClr val="2F8F48"/>
            </a:solidFill>
            <a:prstDash val="solid"/>
            <a:headEnd type="none"/>
            <a:tailEnd type="triangle"/>
          </a:ln>
        </p:spPr>
      </p:sp>
      <p:sp>
        <p:nvSpPr>
          <p:cNvPr id="57" name="Shape 44"/>
          <p:cNvSpPr/>
          <p:nvPr/>
        </p:nvSpPr>
        <p:spPr>
          <a:xfrm>
            <a:off x="8321040" y="2633472"/>
            <a:ext cx="3273552" cy="713232"/>
          </a:xfrm>
          <a:prstGeom prst="roundRect">
            <a:avLst>
              <a:gd name="adj" fmla="val 1282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58" name="Shape 45"/>
          <p:cNvSpPr/>
          <p:nvPr/>
        </p:nvSpPr>
        <p:spPr>
          <a:xfrm>
            <a:off x="8458200" y="2798064"/>
            <a:ext cx="384048" cy="384048"/>
          </a:xfrm>
          <a:prstGeom prst="roundRect">
            <a:avLst>
              <a:gd name="adj" fmla="val 23810"/>
            </a:avLst>
          </a:prstGeom>
          <a:solidFill>
            <a:srgbClr val="108494"/>
          </a:solidFill>
          <a:ln/>
        </p:spPr>
      </p:sp>
      <p:pic>
        <p:nvPicPr>
          <p:cNvPr id="59" name="Image 11" descr="preencoded.png">    </p:cNvPr>
          <p:cNvPicPr>
            <a:picLocks noChangeAspect="1"/>
          </p:cNvPicPr>
          <p:nvPr/>
        </p:nvPicPr>
        <p:blipFill>
          <a:blip r:embed="rId12"/>
          <a:stretch>
            <a:fillRect/>
          </a:stretch>
        </p:blipFill>
        <p:spPr>
          <a:xfrm>
            <a:off x="8542691" y="2882555"/>
            <a:ext cx="215067" cy="215067"/>
          </a:xfrm>
          <a:prstGeom prst="rect">
            <a:avLst/>
          </a:prstGeom>
        </p:spPr>
      </p:pic>
      <p:sp>
        <p:nvSpPr>
          <p:cNvPr id="60" name="Text 46"/>
          <p:cNvSpPr txBox="1"/>
          <p:nvPr/>
        </p:nvSpPr>
        <p:spPr>
          <a:xfrm>
            <a:off x="8979408" y="2633472"/>
            <a:ext cx="2505456" cy="713232"/>
          </a:xfrm>
          <a:prstGeom prst="rect">
            <a:avLst/>
          </a:prstGeom>
          <a:noFill/>
          <a:ln/>
        </p:spPr>
        <p:txBody>
          <a:bodyPr wrap="square" lIns="0" tIns="0" rIns="0" bIns="0" rtlCol="0" anchor="ctr"/>
          <a:lstStyle/>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How surprised to be</a:t>
            </a:r>
            <a:endParaRPr lang="en-US" sz="1050" dirty="0"/>
          </a:p>
          <a:p>
            <a:pPr algn="l" indent="0" marL="0">
              <a:lnSpc>
                <a:spcPct val="104000"/>
              </a:lnSpc>
              <a:buNone/>
            </a:pPr>
            <a:r>
              <a:rPr lang="en-US" sz="800" dirty="0">
                <a:solidFill>
                  <a:srgbClr val="0A4451"/>
                </a:solidFill>
                <a:latin typeface="Calibri" pitchFamily="34" charset="0"/>
                <a:ea typeface="Calibri" pitchFamily="34" charset="-122"/>
                <a:cs typeface="Calibri" pitchFamily="34" charset="-120"/>
              </a:rPr>
              <a:t>a t-stat hurdle that rises with the variants tried, plus a deflated Sharpe ratio</a:t>
            </a:r>
            <a:endParaRPr lang="en-US" sz="1050" dirty="0"/>
          </a:p>
        </p:txBody>
      </p:sp>
      <p:sp>
        <p:nvSpPr>
          <p:cNvPr id="61" name="Shape 47"/>
          <p:cNvSpPr/>
          <p:nvPr/>
        </p:nvSpPr>
        <p:spPr>
          <a:xfrm flipV="1">
            <a:off x="7735824" y="2990088"/>
            <a:ext cx="530352" cy="320040"/>
          </a:xfrm>
          <a:prstGeom prst="line">
            <a:avLst/>
          </a:prstGeom>
          <a:noFill/>
          <a:ln w="16510">
            <a:solidFill>
              <a:srgbClr val="2F8F48"/>
            </a:solidFill>
            <a:prstDash val="solid"/>
            <a:headEnd type="none"/>
            <a:tailEnd type="triangle"/>
          </a:ln>
        </p:spPr>
      </p:sp>
      <p:sp>
        <p:nvSpPr>
          <p:cNvPr id="62" name="Shape 48"/>
          <p:cNvSpPr/>
          <p:nvPr/>
        </p:nvSpPr>
        <p:spPr>
          <a:xfrm>
            <a:off x="8321040" y="3547872"/>
            <a:ext cx="3273552" cy="713232"/>
          </a:xfrm>
          <a:prstGeom prst="roundRect">
            <a:avLst>
              <a:gd name="adj" fmla="val 12821"/>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63" name="Shape 49"/>
          <p:cNvSpPr/>
          <p:nvPr/>
        </p:nvSpPr>
        <p:spPr>
          <a:xfrm>
            <a:off x="8458200" y="3712464"/>
            <a:ext cx="384048" cy="384048"/>
          </a:xfrm>
          <a:prstGeom prst="roundRect">
            <a:avLst>
              <a:gd name="adj" fmla="val 23810"/>
            </a:avLst>
          </a:prstGeom>
          <a:solidFill>
            <a:srgbClr val="6D4DD1"/>
          </a:solidFill>
          <a:ln/>
        </p:spPr>
      </p:sp>
      <p:pic>
        <p:nvPicPr>
          <p:cNvPr id="64" name="Image 12" descr="preencoded.png">    </p:cNvPr>
          <p:cNvPicPr>
            <a:picLocks noChangeAspect="1"/>
          </p:cNvPicPr>
          <p:nvPr/>
        </p:nvPicPr>
        <p:blipFill>
          <a:blip r:embed="rId13"/>
          <a:stretch>
            <a:fillRect/>
          </a:stretch>
        </p:blipFill>
        <p:spPr>
          <a:xfrm>
            <a:off x="8542691" y="3796955"/>
            <a:ext cx="215067" cy="215067"/>
          </a:xfrm>
          <a:prstGeom prst="rect">
            <a:avLst/>
          </a:prstGeom>
        </p:spPr>
      </p:pic>
      <p:sp>
        <p:nvSpPr>
          <p:cNvPr id="65" name="Text 50"/>
          <p:cNvSpPr txBox="1"/>
          <p:nvPr/>
        </p:nvSpPr>
        <p:spPr>
          <a:xfrm>
            <a:off x="8979408" y="3547872"/>
            <a:ext cx="2505456" cy="713232"/>
          </a:xfrm>
          <a:prstGeom prst="rect">
            <a:avLst/>
          </a:prstGeom>
          <a:noFill/>
          <a:ln/>
        </p:spPr>
        <p:txBody>
          <a:bodyPr wrap="square" lIns="0" tIns="0" rIns="0" bIns="0" rtlCol="0" anchor="ctr"/>
          <a:lstStyle/>
          <a:p>
            <a:pPr algn="l" indent="0" marL="0">
              <a:lnSpc>
                <a:spcPct val="104000"/>
              </a:lnSpc>
              <a:buNone/>
            </a:pPr>
            <a:r>
              <a:rPr lang="en-US" sz="1050" b="1" dirty="0">
                <a:solidFill>
                  <a:srgbClr val="35236E"/>
                </a:solidFill>
                <a:latin typeface="Calibri" pitchFamily="34" charset="0"/>
                <a:ea typeface="Calibri" pitchFamily="34" charset="-122"/>
                <a:cs typeface="Calibri" pitchFamily="34" charset="-120"/>
              </a:rPr>
              <a:t>Sanity check</a:t>
            </a:r>
            <a:endParaRPr lang="en-US" sz="105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an optional qualitative second opinion on the finished run</a:t>
            </a:r>
            <a:endParaRPr lang="en-US" sz="1050" dirty="0"/>
          </a:p>
        </p:txBody>
      </p:sp>
      <p:sp>
        <p:nvSpPr>
          <p:cNvPr id="66" name="Shape 51"/>
          <p:cNvSpPr/>
          <p:nvPr/>
        </p:nvSpPr>
        <p:spPr>
          <a:xfrm>
            <a:off x="7735824" y="3310128"/>
            <a:ext cx="530352" cy="594360"/>
          </a:xfrm>
          <a:prstGeom prst="line">
            <a:avLst/>
          </a:prstGeom>
          <a:noFill/>
          <a:ln w="16510">
            <a:solidFill>
              <a:srgbClr val="2F8F48"/>
            </a:solidFill>
            <a:prstDash val="solid"/>
            <a:headEnd type="none"/>
            <a:tailEnd type="triangle"/>
          </a:ln>
        </p:spPr>
      </p:sp>
      <p:sp>
        <p:nvSpPr>
          <p:cNvPr id="67" name="Shape 52"/>
          <p:cNvSpPr/>
          <p:nvPr/>
        </p:nvSpPr>
        <p:spPr>
          <a:xfrm>
            <a:off x="8321040" y="4462272"/>
            <a:ext cx="3273552" cy="713232"/>
          </a:xfrm>
          <a:prstGeom prst="roundRect">
            <a:avLst>
              <a:gd name="adj" fmla="val 12821"/>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68" name="Shape 53"/>
          <p:cNvSpPr/>
          <p:nvPr/>
        </p:nvSpPr>
        <p:spPr>
          <a:xfrm>
            <a:off x="8458200" y="4626864"/>
            <a:ext cx="384048" cy="384048"/>
          </a:xfrm>
          <a:prstGeom prst="roundRect">
            <a:avLst>
              <a:gd name="adj" fmla="val 23810"/>
            </a:avLst>
          </a:prstGeom>
          <a:solidFill>
            <a:srgbClr val="2F8F48"/>
          </a:solidFill>
          <a:ln/>
        </p:spPr>
      </p:sp>
      <p:pic>
        <p:nvPicPr>
          <p:cNvPr id="69" name="Image 13" descr="preencoded.png">    </p:cNvPr>
          <p:cNvPicPr>
            <a:picLocks noChangeAspect="1"/>
          </p:cNvPicPr>
          <p:nvPr/>
        </p:nvPicPr>
        <p:blipFill>
          <a:blip r:embed="rId14"/>
          <a:stretch>
            <a:fillRect/>
          </a:stretch>
        </p:blipFill>
        <p:spPr>
          <a:xfrm>
            <a:off x="8542691" y="4711355"/>
            <a:ext cx="215067" cy="215067"/>
          </a:xfrm>
          <a:prstGeom prst="rect">
            <a:avLst/>
          </a:prstGeom>
        </p:spPr>
      </p:pic>
      <p:sp>
        <p:nvSpPr>
          <p:cNvPr id="70" name="Text 54"/>
          <p:cNvSpPr txBox="1"/>
          <p:nvPr/>
        </p:nvSpPr>
        <p:spPr>
          <a:xfrm>
            <a:off x="8979408" y="4462272"/>
            <a:ext cx="2505456"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7431F"/>
                </a:solidFill>
                <a:latin typeface="Calibri" pitchFamily="34" charset="0"/>
                <a:ea typeface="Calibri" pitchFamily="34" charset="-122"/>
                <a:cs typeface="Calibri" pitchFamily="34" charset="-120"/>
              </a:rPr>
              <a:t>The run, persisted</a:t>
            </a:r>
            <a:endParaRPr lang="en-US" sz="10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spec · in_sample · out_of_sample · comparison rows</a:t>
            </a:r>
            <a:endParaRPr lang="en-US" sz="1050" dirty="0"/>
          </a:p>
        </p:txBody>
      </p:sp>
      <p:sp>
        <p:nvSpPr>
          <p:cNvPr id="71" name="Shape 55"/>
          <p:cNvSpPr/>
          <p:nvPr/>
        </p:nvSpPr>
        <p:spPr>
          <a:xfrm>
            <a:off x="7735824" y="3310128"/>
            <a:ext cx="530352" cy="1508760"/>
          </a:xfrm>
          <a:prstGeom prst="line">
            <a:avLst/>
          </a:prstGeom>
          <a:noFill/>
          <a:ln w="16510">
            <a:solidFill>
              <a:srgbClr val="2F8F48"/>
            </a:solidFill>
            <a:prstDash val="solid"/>
            <a:headEnd type="none"/>
            <a:tailEnd type="triangle"/>
          </a:ln>
        </p:spPr>
      </p:sp>
      <p:sp>
        <p:nvSpPr>
          <p:cNvPr id="72" name="Shape 56"/>
          <p:cNvSpPr/>
          <p:nvPr/>
        </p:nvSpPr>
        <p:spPr>
          <a:xfrm>
            <a:off x="594360" y="5349240"/>
            <a:ext cx="11000232" cy="548640"/>
          </a:xfrm>
          <a:prstGeom prst="roundRect">
            <a:avLst>
              <a:gd name="adj" fmla="val 6667"/>
            </a:avLst>
          </a:prstGeom>
          <a:solidFill>
            <a:srgbClr val="F4F7FA"/>
          </a:solidFill>
          <a:ln w="15875">
            <a:solidFill>
              <a:srgbClr val="DDE5ED"/>
            </a:solidFill>
            <a:prstDash val="solid"/>
          </a:ln>
        </p:spPr>
      </p:sp>
      <p:sp>
        <p:nvSpPr>
          <p:cNvPr id="73" name="Text 57"/>
          <p:cNvSpPr txBox="1"/>
          <p:nvPr/>
        </p:nvSpPr>
        <p:spPr>
          <a:xfrm>
            <a:off x="795528" y="5349240"/>
            <a:ext cx="10597896" cy="548640"/>
          </a:xfrm>
          <a:prstGeom prst="rect">
            <a:avLst/>
          </a:prstGeom>
          <a:noFill/>
          <a:ln/>
        </p:spPr>
        <p:txBody>
          <a:bodyPr wrap="square" lIns="0" tIns="0" rIns="0" bIns="0" rtlCol="0" anchor="ctr"/>
          <a:lstStyle/>
          <a:p>
            <a:pPr indent="0" marL="0">
              <a:buNone/>
            </a:pPr>
            <a:r>
              <a:rPr lang="en-US" sz="950" b="1" dirty="0">
                <a:solidFill>
                  <a:srgbClr val="C9871B"/>
                </a:solidFill>
                <a:latin typeface="Calibri" pitchFamily="34" charset="0"/>
                <a:ea typeface="Calibri" pitchFamily="34" charset="-122"/>
                <a:cs typeface="Calibri" pitchFamily="34" charset="-120"/>
              </a:rPr>
              <a:t>The interesting answer is usually decay.  </a:t>
            </a:r>
            <a:pPr indent="0" marL="0">
              <a:buNone/>
            </a:pPr>
            <a:r>
              <a:rPr lang="en-US" sz="950" dirty="0">
                <a:solidFill>
                  <a:srgbClr val="43566B"/>
                </a:solidFill>
                <a:latin typeface="Calibri" pitchFamily="34" charset="0"/>
                <a:ea typeface="Calibri" pitchFamily="34" charset="-122"/>
                <a:cs typeface="Calibri" pitchFamily="34" charset="-120"/>
              </a:rPr>
              <a:t>A published edge that replicates in its own window and then fades in the years after it was published is exactly what an “outperformance” claim needs testing for — and it is a verdict of its own here, not a footnote.</a:t>
            </a:r>
            <a:endParaRPr lang="en-US" sz="950" dirty="0"/>
          </a:p>
        </p:txBody>
      </p:sp>
      <p:sp>
        <p:nvSpPr>
          <p:cNvPr id="74" name="Shape 58"/>
          <p:cNvSpPr/>
          <p:nvPr/>
        </p:nvSpPr>
        <p:spPr>
          <a:xfrm>
            <a:off x="594360" y="6172200"/>
            <a:ext cx="155448" cy="155448"/>
          </a:xfrm>
          <a:prstGeom prst="roundRect">
            <a:avLst>
              <a:gd name="adj" fmla="val 29412"/>
            </a:avLst>
          </a:prstGeom>
          <a:solidFill>
            <a:srgbClr val="2F6FD0"/>
          </a:solidFill>
          <a:ln/>
        </p:spPr>
      </p:sp>
      <p:sp>
        <p:nvSpPr>
          <p:cNvPr id="75" name="Text 59"/>
          <p:cNvSpPr txBox="1"/>
          <p:nvPr/>
        </p:nvSpPr>
        <p:spPr>
          <a:xfrm>
            <a:off x="81381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76" name="Shape 60"/>
          <p:cNvSpPr/>
          <p:nvPr/>
        </p:nvSpPr>
        <p:spPr>
          <a:xfrm>
            <a:off x="2427732" y="6172200"/>
            <a:ext cx="155448" cy="155448"/>
          </a:xfrm>
          <a:prstGeom prst="roundRect">
            <a:avLst>
              <a:gd name="adj" fmla="val 29412"/>
            </a:avLst>
          </a:prstGeom>
          <a:solidFill>
            <a:srgbClr val="108494"/>
          </a:solidFill>
          <a:ln/>
        </p:spPr>
      </p:sp>
      <p:sp>
        <p:nvSpPr>
          <p:cNvPr id="77" name="Text 61"/>
          <p:cNvSpPr txBox="1"/>
          <p:nvPr/>
        </p:nvSpPr>
        <p:spPr>
          <a:xfrm>
            <a:off x="2647188"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78" name="Shape 62"/>
          <p:cNvSpPr/>
          <p:nvPr/>
        </p:nvSpPr>
        <p:spPr>
          <a:xfrm>
            <a:off x="4261104" y="6172200"/>
            <a:ext cx="155448" cy="155448"/>
          </a:xfrm>
          <a:prstGeom prst="roundRect">
            <a:avLst>
              <a:gd name="adj" fmla="val 29412"/>
            </a:avLst>
          </a:prstGeom>
          <a:solidFill>
            <a:srgbClr val="6D4DD1"/>
          </a:solidFill>
          <a:ln/>
        </p:spPr>
      </p:sp>
      <p:sp>
        <p:nvSpPr>
          <p:cNvPr id="79" name="Text 63"/>
          <p:cNvSpPr txBox="1"/>
          <p:nvPr/>
        </p:nvSpPr>
        <p:spPr>
          <a:xfrm>
            <a:off x="4480560"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80" name="Shape 64"/>
          <p:cNvSpPr/>
          <p:nvPr/>
        </p:nvSpPr>
        <p:spPr>
          <a:xfrm>
            <a:off x="6094476" y="6172200"/>
            <a:ext cx="155448" cy="155448"/>
          </a:xfrm>
          <a:prstGeom prst="roundRect">
            <a:avLst>
              <a:gd name="adj" fmla="val 29412"/>
            </a:avLst>
          </a:prstGeom>
          <a:solidFill>
            <a:srgbClr val="C9871B"/>
          </a:solidFill>
          <a:ln/>
        </p:spPr>
      </p:sp>
      <p:sp>
        <p:nvSpPr>
          <p:cNvPr id="81" name="Text 65"/>
          <p:cNvSpPr txBox="1"/>
          <p:nvPr/>
        </p:nvSpPr>
        <p:spPr>
          <a:xfrm>
            <a:off x="6313932"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82" name="Shape 66"/>
          <p:cNvSpPr/>
          <p:nvPr/>
        </p:nvSpPr>
        <p:spPr>
          <a:xfrm>
            <a:off x="7927848" y="6172200"/>
            <a:ext cx="155448" cy="155448"/>
          </a:xfrm>
          <a:prstGeom prst="roundRect">
            <a:avLst>
              <a:gd name="adj" fmla="val 29412"/>
            </a:avLst>
          </a:prstGeom>
          <a:solidFill>
            <a:srgbClr val="CE3D64"/>
          </a:solidFill>
          <a:ln/>
        </p:spPr>
      </p:sp>
      <p:sp>
        <p:nvSpPr>
          <p:cNvPr id="83" name="Text 67"/>
          <p:cNvSpPr txBox="1"/>
          <p:nvPr/>
        </p:nvSpPr>
        <p:spPr>
          <a:xfrm>
            <a:off x="8147304"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84" name="Shape 68"/>
          <p:cNvSpPr/>
          <p:nvPr/>
        </p:nvSpPr>
        <p:spPr>
          <a:xfrm>
            <a:off x="9761220" y="6172200"/>
            <a:ext cx="155448" cy="155448"/>
          </a:xfrm>
          <a:prstGeom prst="roundRect">
            <a:avLst>
              <a:gd name="adj" fmla="val 29412"/>
            </a:avLst>
          </a:prstGeom>
          <a:solidFill>
            <a:srgbClr val="2F8F48"/>
          </a:solidFill>
          <a:ln/>
        </p:spPr>
      </p:sp>
      <p:sp>
        <p:nvSpPr>
          <p:cNvPr id="85" name="Text 69"/>
          <p:cNvSpPr txBox="1"/>
          <p:nvPr/>
        </p:nvSpPr>
        <p:spPr>
          <a:xfrm>
            <a:off x="998067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11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Replication: read it, then test it honestly</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The read is grounded like any other extraction; the test is arithmetic, with the statistics of having tried many things layered on top.</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72768"/>
            <a:ext cx="1907438"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1673352"/>
            <a:ext cx="182880" cy="182880"/>
          </a:xfrm>
          <a:prstGeom prst="rect">
            <a:avLst/>
          </a:prstGeom>
        </p:spPr>
      </p:pic>
      <p:sp>
        <p:nvSpPr>
          <p:cNvPr id="9" name="Text 5"/>
          <p:cNvSpPr txBox="1"/>
          <p:nvPr/>
        </p:nvSpPr>
        <p:spPr>
          <a:xfrm>
            <a:off x="685800"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Discover</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arXiv / Semantic Scholar candidates, proposed never applied</a:t>
            </a:r>
            <a:endParaRPr lang="en-US" sz="1050" dirty="0"/>
          </a:p>
        </p:txBody>
      </p:sp>
      <p:sp>
        <p:nvSpPr>
          <p:cNvPr id="10" name="Shape 6"/>
          <p:cNvSpPr/>
          <p:nvPr/>
        </p:nvSpPr>
        <p:spPr>
          <a:xfrm>
            <a:off x="2556662" y="1947672"/>
            <a:ext cx="256032" cy="0"/>
          </a:xfrm>
          <a:prstGeom prst="line">
            <a:avLst/>
          </a:prstGeom>
          <a:noFill/>
          <a:ln w="21590">
            <a:solidFill>
              <a:srgbClr val="64798F"/>
            </a:solidFill>
            <a:prstDash val="solid"/>
            <a:headEnd type="none"/>
            <a:tailEnd type="triangle"/>
          </a:ln>
        </p:spPr>
      </p:sp>
      <p:sp>
        <p:nvSpPr>
          <p:cNvPr id="11" name="Shape 7"/>
          <p:cNvSpPr/>
          <p:nvPr/>
        </p:nvSpPr>
        <p:spPr>
          <a:xfrm>
            <a:off x="2867558" y="1572768"/>
            <a:ext cx="1907438"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2986430" y="1673352"/>
            <a:ext cx="182880" cy="182880"/>
          </a:xfrm>
          <a:prstGeom prst="rect">
            <a:avLst/>
          </a:prstGeom>
        </p:spPr>
      </p:pic>
      <p:sp>
        <p:nvSpPr>
          <p:cNvPr id="13" name="Text 8"/>
          <p:cNvSpPr txBox="1"/>
          <p:nvPr/>
        </p:nvSpPr>
        <p:spPr>
          <a:xfrm>
            <a:off x="2958998"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Extract the spec</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the same extract → verify → ground graph</a:t>
            </a:r>
            <a:endParaRPr lang="en-US" sz="1050" dirty="0"/>
          </a:p>
        </p:txBody>
      </p:sp>
      <p:sp>
        <p:nvSpPr>
          <p:cNvPr id="14" name="Shape 9"/>
          <p:cNvSpPr/>
          <p:nvPr/>
        </p:nvSpPr>
        <p:spPr>
          <a:xfrm>
            <a:off x="4829861" y="1947672"/>
            <a:ext cx="256032" cy="0"/>
          </a:xfrm>
          <a:prstGeom prst="line">
            <a:avLst/>
          </a:prstGeom>
          <a:noFill/>
          <a:ln w="21590">
            <a:solidFill>
              <a:srgbClr val="64798F"/>
            </a:solidFill>
            <a:prstDash val="solid"/>
            <a:headEnd type="none"/>
            <a:tailEnd type="triangle"/>
          </a:ln>
        </p:spPr>
      </p:sp>
      <p:sp>
        <p:nvSpPr>
          <p:cNvPr id="15" name="Shape 10"/>
          <p:cNvSpPr/>
          <p:nvPr/>
        </p:nvSpPr>
        <p:spPr>
          <a:xfrm>
            <a:off x="5140757"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5259629" y="1673352"/>
            <a:ext cx="182880" cy="182880"/>
          </a:xfrm>
          <a:prstGeom prst="rect">
            <a:avLst/>
          </a:prstGeom>
        </p:spPr>
      </p:pic>
      <p:sp>
        <p:nvSpPr>
          <p:cNvPr id="17" name="Text 11"/>
          <p:cNvSpPr txBox="1"/>
          <p:nvPr/>
        </p:nvSpPr>
        <p:spPr>
          <a:xfrm>
            <a:off x="5232197"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Build the panels</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prices, characteristics, dated sentiment</a:t>
            </a:r>
            <a:endParaRPr lang="en-US" sz="1050" dirty="0"/>
          </a:p>
        </p:txBody>
      </p:sp>
      <p:sp>
        <p:nvSpPr>
          <p:cNvPr id="18" name="Shape 12"/>
          <p:cNvSpPr/>
          <p:nvPr/>
        </p:nvSpPr>
        <p:spPr>
          <a:xfrm>
            <a:off x="7103059" y="1947672"/>
            <a:ext cx="256032" cy="0"/>
          </a:xfrm>
          <a:prstGeom prst="line">
            <a:avLst/>
          </a:prstGeom>
          <a:noFill/>
          <a:ln w="21590">
            <a:solidFill>
              <a:srgbClr val="64798F"/>
            </a:solidFill>
            <a:prstDash val="solid"/>
            <a:headEnd type="none"/>
            <a:tailEnd type="triangle"/>
          </a:ln>
        </p:spPr>
      </p:sp>
      <p:sp>
        <p:nvSpPr>
          <p:cNvPr id="19" name="Shape 13"/>
          <p:cNvSpPr/>
          <p:nvPr/>
        </p:nvSpPr>
        <p:spPr>
          <a:xfrm>
            <a:off x="7413955"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7532827" y="1673352"/>
            <a:ext cx="182880" cy="182880"/>
          </a:xfrm>
          <a:prstGeom prst="rect">
            <a:avLst/>
          </a:prstGeom>
        </p:spPr>
      </p:pic>
      <p:sp>
        <p:nvSpPr>
          <p:cNvPr id="21" name="Text 14"/>
          <p:cNvSpPr txBox="1"/>
          <p:nvPr/>
        </p:nvSpPr>
        <p:spPr>
          <a:xfrm>
            <a:off x="7505395"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Backtest</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rank, bucket, rebalance on your schedule</a:t>
            </a:r>
            <a:endParaRPr lang="en-US" sz="1050" dirty="0"/>
          </a:p>
        </p:txBody>
      </p:sp>
      <p:sp>
        <p:nvSpPr>
          <p:cNvPr id="22" name="Shape 15"/>
          <p:cNvSpPr/>
          <p:nvPr/>
        </p:nvSpPr>
        <p:spPr>
          <a:xfrm>
            <a:off x="9376258" y="1947672"/>
            <a:ext cx="256032" cy="0"/>
          </a:xfrm>
          <a:prstGeom prst="line">
            <a:avLst/>
          </a:prstGeom>
          <a:noFill/>
          <a:ln w="21590">
            <a:solidFill>
              <a:srgbClr val="64798F"/>
            </a:solidFill>
            <a:prstDash val="solid"/>
            <a:headEnd type="none"/>
            <a:tailEnd type="triangle"/>
          </a:ln>
        </p:spPr>
      </p:sp>
      <p:sp>
        <p:nvSpPr>
          <p:cNvPr id="23" name="Shape 16"/>
          <p:cNvSpPr/>
          <p:nvPr/>
        </p:nvSpPr>
        <p:spPr>
          <a:xfrm>
            <a:off x="9687154" y="1572768"/>
            <a:ext cx="1907438" cy="749808"/>
          </a:xfrm>
          <a:prstGeom prst="roundRect">
            <a:avLst>
              <a:gd name="adj" fmla="val 1219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24" name="Image 5" descr="preencoded.png">    </p:cNvPr>
          <p:cNvPicPr>
            <a:picLocks noChangeAspect="1"/>
          </p:cNvPicPr>
          <p:nvPr/>
        </p:nvPicPr>
        <p:blipFill>
          <a:blip r:embed="rId6"/>
          <a:stretch>
            <a:fillRect/>
          </a:stretch>
        </p:blipFill>
        <p:spPr>
          <a:xfrm>
            <a:off x="9806026" y="1673352"/>
            <a:ext cx="182880" cy="182880"/>
          </a:xfrm>
          <a:prstGeom prst="rect">
            <a:avLst/>
          </a:prstGeom>
        </p:spPr>
      </p:pic>
      <p:sp>
        <p:nvSpPr>
          <p:cNvPr id="25" name="Text 17"/>
          <p:cNvSpPr txBox="1"/>
          <p:nvPr/>
        </p:nvSpPr>
        <p:spPr>
          <a:xfrm>
            <a:off x="9778594"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Compare</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against the paper, then the later window</a:t>
            </a:r>
            <a:endParaRPr lang="en-US" sz="1050" dirty="0"/>
          </a:p>
        </p:txBody>
      </p:sp>
      <p:sp>
        <p:nvSpPr>
          <p:cNvPr id="26" name="Shape 18"/>
          <p:cNvSpPr/>
          <p:nvPr/>
        </p:nvSpPr>
        <p:spPr>
          <a:xfrm>
            <a:off x="594360" y="2670048"/>
            <a:ext cx="3483864" cy="1298448"/>
          </a:xfrm>
          <a:prstGeom prst="roundRect">
            <a:avLst>
              <a:gd name="adj" fmla="val 7042"/>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27" name="Shape 19"/>
          <p:cNvSpPr/>
          <p:nvPr/>
        </p:nvSpPr>
        <p:spPr>
          <a:xfrm>
            <a:off x="3621024" y="2807208"/>
            <a:ext cx="310896" cy="310896"/>
          </a:xfrm>
          <a:prstGeom prst="roundRect">
            <a:avLst>
              <a:gd name="adj" fmla="val 29412"/>
            </a:avLst>
          </a:prstGeom>
          <a:solidFill>
            <a:srgbClr val="C9871B"/>
          </a:solidFill>
          <a:ln/>
        </p:spPr>
      </p:sp>
      <p:pic>
        <p:nvPicPr>
          <p:cNvPr id="28" name="Image 6" descr="preencoded.png">    </p:cNvPr>
          <p:cNvPicPr>
            <a:picLocks noChangeAspect="1"/>
          </p:cNvPicPr>
          <p:nvPr/>
        </p:nvPicPr>
        <p:blipFill>
          <a:blip r:embed="rId7"/>
          <a:stretch>
            <a:fillRect/>
          </a:stretch>
        </p:blipFill>
        <p:spPr>
          <a:xfrm>
            <a:off x="3689421" y="2875605"/>
            <a:ext cx="174102" cy="174102"/>
          </a:xfrm>
          <a:prstGeom prst="rect">
            <a:avLst/>
          </a:prstGeom>
        </p:spPr>
      </p:pic>
      <p:sp>
        <p:nvSpPr>
          <p:cNvPr id="29" name="Text 20"/>
          <p:cNvSpPr txBox="1"/>
          <p:nvPr/>
        </p:nvSpPr>
        <p:spPr>
          <a:xfrm>
            <a:off x="795528" y="2670048"/>
            <a:ext cx="3081528" cy="1298448"/>
          </a:xfrm>
          <a:prstGeom prst="rect">
            <a:avLst/>
          </a:prstGeom>
          <a:noFill/>
          <a:ln/>
        </p:spPr>
        <p:txBody>
          <a:bodyPr wrap="square" lIns="0" tIns="0" rIns="0" bIns="0" rtlCol="0" anchor="ctr"/>
          <a:lstStyle/>
          <a:p>
            <a:pPr algn="l" indent="0" marL="0">
              <a:lnSpc>
                <a:spcPct val="104000"/>
              </a:lnSpc>
              <a:buNone/>
            </a:pPr>
            <a:r>
              <a:rPr lang="en-US" sz="750" b="1" spc="110" kern="0" dirty="0">
                <a:solidFill>
                  <a:srgbClr val="C9871B"/>
                </a:solidFill>
                <a:latin typeface="Calibri" pitchFamily="34" charset="0"/>
                <a:ea typeface="Calibri" pitchFamily="34" charset="-122"/>
                <a:cs typeface="Calibri" pitchFamily="34" charset="-120"/>
              </a:rPr>
              <a:t>MULTIPLE TESTING</a:t>
            </a:r>
            <a:endParaRPr lang="en-US" sz="750" dirty="0"/>
          </a:p>
          <a:p>
            <a:pPr algn="l" indent="0" marL="0">
              <a:lnSpc>
                <a:spcPct val="104000"/>
              </a:lnSpc>
              <a:buNone/>
            </a:pPr>
            <a:r>
              <a:rPr lang="en-US" sz="840" dirty="0">
                <a:solidFill>
                  <a:srgbClr val="64430A"/>
                </a:solidFill>
                <a:latin typeface="Calibri" pitchFamily="34" charset="0"/>
                <a:ea typeface="Calibri" pitchFamily="34" charset="-122"/>
                <a:cs typeface="Calibri" pitchFamily="34" charset="-120"/>
              </a:rPr>
              <a:t>A spec declares how many variants were effectively tried. The in-sample t-stat hurdle then rises from a flat 2.0 toward 3.0 as that count grows — a disclosed heuristic in the spirit of Harvey, Liu &amp; Zhu, because a flat bar passes far too much noise once hundreds of factors have been mined.</a:t>
            </a:r>
            <a:endParaRPr lang="en-US" sz="750" dirty="0"/>
          </a:p>
        </p:txBody>
      </p:sp>
      <p:sp>
        <p:nvSpPr>
          <p:cNvPr id="30" name="Shape 21"/>
          <p:cNvSpPr/>
          <p:nvPr/>
        </p:nvSpPr>
        <p:spPr>
          <a:xfrm>
            <a:off x="2336292" y="2359152"/>
            <a:ext cx="0" cy="274320"/>
          </a:xfrm>
          <a:prstGeom prst="line">
            <a:avLst/>
          </a:prstGeom>
          <a:noFill/>
          <a:ln w="17780">
            <a:solidFill>
              <a:srgbClr val="C9871B"/>
            </a:solidFill>
            <a:prstDash val="solid"/>
            <a:headEnd type="none"/>
            <a:tailEnd type="triangle"/>
          </a:ln>
        </p:spPr>
      </p:sp>
      <p:sp>
        <p:nvSpPr>
          <p:cNvPr id="31" name="Shape 22"/>
          <p:cNvSpPr/>
          <p:nvPr/>
        </p:nvSpPr>
        <p:spPr>
          <a:xfrm>
            <a:off x="4352544" y="2670048"/>
            <a:ext cx="3483864" cy="1298448"/>
          </a:xfrm>
          <a:prstGeom prst="roundRect">
            <a:avLst>
              <a:gd name="adj" fmla="val 7042"/>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32" name="Shape 23"/>
          <p:cNvSpPr/>
          <p:nvPr/>
        </p:nvSpPr>
        <p:spPr>
          <a:xfrm>
            <a:off x="7379208" y="2807208"/>
            <a:ext cx="310896" cy="310896"/>
          </a:xfrm>
          <a:prstGeom prst="roundRect">
            <a:avLst>
              <a:gd name="adj" fmla="val 29412"/>
            </a:avLst>
          </a:prstGeom>
          <a:solidFill>
            <a:srgbClr val="C9871B"/>
          </a:solidFill>
          <a:ln/>
        </p:spPr>
      </p:sp>
      <p:pic>
        <p:nvPicPr>
          <p:cNvPr id="33" name="Image 7" descr="preencoded.png">    </p:cNvPr>
          <p:cNvPicPr>
            <a:picLocks noChangeAspect="1"/>
          </p:cNvPicPr>
          <p:nvPr/>
        </p:nvPicPr>
        <p:blipFill>
          <a:blip r:embed="rId8"/>
          <a:stretch>
            <a:fillRect/>
          </a:stretch>
        </p:blipFill>
        <p:spPr>
          <a:xfrm>
            <a:off x="7447605" y="2875605"/>
            <a:ext cx="174102" cy="174102"/>
          </a:xfrm>
          <a:prstGeom prst="rect">
            <a:avLst/>
          </a:prstGeom>
        </p:spPr>
      </p:pic>
      <p:sp>
        <p:nvSpPr>
          <p:cNvPr id="34" name="Text 24"/>
          <p:cNvSpPr txBox="1"/>
          <p:nvPr/>
        </p:nvSpPr>
        <p:spPr>
          <a:xfrm>
            <a:off x="4553712" y="2670048"/>
            <a:ext cx="3081528" cy="1298448"/>
          </a:xfrm>
          <a:prstGeom prst="rect">
            <a:avLst/>
          </a:prstGeom>
          <a:noFill/>
          <a:ln/>
        </p:spPr>
        <p:txBody>
          <a:bodyPr wrap="square" lIns="0" tIns="0" rIns="0" bIns="0" rtlCol="0" anchor="ctr"/>
          <a:lstStyle/>
          <a:p>
            <a:pPr algn="l" indent="0" marL="0">
              <a:lnSpc>
                <a:spcPct val="104000"/>
              </a:lnSpc>
              <a:buNone/>
            </a:pPr>
            <a:r>
              <a:rPr lang="en-US" sz="750" b="1" spc="110" kern="0" dirty="0">
                <a:solidFill>
                  <a:srgbClr val="C9871B"/>
                </a:solidFill>
                <a:latin typeface="Calibri" pitchFamily="34" charset="0"/>
                <a:ea typeface="Calibri" pitchFamily="34" charset="-122"/>
                <a:cs typeface="Calibri" pitchFamily="34" charset="-120"/>
              </a:rPr>
              <a:t>DEFLATED SHARPE RATIO</a:t>
            </a:r>
            <a:endParaRPr lang="en-US" sz="750" dirty="0"/>
          </a:p>
          <a:p>
            <a:pPr algn="l" indent="0" marL="0">
              <a:lnSpc>
                <a:spcPct val="104000"/>
              </a:lnSpc>
              <a:buNone/>
            </a:pPr>
            <a:r>
              <a:rPr lang="en-US" sz="840" dirty="0">
                <a:solidFill>
                  <a:srgbClr val="64430A"/>
                </a:solidFill>
                <a:latin typeface="Calibri" pitchFamily="34" charset="0"/>
                <a:ea typeface="Calibri" pitchFamily="34" charset="-122"/>
                <a:cs typeface="Calibri" pitchFamily="34" charset="-120"/>
              </a:rPr>
              <a:t>Bailey &amp; Lopez de Prado's probabilistic and deflated Sharpe: the probability the true Sharpe beats what best-of-N-trials luck alone would produce, given the series' own length, skew and kurtosis. Computed automatically from the in-sample long-short returns.</a:t>
            </a:r>
            <a:endParaRPr lang="en-US" sz="750" dirty="0"/>
          </a:p>
        </p:txBody>
      </p:sp>
      <p:sp>
        <p:nvSpPr>
          <p:cNvPr id="35" name="Shape 25"/>
          <p:cNvSpPr/>
          <p:nvPr/>
        </p:nvSpPr>
        <p:spPr>
          <a:xfrm>
            <a:off x="6094476" y="2359152"/>
            <a:ext cx="0" cy="274320"/>
          </a:xfrm>
          <a:prstGeom prst="line">
            <a:avLst/>
          </a:prstGeom>
          <a:noFill/>
          <a:ln w="17780">
            <a:solidFill>
              <a:srgbClr val="C9871B"/>
            </a:solidFill>
            <a:prstDash val="solid"/>
            <a:headEnd type="none"/>
            <a:tailEnd type="triangle"/>
          </a:ln>
        </p:spPr>
      </p:sp>
      <p:sp>
        <p:nvSpPr>
          <p:cNvPr id="36" name="Shape 26"/>
          <p:cNvSpPr/>
          <p:nvPr/>
        </p:nvSpPr>
        <p:spPr>
          <a:xfrm>
            <a:off x="8110728" y="2670048"/>
            <a:ext cx="3483864" cy="1298448"/>
          </a:xfrm>
          <a:prstGeom prst="roundRect">
            <a:avLst>
              <a:gd name="adj" fmla="val 7042"/>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37" name="Shape 27"/>
          <p:cNvSpPr/>
          <p:nvPr/>
        </p:nvSpPr>
        <p:spPr>
          <a:xfrm>
            <a:off x="11137392" y="2807208"/>
            <a:ext cx="310896" cy="310896"/>
          </a:xfrm>
          <a:prstGeom prst="roundRect">
            <a:avLst>
              <a:gd name="adj" fmla="val 29412"/>
            </a:avLst>
          </a:prstGeom>
          <a:solidFill>
            <a:srgbClr val="C9871B"/>
          </a:solidFill>
          <a:ln/>
        </p:spPr>
      </p:sp>
      <p:pic>
        <p:nvPicPr>
          <p:cNvPr id="38" name="Image 8" descr="preencoded.png">    </p:cNvPr>
          <p:cNvPicPr>
            <a:picLocks noChangeAspect="1"/>
          </p:cNvPicPr>
          <p:nvPr/>
        </p:nvPicPr>
        <p:blipFill>
          <a:blip r:embed="rId9"/>
          <a:stretch>
            <a:fillRect/>
          </a:stretch>
        </p:blipFill>
        <p:spPr>
          <a:xfrm>
            <a:off x="11205789" y="2875605"/>
            <a:ext cx="174102" cy="174102"/>
          </a:xfrm>
          <a:prstGeom prst="rect">
            <a:avLst/>
          </a:prstGeom>
        </p:spPr>
      </p:pic>
      <p:sp>
        <p:nvSpPr>
          <p:cNvPr id="39" name="Text 28"/>
          <p:cNvSpPr txBox="1"/>
          <p:nvPr/>
        </p:nvSpPr>
        <p:spPr>
          <a:xfrm>
            <a:off x="8311896" y="2670048"/>
            <a:ext cx="3081528" cy="1298448"/>
          </a:xfrm>
          <a:prstGeom prst="rect">
            <a:avLst/>
          </a:prstGeom>
          <a:noFill/>
          <a:ln/>
        </p:spPr>
        <p:txBody>
          <a:bodyPr wrap="square" lIns="0" tIns="0" rIns="0" bIns="0" rtlCol="0" anchor="ctr"/>
          <a:lstStyle/>
          <a:p>
            <a:pPr algn="l" indent="0" marL="0">
              <a:lnSpc>
                <a:spcPct val="104000"/>
              </a:lnSpc>
              <a:buNone/>
            </a:pPr>
            <a:r>
              <a:rPr lang="en-US" sz="750" b="1" spc="110" kern="0" dirty="0">
                <a:solidFill>
                  <a:srgbClr val="C9871B"/>
                </a:solidFill>
                <a:latin typeface="Calibri" pitchFamily="34" charset="0"/>
                <a:ea typeface="Calibri" pitchFamily="34" charset="-122"/>
                <a:cs typeface="Calibri" pitchFamily="34" charset="-120"/>
              </a:rPr>
              <a:t>BACKTEST OVERFITTING</a:t>
            </a:r>
            <a:endParaRPr lang="en-US" sz="750" dirty="0"/>
          </a:p>
          <a:p>
            <a:pPr algn="l" indent="0" marL="0">
              <a:lnSpc>
                <a:spcPct val="104000"/>
              </a:lnSpc>
              <a:buNone/>
            </a:pPr>
            <a:r>
              <a:rPr lang="en-US" sz="840" dirty="0">
                <a:solidFill>
                  <a:srgbClr val="64430A"/>
                </a:solidFill>
                <a:latin typeface="Calibri" pitchFamily="34" charset="0"/>
                <a:ea typeface="Calibri" pitchFamily="34" charset="-122"/>
                <a:cs typeface="Calibri" pitchFamily="34" charset="-120"/>
              </a:rPr>
              <a:t>Given two or more candidate variants for the same paper, combinatorially symmetric cross-validation asks how often the variant that looked best in training landed at or below the out-of-sample median — the probability the choice itself was overfitted.</a:t>
            </a:r>
            <a:endParaRPr lang="en-US" sz="750" dirty="0"/>
          </a:p>
        </p:txBody>
      </p:sp>
      <p:sp>
        <p:nvSpPr>
          <p:cNvPr id="40" name="Shape 29"/>
          <p:cNvSpPr/>
          <p:nvPr/>
        </p:nvSpPr>
        <p:spPr>
          <a:xfrm>
            <a:off x="9852660" y="2359152"/>
            <a:ext cx="0" cy="274320"/>
          </a:xfrm>
          <a:prstGeom prst="line">
            <a:avLst/>
          </a:prstGeom>
          <a:noFill/>
          <a:ln w="17780">
            <a:solidFill>
              <a:srgbClr val="C9871B"/>
            </a:solidFill>
            <a:prstDash val="solid"/>
            <a:headEnd type="none"/>
            <a:tailEnd type="triangle"/>
          </a:ln>
        </p:spPr>
      </p:sp>
      <p:sp>
        <p:nvSpPr>
          <p:cNvPr id="41" name="Text 30"/>
          <p:cNvSpPr txBox="1"/>
          <p:nvPr/>
        </p:nvSpPr>
        <p:spPr>
          <a:xfrm>
            <a:off x="594360" y="4169664"/>
            <a:ext cx="11000232" cy="201168"/>
          </a:xfrm>
          <a:prstGeom prst="rect">
            <a:avLst/>
          </a:prstGeom>
          <a:noFill/>
          <a:ln/>
        </p:spPr>
        <p:txBody>
          <a:bodyPr wrap="square" lIns="0" tIns="0" rIns="0" bIns="0" rtlCol="0" anchor="ctr"/>
          <a:lstStyle/>
          <a:p>
            <a:pPr algn="ctr" indent="0" marL="0">
              <a:buNone/>
            </a:pPr>
            <a:r>
              <a:rPr lang="en-US" sz="900" b="1" spc="140" kern="0" dirty="0">
                <a:solidFill>
                  <a:srgbClr val="64798F"/>
                </a:solidFill>
                <a:latin typeface="Calibri" pitchFamily="34" charset="0"/>
                <a:ea typeface="Calibri" pitchFamily="34" charset="-122"/>
                <a:cs typeface="Calibri" pitchFamily="34" charset="-120"/>
              </a:rPr>
              <a:t>AND THEN ONE VERDICT, WITH DECAY AS ITS OWN OUTCOME</a:t>
            </a:r>
            <a:endParaRPr lang="en-US" sz="900" dirty="0"/>
          </a:p>
        </p:txBody>
      </p:sp>
      <p:sp>
        <p:nvSpPr>
          <p:cNvPr id="42" name="Shape 31"/>
          <p:cNvSpPr/>
          <p:nvPr/>
        </p:nvSpPr>
        <p:spPr>
          <a:xfrm>
            <a:off x="594360" y="4425696"/>
            <a:ext cx="2097634" cy="365760"/>
          </a:xfrm>
          <a:prstGeom prst="roundRect">
            <a:avLst>
              <a:gd name="adj" fmla="val 35000"/>
            </a:avLst>
          </a:prstGeom>
          <a:solidFill>
            <a:srgbClr val="E0F3E3"/>
          </a:solidFill>
          <a:ln w="12700">
            <a:solidFill>
              <a:srgbClr val="2F8F48"/>
            </a:solidFill>
            <a:prstDash val="solid"/>
          </a:ln>
        </p:spPr>
      </p:sp>
      <p:sp>
        <p:nvSpPr>
          <p:cNvPr id="43" name="Text 32"/>
          <p:cNvSpPr txBox="1"/>
          <p:nvPr/>
        </p:nvSpPr>
        <p:spPr>
          <a:xfrm>
            <a:off x="594360" y="4425696"/>
            <a:ext cx="2097634" cy="365760"/>
          </a:xfrm>
          <a:prstGeom prst="rect">
            <a:avLst/>
          </a:prstGeom>
          <a:noFill/>
          <a:ln/>
        </p:spPr>
        <p:txBody>
          <a:bodyPr wrap="square" lIns="0" tIns="0" rIns="0" bIns="0" rtlCol="0" anchor="ctr"/>
          <a:lstStyle/>
          <a:p>
            <a:pPr algn="ctr" indent="0" marL="0">
              <a:buNone/>
            </a:pPr>
            <a:r>
              <a:rPr lang="en-US" sz="900" b="1" dirty="0">
                <a:solidFill>
                  <a:srgbClr val="17431F"/>
                </a:solidFill>
                <a:latin typeface="Calibri" pitchFamily="34" charset="0"/>
                <a:ea typeface="Calibri" pitchFamily="34" charset="-122"/>
                <a:cs typeface="Calibri" pitchFamily="34" charset="-120"/>
              </a:rPr>
              <a:t>Replicated</a:t>
            </a:r>
            <a:endParaRPr lang="en-US" sz="900" dirty="0"/>
          </a:p>
        </p:txBody>
      </p:sp>
      <p:sp>
        <p:nvSpPr>
          <p:cNvPr id="44" name="Shape 33"/>
          <p:cNvSpPr/>
          <p:nvPr/>
        </p:nvSpPr>
        <p:spPr>
          <a:xfrm>
            <a:off x="2820010" y="4425696"/>
            <a:ext cx="2097634" cy="365760"/>
          </a:xfrm>
          <a:prstGeom prst="roundRect">
            <a:avLst>
              <a:gd name="adj" fmla="val 35000"/>
            </a:avLst>
          </a:prstGeom>
          <a:solidFill>
            <a:srgbClr val="DCF2F4"/>
          </a:solidFill>
          <a:ln w="12700">
            <a:solidFill>
              <a:srgbClr val="108494"/>
            </a:solidFill>
            <a:prstDash val="solid"/>
          </a:ln>
        </p:spPr>
      </p:sp>
      <p:sp>
        <p:nvSpPr>
          <p:cNvPr id="45" name="Text 34"/>
          <p:cNvSpPr txBox="1"/>
          <p:nvPr/>
        </p:nvSpPr>
        <p:spPr>
          <a:xfrm>
            <a:off x="2820010" y="4425696"/>
            <a:ext cx="2097634" cy="365760"/>
          </a:xfrm>
          <a:prstGeom prst="rect">
            <a:avLst/>
          </a:prstGeom>
          <a:noFill/>
          <a:ln/>
        </p:spPr>
        <p:txBody>
          <a:bodyPr wrap="square" lIns="0" tIns="0" rIns="0" bIns="0" rtlCol="0" anchor="ctr"/>
          <a:lstStyle/>
          <a:p>
            <a:pPr algn="ctr" indent="0" marL="0">
              <a:buNone/>
            </a:pPr>
            <a:r>
              <a:rPr lang="en-US" sz="900" b="1" dirty="0">
                <a:solidFill>
                  <a:srgbClr val="0A4451"/>
                </a:solidFill>
                <a:latin typeface="Calibri" pitchFamily="34" charset="0"/>
                <a:ea typeface="Calibri" pitchFamily="34" charset="-122"/>
                <a:cs typeface="Calibri" pitchFamily="34" charset="-120"/>
              </a:rPr>
              <a:t>Partially</a:t>
            </a:r>
            <a:endParaRPr lang="en-US" sz="900" dirty="0"/>
          </a:p>
        </p:txBody>
      </p:sp>
      <p:sp>
        <p:nvSpPr>
          <p:cNvPr id="46" name="Shape 35"/>
          <p:cNvSpPr/>
          <p:nvPr/>
        </p:nvSpPr>
        <p:spPr>
          <a:xfrm>
            <a:off x="5045659" y="4425696"/>
            <a:ext cx="2097634" cy="365760"/>
          </a:xfrm>
          <a:prstGeom prst="roundRect">
            <a:avLst>
              <a:gd name="adj" fmla="val 35000"/>
            </a:avLst>
          </a:prstGeom>
          <a:solidFill>
            <a:srgbClr val="FBE2E8"/>
          </a:solidFill>
          <a:ln w="12700">
            <a:solidFill>
              <a:srgbClr val="CE3D64"/>
            </a:solidFill>
            <a:prstDash val="solid"/>
          </a:ln>
        </p:spPr>
      </p:sp>
      <p:sp>
        <p:nvSpPr>
          <p:cNvPr id="47" name="Text 36"/>
          <p:cNvSpPr txBox="1"/>
          <p:nvPr/>
        </p:nvSpPr>
        <p:spPr>
          <a:xfrm>
            <a:off x="5045659" y="4425696"/>
            <a:ext cx="2097634" cy="365760"/>
          </a:xfrm>
          <a:prstGeom prst="rect">
            <a:avLst/>
          </a:prstGeom>
          <a:noFill/>
          <a:ln/>
        </p:spPr>
        <p:txBody>
          <a:bodyPr wrap="square" lIns="0" tIns="0" rIns="0" bIns="0" rtlCol="0" anchor="ctr"/>
          <a:lstStyle/>
          <a:p>
            <a:pPr algn="ctr" indent="0" marL="0">
              <a:buNone/>
            </a:pPr>
            <a:r>
              <a:rPr lang="en-US" sz="900" b="1" dirty="0">
                <a:solidFill>
                  <a:srgbClr val="68182F"/>
                </a:solidFill>
                <a:latin typeface="Calibri" pitchFamily="34" charset="0"/>
                <a:ea typeface="Calibri" pitchFamily="34" charset="-122"/>
                <a:cs typeface="Calibri" pitchFamily="34" charset="-120"/>
              </a:rPr>
              <a:t>Not replicated</a:t>
            </a:r>
            <a:endParaRPr lang="en-US" sz="900" dirty="0"/>
          </a:p>
        </p:txBody>
      </p:sp>
      <p:sp>
        <p:nvSpPr>
          <p:cNvPr id="48" name="Shape 37"/>
          <p:cNvSpPr/>
          <p:nvPr/>
        </p:nvSpPr>
        <p:spPr>
          <a:xfrm>
            <a:off x="7271309" y="4425696"/>
            <a:ext cx="2097634" cy="365760"/>
          </a:xfrm>
          <a:prstGeom prst="roundRect">
            <a:avLst>
              <a:gd name="adj" fmla="val 35000"/>
            </a:avLst>
          </a:prstGeom>
          <a:solidFill>
            <a:srgbClr val="FCEDD4"/>
          </a:solidFill>
          <a:ln w="12700">
            <a:solidFill>
              <a:srgbClr val="C9871B"/>
            </a:solidFill>
            <a:prstDash val="solid"/>
          </a:ln>
        </p:spPr>
      </p:sp>
      <p:sp>
        <p:nvSpPr>
          <p:cNvPr id="49" name="Text 38"/>
          <p:cNvSpPr txBox="1"/>
          <p:nvPr/>
        </p:nvSpPr>
        <p:spPr>
          <a:xfrm>
            <a:off x="7271309" y="4425696"/>
            <a:ext cx="2097634" cy="365760"/>
          </a:xfrm>
          <a:prstGeom prst="rect">
            <a:avLst/>
          </a:prstGeom>
          <a:noFill/>
          <a:ln/>
        </p:spPr>
        <p:txBody>
          <a:bodyPr wrap="square" lIns="0" tIns="0" rIns="0" bIns="0" rtlCol="0" anchor="ctr"/>
          <a:lstStyle/>
          <a:p>
            <a:pPr algn="ctr" indent="0" marL="0">
              <a:buNone/>
            </a:pPr>
            <a:r>
              <a:rPr lang="en-US" sz="900" b="1" dirty="0">
                <a:solidFill>
                  <a:srgbClr val="64430A"/>
                </a:solidFill>
                <a:latin typeface="Calibri" pitchFamily="34" charset="0"/>
                <a:ea typeface="Calibri" pitchFamily="34" charset="-122"/>
                <a:cs typeface="Calibri" pitchFamily="34" charset="-120"/>
              </a:rPr>
              <a:t>Decayed out of sample</a:t>
            </a:r>
            <a:endParaRPr lang="en-US" sz="900" dirty="0"/>
          </a:p>
        </p:txBody>
      </p:sp>
      <p:sp>
        <p:nvSpPr>
          <p:cNvPr id="50" name="Shape 39"/>
          <p:cNvSpPr/>
          <p:nvPr/>
        </p:nvSpPr>
        <p:spPr>
          <a:xfrm>
            <a:off x="9496958" y="4425696"/>
            <a:ext cx="2097634" cy="365760"/>
          </a:xfrm>
          <a:prstGeom prst="roundRect">
            <a:avLst>
              <a:gd name="adj" fmla="val 35000"/>
            </a:avLst>
          </a:prstGeom>
          <a:solidFill>
            <a:srgbClr val="EAF0F5"/>
          </a:solidFill>
          <a:ln w="12700">
            <a:solidFill>
              <a:srgbClr val="64798F"/>
            </a:solidFill>
            <a:prstDash val="solid"/>
          </a:ln>
        </p:spPr>
      </p:sp>
      <p:sp>
        <p:nvSpPr>
          <p:cNvPr id="51" name="Text 40"/>
          <p:cNvSpPr txBox="1"/>
          <p:nvPr/>
        </p:nvSpPr>
        <p:spPr>
          <a:xfrm>
            <a:off x="9496958" y="4425696"/>
            <a:ext cx="2097634" cy="365760"/>
          </a:xfrm>
          <a:prstGeom prst="rect">
            <a:avLst/>
          </a:prstGeom>
          <a:noFill/>
          <a:ln/>
        </p:spPr>
        <p:txBody>
          <a:bodyPr wrap="square" lIns="0" tIns="0" rIns="0" bIns="0" rtlCol="0" anchor="ctr"/>
          <a:lstStyle/>
          <a:p>
            <a:pPr algn="ctr" indent="0" marL="0">
              <a:buNone/>
            </a:pPr>
            <a:r>
              <a:rPr lang="en-US" sz="900" b="1" dirty="0">
                <a:solidFill>
                  <a:srgbClr val="24354A"/>
                </a:solidFill>
                <a:latin typeface="Calibri" pitchFamily="34" charset="0"/>
                <a:ea typeface="Calibri" pitchFamily="34" charset="-122"/>
                <a:cs typeface="Calibri" pitchFamily="34" charset="-120"/>
              </a:rPr>
              <a:t>Insufficient data</a:t>
            </a:r>
            <a:endParaRPr lang="en-US" sz="900" dirty="0"/>
          </a:p>
        </p:txBody>
      </p:sp>
      <p:sp>
        <p:nvSpPr>
          <p:cNvPr id="52" name="Shape 41"/>
          <p:cNvSpPr/>
          <p:nvPr/>
        </p:nvSpPr>
        <p:spPr>
          <a:xfrm>
            <a:off x="594360" y="5029200"/>
            <a:ext cx="3532632" cy="941832"/>
          </a:xfrm>
          <a:prstGeom prst="roundRect">
            <a:avLst>
              <a:gd name="adj" fmla="val 3883"/>
            </a:avLst>
          </a:prstGeom>
          <a:solidFill>
            <a:srgbClr val="F4F7FA"/>
          </a:solidFill>
          <a:ln w="15875">
            <a:solidFill>
              <a:srgbClr val="DDE5ED"/>
            </a:solidFill>
            <a:prstDash val="solid"/>
          </a:ln>
        </p:spPr>
      </p:sp>
      <p:sp>
        <p:nvSpPr>
          <p:cNvPr id="53" name="Text 42"/>
          <p:cNvSpPr txBox="1"/>
          <p:nvPr/>
        </p:nvSpPr>
        <p:spPr>
          <a:xfrm>
            <a:off x="758952" y="5129784"/>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54" name="Text 43"/>
          <p:cNvSpPr txBox="1"/>
          <p:nvPr/>
        </p:nvSpPr>
        <p:spPr>
          <a:xfrm>
            <a:off x="758952" y="5349240"/>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arp/replication/{spec_graph,pipeline,signals}.py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arp/replication/{backtest_engine,metrics,compare}.py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deflated_sharpe.py · cpcv.py · paper_discovery.py</a:t>
            </a:r>
            <a:endParaRPr lang="en-US" sz="860" dirty="0"/>
          </a:p>
        </p:txBody>
      </p:sp>
      <p:sp>
        <p:nvSpPr>
          <p:cNvPr id="55" name="Shape 44"/>
          <p:cNvSpPr/>
          <p:nvPr/>
        </p:nvSpPr>
        <p:spPr>
          <a:xfrm>
            <a:off x="4328160" y="5029200"/>
            <a:ext cx="3532632" cy="941832"/>
          </a:xfrm>
          <a:prstGeom prst="roundRect">
            <a:avLst>
              <a:gd name="adj" fmla="val 3883"/>
            </a:avLst>
          </a:prstGeom>
          <a:solidFill>
            <a:srgbClr val="F4F7FA"/>
          </a:solidFill>
          <a:ln w="15875">
            <a:solidFill>
              <a:srgbClr val="DDE5ED"/>
            </a:solidFill>
            <a:prstDash val="solid"/>
          </a:ln>
        </p:spPr>
      </p:sp>
      <p:sp>
        <p:nvSpPr>
          <p:cNvPr id="56" name="Text 45"/>
          <p:cNvSpPr txBox="1"/>
          <p:nvPr/>
        </p:nvSpPr>
        <p:spPr>
          <a:xfrm>
            <a:off x="4492752" y="5129784"/>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7" name="Text 46"/>
          <p:cNvSpPr txBox="1"/>
          <p:nvPr/>
        </p:nvSpPr>
        <p:spPr>
          <a:xfrm>
            <a:off x="4492752" y="5349240"/>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a paper's text, a price source, optional characteristics.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a StrategySpec with provenance, two backtests and a</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ReplicationComparisonReport, persisted as one run.</a:t>
            </a:r>
            <a:endParaRPr lang="en-US" sz="860" dirty="0"/>
          </a:p>
        </p:txBody>
      </p:sp>
      <p:sp>
        <p:nvSpPr>
          <p:cNvPr id="58" name="Shape 47"/>
          <p:cNvSpPr/>
          <p:nvPr/>
        </p:nvSpPr>
        <p:spPr>
          <a:xfrm>
            <a:off x="8061960" y="5029200"/>
            <a:ext cx="3532632" cy="941832"/>
          </a:xfrm>
          <a:prstGeom prst="roundRect">
            <a:avLst>
              <a:gd name="adj" fmla="val 3883"/>
            </a:avLst>
          </a:prstGeom>
          <a:solidFill>
            <a:srgbClr val="F4F7FA"/>
          </a:solidFill>
          <a:ln w="15875">
            <a:solidFill>
              <a:srgbClr val="DDE5ED"/>
            </a:solidFill>
            <a:prstDash val="solid"/>
          </a:ln>
        </p:spPr>
      </p:sp>
      <p:sp>
        <p:nvSpPr>
          <p:cNvPr id="59" name="Text 48"/>
          <p:cNvSpPr txBox="1"/>
          <p:nvPr/>
        </p:nvSpPr>
        <p:spPr>
          <a:xfrm>
            <a:off x="8226552" y="5129784"/>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60" name="Text 49"/>
          <p:cNvSpPr txBox="1"/>
          <p:nvPr/>
        </p:nvSpPr>
        <p:spPr>
          <a:xfrm>
            <a:off x="8226552" y="5349240"/>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 golden set regression-tests the engine before a change.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Sentiment scoring may not use hindsight past a doc's date.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Thresholds are disclosed defaults, not tuned on outcomes.</a:t>
            </a:r>
            <a:endParaRPr lang="en-US" sz="86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Research Pipeline — Architecture and Process</dc:title>
  <dc:subject>PptxGenJS Presentation</dc:subject>
  <dc:creator>Agentic Research Pipeline</dc:creator>
  <cp:lastModifiedBy>Agentic Research Pipeline</cp:lastModifiedBy>
  <cp:revision>1</cp:revision>
  <dcterms:created xsi:type="dcterms:W3CDTF">2026-09-14T20:13:56Z</dcterms:created>
  <dcterms:modified xsi:type="dcterms:W3CDTF">2026-09-14T20:13:56Z</dcterms:modified>
</cp:coreProperties>
</file>