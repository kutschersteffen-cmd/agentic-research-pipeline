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one codebase, not ten tools. LangChain is the LLM client behind a single narrow interface every agent calls through; LangGraph models each pipeline's per-company flow as an explicit state graph; LlamaIndex backs chunking and the BM25 retriever. The orchestration layer is shared: every run type is checkpointed to runs/&lt;run_id&gt;/results.jsonl, cancellable and resumable, with one review queue pattern. Storage is file-based JSONL on purpose — an append-only file is easier to keep auditable than a table with UPDATEs — with Postgres/pgvector available only where a real multi-way join earns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 the Data-Point Extraction Engine. The point is precision at 4,000-company scale: a keyword-prefiltered evidence step keeps cost down, an extractor/verifier pair on two different models decorrelates errors, and a programmatic grounding check catches fabricated quotes mechanically. Low confidence, ungrounded citations and verifier disagreements go to a human review queue rather than into the trusted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reference flow the other extraction-shaped pipelines reuse. Note the two deliberate short-circuits: no evidence costs nothing, and a structured fact (XBRL, or a catalogue row) is never re-litigated by an LLM. The batch fan-out, checkpointing and resumability live outside the LangGraph graph, in run_batch and RunStore, which is why a 4,000-company run can be cancelled and picked back up without redoing completed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2: detecting and defining a theme, then finding who is exposed to it. The taxonomy library is the 'detector' half — seven derivation methods, including news and earnings-call mining and ETF-holdings synthesis, which is how a theme the market is only just starting to talk about gets a defensible activity boundary. Every taxonomy is versioned and explicitly ratified. The matching half runs an Advocate/Opposing/Adjudicator debate per company per activity, short-circuiting when a hard disclosed revenue number already answers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cost and precision story in one: structured data first, grounded extraction second, qualitative debate last. It mirrors how revenue-based thematic exposure is actually built by index providers. The sector-relevance gate exists purely to avoid an unconditional extraction call across a 4,000-company by N-activity grid; it gates path 2 only, so a company outside the obvious sector can still reach the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3: portfolio-level aggregation on top of the company-level research the other functions produce. The aggregation engine is deliberately zero-LLM — a risk number has to be reproducible. The natural-language Q&amp;A agent only parses a question into a validated query spec; the engine computes the figure and the spec is always shown, which is the same grounding discipline as citation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schemas, storage, entity resolution, the aggregation engine, data-point mapping, the analytics builder, the Q&amp;A agent and the climate metrics are built; the custodian, ESG-API and news connectors are mock implementations of real interfaces, and the frontend for this pillar is not built yet. Postgres is worth it here specifically because aggregation is a genuine three-way join across holdings, securities and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4: Company Financials. The design point is the combined pass — these three are almost always wanted together, so extracting them separately would mean three document fetches and three extractor/verifier pairs per company. Everything else is the extraction engine's machinery unchanged: grounded citations, an independent verifier on a different model, provenance, and a review queue. It is also the place a structured vendor feed would plug in ahead of the LLM, exactly as XBRL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ARP_XBRL_FACTS_ENABLED is on by default and needs no key — it is a free SEC endpoint. The overlay is deliberately narrow: only the scalar total is replaced, because that is the only part XBRL tags consistently across filers.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5: Document Discovery. This is what keeps the rest of the system fed. The crawler is deliberately conservative — same domain, robots.txt respected, bounded depth — because it runs across thousands of companies. The distinction between 'homepage unreachable' and 'nothing found' matters operationally: one is a data-quality problem to fix, the other is a real result. Deep-link failures inside a crawl stay silent skips, since at scale those are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search client is an abstract interface on purpose: the default is a free no-key DuckDuckGo HTML client, which is fine for development but a deployment needing reliable resolution at scale would swap in a paid search API without touching the crawl logic. The same interface backs taxonomy source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6: identity resolution. It matters because every other function keys off company_id — a wrong identity silently corrupts document discovery, extraction and portfolio joins alike. An earlier version mirrored the Advocate/Opposing/Adjudicator triad here and was cut back to one call: the cost was real and the debate added nothing, because the question has a factual answer rather than two defensible readings.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stressing in a demo: the graph is built so the expensive path is the exception. Supplying website and CIK in the universe CSV makes identity resolution free, which is also why the README recommends supplying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7: the indirect exposure tier. This exists because the debate answers 'does this company's own disclosed activity fall in scope' and has nothing to say about a specialty-chemicals supplier three hops upstream of battery manufacturing. It is opt-in because it needs a real input-output dataset, and it is kept in a separate field because blending a structural proxy into a disclosure-based verdict would make both less interpretable.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cost shape: the expensive part of an input-output tier would be per-company LLM work, and there is almost none — one classification per activity and one per company, both reusable across the whole run, and both skippable by supplying ISIC codes in the universe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8: Transition Plan Assessment. This is a replication, so fidelity to the paper matters more than improving on it: the indicator wording, the persona, the greenwashing-scepticism guidance and the 200-word cap are verbatim, and the single-pass shape is kept rather than adding this codebase's usual verifier. The two deviations are both about not trusting a model's self-report, which is the one place the replication deliberately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note for a demo: 64 indicators per company means this is the most call-intensive function in the system, which is exactly why the retrieval step stays cheap and deterministic. Run arp transition-plan indicators to show the actual indicator set before running an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9: engagement. The design principle is that nothing autonomous touches an external party. The system never sends anything — a human does, and the system records that it happened and advances the milestone. Engagement and voting share one record store deliberately: how you voted on a company's say-on-pay resolution and what you told its IR team last quarter are the same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the controversy feed is an interface with a static implementation today — a real MSCI/Sustainalytics/RepRisk integration is a house decision, not an architectural gap. Likewise there is no background daemon: which stages run unattended versus get pulled by an analyst is a workflow choice, and decide_next_action is callable from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10: proxy voting. The shape mirrors the revenue-exposure cascade — deterministic rules over a disclosed number first, a categorical model judgment only where nothing hard resolves it. The illustrative rules shipped (auditor independence above a non-audit fee ratio, an extreme disclosed CEO pay ratio) are a starting point, not house policy. Casting is gated by construction: cast_vote raises CastVoteError without an approved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illustrative policy rules are deliberately simple and are meant to be replaced with real house policy; the point of the design is that they are code, evaluated against extracted figures, rather than prompt text. ManualInstructionBallotPlatform exercises the real casting contract today without transmitting anywhere, so swapping in a custodian or ISS/Glass-Lewis integration changes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E0A526"/>
                </a:solidFill>
                <a:latin typeface="Calibri" pitchFamily="34" charset="0"/>
                <a:ea typeface="Calibri" pitchFamily="34" charset="-122"/>
                <a:cs typeface="Calibri" pitchFamily="34" charset="-120"/>
              </a:rPr>
              <a:t>SYSTEM ARCHITECTURE</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pipeline, ten functions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B9CDDD"/>
                </a:solidFill>
                <a:latin typeface="Calibri" pitchFamily="34" charset="0"/>
                <a:ea typeface="Calibri" pitchFamily="34" charset="-122"/>
                <a:cs typeface="Calibri" pitchFamily="34" charset="-120"/>
              </a:rPr>
              <a:t>Ten agent pipelines over a single orchestration layer and one set of shared services — file-based by default, no database required.</a:t>
            </a:r>
            <a:endParaRPr lang="en-US" sz="1400" dirty="0"/>
          </a:p>
        </p:txBody>
      </p:sp>
      <p:sp>
        <p:nvSpPr>
          <p:cNvPr id="5" name="Shape 3"/>
          <p:cNvSpPr/>
          <p:nvPr/>
        </p:nvSpPr>
        <p:spPr>
          <a:xfrm>
            <a:off x="594360" y="1783080"/>
            <a:ext cx="11000232" cy="786384"/>
          </a:xfrm>
          <a:prstGeom prst="roundRect">
            <a:avLst>
              <a:gd name="adj" fmla="val 6977"/>
            </a:avLst>
          </a:prstGeom>
          <a:solidFill>
            <a:srgbClr val="1E3F5E"/>
          </a:solidFill>
          <a:ln/>
        </p:spPr>
      </p:sp>
      <p:sp>
        <p:nvSpPr>
          <p:cNvPr id="6" name="Text 4"/>
          <p:cNvSpPr txBox="1"/>
          <p:nvPr/>
        </p:nvSpPr>
        <p:spPr>
          <a:xfrm>
            <a:off x="850392" y="1911096"/>
            <a:ext cx="2011680" cy="256032"/>
          </a:xfrm>
          <a:prstGeom prst="rect">
            <a:avLst/>
          </a:prstGeom>
          <a:noFill/>
          <a:ln/>
        </p:spPr>
        <p:txBody>
          <a:bodyPr wrap="square" lIns="0" tIns="0" rIns="0" bIns="0" rtlCol="0" anchor="ctr"/>
          <a:lstStyle/>
          <a:p>
            <a:pPr indent="0" marL="0">
              <a:buNone/>
            </a:pPr>
            <a:r>
              <a:rPr lang="en-US" sz="1300" b="1" dirty="0">
                <a:solidFill>
                  <a:srgbClr val="E0A526"/>
                </a:solidFill>
                <a:latin typeface="Cambria" pitchFamily="34" charset="0"/>
                <a:ea typeface="Cambria" pitchFamily="34" charset="-122"/>
                <a:cs typeface="Cambria" pitchFamily="34" charset="-120"/>
              </a:rPr>
              <a:t>INTERFACES</a:t>
            </a:r>
            <a:endParaRPr lang="en-US" sz="1300" dirty="0"/>
          </a:p>
        </p:txBody>
      </p:sp>
      <p:sp>
        <p:nvSpPr>
          <p:cNvPr id="7" name="Text 5"/>
          <p:cNvSpPr txBox="1"/>
          <p:nvPr/>
        </p:nvSpPr>
        <p:spPr>
          <a:xfrm>
            <a:off x="850392" y="2194560"/>
            <a:ext cx="2011680" cy="219456"/>
          </a:xfrm>
          <a:prstGeom prst="rect">
            <a:avLst/>
          </a:prstGeom>
          <a:noFill/>
          <a:ln/>
        </p:spPr>
        <p:txBody>
          <a:bodyPr wrap="square" lIns="0" tIns="0" rIns="0" bIns="0" rtlCol="0" anchor="ctr"/>
          <a:lstStyle/>
          <a:p>
            <a:pPr indent="0" marL="0">
              <a:buNone/>
            </a:pPr>
            <a:r>
              <a:rPr lang="en-US" sz="900" i="1" dirty="0">
                <a:solidFill>
                  <a:srgbClr val="B9CDDD"/>
                </a:solidFill>
                <a:latin typeface="Calibri" pitchFamily="34" charset="0"/>
                <a:ea typeface="Calibri" pitchFamily="34" charset="-122"/>
                <a:cs typeface="Calibri" pitchFamily="34" charset="-120"/>
              </a:rPr>
              <a:t>who drives it</a:t>
            </a:r>
            <a:endParaRPr lang="en-US" sz="900" dirty="0"/>
          </a:p>
        </p:txBody>
      </p:sp>
      <p:sp>
        <p:nvSpPr>
          <p:cNvPr id="8" name="Text 6"/>
          <p:cNvSpPr txBox="1"/>
          <p:nvPr/>
        </p:nvSpPr>
        <p:spPr>
          <a:xfrm>
            <a:off x="3063240" y="1892808"/>
            <a:ext cx="8257032" cy="27432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React + TypeScript UI  ·  FastAPI (17 routers)  ·  Typer CLI</a:t>
            </a:r>
            <a:endParaRPr lang="en-US" sz="1050" dirty="0"/>
          </a:p>
        </p:txBody>
      </p:sp>
      <p:sp>
        <p:nvSpPr>
          <p:cNvPr id="9" name="Text 7"/>
          <p:cNvSpPr txBox="1"/>
          <p:nvPr/>
        </p:nvSpPr>
        <p:spPr>
          <a:xfrm>
            <a:off x="3063240" y="2185416"/>
            <a:ext cx="8257032" cy="310896"/>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The CLI drives exactly the same pipelines as the UI — the intended path for an unattended 4,000-company batch.</a:t>
            </a:r>
            <a:endParaRPr lang="en-US" sz="950" dirty="0"/>
          </a:p>
        </p:txBody>
      </p:sp>
      <p:sp>
        <p:nvSpPr>
          <p:cNvPr id="10" name="Shape 8"/>
          <p:cNvSpPr/>
          <p:nvPr/>
        </p:nvSpPr>
        <p:spPr>
          <a:xfrm>
            <a:off x="594360" y="2697480"/>
            <a:ext cx="11000232" cy="786384"/>
          </a:xfrm>
          <a:prstGeom prst="roundRect">
            <a:avLst>
              <a:gd name="adj" fmla="val 6977"/>
            </a:avLst>
          </a:prstGeom>
          <a:solidFill>
            <a:srgbClr val="1E3F5E"/>
          </a:solidFill>
          <a:ln/>
        </p:spPr>
      </p:sp>
      <p:sp>
        <p:nvSpPr>
          <p:cNvPr id="11" name="Text 9"/>
          <p:cNvSpPr txBox="1"/>
          <p:nvPr/>
        </p:nvSpPr>
        <p:spPr>
          <a:xfrm>
            <a:off x="850392" y="2825496"/>
            <a:ext cx="2011680" cy="256032"/>
          </a:xfrm>
          <a:prstGeom prst="rect">
            <a:avLst/>
          </a:prstGeom>
          <a:noFill/>
          <a:ln/>
        </p:spPr>
        <p:txBody>
          <a:bodyPr wrap="square" lIns="0" tIns="0" rIns="0" bIns="0" rtlCol="0" anchor="ctr"/>
          <a:lstStyle/>
          <a:p>
            <a:pPr indent="0" marL="0">
              <a:buNone/>
            </a:pPr>
            <a:r>
              <a:rPr lang="en-US" sz="1300" b="1" dirty="0">
                <a:solidFill>
                  <a:srgbClr val="E0A526"/>
                </a:solidFill>
                <a:latin typeface="Cambria" pitchFamily="34" charset="0"/>
                <a:ea typeface="Cambria" pitchFamily="34" charset="-122"/>
                <a:cs typeface="Cambria" pitchFamily="34" charset="-120"/>
              </a:rPr>
              <a:t>ORCHESTRATION</a:t>
            </a:r>
            <a:endParaRPr lang="en-US" sz="1300" dirty="0"/>
          </a:p>
        </p:txBody>
      </p:sp>
      <p:sp>
        <p:nvSpPr>
          <p:cNvPr id="12" name="Text 10"/>
          <p:cNvSpPr txBox="1"/>
          <p:nvPr/>
        </p:nvSpPr>
        <p:spPr>
          <a:xfrm>
            <a:off x="850392" y="3108960"/>
            <a:ext cx="2011680" cy="219456"/>
          </a:xfrm>
          <a:prstGeom prst="rect">
            <a:avLst/>
          </a:prstGeom>
          <a:noFill/>
          <a:ln/>
        </p:spPr>
        <p:txBody>
          <a:bodyPr wrap="square" lIns="0" tIns="0" rIns="0" bIns="0" rtlCol="0" anchor="ctr"/>
          <a:lstStyle/>
          <a:p>
            <a:pPr indent="0" marL="0">
              <a:buNone/>
            </a:pPr>
            <a:r>
              <a:rPr lang="en-US" sz="900" i="1" dirty="0">
                <a:solidFill>
                  <a:srgbClr val="B9CDDD"/>
                </a:solidFill>
                <a:latin typeface="Calibri" pitchFamily="34" charset="0"/>
                <a:ea typeface="Calibri" pitchFamily="34" charset="-122"/>
                <a:cs typeface="Calibri" pitchFamily="34" charset="-120"/>
              </a:rPr>
              <a:t>how a run behaves</a:t>
            </a:r>
            <a:endParaRPr lang="en-US" sz="900" dirty="0"/>
          </a:p>
        </p:txBody>
      </p:sp>
      <p:sp>
        <p:nvSpPr>
          <p:cNvPr id="13" name="Text 11"/>
          <p:cNvSpPr txBox="1"/>
          <p:nvPr/>
        </p:nvSpPr>
        <p:spPr>
          <a:xfrm>
            <a:off x="3063240" y="2807208"/>
            <a:ext cx="8257032" cy="27432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JobManager + RunManifest  ·  run_batch  ·  review queue  ·  cost tracker</a:t>
            </a:r>
            <a:endParaRPr lang="en-US" sz="1050" dirty="0"/>
          </a:p>
        </p:txBody>
      </p:sp>
      <p:sp>
        <p:nvSpPr>
          <p:cNvPr id="14" name="Text 12"/>
          <p:cNvSpPr txBox="1"/>
          <p:nvPr/>
        </p:nvSpPr>
        <p:spPr>
          <a:xfrm>
            <a:off x="3063240" y="3099816"/>
            <a:ext cx="8257032" cy="310896"/>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Bounded concurrency, per-company isolation, a checkpoint on every result, cooperative cancel and resume.</a:t>
            </a:r>
            <a:endParaRPr lang="en-US" sz="950" dirty="0"/>
          </a:p>
        </p:txBody>
      </p:sp>
      <p:sp>
        <p:nvSpPr>
          <p:cNvPr id="15" name="Shape 13"/>
          <p:cNvSpPr/>
          <p:nvPr/>
        </p:nvSpPr>
        <p:spPr>
          <a:xfrm>
            <a:off x="594360" y="3611880"/>
            <a:ext cx="11000232" cy="786384"/>
          </a:xfrm>
          <a:prstGeom prst="roundRect">
            <a:avLst>
              <a:gd name="adj" fmla="val 6977"/>
            </a:avLst>
          </a:prstGeom>
          <a:solidFill>
            <a:srgbClr val="1E3F5E"/>
          </a:solidFill>
          <a:ln/>
        </p:spPr>
      </p:sp>
      <p:sp>
        <p:nvSpPr>
          <p:cNvPr id="16" name="Text 14"/>
          <p:cNvSpPr txBox="1"/>
          <p:nvPr/>
        </p:nvSpPr>
        <p:spPr>
          <a:xfrm>
            <a:off x="850392" y="3739896"/>
            <a:ext cx="2011680" cy="256032"/>
          </a:xfrm>
          <a:prstGeom prst="rect">
            <a:avLst/>
          </a:prstGeom>
          <a:noFill/>
          <a:ln/>
        </p:spPr>
        <p:txBody>
          <a:bodyPr wrap="square" lIns="0" tIns="0" rIns="0" bIns="0" rtlCol="0" anchor="ctr"/>
          <a:lstStyle/>
          <a:p>
            <a:pPr indent="0" marL="0">
              <a:buNone/>
            </a:pPr>
            <a:r>
              <a:rPr lang="en-US" sz="1300" b="1" dirty="0">
                <a:solidFill>
                  <a:srgbClr val="E0A526"/>
                </a:solidFill>
                <a:latin typeface="Cambria" pitchFamily="34" charset="0"/>
                <a:ea typeface="Cambria" pitchFamily="34" charset="-122"/>
                <a:cs typeface="Cambria" pitchFamily="34" charset="-120"/>
              </a:rPr>
              <a:t>AGENT PIPELINES</a:t>
            </a:r>
            <a:endParaRPr lang="en-US" sz="1300" dirty="0"/>
          </a:p>
        </p:txBody>
      </p:sp>
      <p:sp>
        <p:nvSpPr>
          <p:cNvPr id="17" name="Text 15"/>
          <p:cNvSpPr txBox="1"/>
          <p:nvPr/>
        </p:nvSpPr>
        <p:spPr>
          <a:xfrm>
            <a:off x="850392" y="4023360"/>
            <a:ext cx="2011680" cy="219456"/>
          </a:xfrm>
          <a:prstGeom prst="rect">
            <a:avLst/>
          </a:prstGeom>
          <a:noFill/>
          <a:ln/>
        </p:spPr>
        <p:txBody>
          <a:bodyPr wrap="square" lIns="0" tIns="0" rIns="0" bIns="0" rtlCol="0" anchor="ctr"/>
          <a:lstStyle/>
          <a:p>
            <a:pPr indent="0" marL="0">
              <a:buNone/>
            </a:pPr>
            <a:r>
              <a:rPr lang="en-US" sz="900" i="1" dirty="0">
                <a:solidFill>
                  <a:srgbClr val="B9CDDD"/>
                </a:solidFill>
                <a:latin typeface="Calibri" pitchFamily="34" charset="0"/>
                <a:ea typeface="Calibri" pitchFamily="34" charset="-122"/>
                <a:cs typeface="Calibri" pitchFamily="34" charset="-120"/>
              </a:rPr>
              <a:t>the ten functions</a:t>
            </a:r>
            <a:endParaRPr lang="en-US" sz="900" dirty="0"/>
          </a:p>
        </p:txBody>
      </p:sp>
      <p:sp>
        <p:nvSpPr>
          <p:cNvPr id="18" name="Text 16"/>
          <p:cNvSpPr txBox="1"/>
          <p:nvPr/>
        </p:nvSpPr>
        <p:spPr>
          <a:xfrm>
            <a:off x="3063240" y="3721608"/>
            <a:ext cx="8257032" cy="27432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theme  ·  extraction  ·  financials  ·  discovery  ·  identity  ·  indirect exposure  ·  transition plan  ·  engagement  ·  voting  ·  portfolio</a:t>
            </a:r>
            <a:endParaRPr lang="en-US" sz="1050" dirty="0"/>
          </a:p>
        </p:txBody>
      </p:sp>
      <p:sp>
        <p:nvSpPr>
          <p:cNvPr id="19" name="Text 17"/>
          <p:cNvSpPr txBox="1"/>
          <p:nvPr/>
        </p:nvSpPr>
        <p:spPr>
          <a:xfrm>
            <a:off x="3063240" y="4014216"/>
            <a:ext cx="8257032" cy="310896"/>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Each models its per-company flow as an explicit LangGraph state graph; the batch fan-out stays outside the graph.</a:t>
            </a:r>
            <a:endParaRPr lang="en-US" sz="950" dirty="0"/>
          </a:p>
        </p:txBody>
      </p:sp>
      <p:sp>
        <p:nvSpPr>
          <p:cNvPr id="20" name="Shape 18"/>
          <p:cNvSpPr/>
          <p:nvPr/>
        </p:nvSpPr>
        <p:spPr>
          <a:xfrm>
            <a:off x="594360" y="4526280"/>
            <a:ext cx="11000232" cy="786384"/>
          </a:xfrm>
          <a:prstGeom prst="roundRect">
            <a:avLst>
              <a:gd name="adj" fmla="val 6977"/>
            </a:avLst>
          </a:prstGeom>
          <a:solidFill>
            <a:srgbClr val="1E3F5E"/>
          </a:solidFill>
          <a:ln/>
        </p:spPr>
      </p:sp>
      <p:sp>
        <p:nvSpPr>
          <p:cNvPr id="21" name="Text 19"/>
          <p:cNvSpPr txBox="1"/>
          <p:nvPr/>
        </p:nvSpPr>
        <p:spPr>
          <a:xfrm>
            <a:off x="850392" y="4654296"/>
            <a:ext cx="2011680" cy="256032"/>
          </a:xfrm>
          <a:prstGeom prst="rect">
            <a:avLst/>
          </a:prstGeom>
          <a:noFill/>
          <a:ln/>
        </p:spPr>
        <p:txBody>
          <a:bodyPr wrap="square" lIns="0" tIns="0" rIns="0" bIns="0" rtlCol="0" anchor="ctr"/>
          <a:lstStyle/>
          <a:p>
            <a:pPr indent="0" marL="0">
              <a:buNone/>
            </a:pPr>
            <a:r>
              <a:rPr lang="en-US" sz="1300" b="1" dirty="0">
                <a:solidFill>
                  <a:srgbClr val="E0A526"/>
                </a:solidFill>
                <a:latin typeface="Cambria" pitchFamily="34" charset="0"/>
                <a:ea typeface="Cambria" pitchFamily="34" charset="-122"/>
                <a:cs typeface="Cambria" pitchFamily="34" charset="-120"/>
              </a:rPr>
              <a:t>SHARED SERVICES</a:t>
            </a:r>
            <a:endParaRPr lang="en-US" sz="1300" dirty="0"/>
          </a:p>
        </p:txBody>
      </p:sp>
      <p:sp>
        <p:nvSpPr>
          <p:cNvPr id="22" name="Text 20"/>
          <p:cNvSpPr txBox="1"/>
          <p:nvPr/>
        </p:nvSpPr>
        <p:spPr>
          <a:xfrm>
            <a:off x="850392" y="4937760"/>
            <a:ext cx="2011680" cy="219456"/>
          </a:xfrm>
          <a:prstGeom prst="rect">
            <a:avLst/>
          </a:prstGeom>
          <a:noFill/>
          <a:ln/>
        </p:spPr>
        <p:txBody>
          <a:bodyPr wrap="square" lIns="0" tIns="0" rIns="0" bIns="0" rtlCol="0" anchor="ctr"/>
          <a:lstStyle/>
          <a:p>
            <a:pPr indent="0" marL="0">
              <a:buNone/>
            </a:pPr>
            <a:r>
              <a:rPr lang="en-US" sz="900" i="1" dirty="0">
                <a:solidFill>
                  <a:srgbClr val="B9CDDD"/>
                </a:solidFill>
                <a:latin typeface="Calibri" pitchFamily="34" charset="0"/>
                <a:ea typeface="Calibri" pitchFamily="34" charset="-122"/>
                <a:cs typeface="Calibri" pitchFamily="34" charset="-120"/>
              </a:rPr>
              <a:t>used by every pipeline</a:t>
            </a:r>
            <a:endParaRPr lang="en-US" sz="900" dirty="0"/>
          </a:p>
        </p:txBody>
      </p:sp>
      <p:sp>
        <p:nvSpPr>
          <p:cNvPr id="23" name="Text 21"/>
          <p:cNvSpPr txBox="1"/>
          <p:nvPr/>
        </p:nvSpPr>
        <p:spPr>
          <a:xfrm>
            <a:off x="3063240" y="4636008"/>
            <a:ext cx="8257032" cy="27432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LLM client  ·  evidence retrieval  ·  grounding check  ·  document ingestion</a:t>
            </a:r>
            <a:endParaRPr lang="en-US" sz="1050" dirty="0"/>
          </a:p>
        </p:txBody>
      </p:sp>
      <p:sp>
        <p:nvSpPr>
          <p:cNvPr id="24" name="Text 22"/>
          <p:cNvSpPr txBox="1"/>
          <p:nvPr/>
        </p:nvSpPr>
        <p:spPr>
          <a:xfrm>
            <a:off x="3063240" y="4928616"/>
            <a:ext cx="8257032" cy="310896"/>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Schema-forced structured output with a retry loop, a disk cache and a separate verifier model; BM25 + multilingual embeddings; EDGAR, XBRL, crawler and local files behind one registry.</a:t>
            </a:r>
            <a:endParaRPr lang="en-US" sz="950" dirty="0"/>
          </a:p>
        </p:txBody>
      </p:sp>
      <p:sp>
        <p:nvSpPr>
          <p:cNvPr id="25" name="Shape 23"/>
          <p:cNvSpPr/>
          <p:nvPr/>
        </p:nvSpPr>
        <p:spPr>
          <a:xfrm>
            <a:off x="594360" y="5440680"/>
            <a:ext cx="11000232" cy="786384"/>
          </a:xfrm>
          <a:prstGeom prst="roundRect">
            <a:avLst>
              <a:gd name="adj" fmla="val 6977"/>
            </a:avLst>
          </a:prstGeom>
          <a:solidFill>
            <a:srgbClr val="1E3F5E"/>
          </a:solidFill>
          <a:ln/>
        </p:spPr>
      </p:sp>
      <p:sp>
        <p:nvSpPr>
          <p:cNvPr id="26" name="Text 24"/>
          <p:cNvSpPr txBox="1"/>
          <p:nvPr/>
        </p:nvSpPr>
        <p:spPr>
          <a:xfrm>
            <a:off x="850392" y="5568696"/>
            <a:ext cx="2011680" cy="256032"/>
          </a:xfrm>
          <a:prstGeom prst="rect">
            <a:avLst/>
          </a:prstGeom>
          <a:noFill/>
          <a:ln/>
        </p:spPr>
        <p:txBody>
          <a:bodyPr wrap="square" lIns="0" tIns="0" rIns="0" bIns="0" rtlCol="0" anchor="ctr"/>
          <a:lstStyle/>
          <a:p>
            <a:pPr indent="0" marL="0">
              <a:buNone/>
            </a:pPr>
            <a:r>
              <a:rPr lang="en-US" sz="1300" b="1" dirty="0">
                <a:solidFill>
                  <a:srgbClr val="E0A526"/>
                </a:solidFill>
                <a:latin typeface="Cambria" pitchFamily="34" charset="0"/>
                <a:ea typeface="Cambria" pitchFamily="34" charset="-122"/>
                <a:cs typeface="Cambria" pitchFamily="34" charset="-120"/>
              </a:rPr>
              <a:t>STORAGE</a:t>
            </a:r>
            <a:endParaRPr lang="en-US" sz="1300" dirty="0"/>
          </a:p>
        </p:txBody>
      </p:sp>
      <p:sp>
        <p:nvSpPr>
          <p:cNvPr id="27" name="Text 25"/>
          <p:cNvSpPr txBox="1"/>
          <p:nvPr/>
        </p:nvSpPr>
        <p:spPr>
          <a:xfrm>
            <a:off x="850392" y="5852160"/>
            <a:ext cx="2011680" cy="219456"/>
          </a:xfrm>
          <a:prstGeom prst="rect">
            <a:avLst/>
          </a:prstGeom>
          <a:noFill/>
          <a:ln/>
        </p:spPr>
        <p:txBody>
          <a:bodyPr wrap="square" lIns="0" tIns="0" rIns="0" bIns="0" rtlCol="0" anchor="ctr"/>
          <a:lstStyle/>
          <a:p>
            <a:pPr indent="0" marL="0">
              <a:buNone/>
            </a:pPr>
            <a:r>
              <a:rPr lang="en-US" sz="900" i="1" dirty="0">
                <a:solidFill>
                  <a:srgbClr val="B9CDDD"/>
                </a:solidFill>
                <a:latin typeface="Calibri" pitchFamily="34" charset="0"/>
                <a:ea typeface="Calibri" pitchFamily="34" charset="-122"/>
                <a:cs typeface="Calibri" pitchFamily="34" charset="-120"/>
              </a:rPr>
              <a:t>what persists</a:t>
            </a:r>
            <a:endParaRPr lang="en-US" sz="900" dirty="0"/>
          </a:p>
        </p:txBody>
      </p:sp>
      <p:sp>
        <p:nvSpPr>
          <p:cNvPr id="28" name="Text 26"/>
          <p:cNvSpPr txBox="1"/>
          <p:nvPr/>
        </p:nvSpPr>
        <p:spPr>
          <a:xfrm>
            <a:off x="3063240" y="5550408"/>
            <a:ext cx="8257032" cy="27432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runs/  ·  taxonomies/  ·  engagements/  ·  ballots/  ·  portfolios/  —  JSON and JSONL</a:t>
            </a:r>
            <a:endParaRPr lang="en-US" sz="1050" dirty="0"/>
          </a:p>
        </p:txBody>
      </p:sp>
      <p:sp>
        <p:nvSpPr>
          <p:cNvPr id="29" name="Text 27"/>
          <p:cNvSpPr txBox="1"/>
          <p:nvPr/>
        </p:nvSpPr>
        <p:spPr>
          <a:xfrm>
            <a:off x="3063240" y="5843016"/>
            <a:ext cx="8257032" cy="310896"/>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Audit trails are append-only files, never updated rows. Opt-in Postgres/pgvector for portfolio holdings and the embeddings cache.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01   ·   DATA-POINT EXTRACTION ENGINE</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Information Extraction</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Schema-defined data points pulled out of real disclosures — and every figure traceable to the page it came from.</a:t>
            </a:r>
            <a:endParaRPr lang="en-US" sz="1400" dirty="0"/>
          </a:p>
        </p:txBody>
      </p:sp>
      <p:sp>
        <p:nvSpPr>
          <p:cNvPr id="5" name="Shape 3"/>
          <p:cNvSpPr/>
          <p:nvPr/>
        </p:nvSpPr>
        <p:spPr>
          <a:xfrm>
            <a:off x="594360" y="1828800"/>
            <a:ext cx="2031797" cy="1188720"/>
          </a:xfrm>
          <a:prstGeom prst="roundRect">
            <a:avLst>
              <a:gd name="adj" fmla="val 4615"/>
            </a:avLst>
          </a:prstGeom>
          <a:solidFill>
            <a:srgbClr val="F1F5F9"/>
          </a:solidFill>
          <a:ln w="12700">
            <a:solidFill>
              <a:srgbClr val="DBE4EC"/>
            </a:solidFill>
            <a:prstDash val="solid"/>
          </a:ln>
        </p:spPr>
      </p:sp>
      <p:sp>
        <p:nvSpPr>
          <p:cNvPr id="6" name="Shape 4"/>
          <p:cNvSpPr/>
          <p:nvPr/>
        </p:nvSpPr>
        <p:spPr>
          <a:xfrm>
            <a:off x="749808" y="1965960"/>
            <a:ext cx="310896" cy="310896"/>
          </a:xfrm>
          <a:prstGeom prst="ellipse">
            <a:avLst/>
          </a:prstGeom>
          <a:solidFill>
            <a:srgbClr val="1C7293"/>
          </a:solidFill>
          <a:ln/>
        </p:spPr>
      </p:sp>
      <p:sp>
        <p:nvSpPr>
          <p:cNvPr id="7" name="Text 5"/>
          <p:cNvSpPr txBox="1"/>
          <p:nvPr/>
        </p:nvSpPr>
        <p:spPr>
          <a:xfrm>
            <a:off x="749808"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43000"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Define</a:t>
            </a:r>
            <a:endParaRPr lang="en-US" sz="1350" dirty="0"/>
          </a:p>
        </p:txBody>
      </p:sp>
      <p:sp>
        <p:nvSpPr>
          <p:cNvPr id="9" name="Text 7"/>
          <p:cNvSpPr txBox="1"/>
          <p:nvPr/>
        </p:nvSpPr>
        <p:spPr>
          <a:xfrm>
            <a:off x="749808"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A data point is a schema: meaning, unit, edge cases, seed keywords.</a:t>
            </a:r>
            <a:endParaRPr lang="en-US" sz="950" dirty="0"/>
          </a:p>
        </p:txBody>
      </p:sp>
      <p:sp>
        <p:nvSpPr>
          <p:cNvPr id="10" name="Text 8"/>
          <p:cNvSpPr txBox="1"/>
          <p:nvPr/>
        </p:nvSpPr>
        <p:spPr>
          <a:xfrm>
            <a:off x="2626157"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2836469" y="1828800"/>
            <a:ext cx="2031797" cy="1188720"/>
          </a:xfrm>
          <a:prstGeom prst="roundRect">
            <a:avLst>
              <a:gd name="adj" fmla="val 4615"/>
            </a:avLst>
          </a:prstGeom>
          <a:solidFill>
            <a:srgbClr val="F1F5F9"/>
          </a:solidFill>
          <a:ln w="12700">
            <a:solidFill>
              <a:srgbClr val="DBE4EC"/>
            </a:solidFill>
            <a:prstDash val="solid"/>
          </a:ln>
        </p:spPr>
      </p:sp>
      <p:sp>
        <p:nvSpPr>
          <p:cNvPr id="12" name="Shape 10"/>
          <p:cNvSpPr/>
          <p:nvPr/>
        </p:nvSpPr>
        <p:spPr>
          <a:xfrm>
            <a:off x="2991917" y="1965960"/>
            <a:ext cx="310896" cy="310896"/>
          </a:xfrm>
          <a:prstGeom prst="ellipse">
            <a:avLst/>
          </a:prstGeom>
          <a:solidFill>
            <a:srgbClr val="1C7293"/>
          </a:solidFill>
          <a:ln/>
        </p:spPr>
      </p:sp>
      <p:sp>
        <p:nvSpPr>
          <p:cNvPr id="13" name="Text 11"/>
          <p:cNvSpPr txBox="1"/>
          <p:nvPr/>
        </p:nvSpPr>
        <p:spPr>
          <a:xfrm>
            <a:off x="2991917"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3385109"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Retrieve</a:t>
            </a:r>
            <a:endParaRPr lang="en-US" sz="1350" dirty="0"/>
          </a:p>
        </p:txBody>
      </p:sp>
      <p:sp>
        <p:nvSpPr>
          <p:cNvPr id="15" name="Text 13"/>
          <p:cNvSpPr txBox="1"/>
          <p:nvPr/>
        </p:nvSpPr>
        <p:spPr>
          <a:xfrm>
            <a:off x="2991917"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Keyword-prefiltered BM25 + embedding search over the company's filings.</a:t>
            </a:r>
            <a:endParaRPr lang="en-US" sz="950" dirty="0"/>
          </a:p>
        </p:txBody>
      </p:sp>
      <p:sp>
        <p:nvSpPr>
          <p:cNvPr id="16" name="Text 14"/>
          <p:cNvSpPr txBox="1"/>
          <p:nvPr/>
        </p:nvSpPr>
        <p:spPr>
          <a:xfrm>
            <a:off x="4868266"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5078578" y="1828800"/>
            <a:ext cx="2031797" cy="1188720"/>
          </a:xfrm>
          <a:prstGeom prst="roundRect">
            <a:avLst>
              <a:gd name="adj" fmla="val 4615"/>
            </a:avLst>
          </a:prstGeom>
          <a:solidFill>
            <a:srgbClr val="F1F5F9"/>
          </a:solidFill>
          <a:ln w="12700">
            <a:solidFill>
              <a:srgbClr val="DBE4EC"/>
            </a:solidFill>
            <a:prstDash val="solid"/>
          </a:ln>
        </p:spPr>
      </p:sp>
      <p:sp>
        <p:nvSpPr>
          <p:cNvPr id="18" name="Shape 16"/>
          <p:cNvSpPr/>
          <p:nvPr/>
        </p:nvSpPr>
        <p:spPr>
          <a:xfrm>
            <a:off x="5234026" y="1965960"/>
            <a:ext cx="310896" cy="310896"/>
          </a:xfrm>
          <a:prstGeom prst="ellipse">
            <a:avLst/>
          </a:prstGeom>
          <a:solidFill>
            <a:srgbClr val="1C7293"/>
          </a:solidFill>
          <a:ln/>
        </p:spPr>
      </p:sp>
      <p:sp>
        <p:nvSpPr>
          <p:cNvPr id="19" name="Text 17"/>
          <p:cNvSpPr txBox="1"/>
          <p:nvPr/>
        </p:nvSpPr>
        <p:spPr>
          <a:xfrm>
            <a:off x="5234026"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5627218"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Extract</a:t>
            </a:r>
            <a:endParaRPr lang="en-US" sz="1350" dirty="0"/>
          </a:p>
        </p:txBody>
      </p:sp>
      <p:sp>
        <p:nvSpPr>
          <p:cNvPr id="21" name="Text 19"/>
          <p:cNvSpPr txBox="1"/>
          <p:nvPr/>
        </p:nvSpPr>
        <p:spPr>
          <a:xfrm>
            <a:off x="5234026"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Schema-forced structured output, with a validation-retry loop.</a:t>
            </a:r>
            <a:endParaRPr lang="en-US" sz="950" dirty="0"/>
          </a:p>
        </p:txBody>
      </p:sp>
      <p:sp>
        <p:nvSpPr>
          <p:cNvPr id="22" name="Text 20"/>
          <p:cNvSpPr txBox="1"/>
          <p:nvPr/>
        </p:nvSpPr>
        <p:spPr>
          <a:xfrm>
            <a:off x="7110374"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7320686" y="1828800"/>
            <a:ext cx="2031797" cy="1188720"/>
          </a:xfrm>
          <a:prstGeom prst="roundRect">
            <a:avLst>
              <a:gd name="adj" fmla="val 4615"/>
            </a:avLst>
          </a:prstGeom>
          <a:solidFill>
            <a:srgbClr val="F1F5F9"/>
          </a:solidFill>
          <a:ln w="12700">
            <a:solidFill>
              <a:srgbClr val="DBE4EC"/>
            </a:solidFill>
            <a:prstDash val="solid"/>
          </a:ln>
        </p:spPr>
      </p:sp>
      <p:sp>
        <p:nvSpPr>
          <p:cNvPr id="24" name="Shape 22"/>
          <p:cNvSpPr/>
          <p:nvPr/>
        </p:nvSpPr>
        <p:spPr>
          <a:xfrm>
            <a:off x="7476134" y="1965960"/>
            <a:ext cx="310896" cy="310896"/>
          </a:xfrm>
          <a:prstGeom prst="ellipse">
            <a:avLst/>
          </a:prstGeom>
          <a:solidFill>
            <a:srgbClr val="1C7293"/>
          </a:solidFill>
          <a:ln/>
        </p:spPr>
      </p:sp>
      <p:sp>
        <p:nvSpPr>
          <p:cNvPr id="25" name="Text 23"/>
          <p:cNvSpPr txBox="1"/>
          <p:nvPr/>
        </p:nvSpPr>
        <p:spPr>
          <a:xfrm>
            <a:off x="7476134"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4"/>
          <p:cNvSpPr txBox="1"/>
          <p:nvPr/>
        </p:nvSpPr>
        <p:spPr>
          <a:xfrm>
            <a:off x="7869326"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Verify</a:t>
            </a:r>
            <a:endParaRPr lang="en-US" sz="1350" dirty="0"/>
          </a:p>
        </p:txBody>
      </p:sp>
      <p:sp>
        <p:nvSpPr>
          <p:cNvPr id="27" name="Text 25"/>
          <p:cNvSpPr txBox="1"/>
          <p:nvPr/>
        </p:nvSpPr>
        <p:spPr>
          <a:xfrm>
            <a:off x="7476134"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An independent agent re-reads the evidence and is told to disagree.</a:t>
            </a:r>
            <a:endParaRPr lang="en-US" sz="950" dirty="0"/>
          </a:p>
        </p:txBody>
      </p:sp>
      <p:sp>
        <p:nvSpPr>
          <p:cNvPr id="28" name="Text 26"/>
          <p:cNvSpPr txBox="1"/>
          <p:nvPr/>
        </p:nvSpPr>
        <p:spPr>
          <a:xfrm>
            <a:off x="9352483"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562795" y="1828800"/>
            <a:ext cx="2031797" cy="1188720"/>
          </a:xfrm>
          <a:prstGeom prst="roundRect">
            <a:avLst>
              <a:gd name="adj" fmla="val 4615"/>
            </a:avLst>
          </a:prstGeom>
          <a:solidFill>
            <a:srgbClr val="F1F5F9"/>
          </a:solidFill>
          <a:ln w="12700">
            <a:solidFill>
              <a:srgbClr val="DBE4EC"/>
            </a:solidFill>
            <a:prstDash val="solid"/>
          </a:ln>
        </p:spPr>
      </p:sp>
      <p:sp>
        <p:nvSpPr>
          <p:cNvPr id="30" name="Shape 28"/>
          <p:cNvSpPr/>
          <p:nvPr/>
        </p:nvSpPr>
        <p:spPr>
          <a:xfrm>
            <a:off x="9718243" y="1965960"/>
            <a:ext cx="310896" cy="310896"/>
          </a:xfrm>
          <a:prstGeom prst="ellipse">
            <a:avLst/>
          </a:prstGeom>
          <a:solidFill>
            <a:srgbClr val="1C7293"/>
          </a:solidFill>
          <a:ln/>
        </p:spPr>
      </p:sp>
      <p:sp>
        <p:nvSpPr>
          <p:cNvPr id="31" name="Text 29"/>
          <p:cNvSpPr txBox="1"/>
          <p:nvPr/>
        </p:nvSpPr>
        <p:spPr>
          <a:xfrm>
            <a:off x="9718243"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2" name="Text 30"/>
          <p:cNvSpPr txBox="1"/>
          <p:nvPr/>
        </p:nvSpPr>
        <p:spPr>
          <a:xfrm>
            <a:off x="10111435"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Ground</a:t>
            </a:r>
            <a:endParaRPr lang="en-US" sz="1350" dirty="0"/>
          </a:p>
        </p:txBody>
      </p:sp>
      <p:sp>
        <p:nvSpPr>
          <p:cNvPr id="33" name="Text 31"/>
          <p:cNvSpPr txBox="1"/>
          <p:nvPr/>
        </p:nvSpPr>
        <p:spPr>
          <a:xfrm>
            <a:off x="9718243"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Each citation matched in code against the original document text.</a:t>
            </a:r>
            <a:endParaRPr lang="en-US" sz="950" dirty="0"/>
          </a:p>
        </p:txBody>
      </p:sp>
      <p:sp>
        <p:nvSpPr>
          <p:cNvPr id="34" name="Shape 32"/>
          <p:cNvSpPr/>
          <p:nvPr/>
        </p:nvSpPr>
        <p:spPr>
          <a:xfrm>
            <a:off x="594360" y="3337560"/>
            <a:ext cx="3456432" cy="1371600"/>
          </a:xfrm>
          <a:prstGeom prst="roundRect">
            <a:avLst>
              <a:gd name="adj" fmla="val 4000"/>
            </a:avLst>
          </a:prstGeom>
          <a:solidFill>
            <a:srgbClr val="FFFFFF"/>
          </a:solidFill>
          <a:ln w="12700">
            <a:solidFill>
              <a:srgbClr val="DBE4EC"/>
            </a:solidFill>
            <a:prstDash val="solid"/>
          </a:ln>
        </p:spPr>
      </p:sp>
      <p:sp>
        <p:nvSpPr>
          <p:cNvPr id="35" name="Shape 33"/>
          <p:cNvSpPr/>
          <p:nvPr/>
        </p:nvSpPr>
        <p:spPr>
          <a:xfrm>
            <a:off x="795528" y="3575304"/>
            <a:ext cx="118872" cy="118872"/>
          </a:xfrm>
          <a:prstGeom prst="ellipse">
            <a:avLst/>
          </a:prstGeom>
          <a:solidFill>
            <a:srgbClr val="E0A526"/>
          </a:solidFill>
          <a:ln/>
        </p:spPr>
      </p:sp>
      <p:sp>
        <p:nvSpPr>
          <p:cNvPr id="36" name="Text 34"/>
          <p:cNvSpPr txBox="1"/>
          <p:nvPr/>
        </p:nvSpPr>
        <p:spPr>
          <a:xfrm>
            <a:off x="10332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Decorrelated verification</a:t>
            </a:r>
            <a:endParaRPr lang="en-US" sz="1350" dirty="0"/>
          </a:p>
        </p:txBody>
      </p:sp>
      <p:sp>
        <p:nvSpPr>
          <p:cNvPr id="37" name="Text 35"/>
          <p:cNvSpPr txBox="1"/>
          <p:nvPr/>
        </p:nvSpPr>
        <p:spPr>
          <a:xfrm>
            <a:off x="7955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verifier runs on a deliberately different model from the extractor, so the two don't share a blind spot and repeat the same mistake.</a:t>
            </a:r>
            <a:endParaRPr lang="en-US" sz="1050" dirty="0"/>
          </a:p>
        </p:txBody>
      </p:sp>
      <p:sp>
        <p:nvSpPr>
          <p:cNvPr id="38" name="Shape 36"/>
          <p:cNvSpPr/>
          <p:nvPr/>
        </p:nvSpPr>
        <p:spPr>
          <a:xfrm>
            <a:off x="4251960" y="3337560"/>
            <a:ext cx="3456432" cy="1371600"/>
          </a:xfrm>
          <a:prstGeom prst="roundRect">
            <a:avLst>
              <a:gd name="adj" fmla="val 4000"/>
            </a:avLst>
          </a:prstGeom>
          <a:solidFill>
            <a:srgbClr val="FFFFFF"/>
          </a:solidFill>
          <a:ln w="12700">
            <a:solidFill>
              <a:srgbClr val="DBE4EC"/>
            </a:solidFill>
            <a:prstDash val="solid"/>
          </a:ln>
        </p:spPr>
      </p:sp>
      <p:sp>
        <p:nvSpPr>
          <p:cNvPr id="39" name="Shape 37"/>
          <p:cNvSpPr/>
          <p:nvPr/>
        </p:nvSpPr>
        <p:spPr>
          <a:xfrm>
            <a:off x="4453128" y="3575304"/>
            <a:ext cx="118872" cy="118872"/>
          </a:xfrm>
          <a:prstGeom prst="ellipse">
            <a:avLst/>
          </a:prstGeom>
          <a:solidFill>
            <a:srgbClr val="E0A526"/>
          </a:solidFill>
          <a:ln/>
        </p:spPr>
      </p:sp>
      <p:sp>
        <p:nvSpPr>
          <p:cNvPr id="40" name="Text 38"/>
          <p:cNvSpPr txBox="1"/>
          <p:nvPr/>
        </p:nvSpPr>
        <p:spPr>
          <a:xfrm>
            <a:off x="46908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Grounding, not self-report</a:t>
            </a:r>
            <a:endParaRPr lang="en-US" sz="1350" dirty="0"/>
          </a:p>
        </p:txBody>
      </p:sp>
      <p:sp>
        <p:nvSpPr>
          <p:cNvPr id="41" name="Text 39"/>
          <p:cNvSpPr txBox="1"/>
          <p:nvPr/>
        </p:nvSpPr>
        <p:spPr>
          <a:xfrm>
            <a:off x="44531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 citation must be an exact substring of the source; its PDF page or sheet name is computed from the verified match, never asked of the model.</a:t>
            </a:r>
            <a:endParaRPr lang="en-US" sz="1050" dirty="0"/>
          </a:p>
        </p:txBody>
      </p:sp>
      <p:sp>
        <p:nvSpPr>
          <p:cNvPr id="42" name="Shape 40"/>
          <p:cNvSpPr/>
          <p:nvPr/>
        </p:nvSpPr>
        <p:spPr>
          <a:xfrm>
            <a:off x="594360" y="4892040"/>
            <a:ext cx="3456432" cy="1371600"/>
          </a:xfrm>
          <a:prstGeom prst="roundRect">
            <a:avLst>
              <a:gd name="adj" fmla="val 4000"/>
            </a:avLst>
          </a:prstGeom>
          <a:solidFill>
            <a:srgbClr val="FFFFFF"/>
          </a:solidFill>
          <a:ln w="12700">
            <a:solidFill>
              <a:srgbClr val="DBE4EC"/>
            </a:solidFill>
            <a:prstDash val="solid"/>
          </a:ln>
        </p:spPr>
      </p:sp>
      <p:sp>
        <p:nvSpPr>
          <p:cNvPr id="43" name="Shape 41"/>
          <p:cNvSpPr/>
          <p:nvPr/>
        </p:nvSpPr>
        <p:spPr>
          <a:xfrm>
            <a:off x="795528" y="5129784"/>
            <a:ext cx="118872" cy="118872"/>
          </a:xfrm>
          <a:prstGeom prst="ellipse">
            <a:avLst/>
          </a:prstGeom>
          <a:solidFill>
            <a:srgbClr val="E0A526"/>
          </a:solidFill>
          <a:ln/>
        </p:spPr>
      </p:sp>
      <p:sp>
        <p:nvSpPr>
          <p:cNvPr id="44" name="Text 42"/>
          <p:cNvSpPr txBox="1"/>
          <p:nvPr/>
        </p:nvSpPr>
        <p:spPr>
          <a:xfrm>
            <a:off x="10332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Structured facts come first</a:t>
            </a:r>
            <a:endParaRPr lang="en-US" sz="1350" dirty="0"/>
          </a:p>
        </p:txBody>
      </p:sp>
      <p:sp>
        <p:nvSpPr>
          <p:cNvPr id="45" name="Text 43"/>
          <p:cNvSpPr txBox="1"/>
          <p:nvPr/>
        </p:nvSpPr>
        <p:spPr>
          <a:xfrm>
            <a:off x="7955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SEC XBRL figures override the model's read of prose for CapEx and R&amp;D totals. Anything a company did not disclose stays null — never estimated.</a:t>
            </a:r>
            <a:endParaRPr lang="en-US" sz="1050" dirty="0"/>
          </a:p>
        </p:txBody>
      </p:sp>
      <p:sp>
        <p:nvSpPr>
          <p:cNvPr id="46" name="Shape 44"/>
          <p:cNvSpPr/>
          <p:nvPr/>
        </p:nvSpPr>
        <p:spPr>
          <a:xfrm>
            <a:off x="4251960" y="4892040"/>
            <a:ext cx="3456432" cy="1371600"/>
          </a:xfrm>
          <a:prstGeom prst="roundRect">
            <a:avLst>
              <a:gd name="adj" fmla="val 4000"/>
            </a:avLst>
          </a:prstGeom>
          <a:solidFill>
            <a:srgbClr val="FFFFFF"/>
          </a:solidFill>
          <a:ln w="12700">
            <a:solidFill>
              <a:srgbClr val="DBE4EC"/>
            </a:solidFill>
            <a:prstDash val="solid"/>
          </a:ln>
        </p:spPr>
      </p:sp>
      <p:sp>
        <p:nvSpPr>
          <p:cNvPr id="47" name="Shape 45"/>
          <p:cNvSpPr/>
          <p:nvPr/>
        </p:nvSpPr>
        <p:spPr>
          <a:xfrm>
            <a:off x="4453128" y="5129784"/>
            <a:ext cx="118872" cy="118872"/>
          </a:xfrm>
          <a:prstGeom prst="ellipse">
            <a:avLst/>
          </a:prstGeom>
          <a:solidFill>
            <a:srgbClr val="E0A526"/>
          </a:solidFill>
          <a:ln/>
        </p:spPr>
      </p:sp>
      <p:sp>
        <p:nvSpPr>
          <p:cNvPr id="48" name="Text 46"/>
          <p:cNvSpPr txBox="1"/>
          <p:nvPr/>
        </p:nvSpPr>
        <p:spPr>
          <a:xfrm>
            <a:off x="46908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Provenance and a golden set</a:t>
            </a:r>
            <a:endParaRPr lang="en-US" sz="1350" dirty="0"/>
          </a:p>
        </p:txBody>
      </p:sp>
      <p:sp>
        <p:nvSpPr>
          <p:cNvPr id="49" name="Text 47"/>
          <p:cNvSpPr txBox="1"/>
          <p:nvPr/>
        </p:nvSpPr>
        <p:spPr>
          <a:xfrm>
            <a:off x="44531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Every field records the models and a hash of their prompts; a set of hand-verified cases regression-tests the real pipeline before a change ships.</a:t>
            </a:r>
            <a:endParaRPr lang="en-US" sz="1050" dirty="0"/>
          </a:p>
        </p:txBody>
      </p:sp>
      <p:sp>
        <p:nvSpPr>
          <p:cNvPr id="50" name="Shape 48"/>
          <p:cNvSpPr/>
          <p:nvPr/>
        </p:nvSpPr>
        <p:spPr>
          <a:xfrm>
            <a:off x="7909560" y="3337560"/>
            <a:ext cx="3685032" cy="2926080"/>
          </a:xfrm>
          <a:prstGeom prst="roundRect">
            <a:avLst>
              <a:gd name="adj" fmla="val 1875"/>
            </a:avLst>
          </a:prstGeom>
          <a:solidFill>
            <a:srgbClr val="10243A"/>
          </a:solidFill>
          <a:ln/>
        </p:spPr>
      </p:sp>
      <p:sp>
        <p:nvSpPr>
          <p:cNvPr id="51" name="Text 49"/>
          <p:cNvSpPr txBox="1"/>
          <p:nvPr/>
        </p:nvSpPr>
        <p:spPr>
          <a:xfrm>
            <a:off x="8183880" y="3538728"/>
            <a:ext cx="3136392" cy="219456"/>
          </a:xfrm>
          <a:prstGeom prst="rect">
            <a:avLst/>
          </a:prstGeom>
          <a:noFill/>
          <a:ln/>
        </p:spPr>
        <p:txBody>
          <a:bodyPr wrap="square" lIns="0" tIns="0" rIns="0" bIns="0" rtlCol="0" anchor="ctr"/>
          <a:lstStyle/>
          <a:p>
            <a:pPr indent="0" marL="0">
              <a:buNone/>
            </a:pPr>
            <a:r>
              <a:rPr lang="en-US" sz="950" b="1" spc="160" kern="0" dirty="0">
                <a:solidFill>
                  <a:srgbClr val="B9CDDD"/>
                </a:solidFill>
                <a:latin typeface="Calibri" pitchFamily="34" charset="0"/>
                <a:ea typeface="Calibri" pitchFamily="34" charset="-122"/>
                <a:cs typeface="Calibri" pitchFamily="34" charset="-120"/>
              </a:rPr>
              <a:t>AT A GLANCE</a:t>
            </a:r>
            <a:endParaRPr lang="en-US" sz="950" dirty="0"/>
          </a:p>
        </p:txBody>
      </p:sp>
      <p:sp>
        <p:nvSpPr>
          <p:cNvPr id="52" name="Text 50"/>
          <p:cNvSpPr txBox="1"/>
          <p:nvPr/>
        </p:nvSpPr>
        <p:spPr>
          <a:xfrm>
            <a:off x="8183880" y="3886200"/>
            <a:ext cx="13716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~4,000</a:t>
            </a:r>
            <a:endParaRPr lang="en-US" sz="2400" dirty="0"/>
          </a:p>
        </p:txBody>
      </p:sp>
      <p:sp>
        <p:nvSpPr>
          <p:cNvPr id="53" name="Text 51"/>
          <p:cNvSpPr txBox="1"/>
          <p:nvPr/>
        </p:nvSpPr>
        <p:spPr>
          <a:xfrm>
            <a:off x="9601200" y="3867912"/>
            <a:ext cx="17190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companies per run — checkpointed, resumable, isolated per company</a:t>
            </a:r>
            <a:endParaRPr lang="en-US" sz="950" dirty="0"/>
          </a:p>
        </p:txBody>
      </p:sp>
      <p:sp>
        <p:nvSpPr>
          <p:cNvPr id="54" name="Text 52"/>
          <p:cNvSpPr txBox="1"/>
          <p:nvPr/>
        </p:nvSpPr>
        <p:spPr>
          <a:xfrm>
            <a:off x="8183880" y="4791456"/>
            <a:ext cx="13716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2 models</a:t>
            </a:r>
            <a:endParaRPr lang="en-US" sz="2400" dirty="0"/>
          </a:p>
        </p:txBody>
      </p:sp>
      <p:sp>
        <p:nvSpPr>
          <p:cNvPr id="55" name="Text 53"/>
          <p:cNvSpPr txBox="1"/>
          <p:nvPr/>
        </p:nvSpPr>
        <p:spPr>
          <a:xfrm>
            <a:off x="9601200" y="4773168"/>
            <a:ext cx="17190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an extractor and an independent verifier on every single field</a:t>
            </a:r>
            <a:endParaRPr lang="en-US" sz="950" dirty="0"/>
          </a:p>
        </p:txBody>
      </p:sp>
      <p:sp>
        <p:nvSpPr>
          <p:cNvPr id="56" name="Text 54"/>
          <p:cNvSpPr txBox="1"/>
          <p:nvPr/>
        </p:nvSpPr>
        <p:spPr>
          <a:xfrm>
            <a:off x="8183880" y="5696712"/>
            <a:ext cx="13716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100%</a:t>
            </a:r>
            <a:endParaRPr lang="en-US" sz="2400" dirty="0"/>
          </a:p>
        </p:txBody>
      </p:sp>
      <p:sp>
        <p:nvSpPr>
          <p:cNvPr id="57" name="Text 55"/>
          <p:cNvSpPr txBox="1"/>
          <p:nvPr/>
        </p:nvSpPr>
        <p:spPr>
          <a:xfrm>
            <a:off x="9601200" y="5678424"/>
            <a:ext cx="17190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of citations re-checked in code against the original document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01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Extraction: how a field is filled</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One LangGraph state graph per company per field, wrapped in the shared batch runner.</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Plan the run — </a:t>
            </a:r>
            <a:pPr indent="0" marL="0">
              <a:buNone/>
            </a:pPr>
            <a:r>
              <a:rPr lang="en-US" sz="1050" dirty="0">
                <a:solidFill>
                  <a:srgbClr val="5A6B78"/>
                </a:solidFill>
                <a:latin typeface="Calibri" pitchFamily="34" charset="0"/>
                <a:ea typeface="Calibri" pitchFamily="34" charset="-122"/>
                <a:cs typeface="Calibri" pitchFamily="34" charset="-120"/>
              </a:rPr>
              <a:t>a universe CSV and a DataPointSchema create a run manifest; every company becomes an isolated, checkpointed work item in run_batch.</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Fetch and parse once — </a:t>
            </a:r>
            <a:pPr indent="0" marL="0">
              <a:buNone/>
            </a:pPr>
            <a:r>
              <a:rPr lang="en-US" sz="1050" dirty="0">
                <a:solidFill>
                  <a:srgbClr val="5A6B78"/>
                </a:solidFill>
                <a:latin typeface="Calibri" pitchFamily="34" charset="0"/>
                <a:ea typeface="Calibri" pitchFamily="34" charset="-122"/>
                <a:cs typeface="Calibri" pitchFamily="34" charset="-120"/>
              </a:rPr>
              <a:t>DocumentSourceRegistry pulls EDGAR filings, crawler downloads and local uploads identically; parsing and chunk spans are cached by content hash.</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Select evidence — </a:t>
            </a:r>
            <a:pPr indent="0" marL="0">
              <a:buNone/>
            </a:pPr>
            <a:r>
              <a:rPr lang="en-US" sz="1050" dirty="0">
                <a:solidFill>
                  <a:srgbClr val="5A6B78"/>
                </a:solidFill>
                <a:latin typeface="Calibri" pitchFamily="34" charset="0"/>
                <a:ea typeface="Calibri" pitchFamily="34" charset="-122"/>
                <a:cs typeface="Calibri" pitchFamily="34" charset="-120"/>
              </a:rPr>
              <a:t>the field's seed keywords prefilter chunks, then BM25 and a multilingual embedding model are fused by reciprocal rank fusion.</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Short-circuit on silence — </a:t>
            </a:r>
            <a:pPr indent="0" marL="0">
              <a:buNone/>
            </a:pPr>
            <a:r>
              <a:rPr lang="en-US" sz="1050" dirty="0">
                <a:solidFill>
                  <a:srgbClr val="5A6B78"/>
                </a:solidFill>
                <a:latin typeface="Calibri" pitchFamily="34" charset="0"/>
                <a:ea typeface="Calibri" pitchFamily="34" charset="-122"/>
                <a:cs typeface="Calibri" pitchFamily="34" charset="-120"/>
              </a:rPr>
              <a:t>no relevant evidence ends the graph with an explicit “not disclosed” field and zero LLM calls — the common case at scale.</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Extract, then verify — </a:t>
            </a:r>
            <a:pPr indent="0" marL="0">
              <a:buNone/>
            </a:pPr>
            <a:r>
              <a:rPr lang="en-US" sz="1050" dirty="0">
                <a:solidFill>
                  <a:srgbClr val="5A6B78"/>
                </a:solidFill>
                <a:latin typeface="Calibri" pitchFamily="34" charset="0"/>
                <a:ea typeface="Calibri" pitchFamily="34" charset="-122"/>
                <a:cs typeface="Calibri" pitchFamily="34" charset="-120"/>
              </a:rPr>
              <a:t>field_graph runs extract → verify → aggregate; the verifier is a different model, instructed to disagree on wrong year, unit, scale or a false “not disclosed.”</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Ground every citation — </a:t>
            </a:r>
            <a:pPr indent="0" marL="0">
              <a:buNone/>
            </a:pPr>
            <a:r>
              <a:rPr lang="en-US" sz="1050" dirty="0">
                <a:solidFill>
                  <a:srgbClr val="5A6B78"/>
                </a:solidFill>
                <a:latin typeface="Calibri" pitchFamily="34" charset="0"/>
                <a:ea typeface="Calibri" pitchFamily="34" charset="-122"/>
                <a:cs typeface="Calibri" pitchFamily="34" charset="-120"/>
              </a:rPr>
              <a:t>grounding.py re-matches each quote against the original document text and computes its page or sheet from the verified offset.</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Persist and route — </a:t>
            </a:r>
            <a:pPr indent="0" marL="0">
              <a:buNone/>
            </a:pPr>
            <a:r>
              <a:rPr lang="en-US" sz="1050" dirty="0">
                <a:solidFill>
                  <a:srgbClr val="5A6B78"/>
                </a:solidFill>
                <a:latin typeface="Calibri" pitchFamily="34" charset="0"/>
                <a:ea typeface="Calibri" pitchFamily="34" charset="-122"/>
                <a:cs typeface="Calibri" pitchFamily="34" charset="-120"/>
              </a:rPr>
              <a:t>the result is appended to results.jsonl immediately; low confidence, ungrounded or disputed fields go to the review queue, where each decision is appended to a per-field audit trail.</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arp/extraction/pipeline.py, field_graph.py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arp/extraction/{extractor,verifier}_agent.py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arp/extraction/{aggregator,schema_builder}.py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arp/retrieval/select_evidence.py, embeddings.py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arp/grounding.py  ·  arp/ingestion/registry.py</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 + DataPointSchema (drafted by arp extract draft-schema).</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ExtractionRecord per company — fields, citations, confidence, provenance.</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Two different models: ARP_LLM_MODEL and ARP_LLM_VERIFIER_MODEL.</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“Not found” is always preferred over an inferred or computed value.</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arp golden-set run replays hand-verified cases before a prompt change ships.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E0A526"/>
                </a:solidFill>
                <a:latin typeface="Calibri" pitchFamily="34" charset="0"/>
                <a:ea typeface="Calibri" pitchFamily="34" charset="-122"/>
                <a:cs typeface="Calibri" pitchFamily="34" charset="-120"/>
              </a:rPr>
              <a:t>02   ·   THEMATIC UNIVERSE BUILDER</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Emerging Theme Detector</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B9CDDD"/>
                </a:solidFill>
                <a:latin typeface="Calibri" pitchFamily="34" charset="0"/>
                <a:ea typeface="Calibri" pitchFamily="34" charset="-122"/>
                <a:cs typeface="Calibri" pitchFamily="34" charset="-120"/>
              </a:rPr>
              <a:t>From a macro theme to a defensible, ratified set of business activities — and the companies that actually do the work.</a:t>
            </a:r>
            <a:endParaRPr lang="en-US" sz="1400" dirty="0"/>
          </a:p>
        </p:txBody>
      </p:sp>
      <p:sp>
        <p:nvSpPr>
          <p:cNvPr id="5" name="Text 3"/>
          <p:cNvSpPr txBox="1"/>
          <p:nvPr/>
        </p:nvSpPr>
        <p:spPr>
          <a:xfrm>
            <a:off x="594360" y="1810512"/>
            <a:ext cx="5486400"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Seven ways to draw the boundary</a:t>
            </a:r>
            <a:endParaRPr lang="en-US" sz="1900" dirty="0"/>
          </a:p>
        </p:txBody>
      </p:sp>
      <p:sp>
        <p:nvSpPr>
          <p:cNvPr id="6" name="Text 4"/>
          <p:cNvSpPr txBox="1"/>
          <p:nvPr/>
        </p:nvSpPr>
        <p:spPr>
          <a:xfrm>
            <a:off x="594360" y="2121408"/>
            <a:ext cx="5486400"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Each version records its method and sources, and is ratified by a named human before use.</a:t>
            </a:r>
            <a:endParaRPr lang="en-US" sz="1050" dirty="0"/>
          </a:p>
        </p:txBody>
      </p:sp>
      <p:sp>
        <p:nvSpPr>
          <p:cNvPr id="7" name="Shape 5"/>
          <p:cNvSpPr/>
          <p:nvPr/>
        </p:nvSpPr>
        <p:spPr>
          <a:xfrm>
            <a:off x="594360" y="2468880"/>
            <a:ext cx="5486400" cy="1005840"/>
          </a:xfrm>
          <a:prstGeom prst="roundRect">
            <a:avLst>
              <a:gd name="adj" fmla="val 5455"/>
            </a:avLst>
          </a:prstGeom>
          <a:solidFill>
            <a:srgbClr val="1E3F5E"/>
          </a:solidFill>
          <a:ln/>
        </p:spPr>
      </p:sp>
      <p:sp>
        <p:nvSpPr>
          <p:cNvPr id="8" name="Text 6"/>
          <p:cNvSpPr txBox="1"/>
          <p:nvPr/>
        </p:nvSpPr>
        <p:spPr>
          <a:xfrm>
            <a:off x="795528" y="2615184"/>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TOP-DOWN</a:t>
            </a:r>
            <a:endParaRPr lang="en-US" sz="950" dirty="0"/>
          </a:p>
        </p:txBody>
      </p:sp>
      <p:sp>
        <p:nvSpPr>
          <p:cNvPr id="9" name="Text 7"/>
          <p:cNvSpPr txBox="1"/>
          <p:nvPr/>
        </p:nvSpPr>
        <p:spPr>
          <a:xfrm>
            <a:off x="795528" y="2871216"/>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 freeform decomposition, an anchor to a real closed industry list, or a grounded extraction from an authority document — where an unverifiable quote is dropped, not merely flagged.</a:t>
            </a:r>
            <a:endParaRPr lang="en-US" sz="1050" dirty="0"/>
          </a:p>
        </p:txBody>
      </p:sp>
      <p:sp>
        <p:nvSpPr>
          <p:cNvPr id="10" name="Shape 8"/>
          <p:cNvSpPr/>
          <p:nvPr/>
        </p:nvSpPr>
        <p:spPr>
          <a:xfrm>
            <a:off x="594360" y="3602736"/>
            <a:ext cx="5486400" cy="1005840"/>
          </a:xfrm>
          <a:prstGeom prst="roundRect">
            <a:avLst>
              <a:gd name="adj" fmla="val 5455"/>
            </a:avLst>
          </a:prstGeom>
          <a:solidFill>
            <a:srgbClr val="1E3F5E"/>
          </a:solidFill>
          <a:ln/>
        </p:spPr>
      </p:sp>
      <p:sp>
        <p:nvSpPr>
          <p:cNvPr id="11" name="Text 9"/>
          <p:cNvSpPr txBox="1"/>
          <p:nvPr/>
        </p:nvSpPr>
        <p:spPr>
          <a:xfrm>
            <a:off x="795528" y="3749040"/>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BOTTOM-UP</a:t>
            </a:r>
            <a:endParaRPr lang="en-US" sz="950" dirty="0"/>
          </a:p>
        </p:txBody>
      </p:sp>
      <p:sp>
        <p:nvSpPr>
          <p:cNvPr id="12" name="Text 10"/>
          <p:cNvSpPr txBox="1"/>
          <p:nvPr/>
        </p:nvSpPr>
        <p:spPr>
          <a:xfrm>
            <a:off x="795528" y="4005072"/>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Synthesised from a thematic ETF's holdings, from current news and earnings-call passages, or from the extraction engine's own reading of a sample universe.</a:t>
            </a:r>
            <a:endParaRPr lang="en-US" sz="1050" dirty="0"/>
          </a:p>
        </p:txBody>
      </p:sp>
      <p:sp>
        <p:nvSpPr>
          <p:cNvPr id="13" name="Shape 11"/>
          <p:cNvSpPr/>
          <p:nvPr/>
        </p:nvSpPr>
        <p:spPr>
          <a:xfrm>
            <a:off x="594360" y="4736592"/>
            <a:ext cx="5486400" cy="1005840"/>
          </a:xfrm>
          <a:prstGeom prst="roundRect">
            <a:avLst>
              <a:gd name="adj" fmla="val 5455"/>
            </a:avLst>
          </a:prstGeom>
          <a:solidFill>
            <a:srgbClr val="1E3F5E"/>
          </a:solidFill>
          <a:ln/>
        </p:spPr>
      </p:sp>
      <p:sp>
        <p:nvSpPr>
          <p:cNvPr id="14" name="Text 12"/>
          <p:cNvSpPr txBox="1"/>
          <p:nvPr/>
        </p:nvSpPr>
        <p:spPr>
          <a:xfrm>
            <a:off x="795528" y="4882896"/>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RECONCILED</a:t>
            </a:r>
            <a:endParaRPr lang="en-US" sz="950" dirty="0"/>
          </a:p>
        </p:txBody>
      </p:sp>
      <p:sp>
        <p:nvSpPr>
          <p:cNvPr id="15" name="Text 13"/>
          <p:cNvSpPr txBox="1"/>
          <p:nvPr/>
        </p:nvSpPr>
        <p:spPr>
          <a:xfrm>
            <a:off x="795528" y="5138928"/>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saved taxonomies compared and merged into one MECE set — always handed back as an editable draft, never auto-saved.</a:t>
            </a:r>
            <a:endParaRPr lang="en-US" sz="1050" dirty="0"/>
          </a:p>
        </p:txBody>
      </p:sp>
      <p:sp>
        <p:nvSpPr>
          <p:cNvPr id="16" name="Text 14"/>
          <p:cNvSpPr txBox="1"/>
          <p:nvPr/>
        </p:nvSpPr>
        <p:spPr>
          <a:xfrm>
            <a:off x="6492240" y="1810512"/>
            <a:ext cx="5102352"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Then, company by company</a:t>
            </a:r>
            <a:endParaRPr lang="en-US" sz="1900" dirty="0"/>
          </a:p>
        </p:txBody>
      </p:sp>
      <p:sp>
        <p:nvSpPr>
          <p:cNvPr id="17" name="Text 15"/>
          <p:cNvSpPr txBox="1"/>
          <p:nvPr/>
        </p:nvSpPr>
        <p:spPr>
          <a:xfrm>
            <a:off x="6492240" y="2121408"/>
            <a:ext cx="5102352"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A three-agent debate over retrieved evidence, not a one-shot judgment.</a:t>
            </a:r>
            <a:endParaRPr lang="en-US" sz="1050" dirty="0"/>
          </a:p>
        </p:txBody>
      </p:sp>
      <p:sp>
        <p:nvSpPr>
          <p:cNvPr id="18" name="Shape 16"/>
          <p:cNvSpPr/>
          <p:nvPr/>
        </p:nvSpPr>
        <p:spPr>
          <a:xfrm>
            <a:off x="6492240" y="2468880"/>
            <a:ext cx="5102352" cy="749808"/>
          </a:xfrm>
          <a:prstGeom prst="roundRect">
            <a:avLst>
              <a:gd name="adj" fmla="val 7317"/>
            </a:avLst>
          </a:prstGeom>
          <a:solidFill>
            <a:srgbClr val="1E3F5E"/>
          </a:solidFill>
          <a:ln/>
        </p:spPr>
      </p:sp>
      <p:sp>
        <p:nvSpPr>
          <p:cNvPr id="19" name="Shape 17"/>
          <p:cNvSpPr/>
          <p:nvPr/>
        </p:nvSpPr>
        <p:spPr>
          <a:xfrm>
            <a:off x="6693408" y="2660904"/>
            <a:ext cx="365760" cy="365760"/>
          </a:xfrm>
          <a:prstGeom prst="ellipse">
            <a:avLst/>
          </a:prstGeom>
          <a:solidFill>
            <a:srgbClr val="E0A526"/>
          </a:solidFill>
          <a:ln/>
        </p:spPr>
      </p:sp>
      <p:sp>
        <p:nvSpPr>
          <p:cNvPr id="20" name="Text 18"/>
          <p:cNvSpPr txBox="1"/>
          <p:nvPr/>
        </p:nvSpPr>
        <p:spPr>
          <a:xfrm>
            <a:off x="6693408" y="2674620"/>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7187184" y="2560320"/>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Advocate</a:t>
            </a:r>
            <a:endParaRPr lang="en-US" sz="1350" dirty="0"/>
          </a:p>
        </p:txBody>
      </p:sp>
      <p:sp>
        <p:nvSpPr>
          <p:cNvPr id="22" name="Text 20"/>
          <p:cNvSpPr txBox="1"/>
          <p:nvPr/>
        </p:nvSpPr>
        <p:spPr>
          <a:xfrm>
            <a:off x="7187184" y="2834640"/>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Argues the case for inclusion from what the company actually discloses.</a:t>
            </a:r>
            <a:endParaRPr lang="en-US" sz="1000" dirty="0"/>
          </a:p>
        </p:txBody>
      </p:sp>
      <p:sp>
        <p:nvSpPr>
          <p:cNvPr id="23" name="Shape 21"/>
          <p:cNvSpPr/>
          <p:nvPr/>
        </p:nvSpPr>
        <p:spPr>
          <a:xfrm>
            <a:off x="6492240" y="3310128"/>
            <a:ext cx="5102352" cy="749808"/>
          </a:xfrm>
          <a:prstGeom prst="roundRect">
            <a:avLst>
              <a:gd name="adj" fmla="val 7317"/>
            </a:avLst>
          </a:prstGeom>
          <a:solidFill>
            <a:srgbClr val="1E3F5E"/>
          </a:solidFill>
          <a:ln/>
        </p:spPr>
      </p:sp>
      <p:sp>
        <p:nvSpPr>
          <p:cNvPr id="24" name="Shape 22"/>
          <p:cNvSpPr/>
          <p:nvPr/>
        </p:nvSpPr>
        <p:spPr>
          <a:xfrm>
            <a:off x="6693408" y="3502152"/>
            <a:ext cx="365760" cy="365760"/>
          </a:xfrm>
          <a:prstGeom prst="ellipse">
            <a:avLst/>
          </a:prstGeom>
          <a:solidFill>
            <a:srgbClr val="E0A526"/>
          </a:solidFill>
          <a:ln/>
        </p:spPr>
      </p:sp>
      <p:sp>
        <p:nvSpPr>
          <p:cNvPr id="25" name="Text 23"/>
          <p:cNvSpPr txBox="1"/>
          <p:nvPr/>
        </p:nvSpPr>
        <p:spPr>
          <a:xfrm>
            <a:off x="6693408" y="3515868"/>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2</a:t>
            </a:r>
            <a:endParaRPr lang="en-US" sz="1100" dirty="0"/>
          </a:p>
        </p:txBody>
      </p:sp>
      <p:sp>
        <p:nvSpPr>
          <p:cNvPr id="26" name="Text 24"/>
          <p:cNvSpPr txBox="1"/>
          <p:nvPr/>
        </p:nvSpPr>
        <p:spPr>
          <a:xfrm>
            <a:off x="7187184" y="3401568"/>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Opposing</a:t>
            </a:r>
            <a:endParaRPr lang="en-US" sz="1350" dirty="0"/>
          </a:p>
        </p:txBody>
      </p:sp>
      <p:sp>
        <p:nvSpPr>
          <p:cNvPr id="27" name="Text 25"/>
          <p:cNvSpPr txBox="1"/>
          <p:nvPr/>
        </p:nvSpPr>
        <p:spPr>
          <a:xfrm>
            <a:off x="7187184" y="3675888"/>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Hunts for aspirational language, out-of-scope activity and greenwashing.</a:t>
            </a:r>
            <a:endParaRPr lang="en-US" sz="1000" dirty="0"/>
          </a:p>
        </p:txBody>
      </p:sp>
      <p:sp>
        <p:nvSpPr>
          <p:cNvPr id="28" name="Shape 26"/>
          <p:cNvSpPr/>
          <p:nvPr/>
        </p:nvSpPr>
        <p:spPr>
          <a:xfrm>
            <a:off x="6492240" y="4151376"/>
            <a:ext cx="5102352" cy="749808"/>
          </a:xfrm>
          <a:prstGeom prst="roundRect">
            <a:avLst>
              <a:gd name="adj" fmla="val 7317"/>
            </a:avLst>
          </a:prstGeom>
          <a:solidFill>
            <a:srgbClr val="1E3F5E"/>
          </a:solidFill>
          <a:ln/>
        </p:spPr>
      </p:sp>
      <p:sp>
        <p:nvSpPr>
          <p:cNvPr id="29" name="Shape 27"/>
          <p:cNvSpPr/>
          <p:nvPr/>
        </p:nvSpPr>
        <p:spPr>
          <a:xfrm>
            <a:off x="6693408" y="4343400"/>
            <a:ext cx="365760" cy="365760"/>
          </a:xfrm>
          <a:prstGeom prst="ellipse">
            <a:avLst/>
          </a:prstGeom>
          <a:solidFill>
            <a:srgbClr val="E0A526"/>
          </a:solidFill>
          <a:ln/>
        </p:spPr>
      </p:sp>
      <p:sp>
        <p:nvSpPr>
          <p:cNvPr id="30" name="Text 28"/>
          <p:cNvSpPr txBox="1"/>
          <p:nvPr/>
        </p:nvSpPr>
        <p:spPr>
          <a:xfrm>
            <a:off x="6693408" y="4357116"/>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3</a:t>
            </a:r>
            <a:endParaRPr lang="en-US" sz="1100" dirty="0"/>
          </a:p>
        </p:txBody>
      </p:sp>
      <p:sp>
        <p:nvSpPr>
          <p:cNvPr id="31" name="Text 29"/>
          <p:cNvSpPr txBox="1"/>
          <p:nvPr/>
        </p:nvSpPr>
        <p:spPr>
          <a:xfrm>
            <a:off x="7187184" y="4242816"/>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Adjudicator</a:t>
            </a:r>
            <a:endParaRPr lang="en-US" sz="1350" dirty="0"/>
          </a:p>
        </p:txBody>
      </p:sp>
      <p:sp>
        <p:nvSpPr>
          <p:cNvPr id="32" name="Text 30"/>
          <p:cNvSpPr txBox="1"/>
          <p:nvPr/>
        </p:nvSpPr>
        <p:spPr>
          <a:xfrm>
            <a:off x="7187184" y="4517136"/>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Weighs both against the evidence and sets the verdict and confidence.</a:t>
            </a:r>
            <a:endParaRPr lang="en-US" sz="1000" dirty="0"/>
          </a:p>
        </p:txBody>
      </p:sp>
      <p:sp>
        <p:nvSpPr>
          <p:cNvPr id="33" name="Text 31"/>
          <p:cNvSpPr txBox="1"/>
          <p:nvPr/>
        </p:nvSpPr>
        <p:spPr>
          <a:xfrm>
            <a:off x="6492240" y="5102352"/>
            <a:ext cx="5102352" cy="219456"/>
          </a:xfrm>
          <a:prstGeom prst="rect">
            <a:avLst/>
          </a:prstGeom>
          <a:noFill/>
          <a:ln/>
        </p:spPr>
        <p:txBody>
          <a:bodyPr wrap="square" lIns="0" tIns="0" rIns="0" bIns="0" rtlCol="0" anchor="ctr"/>
          <a:lstStyle/>
          <a:p>
            <a:pPr indent="0" marL="0">
              <a:buNone/>
            </a:pPr>
            <a:r>
              <a:rPr lang="en-US" sz="1000" b="1" spc="120" kern="0" dirty="0">
                <a:solidFill>
                  <a:srgbClr val="B9CDDD"/>
                </a:solidFill>
                <a:latin typeface="Calibri" pitchFamily="34" charset="0"/>
                <a:ea typeface="Calibri" pitchFamily="34" charset="-122"/>
                <a:cs typeface="Calibri" pitchFamily="34" charset="-120"/>
              </a:rPr>
              <a:t>The verdict is a ladder, not a yes/no</a:t>
            </a:r>
            <a:endParaRPr lang="en-US" sz="1000" dirty="0"/>
          </a:p>
        </p:txBody>
      </p:sp>
      <p:sp>
        <p:nvSpPr>
          <p:cNvPr id="34" name="Shape 32"/>
          <p:cNvSpPr/>
          <p:nvPr/>
        </p:nvSpPr>
        <p:spPr>
          <a:xfrm>
            <a:off x="6492240" y="5376672"/>
            <a:ext cx="1179576" cy="420624"/>
          </a:xfrm>
          <a:prstGeom prst="roundRect">
            <a:avLst>
              <a:gd name="adj" fmla="val 43478"/>
            </a:avLst>
          </a:prstGeom>
          <a:solidFill>
            <a:srgbClr val="E0A526"/>
          </a:solidFill>
          <a:ln/>
        </p:spPr>
      </p:sp>
      <p:sp>
        <p:nvSpPr>
          <p:cNvPr id="35" name="Text 33"/>
          <p:cNvSpPr txBox="1"/>
          <p:nvPr/>
        </p:nvSpPr>
        <p:spPr>
          <a:xfrm>
            <a:off x="6492240" y="5376672"/>
            <a:ext cx="1179576" cy="420624"/>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Pure play</a:t>
            </a:r>
            <a:endParaRPr lang="en-US" sz="1050" dirty="0"/>
          </a:p>
        </p:txBody>
      </p:sp>
      <p:sp>
        <p:nvSpPr>
          <p:cNvPr id="36" name="Shape 34"/>
          <p:cNvSpPr/>
          <p:nvPr/>
        </p:nvSpPr>
        <p:spPr>
          <a:xfrm>
            <a:off x="7799832" y="5376672"/>
            <a:ext cx="1179576" cy="420624"/>
          </a:xfrm>
          <a:prstGeom prst="roundRect">
            <a:avLst>
              <a:gd name="adj" fmla="val 43478"/>
            </a:avLst>
          </a:prstGeom>
          <a:solidFill>
            <a:srgbClr val="1C7293"/>
          </a:solidFill>
          <a:ln/>
        </p:spPr>
      </p:sp>
      <p:sp>
        <p:nvSpPr>
          <p:cNvPr id="37" name="Text 35"/>
          <p:cNvSpPr txBox="1"/>
          <p:nvPr/>
        </p:nvSpPr>
        <p:spPr>
          <a:xfrm>
            <a:off x="7799832" y="5376672"/>
            <a:ext cx="117957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Significant</a:t>
            </a:r>
            <a:endParaRPr lang="en-US" sz="1050" dirty="0"/>
          </a:p>
        </p:txBody>
      </p:sp>
      <p:sp>
        <p:nvSpPr>
          <p:cNvPr id="38" name="Shape 36"/>
          <p:cNvSpPr/>
          <p:nvPr/>
        </p:nvSpPr>
        <p:spPr>
          <a:xfrm>
            <a:off x="9107424" y="5376672"/>
            <a:ext cx="1179576" cy="420624"/>
          </a:xfrm>
          <a:prstGeom prst="roundRect">
            <a:avLst>
              <a:gd name="adj" fmla="val 43478"/>
            </a:avLst>
          </a:prstGeom>
          <a:solidFill>
            <a:srgbClr val="1E3F5E"/>
          </a:solidFill>
          <a:ln/>
        </p:spPr>
      </p:sp>
      <p:sp>
        <p:nvSpPr>
          <p:cNvPr id="39" name="Text 37"/>
          <p:cNvSpPr txBox="1"/>
          <p:nvPr/>
        </p:nvSpPr>
        <p:spPr>
          <a:xfrm>
            <a:off x="9107424" y="5376672"/>
            <a:ext cx="117957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Minor</a:t>
            </a:r>
            <a:endParaRPr lang="en-US" sz="1050" dirty="0"/>
          </a:p>
        </p:txBody>
      </p:sp>
      <p:sp>
        <p:nvSpPr>
          <p:cNvPr id="40" name="Shape 38"/>
          <p:cNvSpPr/>
          <p:nvPr/>
        </p:nvSpPr>
        <p:spPr>
          <a:xfrm>
            <a:off x="10415016" y="5376672"/>
            <a:ext cx="1179576" cy="420624"/>
          </a:xfrm>
          <a:prstGeom prst="roundRect">
            <a:avLst>
              <a:gd name="adj" fmla="val 43478"/>
            </a:avLst>
          </a:prstGeom>
          <a:ln w="12700">
            <a:solidFill>
              <a:srgbClr val="3D5B7A"/>
            </a:solidFill>
            <a:prstDash val="solid"/>
          </a:ln>
        </p:spPr>
      </p:sp>
      <p:sp>
        <p:nvSpPr>
          <p:cNvPr id="41" name="Text 39"/>
          <p:cNvSpPr txBox="1"/>
          <p:nvPr/>
        </p:nvSpPr>
        <p:spPr>
          <a:xfrm>
            <a:off x="10415016" y="5376672"/>
            <a:ext cx="1179576" cy="420624"/>
          </a:xfrm>
          <a:prstGeom prst="rect">
            <a:avLst/>
          </a:prstGeom>
          <a:noFill/>
          <a:ln/>
        </p:spPr>
        <p:txBody>
          <a:bodyPr wrap="square" lIns="0" tIns="0" rIns="0" bIns="0" rtlCol="0" anchor="ctr"/>
          <a:lstStyle/>
          <a:p>
            <a:pPr algn="ctr" indent="0" marL="0">
              <a:buNone/>
            </a:pPr>
            <a:r>
              <a:rPr lang="en-US" sz="1050" b="1" dirty="0">
                <a:solidFill>
                  <a:srgbClr val="B9CDDD"/>
                </a:solidFill>
                <a:latin typeface="Calibri" pitchFamily="34" charset="0"/>
                <a:ea typeface="Calibri" pitchFamily="34" charset="-122"/>
                <a:cs typeface="Calibri" pitchFamily="34" charset="-120"/>
              </a:rPr>
              <a:t>None</a:t>
            </a:r>
            <a:endParaRPr lang="en-US" sz="1050" dirty="0"/>
          </a:p>
        </p:txBody>
      </p:sp>
      <p:sp>
        <p:nvSpPr>
          <p:cNvPr id="42" name="Shape 40"/>
          <p:cNvSpPr/>
          <p:nvPr/>
        </p:nvSpPr>
        <p:spPr>
          <a:xfrm>
            <a:off x="594360" y="5989320"/>
            <a:ext cx="11000232" cy="411480"/>
          </a:xfrm>
          <a:prstGeom prst="roundRect">
            <a:avLst>
              <a:gd name="adj" fmla="val 13333"/>
            </a:avLst>
          </a:prstGeom>
          <a:solidFill>
            <a:srgbClr val="1E3F5E"/>
          </a:solidFill>
          <a:ln/>
        </p:spPr>
      </p:sp>
      <p:sp>
        <p:nvSpPr>
          <p:cNvPr id="43" name="Text 41"/>
          <p:cNvSpPr txBox="1"/>
          <p:nvPr/>
        </p:nvSpPr>
        <p:spPr>
          <a:xfrm>
            <a:off x="795528" y="5989320"/>
            <a:ext cx="10597896" cy="411480"/>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Opt-in indirect tier: a purely quantitative input-output computation over OECD ICIO surfaces structural supply-chain exposure for companies whose own disclosures stay silent — carried as a separate signal, never blended into the debate's verdict.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02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Theme matching: a three-path cascade</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hard disclosed number is never second-guessed by a categorical judgment over the same question.</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Define and ratify — </a:t>
            </a:r>
            <a:pPr indent="0" marL="0">
              <a:buNone/>
            </a:pPr>
            <a:r>
              <a:rPr lang="en-US" sz="1050" dirty="0">
                <a:solidFill>
                  <a:srgbClr val="5A6B78"/>
                </a:solidFill>
                <a:latin typeface="Calibri" pitchFamily="34" charset="0"/>
                <a:ea typeface="Calibri" pitchFamily="34" charset="-122"/>
                <a:cs typeface="Calibri" pitchFamily="34" charset="-120"/>
              </a:rPr>
              <a:t>a taxonomy is drafted by one of seven methods, edited in the library UI and ratified by a named human; source discovery ranks and explains candidate authority documents first.</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Fan out the run — </a:t>
            </a:r>
            <a:pPr indent="0" marL="0">
              <a:buNone/>
            </a:pPr>
            <a:r>
              <a:rPr lang="en-US" sz="1050" dirty="0">
                <a:solidFill>
                  <a:srgbClr val="5A6B78"/>
                </a:solidFill>
                <a:latin typeface="Calibri" pitchFamily="34" charset="0"/>
                <a:ea typeface="Calibri" pitchFamily="34" charset="-122"/>
                <a:cs typeface="Calibri" pitchFamily="34" charset="-120"/>
              </a:rPr>
              <a:t>universe × activities is dispatched through the same run_batch used everywhere; each company's ISIC code is resolved once, not per activity.</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Path 1 — catalogue — </a:t>
            </a:r>
            <a:pPr indent="0" marL="0">
              <a:buNone/>
            </a:pPr>
            <a:r>
              <a:rPr lang="en-US" sz="1050" dirty="0">
                <a:solidFill>
                  <a:srgbClr val="5A6B78"/>
                </a:solidFill>
                <a:latin typeface="Calibri" pitchFamily="34" charset="0"/>
                <a:ea typeface="Calibri" pitchFamily="34" charset="-122"/>
                <a:cs typeface="Calibri" pitchFamily="34" charset="-120"/>
              </a:rPr>
              <a:t>a confirmed label mapping resolves revenue and capex share from a structured data catalogue by arithmetic alone; no LLM touches the number, and the debate is skipped for that pair.</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Path 2 — extraction — </a:t>
            </a:r>
            <a:pPr indent="0" marL="0">
              <a:buNone/>
            </a:pPr>
            <a:r>
              <a:rPr lang="en-US" sz="1050" dirty="0">
                <a:solidFill>
                  <a:srgbClr val="5A6B78"/>
                </a:solidFill>
                <a:latin typeface="Calibri" pitchFamily="34" charset="0"/>
                <a:ea typeface="Calibri" pitchFamily="34" charset="-122"/>
                <a:cs typeface="Calibri" pitchFamily="34" charset="-120"/>
              </a:rPr>
              <a:t>otherwise an ad-hoc single-field schema runs through the extraction engine's own extractor → verifier → grounding flow, gated by a cheap ISIC sector-relevance check.</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Path 3 — the debate — </a:t>
            </a:r>
            <a:pPr indent="0" marL="0">
              <a:buNone/>
            </a:pPr>
            <a:r>
              <a:rPr lang="en-US" sz="1050" dirty="0">
                <a:solidFill>
                  <a:srgbClr val="5A6B78"/>
                </a:solidFill>
                <a:latin typeface="Calibri" pitchFamily="34" charset="0"/>
                <a:ea typeface="Calibri" pitchFamily="34" charset="-122"/>
                <a:cs typeface="Calibri" pitchFamily="34" charset="-120"/>
              </a:rPr>
              <a:t>only when both come back empty: evidence is gathered, then match_graph runs Advocate → Opposing → Adjudicator with a cited rationale.</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Handle silence — </a:t>
            </a:r>
            <a:pPr indent="0" marL="0">
              <a:buNone/>
            </a:pPr>
            <a:r>
              <a:rPr lang="en-US" sz="1050" dirty="0">
                <a:solidFill>
                  <a:srgbClr val="5A6B78"/>
                </a:solidFill>
                <a:latin typeface="Calibri" pitchFamily="34" charset="0"/>
                <a:ea typeface="Calibri" pitchFamily="34" charset="-122"/>
                <a:cs typeface="Calibri" pitchFamily="34" charset="-120"/>
              </a:rPr>
              <a:t>no evidence means excluded at full confidence with zero LLM calls; with the input-output tier on, a structurally exposed company is routed to review instead of dropped.</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Band and persist — </a:t>
            </a:r>
            <a:pPr indent="0" marL="0">
              <a:buNone/>
            </a:pPr>
            <a:r>
              <a:rPr lang="en-US" sz="1050" dirty="0">
                <a:solidFill>
                  <a:srgbClr val="5A6B78"/>
                </a:solidFill>
                <a:latin typeface="Calibri" pitchFamily="34" charset="0"/>
                <a:ea typeface="Calibri" pitchFamily="34" charset="-122"/>
                <a:cs typeface="Calibri" pitchFamily="34" charset="-120"/>
              </a:rPr>
              <a:t>a resolved revenue share is banded to pure play / significant / minor / none (50 / 20 / 5 %), so the verdict means the same thing whichever path produced it.</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arp/research/pipeline.py, match_graph.py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arp/research/matcher_agents.py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arp/research/revenue_exposure/{catalogue,mapping,resolver}.py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arp/research/taxonomy_sources/*  ·  arp/storage/taxonomy_store.py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arp/research/indirect_exposure/*</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a ratified Taxonomy (or a one-off ThemeDefinition) + a company universe.</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CompanyMatch per company × activity — verdict, exposure band, confidence, citations.</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 catalogue mapping is a reviewable draft; nothing is auto-applied.</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Uncertain verdicts and ungrounded citations route to the review queue.</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Indirect exposure stays a separate field, never blended into the verdict.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03   ·   PORTFOLIO RISK &amp; EXPOSURE MONITORING</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Portfolio Risk Monitoring</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The holdings axis, joined to company-level research — with every number computed deterministically, never generated.</a:t>
            </a:r>
            <a:endParaRPr lang="en-US" sz="1400" dirty="0"/>
          </a:p>
        </p:txBody>
      </p:sp>
      <p:sp>
        <p:nvSpPr>
          <p:cNvPr id="5" name="Shape 3"/>
          <p:cNvSpPr/>
          <p:nvPr/>
        </p:nvSpPr>
        <p:spPr>
          <a:xfrm>
            <a:off x="594360" y="1783080"/>
            <a:ext cx="3508248" cy="1371600"/>
          </a:xfrm>
          <a:prstGeom prst="roundRect">
            <a:avLst>
              <a:gd name="adj" fmla="val 4000"/>
            </a:avLst>
          </a:prstGeom>
          <a:solidFill>
            <a:srgbClr val="F1F5F9"/>
          </a:solidFill>
          <a:ln w="12700">
            <a:solidFill>
              <a:srgbClr val="DBE4EC"/>
            </a:solidFill>
            <a:prstDash val="solid"/>
          </a:ln>
        </p:spPr>
      </p:sp>
      <p:sp>
        <p:nvSpPr>
          <p:cNvPr id="6" name="Shape 4"/>
          <p:cNvSpPr/>
          <p:nvPr/>
        </p:nvSpPr>
        <p:spPr>
          <a:xfrm>
            <a:off x="795528" y="2002536"/>
            <a:ext cx="274320" cy="274320"/>
          </a:xfrm>
          <a:prstGeom prst="ellipse">
            <a:avLst/>
          </a:prstGeom>
          <a:solidFill>
            <a:srgbClr val="1C7293"/>
          </a:solidFill>
          <a:ln/>
        </p:spPr>
      </p:sp>
      <p:sp>
        <p:nvSpPr>
          <p:cNvPr id="7" name="Text 5"/>
          <p:cNvSpPr txBox="1"/>
          <p:nvPr/>
        </p:nvSpPr>
        <p:spPr>
          <a:xfrm>
            <a:off x="795528"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61288"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Deterministic by design</a:t>
            </a:r>
            <a:endParaRPr lang="en-US" sz="1400" dirty="0"/>
          </a:p>
        </p:txBody>
      </p:sp>
      <p:sp>
        <p:nvSpPr>
          <p:cNvPr id="9" name="Text 7"/>
          <p:cNvSpPr txBox="1"/>
          <p:nvPr/>
        </p:nvSpPr>
        <p:spPr>
          <a:xfrm>
            <a:off x="795528"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No LLM sits inside any figure. The same query returns the same number every time, and it can be audited back to the positions that produced it.</a:t>
            </a:r>
            <a:endParaRPr lang="en-US" sz="1050" dirty="0"/>
          </a:p>
        </p:txBody>
      </p:sp>
      <p:sp>
        <p:nvSpPr>
          <p:cNvPr id="10" name="Shape 8"/>
          <p:cNvSpPr/>
          <p:nvPr/>
        </p:nvSpPr>
        <p:spPr>
          <a:xfrm>
            <a:off x="4340352" y="1783080"/>
            <a:ext cx="3508248" cy="1371600"/>
          </a:xfrm>
          <a:prstGeom prst="roundRect">
            <a:avLst>
              <a:gd name="adj" fmla="val 4000"/>
            </a:avLst>
          </a:prstGeom>
          <a:solidFill>
            <a:srgbClr val="F1F5F9"/>
          </a:solidFill>
          <a:ln w="12700">
            <a:solidFill>
              <a:srgbClr val="DBE4EC"/>
            </a:solidFill>
            <a:prstDash val="solid"/>
          </a:ln>
        </p:spPr>
      </p:sp>
      <p:sp>
        <p:nvSpPr>
          <p:cNvPr id="11" name="Shape 9"/>
          <p:cNvSpPr/>
          <p:nvPr/>
        </p:nvSpPr>
        <p:spPr>
          <a:xfrm>
            <a:off x="4541520" y="2002536"/>
            <a:ext cx="274320" cy="274320"/>
          </a:xfrm>
          <a:prstGeom prst="ellipse">
            <a:avLst/>
          </a:prstGeom>
          <a:solidFill>
            <a:srgbClr val="1C7293"/>
          </a:solidFill>
          <a:ln/>
        </p:spPr>
      </p:sp>
      <p:sp>
        <p:nvSpPr>
          <p:cNvPr id="12" name="Text 10"/>
          <p:cNvSpPr txBox="1"/>
          <p:nvPr/>
        </p:nvSpPr>
        <p:spPr>
          <a:xfrm>
            <a:off x="4541520"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4907280"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Ask in plain language</a:t>
            </a:r>
            <a:endParaRPr lang="en-US" sz="1400" dirty="0"/>
          </a:p>
        </p:txBody>
      </p:sp>
      <p:sp>
        <p:nvSpPr>
          <p:cNvPr id="14" name="Text 12"/>
          <p:cNvSpPr txBox="1"/>
          <p:nvPr/>
        </p:nvSpPr>
        <p:spPr>
          <a:xfrm>
            <a:off x="4541520"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“How many EUR million of exposure to BMW?” The model only drafts the query; the engine computes the answer and the query is shown alongside it.</a:t>
            </a:r>
            <a:endParaRPr lang="en-US" sz="1050" dirty="0"/>
          </a:p>
        </p:txBody>
      </p:sp>
      <p:sp>
        <p:nvSpPr>
          <p:cNvPr id="15" name="Shape 13"/>
          <p:cNvSpPr/>
          <p:nvPr/>
        </p:nvSpPr>
        <p:spPr>
          <a:xfrm>
            <a:off x="8086344" y="1783080"/>
            <a:ext cx="3508248" cy="1371600"/>
          </a:xfrm>
          <a:prstGeom prst="roundRect">
            <a:avLst>
              <a:gd name="adj" fmla="val 4000"/>
            </a:avLst>
          </a:prstGeom>
          <a:solidFill>
            <a:srgbClr val="F1F5F9"/>
          </a:solidFill>
          <a:ln w="12700">
            <a:solidFill>
              <a:srgbClr val="DBE4EC"/>
            </a:solidFill>
            <a:prstDash val="solid"/>
          </a:ln>
        </p:spPr>
      </p:sp>
      <p:sp>
        <p:nvSpPr>
          <p:cNvPr id="16" name="Shape 14"/>
          <p:cNvSpPr/>
          <p:nvPr/>
        </p:nvSpPr>
        <p:spPr>
          <a:xfrm>
            <a:off x="8287512" y="2002536"/>
            <a:ext cx="274320" cy="274320"/>
          </a:xfrm>
          <a:prstGeom prst="ellipse">
            <a:avLst/>
          </a:prstGeom>
          <a:solidFill>
            <a:srgbClr val="1C7293"/>
          </a:solidFill>
          <a:ln/>
        </p:spPr>
      </p:sp>
      <p:sp>
        <p:nvSpPr>
          <p:cNvPr id="17" name="Text 15"/>
          <p:cNvSpPr txBox="1"/>
          <p:nvPr/>
        </p:nvSpPr>
        <p:spPr>
          <a:xfrm>
            <a:off x="8287512"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8653272"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Holdings × research</a:t>
            </a:r>
            <a:endParaRPr lang="en-US" sz="1400" dirty="0"/>
          </a:p>
        </p:txBody>
      </p:sp>
      <p:sp>
        <p:nvSpPr>
          <p:cNvPr id="19" name="Text 17"/>
          <p:cNvSpPr txBox="1"/>
          <p:nvPr/>
        </p:nvSpPr>
        <p:spPr>
          <a:xfrm>
            <a:off x="8287512"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Positions joined to issuer, sector, thematic exposure and extracted data points, consolidated across every portfolio.</a:t>
            </a:r>
            <a:endParaRPr lang="en-US" sz="1050" dirty="0"/>
          </a:p>
        </p:txBody>
      </p:sp>
      <p:sp>
        <p:nvSpPr>
          <p:cNvPr id="20" name="Shape 18"/>
          <p:cNvSpPr/>
          <p:nvPr/>
        </p:nvSpPr>
        <p:spPr>
          <a:xfrm>
            <a:off x="594360" y="3291840"/>
            <a:ext cx="5120640" cy="2560320"/>
          </a:xfrm>
          <a:prstGeom prst="roundRect">
            <a:avLst>
              <a:gd name="adj" fmla="val 2143"/>
            </a:avLst>
          </a:prstGeom>
          <a:solidFill>
            <a:srgbClr val="FFFFFF"/>
          </a:solidFill>
          <a:ln w="12700">
            <a:solidFill>
              <a:srgbClr val="DBE4EC"/>
            </a:solidFill>
            <a:prstDash val="solid"/>
          </a:ln>
        </p:spPr>
      </p:sp>
      <p:sp>
        <p:nvSpPr>
          <p:cNvPr id="21" name="Text 19"/>
          <p:cNvSpPr txBox="1"/>
          <p:nvPr/>
        </p:nvSpPr>
        <p:spPr>
          <a:xfrm>
            <a:off x="822960" y="3474720"/>
            <a:ext cx="4663440" cy="292608"/>
          </a:xfrm>
          <a:prstGeom prst="rect">
            <a:avLst/>
          </a:prstGeom>
          <a:noFill/>
          <a:ln/>
        </p:spPr>
        <p:txBody>
          <a:bodyPr wrap="square" lIns="0" tIns="0" rIns="0" bIns="0" rtlCol="0" anchor="ctr"/>
          <a:lstStyle/>
          <a:p>
            <a:pPr indent="0" marL="0">
              <a:buNone/>
            </a:pPr>
            <a:r>
              <a:rPr lang="en-US" sz="1700" b="1" dirty="0">
                <a:solidFill>
                  <a:srgbClr val="10243A"/>
                </a:solidFill>
                <a:latin typeface="Cambria" pitchFamily="34" charset="0"/>
                <a:ea typeface="Cambria" pitchFamily="34" charset="-122"/>
                <a:cs typeface="Cambria" pitchFamily="34" charset="-120"/>
              </a:rPr>
              <a:t>Slice it by any dimension</a:t>
            </a:r>
            <a:endParaRPr lang="en-US" sz="1700" dirty="0"/>
          </a:p>
        </p:txBody>
      </p:sp>
      <p:sp>
        <p:nvSpPr>
          <p:cNvPr id="22" name="Shape 20"/>
          <p:cNvSpPr/>
          <p:nvPr/>
        </p:nvSpPr>
        <p:spPr>
          <a:xfrm>
            <a:off x="777240" y="3886200"/>
            <a:ext cx="1499616" cy="365760"/>
          </a:xfrm>
          <a:prstGeom prst="roundRect">
            <a:avLst>
              <a:gd name="adj" fmla="val 50000"/>
            </a:avLst>
          </a:prstGeom>
          <a:solidFill>
            <a:srgbClr val="F1F5F9"/>
          </a:solidFill>
          <a:ln w="12700">
            <a:solidFill>
              <a:srgbClr val="DBE4EC"/>
            </a:solidFill>
            <a:prstDash val="solid"/>
          </a:ln>
        </p:spPr>
      </p:sp>
      <p:sp>
        <p:nvSpPr>
          <p:cNvPr id="23" name="Text 21"/>
          <p:cNvSpPr txBox="1"/>
          <p:nvPr/>
        </p:nvSpPr>
        <p:spPr>
          <a:xfrm>
            <a:off x="777240" y="3886200"/>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Portfolio</a:t>
            </a:r>
            <a:endParaRPr lang="en-US" sz="1050" dirty="0"/>
          </a:p>
        </p:txBody>
      </p:sp>
      <p:sp>
        <p:nvSpPr>
          <p:cNvPr id="24" name="Shape 22"/>
          <p:cNvSpPr/>
          <p:nvPr/>
        </p:nvSpPr>
        <p:spPr>
          <a:xfrm>
            <a:off x="2404872" y="3886200"/>
            <a:ext cx="1499616" cy="365760"/>
          </a:xfrm>
          <a:prstGeom prst="roundRect">
            <a:avLst>
              <a:gd name="adj" fmla="val 50000"/>
            </a:avLst>
          </a:prstGeom>
          <a:solidFill>
            <a:srgbClr val="F1F5F9"/>
          </a:solidFill>
          <a:ln w="12700">
            <a:solidFill>
              <a:srgbClr val="DBE4EC"/>
            </a:solidFill>
            <a:prstDash val="solid"/>
          </a:ln>
        </p:spPr>
      </p:sp>
      <p:sp>
        <p:nvSpPr>
          <p:cNvPr id="25" name="Text 23"/>
          <p:cNvSpPr txBox="1"/>
          <p:nvPr/>
        </p:nvSpPr>
        <p:spPr>
          <a:xfrm>
            <a:off x="2404872" y="3886200"/>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Asset class</a:t>
            </a:r>
            <a:endParaRPr lang="en-US" sz="1050" dirty="0"/>
          </a:p>
        </p:txBody>
      </p:sp>
      <p:sp>
        <p:nvSpPr>
          <p:cNvPr id="26" name="Shape 24"/>
          <p:cNvSpPr/>
          <p:nvPr/>
        </p:nvSpPr>
        <p:spPr>
          <a:xfrm>
            <a:off x="4032504" y="3886200"/>
            <a:ext cx="1499616" cy="365760"/>
          </a:xfrm>
          <a:prstGeom prst="roundRect">
            <a:avLst>
              <a:gd name="adj" fmla="val 50000"/>
            </a:avLst>
          </a:prstGeom>
          <a:solidFill>
            <a:srgbClr val="F1F5F9"/>
          </a:solidFill>
          <a:ln w="12700">
            <a:solidFill>
              <a:srgbClr val="DBE4EC"/>
            </a:solidFill>
            <a:prstDash val="solid"/>
          </a:ln>
        </p:spPr>
      </p:sp>
      <p:sp>
        <p:nvSpPr>
          <p:cNvPr id="27" name="Text 25"/>
          <p:cNvSpPr txBox="1"/>
          <p:nvPr/>
        </p:nvSpPr>
        <p:spPr>
          <a:xfrm>
            <a:off x="4032504" y="3886200"/>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Issuer</a:t>
            </a:r>
            <a:endParaRPr lang="en-US" sz="1050" dirty="0"/>
          </a:p>
        </p:txBody>
      </p:sp>
      <p:sp>
        <p:nvSpPr>
          <p:cNvPr id="28" name="Shape 26"/>
          <p:cNvSpPr/>
          <p:nvPr/>
        </p:nvSpPr>
        <p:spPr>
          <a:xfrm>
            <a:off x="777240" y="4361688"/>
            <a:ext cx="1499616" cy="365760"/>
          </a:xfrm>
          <a:prstGeom prst="roundRect">
            <a:avLst>
              <a:gd name="adj" fmla="val 50000"/>
            </a:avLst>
          </a:prstGeom>
          <a:solidFill>
            <a:srgbClr val="F1F5F9"/>
          </a:solidFill>
          <a:ln w="12700">
            <a:solidFill>
              <a:srgbClr val="DBE4EC"/>
            </a:solidFill>
            <a:prstDash val="solid"/>
          </a:ln>
        </p:spPr>
      </p:sp>
      <p:sp>
        <p:nvSpPr>
          <p:cNvPr id="29" name="Text 27"/>
          <p:cNvSpPr txBox="1"/>
          <p:nvPr/>
        </p:nvSpPr>
        <p:spPr>
          <a:xfrm>
            <a:off x="777240" y="4361688"/>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GICS sector</a:t>
            </a:r>
            <a:endParaRPr lang="en-US" sz="1050" dirty="0"/>
          </a:p>
        </p:txBody>
      </p:sp>
      <p:sp>
        <p:nvSpPr>
          <p:cNvPr id="30" name="Shape 28"/>
          <p:cNvSpPr/>
          <p:nvPr/>
        </p:nvSpPr>
        <p:spPr>
          <a:xfrm>
            <a:off x="2404872" y="4361688"/>
            <a:ext cx="1499616" cy="365760"/>
          </a:xfrm>
          <a:prstGeom prst="roundRect">
            <a:avLst>
              <a:gd name="adj" fmla="val 50000"/>
            </a:avLst>
          </a:prstGeom>
          <a:solidFill>
            <a:srgbClr val="F1F5F9"/>
          </a:solidFill>
          <a:ln w="12700">
            <a:solidFill>
              <a:srgbClr val="DBE4EC"/>
            </a:solidFill>
            <a:prstDash val="solid"/>
          </a:ln>
        </p:spPr>
      </p:sp>
      <p:sp>
        <p:nvSpPr>
          <p:cNvPr id="31" name="Text 29"/>
          <p:cNvSpPr txBox="1"/>
          <p:nvPr/>
        </p:nvSpPr>
        <p:spPr>
          <a:xfrm>
            <a:off x="2404872" y="4361688"/>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Country</a:t>
            </a:r>
            <a:endParaRPr lang="en-US" sz="1050" dirty="0"/>
          </a:p>
        </p:txBody>
      </p:sp>
      <p:sp>
        <p:nvSpPr>
          <p:cNvPr id="32" name="Shape 30"/>
          <p:cNvSpPr/>
          <p:nvPr/>
        </p:nvSpPr>
        <p:spPr>
          <a:xfrm>
            <a:off x="4032504" y="4361688"/>
            <a:ext cx="1499616" cy="365760"/>
          </a:xfrm>
          <a:prstGeom prst="roundRect">
            <a:avLst>
              <a:gd name="adj" fmla="val 50000"/>
            </a:avLst>
          </a:prstGeom>
          <a:solidFill>
            <a:srgbClr val="F1F5F9"/>
          </a:solidFill>
          <a:ln w="12700">
            <a:solidFill>
              <a:srgbClr val="DBE4EC"/>
            </a:solidFill>
            <a:prstDash val="solid"/>
          </a:ln>
        </p:spPr>
      </p:sp>
      <p:sp>
        <p:nvSpPr>
          <p:cNvPr id="33" name="Text 31"/>
          <p:cNvSpPr txBox="1"/>
          <p:nvPr/>
        </p:nvSpPr>
        <p:spPr>
          <a:xfrm>
            <a:off x="4032504" y="4361688"/>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Any taxonomy</a:t>
            </a:r>
            <a:endParaRPr lang="en-US" sz="1050" dirty="0"/>
          </a:p>
        </p:txBody>
      </p:sp>
      <p:sp>
        <p:nvSpPr>
          <p:cNvPr id="34" name="Shape 32"/>
          <p:cNvSpPr/>
          <p:nvPr/>
        </p:nvSpPr>
        <p:spPr>
          <a:xfrm>
            <a:off x="777240" y="4837176"/>
            <a:ext cx="1499616" cy="365760"/>
          </a:xfrm>
          <a:prstGeom prst="roundRect">
            <a:avLst>
              <a:gd name="adj" fmla="val 50000"/>
            </a:avLst>
          </a:prstGeom>
          <a:solidFill>
            <a:srgbClr val="F1F5F9"/>
          </a:solidFill>
          <a:ln w="12700">
            <a:solidFill>
              <a:srgbClr val="DBE4EC"/>
            </a:solidFill>
            <a:prstDash val="solid"/>
          </a:ln>
        </p:spPr>
      </p:sp>
      <p:sp>
        <p:nvSpPr>
          <p:cNvPr id="35" name="Text 33"/>
          <p:cNvSpPr txBox="1"/>
          <p:nvPr/>
        </p:nvSpPr>
        <p:spPr>
          <a:xfrm>
            <a:off x="777240" y="4837176"/>
            <a:ext cx="1499616" cy="365760"/>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Custom tag</a:t>
            </a:r>
            <a:endParaRPr lang="en-US" sz="1050" dirty="0"/>
          </a:p>
        </p:txBody>
      </p:sp>
      <p:sp>
        <p:nvSpPr>
          <p:cNvPr id="36" name="Text 34"/>
          <p:cNvSpPr txBox="1"/>
          <p:nvPr/>
        </p:nvSpPr>
        <p:spPr>
          <a:xfrm>
            <a:off x="822960" y="5321808"/>
            <a:ext cx="4663440" cy="45720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Summed market value, a value-weighted average of any data point, or a position count — each as of a snapshot date, or as a trend across a date range.</a:t>
            </a:r>
            <a:endParaRPr lang="en-US" sz="1050" dirty="0"/>
          </a:p>
        </p:txBody>
      </p:sp>
      <p:sp>
        <p:nvSpPr>
          <p:cNvPr id="37" name="Shape 35"/>
          <p:cNvSpPr/>
          <p:nvPr/>
        </p:nvSpPr>
        <p:spPr>
          <a:xfrm>
            <a:off x="6080760" y="3291840"/>
            <a:ext cx="5513832" cy="2560320"/>
          </a:xfrm>
          <a:prstGeom prst="roundRect">
            <a:avLst>
              <a:gd name="adj" fmla="val 2143"/>
            </a:avLst>
          </a:prstGeom>
          <a:solidFill>
            <a:srgbClr val="10243A"/>
          </a:solidFill>
          <a:ln/>
        </p:spPr>
      </p:sp>
      <p:sp>
        <p:nvSpPr>
          <p:cNvPr id="38" name="Text 36"/>
          <p:cNvSpPr txBox="1"/>
          <p:nvPr/>
        </p:nvSpPr>
        <p:spPr>
          <a:xfrm>
            <a:off x="6309360" y="3474720"/>
            <a:ext cx="5029200" cy="29260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Climate analytics</a:t>
            </a:r>
            <a:endParaRPr lang="en-US" sz="1700" dirty="0"/>
          </a:p>
        </p:txBody>
      </p:sp>
      <p:sp>
        <p:nvSpPr>
          <p:cNvPr id="39" name="Shape 37"/>
          <p:cNvSpPr/>
          <p:nvPr/>
        </p:nvSpPr>
        <p:spPr>
          <a:xfrm>
            <a:off x="6327648" y="3959352"/>
            <a:ext cx="100584" cy="100584"/>
          </a:xfrm>
          <a:prstGeom prst="ellipse">
            <a:avLst/>
          </a:prstGeom>
          <a:solidFill>
            <a:srgbClr val="E0A526"/>
          </a:solidFill>
          <a:ln/>
        </p:spPr>
      </p:sp>
      <p:sp>
        <p:nvSpPr>
          <p:cNvPr id="40" name="Text 38"/>
          <p:cNvSpPr txBox="1"/>
          <p:nvPr/>
        </p:nvSpPr>
        <p:spPr>
          <a:xfrm>
            <a:off x="6565392" y="3840480"/>
            <a:ext cx="48006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WACI — </a:t>
            </a:r>
            <a:pPr indent="0" marL="0">
              <a:buNone/>
            </a:pPr>
            <a:r>
              <a:rPr lang="en-US" sz="1100" dirty="0">
                <a:solidFill>
                  <a:srgbClr val="B9CDDD"/>
                </a:solidFill>
                <a:latin typeface="Calibri" pitchFamily="34" charset="0"/>
                <a:ea typeface="Calibri" pitchFamily="34" charset="-122"/>
                <a:cs typeface="Calibri" pitchFamily="34" charset="-120"/>
              </a:rPr>
              <a:t>value-weighted carbon intensity, with a trend line over any range</a:t>
            </a:r>
            <a:endParaRPr lang="en-US" sz="1100" dirty="0"/>
          </a:p>
        </p:txBody>
      </p:sp>
      <p:sp>
        <p:nvSpPr>
          <p:cNvPr id="41" name="Shape 39"/>
          <p:cNvSpPr/>
          <p:nvPr/>
        </p:nvSpPr>
        <p:spPr>
          <a:xfrm>
            <a:off x="6327648" y="4370832"/>
            <a:ext cx="100584" cy="100584"/>
          </a:xfrm>
          <a:prstGeom prst="ellipse">
            <a:avLst/>
          </a:prstGeom>
          <a:solidFill>
            <a:srgbClr val="E0A526"/>
          </a:solidFill>
          <a:ln/>
        </p:spPr>
      </p:sp>
      <p:sp>
        <p:nvSpPr>
          <p:cNvPr id="42" name="Text 40"/>
          <p:cNvSpPr txBox="1"/>
          <p:nvPr/>
        </p:nvSpPr>
        <p:spPr>
          <a:xfrm>
            <a:off x="6565392" y="4251960"/>
            <a:ext cx="48006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Financed emissions — </a:t>
            </a:r>
            <a:pPr indent="0" marL="0">
              <a:buNone/>
            </a:pPr>
            <a:r>
              <a:rPr lang="en-US" sz="1100" dirty="0">
                <a:solidFill>
                  <a:srgbClr val="B9CDDD"/>
                </a:solidFill>
                <a:latin typeface="Calibri" pitchFamily="34" charset="0"/>
                <a:ea typeface="Calibri" pitchFamily="34" charset="-122"/>
                <a:cs typeface="Calibri" pitchFamily="34" charset="-120"/>
              </a:rPr>
              <a:t>PCAF attribution: market value ÷ EVIC × issuer Scope 1+2</a:t>
            </a:r>
            <a:endParaRPr lang="en-US" sz="1100" dirty="0"/>
          </a:p>
        </p:txBody>
      </p:sp>
      <p:sp>
        <p:nvSpPr>
          <p:cNvPr id="43" name="Shape 41"/>
          <p:cNvSpPr/>
          <p:nvPr/>
        </p:nvSpPr>
        <p:spPr>
          <a:xfrm>
            <a:off x="6327648" y="4782312"/>
            <a:ext cx="100584" cy="100584"/>
          </a:xfrm>
          <a:prstGeom prst="ellipse">
            <a:avLst/>
          </a:prstGeom>
          <a:solidFill>
            <a:srgbClr val="E0A526"/>
          </a:solidFill>
          <a:ln/>
        </p:spPr>
      </p:sp>
      <p:sp>
        <p:nvSpPr>
          <p:cNvPr id="44" name="Text 42"/>
          <p:cNvSpPr txBox="1"/>
          <p:nvPr/>
        </p:nvSpPr>
        <p:spPr>
          <a:xfrm>
            <a:off x="6565392" y="4663440"/>
            <a:ext cx="48006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Coverage % — </a:t>
            </a:r>
            <a:pPr indent="0" marL="0">
              <a:buNone/>
            </a:pPr>
            <a:r>
              <a:rPr lang="en-US" sz="1100" dirty="0">
                <a:solidFill>
                  <a:srgbClr val="B9CDDD"/>
                </a:solidFill>
                <a:latin typeface="Calibri" pitchFamily="34" charset="0"/>
                <a:ea typeface="Calibri" pitchFamily="34" charset="-122"/>
                <a:cs typeface="Calibri" pitchFamily="34" charset="-120"/>
              </a:rPr>
              <a:t>reported beside every figure; a missing value is never read as zero</a:t>
            </a:r>
            <a:endParaRPr lang="en-US" sz="1100" dirty="0"/>
          </a:p>
        </p:txBody>
      </p:sp>
      <p:sp>
        <p:nvSpPr>
          <p:cNvPr id="45" name="Shape 43"/>
          <p:cNvSpPr/>
          <p:nvPr/>
        </p:nvSpPr>
        <p:spPr>
          <a:xfrm>
            <a:off x="6309360" y="5120640"/>
            <a:ext cx="5056632" cy="566928"/>
          </a:xfrm>
          <a:prstGeom prst="roundRect">
            <a:avLst>
              <a:gd name="adj" fmla="val 9677"/>
            </a:avLst>
          </a:prstGeom>
          <a:solidFill>
            <a:srgbClr val="1E3F5E"/>
          </a:solidFill>
          <a:ln/>
        </p:spPr>
      </p:sp>
      <p:sp>
        <p:nvSpPr>
          <p:cNvPr id="46" name="Text 44"/>
          <p:cNvSpPr txBox="1"/>
          <p:nvPr/>
        </p:nvSpPr>
        <p:spPr>
          <a:xfrm>
            <a:off x="6473952" y="5120640"/>
            <a:ext cx="4727448" cy="566928"/>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Internal ESG-API figures are cross-checked against an independent extraction from the company's own reports. A mismatch is flagged and queued for review, never silently reconciled.</a:t>
            </a:r>
            <a:endParaRPr lang="en-US" sz="1000" dirty="0"/>
          </a:p>
        </p:txBody>
      </p:sp>
      <p:sp>
        <p:nvSpPr>
          <p:cNvPr id="47" name="Text 45"/>
          <p:cNvSpPr txBox="1"/>
          <p:nvPr/>
        </p:nvSpPr>
        <p:spPr>
          <a:xfrm>
            <a:off x="594360" y="6035040"/>
            <a:ext cx="11000232" cy="320040"/>
          </a:xfrm>
          <a:prstGeom prst="rect">
            <a:avLst/>
          </a:prstGeom>
          <a:noFill/>
          <a:ln/>
        </p:spPr>
        <p:txBody>
          <a:bodyPr wrap="square" lIns="0" tIns="0" rIns="0" bIns="0" rtlCol="0" anchor="ctr"/>
          <a:lstStyle/>
          <a:p>
            <a:pPr indent="0" marL="0">
              <a:buNone/>
            </a:pPr>
            <a:r>
              <a:rPr lang="en-US" sz="1000" i="1" dirty="0">
                <a:solidFill>
                  <a:srgbClr val="5A6B78"/>
                </a:solidFill>
                <a:latin typeface="Calibri" pitchFamily="34" charset="0"/>
                <a:ea typeface="Calibri" pitchFamily="34" charset="-122"/>
                <a:cs typeface="Calibri" pitchFamily="34" charset="-120"/>
              </a:rPr>
              <a:t>Built today against mock custodian, ESG-API and news connectors  ·  EUR is the single reporting currency  ·  optional Postgres/pgvector backend for holdings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03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Portfolio: from a position to a number</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The LLM drafts queries and classifies news. It never touches an aggregate.</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Load holdings — </a:t>
            </a:r>
            <a:pPr indent="0" marL="0">
              <a:buNone/>
            </a:pPr>
            <a:r>
              <a:rPr lang="en-US" sz="1050" dirty="0">
                <a:solidFill>
                  <a:srgbClr val="5A6B78"/>
                </a:solidFill>
                <a:latin typeface="Calibri" pitchFamily="34" charset="0"/>
                <a:ea typeface="Calibri" pitchFamily="34" charset="-122"/>
                <a:cs typeface="Calibri" pitchFamily="34" charset="-120"/>
              </a:rPr>
              <a:t>a custodian/PMS snapshot per as-of date; FX is supplied per position by the feed, and a fund is held as one opaque position — no look-through in v1.</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Resolve entities — </a:t>
            </a:r>
            <a:pPr indent="0" marL="0">
              <a:buNone/>
            </a:pPr>
            <a:r>
              <a:rPr lang="en-US" sz="1050" dirty="0">
                <a:solidFill>
                  <a:srgbClr val="5A6B78"/>
                </a:solidFill>
                <a:latin typeface="Calibri" pitchFamily="34" charset="0"/>
                <a:ea typeface="Calibri" pitchFamily="34" charset="-122"/>
                <a:cs typeface="Calibri" pitchFamily="34" charset="-120"/>
              </a:rPr>
              <a:t>each security is joined to its issuer and then to a company_id, the same identity spine the research functions use; an unresolved instrument goes to a review queue.</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Map data points — </a:t>
            </a:r>
            <a:pPr indent="0" marL="0">
              <a:buNone/>
            </a:pPr>
            <a:r>
              <a:rPr lang="en-US" sz="1050" dirty="0">
                <a:solidFill>
                  <a:srgbClr val="5A6B78"/>
                </a:solidFill>
                <a:latin typeface="Calibri" pitchFamily="34" charset="0"/>
                <a:ea typeface="Calibri" pitchFamily="34" charset="-122"/>
                <a:cs typeface="Calibri" pitchFamily="34" charset="-120"/>
              </a:rPr>
              <a:t>per issuer, a cascade resolves a field from an extraction record, then a thematic/indirect exposure result, then a supplied catalogue row — and otherwise reports it missing.</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Aggregate deterministically — </a:t>
            </a:r>
            <a:pPr indent="0" marL="0">
              <a:buNone/>
            </a:pPr>
            <a:r>
              <a:rPr lang="en-US" sz="1050" dirty="0">
                <a:solidFill>
                  <a:srgbClr val="5A6B78"/>
                </a:solidFill>
                <a:latin typeface="Calibri" pitchFamily="34" charset="0"/>
                <a:ea typeface="Calibri" pitchFamily="34" charset="-122"/>
                <a:cs typeface="Calibri" pitchFamily="34" charset="-120"/>
              </a:rPr>
              <a:t>filter → group by dimension → metric, computed in Python (or one SQL join on the Postgres backend). Coverage is reported; a missing value is never read as zero.</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Move through time — </a:t>
            </a:r>
            <a:pPr indent="0" marL="0">
              <a:buNone/>
            </a:pPr>
            <a:r>
              <a:rPr lang="en-US" sz="1050" dirty="0">
                <a:solidFill>
                  <a:srgbClr val="5A6B78"/>
                </a:solidFill>
                <a:latin typeface="Calibri" pitchFamily="34" charset="0"/>
                <a:ea typeface="Calibri" pitchFamily="34" charset="-122"/>
                <a:cs typeface="Calibri" pitchFamily="34" charset="-120"/>
              </a:rPr>
              <a:t>as_of picks a snapshot, date_range returns a trend, and each point uses the observation that most closely precedes it — no look-ahead from a later restatement.</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Answer questions — </a:t>
            </a:r>
            <a:pPr indent="0" marL="0">
              <a:buNone/>
            </a:pPr>
            <a:r>
              <a:rPr lang="en-US" sz="1050" dirty="0">
                <a:solidFill>
                  <a:srgbClr val="5A6B78"/>
                </a:solidFill>
                <a:latin typeface="Calibri" pitchFamily="34" charset="0"/>
                <a:ea typeface="Calibri" pitchFamily="34" charset="-122"/>
                <a:cs typeface="Calibri" pitchFamily="34" charset="-120"/>
              </a:rPr>
              <a:t>the Q&amp;A agent parses a question into a Pydantic-validated AnalyticSpec, the engine executes it, and the answer is templated from the real result plus the spec that produced it.</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Validate climate data — </a:t>
            </a:r>
            <a:pPr indent="0" marL="0">
              <a:buNone/>
            </a:pPr>
            <a:r>
              <a:rPr lang="en-US" sz="1050" dirty="0">
                <a:solidFill>
                  <a:srgbClr val="5A6B78"/>
                </a:solidFill>
                <a:latin typeface="Calibri" pitchFamily="34" charset="0"/>
                <a:ea typeface="Calibri" pitchFamily="34" charset="-122"/>
                <a:cs typeface="Calibri" pitchFamily="34" charset="-120"/>
              </a:rPr>
              <a:t>a background batch re-extracts each internal-API climate figure from the company's own reports; a mismatch is stamped conflicting_sources and queued, with both values side by side.</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arp/portfolio/aggregation.py, analytics.py, qa_agent.py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arp/portfolio/datapoint_mapping.py, entity_resolution.py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arp/portfolio/climate/{metrics,validation,schemas}.py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arp/portfolio/news/{classifier,source}.py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arp/storage/portfolio_store.py (file or Postgres)</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holdings snapshots, security/company registries, climate observations.</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grouped exposures, WACI / financed emissions / coverage, saved analytics.</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Zero LLM inside any aggregate; the query spec is always shown.</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Ambiguous questions are handed back, not guessed.</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Proxy (sector-average) emissions stay opt-in and visibly tagged.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04   ·   COMPANY FINANCIALS EXTRACTION</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Segments, CapEx and R&amp;D</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The three things almost always wanted together, pulled in a single combined pass per company.</a:t>
            </a:r>
            <a:endParaRPr lang="en-US" sz="1400" dirty="0"/>
          </a:p>
        </p:txBody>
      </p:sp>
      <p:sp>
        <p:nvSpPr>
          <p:cNvPr id="5" name="Shape 3"/>
          <p:cNvSpPr/>
          <p:nvPr/>
        </p:nvSpPr>
        <p:spPr>
          <a:xfrm>
            <a:off x="594360" y="1783080"/>
            <a:ext cx="7114032" cy="1325880"/>
          </a:xfrm>
          <a:prstGeom prst="roundRect">
            <a:avLst>
              <a:gd name="adj" fmla="val 4138"/>
            </a:avLst>
          </a:prstGeom>
          <a:solidFill>
            <a:srgbClr val="FFFFFF"/>
          </a:solidFill>
          <a:ln w="12700">
            <a:solidFill>
              <a:srgbClr val="DBE4EC"/>
            </a:solidFill>
            <a:prstDash val="solid"/>
          </a:ln>
        </p:spPr>
      </p:sp>
      <p:sp>
        <p:nvSpPr>
          <p:cNvPr id="6" name="Shape 4"/>
          <p:cNvSpPr/>
          <p:nvPr/>
        </p:nvSpPr>
        <p:spPr>
          <a:xfrm>
            <a:off x="822960" y="2002536"/>
            <a:ext cx="347472" cy="347472"/>
          </a:xfrm>
          <a:prstGeom prst="ellipse">
            <a:avLst/>
          </a:prstGeom>
          <a:solidFill>
            <a:srgbClr val="1C7293"/>
          </a:solidFill>
          <a:ln/>
        </p:spPr>
      </p:sp>
      <p:sp>
        <p:nvSpPr>
          <p:cNvPr id="7" name="Text 5"/>
          <p:cNvSpPr txBox="1"/>
          <p:nvPr/>
        </p:nvSpPr>
        <p:spPr>
          <a:xfrm>
            <a:off x="822960" y="20162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307592" y="1947672"/>
            <a:ext cx="6126480" cy="292608"/>
          </a:xfrm>
          <a:prstGeom prst="rect">
            <a:avLst/>
          </a:prstGeom>
          <a:noFill/>
          <a:ln/>
        </p:spPr>
        <p:txBody>
          <a:bodyPr wrap="square" lIns="0" tIns="0" rIns="0" bIns="0" rtlCol="0" anchor="ctr"/>
          <a:lstStyle/>
          <a:p>
            <a:pPr indent="0" marL="0">
              <a:buNone/>
            </a:pPr>
            <a:r>
              <a:rPr lang="en-US" sz="1500" b="1" dirty="0">
                <a:solidFill>
                  <a:srgbClr val="10243A"/>
                </a:solidFill>
                <a:latin typeface="Cambria" pitchFamily="34" charset="0"/>
                <a:ea typeface="Cambria" pitchFamily="34" charset="-122"/>
                <a:cs typeface="Cambria" pitchFamily="34" charset="-120"/>
              </a:rPr>
              <a:t>Business segments</a:t>
            </a:r>
            <a:endParaRPr lang="en-US" sz="1500" dirty="0"/>
          </a:p>
        </p:txBody>
      </p:sp>
      <p:sp>
        <p:nvSpPr>
          <p:cNvPr id="9" name="Text 7"/>
          <p:cNvSpPr txBox="1"/>
          <p:nvPr/>
        </p:nvSpPr>
        <p:spPr>
          <a:xfrm>
            <a:off x="1307592" y="2295144"/>
            <a:ext cx="612648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Name, description, revenue, operating income and assets — as the company itself reports them, with a citation each.</a:t>
            </a:r>
            <a:endParaRPr lang="en-US" sz="1050" dirty="0"/>
          </a:p>
        </p:txBody>
      </p:sp>
      <p:sp>
        <p:nvSpPr>
          <p:cNvPr id="10" name="Shape 8"/>
          <p:cNvSpPr/>
          <p:nvPr/>
        </p:nvSpPr>
        <p:spPr>
          <a:xfrm>
            <a:off x="594360" y="3264408"/>
            <a:ext cx="7114032" cy="1325880"/>
          </a:xfrm>
          <a:prstGeom prst="roundRect">
            <a:avLst>
              <a:gd name="adj" fmla="val 4138"/>
            </a:avLst>
          </a:prstGeom>
          <a:solidFill>
            <a:srgbClr val="FFFFFF"/>
          </a:solidFill>
          <a:ln w="12700">
            <a:solidFill>
              <a:srgbClr val="DBE4EC"/>
            </a:solidFill>
            <a:prstDash val="solid"/>
          </a:ln>
        </p:spPr>
      </p:sp>
      <p:sp>
        <p:nvSpPr>
          <p:cNvPr id="11" name="Shape 9"/>
          <p:cNvSpPr/>
          <p:nvPr/>
        </p:nvSpPr>
        <p:spPr>
          <a:xfrm>
            <a:off x="822960" y="3483864"/>
            <a:ext cx="347472" cy="347472"/>
          </a:xfrm>
          <a:prstGeom prst="ellipse">
            <a:avLst/>
          </a:prstGeom>
          <a:solidFill>
            <a:srgbClr val="1C7293"/>
          </a:solidFill>
          <a:ln/>
        </p:spPr>
      </p:sp>
      <p:sp>
        <p:nvSpPr>
          <p:cNvPr id="12" name="Text 10"/>
          <p:cNvSpPr txBox="1"/>
          <p:nvPr/>
        </p:nvSpPr>
        <p:spPr>
          <a:xfrm>
            <a:off x="822960" y="34975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307592" y="3429000"/>
            <a:ext cx="6126480" cy="292608"/>
          </a:xfrm>
          <a:prstGeom prst="rect">
            <a:avLst/>
          </a:prstGeom>
          <a:noFill/>
          <a:ln/>
        </p:spPr>
        <p:txBody>
          <a:bodyPr wrap="square" lIns="0" tIns="0" rIns="0" bIns="0" rtlCol="0" anchor="ctr"/>
          <a:lstStyle/>
          <a:p>
            <a:pPr indent="0" marL="0">
              <a:buNone/>
            </a:pPr>
            <a:r>
              <a:rPr lang="en-US" sz="1500" b="1" dirty="0">
                <a:solidFill>
                  <a:srgbClr val="10243A"/>
                </a:solidFill>
                <a:latin typeface="Cambria" pitchFamily="34" charset="0"/>
                <a:ea typeface="Cambria" pitchFamily="34" charset="-122"/>
                <a:cs typeface="Cambria" pitchFamily="34" charset="-120"/>
              </a:rPr>
              <a:t>Capital expenditure</a:t>
            </a:r>
            <a:endParaRPr lang="en-US" sz="1500" dirty="0"/>
          </a:p>
        </p:txBody>
      </p:sp>
      <p:sp>
        <p:nvSpPr>
          <p:cNvPr id="14" name="Text 12"/>
          <p:cNvSpPr txBox="1"/>
          <p:nvPr/>
        </p:nvSpPr>
        <p:spPr>
          <a:xfrm>
            <a:off x="1307592" y="3776472"/>
            <a:ext cx="612648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total, plus a grounded plain-language description of what it is going toward and any disclosed split (maintenance vs. growth, green capex).</a:t>
            </a:r>
            <a:endParaRPr lang="en-US" sz="1050" dirty="0"/>
          </a:p>
        </p:txBody>
      </p:sp>
      <p:sp>
        <p:nvSpPr>
          <p:cNvPr id="15" name="Shape 13"/>
          <p:cNvSpPr/>
          <p:nvPr/>
        </p:nvSpPr>
        <p:spPr>
          <a:xfrm>
            <a:off x="594360" y="4745736"/>
            <a:ext cx="7114032" cy="1325880"/>
          </a:xfrm>
          <a:prstGeom prst="roundRect">
            <a:avLst>
              <a:gd name="adj" fmla="val 4138"/>
            </a:avLst>
          </a:prstGeom>
          <a:solidFill>
            <a:srgbClr val="FFFFFF"/>
          </a:solidFill>
          <a:ln w="12700">
            <a:solidFill>
              <a:srgbClr val="DBE4EC"/>
            </a:solidFill>
            <a:prstDash val="solid"/>
          </a:ln>
        </p:spPr>
      </p:sp>
      <p:sp>
        <p:nvSpPr>
          <p:cNvPr id="16" name="Shape 14"/>
          <p:cNvSpPr/>
          <p:nvPr/>
        </p:nvSpPr>
        <p:spPr>
          <a:xfrm>
            <a:off x="822960" y="4965192"/>
            <a:ext cx="347472" cy="347472"/>
          </a:xfrm>
          <a:prstGeom prst="ellipse">
            <a:avLst/>
          </a:prstGeom>
          <a:solidFill>
            <a:srgbClr val="1C7293"/>
          </a:solidFill>
          <a:ln/>
        </p:spPr>
      </p:sp>
      <p:sp>
        <p:nvSpPr>
          <p:cNvPr id="17" name="Text 15"/>
          <p:cNvSpPr txBox="1"/>
          <p:nvPr/>
        </p:nvSpPr>
        <p:spPr>
          <a:xfrm>
            <a:off x="822960" y="497890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307592" y="4910328"/>
            <a:ext cx="6126480" cy="292608"/>
          </a:xfrm>
          <a:prstGeom prst="rect">
            <a:avLst/>
          </a:prstGeom>
          <a:noFill/>
          <a:ln/>
        </p:spPr>
        <p:txBody>
          <a:bodyPr wrap="square" lIns="0" tIns="0" rIns="0" bIns="0" rtlCol="0" anchor="ctr"/>
          <a:lstStyle/>
          <a:p>
            <a:pPr indent="0" marL="0">
              <a:buNone/>
            </a:pPr>
            <a:r>
              <a:rPr lang="en-US" sz="1500" b="1" dirty="0">
                <a:solidFill>
                  <a:srgbClr val="10243A"/>
                </a:solidFill>
                <a:latin typeface="Cambria" pitchFamily="34" charset="0"/>
                <a:ea typeface="Cambria" pitchFamily="34" charset="-122"/>
                <a:cs typeface="Cambria" pitchFamily="34" charset="-120"/>
              </a:rPr>
              <a:t>Research &amp; development</a:t>
            </a:r>
            <a:endParaRPr lang="en-US" sz="1500" dirty="0"/>
          </a:p>
        </p:txBody>
      </p:sp>
      <p:sp>
        <p:nvSpPr>
          <p:cNvPr id="19" name="Text 17"/>
          <p:cNvSpPr txBox="1"/>
          <p:nvPr/>
        </p:nvSpPr>
        <p:spPr>
          <a:xfrm>
            <a:off x="1307592" y="5257800"/>
            <a:ext cx="612648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total, plus the disclosed focus areas — broader than a single “green capex” field, and never backed into from a group total.</a:t>
            </a:r>
            <a:endParaRPr lang="en-US" sz="1050" dirty="0"/>
          </a:p>
        </p:txBody>
      </p:sp>
      <p:sp>
        <p:nvSpPr>
          <p:cNvPr id="20" name="Shape 18"/>
          <p:cNvSpPr/>
          <p:nvPr/>
        </p:nvSpPr>
        <p:spPr>
          <a:xfrm>
            <a:off x="7909560" y="1783080"/>
            <a:ext cx="3685032" cy="2194560"/>
          </a:xfrm>
          <a:prstGeom prst="roundRect">
            <a:avLst>
              <a:gd name="adj" fmla="val 2500"/>
            </a:avLst>
          </a:prstGeom>
          <a:solidFill>
            <a:srgbClr val="10243A"/>
          </a:solidFill>
          <a:ln/>
        </p:spPr>
      </p:sp>
      <p:sp>
        <p:nvSpPr>
          <p:cNvPr id="21" name="Text 19"/>
          <p:cNvSpPr txBox="1"/>
          <p:nvPr/>
        </p:nvSpPr>
        <p:spPr>
          <a:xfrm>
            <a:off x="8183880" y="1984248"/>
            <a:ext cx="3136392" cy="219456"/>
          </a:xfrm>
          <a:prstGeom prst="rect">
            <a:avLst/>
          </a:prstGeom>
          <a:noFill/>
          <a:ln/>
        </p:spPr>
        <p:txBody>
          <a:bodyPr wrap="square" lIns="0" tIns="0" rIns="0" bIns="0" rtlCol="0" anchor="ctr"/>
          <a:lstStyle/>
          <a:p>
            <a:pPr indent="0" marL="0">
              <a:buNone/>
            </a:pPr>
            <a:r>
              <a:rPr lang="en-US" sz="950" b="1" spc="160" kern="0" dirty="0">
                <a:solidFill>
                  <a:srgbClr val="B9CDDD"/>
                </a:solidFill>
                <a:latin typeface="Calibri" pitchFamily="34" charset="0"/>
                <a:ea typeface="Calibri" pitchFamily="34" charset="-122"/>
                <a:cs typeface="Calibri" pitchFamily="34" charset="-120"/>
              </a:rPr>
              <a:t>ONE PASS, NOT THREE</a:t>
            </a:r>
            <a:endParaRPr lang="en-US" sz="950" dirty="0"/>
          </a:p>
        </p:txBody>
      </p:sp>
      <p:sp>
        <p:nvSpPr>
          <p:cNvPr id="22" name="Text 20"/>
          <p:cNvSpPr txBox="1"/>
          <p:nvPr/>
        </p:nvSpPr>
        <p:spPr>
          <a:xfrm>
            <a:off x="8183880" y="2331720"/>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1</a:t>
            </a:r>
            <a:endParaRPr lang="en-US" sz="2400" dirty="0"/>
          </a:p>
        </p:txBody>
      </p:sp>
      <p:sp>
        <p:nvSpPr>
          <p:cNvPr id="23" name="Text 21"/>
          <p:cNvSpPr txBox="1"/>
          <p:nvPr/>
        </p:nvSpPr>
        <p:spPr>
          <a:xfrm>
            <a:off x="8915400" y="2313432"/>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document fetch and one shared evidence-gathering step</a:t>
            </a:r>
            <a:endParaRPr lang="en-US" sz="950" dirty="0"/>
          </a:p>
        </p:txBody>
      </p:sp>
      <p:sp>
        <p:nvSpPr>
          <p:cNvPr id="24" name="Text 22"/>
          <p:cNvSpPr txBox="1"/>
          <p:nvPr/>
        </p:nvSpPr>
        <p:spPr>
          <a:xfrm>
            <a:off x="8183880" y="2871216"/>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2</a:t>
            </a:r>
            <a:endParaRPr lang="en-US" sz="2400" dirty="0"/>
          </a:p>
        </p:txBody>
      </p:sp>
      <p:sp>
        <p:nvSpPr>
          <p:cNvPr id="25" name="Text 23"/>
          <p:cNvSpPr txBox="1"/>
          <p:nvPr/>
        </p:nvSpPr>
        <p:spPr>
          <a:xfrm>
            <a:off x="8915400" y="2852928"/>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LLM calls per company: one extractor, one independent verifier</a:t>
            </a:r>
            <a:endParaRPr lang="en-US" sz="950" dirty="0"/>
          </a:p>
        </p:txBody>
      </p:sp>
      <p:sp>
        <p:nvSpPr>
          <p:cNvPr id="26" name="Text 24"/>
          <p:cNvSpPr txBox="1"/>
          <p:nvPr/>
        </p:nvSpPr>
        <p:spPr>
          <a:xfrm>
            <a:off x="8183880" y="3410712"/>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0</a:t>
            </a:r>
            <a:endParaRPr lang="en-US" sz="2400" dirty="0"/>
          </a:p>
        </p:txBody>
      </p:sp>
      <p:sp>
        <p:nvSpPr>
          <p:cNvPr id="27" name="Text 25"/>
          <p:cNvSpPr txBox="1"/>
          <p:nvPr/>
        </p:nvSpPr>
        <p:spPr>
          <a:xfrm>
            <a:off x="8915400" y="3392424"/>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estimated figures — an undisclosed segment or total stays null</a:t>
            </a:r>
            <a:endParaRPr lang="en-US" sz="950" dirty="0"/>
          </a:p>
        </p:txBody>
      </p:sp>
      <p:sp>
        <p:nvSpPr>
          <p:cNvPr id="28" name="Shape 26"/>
          <p:cNvSpPr/>
          <p:nvPr/>
        </p:nvSpPr>
        <p:spPr>
          <a:xfrm>
            <a:off x="7909560" y="4114800"/>
            <a:ext cx="3685032" cy="1005840"/>
          </a:xfrm>
          <a:prstGeom prst="roundRect">
            <a:avLst>
              <a:gd name="adj" fmla="val 5455"/>
            </a:avLst>
          </a:prstGeom>
          <a:solidFill>
            <a:srgbClr val="FFFFFF"/>
          </a:solidFill>
          <a:ln w="12700">
            <a:solidFill>
              <a:srgbClr val="DBE4EC"/>
            </a:solidFill>
            <a:prstDash val="solid"/>
          </a:ln>
        </p:spPr>
      </p:sp>
      <p:sp>
        <p:nvSpPr>
          <p:cNvPr id="29" name="Shape 27"/>
          <p:cNvSpPr/>
          <p:nvPr/>
        </p:nvSpPr>
        <p:spPr>
          <a:xfrm>
            <a:off x="8110728" y="4352544"/>
            <a:ext cx="118872" cy="118872"/>
          </a:xfrm>
          <a:prstGeom prst="ellipse">
            <a:avLst/>
          </a:prstGeom>
          <a:solidFill>
            <a:srgbClr val="E0A526"/>
          </a:solidFill>
          <a:ln/>
        </p:spPr>
      </p:sp>
      <p:sp>
        <p:nvSpPr>
          <p:cNvPr id="30" name="Text 28"/>
          <p:cNvSpPr txBox="1"/>
          <p:nvPr/>
        </p:nvSpPr>
        <p:spPr>
          <a:xfrm>
            <a:off x="8348472" y="4279392"/>
            <a:ext cx="30449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SEC XBRL first</a:t>
            </a:r>
            <a:endParaRPr lang="en-US" sz="1350" dirty="0"/>
          </a:p>
        </p:txBody>
      </p:sp>
      <p:sp>
        <p:nvSpPr>
          <p:cNvPr id="31" name="Text 29"/>
          <p:cNvSpPr txBox="1"/>
          <p:nvPr/>
        </p:nvSpPr>
        <p:spPr>
          <a:xfrm>
            <a:off x="8110728" y="4608576"/>
            <a:ext cx="3282696" cy="38404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SEC's own machine-tagged CapEx and R&amp;D totals replace the model's read of prose.</a:t>
            </a:r>
            <a:endParaRPr lang="en-US" sz="1050" dirty="0"/>
          </a:p>
        </p:txBody>
      </p:sp>
      <p:sp>
        <p:nvSpPr>
          <p:cNvPr id="32" name="Shape 30"/>
          <p:cNvSpPr/>
          <p:nvPr/>
        </p:nvSpPr>
        <p:spPr>
          <a:xfrm>
            <a:off x="7909560" y="5257800"/>
            <a:ext cx="3685032" cy="1005840"/>
          </a:xfrm>
          <a:prstGeom prst="roundRect">
            <a:avLst>
              <a:gd name="adj" fmla="val 5455"/>
            </a:avLst>
          </a:prstGeom>
          <a:solidFill>
            <a:srgbClr val="FFFFFF"/>
          </a:solidFill>
          <a:ln w="12700">
            <a:solidFill>
              <a:srgbClr val="DBE4EC"/>
            </a:solidFill>
            <a:prstDash val="solid"/>
          </a:ln>
        </p:spPr>
      </p:sp>
      <p:sp>
        <p:nvSpPr>
          <p:cNvPr id="33" name="Shape 31"/>
          <p:cNvSpPr/>
          <p:nvPr/>
        </p:nvSpPr>
        <p:spPr>
          <a:xfrm>
            <a:off x="8110728" y="5495544"/>
            <a:ext cx="118872" cy="118872"/>
          </a:xfrm>
          <a:prstGeom prst="ellipse">
            <a:avLst/>
          </a:prstGeom>
          <a:solidFill>
            <a:srgbClr val="E0A526"/>
          </a:solidFill>
          <a:ln/>
        </p:spPr>
      </p:sp>
      <p:sp>
        <p:nvSpPr>
          <p:cNvPr id="34" name="Text 32"/>
          <p:cNvSpPr txBox="1"/>
          <p:nvPr/>
        </p:nvSpPr>
        <p:spPr>
          <a:xfrm>
            <a:off x="8348472" y="5422392"/>
            <a:ext cx="30449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Per-section review</a:t>
            </a:r>
            <a:endParaRPr lang="en-US" sz="1350" dirty="0"/>
          </a:p>
        </p:txBody>
      </p:sp>
      <p:sp>
        <p:nvSpPr>
          <p:cNvPr id="35" name="Text 33"/>
          <p:cNvSpPr txBox="1"/>
          <p:nvPr/>
        </p:nvSpPr>
        <p:spPr>
          <a:xfrm>
            <a:off x="8110728" y="5751576"/>
            <a:ext cx="3282696" cy="38404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Each section carries its own review flag, so one weak section never blocks the others.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04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Financials: one fetch, one verified pass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The same graph shape as data-point extraction, widened to three sections and overlaid with SEC's own facts.</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Start the run — </a:t>
            </a:r>
            <a:pPr indent="0" marL="0">
              <a:buNone/>
            </a:pPr>
            <a:r>
              <a:rPr lang="en-US" sz="1050" dirty="0">
                <a:solidFill>
                  <a:srgbClr val="5A6B78"/>
                </a:solidFill>
                <a:latin typeface="Calibri" pitchFamily="34" charset="0"/>
                <a:ea typeface="Calibri" pitchFamily="34" charset="-122"/>
                <a:cs typeface="Calibri" pitchFamily="34" charset="-120"/>
              </a:rPr>
              <a:t>arp extract financials-run takes a universe and creates a run manifest; per-company items go through the shared, resumable batch runner.</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Fetch every document type — </a:t>
            </a:r>
            <a:pPr indent="0" marL="0">
              <a:buNone/>
            </a:pPr>
            <a:r>
              <a:rPr lang="en-US" sz="1050" dirty="0">
                <a:solidFill>
                  <a:srgbClr val="5A6B78"/>
                </a:solidFill>
                <a:latin typeface="Calibri" pitchFamily="34" charset="0"/>
                <a:ea typeface="Calibri" pitchFamily="34" charset="-122"/>
                <a:cs typeface="Calibri" pitchFamily="34" charset="-120"/>
              </a:rPr>
              <a:t>annual reports, sustainability reports, investor presentations and transcripts for the company — one fetch, reused by all three sections.</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Gather evidence once — </a:t>
            </a:r>
            <a:pPr indent="0" marL="0">
              <a:buNone/>
            </a:pPr>
            <a:r>
              <a:rPr lang="en-US" sz="1050" dirty="0">
                <a:solidFill>
                  <a:srgbClr val="5A6B78"/>
                </a:solidFill>
                <a:latin typeface="Calibri" pitchFamily="34" charset="0"/>
                <a:ea typeface="Calibri" pitchFamily="34" charset="-122"/>
                <a:cs typeface="Calibri" pitchFamily="34" charset="-120"/>
              </a:rPr>
              <a:t>a single evidence-selection step serves segments, CapEx and R&amp;D instead of three independent retrievals.</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Extract and verify — </a:t>
            </a:r>
            <a:pPr indent="0" marL="0">
              <a:buNone/>
            </a:pPr>
            <a:r>
              <a:rPr lang="en-US" sz="1050" dirty="0">
                <a:solidFill>
                  <a:srgbClr val="5A6B78"/>
                </a:solidFill>
                <a:latin typeface="Calibri" pitchFamily="34" charset="0"/>
                <a:ea typeface="Calibri" pitchFamily="34" charset="-122"/>
                <a:cs typeface="Calibri" pitchFamily="34" charset="-120"/>
              </a:rPr>
              <a:t>financials_graph runs extract → verify → aggregate: one extractor call and one independent verifier call on a different model, for the whole record.</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Overlay XBRL facts — </a:t>
            </a:r>
            <a:pPr indent="0" marL="0">
              <a:buNone/>
            </a:pPr>
            <a:r>
              <a:rPr lang="en-US" sz="1050" dirty="0">
                <a:solidFill>
                  <a:srgbClr val="5A6B78"/>
                </a:solidFill>
                <a:latin typeface="Calibri" pitchFamily="34" charset="0"/>
                <a:ea typeface="Calibri" pitchFamily="34" charset="-122"/>
                <a:cs typeface="Calibri" pitchFamily="34" charset="-120"/>
              </a:rPr>
              <a:t>for an EDGAR filer, SEC companyfacts CapEx/R&amp;D totals replace the extracted scalar and are marked grounded; descriptions and category splits are left untouched.</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Ground and flag — </a:t>
            </a:r>
            <a:pPr indent="0" marL="0">
              <a:buNone/>
            </a:pPr>
            <a:r>
              <a:rPr lang="en-US" sz="1050" dirty="0">
                <a:solidFill>
                  <a:srgbClr val="5A6B78"/>
                </a:solidFill>
                <a:latin typeface="Calibri" pitchFamily="34" charset="0"/>
                <a:ea typeface="Calibri" pitchFamily="34" charset="-122"/>
                <a:cs typeface="Calibri" pitchFamily="34" charset="-120"/>
              </a:rPr>
              <a:t>every citation is re-checked against the source text, and each section gets its own needs_review flag rather than one verdict for the record.</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Persist with provenance — </a:t>
            </a:r>
            <a:pPr indent="0" marL="0">
              <a:buNone/>
            </a:pPr>
            <a:r>
              <a:rPr lang="en-US" sz="1050" dirty="0">
                <a:solidFill>
                  <a:srgbClr val="5A6B78"/>
                </a:solidFill>
                <a:latin typeface="Calibri" pitchFamily="34" charset="0"/>
                <a:ea typeface="Calibri" pitchFamily="34" charset="-122"/>
                <a:cs typeface="Calibri" pitchFamily="34" charset="-120"/>
              </a:rPr>
              <a:t>the CompanyFinancialsRecord carries extractor and verifier model plus prompt hashes, so a later prompt change is detectable against stored output.</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arp/extraction/financials_pipeline.py, financials_graph.py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arp/extraction/financials_{extractor,verifier}_agent.py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arp/extraction/segment_*.py, spend_*.py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arp/ingestion/xbrl.py (SEC companyfacts, no API key)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arp/schemas/{financials,segments,spend}.py</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 (company_id, name, ticker, cik).</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CompanyFinancialsRecord — segments, capex, rnd, each with citations and confidence.</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 figure not explicitly disclosed is null, never derived from a total.</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XBRL replaces only the scalar total, never the narrative around it.</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One weak section does not invalidate the other two.</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05   ·   DOCUMENT DISCOVERY</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Finding the documents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Locate each company's investor-relations site, crawl it politely, and raise an event the moment something new appears.</a:t>
            </a:r>
            <a:endParaRPr lang="en-US" sz="1400" dirty="0"/>
          </a:p>
        </p:txBody>
      </p:sp>
      <p:sp>
        <p:nvSpPr>
          <p:cNvPr id="5" name="Shape 3"/>
          <p:cNvSpPr/>
          <p:nvPr/>
        </p:nvSpPr>
        <p:spPr>
          <a:xfrm>
            <a:off x="594360" y="1828800"/>
            <a:ext cx="2031797" cy="1188720"/>
          </a:xfrm>
          <a:prstGeom prst="roundRect">
            <a:avLst>
              <a:gd name="adj" fmla="val 4615"/>
            </a:avLst>
          </a:prstGeom>
          <a:solidFill>
            <a:srgbClr val="F1F5F9"/>
          </a:solidFill>
          <a:ln w="12700">
            <a:solidFill>
              <a:srgbClr val="DBE4EC"/>
            </a:solidFill>
            <a:prstDash val="solid"/>
          </a:ln>
        </p:spPr>
      </p:sp>
      <p:sp>
        <p:nvSpPr>
          <p:cNvPr id="6" name="Shape 4"/>
          <p:cNvSpPr/>
          <p:nvPr/>
        </p:nvSpPr>
        <p:spPr>
          <a:xfrm>
            <a:off x="749808" y="1965960"/>
            <a:ext cx="310896" cy="310896"/>
          </a:xfrm>
          <a:prstGeom prst="ellipse">
            <a:avLst/>
          </a:prstGeom>
          <a:solidFill>
            <a:srgbClr val="1C7293"/>
          </a:solidFill>
          <a:ln/>
        </p:spPr>
      </p:sp>
      <p:sp>
        <p:nvSpPr>
          <p:cNvPr id="7" name="Text 5"/>
          <p:cNvSpPr txBox="1"/>
          <p:nvPr/>
        </p:nvSpPr>
        <p:spPr>
          <a:xfrm>
            <a:off x="749808"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43000"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Resolve</a:t>
            </a:r>
            <a:endParaRPr lang="en-US" sz="1350" dirty="0"/>
          </a:p>
        </p:txBody>
      </p:sp>
      <p:sp>
        <p:nvSpPr>
          <p:cNvPr id="9" name="Text 7"/>
          <p:cNvSpPr txBox="1"/>
          <p:nvPr/>
        </p:nvSpPr>
        <p:spPr>
          <a:xfrm>
            <a:off x="749808"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The supplied IR URL, or a web-search fallback with no API key needed.</a:t>
            </a:r>
            <a:endParaRPr lang="en-US" sz="950" dirty="0"/>
          </a:p>
        </p:txBody>
      </p:sp>
      <p:sp>
        <p:nvSpPr>
          <p:cNvPr id="10" name="Text 8"/>
          <p:cNvSpPr txBox="1"/>
          <p:nvPr/>
        </p:nvSpPr>
        <p:spPr>
          <a:xfrm>
            <a:off x="2626157"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2836469" y="1828800"/>
            <a:ext cx="2031797" cy="1188720"/>
          </a:xfrm>
          <a:prstGeom prst="roundRect">
            <a:avLst>
              <a:gd name="adj" fmla="val 4615"/>
            </a:avLst>
          </a:prstGeom>
          <a:solidFill>
            <a:srgbClr val="F1F5F9"/>
          </a:solidFill>
          <a:ln w="12700">
            <a:solidFill>
              <a:srgbClr val="DBE4EC"/>
            </a:solidFill>
            <a:prstDash val="solid"/>
          </a:ln>
        </p:spPr>
      </p:sp>
      <p:sp>
        <p:nvSpPr>
          <p:cNvPr id="12" name="Shape 10"/>
          <p:cNvSpPr/>
          <p:nvPr/>
        </p:nvSpPr>
        <p:spPr>
          <a:xfrm>
            <a:off x="2991917" y="1965960"/>
            <a:ext cx="310896" cy="310896"/>
          </a:xfrm>
          <a:prstGeom prst="ellipse">
            <a:avLst/>
          </a:prstGeom>
          <a:solidFill>
            <a:srgbClr val="1C7293"/>
          </a:solidFill>
          <a:ln/>
        </p:spPr>
      </p:sp>
      <p:sp>
        <p:nvSpPr>
          <p:cNvPr id="13" name="Text 11"/>
          <p:cNvSpPr txBox="1"/>
          <p:nvPr/>
        </p:nvSpPr>
        <p:spPr>
          <a:xfrm>
            <a:off x="2991917"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3385109"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Crawl</a:t>
            </a:r>
            <a:endParaRPr lang="en-US" sz="1350" dirty="0"/>
          </a:p>
        </p:txBody>
      </p:sp>
      <p:sp>
        <p:nvSpPr>
          <p:cNvPr id="15" name="Text 13"/>
          <p:cNvSpPr txBox="1"/>
          <p:nvPr/>
        </p:nvSpPr>
        <p:spPr>
          <a:xfrm>
            <a:off x="2991917"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Bounded, same-domain, robots.txt-respecting, guarded against SSRF.</a:t>
            </a:r>
            <a:endParaRPr lang="en-US" sz="950" dirty="0"/>
          </a:p>
        </p:txBody>
      </p:sp>
      <p:sp>
        <p:nvSpPr>
          <p:cNvPr id="16" name="Text 14"/>
          <p:cNvSpPr txBox="1"/>
          <p:nvPr/>
        </p:nvSpPr>
        <p:spPr>
          <a:xfrm>
            <a:off x="4868266"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5078578" y="1828800"/>
            <a:ext cx="2031797" cy="1188720"/>
          </a:xfrm>
          <a:prstGeom prst="roundRect">
            <a:avLst>
              <a:gd name="adj" fmla="val 4615"/>
            </a:avLst>
          </a:prstGeom>
          <a:solidFill>
            <a:srgbClr val="F1F5F9"/>
          </a:solidFill>
          <a:ln w="12700">
            <a:solidFill>
              <a:srgbClr val="DBE4EC"/>
            </a:solidFill>
            <a:prstDash val="solid"/>
          </a:ln>
        </p:spPr>
      </p:sp>
      <p:sp>
        <p:nvSpPr>
          <p:cNvPr id="18" name="Shape 16"/>
          <p:cNvSpPr/>
          <p:nvPr/>
        </p:nvSpPr>
        <p:spPr>
          <a:xfrm>
            <a:off x="5234026" y="1965960"/>
            <a:ext cx="310896" cy="310896"/>
          </a:xfrm>
          <a:prstGeom prst="ellipse">
            <a:avLst/>
          </a:prstGeom>
          <a:solidFill>
            <a:srgbClr val="1C7293"/>
          </a:solidFill>
          <a:ln/>
        </p:spPr>
      </p:sp>
      <p:sp>
        <p:nvSpPr>
          <p:cNvPr id="19" name="Text 17"/>
          <p:cNvSpPr txBox="1"/>
          <p:nvPr/>
        </p:nvSpPr>
        <p:spPr>
          <a:xfrm>
            <a:off x="5234026"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5627218"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Classify</a:t>
            </a:r>
            <a:endParaRPr lang="en-US" sz="1350" dirty="0"/>
          </a:p>
        </p:txBody>
      </p:sp>
      <p:sp>
        <p:nvSpPr>
          <p:cNvPr id="21" name="Text 19"/>
          <p:cNvSpPr txBox="1"/>
          <p:nvPr/>
        </p:nvSpPr>
        <p:spPr>
          <a:xfrm>
            <a:off x="5234026"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Link text and href matched to a document type, first pattern wins.</a:t>
            </a:r>
            <a:endParaRPr lang="en-US" sz="950" dirty="0"/>
          </a:p>
        </p:txBody>
      </p:sp>
      <p:sp>
        <p:nvSpPr>
          <p:cNvPr id="22" name="Text 20"/>
          <p:cNvSpPr txBox="1"/>
          <p:nvPr/>
        </p:nvSpPr>
        <p:spPr>
          <a:xfrm>
            <a:off x="7110374"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7320686" y="1828800"/>
            <a:ext cx="2031797" cy="1188720"/>
          </a:xfrm>
          <a:prstGeom prst="roundRect">
            <a:avLst>
              <a:gd name="adj" fmla="val 4615"/>
            </a:avLst>
          </a:prstGeom>
          <a:solidFill>
            <a:srgbClr val="F1F5F9"/>
          </a:solidFill>
          <a:ln w="12700">
            <a:solidFill>
              <a:srgbClr val="DBE4EC"/>
            </a:solidFill>
            <a:prstDash val="solid"/>
          </a:ln>
        </p:spPr>
      </p:sp>
      <p:sp>
        <p:nvSpPr>
          <p:cNvPr id="24" name="Shape 22"/>
          <p:cNvSpPr/>
          <p:nvPr/>
        </p:nvSpPr>
        <p:spPr>
          <a:xfrm>
            <a:off x="7476134" y="1965960"/>
            <a:ext cx="310896" cy="310896"/>
          </a:xfrm>
          <a:prstGeom prst="ellipse">
            <a:avLst/>
          </a:prstGeom>
          <a:solidFill>
            <a:srgbClr val="1C7293"/>
          </a:solidFill>
          <a:ln/>
        </p:spPr>
      </p:sp>
      <p:sp>
        <p:nvSpPr>
          <p:cNvPr id="25" name="Text 23"/>
          <p:cNvSpPr txBox="1"/>
          <p:nvPr/>
        </p:nvSpPr>
        <p:spPr>
          <a:xfrm>
            <a:off x="7476134"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4"/>
          <p:cNvSpPr txBox="1"/>
          <p:nvPr/>
        </p:nvSpPr>
        <p:spPr>
          <a:xfrm>
            <a:off x="7869326"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Download</a:t>
            </a:r>
            <a:endParaRPr lang="en-US" sz="1350" dirty="0"/>
          </a:p>
        </p:txBody>
      </p:sp>
      <p:sp>
        <p:nvSpPr>
          <p:cNvPr id="27" name="Text 25"/>
          <p:cNvSpPr txBox="1"/>
          <p:nvPr/>
        </p:nvSpPr>
        <p:spPr>
          <a:xfrm>
            <a:off x="7476134"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Into the same local store manual uploads land in.</a:t>
            </a:r>
            <a:endParaRPr lang="en-US" sz="950" dirty="0"/>
          </a:p>
        </p:txBody>
      </p:sp>
      <p:sp>
        <p:nvSpPr>
          <p:cNvPr id="28" name="Text 26"/>
          <p:cNvSpPr txBox="1"/>
          <p:nvPr/>
        </p:nvSpPr>
        <p:spPr>
          <a:xfrm>
            <a:off x="9352483"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562795" y="1828800"/>
            <a:ext cx="2031797" cy="1188720"/>
          </a:xfrm>
          <a:prstGeom prst="roundRect">
            <a:avLst>
              <a:gd name="adj" fmla="val 4615"/>
            </a:avLst>
          </a:prstGeom>
          <a:solidFill>
            <a:srgbClr val="F1F5F9"/>
          </a:solidFill>
          <a:ln w="12700">
            <a:solidFill>
              <a:srgbClr val="DBE4EC"/>
            </a:solidFill>
            <a:prstDash val="solid"/>
          </a:ln>
        </p:spPr>
      </p:sp>
      <p:sp>
        <p:nvSpPr>
          <p:cNvPr id="30" name="Shape 28"/>
          <p:cNvSpPr/>
          <p:nvPr/>
        </p:nvSpPr>
        <p:spPr>
          <a:xfrm>
            <a:off x="9718243" y="1965960"/>
            <a:ext cx="310896" cy="310896"/>
          </a:xfrm>
          <a:prstGeom prst="ellipse">
            <a:avLst/>
          </a:prstGeom>
          <a:solidFill>
            <a:srgbClr val="1C7293"/>
          </a:solidFill>
          <a:ln/>
        </p:spPr>
      </p:sp>
      <p:sp>
        <p:nvSpPr>
          <p:cNvPr id="31" name="Text 29"/>
          <p:cNvSpPr txBox="1"/>
          <p:nvPr/>
        </p:nvSpPr>
        <p:spPr>
          <a:xfrm>
            <a:off x="9718243"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2" name="Text 30"/>
          <p:cNvSpPr txBox="1"/>
          <p:nvPr/>
        </p:nvSpPr>
        <p:spPr>
          <a:xfrm>
            <a:off x="10111435"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Notify</a:t>
            </a:r>
            <a:endParaRPr lang="en-US" sz="1350" dirty="0"/>
          </a:p>
        </p:txBody>
      </p:sp>
      <p:sp>
        <p:nvSpPr>
          <p:cNvPr id="33" name="Text 31"/>
          <p:cNvSpPr txBox="1"/>
          <p:nvPr/>
        </p:nvSpPr>
        <p:spPr>
          <a:xfrm>
            <a:off x="9718243"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New or changed content raises an event on a feed and a webhook.</a:t>
            </a:r>
            <a:endParaRPr lang="en-US" sz="950" dirty="0"/>
          </a:p>
        </p:txBody>
      </p:sp>
      <p:sp>
        <p:nvSpPr>
          <p:cNvPr id="34" name="Shape 32"/>
          <p:cNvSpPr/>
          <p:nvPr/>
        </p:nvSpPr>
        <p:spPr>
          <a:xfrm>
            <a:off x="594360" y="3337560"/>
            <a:ext cx="3456432" cy="1371600"/>
          </a:xfrm>
          <a:prstGeom prst="roundRect">
            <a:avLst>
              <a:gd name="adj" fmla="val 4000"/>
            </a:avLst>
          </a:prstGeom>
          <a:solidFill>
            <a:srgbClr val="FFFFFF"/>
          </a:solidFill>
          <a:ln w="12700">
            <a:solidFill>
              <a:srgbClr val="DBE4EC"/>
            </a:solidFill>
            <a:prstDash val="solid"/>
          </a:ln>
        </p:spPr>
      </p:sp>
      <p:sp>
        <p:nvSpPr>
          <p:cNvPr id="35" name="Shape 33"/>
          <p:cNvSpPr/>
          <p:nvPr/>
        </p:nvSpPr>
        <p:spPr>
          <a:xfrm>
            <a:off x="795528" y="3575304"/>
            <a:ext cx="118872" cy="118872"/>
          </a:xfrm>
          <a:prstGeom prst="ellipse">
            <a:avLst/>
          </a:prstGeom>
          <a:solidFill>
            <a:srgbClr val="E0A526"/>
          </a:solidFill>
          <a:ln/>
        </p:spPr>
      </p:sp>
      <p:sp>
        <p:nvSpPr>
          <p:cNvPr id="36" name="Text 34"/>
          <p:cNvSpPr txBox="1"/>
          <p:nvPr/>
        </p:nvSpPr>
        <p:spPr>
          <a:xfrm>
            <a:off x="10332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Unreachable is not empty</a:t>
            </a:r>
            <a:endParaRPr lang="en-US" sz="1350" dirty="0"/>
          </a:p>
        </p:txBody>
      </p:sp>
      <p:sp>
        <p:nvSpPr>
          <p:cNvPr id="37" name="Text 35"/>
          <p:cNvSpPr txBox="1"/>
          <p:nvPr/>
        </p:nvSpPr>
        <p:spPr>
          <a:xfrm>
            <a:off x="7955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 company whose known homepage could not be fetched is reported as homepage_unreachable with the error and routed to review — deliberately distinct from “crawled fine, nothing matched.”</a:t>
            </a:r>
            <a:endParaRPr lang="en-US" sz="1050" dirty="0"/>
          </a:p>
        </p:txBody>
      </p:sp>
      <p:sp>
        <p:nvSpPr>
          <p:cNvPr id="38" name="Shape 36"/>
          <p:cNvSpPr/>
          <p:nvPr/>
        </p:nvSpPr>
        <p:spPr>
          <a:xfrm>
            <a:off x="4251960" y="3337560"/>
            <a:ext cx="3456432" cy="1371600"/>
          </a:xfrm>
          <a:prstGeom prst="roundRect">
            <a:avLst>
              <a:gd name="adj" fmla="val 4000"/>
            </a:avLst>
          </a:prstGeom>
          <a:solidFill>
            <a:srgbClr val="FFFFFF"/>
          </a:solidFill>
          <a:ln w="12700">
            <a:solidFill>
              <a:srgbClr val="DBE4EC"/>
            </a:solidFill>
            <a:prstDash val="solid"/>
          </a:ln>
        </p:spPr>
      </p:sp>
      <p:sp>
        <p:nvSpPr>
          <p:cNvPr id="39" name="Shape 37"/>
          <p:cNvSpPr/>
          <p:nvPr/>
        </p:nvSpPr>
        <p:spPr>
          <a:xfrm>
            <a:off x="4453128" y="3575304"/>
            <a:ext cx="118872" cy="118872"/>
          </a:xfrm>
          <a:prstGeom prst="ellipse">
            <a:avLst/>
          </a:prstGeom>
          <a:solidFill>
            <a:srgbClr val="E0A526"/>
          </a:solidFill>
          <a:ln/>
        </p:spPr>
      </p:sp>
      <p:sp>
        <p:nvSpPr>
          <p:cNvPr id="40" name="Text 38"/>
          <p:cNvSpPr txBox="1"/>
          <p:nvPr/>
        </p:nvSpPr>
        <p:spPr>
          <a:xfrm>
            <a:off x="46908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One document store</a:t>
            </a:r>
            <a:endParaRPr lang="en-US" sz="1350" dirty="0"/>
          </a:p>
        </p:txBody>
      </p:sp>
      <p:sp>
        <p:nvSpPr>
          <p:cNvPr id="41" name="Text 39"/>
          <p:cNvSpPr txBox="1"/>
          <p:nvPr/>
        </p:nvSpPr>
        <p:spPr>
          <a:xfrm>
            <a:off x="44531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Crawled downloads and manual uploads land under data/documents/&lt;company&gt;/&lt;type&gt;/ identically, so every extraction pipeline treats them the same way.</a:t>
            </a:r>
            <a:endParaRPr lang="en-US" sz="1050" dirty="0"/>
          </a:p>
        </p:txBody>
      </p:sp>
      <p:sp>
        <p:nvSpPr>
          <p:cNvPr id="42" name="Shape 40"/>
          <p:cNvSpPr/>
          <p:nvPr/>
        </p:nvSpPr>
        <p:spPr>
          <a:xfrm>
            <a:off x="594360" y="4892040"/>
            <a:ext cx="3456432" cy="1371600"/>
          </a:xfrm>
          <a:prstGeom prst="roundRect">
            <a:avLst>
              <a:gd name="adj" fmla="val 4000"/>
            </a:avLst>
          </a:prstGeom>
          <a:solidFill>
            <a:srgbClr val="FFFFFF"/>
          </a:solidFill>
          <a:ln w="12700">
            <a:solidFill>
              <a:srgbClr val="DBE4EC"/>
            </a:solidFill>
            <a:prstDash val="solid"/>
          </a:ln>
        </p:spPr>
      </p:sp>
      <p:sp>
        <p:nvSpPr>
          <p:cNvPr id="43" name="Shape 41"/>
          <p:cNvSpPr/>
          <p:nvPr/>
        </p:nvSpPr>
        <p:spPr>
          <a:xfrm>
            <a:off x="795528" y="5129784"/>
            <a:ext cx="118872" cy="118872"/>
          </a:xfrm>
          <a:prstGeom prst="ellipse">
            <a:avLst/>
          </a:prstGeom>
          <a:solidFill>
            <a:srgbClr val="E0A526"/>
          </a:solidFill>
          <a:ln/>
        </p:spPr>
      </p:sp>
      <p:sp>
        <p:nvSpPr>
          <p:cNvPr id="44" name="Text 42"/>
          <p:cNvSpPr txBox="1"/>
          <p:nvPr/>
        </p:nvSpPr>
        <p:spPr>
          <a:xfrm>
            <a:off x="10332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Change detection, not re-reading</a:t>
            </a:r>
            <a:endParaRPr lang="en-US" sz="1350" dirty="0"/>
          </a:p>
        </p:txBody>
      </p:sp>
      <p:sp>
        <p:nvSpPr>
          <p:cNvPr id="45" name="Text 43"/>
          <p:cNvSpPr txBox="1"/>
          <p:nvPr/>
        </p:nvSpPr>
        <p:spPr>
          <a:xfrm>
            <a:off x="7955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 per-company manifest of URLs and content hashes means only genuinely new or changed documents raise an event.</a:t>
            </a:r>
            <a:endParaRPr lang="en-US" sz="1050" dirty="0"/>
          </a:p>
        </p:txBody>
      </p:sp>
      <p:sp>
        <p:nvSpPr>
          <p:cNvPr id="46" name="Shape 44"/>
          <p:cNvSpPr/>
          <p:nvPr/>
        </p:nvSpPr>
        <p:spPr>
          <a:xfrm>
            <a:off x="4251960" y="4892040"/>
            <a:ext cx="3456432" cy="1371600"/>
          </a:xfrm>
          <a:prstGeom prst="roundRect">
            <a:avLst>
              <a:gd name="adj" fmla="val 4000"/>
            </a:avLst>
          </a:prstGeom>
          <a:solidFill>
            <a:srgbClr val="FFFFFF"/>
          </a:solidFill>
          <a:ln w="12700">
            <a:solidFill>
              <a:srgbClr val="DBE4EC"/>
            </a:solidFill>
            <a:prstDash val="solid"/>
          </a:ln>
        </p:spPr>
      </p:sp>
      <p:sp>
        <p:nvSpPr>
          <p:cNvPr id="47" name="Shape 45"/>
          <p:cNvSpPr/>
          <p:nvPr/>
        </p:nvSpPr>
        <p:spPr>
          <a:xfrm>
            <a:off x="4453128" y="5129784"/>
            <a:ext cx="118872" cy="118872"/>
          </a:xfrm>
          <a:prstGeom prst="ellipse">
            <a:avLst/>
          </a:prstGeom>
          <a:solidFill>
            <a:srgbClr val="E0A526"/>
          </a:solidFill>
          <a:ln/>
        </p:spPr>
      </p:sp>
      <p:sp>
        <p:nvSpPr>
          <p:cNvPr id="48" name="Text 46"/>
          <p:cNvSpPr txBox="1"/>
          <p:nvPr/>
        </p:nvSpPr>
        <p:spPr>
          <a:xfrm>
            <a:off x="46908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Manual or scheduled</a:t>
            </a:r>
            <a:endParaRPr lang="en-US" sz="1350" dirty="0"/>
          </a:p>
        </p:txBody>
      </p:sp>
      <p:sp>
        <p:nvSpPr>
          <p:cNvPr id="49" name="Text 47"/>
          <p:cNvSpPr txBox="1"/>
          <p:nvPr/>
        </p:nvSpPr>
        <p:spPr>
          <a:xfrm>
            <a:off x="44531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scheduler calls exactly the same entry point as “run now”, so automatic and manual runs can never diverge in behaviour.</a:t>
            </a:r>
            <a:endParaRPr lang="en-US" sz="1050" dirty="0"/>
          </a:p>
        </p:txBody>
      </p:sp>
      <p:sp>
        <p:nvSpPr>
          <p:cNvPr id="50" name="Shape 48"/>
          <p:cNvSpPr/>
          <p:nvPr/>
        </p:nvSpPr>
        <p:spPr>
          <a:xfrm>
            <a:off x="7909560" y="3337560"/>
            <a:ext cx="3685032" cy="2926080"/>
          </a:xfrm>
          <a:prstGeom prst="roundRect">
            <a:avLst>
              <a:gd name="adj" fmla="val 1875"/>
            </a:avLst>
          </a:prstGeom>
          <a:solidFill>
            <a:srgbClr val="10243A"/>
          </a:solidFill>
          <a:ln/>
        </p:spPr>
      </p:sp>
      <p:sp>
        <p:nvSpPr>
          <p:cNvPr id="51" name="Text 49"/>
          <p:cNvSpPr txBox="1"/>
          <p:nvPr/>
        </p:nvSpPr>
        <p:spPr>
          <a:xfrm>
            <a:off x="8183880" y="3538728"/>
            <a:ext cx="3136392" cy="219456"/>
          </a:xfrm>
          <a:prstGeom prst="rect">
            <a:avLst/>
          </a:prstGeom>
          <a:noFill/>
          <a:ln/>
        </p:spPr>
        <p:txBody>
          <a:bodyPr wrap="square" lIns="0" tIns="0" rIns="0" bIns="0" rtlCol="0" anchor="ctr"/>
          <a:lstStyle/>
          <a:p>
            <a:pPr indent="0" marL="0">
              <a:buNone/>
            </a:pPr>
            <a:r>
              <a:rPr lang="en-US" sz="950" b="1" spc="160" kern="0" dirty="0">
                <a:solidFill>
                  <a:srgbClr val="B9CDDD"/>
                </a:solidFill>
                <a:latin typeface="Calibri" pitchFamily="34" charset="0"/>
                <a:ea typeface="Calibri" pitchFamily="34" charset="-122"/>
                <a:cs typeface="Calibri" pitchFamily="34" charset="-120"/>
              </a:rPr>
              <a:t>AT A GLANCE</a:t>
            </a:r>
            <a:endParaRPr lang="en-US" sz="950" dirty="0"/>
          </a:p>
        </p:txBody>
      </p:sp>
      <p:sp>
        <p:nvSpPr>
          <p:cNvPr id="52" name="Text 50"/>
          <p:cNvSpPr txBox="1"/>
          <p:nvPr/>
        </p:nvSpPr>
        <p:spPr>
          <a:xfrm>
            <a:off x="8183880" y="3886200"/>
            <a:ext cx="77724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5</a:t>
            </a:r>
            <a:endParaRPr lang="en-US" sz="2400" dirty="0"/>
          </a:p>
        </p:txBody>
      </p:sp>
      <p:sp>
        <p:nvSpPr>
          <p:cNvPr id="53" name="Text 51"/>
          <p:cNvSpPr txBox="1"/>
          <p:nvPr/>
        </p:nvSpPr>
        <p:spPr>
          <a:xfrm>
            <a:off x="9006840" y="3867912"/>
            <a:ext cx="231343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document types classified: 10-K, proxy, sustainability, deck, transcript</a:t>
            </a:r>
            <a:endParaRPr lang="en-US" sz="950" dirty="0"/>
          </a:p>
        </p:txBody>
      </p:sp>
      <p:sp>
        <p:nvSpPr>
          <p:cNvPr id="54" name="Text 52"/>
          <p:cNvSpPr txBox="1"/>
          <p:nvPr/>
        </p:nvSpPr>
        <p:spPr>
          <a:xfrm>
            <a:off x="8183880" y="4791456"/>
            <a:ext cx="77724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0</a:t>
            </a:r>
            <a:endParaRPr lang="en-US" sz="2400" dirty="0"/>
          </a:p>
        </p:txBody>
      </p:sp>
      <p:sp>
        <p:nvSpPr>
          <p:cNvPr id="55" name="Text 53"/>
          <p:cNvSpPr txBox="1"/>
          <p:nvPr/>
        </p:nvSpPr>
        <p:spPr>
          <a:xfrm>
            <a:off x="9006840" y="4773168"/>
            <a:ext cx="231343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API keys required — EDGAR and the search fallback are both free</a:t>
            </a:r>
            <a:endParaRPr lang="en-US" sz="950" dirty="0"/>
          </a:p>
        </p:txBody>
      </p:sp>
      <p:sp>
        <p:nvSpPr>
          <p:cNvPr id="56" name="Text 54"/>
          <p:cNvSpPr txBox="1"/>
          <p:nvPr/>
        </p:nvSpPr>
        <p:spPr>
          <a:xfrm>
            <a:off x="8183880" y="5696712"/>
            <a:ext cx="77724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24h</a:t>
            </a:r>
            <a:endParaRPr lang="en-US" sz="2400" dirty="0"/>
          </a:p>
        </p:txBody>
      </p:sp>
      <p:sp>
        <p:nvSpPr>
          <p:cNvPr id="57" name="Text 55"/>
          <p:cNvSpPr txBox="1"/>
          <p:nvPr/>
        </p:nvSpPr>
        <p:spPr>
          <a:xfrm>
            <a:off x="9006840" y="5678424"/>
            <a:ext cx="231343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default schedule interval, configurable per deployment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05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Discovery: crawl, classify, notify</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bounded crawler and a hash manifest — the only pipeline here that reaches out to the open web.</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Resolve the site — </a:t>
            </a:r>
            <a:pPr indent="0" marL="0">
              <a:buNone/>
            </a:pPr>
            <a:r>
              <a:rPr lang="en-US" sz="1050" dirty="0">
                <a:solidFill>
                  <a:srgbClr val="5A6B78"/>
                </a:solidFill>
                <a:latin typeface="Calibri" pitchFamily="34" charset="0"/>
                <a:ea typeface="Calibri" pitchFamily="34" charset="-122"/>
                <a:cs typeface="Calibri" pitchFamily="34" charset="-120"/>
              </a:rPr>
              <a:t>the universe row's website is used when supplied; otherwise site_finder searches for the company's own IR domain and picks the best candidate.</a:t>
            </a:r>
            <a:endParaRPr lang="en-US" sz="1050" dirty="0"/>
          </a:p>
        </p:txBody>
      </p:sp>
      <p:sp>
        <p:nvSpPr>
          <p:cNvPr id="8" name="Shape 6"/>
          <p:cNvSpPr/>
          <p:nvPr/>
        </p:nvSpPr>
        <p:spPr>
          <a:xfrm>
            <a:off x="594360" y="2383155"/>
            <a:ext cx="329184" cy="329184"/>
          </a:xfrm>
          <a:prstGeom prst="ellipse">
            <a:avLst/>
          </a:prstGeom>
          <a:solidFill>
            <a:srgbClr val="1C7293"/>
          </a:solidFill>
          <a:ln/>
        </p:spPr>
      </p:sp>
      <p:sp>
        <p:nvSpPr>
          <p:cNvPr id="9" name="Text 7"/>
          <p:cNvSpPr txBox="1"/>
          <p:nvPr/>
        </p:nvSpPr>
        <p:spPr>
          <a:xfrm>
            <a:off x="594360" y="239687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364867"/>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Guard every request — </a:t>
            </a:r>
            <a:pPr indent="0" marL="0">
              <a:buNone/>
            </a:pPr>
            <a:r>
              <a:rPr lang="en-US" sz="1050" dirty="0">
                <a:solidFill>
                  <a:srgbClr val="5A6B78"/>
                </a:solidFill>
                <a:latin typeface="Calibri" pitchFamily="34" charset="0"/>
                <a:ea typeface="Calibri" pitchFamily="34" charset="-122"/>
                <a:cs typeface="Calibri" pitchFamily="34" charset="-120"/>
              </a:rPr>
              <a:t>net_safety's SSRF guard runs as an httpx request hook, so a redirect to an internal address cannot be followed.</a:t>
            </a:r>
            <a:endParaRPr lang="en-US" sz="1050" dirty="0"/>
          </a:p>
        </p:txBody>
      </p:sp>
      <p:sp>
        <p:nvSpPr>
          <p:cNvPr id="11" name="Shape 9"/>
          <p:cNvSpPr/>
          <p:nvPr/>
        </p:nvSpPr>
        <p:spPr>
          <a:xfrm>
            <a:off x="594360" y="2937510"/>
            <a:ext cx="329184" cy="329184"/>
          </a:xfrm>
          <a:prstGeom prst="ellipse">
            <a:avLst/>
          </a:prstGeom>
          <a:solidFill>
            <a:srgbClr val="1C7293"/>
          </a:solidFill>
          <a:ln/>
        </p:spPr>
      </p:sp>
      <p:sp>
        <p:nvSpPr>
          <p:cNvPr id="12" name="Text 10"/>
          <p:cNvSpPr txBox="1"/>
          <p:nvPr/>
        </p:nvSpPr>
        <p:spPr>
          <a:xfrm>
            <a:off x="594360" y="295122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2919222"/>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Crawl within bounds — </a:t>
            </a:r>
            <a:pPr indent="0" marL="0">
              <a:buNone/>
            </a:pPr>
            <a:r>
              <a:rPr lang="en-US" sz="1050" dirty="0">
                <a:solidFill>
                  <a:srgbClr val="5A6B78"/>
                </a:solidFill>
                <a:latin typeface="Calibri" pitchFamily="34" charset="0"/>
                <a:ea typeface="Calibri" pitchFamily="34" charset="-122"/>
                <a:cs typeface="Calibri" pitchFamily="34" charset="-120"/>
              </a:rPr>
              <a:t>same domain only, robots.txt parsed and respected, depth and page caps applied; a root URL that cannot be fetched raises HomepageUnreachableError.</a:t>
            </a:r>
            <a:endParaRPr lang="en-US" sz="1050" dirty="0"/>
          </a:p>
        </p:txBody>
      </p:sp>
      <p:sp>
        <p:nvSpPr>
          <p:cNvPr id="14" name="Shape 12"/>
          <p:cNvSpPr/>
          <p:nvPr/>
        </p:nvSpPr>
        <p:spPr>
          <a:xfrm>
            <a:off x="594360" y="3491865"/>
            <a:ext cx="329184" cy="329184"/>
          </a:xfrm>
          <a:prstGeom prst="ellipse">
            <a:avLst/>
          </a:prstGeom>
          <a:solidFill>
            <a:srgbClr val="1C7293"/>
          </a:solidFill>
          <a:ln/>
        </p:spPr>
      </p:sp>
      <p:sp>
        <p:nvSpPr>
          <p:cNvPr id="15" name="Text 13"/>
          <p:cNvSpPr txBox="1"/>
          <p:nvPr/>
        </p:nvSpPr>
        <p:spPr>
          <a:xfrm>
            <a:off x="594360" y="350558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473577"/>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Classify candidates — </a:t>
            </a:r>
            <a:pPr indent="0" marL="0">
              <a:buNone/>
            </a:pPr>
            <a:r>
              <a:rPr lang="en-US" sz="1050" dirty="0">
                <a:solidFill>
                  <a:srgbClr val="5A6B78"/>
                </a:solidFill>
                <a:latin typeface="Calibri" pitchFamily="34" charset="0"/>
                <a:ea typeface="Calibri" pitchFamily="34" charset="-122"/>
                <a:cs typeface="Calibri" pitchFamily="34" charset="-120"/>
              </a:rPr>
              <a:t>link text and href are matched against ordered keyword patterns — first match wins — to label each as 10-K, proxy, sustainability report, investor deck or transcript.</a:t>
            </a:r>
            <a:endParaRPr lang="en-US" sz="1050" dirty="0"/>
          </a:p>
        </p:txBody>
      </p:sp>
      <p:sp>
        <p:nvSpPr>
          <p:cNvPr id="17" name="Shape 15"/>
          <p:cNvSpPr/>
          <p:nvPr/>
        </p:nvSpPr>
        <p:spPr>
          <a:xfrm>
            <a:off x="594360" y="4046220"/>
            <a:ext cx="329184" cy="329184"/>
          </a:xfrm>
          <a:prstGeom prst="ellipse">
            <a:avLst/>
          </a:prstGeom>
          <a:solidFill>
            <a:srgbClr val="1C7293"/>
          </a:solidFill>
          <a:ln/>
        </p:spPr>
      </p:sp>
      <p:sp>
        <p:nvSpPr>
          <p:cNvPr id="18" name="Text 16"/>
          <p:cNvSpPr txBox="1"/>
          <p:nvPr/>
        </p:nvSpPr>
        <p:spPr>
          <a:xfrm>
            <a:off x="594360" y="40599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027932"/>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Download and store — </a:t>
            </a:r>
            <a:pPr indent="0" marL="0">
              <a:buNone/>
            </a:pPr>
            <a:r>
              <a:rPr lang="en-US" sz="1050" dirty="0">
                <a:solidFill>
                  <a:srgbClr val="5A6B78"/>
                </a:solidFill>
                <a:latin typeface="Calibri" pitchFamily="34" charset="0"/>
                <a:ea typeface="Calibri" pitchFamily="34" charset="-122"/>
                <a:cs typeface="Calibri" pitchFamily="34" charset="-120"/>
              </a:rPr>
              <a:t>matches are written under data/documents/&lt;company_id&gt;/&lt;doc_type&gt;/, the same path manual uploads use, and registered for parsing.</a:t>
            </a:r>
            <a:endParaRPr lang="en-US" sz="1050" dirty="0"/>
          </a:p>
        </p:txBody>
      </p:sp>
      <p:sp>
        <p:nvSpPr>
          <p:cNvPr id="20" name="Shape 18"/>
          <p:cNvSpPr/>
          <p:nvPr/>
        </p:nvSpPr>
        <p:spPr>
          <a:xfrm>
            <a:off x="594360" y="4600575"/>
            <a:ext cx="329184" cy="329184"/>
          </a:xfrm>
          <a:prstGeom prst="ellipse">
            <a:avLst/>
          </a:prstGeom>
          <a:solidFill>
            <a:srgbClr val="1C7293"/>
          </a:solidFill>
          <a:ln/>
        </p:spPr>
      </p:sp>
      <p:sp>
        <p:nvSpPr>
          <p:cNvPr id="21" name="Text 19"/>
          <p:cNvSpPr txBox="1"/>
          <p:nvPr/>
        </p:nvSpPr>
        <p:spPr>
          <a:xfrm>
            <a:off x="594360" y="461429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582287"/>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Diff against the manifest — </a:t>
            </a:r>
            <a:pPr indent="0" marL="0">
              <a:buNone/>
            </a:pPr>
            <a:r>
              <a:rPr lang="en-US" sz="1050" dirty="0">
                <a:solidFill>
                  <a:srgbClr val="5A6B78"/>
                </a:solidFill>
                <a:latin typeface="Calibri" pitchFamily="34" charset="0"/>
                <a:ea typeface="Calibri" pitchFamily="34" charset="-122"/>
                <a:cs typeface="Calibri" pitchFamily="34" charset="-120"/>
              </a:rPr>
              <a:t>the change detector compares URLs and content hashes with the per-company manifest and emits a DocumentEvent for anything new or changed.</a:t>
            </a:r>
            <a:endParaRPr lang="en-US" sz="1050" dirty="0"/>
          </a:p>
        </p:txBody>
      </p:sp>
      <p:sp>
        <p:nvSpPr>
          <p:cNvPr id="23" name="Shape 21"/>
          <p:cNvSpPr/>
          <p:nvPr/>
        </p:nvSpPr>
        <p:spPr>
          <a:xfrm>
            <a:off x="594360" y="5154930"/>
            <a:ext cx="329184" cy="329184"/>
          </a:xfrm>
          <a:prstGeom prst="ellipse">
            <a:avLst/>
          </a:prstGeom>
          <a:solidFill>
            <a:srgbClr val="1C7293"/>
          </a:solidFill>
          <a:ln/>
        </p:spPr>
      </p:sp>
      <p:sp>
        <p:nvSpPr>
          <p:cNvPr id="24" name="Text 22"/>
          <p:cNvSpPr txBox="1"/>
          <p:nvPr/>
        </p:nvSpPr>
        <p:spPr>
          <a:xfrm>
            <a:off x="594360" y="516864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136642"/>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Publish the event — </a:t>
            </a:r>
            <a:pPr indent="0" marL="0">
              <a:buNone/>
            </a:pPr>
            <a:r>
              <a:rPr lang="en-US" sz="1050" dirty="0">
                <a:solidFill>
                  <a:srgbClr val="5A6B78"/>
                </a:solidFill>
                <a:latin typeface="Calibri" pitchFamily="34" charset="0"/>
                <a:ea typeface="Calibri" pitchFamily="34" charset="-122"/>
                <a:cs typeface="Calibri" pitchFamily="34" charset="-120"/>
              </a:rPr>
              <a:t>events are appended to a rolling JSONL feed the UI and API poll, and POSTed best-effort to a configured webhook.</a:t>
            </a:r>
            <a:endParaRPr lang="en-US" sz="1050" dirty="0"/>
          </a:p>
        </p:txBody>
      </p:sp>
      <p:sp>
        <p:nvSpPr>
          <p:cNvPr id="26" name="Shape 24"/>
          <p:cNvSpPr/>
          <p:nvPr/>
        </p:nvSpPr>
        <p:spPr>
          <a:xfrm>
            <a:off x="594360" y="5709285"/>
            <a:ext cx="329184" cy="329184"/>
          </a:xfrm>
          <a:prstGeom prst="ellipse">
            <a:avLst/>
          </a:prstGeom>
          <a:solidFill>
            <a:srgbClr val="1C7293"/>
          </a:solidFill>
          <a:ln/>
        </p:spPr>
      </p:sp>
      <p:sp>
        <p:nvSpPr>
          <p:cNvPr id="27" name="Text 25"/>
          <p:cNvSpPr txBox="1"/>
          <p:nvPr/>
        </p:nvSpPr>
        <p:spPr>
          <a:xfrm>
            <a:off x="594360" y="572300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8" name="Text 26"/>
          <p:cNvSpPr txBox="1"/>
          <p:nvPr/>
        </p:nvSpPr>
        <p:spPr>
          <a:xfrm>
            <a:off x="1069848" y="5690997"/>
            <a:ext cx="6245352" cy="499491"/>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Run it on a schedule — </a:t>
            </a:r>
            <a:pPr indent="0" marL="0">
              <a:buNone/>
            </a:pPr>
            <a:r>
              <a:rPr lang="en-US" sz="1050" dirty="0">
                <a:solidFill>
                  <a:srgbClr val="5A6B78"/>
                </a:solidFill>
                <a:latin typeface="Calibri" pitchFamily="34" charset="0"/>
                <a:ea typeface="Calibri" pitchFamily="34" charset="-122"/>
                <a:cs typeface="Calibri" pitchFamily="34" charset="-120"/>
              </a:rPr>
              <a:t>an APScheduler job calls the same run_discovery entry point; runs are checkpointed and resumable like every other run type.</a:t>
            </a:r>
            <a:endParaRPr lang="en-US" sz="1050" dirty="0"/>
          </a:p>
        </p:txBody>
      </p:sp>
      <p:sp>
        <p:nvSpPr>
          <p:cNvPr id="29" name="Shape 27"/>
          <p:cNvSpPr/>
          <p:nvPr/>
        </p:nvSpPr>
        <p:spPr>
          <a:xfrm>
            <a:off x="7589520" y="1810512"/>
            <a:ext cx="4005072" cy="1417320"/>
          </a:xfrm>
          <a:prstGeom prst="roundRect">
            <a:avLst>
              <a:gd name="adj" fmla="val 3871"/>
            </a:avLst>
          </a:prstGeom>
          <a:solidFill>
            <a:srgbClr val="10243A"/>
          </a:solidFill>
          <a:ln/>
        </p:spPr>
      </p:sp>
      <p:sp>
        <p:nvSpPr>
          <p:cNvPr id="30" name="Text 28"/>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31" name="Text 29"/>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arp/discovery/pipeline.py, crawler.py, site_finder.py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arp/discovery/downloader.py, change_detector.py, scheduler.py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arp/net_safety.py (SSRF guard)</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arp/ingestion/{registry,local_files,parsing}.py</a:t>
            </a:r>
            <a:endParaRPr lang="en-US" sz="900" dirty="0"/>
          </a:p>
        </p:txBody>
      </p:sp>
      <p:sp>
        <p:nvSpPr>
          <p:cNvPr id="32" name="Shape 30"/>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3" name="Text 31"/>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4" name="Text 32"/>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 (ideally with website), optional doc-type filter.</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DiscoveryCompanyResult per company, downloaded files, DocumentEvent feed.</a:t>
            </a:r>
            <a:endParaRPr lang="en-US" sz="950" dirty="0"/>
          </a:p>
        </p:txBody>
      </p:sp>
      <p:sp>
        <p:nvSpPr>
          <p:cNvPr id="35" name="Shape 33"/>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6" name="Text 34"/>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7" name="Shape 35"/>
          <p:cNvSpPr/>
          <p:nvPr/>
        </p:nvSpPr>
        <p:spPr>
          <a:xfrm>
            <a:off x="7808976" y="5038344"/>
            <a:ext cx="100584" cy="100584"/>
          </a:xfrm>
          <a:prstGeom prst="ellipse">
            <a:avLst/>
          </a:prstGeom>
          <a:solidFill>
            <a:srgbClr val="E0A526"/>
          </a:solidFill>
          <a:ln/>
        </p:spPr>
      </p:sp>
      <p:sp>
        <p:nvSpPr>
          <p:cNvPr id="38" name="Text 36"/>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Robots.txt, same-domain and depth limits are enforced in code.</a:t>
            </a:r>
            <a:endParaRPr lang="en-US" sz="950" dirty="0"/>
          </a:p>
        </p:txBody>
      </p:sp>
      <p:sp>
        <p:nvSpPr>
          <p:cNvPr id="39" name="Shape 37"/>
          <p:cNvSpPr/>
          <p:nvPr/>
        </p:nvSpPr>
        <p:spPr>
          <a:xfrm>
            <a:off x="7808976" y="5458968"/>
            <a:ext cx="100584" cy="100584"/>
          </a:xfrm>
          <a:prstGeom prst="ellipse">
            <a:avLst/>
          </a:prstGeom>
          <a:solidFill>
            <a:srgbClr val="E0A526"/>
          </a:solidFill>
          <a:ln/>
        </p:spPr>
      </p:sp>
      <p:sp>
        <p:nvSpPr>
          <p:cNvPr id="40" name="Text 38"/>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An unreachable homepage is a reported status, not a silent zero.</a:t>
            </a:r>
            <a:endParaRPr lang="en-US" sz="950" dirty="0"/>
          </a:p>
        </p:txBody>
      </p:sp>
      <p:sp>
        <p:nvSpPr>
          <p:cNvPr id="41" name="Shape 39"/>
          <p:cNvSpPr/>
          <p:nvPr/>
        </p:nvSpPr>
        <p:spPr>
          <a:xfrm>
            <a:off x="7808976" y="5879592"/>
            <a:ext cx="100584" cy="100584"/>
          </a:xfrm>
          <a:prstGeom prst="ellipse">
            <a:avLst/>
          </a:prstGeom>
          <a:solidFill>
            <a:srgbClr val="E0A526"/>
          </a:solidFill>
          <a:ln/>
        </p:spPr>
      </p:sp>
      <p:sp>
        <p:nvSpPr>
          <p:cNvPr id="42" name="Text 40"/>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Search backend is an interface — a paid API drops in unchanged.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E0A526"/>
                </a:solidFill>
                <a:latin typeface="Calibri" pitchFamily="34" charset="0"/>
                <a:ea typeface="Calibri" pitchFamily="34" charset="-122"/>
                <a:cs typeface="Calibri" pitchFamily="34" charset="-120"/>
              </a:rPr>
              <a:t>06   ·   COMPANY IDENTITY RESOLUTION</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Which company is this?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B9CDDD"/>
                </a:solidFill>
                <a:latin typeface="Calibri" pitchFamily="34" charset="0"/>
                <a:ea typeface="Calibri" pitchFamily="34" charset="-122"/>
                <a:cs typeface="Calibri" pitchFamily="34" charset="-120"/>
              </a:rPr>
              <a:t>A name on a list is not an identity. This resolves it — cheaply where it can, carefully where it cannot.</a:t>
            </a:r>
            <a:endParaRPr lang="en-US" sz="1400" dirty="0"/>
          </a:p>
        </p:txBody>
      </p:sp>
      <p:sp>
        <p:nvSpPr>
          <p:cNvPr id="5" name="Text 3"/>
          <p:cNvSpPr txBox="1"/>
          <p:nvPr/>
        </p:nvSpPr>
        <p:spPr>
          <a:xfrm>
            <a:off x="594360" y="1810512"/>
            <a:ext cx="5486400"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Three paths, cheapest first</a:t>
            </a:r>
            <a:endParaRPr lang="en-US" sz="1900" dirty="0"/>
          </a:p>
        </p:txBody>
      </p:sp>
      <p:sp>
        <p:nvSpPr>
          <p:cNvPr id="6" name="Text 4"/>
          <p:cNvSpPr txBox="1"/>
          <p:nvPr/>
        </p:nvSpPr>
        <p:spPr>
          <a:xfrm>
            <a:off x="594360" y="2121408"/>
            <a:ext cx="5486400"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Most companies never reach an LLM call at all.</a:t>
            </a:r>
            <a:endParaRPr lang="en-US" sz="1050" dirty="0"/>
          </a:p>
        </p:txBody>
      </p:sp>
      <p:sp>
        <p:nvSpPr>
          <p:cNvPr id="7" name="Shape 5"/>
          <p:cNvSpPr/>
          <p:nvPr/>
        </p:nvSpPr>
        <p:spPr>
          <a:xfrm>
            <a:off x="594360" y="2468880"/>
            <a:ext cx="5486400" cy="1005840"/>
          </a:xfrm>
          <a:prstGeom prst="roundRect">
            <a:avLst>
              <a:gd name="adj" fmla="val 5455"/>
            </a:avLst>
          </a:prstGeom>
          <a:solidFill>
            <a:srgbClr val="1E3F5E"/>
          </a:solidFill>
          <a:ln/>
        </p:spPr>
      </p:sp>
      <p:sp>
        <p:nvSpPr>
          <p:cNvPr id="8" name="Text 6"/>
          <p:cNvSpPr txBox="1"/>
          <p:nvPr/>
        </p:nvSpPr>
        <p:spPr>
          <a:xfrm>
            <a:off x="795528" y="2615184"/>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FREE</a:t>
            </a:r>
            <a:endParaRPr lang="en-US" sz="950" dirty="0"/>
          </a:p>
        </p:txBody>
      </p:sp>
      <p:sp>
        <p:nvSpPr>
          <p:cNvPr id="9" name="Text 7"/>
          <p:cNvSpPr txBox="1"/>
          <p:nvPr/>
        </p:nvSpPr>
        <p:spPr>
          <a:xfrm>
            <a:off x="795528" y="2871216"/>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 supplied CIK or website is already an identity — the graph short-circuits immediately, with no search and no model call.</a:t>
            </a:r>
            <a:endParaRPr lang="en-US" sz="1050" dirty="0"/>
          </a:p>
        </p:txBody>
      </p:sp>
      <p:sp>
        <p:nvSpPr>
          <p:cNvPr id="10" name="Shape 8"/>
          <p:cNvSpPr/>
          <p:nvPr/>
        </p:nvSpPr>
        <p:spPr>
          <a:xfrm>
            <a:off x="594360" y="3602736"/>
            <a:ext cx="5486400" cy="1005840"/>
          </a:xfrm>
          <a:prstGeom prst="roundRect">
            <a:avLst>
              <a:gd name="adj" fmla="val 5455"/>
            </a:avLst>
          </a:prstGeom>
          <a:solidFill>
            <a:srgbClr val="1E3F5E"/>
          </a:solidFill>
          <a:ln/>
        </p:spPr>
      </p:sp>
      <p:sp>
        <p:nvSpPr>
          <p:cNvPr id="11" name="Text 9"/>
          <p:cNvSpPr txBox="1"/>
          <p:nvPr/>
        </p:nvSpPr>
        <p:spPr>
          <a:xfrm>
            <a:off x="795528" y="3749040"/>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CHEAP</a:t>
            </a:r>
            <a:endParaRPr lang="en-US" sz="950" dirty="0"/>
          </a:p>
        </p:txBody>
      </p:sp>
      <p:sp>
        <p:nvSpPr>
          <p:cNvPr id="12" name="Text 10"/>
          <p:cNvSpPr txBox="1"/>
          <p:nvPr/>
        </p:nvSpPr>
        <p:spPr>
          <a:xfrm>
            <a:off x="795528" y="4005072"/>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SEC EDGAR's own fuzzy name search resolves the common case; a single clean, unambiguous match ends it there.</a:t>
            </a:r>
            <a:endParaRPr lang="en-US" sz="1050" dirty="0"/>
          </a:p>
        </p:txBody>
      </p:sp>
      <p:sp>
        <p:nvSpPr>
          <p:cNvPr id="13" name="Shape 11"/>
          <p:cNvSpPr/>
          <p:nvPr/>
        </p:nvSpPr>
        <p:spPr>
          <a:xfrm>
            <a:off x="594360" y="4736592"/>
            <a:ext cx="5486400" cy="1005840"/>
          </a:xfrm>
          <a:prstGeom prst="roundRect">
            <a:avLst>
              <a:gd name="adj" fmla="val 5455"/>
            </a:avLst>
          </a:prstGeom>
          <a:solidFill>
            <a:srgbClr val="1E3F5E"/>
          </a:solidFill>
          <a:ln/>
        </p:spPr>
      </p:sp>
      <p:sp>
        <p:nvSpPr>
          <p:cNvPr id="14" name="Text 12"/>
          <p:cNvSpPr txBox="1"/>
          <p:nvPr/>
        </p:nvSpPr>
        <p:spPr>
          <a:xfrm>
            <a:off x="795528" y="4882896"/>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JUDGED</a:t>
            </a:r>
            <a:endParaRPr lang="en-US" sz="950" dirty="0"/>
          </a:p>
        </p:txBody>
      </p:sp>
      <p:sp>
        <p:nvSpPr>
          <p:cNvPr id="15" name="Text 13"/>
          <p:cNvSpPr txBox="1"/>
          <p:nvPr/>
        </p:nvSpPr>
        <p:spPr>
          <a:xfrm>
            <a:off x="795528" y="5138928"/>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Only a genuinely ambiguous name reaches one adjudication call over the EDGAR candidates and web-search hits actually found for it.</a:t>
            </a:r>
            <a:endParaRPr lang="en-US" sz="1050" dirty="0"/>
          </a:p>
        </p:txBody>
      </p:sp>
      <p:sp>
        <p:nvSpPr>
          <p:cNvPr id="16" name="Text 14"/>
          <p:cNvSpPr txBox="1"/>
          <p:nvPr/>
        </p:nvSpPr>
        <p:spPr>
          <a:xfrm>
            <a:off x="6492240" y="1810512"/>
            <a:ext cx="5102352"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What the judgment is allowed to do</a:t>
            </a:r>
            <a:endParaRPr lang="en-US" sz="1900" dirty="0"/>
          </a:p>
        </p:txBody>
      </p:sp>
      <p:sp>
        <p:nvSpPr>
          <p:cNvPr id="17" name="Text 15"/>
          <p:cNvSpPr txBox="1"/>
          <p:nvPr/>
        </p:nvSpPr>
        <p:spPr>
          <a:xfrm>
            <a:off x="6492240" y="2121408"/>
            <a:ext cx="5102352"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Never invent a candidate — only choose between real ones.</a:t>
            </a:r>
            <a:endParaRPr lang="en-US" sz="1050" dirty="0"/>
          </a:p>
        </p:txBody>
      </p:sp>
      <p:sp>
        <p:nvSpPr>
          <p:cNvPr id="18" name="Shape 16"/>
          <p:cNvSpPr/>
          <p:nvPr/>
        </p:nvSpPr>
        <p:spPr>
          <a:xfrm>
            <a:off x="6492240" y="2468880"/>
            <a:ext cx="5102352" cy="749808"/>
          </a:xfrm>
          <a:prstGeom prst="roundRect">
            <a:avLst>
              <a:gd name="adj" fmla="val 7317"/>
            </a:avLst>
          </a:prstGeom>
          <a:solidFill>
            <a:srgbClr val="1E3F5E"/>
          </a:solidFill>
          <a:ln/>
        </p:spPr>
      </p:sp>
      <p:sp>
        <p:nvSpPr>
          <p:cNvPr id="19" name="Shape 17"/>
          <p:cNvSpPr/>
          <p:nvPr/>
        </p:nvSpPr>
        <p:spPr>
          <a:xfrm>
            <a:off x="6693408" y="2660904"/>
            <a:ext cx="365760" cy="365760"/>
          </a:xfrm>
          <a:prstGeom prst="ellipse">
            <a:avLst/>
          </a:prstGeom>
          <a:solidFill>
            <a:srgbClr val="E0A526"/>
          </a:solidFill>
          <a:ln/>
        </p:spPr>
      </p:sp>
      <p:sp>
        <p:nvSpPr>
          <p:cNvPr id="20" name="Text 18"/>
          <p:cNvSpPr txBox="1"/>
          <p:nvPr/>
        </p:nvSpPr>
        <p:spPr>
          <a:xfrm>
            <a:off x="6693408" y="2674620"/>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7187184" y="2560320"/>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Copy, don't compose</a:t>
            </a:r>
            <a:endParaRPr lang="en-US" sz="1350" dirty="0"/>
          </a:p>
        </p:txBody>
      </p:sp>
      <p:sp>
        <p:nvSpPr>
          <p:cNvPr id="22" name="Text 20"/>
          <p:cNvSpPr txBox="1"/>
          <p:nvPr/>
        </p:nvSpPr>
        <p:spPr>
          <a:xfrm>
            <a:off x="7187184" y="2834640"/>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Website and CIK must be copied verbatim from a gathered signal.</a:t>
            </a:r>
            <a:endParaRPr lang="en-US" sz="1000" dirty="0"/>
          </a:p>
        </p:txBody>
      </p:sp>
      <p:sp>
        <p:nvSpPr>
          <p:cNvPr id="23" name="Shape 21"/>
          <p:cNvSpPr/>
          <p:nvPr/>
        </p:nvSpPr>
        <p:spPr>
          <a:xfrm>
            <a:off x="6492240" y="3310128"/>
            <a:ext cx="5102352" cy="749808"/>
          </a:xfrm>
          <a:prstGeom prst="roundRect">
            <a:avLst>
              <a:gd name="adj" fmla="val 7317"/>
            </a:avLst>
          </a:prstGeom>
          <a:solidFill>
            <a:srgbClr val="1E3F5E"/>
          </a:solidFill>
          <a:ln/>
        </p:spPr>
      </p:sp>
      <p:sp>
        <p:nvSpPr>
          <p:cNvPr id="24" name="Shape 22"/>
          <p:cNvSpPr/>
          <p:nvPr/>
        </p:nvSpPr>
        <p:spPr>
          <a:xfrm>
            <a:off x="6693408" y="3502152"/>
            <a:ext cx="365760" cy="365760"/>
          </a:xfrm>
          <a:prstGeom prst="ellipse">
            <a:avLst/>
          </a:prstGeom>
          <a:solidFill>
            <a:srgbClr val="E0A526"/>
          </a:solidFill>
          <a:ln/>
        </p:spPr>
      </p:sp>
      <p:sp>
        <p:nvSpPr>
          <p:cNvPr id="25" name="Text 23"/>
          <p:cNvSpPr txBox="1"/>
          <p:nvPr/>
        </p:nvSpPr>
        <p:spPr>
          <a:xfrm>
            <a:off x="6693408" y="3515868"/>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2</a:t>
            </a:r>
            <a:endParaRPr lang="en-US" sz="1100" dirty="0"/>
          </a:p>
        </p:txBody>
      </p:sp>
      <p:sp>
        <p:nvSpPr>
          <p:cNvPr id="26" name="Text 24"/>
          <p:cNvSpPr txBox="1"/>
          <p:nvPr/>
        </p:nvSpPr>
        <p:spPr>
          <a:xfrm>
            <a:off x="7187184" y="3401568"/>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Checked in code</a:t>
            </a:r>
            <a:endParaRPr lang="en-US" sz="1350" dirty="0"/>
          </a:p>
        </p:txBody>
      </p:sp>
      <p:sp>
        <p:nvSpPr>
          <p:cNvPr id="27" name="Text 25"/>
          <p:cNvSpPr txBox="1"/>
          <p:nvPr/>
        </p:nvSpPr>
        <p:spPr>
          <a:xfrm>
            <a:off x="7187184" y="3675888"/>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Those claims are then verified against the real signals before being trusted.</a:t>
            </a:r>
            <a:endParaRPr lang="en-US" sz="1000" dirty="0"/>
          </a:p>
        </p:txBody>
      </p:sp>
      <p:sp>
        <p:nvSpPr>
          <p:cNvPr id="28" name="Shape 26"/>
          <p:cNvSpPr/>
          <p:nvPr/>
        </p:nvSpPr>
        <p:spPr>
          <a:xfrm>
            <a:off x="6492240" y="4151376"/>
            <a:ext cx="5102352" cy="749808"/>
          </a:xfrm>
          <a:prstGeom prst="roundRect">
            <a:avLst>
              <a:gd name="adj" fmla="val 7317"/>
            </a:avLst>
          </a:prstGeom>
          <a:solidFill>
            <a:srgbClr val="1E3F5E"/>
          </a:solidFill>
          <a:ln/>
        </p:spPr>
      </p:sp>
      <p:sp>
        <p:nvSpPr>
          <p:cNvPr id="29" name="Shape 27"/>
          <p:cNvSpPr/>
          <p:nvPr/>
        </p:nvSpPr>
        <p:spPr>
          <a:xfrm>
            <a:off x="6693408" y="4343400"/>
            <a:ext cx="365760" cy="365760"/>
          </a:xfrm>
          <a:prstGeom prst="ellipse">
            <a:avLst/>
          </a:prstGeom>
          <a:solidFill>
            <a:srgbClr val="E0A526"/>
          </a:solidFill>
          <a:ln/>
        </p:spPr>
      </p:sp>
      <p:sp>
        <p:nvSpPr>
          <p:cNvPr id="30" name="Text 28"/>
          <p:cNvSpPr txBox="1"/>
          <p:nvPr/>
        </p:nvSpPr>
        <p:spPr>
          <a:xfrm>
            <a:off x="6693408" y="4357116"/>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3</a:t>
            </a:r>
            <a:endParaRPr lang="en-US" sz="1100" dirty="0"/>
          </a:p>
        </p:txBody>
      </p:sp>
      <p:sp>
        <p:nvSpPr>
          <p:cNvPr id="31" name="Text 29"/>
          <p:cNvSpPr txBox="1"/>
          <p:nvPr/>
        </p:nvSpPr>
        <p:spPr>
          <a:xfrm>
            <a:off x="7187184" y="4242816"/>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Ambiguity is the answer</a:t>
            </a:r>
            <a:endParaRPr lang="en-US" sz="1350" dirty="0"/>
          </a:p>
        </p:txBody>
      </p:sp>
      <p:sp>
        <p:nvSpPr>
          <p:cNvPr id="32" name="Text 30"/>
          <p:cNvSpPr txBox="1"/>
          <p:nvPr/>
        </p:nvSpPr>
        <p:spPr>
          <a:xfrm>
            <a:off x="7187184" y="4517136"/>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Look-alike domains, holding vs. operating entity, two plausible filers — all report as uncertain.</a:t>
            </a:r>
            <a:endParaRPr lang="en-US" sz="1000" dirty="0"/>
          </a:p>
        </p:txBody>
      </p:sp>
      <p:sp>
        <p:nvSpPr>
          <p:cNvPr id="33" name="Text 31"/>
          <p:cNvSpPr txBox="1"/>
          <p:nvPr/>
        </p:nvSpPr>
        <p:spPr>
          <a:xfrm>
            <a:off x="6492240" y="5102352"/>
            <a:ext cx="5102352" cy="219456"/>
          </a:xfrm>
          <a:prstGeom prst="rect">
            <a:avLst/>
          </a:prstGeom>
          <a:noFill/>
          <a:ln/>
        </p:spPr>
        <p:txBody>
          <a:bodyPr wrap="square" lIns="0" tIns="0" rIns="0" bIns="0" rtlCol="0" anchor="ctr"/>
          <a:lstStyle/>
          <a:p>
            <a:pPr indent="0" marL="0">
              <a:buNone/>
            </a:pPr>
            <a:r>
              <a:rPr lang="en-US" sz="1000" b="1" spc="120" kern="0" dirty="0">
                <a:solidFill>
                  <a:srgbClr val="B9CDDD"/>
                </a:solidFill>
                <a:latin typeface="Calibri" pitchFamily="34" charset="0"/>
                <a:ea typeface="Calibri" pitchFamily="34" charset="-122"/>
                <a:cs typeface="Calibri" pitchFamily="34" charset="-120"/>
              </a:rPr>
              <a:t>Three verdicts, and only one of them proceeds</a:t>
            </a:r>
            <a:endParaRPr lang="en-US" sz="1000" dirty="0"/>
          </a:p>
        </p:txBody>
      </p:sp>
      <p:sp>
        <p:nvSpPr>
          <p:cNvPr id="34" name="Shape 32"/>
          <p:cNvSpPr/>
          <p:nvPr/>
        </p:nvSpPr>
        <p:spPr>
          <a:xfrm>
            <a:off x="6492240" y="5376672"/>
            <a:ext cx="1609344" cy="420624"/>
          </a:xfrm>
          <a:prstGeom prst="roundRect">
            <a:avLst>
              <a:gd name="adj" fmla="val 43478"/>
            </a:avLst>
          </a:prstGeom>
          <a:solidFill>
            <a:srgbClr val="1C7293"/>
          </a:solidFill>
          <a:ln/>
        </p:spPr>
      </p:sp>
      <p:sp>
        <p:nvSpPr>
          <p:cNvPr id="35" name="Text 33"/>
          <p:cNvSpPr txBox="1"/>
          <p:nvPr/>
        </p:nvSpPr>
        <p:spPr>
          <a:xfrm>
            <a:off x="6492240" y="5376672"/>
            <a:ext cx="16093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Resolved</a:t>
            </a:r>
            <a:endParaRPr lang="en-US" sz="1050" dirty="0"/>
          </a:p>
        </p:txBody>
      </p:sp>
      <p:sp>
        <p:nvSpPr>
          <p:cNvPr id="36" name="Shape 34"/>
          <p:cNvSpPr/>
          <p:nvPr/>
        </p:nvSpPr>
        <p:spPr>
          <a:xfrm>
            <a:off x="8238744" y="5376672"/>
            <a:ext cx="1609344" cy="420624"/>
          </a:xfrm>
          <a:prstGeom prst="roundRect">
            <a:avLst>
              <a:gd name="adj" fmla="val 43478"/>
            </a:avLst>
          </a:prstGeom>
          <a:solidFill>
            <a:srgbClr val="E0A526"/>
          </a:solidFill>
          <a:ln/>
        </p:spPr>
      </p:sp>
      <p:sp>
        <p:nvSpPr>
          <p:cNvPr id="37" name="Text 35"/>
          <p:cNvSpPr txBox="1"/>
          <p:nvPr/>
        </p:nvSpPr>
        <p:spPr>
          <a:xfrm>
            <a:off x="8238744" y="5376672"/>
            <a:ext cx="1609344" cy="420624"/>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Uncertain</a:t>
            </a:r>
            <a:endParaRPr lang="en-US" sz="1050" dirty="0"/>
          </a:p>
        </p:txBody>
      </p:sp>
      <p:sp>
        <p:nvSpPr>
          <p:cNvPr id="38" name="Shape 36"/>
          <p:cNvSpPr/>
          <p:nvPr/>
        </p:nvSpPr>
        <p:spPr>
          <a:xfrm>
            <a:off x="9985248" y="5376672"/>
            <a:ext cx="1609344" cy="420624"/>
          </a:xfrm>
          <a:prstGeom prst="roundRect">
            <a:avLst>
              <a:gd name="adj" fmla="val 43478"/>
            </a:avLst>
          </a:prstGeom>
          <a:ln w="12700">
            <a:solidFill>
              <a:srgbClr val="3D5B7A"/>
            </a:solidFill>
            <a:prstDash val="solid"/>
          </a:ln>
        </p:spPr>
      </p:sp>
      <p:sp>
        <p:nvSpPr>
          <p:cNvPr id="39" name="Text 37"/>
          <p:cNvSpPr txBox="1"/>
          <p:nvPr/>
        </p:nvSpPr>
        <p:spPr>
          <a:xfrm>
            <a:off x="9985248" y="5376672"/>
            <a:ext cx="1609344" cy="420624"/>
          </a:xfrm>
          <a:prstGeom prst="rect">
            <a:avLst/>
          </a:prstGeom>
          <a:noFill/>
          <a:ln/>
        </p:spPr>
        <p:txBody>
          <a:bodyPr wrap="square" lIns="0" tIns="0" rIns="0" bIns="0" rtlCol="0" anchor="ctr"/>
          <a:lstStyle/>
          <a:p>
            <a:pPr algn="ctr" indent="0" marL="0">
              <a:buNone/>
            </a:pPr>
            <a:r>
              <a:rPr lang="en-US" sz="1050" b="1" dirty="0">
                <a:solidFill>
                  <a:srgbClr val="B9CDDD"/>
                </a:solidFill>
                <a:latin typeface="Calibri" pitchFamily="34" charset="0"/>
                <a:ea typeface="Calibri" pitchFamily="34" charset="-122"/>
                <a:cs typeface="Calibri" pitchFamily="34" charset="-120"/>
              </a:rPr>
              <a:t>Unresolved</a:t>
            </a:r>
            <a:endParaRPr lang="en-US" sz="1050" dirty="0"/>
          </a:p>
        </p:txBody>
      </p:sp>
      <p:sp>
        <p:nvSpPr>
          <p:cNvPr id="40" name="Shape 38"/>
          <p:cNvSpPr/>
          <p:nvPr/>
        </p:nvSpPr>
        <p:spPr>
          <a:xfrm>
            <a:off x="594360" y="5989320"/>
            <a:ext cx="11000232" cy="411480"/>
          </a:xfrm>
          <a:prstGeom prst="roundRect">
            <a:avLst>
              <a:gd name="adj" fmla="val 13333"/>
            </a:avLst>
          </a:prstGeom>
          <a:solidFill>
            <a:srgbClr val="1E3F5E"/>
          </a:solidFill>
          <a:ln/>
        </p:spPr>
      </p:sp>
      <p:sp>
        <p:nvSpPr>
          <p:cNvPr id="41" name="Text 39"/>
          <p:cNvSpPr txBox="1"/>
          <p:nvPr/>
        </p:nvSpPr>
        <p:spPr>
          <a:xfrm>
            <a:off x="795528" y="5989320"/>
            <a:ext cx="10597896" cy="411480"/>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Deliberately not a three-agent debate: unlike thematic classification, “which company is this” rarely has two defensible sides, and EDGAR's own name search already resolves the common case with no model involved at all.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06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Identity: short-circuit, then adjudicate</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LangGraph graph whose whole design is about not making the call.</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Check what is known — </a:t>
            </a:r>
            <a:pPr indent="0" marL="0">
              <a:buNone/>
            </a:pPr>
            <a:r>
              <a:rPr lang="en-US" sz="1050" dirty="0">
                <a:solidFill>
                  <a:srgbClr val="5A6B78"/>
                </a:solidFill>
                <a:latin typeface="Calibri" pitchFamily="34" charset="0"/>
                <a:ea typeface="Calibri" pitchFamily="34" charset="-122"/>
                <a:cs typeface="Calibri" pitchFamily="34" charset="-120"/>
              </a:rPr>
              <a:t>check_known short-circuits on a supplied CIK or website: the company is finalised as resolved with no search and no LLM usage recorded.</a:t>
            </a:r>
            <a:endParaRPr lang="en-US" sz="1050" dirty="0"/>
          </a:p>
        </p:txBody>
      </p:sp>
      <p:sp>
        <p:nvSpPr>
          <p:cNvPr id="8" name="Shape 6"/>
          <p:cNvSpPr/>
          <p:nvPr/>
        </p:nvSpPr>
        <p:spPr>
          <a:xfrm>
            <a:off x="594360" y="2567940"/>
            <a:ext cx="329184" cy="329184"/>
          </a:xfrm>
          <a:prstGeom prst="ellipse">
            <a:avLst/>
          </a:prstGeom>
          <a:solidFill>
            <a:srgbClr val="1C7293"/>
          </a:solidFill>
          <a:ln/>
        </p:spPr>
      </p:sp>
      <p:sp>
        <p:nvSpPr>
          <p:cNvPr id="9" name="Text 7"/>
          <p:cNvSpPr txBox="1"/>
          <p:nvPr/>
        </p:nvSpPr>
        <p:spPr>
          <a:xfrm>
            <a:off x="594360" y="25816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54965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Search EDGAR by name — </a:t>
            </a:r>
            <a:pPr indent="0" marL="0">
              <a:buNone/>
            </a:pPr>
            <a:r>
              <a:rPr lang="en-US" sz="1050" dirty="0">
                <a:solidFill>
                  <a:srgbClr val="5A6B78"/>
                </a:solidFill>
                <a:latin typeface="Calibri" pitchFamily="34" charset="0"/>
                <a:ea typeface="Calibri" pitchFamily="34" charset="-122"/>
                <a:cs typeface="Calibri" pitchFamily="34" charset="-120"/>
              </a:rPr>
              <a:t>edgar.py's fuzzy/substring name search returns candidate filers; a single clean match finalises the company without a model call.</a:t>
            </a:r>
            <a:endParaRPr lang="en-US" sz="1050" dirty="0"/>
          </a:p>
        </p:txBody>
      </p:sp>
      <p:sp>
        <p:nvSpPr>
          <p:cNvPr id="11" name="Shape 9"/>
          <p:cNvSpPr/>
          <p:nvPr/>
        </p:nvSpPr>
        <p:spPr>
          <a:xfrm>
            <a:off x="594360" y="3307080"/>
            <a:ext cx="329184" cy="329184"/>
          </a:xfrm>
          <a:prstGeom prst="ellipse">
            <a:avLst/>
          </a:prstGeom>
          <a:solidFill>
            <a:srgbClr val="1C7293"/>
          </a:solidFill>
          <a:ln/>
        </p:spPr>
      </p:sp>
      <p:sp>
        <p:nvSpPr>
          <p:cNvPr id="12" name="Text 10"/>
          <p:cNvSpPr txBox="1"/>
          <p:nvPr/>
        </p:nvSpPr>
        <p:spPr>
          <a:xfrm>
            <a:off x="594360" y="33207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28879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Gather web signals — </a:t>
            </a:r>
            <a:pPr indent="0" marL="0">
              <a:buNone/>
            </a:pPr>
            <a:r>
              <a:rPr lang="en-US" sz="1050" dirty="0">
                <a:solidFill>
                  <a:srgbClr val="5A6B78"/>
                </a:solidFill>
                <a:latin typeface="Calibri" pitchFamily="34" charset="0"/>
                <a:ea typeface="Calibri" pitchFamily="34" charset="-122"/>
                <a:cs typeface="Calibri" pitchFamily="34" charset="-120"/>
              </a:rPr>
              <a:t>otherwise identity_agents collects web-search hits alongside the EDGAR candidates, so the judgment sees only things that actually exist.</a:t>
            </a:r>
            <a:endParaRPr lang="en-US" sz="1050" dirty="0"/>
          </a:p>
        </p:txBody>
      </p:sp>
      <p:sp>
        <p:nvSpPr>
          <p:cNvPr id="14" name="Shape 12"/>
          <p:cNvSpPr/>
          <p:nvPr/>
        </p:nvSpPr>
        <p:spPr>
          <a:xfrm>
            <a:off x="594360" y="4046220"/>
            <a:ext cx="329184" cy="329184"/>
          </a:xfrm>
          <a:prstGeom prst="ellipse">
            <a:avLst/>
          </a:prstGeom>
          <a:solidFill>
            <a:srgbClr val="1C7293"/>
          </a:solidFill>
          <a:ln/>
        </p:spPr>
      </p:sp>
      <p:sp>
        <p:nvSpPr>
          <p:cNvPr id="15" name="Text 13"/>
          <p:cNvSpPr txBox="1"/>
          <p:nvPr/>
        </p:nvSpPr>
        <p:spPr>
          <a:xfrm>
            <a:off x="594360" y="40599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402793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Adjudicate once — </a:t>
            </a:r>
            <a:pPr indent="0" marL="0">
              <a:buNone/>
            </a:pPr>
            <a:r>
              <a:rPr lang="en-US" sz="1050" dirty="0">
                <a:solidFill>
                  <a:srgbClr val="5A6B78"/>
                </a:solidFill>
                <a:latin typeface="Calibri" pitchFamily="34" charset="0"/>
                <a:ea typeface="Calibri" pitchFamily="34" charset="-122"/>
                <a:cs typeface="Calibri" pitchFamily="34" charset="-120"/>
              </a:rPr>
              <a:t>one schema-first call returns a verdict, confidence, resolved website and CIK — all required to be copied verbatim from the gathered signals.</a:t>
            </a:r>
            <a:endParaRPr lang="en-US" sz="1050" dirty="0"/>
          </a:p>
        </p:txBody>
      </p:sp>
      <p:sp>
        <p:nvSpPr>
          <p:cNvPr id="17" name="Shape 15"/>
          <p:cNvSpPr/>
          <p:nvPr/>
        </p:nvSpPr>
        <p:spPr>
          <a:xfrm>
            <a:off x="594360" y="4785360"/>
            <a:ext cx="329184" cy="329184"/>
          </a:xfrm>
          <a:prstGeom prst="ellipse">
            <a:avLst/>
          </a:prstGeom>
          <a:solidFill>
            <a:srgbClr val="1C7293"/>
          </a:solidFill>
          <a:ln/>
        </p:spPr>
      </p:sp>
      <p:sp>
        <p:nvSpPr>
          <p:cNvPr id="18" name="Text 16"/>
          <p:cNvSpPr txBox="1"/>
          <p:nvPr/>
        </p:nvSpPr>
        <p:spPr>
          <a:xfrm>
            <a:off x="594360" y="47990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76707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Verify the claims in code — </a:t>
            </a:r>
            <a:pPr indent="0" marL="0">
              <a:buNone/>
            </a:pPr>
            <a:r>
              <a:rPr lang="en-US" sz="1050" dirty="0">
                <a:solidFill>
                  <a:srgbClr val="5A6B78"/>
                </a:solidFill>
                <a:latin typeface="Calibri" pitchFamily="34" charset="0"/>
                <a:ea typeface="Calibri" pitchFamily="34" charset="-122"/>
                <a:cs typeface="Calibri" pitchFamily="34" charset="-120"/>
              </a:rPr>
              <a:t>unlike a citation, there is no quote to ground, so the returned website and CIK are checked back against the real signals before they are trusted.</a:t>
            </a:r>
            <a:endParaRPr lang="en-US" sz="1050" dirty="0"/>
          </a:p>
        </p:txBody>
      </p:sp>
      <p:sp>
        <p:nvSpPr>
          <p:cNvPr id="20" name="Shape 18"/>
          <p:cNvSpPr/>
          <p:nvPr/>
        </p:nvSpPr>
        <p:spPr>
          <a:xfrm>
            <a:off x="594360" y="5524500"/>
            <a:ext cx="329184" cy="329184"/>
          </a:xfrm>
          <a:prstGeom prst="ellipse">
            <a:avLst/>
          </a:prstGeom>
          <a:solidFill>
            <a:srgbClr val="1C7293"/>
          </a:solidFill>
          <a:ln/>
        </p:spPr>
      </p:sp>
      <p:sp>
        <p:nvSpPr>
          <p:cNvPr id="21" name="Text 19"/>
          <p:cNvSpPr txBox="1"/>
          <p:nvPr/>
        </p:nvSpPr>
        <p:spPr>
          <a:xfrm>
            <a:off x="594360" y="55382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550621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Route by verdict — </a:t>
            </a:r>
            <a:pPr indent="0" marL="0">
              <a:buNone/>
            </a:pPr>
            <a:r>
              <a:rPr lang="en-US" sz="1050" dirty="0">
                <a:solidFill>
                  <a:srgbClr val="5A6B78"/>
                </a:solidFill>
                <a:latin typeface="Calibri" pitchFamily="34" charset="0"/>
                <a:ea typeface="Calibri" pitchFamily="34" charset="-122"/>
                <a:cs typeface="Calibri" pitchFamily="34" charset="-120"/>
              </a:rPr>
              <a:t>resolved proceeds; uncertain and unresolved go to the review queue, and a reviewer's decision is replayed on top of the stored result.</a:t>
            </a:r>
            <a:endParaRPr lang="en-US" sz="1050" dirty="0"/>
          </a:p>
        </p:txBody>
      </p:sp>
      <p:sp>
        <p:nvSpPr>
          <p:cNvPr id="23" name="Shape 21"/>
          <p:cNvSpPr/>
          <p:nvPr/>
        </p:nvSpPr>
        <p:spPr>
          <a:xfrm>
            <a:off x="7589520" y="1810512"/>
            <a:ext cx="4005072" cy="1417320"/>
          </a:xfrm>
          <a:prstGeom prst="roundRect">
            <a:avLst>
              <a:gd name="adj" fmla="val 3871"/>
            </a:avLst>
          </a:prstGeom>
          <a:solidFill>
            <a:srgbClr val="10243A"/>
          </a:solidFill>
          <a:ln/>
        </p:spPr>
      </p:sp>
      <p:sp>
        <p:nvSpPr>
          <p:cNvPr id="24" name="Text 22"/>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5" name="Text 23"/>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arp/discovery/identity_pipeline.py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arp/discovery/identity_graph.py, identity_agents.py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arp/ingestion/edgar.py (search_by_name)</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arp/discovery/site_finder.py  ·  arp/orchestration/review_queue.py</a:t>
            </a:r>
            <a:endParaRPr lang="en-US" sz="900" dirty="0"/>
          </a:p>
        </p:txBody>
      </p:sp>
      <p:sp>
        <p:nvSpPr>
          <p:cNvPr id="26" name="Shape 24"/>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27" name="Text 25"/>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28" name="Text 26"/>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 rows (name, optional ticker/CIK/website).</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IdentityResolutionResult — verdict, confidence, resolved website and CIK.</a:t>
            </a:r>
            <a:endParaRPr lang="en-US" sz="950" dirty="0"/>
          </a:p>
        </p:txBody>
      </p:sp>
      <p:sp>
        <p:nvSpPr>
          <p:cNvPr id="29" name="Shape 27"/>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0" name="Text 28"/>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1" name="Shape 29"/>
          <p:cNvSpPr/>
          <p:nvPr/>
        </p:nvSpPr>
        <p:spPr>
          <a:xfrm>
            <a:off x="7808976" y="5038344"/>
            <a:ext cx="100584" cy="100584"/>
          </a:xfrm>
          <a:prstGeom prst="ellipse">
            <a:avLst/>
          </a:prstGeom>
          <a:solidFill>
            <a:srgbClr val="E0A526"/>
          </a:solidFill>
          <a:ln/>
        </p:spPr>
      </p:sp>
      <p:sp>
        <p:nvSpPr>
          <p:cNvPr id="32" name="Text 30"/>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Low confidence is required for anything short of an unambiguous match.</a:t>
            </a:r>
            <a:endParaRPr lang="en-US" sz="950" dirty="0"/>
          </a:p>
        </p:txBody>
      </p:sp>
      <p:sp>
        <p:nvSpPr>
          <p:cNvPr id="33" name="Shape 31"/>
          <p:cNvSpPr/>
          <p:nvPr/>
        </p:nvSpPr>
        <p:spPr>
          <a:xfrm>
            <a:off x="7808976" y="5458968"/>
            <a:ext cx="100584" cy="100584"/>
          </a:xfrm>
          <a:prstGeom prst="ellipse">
            <a:avLst/>
          </a:prstGeom>
          <a:solidFill>
            <a:srgbClr val="E0A526"/>
          </a:solidFill>
          <a:ln/>
        </p:spPr>
      </p:sp>
      <p:sp>
        <p:nvSpPr>
          <p:cNvPr id="34" name="Text 32"/>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Nothing is invented: candidates come only from EDGAR and search results.</a:t>
            </a:r>
            <a:endParaRPr lang="en-US" sz="950" dirty="0"/>
          </a:p>
        </p:txBody>
      </p:sp>
      <p:sp>
        <p:nvSpPr>
          <p:cNvPr id="35" name="Shape 33"/>
          <p:cNvSpPr/>
          <p:nvPr/>
        </p:nvSpPr>
        <p:spPr>
          <a:xfrm>
            <a:off x="7808976" y="5879592"/>
            <a:ext cx="100584" cy="100584"/>
          </a:xfrm>
          <a:prstGeom prst="ellipse">
            <a:avLst/>
          </a:prstGeom>
          <a:solidFill>
            <a:srgbClr val="E0A526"/>
          </a:solidFill>
          <a:ln/>
        </p:spPr>
      </p:sp>
      <p:sp>
        <p:nvSpPr>
          <p:cNvPr id="36" name="Text 34"/>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Uncertain is a routing decision, not a softened “resolved”.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07   ·   INDIRECT EXPOSURE TIER</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Exposure a company never mentions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structural, purely quantitative read on supply-chain exposure — for companies whose own disclosures stay silent.</a:t>
            </a:r>
            <a:endParaRPr lang="en-US" sz="1400" dirty="0"/>
          </a:p>
        </p:txBody>
      </p:sp>
      <p:sp>
        <p:nvSpPr>
          <p:cNvPr id="5" name="Shape 3"/>
          <p:cNvSpPr/>
          <p:nvPr/>
        </p:nvSpPr>
        <p:spPr>
          <a:xfrm>
            <a:off x="594360" y="1783080"/>
            <a:ext cx="3508248" cy="1371600"/>
          </a:xfrm>
          <a:prstGeom prst="roundRect">
            <a:avLst>
              <a:gd name="adj" fmla="val 4000"/>
            </a:avLst>
          </a:prstGeom>
          <a:solidFill>
            <a:srgbClr val="F1F5F9"/>
          </a:solidFill>
          <a:ln w="12700">
            <a:solidFill>
              <a:srgbClr val="DBE4EC"/>
            </a:solidFill>
            <a:prstDash val="solid"/>
          </a:ln>
        </p:spPr>
      </p:sp>
      <p:sp>
        <p:nvSpPr>
          <p:cNvPr id="6" name="Shape 4"/>
          <p:cNvSpPr/>
          <p:nvPr/>
        </p:nvSpPr>
        <p:spPr>
          <a:xfrm>
            <a:off x="795528" y="2002536"/>
            <a:ext cx="274320" cy="274320"/>
          </a:xfrm>
          <a:prstGeom prst="ellipse">
            <a:avLst/>
          </a:prstGeom>
          <a:solidFill>
            <a:srgbClr val="1C7293"/>
          </a:solidFill>
          <a:ln/>
        </p:spPr>
      </p:sp>
      <p:sp>
        <p:nvSpPr>
          <p:cNvPr id="7" name="Text 5"/>
          <p:cNvSpPr txBox="1"/>
          <p:nvPr/>
        </p:nvSpPr>
        <p:spPr>
          <a:xfrm>
            <a:off x="795528"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61288"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No LLM in the maths</a:t>
            </a:r>
            <a:endParaRPr lang="en-US" sz="1400" dirty="0"/>
          </a:p>
        </p:txBody>
      </p:sp>
      <p:sp>
        <p:nvSpPr>
          <p:cNvPr id="9" name="Text 7"/>
          <p:cNvSpPr txBox="1"/>
          <p:nvPr/>
        </p:nvSpPr>
        <p:spPr>
          <a:xfrm>
            <a:off x="795528"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exposure number is linear algebra over an industry-by-industry flow table. The only model calls are two cheap, one-off classification steps around it.</a:t>
            </a:r>
            <a:endParaRPr lang="en-US" sz="1050" dirty="0"/>
          </a:p>
        </p:txBody>
      </p:sp>
      <p:sp>
        <p:nvSpPr>
          <p:cNvPr id="10" name="Shape 8"/>
          <p:cNvSpPr/>
          <p:nvPr/>
        </p:nvSpPr>
        <p:spPr>
          <a:xfrm>
            <a:off x="4340352" y="1783080"/>
            <a:ext cx="3508248" cy="1371600"/>
          </a:xfrm>
          <a:prstGeom prst="roundRect">
            <a:avLst>
              <a:gd name="adj" fmla="val 4000"/>
            </a:avLst>
          </a:prstGeom>
          <a:solidFill>
            <a:srgbClr val="F1F5F9"/>
          </a:solidFill>
          <a:ln w="12700">
            <a:solidFill>
              <a:srgbClr val="DBE4EC"/>
            </a:solidFill>
            <a:prstDash val="solid"/>
          </a:ln>
        </p:spPr>
      </p:sp>
      <p:sp>
        <p:nvSpPr>
          <p:cNvPr id="11" name="Shape 9"/>
          <p:cNvSpPr/>
          <p:nvPr/>
        </p:nvSpPr>
        <p:spPr>
          <a:xfrm>
            <a:off x="4541520" y="2002536"/>
            <a:ext cx="274320" cy="274320"/>
          </a:xfrm>
          <a:prstGeom prst="ellipse">
            <a:avLst/>
          </a:prstGeom>
          <a:solidFill>
            <a:srgbClr val="1C7293"/>
          </a:solidFill>
          <a:ln/>
        </p:spPr>
      </p:sp>
      <p:sp>
        <p:nvSpPr>
          <p:cNvPr id="12" name="Text 10"/>
          <p:cNvSpPr txBox="1"/>
          <p:nvPr/>
        </p:nvSpPr>
        <p:spPr>
          <a:xfrm>
            <a:off x="4541520"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4907280"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Two directions, kept apart</a:t>
            </a:r>
            <a:endParaRPr lang="en-US" sz="1400" dirty="0"/>
          </a:p>
        </p:txBody>
      </p:sp>
      <p:sp>
        <p:nvSpPr>
          <p:cNvPr id="14" name="Text 12"/>
          <p:cNvSpPr txBox="1"/>
          <p:nvPr/>
        </p:nvSpPr>
        <p:spPr>
          <a:xfrm>
            <a:off x="4541520"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Upstream (inputs traced back to the theme's core sectors) and downstream (output flowing into them) answer different portfolio questions and are never blended.</a:t>
            </a:r>
            <a:endParaRPr lang="en-US" sz="1050" dirty="0"/>
          </a:p>
        </p:txBody>
      </p:sp>
      <p:sp>
        <p:nvSpPr>
          <p:cNvPr id="15" name="Shape 13"/>
          <p:cNvSpPr/>
          <p:nvPr/>
        </p:nvSpPr>
        <p:spPr>
          <a:xfrm>
            <a:off x="8086344" y="1783080"/>
            <a:ext cx="3508248" cy="1371600"/>
          </a:xfrm>
          <a:prstGeom prst="roundRect">
            <a:avLst>
              <a:gd name="adj" fmla="val 4000"/>
            </a:avLst>
          </a:prstGeom>
          <a:solidFill>
            <a:srgbClr val="F1F5F9"/>
          </a:solidFill>
          <a:ln w="12700">
            <a:solidFill>
              <a:srgbClr val="DBE4EC"/>
            </a:solidFill>
            <a:prstDash val="solid"/>
          </a:ln>
        </p:spPr>
      </p:sp>
      <p:sp>
        <p:nvSpPr>
          <p:cNvPr id="16" name="Shape 14"/>
          <p:cNvSpPr/>
          <p:nvPr/>
        </p:nvSpPr>
        <p:spPr>
          <a:xfrm>
            <a:off x="8287512" y="2002536"/>
            <a:ext cx="274320" cy="274320"/>
          </a:xfrm>
          <a:prstGeom prst="ellipse">
            <a:avLst/>
          </a:prstGeom>
          <a:solidFill>
            <a:srgbClr val="1C7293"/>
          </a:solidFill>
          <a:ln/>
        </p:spPr>
      </p:sp>
      <p:sp>
        <p:nvSpPr>
          <p:cNvPr id="17" name="Text 15"/>
          <p:cNvSpPr txBox="1"/>
          <p:nvPr/>
        </p:nvSpPr>
        <p:spPr>
          <a:xfrm>
            <a:off x="8287512"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8653272"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Opt-in and separate</a:t>
            </a:r>
            <a:endParaRPr lang="en-US" sz="1400" dirty="0"/>
          </a:p>
        </p:txBody>
      </p:sp>
      <p:sp>
        <p:nvSpPr>
          <p:cNvPr id="19" name="Text 17"/>
          <p:cNvSpPr txBox="1"/>
          <p:nvPr/>
        </p:nvSpPr>
        <p:spPr>
          <a:xfrm>
            <a:off x="8287512"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Off unless a dataset is configured, and carried in its own field — never folded into the qualitative verdict the debate produced.</a:t>
            </a:r>
            <a:endParaRPr lang="en-US" sz="1050" dirty="0"/>
          </a:p>
        </p:txBody>
      </p:sp>
      <p:sp>
        <p:nvSpPr>
          <p:cNvPr id="20" name="Shape 18"/>
          <p:cNvSpPr/>
          <p:nvPr/>
        </p:nvSpPr>
        <p:spPr>
          <a:xfrm>
            <a:off x="594360" y="3291840"/>
            <a:ext cx="5120640" cy="2743200"/>
          </a:xfrm>
          <a:prstGeom prst="roundRect">
            <a:avLst>
              <a:gd name="adj" fmla="val 2000"/>
            </a:avLst>
          </a:prstGeom>
          <a:solidFill>
            <a:srgbClr val="10243A"/>
          </a:solidFill>
          <a:ln/>
        </p:spPr>
      </p:sp>
      <p:sp>
        <p:nvSpPr>
          <p:cNvPr id="21" name="Text 19"/>
          <p:cNvSpPr txBox="1"/>
          <p:nvPr/>
        </p:nvSpPr>
        <p:spPr>
          <a:xfrm>
            <a:off x="822960" y="3474720"/>
            <a:ext cx="4663440" cy="29260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computation</a:t>
            </a:r>
            <a:endParaRPr lang="en-US" sz="1700" dirty="0"/>
          </a:p>
        </p:txBody>
      </p:sp>
      <p:sp>
        <p:nvSpPr>
          <p:cNvPr id="22" name="Text 20"/>
          <p:cNvSpPr txBox="1"/>
          <p:nvPr/>
        </p:nvSpPr>
        <p:spPr>
          <a:xfrm>
            <a:off x="822960" y="3886200"/>
            <a:ext cx="4663440" cy="566928"/>
          </a:xfrm>
          <a:prstGeom prst="rect">
            <a:avLst/>
          </a:prstGeom>
          <a:noFill/>
          <a:ln/>
        </p:spPr>
        <p:txBody>
          <a:bodyPr wrap="square" lIns="0" tIns="0" rIns="0" bIns="0" rtlCol="0" anchor="ctr"/>
          <a:lstStyle/>
          <a:p>
            <a:pPr indent="0" marL="0">
              <a:buNone/>
            </a:pPr>
            <a:r>
              <a:rPr lang="en-US" sz="3000" b="1" dirty="0">
                <a:solidFill>
                  <a:srgbClr val="E0A526"/>
                </a:solidFill>
                <a:latin typeface="Cambria" pitchFamily="34" charset="0"/>
                <a:ea typeface="Cambria" pitchFamily="34" charset="-122"/>
                <a:cs typeface="Cambria" pitchFamily="34" charset="-120"/>
              </a:rPr>
              <a:t>L = (I − A)</a:t>
            </a:r>
            <a:pPr indent="0" marL="0">
              <a:buNone/>
            </a:pPr>
            <a:r>
              <a:rPr lang="en-US" sz="3000" b="1" baseline="30000" dirty="0">
                <a:solidFill>
                  <a:srgbClr val="E0A526"/>
                </a:solidFill>
                <a:latin typeface="Cambria" pitchFamily="34" charset="0"/>
                <a:ea typeface="Cambria" pitchFamily="34" charset="-122"/>
                <a:cs typeface="Cambria" pitchFamily="34" charset="-120"/>
              </a:rPr>
              <a:t>−1</a:t>
            </a:r>
            <a:endParaRPr lang="en-US" sz="3000" dirty="0"/>
          </a:p>
        </p:txBody>
      </p:sp>
      <p:sp>
        <p:nvSpPr>
          <p:cNvPr id="23" name="Text 21"/>
          <p:cNvSpPr txBox="1"/>
          <p:nvPr/>
        </p:nvSpPr>
        <p:spPr>
          <a:xfrm>
            <a:off x="822960" y="4572000"/>
            <a:ext cx="4663440" cy="777240"/>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The Leontief inverse of the technical-coefficient matrix A[i,j] = flow[i,j] / total_output[j] gives, for any industry, the direct-plus-indirect share of its inputs or outputs that traces to a theme's core sectors.</a:t>
            </a:r>
            <a:endParaRPr lang="en-US" sz="1050" dirty="0"/>
          </a:p>
        </p:txBody>
      </p:sp>
      <p:sp>
        <p:nvSpPr>
          <p:cNvPr id="24" name="Text 22"/>
          <p:cNvSpPr txBox="1"/>
          <p:nvPr/>
        </p:nvSpPr>
        <p:spPr>
          <a:xfrm>
            <a:off x="822960" y="5440680"/>
            <a:ext cx="4663440" cy="457200"/>
          </a:xfrm>
          <a:prstGeom prst="rect">
            <a:avLst/>
          </a:prstGeom>
          <a:noFill/>
          <a:ln/>
        </p:spPr>
        <p:txBody>
          <a:bodyPr wrap="square" lIns="0" tIns="0" rIns="0" bIns="0" rtlCol="0" anchor="ctr"/>
          <a:lstStyle/>
          <a:p>
            <a:pPr indent="0" marL="0">
              <a:buNone/>
            </a:pPr>
            <a:r>
              <a:rPr lang="en-US" sz="950" i="1" dirty="0">
                <a:solidFill>
                  <a:srgbClr val="B9CDDD"/>
                </a:solidFill>
                <a:latin typeface="Calibri" pitchFamily="34" charset="0"/>
                <a:ea typeface="Calibri" pitchFamily="34" charset="-122"/>
                <a:cs typeface="Calibri" pitchFamily="34" charset="-120"/>
              </a:rPr>
              <a:t>The same mathematics environmentally-extended input-output models use for Scope 3 accounting, applied to a thematic value chain instead of carbon.</a:t>
            </a:r>
            <a:endParaRPr lang="en-US" sz="950" dirty="0"/>
          </a:p>
        </p:txBody>
      </p:sp>
      <p:sp>
        <p:nvSpPr>
          <p:cNvPr id="25" name="Shape 23"/>
          <p:cNvSpPr/>
          <p:nvPr/>
        </p:nvSpPr>
        <p:spPr>
          <a:xfrm>
            <a:off x="6080760" y="3291840"/>
            <a:ext cx="5513832" cy="1280160"/>
          </a:xfrm>
          <a:prstGeom prst="roundRect">
            <a:avLst>
              <a:gd name="adj" fmla="val 4286"/>
            </a:avLst>
          </a:prstGeom>
          <a:solidFill>
            <a:srgbClr val="FFFFFF"/>
          </a:solidFill>
          <a:ln w="12700">
            <a:solidFill>
              <a:srgbClr val="DBE4EC"/>
            </a:solidFill>
            <a:prstDash val="solid"/>
          </a:ln>
        </p:spPr>
      </p:sp>
      <p:sp>
        <p:nvSpPr>
          <p:cNvPr id="26" name="Shape 24"/>
          <p:cNvSpPr/>
          <p:nvPr/>
        </p:nvSpPr>
        <p:spPr>
          <a:xfrm>
            <a:off x="6281928" y="3529584"/>
            <a:ext cx="118872" cy="118872"/>
          </a:xfrm>
          <a:prstGeom prst="ellipse">
            <a:avLst/>
          </a:prstGeom>
          <a:solidFill>
            <a:srgbClr val="E0A526"/>
          </a:solidFill>
          <a:ln/>
        </p:spPr>
      </p:sp>
      <p:sp>
        <p:nvSpPr>
          <p:cNvPr id="27" name="Text 25"/>
          <p:cNvSpPr txBox="1"/>
          <p:nvPr/>
        </p:nvSpPr>
        <p:spPr>
          <a:xfrm>
            <a:off x="6519672" y="3456432"/>
            <a:ext cx="48737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What it actually changes</a:t>
            </a:r>
            <a:endParaRPr lang="en-US" sz="1350" dirty="0"/>
          </a:p>
        </p:txBody>
      </p:sp>
      <p:sp>
        <p:nvSpPr>
          <p:cNvPr id="28" name="Text 26"/>
          <p:cNvSpPr txBox="1"/>
          <p:nvPr/>
        </p:nvSpPr>
        <p:spPr>
          <a:xfrm>
            <a:off x="6281928" y="3785616"/>
            <a:ext cx="5111496"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no-evidence path. A company that never mentions an activity is normally excluded at full confidence with zero LLM calls. With this tier on, one whose industry shows structural exposure above the threshold (0.3 by default) is routed to review instead of silently dropped.</a:t>
            </a:r>
            <a:endParaRPr lang="en-US" sz="1050" dirty="0"/>
          </a:p>
        </p:txBody>
      </p:sp>
      <p:sp>
        <p:nvSpPr>
          <p:cNvPr id="29" name="Shape 27"/>
          <p:cNvSpPr/>
          <p:nvPr/>
        </p:nvSpPr>
        <p:spPr>
          <a:xfrm>
            <a:off x="6080760" y="4754880"/>
            <a:ext cx="5513832" cy="1280160"/>
          </a:xfrm>
          <a:prstGeom prst="roundRect">
            <a:avLst>
              <a:gd name="adj" fmla="val 4286"/>
            </a:avLst>
          </a:prstGeom>
          <a:solidFill>
            <a:srgbClr val="FFFFFF"/>
          </a:solidFill>
          <a:ln w="12700">
            <a:solidFill>
              <a:srgbClr val="DBE4EC"/>
            </a:solidFill>
            <a:prstDash val="solid"/>
          </a:ln>
        </p:spPr>
      </p:sp>
      <p:sp>
        <p:nvSpPr>
          <p:cNvPr id="30" name="Shape 28"/>
          <p:cNvSpPr/>
          <p:nvPr/>
        </p:nvSpPr>
        <p:spPr>
          <a:xfrm>
            <a:off x="6281928" y="4992624"/>
            <a:ext cx="118872" cy="118872"/>
          </a:xfrm>
          <a:prstGeom prst="ellipse">
            <a:avLst/>
          </a:prstGeom>
          <a:solidFill>
            <a:srgbClr val="E0A526"/>
          </a:solidFill>
          <a:ln/>
        </p:spPr>
      </p:sp>
      <p:sp>
        <p:nvSpPr>
          <p:cNvPr id="31" name="Text 29"/>
          <p:cNvSpPr txBox="1"/>
          <p:nvPr/>
        </p:nvSpPr>
        <p:spPr>
          <a:xfrm>
            <a:off x="6519672" y="4919472"/>
            <a:ext cx="48737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Bring your own table</a:t>
            </a:r>
            <a:endParaRPr lang="en-US" sz="1350" dirty="0"/>
          </a:p>
        </p:txBody>
      </p:sp>
      <p:sp>
        <p:nvSpPr>
          <p:cNvPr id="32" name="Text 30"/>
          <p:cNvSpPr txBox="1"/>
          <p:nvPr/>
        </p:nvSpPr>
        <p:spPr>
          <a:xfrm>
            <a:off x="6281928" y="5248656"/>
            <a:ext cx="5111496"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loader expects a pre-aggregated industry × industry matrix plus total output per industry — not the raw multi-hundred-megabyte OECD release. A small illustrative sample ships for demos and tests.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07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Input-output: the classification around the maths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Two cheap, one-off classification steps bracket a computation that has no model in it at all.</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Load the model — </a:t>
            </a:r>
            <a:pPr indent="0" marL="0">
              <a:buNone/>
            </a:pPr>
            <a:r>
              <a:rPr lang="en-US" sz="1050" dirty="0">
                <a:solidFill>
                  <a:srgbClr val="5A6B78"/>
                </a:solidFill>
                <a:latin typeface="Calibri" pitchFamily="34" charset="0"/>
                <a:ea typeface="Calibri" pitchFamily="34" charset="-122"/>
                <a:cs typeface="Calibri" pitchFamily="34" charset="-120"/>
              </a:rPr>
              <a:t>industries.csv (isic_code, label, total_output) and a square icio_matrix.csv of intermediate flows are read once per run; a sample dataset ships for demos.</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Build the coefficients — </a:t>
            </a:r>
            <a:pPr indent="0" marL="0">
              <a:buNone/>
            </a:pPr>
            <a:r>
              <a:rPr lang="en-US" sz="1050" dirty="0">
                <a:solidFill>
                  <a:srgbClr val="5A6B78"/>
                </a:solidFill>
                <a:latin typeface="Calibri" pitchFamily="34" charset="0"/>
                <a:ea typeface="Calibri" pitchFamily="34" charset="-122"/>
                <a:cs typeface="Calibri" pitchFamily="34" charset="-120"/>
              </a:rPr>
              <a:t>A[i,j] = flow[i,j] / total_output[j] — the standard formula, needing no separate final-demand series because total output is supplied per industry.</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Invert once — </a:t>
            </a:r>
            <a:pPr indent="0" marL="0">
              <a:buNone/>
            </a:pPr>
            <a:r>
              <a:rPr lang="en-US" sz="1050" dirty="0">
                <a:solidFill>
                  <a:srgbClr val="5A6B78"/>
                </a:solidFill>
                <a:latin typeface="Calibri" pitchFamily="34" charset="0"/>
                <a:ea typeface="Calibri" pitchFamily="34" charset="-122"/>
                <a:cs typeface="Calibri" pitchFamily="34" charset="-120"/>
              </a:rPr>
              <a:t>the Leontief inverse of that matrix is computed a single time per run, not once per company — the expensive step happens once.</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Map activities to sectors — </a:t>
            </a:r>
            <a:pPr indent="0" marL="0">
              <a:buNone/>
            </a:pPr>
            <a:r>
              <a:rPr lang="en-US" sz="1050" dirty="0">
                <a:solidFill>
                  <a:srgbClr val="5A6B78"/>
                </a:solidFill>
                <a:latin typeface="Calibri" pitchFamily="34" charset="0"/>
                <a:ea typeface="Calibri" pitchFamily="34" charset="-122"/>
                <a:cs typeface="Calibri" pitchFamily="34" charset="-120"/>
              </a:rPr>
              <a:t>each taxonomy activity is mapped to the model's ISIC codes — one LLM call per activity, or zero when supplied by hand via arp theme classify-sectors.</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Map the company to a sector — </a:t>
            </a:r>
            <a:pPr indent="0" marL="0">
              <a:buNone/>
            </a:pPr>
            <a:r>
              <a:rPr lang="en-US" sz="1050" dirty="0">
                <a:solidFill>
                  <a:srgbClr val="5A6B78"/>
                </a:solidFill>
                <a:latin typeface="Calibri" pitchFamily="34" charset="0"/>
                <a:ea typeface="Calibri" pitchFamily="34" charset="-122"/>
                <a:cs typeface="Calibri" pitchFamily="34" charset="-120"/>
              </a:rPr>
              <a:t>the universe row's isic_code is the precise, zero-cost path; otherwise one fallback call classifies against the model's fixed, closed industry list.</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Reject, never coerce — </a:t>
            </a:r>
            <a:pPr indent="0" marL="0">
              <a:buNone/>
            </a:pPr>
            <a:r>
              <a:rPr lang="en-US" sz="1050" dirty="0">
                <a:solidFill>
                  <a:srgbClr val="5A6B78"/>
                </a:solidFill>
                <a:latin typeface="Calibri" pitchFamily="34" charset="0"/>
                <a:ea typeface="Calibri" pitchFamily="34" charset="-122"/>
                <a:cs typeface="Calibri" pitchFamily="34" charset="-120"/>
              </a:rPr>
              <a:t>a code the loaded model does not actually contain is rejected outright, because a wrong industry code would corrupt every number computed from it.</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Attach and route — </a:t>
            </a:r>
            <a:pPr indent="0" marL="0">
              <a:buNone/>
            </a:pPr>
            <a:r>
              <a:rPr lang="en-US" sz="1050" dirty="0">
                <a:solidFill>
                  <a:srgbClr val="5A6B78"/>
                </a:solidFill>
                <a:latin typeface="Calibri" pitchFamily="34" charset="0"/>
                <a:ea typeface="Calibri" pitchFamily="34" charset="-122"/>
                <a:cs typeface="Calibri" pitchFamily="34" charset="-120"/>
              </a:rPr>
              <a:t>upstream and downstream exposure are attached to CompanyMatch.indirect_exposure; above the review threshold, a no-evidence company is queued rather than excluded.</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arp/research/indirect_exposure/leontief.py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arp/research/indirect_exposure/icio_loader.py, factory.py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arp/research/indirect_exposure/core_sectors.py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arp/research/indirect_exposure/company_mapper.py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sample_data/ (10 industries, real ISIC Rev.4 codes)</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ICIO matrix + industries table, a taxonomy, a company universe.</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IndirectExposureResult (upstream, downstream) on each CompanyMatch.</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Classification is one-time per activity and per company, not per pair.</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ARP_ICIO_* paths or --use-sample-icio; off entirely when unset.</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Results are labelled structural, never presented as disclosed exposure.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08   ·   TRANSITION PLAN ASSESSMENT</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Walk versus talk</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direct replication of Colesanti Senni, Schimanski, Bingler, Ni &amp; Leippold (2024) — with citations checked rather than trusted.</a:t>
            </a:r>
            <a:endParaRPr lang="en-US" sz="1400" dirty="0"/>
          </a:p>
        </p:txBody>
      </p:sp>
      <p:sp>
        <p:nvSpPr>
          <p:cNvPr id="5" name="Shape 3"/>
          <p:cNvSpPr/>
          <p:nvPr/>
        </p:nvSpPr>
        <p:spPr>
          <a:xfrm>
            <a:off x="594360" y="1828800"/>
            <a:ext cx="2031797" cy="1188720"/>
          </a:xfrm>
          <a:prstGeom prst="roundRect">
            <a:avLst>
              <a:gd name="adj" fmla="val 4615"/>
            </a:avLst>
          </a:prstGeom>
          <a:solidFill>
            <a:srgbClr val="F1F5F9"/>
          </a:solidFill>
          <a:ln w="12700">
            <a:solidFill>
              <a:srgbClr val="DBE4EC"/>
            </a:solidFill>
            <a:prstDash val="solid"/>
          </a:ln>
        </p:spPr>
      </p:sp>
      <p:sp>
        <p:nvSpPr>
          <p:cNvPr id="6" name="Shape 4"/>
          <p:cNvSpPr/>
          <p:nvPr/>
        </p:nvSpPr>
        <p:spPr>
          <a:xfrm>
            <a:off x="749808" y="1965960"/>
            <a:ext cx="310896" cy="310896"/>
          </a:xfrm>
          <a:prstGeom prst="ellipse">
            <a:avLst/>
          </a:prstGeom>
          <a:solidFill>
            <a:srgbClr val="1C7293"/>
          </a:solidFill>
          <a:ln/>
        </p:spPr>
      </p:sp>
      <p:sp>
        <p:nvSpPr>
          <p:cNvPr id="7" name="Text 5"/>
          <p:cNvSpPr txBox="1"/>
          <p:nvPr/>
        </p:nvSpPr>
        <p:spPr>
          <a:xfrm>
            <a:off x="749808"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43000"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Load</a:t>
            </a:r>
            <a:endParaRPr lang="en-US" sz="1350" dirty="0"/>
          </a:p>
        </p:txBody>
      </p:sp>
      <p:sp>
        <p:nvSpPr>
          <p:cNvPr id="9" name="Text 7"/>
          <p:cNvSpPr txBox="1"/>
          <p:nvPr/>
        </p:nvSpPr>
        <p:spPr>
          <a:xfrm>
            <a:off x="749808"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64 fixed indicators, verbatim from the paper's own reference implementation.</a:t>
            </a:r>
            <a:endParaRPr lang="en-US" sz="950" dirty="0"/>
          </a:p>
        </p:txBody>
      </p:sp>
      <p:sp>
        <p:nvSpPr>
          <p:cNvPr id="10" name="Text 8"/>
          <p:cNvSpPr txBox="1"/>
          <p:nvPr/>
        </p:nvSpPr>
        <p:spPr>
          <a:xfrm>
            <a:off x="2626157"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2836469" y="1828800"/>
            <a:ext cx="2031797" cy="1188720"/>
          </a:xfrm>
          <a:prstGeom prst="roundRect">
            <a:avLst>
              <a:gd name="adj" fmla="val 4615"/>
            </a:avLst>
          </a:prstGeom>
          <a:solidFill>
            <a:srgbClr val="F1F5F9"/>
          </a:solidFill>
          <a:ln w="12700">
            <a:solidFill>
              <a:srgbClr val="DBE4EC"/>
            </a:solidFill>
            <a:prstDash val="solid"/>
          </a:ln>
        </p:spPr>
      </p:sp>
      <p:sp>
        <p:nvSpPr>
          <p:cNvPr id="12" name="Shape 10"/>
          <p:cNvSpPr/>
          <p:nvPr/>
        </p:nvSpPr>
        <p:spPr>
          <a:xfrm>
            <a:off x="2991917" y="1965960"/>
            <a:ext cx="310896" cy="310896"/>
          </a:xfrm>
          <a:prstGeom prst="ellipse">
            <a:avLst/>
          </a:prstGeom>
          <a:solidFill>
            <a:srgbClr val="1C7293"/>
          </a:solidFill>
          <a:ln/>
        </p:spPr>
      </p:sp>
      <p:sp>
        <p:nvSpPr>
          <p:cNvPr id="13" name="Text 11"/>
          <p:cNvSpPr txBox="1"/>
          <p:nvPr/>
        </p:nvSpPr>
        <p:spPr>
          <a:xfrm>
            <a:off x="2991917"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3385109"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Retrieve</a:t>
            </a:r>
            <a:endParaRPr lang="en-US" sz="1350" dirty="0"/>
          </a:p>
        </p:txBody>
      </p:sp>
      <p:sp>
        <p:nvSpPr>
          <p:cNvPr id="15" name="Text 13"/>
          <p:cNvSpPr txBox="1"/>
          <p:nvPr/>
        </p:nvSpPr>
        <p:spPr>
          <a:xfrm>
            <a:off x="2991917"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Top-8 chunks per indicator, always — so a silent report can answer NA.</a:t>
            </a:r>
            <a:endParaRPr lang="en-US" sz="950" dirty="0"/>
          </a:p>
        </p:txBody>
      </p:sp>
      <p:sp>
        <p:nvSpPr>
          <p:cNvPr id="16" name="Text 14"/>
          <p:cNvSpPr txBox="1"/>
          <p:nvPr/>
        </p:nvSpPr>
        <p:spPr>
          <a:xfrm>
            <a:off x="4868266"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5078578" y="1828800"/>
            <a:ext cx="2031797" cy="1188720"/>
          </a:xfrm>
          <a:prstGeom prst="roundRect">
            <a:avLst>
              <a:gd name="adj" fmla="val 4615"/>
            </a:avLst>
          </a:prstGeom>
          <a:solidFill>
            <a:srgbClr val="F1F5F9"/>
          </a:solidFill>
          <a:ln w="12700">
            <a:solidFill>
              <a:srgbClr val="DBE4EC"/>
            </a:solidFill>
            <a:prstDash val="solid"/>
          </a:ln>
        </p:spPr>
      </p:sp>
      <p:sp>
        <p:nvSpPr>
          <p:cNvPr id="18" name="Shape 16"/>
          <p:cNvSpPr/>
          <p:nvPr/>
        </p:nvSpPr>
        <p:spPr>
          <a:xfrm>
            <a:off x="5234026" y="1965960"/>
            <a:ext cx="310896" cy="310896"/>
          </a:xfrm>
          <a:prstGeom prst="ellipse">
            <a:avLst/>
          </a:prstGeom>
          <a:solidFill>
            <a:srgbClr val="1C7293"/>
          </a:solidFill>
          <a:ln/>
        </p:spPr>
      </p:sp>
      <p:sp>
        <p:nvSpPr>
          <p:cNvPr id="19" name="Text 17"/>
          <p:cNvSpPr txBox="1"/>
          <p:nvPr/>
        </p:nvSpPr>
        <p:spPr>
          <a:xfrm>
            <a:off x="5234026"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5627218"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Judge</a:t>
            </a:r>
            <a:endParaRPr lang="en-US" sz="1350" dirty="0"/>
          </a:p>
        </p:txBody>
      </p:sp>
      <p:sp>
        <p:nvSpPr>
          <p:cNvPr id="21" name="Text 19"/>
          <p:cNvSpPr txBox="1"/>
          <p:nvPr/>
        </p:nvSpPr>
        <p:spPr>
          <a:xfrm>
            <a:off x="5234026"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One call per indicator in the paper's analyst persona, sceptical of cheap talk.</a:t>
            </a:r>
            <a:endParaRPr lang="en-US" sz="950" dirty="0"/>
          </a:p>
        </p:txBody>
      </p:sp>
      <p:sp>
        <p:nvSpPr>
          <p:cNvPr id="22" name="Text 20"/>
          <p:cNvSpPr txBox="1"/>
          <p:nvPr/>
        </p:nvSpPr>
        <p:spPr>
          <a:xfrm>
            <a:off x="7110374"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7320686" y="1828800"/>
            <a:ext cx="2031797" cy="1188720"/>
          </a:xfrm>
          <a:prstGeom prst="roundRect">
            <a:avLst>
              <a:gd name="adj" fmla="val 4615"/>
            </a:avLst>
          </a:prstGeom>
          <a:solidFill>
            <a:srgbClr val="F1F5F9"/>
          </a:solidFill>
          <a:ln w="12700">
            <a:solidFill>
              <a:srgbClr val="DBE4EC"/>
            </a:solidFill>
            <a:prstDash val="solid"/>
          </a:ln>
        </p:spPr>
      </p:sp>
      <p:sp>
        <p:nvSpPr>
          <p:cNvPr id="24" name="Shape 22"/>
          <p:cNvSpPr/>
          <p:nvPr/>
        </p:nvSpPr>
        <p:spPr>
          <a:xfrm>
            <a:off x="7476134" y="1965960"/>
            <a:ext cx="310896" cy="310896"/>
          </a:xfrm>
          <a:prstGeom prst="ellipse">
            <a:avLst/>
          </a:prstGeom>
          <a:solidFill>
            <a:srgbClr val="1C7293"/>
          </a:solidFill>
          <a:ln/>
        </p:spPr>
      </p:sp>
      <p:sp>
        <p:nvSpPr>
          <p:cNvPr id="25" name="Text 23"/>
          <p:cNvSpPr txBox="1"/>
          <p:nvPr/>
        </p:nvSpPr>
        <p:spPr>
          <a:xfrm>
            <a:off x="7476134"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4"/>
          <p:cNvSpPr txBox="1"/>
          <p:nvPr/>
        </p:nvSpPr>
        <p:spPr>
          <a:xfrm>
            <a:off x="7869326"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Ground</a:t>
            </a:r>
            <a:endParaRPr lang="en-US" sz="1350" dirty="0"/>
          </a:p>
        </p:txBody>
      </p:sp>
      <p:sp>
        <p:nvSpPr>
          <p:cNvPr id="27" name="Text 25"/>
          <p:cNvSpPr txBox="1"/>
          <p:nvPr/>
        </p:nvSpPr>
        <p:spPr>
          <a:xfrm>
            <a:off x="7476134"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Every citation re-verified against the source document, in code.</a:t>
            </a:r>
            <a:endParaRPr lang="en-US" sz="950" dirty="0"/>
          </a:p>
        </p:txBody>
      </p:sp>
      <p:sp>
        <p:nvSpPr>
          <p:cNvPr id="28" name="Text 26"/>
          <p:cNvSpPr txBox="1"/>
          <p:nvPr/>
        </p:nvSpPr>
        <p:spPr>
          <a:xfrm>
            <a:off x="9352483" y="2212848"/>
            <a:ext cx="210312" cy="365760"/>
          </a:xfrm>
          <a:prstGeom prst="rect">
            <a:avLst/>
          </a:prstGeom>
          <a:noFill/>
          <a:ln/>
        </p:spPr>
        <p:txBody>
          <a:bodyPr wrap="square" lIns="0" tIns="0" rIns="0" bIns="0" rtlCol="0" anchor="ctr"/>
          <a:lstStyle/>
          <a:p>
            <a:pPr algn="ctr" indent="0" marL="0">
              <a:buNone/>
            </a:pPr>
            <a:r>
              <a:rPr lang="en-US" sz="1800" b="1" dirty="0">
                <a:solidFill>
                  <a:srgbClr val="2E8BA8"/>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562795" y="1828800"/>
            <a:ext cx="2031797" cy="1188720"/>
          </a:xfrm>
          <a:prstGeom prst="roundRect">
            <a:avLst>
              <a:gd name="adj" fmla="val 4615"/>
            </a:avLst>
          </a:prstGeom>
          <a:solidFill>
            <a:srgbClr val="F1F5F9"/>
          </a:solidFill>
          <a:ln w="12700">
            <a:solidFill>
              <a:srgbClr val="DBE4EC"/>
            </a:solidFill>
            <a:prstDash val="solid"/>
          </a:ln>
        </p:spPr>
      </p:sp>
      <p:sp>
        <p:nvSpPr>
          <p:cNvPr id="30" name="Shape 28"/>
          <p:cNvSpPr/>
          <p:nvPr/>
        </p:nvSpPr>
        <p:spPr>
          <a:xfrm>
            <a:off x="9718243" y="1965960"/>
            <a:ext cx="310896" cy="310896"/>
          </a:xfrm>
          <a:prstGeom prst="ellipse">
            <a:avLst/>
          </a:prstGeom>
          <a:solidFill>
            <a:srgbClr val="1C7293"/>
          </a:solidFill>
          <a:ln/>
        </p:spPr>
      </p:sp>
      <p:sp>
        <p:nvSpPr>
          <p:cNvPr id="31" name="Text 29"/>
          <p:cNvSpPr txBox="1"/>
          <p:nvPr/>
        </p:nvSpPr>
        <p:spPr>
          <a:xfrm>
            <a:off x="9718243" y="19796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2" name="Text 30"/>
          <p:cNvSpPr txBox="1"/>
          <p:nvPr/>
        </p:nvSpPr>
        <p:spPr>
          <a:xfrm>
            <a:off x="10111435" y="1965960"/>
            <a:ext cx="1345997" cy="310896"/>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Score</a:t>
            </a:r>
            <a:endParaRPr lang="en-US" sz="1350" dirty="0"/>
          </a:p>
        </p:txBody>
      </p:sp>
      <p:sp>
        <p:nvSpPr>
          <p:cNvPr id="33" name="Text 31"/>
          <p:cNvSpPr txBox="1"/>
          <p:nvPr/>
        </p:nvSpPr>
        <p:spPr>
          <a:xfrm>
            <a:off x="9718243" y="2359152"/>
            <a:ext cx="1720901" cy="548640"/>
          </a:xfrm>
          <a:prstGeom prst="rect">
            <a:avLst/>
          </a:prstGeom>
          <a:noFill/>
          <a:ln/>
        </p:spPr>
        <p:txBody>
          <a:bodyPr wrap="square" lIns="0" tIns="0" rIns="0" bIns="0" rtlCol="0" anchor="ctr"/>
          <a:lstStyle/>
          <a:p>
            <a:pPr indent="0" marL="0">
              <a:lnSpc>
                <a:spcPct val="100000"/>
              </a:lnSpc>
              <a:buNone/>
            </a:pPr>
            <a:r>
              <a:rPr lang="en-US" sz="950" dirty="0">
                <a:solidFill>
                  <a:srgbClr val="5A6B78"/>
                </a:solidFill>
                <a:latin typeface="Calibri" pitchFamily="34" charset="0"/>
                <a:ea typeface="Calibri" pitchFamily="34" charset="-122"/>
                <a:cs typeface="Calibri" pitchFamily="34" charset="-120"/>
              </a:rPr>
              <a:t>A walk/talk grid and the disclosed-count-out-of-64 metric.</a:t>
            </a:r>
            <a:endParaRPr lang="en-US" sz="950" dirty="0"/>
          </a:p>
        </p:txBody>
      </p:sp>
      <p:sp>
        <p:nvSpPr>
          <p:cNvPr id="34" name="Shape 32"/>
          <p:cNvSpPr/>
          <p:nvPr/>
        </p:nvSpPr>
        <p:spPr>
          <a:xfrm>
            <a:off x="594360" y="3337560"/>
            <a:ext cx="3456432" cy="1371600"/>
          </a:xfrm>
          <a:prstGeom prst="roundRect">
            <a:avLst>
              <a:gd name="adj" fmla="val 4000"/>
            </a:avLst>
          </a:prstGeom>
          <a:solidFill>
            <a:srgbClr val="FFFFFF"/>
          </a:solidFill>
          <a:ln w="12700">
            <a:solidFill>
              <a:srgbClr val="DBE4EC"/>
            </a:solidFill>
            <a:prstDash val="solid"/>
          </a:ln>
        </p:spPr>
      </p:sp>
      <p:sp>
        <p:nvSpPr>
          <p:cNvPr id="35" name="Shape 33"/>
          <p:cNvSpPr/>
          <p:nvPr/>
        </p:nvSpPr>
        <p:spPr>
          <a:xfrm>
            <a:off x="795528" y="3575304"/>
            <a:ext cx="118872" cy="118872"/>
          </a:xfrm>
          <a:prstGeom prst="ellipse">
            <a:avLst/>
          </a:prstGeom>
          <a:solidFill>
            <a:srgbClr val="E0A526"/>
          </a:solidFill>
          <a:ln/>
        </p:spPr>
      </p:sp>
      <p:sp>
        <p:nvSpPr>
          <p:cNvPr id="36" name="Text 34"/>
          <p:cNvSpPr txBox="1"/>
          <p:nvPr/>
        </p:nvSpPr>
        <p:spPr>
          <a:xfrm>
            <a:off x="10332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Four categories, two kinds of claim</a:t>
            </a:r>
            <a:endParaRPr lang="en-US" sz="1350" dirty="0"/>
          </a:p>
        </p:txBody>
      </p:sp>
      <p:sp>
        <p:nvSpPr>
          <p:cNvPr id="37" name="Text 35"/>
          <p:cNvSpPr txBox="1"/>
          <p:nvPr/>
        </p:nvSpPr>
        <p:spPr>
          <a:xfrm>
            <a:off x="7955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Target, Governance, Strategy and Tracking indicators, each classified as talk (future targets, general approach) or walk (concrete, already-verifiable activity).</a:t>
            </a:r>
            <a:endParaRPr lang="en-US" sz="1050" dirty="0"/>
          </a:p>
        </p:txBody>
      </p:sp>
      <p:sp>
        <p:nvSpPr>
          <p:cNvPr id="38" name="Shape 36"/>
          <p:cNvSpPr/>
          <p:nvPr/>
        </p:nvSpPr>
        <p:spPr>
          <a:xfrm>
            <a:off x="4251960" y="3337560"/>
            <a:ext cx="3456432" cy="1371600"/>
          </a:xfrm>
          <a:prstGeom prst="roundRect">
            <a:avLst>
              <a:gd name="adj" fmla="val 4000"/>
            </a:avLst>
          </a:prstGeom>
          <a:solidFill>
            <a:srgbClr val="FFFFFF"/>
          </a:solidFill>
          <a:ln w="12700">
            <a:solidFill>
              <a:srgbClr val="DBE4EC"/>
            </a:solidFill>
            <a:prstDash val="solid"/>
          </a:ln>
        </p:spPr>
      </p:sp>
      <p:sp>
        <p:nvSpPr>
          <p:cNvPr id="39" name="Shape 37"/>
          <p:cNvSpPr/>
          <p:nvPr/>
        </p:nvSpPr>
        <p:spPr>
          <a:xfrm>
            <a:off x="4453128" y="3575304"/>
            <a:ext cx="118872" cy="118872"/>
          </a:xfrm>
          <a:prstGeom prst="ellipse">
            <a:avLst/>
          </a:prstGeom>
          <a:solidFill>
            <a:srgbClr val="E0A526"/>
          </a:solidFill>
          <a:ln/>
        </p:spPr>
      </p:sp>
      <p:sp>
        <p:nvSpPr>
          <p:cNvPr id="40" name="Text 38"/>
          <p:cNvSpPr txBox="1"/>
          <p:nvPr/>
        </p:nvSpPr>
        <p:spPr>
          <a:xfrm>
            <a:off x="4690872" y="350215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The paper's headline finding</a:t>
            </a:r>
            <a:endParaRPr lang="en-US" sz="1350" dirty="0"/>
          </a:p>
        </p:txBody>
      </p:sp>
      <p:sp>
        <p:nvSpPr>
          <p:cNvPr id="41" name="Text 39"/>
          <p:cNvSpPr txBox="1"/>
          <p:nvPr/>
        </p:nvSpPr>
        <p:spPr>
          <a:xfrm>
            <a:off x="4453128" y="383133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Applied to 143 Climate Action 100+ companies, disclosure skewed heavily toward talk and away from walk. The metric is reproduced per company here.</a:t>
            </a:r>
            <a:endParaRPr lang="en-US" sz="1050" dirty="0"/>
          </a:p>
        </p:txBody>
      </p:sp>
      <p:sp>
        <p:nvSpPr>
          <p:cNvPr id="42" name="Shape 40"/>
          <p:cNvSpPr/>
          <p:nvPr/>
        </p:nvSpPr>
        <p:spPr>
          <a:xfrm>
            <a:off x="594360" y="4892040"/>
            <a:ext cx="3456432" cy="1371600"/>
          </a:xfrm>
          <a:prstGeom prst="roundRect">
            <a:avLst>
              <a:gd name="adj" fmla="val 4000"/>
            </a:avLst>
          </a:prstGeom>
          <a:solidFill>
            <a:srgbClr val="FFFFFF"/>
          </a:solidFill>
          <a:ln w="12700">
            <a:solidFill>
              <a:srgbClr val="DBE4EC"/>
            </a:solidFill>
            <a:prstDash val="solid"/>
          </a:ln>
        </p:spPr>
      </p:sp>
      <p:sp>
        <p:nvSpPr>
          <p:cNvPr id="43" name="Shape 41"/>
          <p:cNvSpPr/>
          <p:nvPr/>
        </p:nvSpPr>
        <p:spPr>
          <a:xfrm>
            <a:off x="795528" y="5129784"/>
            <a:ext cx="118872" cy="118872"/>
          </a:xfrm>
          <a:prstGeom prst="ellipse">
            <a:avLst/>
          </a:prstGeom>
          <a:solidFill>
            <a:srgbClr val="E0A526"/>
          </a:solidFill>
          <a:ln/>
        </p:spPr>
      </p:sp>
      <p:sp>
        <p:nvSpPr>
          <p:cNvPr id="44" name="Text 42"/>
          <p:cNvSpPr txBox="1"/>
          <p:nvPr/>
        </p:nvSpPr>
        <p:spPr>
          <a:xfrm>
            <a:off x="10332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Deviation 1: grounding</a:t>
            </a:r>
            <a:endParaRPr lang="en-US" sz="1350" dirty="0"/>
          </a:p>
        </p:txBody>
      </p:sp>
      <p:sp>
        <p:nvSpPr>
          <p:cNvPr id="45" name="Text 43"/>
          <p:cNvSpPr txBox="1"/>
          <p:nvPr/>
        </p:nvSpPr>
        <p:spPr>
          <a:xfrm>
            <a:off x="7955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paper's tool asks the model which source chunk it used. This asks for verbatim quotes and re-verifies each one; an ungrounded YES/NO goes to review instead of being accepted.</a:t>
            </a:r>
            <a:endParaRPr lang="en-US" sz="1050" dirty="0"/>
          </a:p>
        </p:txBody>
      </p:sp>
      <p:sp>
        <p:nvSpPr>
          <p:cNvPr id="46" name="Shape 44"/>
          <p:cNvSpPr/>
          <p:nvPr/>
        </p:nvSpPr>
        <p:spPr>
          <a:xfrm>
            <a:off x="4251960" y="4892040"/>
            <a:ext cx="3456432" cy="1371600"/>
          </a:xfrm>
          <a:prstGeom prst="roundRect">
            <a:avLst>
              <a:gd name="adj" fmla="val 4000"/>
            </a:avLst>
          </a:prstGeom>
          <a:solidFill>
            <a:srgbClr val="FFFFFF"/>
          </a:solidFill>
          <a:ln w="12700">
            <a:solidFill>
              <a:srgbClr val="DBE4EC"/>
            </a:solidFill>
            <a:prstDash val="solid"/>
          </a:ln>
        </p:spPr>
      </p:sp>
      <p:sp>
        <p:nvSpPr>
          <p:cNvPr id="47" name="Shape 45"/>
          <p:cNvSpPr/>
          <p:nvPr/>
        </p:nvSpPr>
        <p:spPr>
          <a:xfrm>
            <a:off x="4453128" y="5129784"/>
            <a:ext cx="118872" cy="118872"/>
          </a:xfrm>
          <a:prstGeom prst="ellipse">
            <a:avLst/>
          </a:prstGeom>
          <a:solidFill>
            <a:srgbClr val="E0A526"/>
          </a:solidFill>
          <a:ln/>
        </p:spPr>
      </p:sp>
      <p:sp>
        <p:nvSpPr>
          <p:cNvPr id="48" name="Text 46"/>
          <p:cNvSpPr txBox="1"/>
          <p:nvPr/>
        </p:nvSpPr>
        <p:spPr>
          <a:xfrm>
            <a:off x="4690872" y="5056632"/>
            <a:ext cx="28163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Deviation 2: retrieval</a:t>
            </a:r>
            <a:endParaRPr lang="en-US" sz="1350" dirty="0"/>
          </a:p>
        </p:txBody>
      </p:sp>
      <p:sp>
        <p:nvSpPr>
          <p:cNvPr id="49" name="Text 47"/>
          <p:cNvSpPr txBox="1"/>
          <p:nvPr/>
        </p:nvSpPr>
        <p:spPr>
          <a:xfrm>
            <a:off x="4453128" y="5385816"/>
            <a:ext cx="3054096" cy="7498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BM25 instead of the paper's OpenAI embeddings — behaviourally equivalent top-8 retrieval, consistent with the rest of this codebase, and no extra API cost.</a:t>
            </a:r>
            <a:endParaRPr lang="en-US" sz="1050" dirty="0"/>
          </a:p>
        </p:txBody>
      </p:sp>
      <p:sp>
        <p:nvSpPr>
          <p:cNvPr id="50" name="Shape 48"/>
          <p:cNvSpPr/>
          <p:nvPr/>
        </p:nvSpPr>
        <p:spPr>
          <a:xfrm>
            <a:off x="7909560" y="3337560"/>
            <a:ext cx="3685032" cy="2926080"/>
          </a:xfrm>
          <a:prstGeom prst="roundRect">
            <a:avLst>
              <a:gd name="adj" fmla="val 1875"/>
            </a:avLst>
          </a:prstGeom>
          <a:solidFill>
            <a:srgbClr val="10243A"/>
          </a:solidFill>
          <a:ln/>
        </p:spPr>
      </p:sp>
      <p:sp>
        <p:nvSpPr>
          <p:cNvPr id="51" name="Text 49"/>
          <p:cNvSpPr txBox="1"/>
          <p:nvPr/>
        </p:nvSpPr>
        <p:spPr>
          <a:xfrm>
            <a:off x="8183880" y="3538728"/>
            <a:ext cx="3136392" cy="219456"/>
          </a:xfrm>
          <a:prstGeom prst="rect">
            <a:avLst/>
          </a:prstGeom>
          <a:noFill/>
          <a:ln/>
        </p:spPr>
        <p:txBody>
          <a:bodyPr wrap="square" lIns="0" tIns="0" rIns="0" bIns="0" rtlCol="0" anchor="ctr"/>
          <a:lstStyle/>
          <a:p>
            <a:pPr indent="0" marL="0">
              <a:buNone/>
            </a:pPr>
            <a:r>
              <a:rPr lang="en-US" sz="950" b="1" spc="160" kern="0" dirty="0">
                <a:solidFill>
                  <a:srgbClr val="B9CDDD"/>
                </a:solidFill>
                <a:latin typeface="Calibri" pitchFamily="34" charset="0"/>
                <a:ea typeface="Calibri" pitchFamily="34" charset="-122"/>
                <a:cs typeface="Calibri" pitchFamily="34" charset="-120"/>
              </a:rPr>
              <a:t>PER COMPANY</a:t>
            </a:r>
            <a:endParaRPr lang="en-US" sz="950" dirty="0"/>
          </a:p>
        </p:txBody>
      </p:sp>
      <p:sp>
        <p:nvSpPr>
          <p:cNvPr id="52" name="Text 50"/>
          <p:cNvSpPr txBox="1"/>
          <p:nvPr/>
        </p:nvSpPr>
        <p:spPr>
          <a:xfrm>
            <a:off x="8183880" y="3886200"/>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64</a:t>
            </a:r>
            <a:endParaRPr lang="en-US" sz="2400" dirty="0"/>
          </a:p>
        </p:txBody>
      </p:sp>
      <p:sp>
        <p:nvSpPr>
          <p:cNvPr id="53" name="Text 51"/>
          <p:cNvSpPr txBox="1"/>
          <p:nvPr/>
        </p:nvSpPr>
        <p:spPr>
          <a:xfrm>
            <a:off x="8915400" y="3867912"/>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indicators answered YES / NO / NA, each with an explanation</a:t>
            </a:r>
            <a:endParaRPr lang="en-US" sz="950" dirty="0"/>
          </a:p>
        </p:txBody>
      </p:sp>
      <p:sp>
        <p:nvSpPr>
          <p:cNvPr id="54" name="Text 52"/>
          <p:cNvSpPr txBox="1"/>
          <p:nvPr/>
        </p:nvSpPr>
        <p:spPr>
          <a:xfrm>
            <a:off x="8183880" y="4791456"/>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1</a:t>
            </a:r>
            <a:endParaRPr lang="en-US" sz="2400" dirty="0"/>
          </a:p>
        </p:txBody>
      </p:sp>
      <p:sp>
        <p:nvSpPr>
          <p:cNvPr id="55" name="Text 53"/>
          <p:cNvSpPr txBox="1"/>
          <p:nvPr/>
        </p:nvSpPr>
        <p:spPr>
          <a:xfrm>
            <a:off x="8915400" y="4773168"/>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LLM call per indicator — single-pass, as the paper's tool is</a:t>
            </a:r>
            <a:endParaRPr lang="en-US" sz="950" dirty="0"/>
          </a:p>
        </p:txBody>
      </p:sp>
      <p:sp>
        <p:nvSpPr>
          <p:cNvPr id="56" name="Text 54"/>
          <p:cNvSpPr txBox="1"/>
          <p:nvPr/>
        </p:nvSpPr>
        <p:spPr>
          <a:xfrm>
            <a:off x="8183880" y="5696712"/>
            <a:ext cx="685800" cy="411480"/>
          </a:xfrm>
          <a:prstGeom prst="rect">
            <a:avLst/>
          </a:prstGeom>
          <a:noFill/>
          <a:ln/>
        </p:spPr>
        <p:txBody>
          <a:bodyPr wrap="square" lIns="0" tIns="0" rIns="0" bIns="0" rtlCol="0" anchor="ctr"/>
          <a:lstStyle/>
          <a:p>
            <a:pPr indent="0" marL="0">
              <a:buNone/>
            </a:pPr>
            <a:r>
              <a:rPr lang="en-US" sz="2400" b="1" dirty="0">
                <a:solidFill>
                  <a:srgbClr val="E0A526"/>
                </a:solidFill>
                <a:latin typeface="Cambria" pitchFamily="34" charset="0"/>
                <a:ea typeface="Cambria" pitchFamily="34" charset="-122"/>
                <a:cs typeface="Cambria" pitchFamily="34" charset="-120"/>
              </a:rPr>
              <a:t>200</a:t>
            </a:r>
            <a:endParaRPr lang="en-US" sz="2400" dirty="0"/>
          </a:p>
        </p:txBody>
      </p:sp>
      <p:sp>
        <p:nvSpPr>
          <p:cNvPr id="57" name="Text 55"/>
          <p:cNvSpPr txBox="1"/>
          <p:nvPr/>
        </p:nvSpPr>
        <p:spPr>
          <a:xfrm>
            <a:off x="8915400" y="5678424"/>
            <a:ext cx="2404872" cy="502920"/>
          </a:xfrm>
          <a:prstGeom prst="rect">
            <a:avLst/>
          </a:prstGeom>
          <a:noFill/>
          <a:ln/>
        </p:spPr>
        <p:txBody>
          <a:bodyPr wrap="square" lIns="0" tIns="0" rIns="0" bIns="0" rtlCol="0" anchor="ctr"/>
          <a:lstStyle/>
          <a:p>
            <a:pPr indent="0" marL="0">
              <a:buNone/>
            </a:pPr>
            <a:r>
              <a:rPr lang="en-US" sz="950" dirty="0">
                <a:solidFill>
                  <a:srgbClr val="B9CDDD"/>
                </a:solidFill>
                <a:latin typeface="Calibri" pitchFamily="34" charset="0"/>
                <a:ea typeface="Calibri" pitchFamily="34" charset="-122"/>
                <a:cs typeface="Calibri" pitchFamily="34" charset="-120"/>
              </a:rPr>
              <a:t>word cap on each answer, matching the source prompt</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08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Transition plan: 64 indicators, one at a time</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faithful single-pass RAG replication, wrapped in this codebase's grounding and review machinery.</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Load the indicators — </a:t>
            </a:r>
            <a:pPr indent="0" marL="0">
              <a:buNone/>
            </a:pPr>
            <a:r>
              <a:rPr lang="en-US" sz="1050" dirty="0">
                <a:solidFill>
                  <a:srgbClr val="5A6B78"/>
                </a:solidFill>
                <a:latin typeface="Calibri" pitchFamily="34" charset="0"/>
                <a:ea typeface="Calibri" pitchFamily="34" charset="-122"/>
                <a:cs typeface="Calibri" pitchFamily="34" charset="-120"/>
              </a:rPr>
              <a:t>identifier, exact question text, expert guideline and walk/talk class are read from indicators.json, bundled verbatim from the paper's reference repository.</a:t>
            </a:r>
            <a:endParaRPr lang="en-US" sz="1050" dirty="0"/>
          </a:p>
        </p:txBody>
      </p:sp>
      <p:sp>
        <p:nvSpPr>
          <p:cNvPr id="8" name="Shape 6"/>
          <p:cNvSpPr/>
          <p:nvPr/>
        </p:nvSpPr>
        <p:spPr>
          <a:xfrm>
            <a:off x="594360" y="2567940"/>
            <a:ext cx="329184" cy="329184"/>
          </a:xfrm>
          <a:prstGeom prst="ellipse">
            <a:avLst/>
          </a:prstGeom>
          <a:solidFill>
            <a:srgbClr val="1C7293"/>
          </a:solidFill>
          <a:ln/>
        </p:spPr>
      </p:sp>
      <p:sp>
        <p:nvSpPr>
          <p:cNvPr id="9" name="Text 7"/>
          <p:cNvSpPr txBox="1"/>
          <p:nvPr/>
        </p:nvSpPr>
        <p:spPr>
          <a:xfrm>
            <a:off x="594360" y="25816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54965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Fetch the company's reports — </a:t>
            </a:r>
            <a:pPr indent="0" marL="0">
              <a:buNone/>
            </a:pPr>
            <a:r>
              <a:rPr lang="en-US" sz="1050" dirty="0">
                <a:solidFill>
                  <a:srgbClr val="5A6B78"/>
                </a:solidFill>
                <a:latin typeface="Calibri" pitchFamily="34" charset="0"/>
                <a:ea typeface="Calibri" pitchFamily="34" charset="-122"/>
                <a:cs typeface="Calibri" pitchFamily="34" charset="-120"/>
              </a:rPr>
              <a:t>the shared document registry supplies sustainability and annual reports — the same ingestion path every other function uses.</a:t>
            </a:r>
            <a:endParaRPr lang="en-US" sz="1050" dirty="0"/>
          </a:p>
        </p:txBody>
      </p:sp>
      <p:sp>
        <p:nvSpPr>
          <p:cNvPr id="11" name="Shape 9"/>
          <p:cNvSpPr/>
          <p:nvPr/>
        </p:nvSpPr>
        <p:spPr>
          <a:xfrm>
            <a:off x="594360" y="3307080"/>
            <a:ext cx="329184" cy="329184"/>
          </a:xfrm>
          <a:prstGeom prst="ellipse">
            <a:avLst/>
          </a:prstGeom>
          <a:solidFill>
            <a:srgbClr val="1C7293"/>
          </a:solidFill>
          <a:ln/>
        </p:spPr>
      </p:sp>
      <p:sp>
        <p:nvSpPr>
          <p:cNvPr id="12" name="Text 10"/>
          <p:cNvSpPr txBox="1"/>
          <p:nvPr/>
        </p:nvSpPr>
        <p:spPr>
          <a:xfrm>
            <a:off x="594360" y="33207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28879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Retrieve per indicator — </a:t>
            </a:r>
            <a:pPr indent="0" marL="0">
              <a:buNone/>
            </a:pPr>
            <a:r>
              <a:rPr lang="en-US" sz="1050" dirty="0">
                <a:solidFill>
                  <a:srgbClr val="5A6B78"/>
                </a:solidFill>
                <a:latin typeface="Calibri" pitchFamily="34" charset="0"/>
                <a:ea typeface="Calibri" pitchFamily="34" charset="-122"/>
                <a:cs typeface="Calibri" pitchFamily="34" charset="-120"/>
              </a:rPr>
              <a:t>indicator_graph always takes the top-8 BM25 chunks, hybrid retrieval deliberately off, so the paper's retrieval behaviour is reproduced exactly.</a:t>
            </a:r>
            <a:endParaRPr lang="en-US" sz="1050" dirty="0"/>
          </a:p>
        </p:txBody>
      </p:sp>
      <p:sp>
        <p:nvSpPr>
          <p:cNvPr id="14" name="Shape 12"/>
          <p:cNvSpPr/>
          <p:nvPr/>
        </p:nvSpPr>
        <p:spPr>
          <a:xfrm>
            <a:off x="594360" y="4046220"/>
            <a:ext cx="329184" cy="329184"/>
          </a:xfrm>
          <a:prstGeom prst="ellipse">
            <a:avLst/>
          </a:prstGeom>
          <a:solidFill>
            <a:srgbClr val="1C7293"/>
          </a:solidFill>
          <a:ln/>
        </p:spPr>
      </p:sp>
      <p:sp>
        <p:nvSpPr>
          <p:cNvPr id="15" name="Text 13"/>
          <p:cNvSpPr txBox="1"/>
          <p:nvPr/>
        </p:nvSpPr>
        <p:spPr>
          <a:xfrm>
            <a:off x="594360" y="40599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402793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Ask once — </a:t>
            </a:r>
            <a:pPr indent="0" marL="0">
              <a:buNone/>
            </a:pPr>
            <a:r>
              <a:rPr lang="en-US" sz="1050" dirty="0">
                <a:solidFill>
                  <a:srgbClr val="5A6B78"/>
                </a:solidFill>
                <a:latin typeface="Calibri" pitchFamily="34" charset="0"/>
                <a:ea typeface="Calibri" pitchFamily="34" charset="-122"/>
                <a:cs typeface="Calibri" pitchFamily="34" charset="-120"/>
              </a:rPr>
              <a:t>one schema-first call per indicator in the paper's senior-sustainability-analyst persona, instructed to be critical of greenwashing and cheap talk, capped at 200 words.</a:t>
            </a:r>
            <a:endParaRPr lang="en-US" sz="1050" dirty="0"/>
          </a:p>
        </p:txBody>
      </p:sp>
      <p:sp>
        <p:nvSpPr>
          <p:cNvPr id="17" name="Shape 15"/>
          <p:cNvSpPr/>
          <p:nvPr/>
        </p:nvSpPr>
        <p:spPr>
          <a:xfrm>
            <a:off x="594360" y="4785360"/>
            <a:ext cx="329184" cy="329184"/>
          </a:xfrm>
          <a:prstGeom prst="ellipse">
            <a:avLst/>
          </a:prstGeom>
          <a:solidFill>
            <a:srgbClr val="1C7293"/>
          </a:solidFill>
          <a:ln/>
        </p:spPr>
      </p:sp>
      <p:sp>
        <p:nvSpPr>
          <p:cNvPr id="18" name="Text 16"/>
          <p:cNvSpPr txBox="1"/>
          <p:nvPr/>
        </p:nvSpPr>
        <p:spPr>
          <a:xfrm>
            <a:off x="594360" y="47990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76707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Ground the citations — </a:t>
            </a:r>
            <a:pPr indent="0" marL="0">
              <a:buNone/>
            </a:pPr>
            <a:r>
              <a:rPr lang="en-US" sz="1050" dirty="0">
                <a:solidFill>
                  <a:srgbClr val="5A6B78"/>
                </a:solidFill>
                <a:latin typeface="Calibri" pitchFamily="34" charset="0"/>
                <a:ea typeface="Calibri" pitchFamily="34" charset="-122"/>
                <a:cs typeface="Calibri" pitchFamily="34" charset="-120"/>
              </a:rPr>
              <a:t>quotes and doc_ids are re-verified against the original document; a YES or NO with no grounded citation is routed to review rather than accepted.</a:t>
            </a:r>
            <a:endParaRPr lang="en-US" sz="1050" dirty="0"/>
          </a:p>
        </p:txBody>
      </p:sp>
      <p:sp>
        <p:nvSpPr>
          <p:cNvPr id="20" name="Shape 18"/>
          <p:cNvSpPr/>
          <p:nvPr/>
        </p:nvSpPr>
        <p:spPr>
          <a:xfrm>
            <a:off x="594360" y="5524500"/>
            <a:ext cx="329184" cy="329184"/>
          </a:xfrm>
          <a:prstGeom prst="ellipse">
            <a:avLst/>
          </a:prstGeom>
          <a:solidFill>
            <a:srgbClr val="1C7293"/>
          </a:solidFill>
          <a:ln/>
        </p:spPr>
      </p:sp>
      <p:sp>
        <p:nvSpPr>
          <p:cNvPr id="21" name="Text 19"/>
          <p:cNvSpPr txBox="1"/>
          <p:nvPr/>
        </p:nvSpPr>
        <p:spPr>
          <a:xfrm>
            <a:off x="594360" y="55382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5506212"/>
            <a:ext cx="6245352" cy="684276"/>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Aggregate the verdicts — </a:t>
            </a:r>
            <a:pPr indent="0" marL="0">
              <a:buNone/>
            </a:pPr>
            <a:r>
              <a:rPr lang="en-US" sz="1050" dirty="0">
                <a:solidFill>
                  <a:srgbClr val="5A6B78"/>
                </a:solidFill>
                <a:latin typeface="Calibri" pitchFamily="34" charset="0"/>
                <a:ea typeface="Calibri" pitchFamily="34" charset="-122"/>
                <a:cs typeface="Calibri" pitchFamily="34" charset="-120"/>
              </a:rPr>
              <a:t>the aggregator builds the walk/talk grid, the per-category breakdown and the disclosed-count-out-of-64 completeness score.</a:t>
            </a:r>
            <a:endParaRPr lang="en-US" sz="1050" dirty="0"/>
          </a:p>
        </p:txBody>
      </p:sp>
      <p:sp>
        <p:nvSpPr>
          <p:cNvPr id="23" name="Shape 21"/>
          <p:cNvSpPr/>
          <p:nvPr/>
        </p:nvSpPr>
        <p:spPr>
          <a:xfrm>
            <a:off x="7589520" y="1810512"/>
            <a:ext cx="4005072" cy="1417320"/>
          </a:xfrm>
          <a:prstGeom prst="roundRect">
            <a:avLst>
              <a:gd name="adj" fmla="val 3871"/>
            </a:avLst>
          </a:prstGeom>
          <a:solidFill>
            <a:srgbClr val="10243A"/>
          </a:solidFill>
          <a:ln/>
        </p:spPr>
      </p:sp>
      <p:sp>
        <p:nvSpPr>
          <p:cNvPr id="24" name="Text 22"/>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5" name="Text 23"/>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arp/transition_plan/pipeline.py, company_assessment.py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arp/transition_plan/indicator_graph.py, indicator_agent.py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arp/transition_plan/indicators.py, aggregator.py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arp/transition_plan/data/indicators.json (64, verbatim)</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arp/grounding.py  ·  arp/retrieval/select_evidence.py</a:t>
            </a:r>
            <a:endParaRPr lang="en-US" sz="900" dirty="0"/>
          </a:p>
        </p:txBody>
      </p:sp>
      <p:sp>
        <p:nvSpPr>
          <p:cNvPr id="26" name="Shape 24"/>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27" name="Text 25"/>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28" name="Text 26"/>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TransitionPlanAssessmentRecord — 64 verdicts with explanations, citations and the walk/talk score.</a:t>
            </a:r>
            <a:endParaRPr lang="en-US" sz="950" dirty="0"/>
          </a:p>
        </p:txBody>
      </p:sp>
      <p:sp>
        <p:nvSpPr>
          <p:cNvPr id="29" name="Shape 27"/>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0" name="Text 28"/>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1" name="Shape 29"/>
          <p:cNvSpPr/>
          <p:nvPr/>
        </p:nvSpPr>
        <p:spPr>
          <a:xfrm>
            <a:off x="7808976" y="5038344"/>
            <a:ext cx="100584" cy="100584"/>
          </a:xfrm>
          <a:prstGeom prst="ellipse">
            <a:avLst/>
          </a:prstGeom>
          <a:solidFill>
            <a:srgbClr val="E0A526"/>
          </a:solidFill>
          <a:ln/>
        </p:spPr>
      </p:sp>
      <p:sp>
        <p:nvSpPr>
          <p:cNvPr id="32" name="Text 30"/>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NA is a real answer; a silent report is never skipped into a NO.</a:t>
            </a:r>
            <a:endParaRPr lang="en-US" sz="950" dirty="0"/>
          </a:p>
        </p:txBody>
      </p:sp>
      <p:sp>
        <p:nvSpPr>
          <p:cNvPr id="33" name="Shape 31"/>
          <p:cNvSpPr/>
          <p:nvPr/>
        </p:nvSpPr>
        <p:spPr>
          <a:xfrm>
            <a:off x="7808976" y="5458968"/>
            <a:ext cx="100584" cy="100584"/>
          </a:xfrm>
          <a:prstGeom prst="ellipse">
            <a:avLst/>
          </a:prstGeom>
          <a:solidFill>
            <a:srgbClr val="E0A526"/>
          </a:solidFill>
          <a:ln/>
        </p:spPr>
      </p:sp>
      <p:sp>
        <p:nvSpPr>
          <p:cNvPr id="34" name="Text 32"/>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No verifier pass — the paper is single-pass and the replication keeps it.</a:t>
            </a:r>
            <a:endParaRPr lang="en-US" sz="950" dirty="0"/>
          </a:p>
        </p:txBody>
      </p:sp>
      <p:sp>
        <p:nvSpPr>
          <p:cNvPr id="35" name="Shape 33"/>
          <p:cNvSpPr/>
          <p:nvPr/>
        </p:nvSpPr>
        <p:spPr>
          <a:xfrm>
            <a:off x="7808976" y="5879592"/>
            <a:ext cx="100584" cy="100584"/>
          </a:xfrm>
          <a:prstGeom prst="ellipse">
            <a:avLst/>
          </a:prstGeom>
          <a:solidFill>
            <a:srgbClr val="E0A526"/>
          </a:solidFill>
          <a:ln/>
        </p:spPr>
      </p:sp>
      <p:sp>
        <p:nvSpPr>
          <p:cNvPr id="36" name="Text 34"/>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Indicator wording and prompt text are never paraphrased.</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E0A526"/>
                </a:solidFill>
                <a:latin typeface="Calibri" pitchFamily="34" charset="0"/>
                <a:ea typeface="Calibri" pitchFamily="34" charset="-122"/>
                <a:cs typeface="Calibri" pitchFamily="34" charset="-120"/>
              </a:rPr>
              <a:t>09   ·   ENGAGEMENT (STEWARDSHIP)</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Company engagement, on the record</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B9CDDD"/>
                </a:solidFill>
                <a:latin typeface="Calibri" pitchFamily="34" charset="0"/>
                <a:ea typeface="Calibri" pitchFamily="34" charset="-122"/>
                <a:cs typeface="Calibri" pitchFamily="34" charset="-120"/>
              </a:rPr>
              <a:t>One shared record per company, a state machine instead of a chatbot, and a human at every point that touches the outside world.</a:t>
            </a:r>
            <a:endParaRPr lang="en-US" sz="1400" dirty="0"/>
          </a:p>
        </p:txBody>
      </p:sp>
      <p:sp>
        <p:nvSpPr>
          <p:cNvPr id="5" name="Text 3"/>
          <p:cNvSpPr txBox="1"/>
          <p:nvPr/>
        </p:nvSpPr>
        <p:spPr>
          <a:xfrm>
            <a:off x="594360" y="1810512"/>
            <a:ext cx="5486400"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What the system is</a:t>
            </a:r>
            <a:endParaRPr lang="en-US" sz="1900" dirty="0"/>
          </a:p>
        </p:txBody>
      </p:sp>
      <p:sp>
        <p:nvSpPr>
          <p:cNvPr id="6" name="Text 4"/>
          <p:cNvSpPr txBox="1"/>
          <p:nvPr/>
        </p:nvSpPr>
        <p:spPr>
          <a:xfrm>
            <a:off x="594360" y="2121408"/>
            <a:ext cx="5486400"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Engagement and voting share one record, because they are one conversation.</a:t>
            </a:r>
            <a:endParaRPr lang="en-US" sz="1050" dirty="0"/>
          </a:p>
        </p:txBody>
      </p:sp>
      <p:sp>
        <p:nvSpPr>
          <p:cNvPr id="7" name="Shape 5"/>
          <p:cNvSpPr/>
          <p:nvPr/>
        </p:nvSpPr>
        <p:spPr>
          <a:xfrm>
            <a:off x="594360" y="2468880"/>
            <a:ext cx="5486400" cy="1005840"/>
          </a:xfrm>
          <a:prstGeom prst="roundRect">
            <a:avLst>
              <a:gd name="adj" fmla="val 5455"/>
            </a:avLst>
          </a:prstGeom>
          <a:solidFill>
            <a:srgbClr val="1E3F5E"/>
          </a:solidFill>
          <a:ln/>
        </p:spPr>
      </p:sp>
      <p:sp>
        <p:nvSpPr>
          <p:cNvPr id="8" name="Text 6"/>
          <p:cNvSpPr txBox="1"/>
          <p:nvPr/>
        </p:nvSpPr>
        <p:spPr>
          <a:xfrm>
            <a:off x="795528" y="2615184"/>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THE RECORD</a:t>
            </a:r>
            <a:endParaRPr lang="en-US" sz="950" dirty="0"/>
          </a:p>
        </p:txBody>
      </p:sp>
      <p:sp>
        <p:nvSpPr>
          <p:cNvPr id="9" name="Text 7"/>
          <p:cNvSpPr txBox="1"/>
          <p:nvPr/>
        </p:nvSpPr>
        <p:spPr>
          <a:xfrm>
            <a:off x="795528" y="2871216"/>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Issues, milestone and escalation stage, contacts, correspondence, commitments and votes per company — current state in record.json, every mutation appended to events.jsonl.</a:t>
            </a:r>
            <a:endParaRPr lang="en-US" sz="1050" dirty="0"/>
          </a:p>
        </p:txBody>
      </p:sp>
      <p:sp>
        <p:nvSpPr>
          <p:cNvPr id="10" name="Shape 8"/>
          <p:cNvSpPr/>
          <p:nvPr/>
        </p:nvSpPr>
        <p:spPr>
          <a:xfrm>
            <a:off x="594360" y="3602736"/>
            <a:ext cx="5486400" cy="1005840"/>
          </a:xfrm>
          <a:prstGeom prst="roundRect">
            <a:avLst>
              <a:gd name="adj" fmla="val 5455"/>
            </a:avLst>
          </a:prstGeom>
          <a:solidFill>
            <a:srgbClr val="1E3F5E"/>
          </a:solidFill>
          <a:ln/>
        </p:spPr>
      </p:sp>
      <p:sp>
        <p:nvSpPr>
          <p:cNvPr id="11" name="Text 9"/>
          <p:cNvSpPr txBox="1"/>
          <p:nvPr/>
        </p:nvSpPr>
        <p:spPr>
          <a:xfrm>
            <a:off x="795528" y="3749040"/>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THE CONTROLLER</a:t>
            </a:r>
            <a:endParaRPr lang="en-US" sz="950" dirty="0"/>
          </a:p>
        </p:txBody>
      </p:sp>
      <p:sp>
        <p:nvSpPr>
          <p:cNvPr id="12" name="Text 10"/>
          <p:cNvSpPr txBox="1"/>
          <p:nvPr/>
        </p:nvSpPr>
        <p:spPr>
          <a:xfrm>
            <a:off x="795528" y="4005072"/>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 pure function, decide_next_action, maps an issue's stage to the next action — and flags it for an escalation decision once it has been silent past the SLA.</a:t>
            </a:r>
            <a:endParaRPr lang="en-US" sz="1050" dirty="0"/>
          </a:p>
        </p:txBody>
      </p:sp>
      <p:sp>
        <p:nvSpPr>
          <p:cNvPr id="13" name="Shape 11"/>
          <p:cNvSpPr/>
          <p:nvPr/>
        </p:nvSpPr>
        <p:spPr>
          <a:xfrm>
            <a:off x="594360" y="4736592"/>
            <a:ext cx="5486400" cy="1005840"/>
          </a:xfrm>
          <a:prstGeom prst="roundRect">
            <a:avLst>
              <a:gd name="adj" fmla="val 5455"/>
            </a:avLst>
          </a:prstGeom>
          <a:solidFill>
            <a:srgbClr val="1E3F5E"/>
          </a:solidFill>
          <a:ln/>
        </p:spPr>
      </p:sp>
      <p:sp>
        <p:nvSpPr>
          <p:cNvPr id="14" name="Text 12"/>
          <p:cNvSpPr txBox="1"/>
          <p:nvPr/>
        </p:nvSpPr>
        <p:spPr>
          <a:xfrm>
            <a:off x="795528" y="4882896"/>
            <a:ext cx="5084064"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THE AGENTS</a:t>
            </a:r>
            <a:endParaRPr lang="en-US" sz="950" dirty="0"/>
          </a:p>
        </p:txBody>
      </p:sp>
      <p:sp>
        <p:nvSpPr>
          <p:cNvPr id="15" name="Text 13"/>
          <p:cNvSpPr txBox="1"/>
          <p:nvPr/>
        </p:nvSpPr>
        <p:spPr>
          <a:xfrm>
            <a:off x="795528" y="5138928"/>
            <a:ext cx="5084064" cy="493776"/>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Research and Drafting use the LLM; Tracking and Reporting deliberately have none, so a prompt bug can never corrupt milestone state or a published figure.</a:t>
            </a:r>
            <a:endParaRPr lang="en-US" sz="1050" dirty="0"/>
          </a:p>
        </p:txBody>
      </p:sp>
      <p:sp>
        <p:nvSpPr>
          <p:cNvPr id="16" name="Text 14"/>
          <p:cNvSpPr txBox="1"/>
          <p:nvPr/>
        </p:nvSpPr>
        <p:spPr>
          <a:xfrm>
            <a:off x="6492240" y="1810512"/>
            <a:ext cx="5102352" cy="2926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Where a human is structurally required</a:t>
            </a:r>
            <a:endParaRPr lang="en-US" sz="1900" dirty="0"/>
          </a:p>
        </p:txBody>
      </p:sp>
      <p:sp>
        <p:nvSpPr>
          <p:cNvPr id="17" name="Text 15"/>
          <p:cNvSpPr txBox="1"/>
          <p:nvPr/>
        </p:nvSpPr>
        <p:spPr>
          <a:xfrm>
            <a:off x="6492240" y="2121408"/>
            <a:ext cx="5102352" cy="256032"/>
          </a:xfrm>
          <a:prstGeom prst="rect">
            <a:avLst/>
          </a:prstGeom>
          <a:noFill/>
          <a:ln/>
        </p:spPr>
        <p:txBody>
          <a:bodyPr wrap="square" lIns="0" tIns="0" rIns="0" bIns="0" rtlCol="0" anchor="ctr"/>
          <a:lstStyle/>
          <a:p>
            <a:pPr indent="0" marL="0">
              <a:buNone/>
            </a:pPr>
            <a:r>
              <a:rPr lang="en-US" sz="1050" dirty="0">
                <a:solidFill>
                  <a:srgbClr val="B9CDDD"/>
                </a:solidFill>
                <a:latin typeface="Calibri" pitchFamily="34" charset="0"/>
                <a:ea typeface="Calibri" pitchFamily="34" charset="-122"/>
                <a:cs typeface="Calibri" pitchFamily="34" charset="-120"/>
              </a:rPr>
              <a:t>Not a policy — enforced by the shape of the code.</a:t>
            </a:r>
            <a:endParaRPr lang="en-US" sz="1050" dirty="0"/>
          </a:p>
        </p:txBody>
      </p:sp>
      <p:sp>
        <p:nvSpPr>
          <p:cNvPr id="18" name="Shape 16"/>
          <p:cNvSpPr/>
          <p:nvPr/>
        </p:nvSpPr>
        <p:spPr>
          <a:xfrm>
            <a:off x="6492240" y="2468880"/>
            <a:ext cx="5102352" cy="749808"/>
          </a:xfrm>
          <a:prstGeom prst="roundRect">
            <a:avLst>
              <a:gd name="adj" fmla="val 7317"/>
            </a:avLst>
          </a:prstGeom>
          <a:solidFill>
            <a:srgbClr val="1E3F5E"/>
          </a:solidFill>
          <a:ln/>
        </p:spPr>
      </p:sp>
      <p:sp>
        <p:nvSpPr>
          <p:cNvPr id="19" name="Shape 17"/>
          <p:cNvSpPr/>
          <p:nvPr/>
        </p:nvSpPr>
        <p:spPr>
          <a:xfrm>
            <a:off x="6693408" y="2660904"/>
            <a:ext cx="365760" cy="365760"/>
          </a:xfrm>
          <a:prstGeom prst="ellipse">
            <a:avLst/>
          </a:prstGeom>
          <a:solidFill>
            <a:srgbClr val="E0A526"/>
          </a:solidFill>
          <a:ln/>
        </p:spPr>
      </p:sp>
      <p:sp>
        <p:nvSpPr>
          <p:cNvPr id="20" name="Text 18"/>
          <p:cNvSpPr txBox="1"/>
          <p:nvPr/>
        </p:nvSpPr>
        <p:spPr>
          <a:xfrm>
            <a:off x="6693408" y="2674620"/>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7187184" y="2560320"/>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Dossier accuracy</a:t>
            </a:r>
            <a:endParaRPr lang="en-US" sz="1350" dirty="0"/>
          </a:p>
        </p:txBody>
      </p:sp>
      <p:sp>
        <p:nvSpPr>
          <p:cNvPr id="22" name="Text 20"/>
          <p:cNvSpPr txBox="1"/>
          <p:nvPr/>
        </p:nvSpPr>
        <p:spPr>
          <a:xfrm>
            <a:off x="7187184" y="2834640"/>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Nothing hands a research dossier to the drafting agent automatically.</a:t>
            </a:r>
            <a:endParaRPr lang="en-US" sz="1000" dirty="0"/>
          </a:p>
        </p:txBody>
      </p:sp>
      <p:sp>
        <p:nvSpPr>
          <p:cNvPr id="23" name="Shape 21"/>
          <p:cNvSpPr/>
          <p:nvPr/>
        </p:nvSpPr>
        <p:spPr>
          <a:xfrm>
            <a:off x="6492240" y="3310128"/>
            <a:ext cx="5102352" cy="749808"/>
          </a:xfrm>
          <a:prstGeom prst="roundRect">
            <a:avLst>
              <a:gd name="adj" fmla="val 7317"/>
            </a:avLst>
          </a:prstGeom>
          <a:solidFill>
            <a:srgbClr val="1E3F5E"/>
          </a:solidFill>
          <a:ln/>
        </p:spPr>
      </p:sp>
      <p:sp>
        <p:nvSpPr>
          <p:cNvPr id="24" name="Shape 22"/>
          <p:cNvSpPr/>
          <p:nvPr/>
        </p:nvSpPr>
        <p:spPr>
          <a:xfrm>
            <a:off x="6693408" y="3502152"/>
            <a:ext cx="365760" cy="365760"/>
          </a:xfrm>
          <a:prstGeom prst="ellipse">
            <a:avLst/>
          </a:prstGeom>
          <a:solidFill>
            <a:srgbClr val="E0A526"/>
          </a:solidFill>
          <a:ln/>
        </p:spPr>
      </p:sp>
      <p:sp>
        <p:nvSpPr>
          <p:cNvPr id="25" name="Text 23"/>
          <p:cNvSpPr txBox="1"/>
          <p:nvPr/>
        </p:nvSpPr>
        <p:spPr>
          <a:xfrm>
            <a:off x="6693408" y="3515868"/>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2</a:t>
            </a:r>
            <a:endParaRPr lang="en-US" sz="1100" dirty="0"/>
          </a:p>
        </p:txBody>
      </p:sp>
      <p:sp>
        <p:nvSpPr>
          <p:cNvPr id="26" name="Text 24"/>
          <p:cNvSpPr txBox="1"/>
          <p:nvPr/>
        </p:nvSpPr>
        <p:spPr>
          <a:xfrm>
            <a:off x="7187184" y="3401568"/>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Commitments</a:t>
            </a:r>
            <a:endParaRPr lang="en-US" sz="1350" dirty="0"/>
          </a:p>
        </p:txBody>
      </p:sp>
      <p:sp>
        <p:nvSpPr>
          <p:cNvPr id="27" name="Text 25"/>
          <p:cNvSpPr txBox="1"/>
          <p:nvPr/>
        </p:nvSpPr>
        <p:spPr>
          <a:xfrm>
            <a:off x="7187184" y="3675888"/>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Only the validated-summary call writes commitments, and it requires validated_by.</a:t>
            </a:r>
            <a:endParaRPr lang="en-US" sz="1000" dirty="0"/>
          </a:p>
        </p:txBody>
      </p:sp>
      <p:sp>
        <p:nvSpPr>
          <p:cNvPr id="28" name="Shape 26"/>
          <p:cNvSpPr/>
          <p:nvPr/>
        </p:nvSpPr>
        <p:spPr>
          <a:xfrm>
            <a:off x="6492240" y="4151376"/>
            <a:ext cx="5102352" cy="749808"/>
          </a:xfrm>
          <a:prstGeom prst="roundRect">
            <a:avLst>
              <a:gd name="adj" fmla="val 7317"/>
            </a:avLst>
          </a:prstGeom>
          <a:solidFill>
            <a:srgbClr val="1E3F5E"/>
          </a:solidFill>
          <a:ln/>
        </p:spPr>
      </p:sp>
      <p:sp>
        <p:nvSpPr>
          <p:cNvPr id="29" name="Shape 27"/>
          <p:cNvSpPr/>
          <p:nvPr/>
        </p:nvSpPr>
        <p:spPr>
          <a:xfrm>
            <a:off x="6693408" y="4343400"/>
            <a:ext cx="365760" cy="365760"/>
          </a:xfrm>
          <a:prstGeom prst="ellipse">
            <a:avLst/>
          </a:prstGeom>
          <a:solidFill>
            <a:srgbClr val="E0A526"/>
          </a:solidFill>
          <a:ln/>
        </p:spPr>
      </p:sp>
      <p:sp>
        <p:nvSpPr>
          <p:cNvPr id="30" name="Text 28"/>
          <p:cNvSpPr txBox="1"/>
          <p:nvPr/>
        </p:nvSpPr>
        <p:spPr>
          <a:xfrm>
            <a:off x="6693408" y="4357116"/>
            <a:ext cx="365760" cy="365760"/>
          </a:xfrm>
          <a:prstGeom prst="rect">
            <a:avLst/>
          </a:prstGeom>
          <a:noFill/>
          <a:ln/>
        </p:spPr>
        <p:txBody>
          <a:bodyPr wrap="square" lIns="0" tIns="0" rIns="0" bIns="0" rtlCol="0" anchor="ctr"/>
          <a:lstStyle/>
          <a:p>
            <a:pPr algn="ctr" indent="0" marL="0">
              <a:buNone/>
            </a:pPr>
            <a:r>
              <a:rPr lang="en-US" sz="1100" b="1" dirty="0">
                <a:solidFill>
                  <a:srgbClr val="10243A"/>
                </a:solidFill>
                <a:latin typeface="Calibri" pitchFamily="34" charset="0"/>
                <a:ea typeface="Calibri" pitchFamily="34" charset="-122"/>
                <a:cs typeface="Calibri" pitchFamily="34" charset="-120"/>
              </a:rPr>
              <a:t>3</a:t>
            </a:r>
            <a:endParaRPr lang="en-US" sz="1100" dirty="0"/>
          </a:p>
        </p:txBody>
      </p:sp>
      <p:sp>
        <p:nvSpPr>
          <p:cNvPr id="31" name="Text 29"/>
          <p:cNvSpPr txBox="1"/>
          <p:nvPr/>
        </p:nvSpPr>
        <p:spPr>
          <a:xfrm>
            <a:off x="7187184" y="4242816"/>
            <a:ext cx="4187952"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Escalation</a:t>
            </a:r>
            <a:endParaRPr lang="en-US" sz="1350" dirty="0"/>
          </a:p>
        </p:txBody>
      </p:sp>
      <p:sp>
        <p:nvSpPr>
          <p:cNvPr id="32" name="Text 30"/>
          <p:cNvSpPr txBox="1"/>
          <p:nvPr/>
        </p:nvSpPr>
        <p:spPr>
          <a:xfrm>
            <a:off x="7187184" y="4517136"/>
            <a:ext cx="4187952" cy="310896"/>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One code path moves escalation stage, it requires decided_by, and the controller never calls it.</a:t>
            </a:r>
            <a:endParaRPr lang="en-US" sz="1000" dirty="0"/>
          </a:p>
        </p:txBody>
      </p:sp>
      <p:sp>
        <p:nvSpPr>
          <p:cNvPr id="33" name="Text 31"/>
          <p:cNvSpPr txBox="1"/>
          <p:nvPr/>
        </p:nvSpPr>
        <p:spPr>
          <a:xfrm>
            <a:off x="6492240" y="5102352"/>
            <a:ext cx="5102352" cy="219456"/>
          </a:xfrm>
          <a:prstGeom prst="rect">
            <a:avLst/>
          </a:prstGeom>
          <a:noFill/>
          <a:ln/>
        </p:spPr>
        <p:txBody>
          <a:bodyPr wrap="square" lIns="0" tIns="0" rIns="0" bIns="0" rtlCol="0" anchor="ctr"/>
          <a:lstStyle/>
          <a:p>
            <a:pPr indent="0" marL="0">
              <a:buNone/>
            </a:pPr>
            <a:r>
              <a:rPr lang="en-US" sz="1000" b="1" spc="120" kern="0" dirty="0">
                <a:solidFill>
                  <a:srgbClr val="B9CDDD"/>
                </a:solidFill>
                <a:latin typeface="Calibri" pitchFamily="34" charset="0"/>
                <a:ea typeface="Calibri" pitchFamily="34" charset="-122"/>
                <a:cs typeface="Calibri" pitchFamily="34" charset="-120"/>
              </a:rPr>
              <a:t>The escalation ladder is explicit, and only a person climbs it</a:t>
            </a:r>
            <a:endParaRPr lang="en-US" sz="1000" dirty="0"/>
          </a:p>
        </p:txBody>
      </p:sp>
      <p:sp>
        <p:nvSpPr>
          <p:cNvPr id="34" name="Shape 32"/>
          <p:cNvSpPr/>
          <p:nvPr/>
        </p:nvSpPr>
        <p:spPr>
          <a:xfrm>
            <a:off x="6492240" y="5376672"/>
            <a:ext cx="1179576" cy="420624"/>
          </a:xfrm>
          <a:prstGeom prst="roundRect">
            <a:avLst>
              <a:gd name="adj" fmla="val 43478"/>
            </a:avLst>
          </a:prstGeom>
          <a:solidFill>
            <a:srgbClr val="1E3F5E"/>
          </a:solidFill>
          <a:ln/>
        </p:spPr>
      </p:sp>
      <p:sp>
        <p:nvSpPr>
          <p:cNvPr id="35" name="Text 33"/>
          <p:cNvSpPr txBox="1"/>
          <p:nvPr/>
        </p:nvSpPr>
        <p:spPr>
          <a:xfrm>
            <a:off x="6492240" y="5376672"/>
            <a:ext cx="117957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Private</a:t>
            </a:r>
            <a:endParaRPr lang="en-US" sz="1050" dirty="0"/>
          </a:p>
        </p:txBody>
      </p:sp>
      <p:sp>
        <p:nvSpPr>
          <p:cNvPr id="36" name="Shape 34"/>
          <p:cNvSpPr/>
          <p:nvPr/>
        </p:nvSpPr>
        <p:spPr>
          <a:xfrm>
            <a:off x="7799832" y="5376672"/>
            <a:ext cx="1179576" cy="420624"/>
          </a:xfrm>
          <a:prstGeom prst="roundRect">
            <a:avLst>
              <a:gd name="adj" fmla="val 43478"/>
            </a:avLst>
          </a:prstGeom>
          <a:solidFill>
            <a:srgbClr val="1E3F5E"/>
          </a:solidFill>
          <a:ln/>
        </p:spPr>
      </p:sp>
      <p:sp>
        <p:nvSpPr>
          <p:cNvPr id="37" name="Text 35"/>
          <p:cNvSpPr txBox="1"/>
          <p:nvPr/>
        </p:nvSpPr>
        <p:spPr>
          <a:xfrm>
            <a:off x="7799832" y="5376672"/>
            <a:ext cx="117957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Joint</a:t>
            </a:r>
            <a:endParaRPr lang="en-US" sz="1050" dirty="0"/>
          </a:p>
        </p:txBody>
      </p:sp>
      <p:sp>
        <p:nvSpPr>
          <p:cNvPr id="38" name="Shape 36"/>
          <p:cNvSpPr/>
          <p:nvPr/>
        </p:nvSpPr>
        <p:spPr>
          <a:xfrm>
            <a:off x="9107424" y="5376672"/>
            <a:ext cx="1179576" cy="420624"/>
          </a:xfrm>
          <a:prstGeom prst="roundRect">
            <a:avLst>
              <a:gd name="adj" fmla="val 43478"/>
            </a:avLst>
          </a:prstGeom>
          <a:solidFill>
            <a:srgbClr val="1C7293"/>
          </a:solidFill>
          <a:ln/>
        </p:spPr>
      </p:sp>
      <p:sp>
        <p:nvSpPr>
          <p:cNvPr id="39" name="Text 37"/>
          <p:cNvSpPr txBox="1"/>
          <p:nvPr/>
        </p:nvSpPr>
        <p:spPr>
          <a:xfrm>
            <a:off x="9107424" y="5376672"/>
            <a:ext cx="117957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To the board</a:t>
            </a:r>
            <a:endParaRPr lang="en-US" sz="1050" dirty="0"/>
          </a:p>
        </p:txBody>
      </p:sp>
      <p:sp>
        <p:nvSpPr>
          <p:cNvPr id="40" name="Shape 38"/>
          <p:cNvSpPr/>
          <p:nvPr/>
        </p:nvSpPr>
        <p:spPr>
          <a:xfrm>
            <a:off x="10415016" y="5376672"/>
            <a:ext cx="1179576" cy="420624"/>
          </a:xfrm>
          <a:prstGeom prst="roundRect">
            <a:avLst>
              <a:gd name="adj" fmla="val 43478"/>
            </a:avLst>
          </a:prstGeom>
          <a:solidFill>
            <a:srgbClr val="E0A526"/>
          </a:solidFill>
          <a:ln/>
        </p:spPr>
      </p:sp>
      <p:sp>
        <p:nvSpPr>
          <p:cNvPr id="41" name="Text 39"/>
          <p:cNvSpPr txBox="1"/>
          <p:nvPr/>
        </p:nvSpPr>
        <p:spPr>
          <a:xfrm>
            <a:off x="10415016" y="5376672"/>
            <a:ext cx="1179576" cy="420624"/>
          </a:xfrm>
          <a:prstGeom prst="rect">
            <a:avLst/>
          </a:prstGeom>
          <a:noFill/>
          <a:ln/>
        </p:spPr>
        <p:txBody>
          <a:bodyPr wrap="square" lIns="0" tIns="0" rIns="0" bIns="0" rtlCol="0" anchor="ctr"/>
          <a:lstStyle/>
          <a:p>
            <a:pPr algn="ctr" indent="0" marL="0">
              <a:buNone/>
            </a:pPr>
            <a:r>
              <a:rPr lang="en-US" sz="1050" b="1" dirty="0">
                <a:solidFill>
                  <a:srgbClr val="10243A"/>
                </a:solidFill>
                <a:latin typeface="Calibri" pitchFamily="34" charset="0"/>
                <a:ea typeface="Calibri" pitchFamily="34" charset="-122"/>
                <a:cs typeface="Calibri" pitchFamily="34" charset="-120"/>
              </a:rPr>
              <a:t>Vote against</a:t>
            </a:r>
            <a:endParaRPr lang="en-US" sz="1050" dirty="0"/>
          </a:p>
        </p:txBody>
      </p:sp>
      <p:sp>
        <p:nvSpPr>
          <p:cNvPr id="42" name="Shape 40"/>
          <p:cNvSpPr/>
          <p:nvPr/>
        </p:nvSpPr>
        <p:spPr>
          <a:xfrm>
            <a:off x="594360" y="5989320"/>
            <a:ext cx="11000232" cy="411480"/>
          </a:xfrm>
          <a:prstGeom prst="roundRect">
            <a:avLst>
              <a:gd name="adj" fmla="val 13333"/>
            </a:avLst>
          </a:prstGeom>
          <a:solidFill>
            <a:srgbClr val="1E3F5E"/>
          </a:solidFill>
          <a:ln/>
        </p:spPr>
      </p:sp>
      <p:sp>
        <p:nvSpPr>
          <p:cNvPr id="43" name="Text 41"/>
          <p:cNvSpPr txBox="1"/>
          <p:nvPr/>
        </p:nvSpPr>
        <p:spPr>
          <a:xfrm>
            <a:off x="795528" y="5989320"/>
            <a:ext cx="10597896" cy="411480"/>
          </a:xfrm>
          <a:prstGeom prst="rect">
            <a:avLst/>
          </a:prstGeom>
          <a:noFill/>
          <a:ln/>
        </p:spPr>
        <p:txBody>
          <a:bodyPr wrap="square" lIns="0" tIns="0" rIns="0" bIns="0" rtlCol="0" anchor="ctr"/>
          <a:lstStyle/>
          <a:p>
            <a:pPr indent="0" marL="0">
              <a:buNone/>
            </a:pPr>
            <a:r>
              <a:rPr lang="en-US" sz="1000" dirty="0">
                <a:solidFill>
                  <a:srgbClr val="B9CDDD"/>
                </a:solidFill>
                <a:latin typeface="Calibri" pitchFamily="34" charset="0"/>
                <a:ea typeface="Calibri" pitchFamily="34" charset="-122"/>
                <a:cs typeface="Calibri" pitchFamily="34" charset="-120"/>
              </a:rPr>
              <a:t>Backend, CLI and API only — no frontend yet. The ladder continues past a vote against management to filing or co-filing a resolution and, last, a public statement.</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09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Engagement: the state machine and its agents</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Deciding is separated from acting, so a scheduler can be added later without touching the rules.</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Raise the issue — </a:t>
            </a:r>
            <a:pPr indent="0" marL="0">
              <a:buNone/>
            </a:pPr>
            <a:r>
              <a:rPr lang="en-US" sz="1050" dirty="0">
                <a:solidFill>
                  <a:srgbClr val="5A6B78"/>
                </a:solidFill>
                <a:latin typeface="Calibri" pitchFamily="34" charset="0"/>
                <a:ea typeface="Calibri" pitchFamily="34" charset="-122"/>
                <a:cs typeface="Calibri" pitchFamily="34" charset="-120"/>
              </a:rPr>
              <a:t>a controversy screen opens an issue per signal, deduplicated against any already-open issue on the same company and theme; an analyst can also raise one directly.</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Sweep for stalls — </a:t>
            </a:r>
            <a:pPr indent="0" marL="0">
              <a:buNone/>
            </a:pPr>
            <a:r>
              <a:rPr lang="en-US" sz="1050" dirty="0">
                <a:solidFill>
                  <a:srgbClr val="5A6B78"/>
                </a:solidFill>
                <a:latin typeface="Calibri" pitchFamily="34" charset="0"/>
                <a:ea typeface="Calibri" pitchFamily="34" charset="-122"/>
                <a:cs typeface="Calibri" pitchFamily="34" charset="-120"/>
              </a:rPr>
              <a:t>scan_for_stalled_issues walks every open issue with the same is_stalled check the controller uses, marking anything silent past the SLA (45 days by default).</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Decide the next action — </a:t>
            </a:r>
            <a:pPr indent="0" marL="0">
              <a:buNone/>
            </a:pPr>
            <a:r>
              <a:rPr lang="en-US" sz="1050" dirty="0">
                <a:solidFill>
                  <a:srgbClr val="5A6B78"/>
                </a:solidFill>
                <a:latin typeface="Calibri" pitchFamily="34" charset="0"/>
                <a:ea typeface="Calibri" pitchFamily="34" charset="-122"/>
                <a:cs typeface="Calibri" pitchFamily="34" charset="-120"/>
              </a:rPr>
              <a:t>decide_next_action maps milestone stage to a dispatch decision, and overrides it with a flag for an escalation decision when the issue has stalled. It never calls an agent itself.</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Research — </a:t>
            </a:r>
            <a:pPr indent="0" marL="0">
              <a:buNone/>
            </a:pPr>
            <a:r>
              <a:rPr lang="en-US" sz="1050" dirty="0">
                <a:solidFill>
                  <a:srgbClr val="5A6B78"/>
                </a:solidFill>
                <a:latin typeface="Calibri" pitchFamily="34" charset="0"/>
                <a:ea typeface="Calibri" pitchFamily="34" charset="-122"/>
                <a:cs typeface="Calibri" pitchFamily="34" charset="-120"/>
              </a:rPr>
              <a:t>the Research Agent reads the company's disclosures through the shared registry and drafts a grounded dossier — summary, controversy context, peer notes, recommended contacts.</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Review, then draft — </a:t>
            </a:r>
            <a:pPr indent="0" marL="0">
              <a:buNone/>
            </a:pPr>
            <a:r>
              <a:rPr lang="en-US" sz="1050" dirty="0">
                <a:solidFill>
                  <a:srgbClr val="5A6B78"/>
                </a:solidFill>
                <a:latin typeface="Calibri" pitchFamily="34" charset="0"/>
                <a:ea typeface="Calibri" pitchFamily="34" charset="-122"/>
                <a:cs typeface="Calibri" pitchFamily="34" charset="-120"/>
              </a:rPr>
              <a:t>the dossier is returned for human accuracy review; only then does the Drafting Agent produce an outreach letter, talking points or a meeting summary from its citations.</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Record what happened — </a:t>
            </a:r>
            <a:pPr indent="0" marL="0">
              <a:buNone/>
            </a:pPr>
            <a:r>
              <a:rPr lang="en-US" sz="1050" dirty="0">
                <a:solidFill>
                  <a:srgbClr val="5A6B78"/>
                </a:solidFill>
                <a:latin typeface="Calibri" pitchFamily="34" charset="0"/>
                <a:ea typeface="Calibri" pitchFamily="34" charset="-122"/>
                <a:cs typeface="Calibri" pitchFamily="34" charset="-120"/>
              </a:rPr>
              <a:t>the Tracking Agent — no LLM calls — logs outreach sent, summaries validated and commitments verified, advancing milestone stage as it writes.</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Report — </a:t>
            </a:r>
            <a:pPr indent="0" marL="0">
              <a:buNone/>
            </a:pPr>
            <a:r>
              <a:rPr lang="en-US" sz="1050" dirty="0">
                <a:solidFill>
                  <a:srgbClr val="5A6B78"/>
                </a:solidFill>
                <a:latin typeface="Calibri" pitchFamily="34" charset="0"/>
                <a:ea typeface="Calibri" pitchFamily="34" charset="-122"/>
                <a:cs typeface="Calibri" pitchFamily="34" charset="-120"/>
              </a:rPr>
              <a:t>the Reporting Agent aggregates the store with no model involved: engagement stats, vote stats, and the escalation-linked votes that tie the two workflows together.</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arp/engagement/orchestrator.py, triggers.py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arp/engagement/{research,drafting,tracking,reporting}_agent.py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arp/storage/engagement_store.py (record.json + events.jsonl)</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arp/schemas/engagement.py  ·  arp/api/routers/engagement.py</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a company universe plus controversy signals; analyst actions via CLI/API.</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EngagementRecord per company, an append-only event log, and a period report.</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No code path in this module sends anything to a company.</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Milestone state is only ever written by the LLM-free tracking agent.</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Every mutation is appended; nothing in the audit trail is overwritten.</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10   ·   PROXY VOTING</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From ballot to cast vote</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Rules before judgment, judgment before a recommendation — and a recommendation is never a vote.</a:t>
            </a:r>
            <a:endParaRPr lang="en-US" sz="1400" dirty="0"/>
          </a:p>
        </p:txBody>
      </p:sp>
      <p:sp>
        <p:nvSpPr>
          <p:cNvPr id="5" name="Shape 3"/>
          <p:cNvSpPr/>
          <p:nvPr/>
        </p:nvSpPr>
        <p:spPr>
          <a:xfrm>
            <a:off x="594360" y="1783080"/>
            <a:ext cx="3508248" cy="1371600"/>
          </a:xfrm>
          <a:prstGeom prst="roundRect">
            <a:avLst>
              <a:gd name="adj" fmla="val 4000"/>
            </a:avLst>
          </a:prstGeom>
          <a:solidFill>
            <a:srgbClr val="F1F5F9"/>
          </a:solidFill>
          <a:ln w="12700">
            <a:solidFill>
              <a:srgbClr val="DBE4EC"/>
            </a:solidFill>
            <a:prstDash val="solid"/>
          </a:ln>
        </p:spPr>
      </p:sp>
      <p:sp>
        <p:nvSpPr>
          <p:cNvPr id="6" name="Shape 4"/>
          <p:cNvSpPr/>
          <p:nvPr/>
        </p:nvSpPr>
        <p:spPr>
          <a:xfrm>
            <a:off x="795528" y="2002536"/>
            <a:ext cx="274320" cy="274320"/>
          </a:xfrm>
          <a:prstGeom prst="ellipse">
            <a:avLst/>
          </a:prstGeom>
          <a:solidFill>
            <a:srgbClr val="1C7293"/>
          </a:solidFill>
          <a:ln/>
        </p:spPr>
      </p:sp>
      <p:sp>
        <p:nvSpPr>
          <p:cNvPr id="7" name="Text 5"/>
          <p:cNvSpPr txBox="1"/>
          <p:nvPr/>
        </p:nvSpPr>
        <p:spPr>
          <a:xfrm>
            <a:off x="795528"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61288"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Extract the ballot</a:t>
            </a:r>
            <a:endParaRPr lang="en-US" sz="1400" dirty="0"/>
          </a:p>
        </p:txBody>
      </p:sp>
      <p:sp>
        <p:nvSpPr>
          <p:cNvPr id="9" name="Text 7"/>
          <p:cNvSpPr txBox="1"/>
          <p:nvPr/>
        </p:nvSpPr>
        <p:spPr>
          <a:xfrm>
            <a:off x="795528"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One schema-first pass over the proxy statement returns every item: type, sponsor, resolution text, management's recommendation and any disclosed figures the rules key off.</a:t>
            </a:r>
            <a:endParaRPr lang="en-US" sz="1050" dirty="0"/>
          </a:p>
        </p:txBody>
      </p:sp>
      <p:sp>
        <p:nvSpPr>
          <p:cNvPr id="10" name="Shape 8"/>
          <p:cNvSpPr/>
          <p:nvPr/>
        </p:nvSpPr>
        <p:spPr>
          <a:xfrm>
            <a:off x="4340352" y="1783080"/>
            <a:ext cx="3508248" cy="1371600"/>
          </a:xfrm>
          <a:prstGeom prst="roundRect">
            <a:avLst>
              <a:gd name="adj" fmla="val 4000"/>
            </a:avLst>
          </a:prstGeom>
          <a:solidFill>
            <a:srgbClr val="F1F5F9"/>
          </a:solidFill>
          <a:ln w="12700">
            <a:solidFill>
              <a:srgbClr val="DBE4EC"/>
            </a:solidFill>
            <a:prstDash val="solid"/>
          </a:ln>
        </p:spPr>
      </p:sp>
      <p:sp>
        <p:nvSpPr>
          <p:cNvPr id="11" name="Shape 9"/>
          <p:cNvSpPr/>
          <p:nvPr/>
        </p:nvSpPr>
        <p:spPr>
          <a:xfrm>
            <a:off x="4541520" y="2002536"/>
            <a:ext cx="274320" cy="274320"/>
          </a:xfrm>
          <a:prstGeom prst="ellipse">
            <a:avLst/>
          </a:prstGeom>
          <a:solidFill>
            <a:srgbClr val="1C7293"/>
          </a:solidFill>
          <a:ln/>
        </p:spPr>
      </p:sp>
      <p:sp>
        <p:nvSpPr>
          <p:cNvPr id="12" name="Text 10"/>
          <p:cNvSpPr txBox="1"/>
          <p:nvPr/>
        </p:nvSpPr>
        <p:spPr>
          <a:xfrm>
            <a:off x="4541520"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4907280"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Rules before judgment</a:t>
            </a:r>
            <a:endParaRPr lang="en-US" sz="1400" dirty="0"/>
          </a:p>
        </p:txBody>
      </p:sp>
      <p:sp>
        <p:nvSpPr>
          <p:cNvPr id="14" name="Text 12"/>
          <p:cNvSpPr txBox="1"/>
          <p:nvPr/>
        </p:nvSpPr>
        <p:spPr>
          <a:xfrm>
            <a:off x="4541520"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Ordered deterministic rules run in Python first. Only what no rule resolves falls through to a single LLM judgment with a mandatory cited rationale.</a:t>
            </a:r>
            <a:endParaRPr lang="en-US" sz="1050" dirty="0"/>
          </a:p>
        </p:txBody>
      </p:sp>
      <p:sp>
        <p:nvSpPr>
          <p:cNvPr id="15" name="Shape 13"/>
          <p:cNvSpPr/>
          <p:nvPr/>
        </p:nvSpPr>
        <p:spPr>
          <a:xfrm>
            <a:off x="8086344" y="1783080"/>
            <a:ext cx="3508248" cy="1371600"/>
          </a:xfrm>
          <a:prstGeom prst="roundRect">
            <a:avLst>
              <a:gd name="adj" fmla="val 4000"/>
            </a:avLst>
          </a:prstGeom>
          <a:solidFill>
            <a:srgbClr val="F1F5F9"/>
          </a:solidFill>
          <a:ln w="12700">
            <a:solidFill>
              <a:srgbClr val="DBE4EC"/>
            </a:solidFill>
            <a:prstDash val="solid"/>
          </a:ln>
        </p:spPr>
      </p:sp>
      <p:sp>
        <p:nvSpPr>
          <p:cNvPr id="16" name="Shape 14"/>
          <p:cNvSpPr/>
          <p:nvPr/>
        </p:nvSpPr>
        <p:spPr>
          <a:xfrm>
            <a:off x="8287512" y="2002536"/>
            <a:ext cx="274320" cy="274320"/>
          </a:xfrm>
          <a:prstGeom prst="ellipse">
            <a:avLst/>
          </a:prstGeom>
          <a:solidFill>
            <a:srgbClr val="1C7293"/>
          </a:solidFill>
          <a:ln/>
        </p:spPr>
      </p:sp>
      <p:sp>
        <p:nvSpPr>
          <p:cNvPr id="17" name="Text 15"/>
          <p:cNvSpPr txBox="1"/>
          <p:nvPr/>
        </p:nvSpPr>
        <p:spPr>
          <a:xfrm>
            <a:off x="8287512" y="2011680"/>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8653272" y="1984248"/>
            <a:ext cx="2740152" cy="310896"/>
          </a:xfrm>
          <a:prstGeom prst="rect">
            <a:avLst/>
          </a:prstGeom>
          <a:noFill/>
          <a:ln/>
        </p:spPr>
        <p:txBody>
          <a:bodyPr wrap="square" lIns="0" tIns="0" rIns="0" bIns="0" rtlCol="0" anchor="ctr"/>
          <a:lstStyle/>
          <a:p>
            <a:pPr indent="0" marL="0">
              <a:buNone/>
            </a:pPr>
            <a:r>
              <a:rPr lang="en-US" sz="1400" b="1" dirty="0">
                <a:solidFill>
                  <a:srgbClr val="10243A"/>
                </a:solidFill>
                <a:latin typeface="Cambria" pitchFamily="34" charset="0"/>
                <a:ea typeface="Cambria" pitchFamily="34" charset="-122"/>
                <a:cs typeface="Cambria" pitchFamily="34" charset="-120"/>
              </a:rPr>
              <a:t>Nothing casts itself</a:t>
            </a:r>
            <a:endParaRPr lang="en-US" sz="1400" dirty="0"/>
          </a:p>
        </p:txBody>
      </p:sp>
      <p:sp>
        <p:nvSpPr>
          <p:cNvPr id="19" name="Text 17"/>
          <p:cNvSpPr txBox="1"/>
          <p:nvPr/>
        </p:nvSpPr>
        <p:spPr>
          <a:xfrm>
            <a:off x="8287512" y="2377440"/>
            <a:ext cx="3105912" cy="64008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Every proposal is queued for a human decision — no confidence threshold skips it — and the casting call refuses outright without one.</a:t>
            </a:r>
            <a:endParaRPr lang="en-US" sz="1050" dirty="0"/>
          </a:p>
        </p:txBody>
      </p:sp>
      <p:sp>
        <p:nvSpPr>
          <p:cNvPr id="20" name="Shape 18"/>
          <p:cNvSpPr/>
          <p:nvPr/>
        </p:nvSpPr>
        <p:spPr>
          <a:xfrm>
            <a:off x="594360" y="3291840"/>
            <a:ext cx="5399532" cy="1143000"/>
          </a:xfrm>
          <a:prstGeom prst="roundRect">
            <a:avLst>
              <a:gd name="adj" fmla="val 4800"/>
            </a:avLst>
          </a:prstGeom>
          <a:solidFill>
            <a:srgbClr val="FFFFFF"/>
          </a:solidFill>
          <a:ln w="12700">
            <a:solidFill>
              <a:srgbClr val="DBE4EC"/>
            </a:solidFill>
            <a:prstDash val="solid"/>
          </a:ln>
        </p:spPr>
      </p:sp>
      <p:sp>
        <p:nvSpPr>
          <p:cNvPr id="21" name="Shape 19"/>
          <p:cNvSpPr/>
          <p:nvPr/>
        </p:nvSpPr>
        <p:spPr>
          <a:xfrm>
            <a:off x="795528" y="3529584"/>
            <a:ext cx="118872" cy="118872"/>
          </a:xfrm>
          <a:prstGeom prst="ellipse">
            <a:avLst/>
          </a:prstGeom>
          <a:solidFill>
            <a:srgbClr val="E0A526"/>
          </a:solidFill>
          <a:ln/>
        </p:spPr>
      </p:sp>
      <p:sp>
        <p:nvSpPr>
          <p:cNvPr id="22" name="Text 20"/>
          <p:cNvSpPr txBox="1"/>
          <p:nvPr/>
        </p:nvSpPr>
        <p:spPr>
          <a:xfrm>
            <a:off x="1033272" y="3456432"/>
            <a:ext cx="47594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Where the ballot comes from</a:t>
            </a:r>
            <a:endParaRPr lang="en-US" sz="1350" dirty="0"/>
          </a:p>
        </p:txBody>
      </p:sp>
      <p:sp>
        <p:nvSpPr>
          <p:cNvPr id="23" name="Text 21"/>
          <p:cNvSpPr txBox="1"/>
          <p:nvPr/>
        </p:nvSpPr>
        <p:spPr>
          <a:xfrm>
            <a:off x="795528" y="3785616"/>
            <a:ext cx="4997196" cy="5212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Proxy statements arrive through the same document registry as everything else — EDGAR, the discovery crawler or a local upload. A company with none produces an empty ballot, reported plainly rather than as an error.</a:t>
            </a:r>
            <a:endParaRPr lang="en-US" sz="1050" dirty="0"/>
          </a:p>
        </p:txBody>
      </p:sp>
      <p:sp>
        <p:nvSpPr>
          <p:cNvPr id="24" name="Shape 22"/>
          <p:cNvSpPr/>
          <p:nvPr/>
        </p:nvSpPr>
        <p:spPr>
          <a:xfrm>
            <a:off x="6195060" y="3291840"/>
            <a:ext cx="5399532" cy="1143000"/>
          </a:xfrm>
          <a:prstGeom prst="roundRect">
            <a:avLst>
              <a:gd name="adj" fmla="val 4800"/>
            </a:avLst>
          </a:prstGeom>
          <a:solidFill>
            <a:srgbClr val="FFFFFF"/>
          </a:solidFill>
          <a:ln w="12700">
            <a:solidFill>
              <a:srgbClr val="DBE4EC"/>
            </a:solidFill>
            <a:prstDash val="solid"/>
          </a:ln>
        </p:spPr>
      </p:sp>
      <p:sp>
        <p:nvSpPr>
          <p:cNvPr id="25" name="Shape 23"/>
          <p:cNvSpPr/>
          <p:nvPr/>
        </p:nvSpPr>
        <p:spPr>
          <a:xfrm>
            <a:off x="6396228" y="3529584"/>
            <a:ext cx="118872" cy="118872"/>
          </a:xfrm>
          <a:prstGeom prst="ellipse">
            <a:avLst/>
          </a:prstGeom>
          <a:solidFill>
            <a:srgbClr val="E0A526"/>
          </a:solidFill>
          <a:ln/>
        </p:spPr>
      </p:sp>
      <p:sp>
        <p:nvSpPr>
          <p:cNvPr id="26" name="Text 24"/>
          <p:cNvSpPr txBox="1"/>
          <p:nvPr/>
        </p:nvSpPr>
        <p:spPr>
          <a:xfrm>
            <a:off x="6633972" y="3456432"/>
            <a:ext cx="47594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The cross-check that justifies sharing a record</a:t>
            </a:r>
            <a:endParaRPr lang="en-US" sz="1350" dirty="0"/>
          </a:p>
        </p:txBody>
      </p:sp>
      <p:sp>
        <p:nvSpPr>
          <p:cNvPr id="27" name="Text 25"/>
          <p:cNvSpPr txBox="1"/>
          <p:nvPr/>
        </p:nvSpPr>
        <p:spPr>
          <a:xfrm>
            <a:off x="6396228" y="3785616"/>
            <a:ext cx="4997196" cy="5212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 recommendation is checked against the company's engagement record: voting with management on a theme already escalated to “vote against management”, or anything other than for on the fund's own resolution, raises an alignment flag.</a:t>
            </a:r>
            <a:endParaRPr lang="en-US" sz="1050" dirty="0"/>
          </a:p>
        </p:txBody>
      </p:sp>
      <p:sp>
        <p:nvSpPr>
          <p:cNvPr id="28" name="Shape 26"/>
          <p:cNvSpPr/>
          <p:nvPr/>
        </p:nvSpPr>
        <p:spPr>
          <a:xfrm>
            <a:off x="594360" y="4617720"/>
            <a:ext cx="5399532" cy="1143000"/>
          </a:xfrm>
          <a:prstGeom prst="roundRect">
            <a:avLst>
              <a:gd name="adj" fmla="val 4800"/>
            </a:avLst>
          </a:prstGeom>
          <a:solidFill>
            <a:srgbClr val="FFFFFF"/>
          </a:solidFill>
          <a:ln w="12700">
            <a:solidFill>
              <a:srgbClr val="DBE4EC"/>
            </a:solidFill>
            <a:prstDash val="solid"/>
          </a:ln>
        </p:spPr>
      </p:sp>
      <p:sp>
        <p:nvSpPr>
          <p:cNvPr id="29" name="Shape 27"/>
          <p:cNvSpPr/>
          <p:nvPr/>
        </p:nvSpPr>
        <p:spPr>
          <a:xfrm>
            <a:off x="795528" y="4855464"/>
            <a:ext cx="118872" cy="118872"/>
          </a:xfrm>
          <a:prstGeom prst="ellipse">
            <a:avLst/>
          </a:prstGeom>
          <a:solidFill>
            <a:srgbClr val="E0A526"/>
          </a:solidFill>
          <a:ln/>
        </p:spPr>
      </p:sp>
      <p:sp>
        <p:nvSpPr>
          <p:cNvPr id="30" name="Text 28"/>
          <p:cNvSpPr txBox="1"/>
          <p:nvPr/>
        </p:nvSpPr>
        <p:spPr>
          <a:xfrm>
            <a:off x="1033272" y="4782312"/>
            <a:ext cx="47594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Illustrative rules, not house policy</a:t>
            </a:r>
            <a:endParaRPr lang="en-US" sz="1350" dirty="0"/>
          </a:p>
        </p:txBody>
      </p:sp>
      <p:sp>
        <p:nvSpPr>
          <p:cNvPr id="31" name="Text 29"/>
          <p:cNvSpPr txBox="1"/>
          <p:nvPr/>
        </p:nvSpPr>
        <p:spPr>
          <a:xfrm>
            <a:off x="795528" y="5111496"/>
            <a:ext cx="4997196" cy="5212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two shipped rules — auditor independence above a non-audit fee ratio, an extreme disclosed pay ratio — are a starting point. What matters is that they are code evaluated against extracted figures, not prompt text.</a:t>
            </a:r>
            <a:endParaRPr lang="en-US" sz="1050" dirty="0"/>
          </a:p>
        </p:txBody>
      </p:sp>
      <p:sp>
        <p:nvSpPr>
          <p:cNvPr id="32" name="Shape 30"/>
          <p:cNvSpPr/>
          <p:nvPr/>
        </p:nvSpPr>
        <p:spPr>
          <a:xfrm>
            <a:off x="6195060" y="4617720"/>
            <a:ext cx="5399532" cy="1143000"/>
          </a:xfrm>
          <a:prstGeom prst="roundRect">
            <a:avLst>
              <a:gd name="adj" fmla="val 4800"/>
            </a:avLst>
          </a:prstGeom>
          <a:solidFill>
            <a:srgbClr val="FFFFFF"/>
          </a:solidFill>
          <a:ln w="12700">
            <a:solidFill>
              <a:srgbClr val="DBE4EC"/>
            </a:solidFill>
            <a:prstDash val="solid"/>
          </a:ln>
        </p:spPr>
      </p:sp>
      <p:sp>
        <p:nvSpPr>
          <p:cNvPr id="33" name="Shape 31"/>
          <p:cNvSpPr/>
          <p:nvPr/>
        </p:nvSpPr>
        <p:spPr>
          <a:xfrm>
            <a:off x="6396228" y="4855464"/>
            <a:ext cx="118872" cy="118872"/>
          </a:xfrm>
          <a:prstGeom prst="ellipse">
            <a:avLst/>
          </a:prstGeom>
          <a:solidFill>
            <a:srgbClr val="E0A526"/>
          </a:solidFill>
          <a:ln/>
        </p:spPr>
      </p:sp>
      <p:sp>
        <p:nvSpPr>
          <p:cNvPr id="34" name="Text 32"/>
          <p:cNvSpPr txBox="1"/>
          <p:nvPr/>
        </p:nvSpPr>
        <p:spPr>
          <a:xfrm>
            <a:off x="6633972" y="4782312"/>
            <a:ext cx="4759452" cy="274320"/>
          </a:xfrm>
          <a:prstGeom prst="rect">
            <a:avLst/>
          </a:prstGeom>
          <a:noFill/>
          <a:ln/>
        </p:spPr>
        <p:txBody>
          <a:bodyPr wrap="square" lIns="0" tIns="0" rIns="0" bIns="0" rtlCol="0" anchor="ctr"/>
          <a:lstStyle/>
          <a:p>
            <a:pPr indent="0" marL="0">
              <a:buNone/>
            </a:pPr>
            <a:r>
              <a:rPr lang="en-US" sz="1350" b="1" dirty="0">
                <a:solidFill>
                  <a:srgbClr val="10243A"/>
                </a:solidFill>
                <a:latin typeface="Cambria" pitchFamily="34" charset="0"/>
                <a:ea typeface="Cambria" pitchFamily="34" charset="-122"/>
                <a:cs typeface="Cambria" pitchFamily="34" charset="-120"/>
              </a:rPr>
              <a:t>Casting, and being able to prove it</a:t>
            </a:r>
            <a:endParaRPr lang="en-US" sz="1350" dirty="0"/>
          </a:p>
        </p:txBody>
      </p:sp>
      <p:sp>
        <p:nvSpPr>
          <p:cNvPr id="35" name="Text 33"/>
          <p:cNvSpPr txBox="1"/>
          <p:nvPr/>
        </p:nvSpPr>
        <p:spPr>
          <a:xfrm>
            <a:off x="6396228" y="5111496"/>
            <a:ext cx="4997196" cy="52120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cast_vote refuses without a human decision, is idempotent per vote, and tracks cast items in a JSONL log so a proxy-season run resumes without double-casting. The platform is an interface it writes to.</a:t>
            </a:r>
            <a:endParaRPr lang="en-US" sz="1050" dirty="0"/>
          </a:p>
        </p:txBody>
      </p:sp>
      <p:sp>
        <p:nvSpPr>
          <p:cNvPr id="36" name="Shape 34"/>
          <p:cNvSpPr/>
          <p:nvPr/>
        </p:nvSpPr>
        <p:spPr>
          <a:xfrm>
            <a:off x="594360" y="5897880"/>
            <a:ext cx="11000232" cy="502920"/>
          </a:xfrm>
          <a:prstGeom prst="roundRect">
            <a:avLst>
              <a:gd name="adj" fmla="val 10909"/>
            </a:avLst>
          </a:prstGeom>
          <a:solidFill>
            <a:srgbClr val="F1F5F9"/>
          </a:solidFill>
          <a:ln w="12700">
            <a:solidFill>
              <a:srgbClr val="DBE4EC"/>
            </a:solidFill>
            <a:prstDash val="solid"/>
          </a:ln>
        </p:spPr>
      </p:sp>
      <p:sp>
        <p:nvSpPr>
          <p:cNvPr id="37" name="Text 35"/>
          <p:cNvSpPr txBox="1"/>
          <p:nvPr/>
        </p:nvSpPr>
        <p:spPr>
          <a:xfrm>
            <a:off x="795528" y="5897880"/>
            <a:ext cx="10597896" cy="5029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Known v1 gap: there is no AGM calendar or new-filing trigger yet — a voting run is started explicitly against a supplied universe. Proxy season's scale is already handled by the same resumable batch runner everything else uses.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19456"/>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10   ·   ARCHITECTURE &amp; PROCESS</a:t>
            </a:r>
            <a:endParaRPr lang="en-US" sz="1100" dirty="0"/>
          </a:p>
        </p:txBody>
      </p:sp>
      <p:sp>
        <p:nvSpPr>
          <p:cNvPr id="3" name="Text 1"/>
          <p:cNvSpPr txBox="1"/>
          <p:nvPr/>
        </p:nvSpPr>
        <p:spPr>
          <a:xfrm>
            <a:off x="594360" y="694944"/>
            <a:ext cx="11000232" cy="566928"/>
          </a:xfrm>
          <a:prstGeom prst="rect">
            <a:avLst/>
          </a:prstGeom>
          <a:noFill/>
          <a:ln/>
        </p:spPr>
        <p:txBody>
          <a:bodyPr wrap="square" lIns="0" tIns="0" rIns="0" bIns="0" rtlCol="0" anchor="ctr"/>
          <a:lstStyle/>
          <a:p>
            <a:pPr indent="0" marL="0">
              <a:buNone/>
            </a:pPr>
            <a:r>
              <a:rPr lang="en-US" sz="3800" b="1" dirty="0">
                <a:solidFill>
                  <a:srgbClr val="10243A"/>
                </a:solidFill>
                <a:latin typeface="Cambria" pitchFamily="34" charset="0"/>
                <a:ea typeface="Cambria" pitchFamily="34" charset="-122"/>
                <a:cs typeface="Cambria" pitchFamily="34" charset="-120"/>
              </a:rPr>
              <a:t>Voting: extract, apply policy, gate, cast</a:t>
            </a:r>
            <a:endParaRPr lang="en-US" sz="3800" dirty="0"/>
          </a:p>
        </p:txBody>
      </p:sp>
      <p:sp>
        <p:nvSpPr>
          <p:cNvPr id="4" name="Text 2"/>
          <p:cNvSpPr txBox="1"/>
          <p:nvPr/>
        </p:nvSpPr>
        <p:spPr>
          <a:xfrm>
            <a:off x="594360" y="1298448"/>
            <a:ext cx="10634472" cy="365760"/>
          </a:xfrm>
          <a:prstGeom prst="rect">
            <a:avLst/>
          </a:prstGeom>
          <a:noFill/>
          <a:ln/>
        </p:spPr>
        <p:txBody>
          <a:bodyPr wrap="square" lIns="0" tIns="0" rIns="0" bIns="0" rtlCol="0" anchor="ctr"/>
          <a:lstStyle/>
          <a:p>
            <a:pPr indent="0" marL="0">
              <a:buNone/>
            </a:pPr>
            <a:r>
              <a:rPr lang="en-US" sz="1400" dirty="0">
                <a:solidFill>
                  <a:srgbClr val="5A6B78"/>
                </a:solidFill>
                <a:latin typeface="Calibri" pitchFamily="34" charset="0"/>
                <a:ea typeface="Calibri" pitchFamily="34" charset="-122"/>
                <a:cs typeface="Calibri" pitchFamily="34" charset="-120"/>
              </a:rPr>
              <a:t>A LangGraph flow per company, with the one irreversible step held behind a hard precondition.</a:t>
            </a:r>
            <a:endParaRPr lang="en-US" sz="1400" dirty="0"/>
          </a:p>
        </p:txBody>
      </p:sp>
      <p:sp>
        <p:nvSpPr>
          <p:cNvPr id="5" name="Shape 3"/>
          <p:cNvSpPr/>
          <p:nvPr/>
        </p:nvSpPr>
        <p:spPr>
          <a:xfrm>
            <a:off x="594360" y="1828800"/>
            <a:ext cx="329184" cy="329184"/>
          </a:xfrm>
          <a:prstGeom prst="ellipse">
            <a:avLst/>
          </a:prstGeom>
          <a:solidFill>
            <a:srgbClr val="1C7293"/>
          </a:solidFill>
          <a:ln/>
        </p:spPr>
      </p:sp>
      <p:sp>
        <p:nvSpPr>
          <p:cNvPr id="6" name="Text 4"/>
          <p:cNvSpPr txBox="1"/>
          <p:nvPr/>
        </p:nvSpPr>
        <p:spPr>
          <a:xfrm>
            <a:off x="594360" y="18425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069848" y="1810512"/>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Start a voting run — </a:t>
            </a:r>
            <a:pPr indent="0" marL="0">
              <a:buNone/>
            </a:pPr>
            <a:r>
              <a:rPr lang="en-US" sz="1050" dirty="0">
                <a:solidFill>
                  <a:srgbClr val="5A6B78"/>
                </a:solidFill>
                <a:latin typeface="Calibri" pitchFamily="34" charset="0"/>
                <a:ea typeface="Calibri" pitchFamily="34" charset="-122"/>
                <a:cs typeface="Calibri" pitchFamily="34" charset="-120"/>
              </a:rPr>
              <a:t>arp voting run takes a universe and fetches DEF-14A-type documents from the same registry as everything else; a company with none simply yields an empty ballot, plainly reported.</a:t>
            </a:r>
            <a:endParaRPr lang="en-US" sz="1050" dirty="0"/>
          </a:p>
        </p:txBody>
      </p:sp>
      <p:sp>
        <p:nvSpPr>
          <p:cNvPr id="8" name="Shape 6"/>
          <p:cNvSpPr/>
          <p:nvPr/>
        </p:nvSpPr>
        <p:spPr>
          <a:xfrm>
            <a:off x="594360" y="2462349"/>
            <a:ext cx="329184" cy="329184"/>
          </a:xfrm>
          <a:prstGeom prst="ellipse">
            <a:avLst/>
          </a:prstGeom>
          <a:solidFill>
            <a:srgbClr val="1C7293"/>
          </a:solidFill>
          <a:ln/>
        </p:spPr>
      </p:sp>
      <p:sp>
        <p:nvSpPr>
          <p:cNvPr id="9" name="Text 7"/>
          <p:cNvSpPr txBox="1"/>
          <p:nvPr/>
        </p:nvSpPr>
        <p:spPr>
          <a:xfrm>
            <a:off x="594360" y="2476065"/>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069848" y="2444061"/>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Extract the proposals — </a:t>
            </a:r>
            <a:pPr indent="0" marL="0">
              <a:buNone/>
            </a:pPr>
            <a:r>
              <a:rPr lang="en-US" sz="1050" dirty="0">
                <a:solidFill>
                  <a:srgbClr val="5A6B78"/>
                </a:solidFill>
                <a:latin typeface="Calibri" pitchFamily="34" charset="0"/>
                <a:ea typeface="Calibri" pitchFamily="34" charset="-122"/>
                <a:cs typeface="Calibri" pitchFamily="34" charset="-120"/>
              </a:rPr>
              <a:t>one schema-first call returns a ProposalDraft per ballot item, including management's recommendation and any explicitly disclosed supporting figures the rules need.</a:t>
            </a:r>
            <a:endParaRPr lang="en-US" sz="1050" dirty="0"/>
          </a:p>
        </p:txBody>
      </p:sp>
      <p:sp>
        <p:nvSpPr>
          <p:cNvPr id="11" name="Shape 9"/>
          <p:cNvSpPr/>
          <p:nvPr/>
        </p:nvSpPr>
        <p:spPr>
          <a:xfrm>
            <a:off x="594360" y="3095897"/>
            <a:ext cx="329184" cy="329184"/>
          </a:xfrm>
          <a:prstGeom prst="ellipse">
            <a:avLst/>
          </a:prstGeom>
          <a:solidFill>
            <a:srgbClr val="1C7293"/>
          </a:solidFill>
          <a:ln/>
        </p:spPr>
      </p:sp>
      <p:sp>
        <p:nvSpPr>
          <p:cNvPr id="12" name="Text 10"/>
          <p:cNvSpPr txBox="1"/>
          <p:nvPr/>
        </p:nvSpPr>
        <p:spPr>
          <a:xfrm>
            <a:off x="594360" y="310961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069848" y="3077609"/>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Ground the citations — </a:t>
            </a:r>
            <a:pPr indent="0" marL="0">
              <a:buNone/>
            </a:pPr>
            <a:r>
              <a:rPr lang="en-US" sz="1050" dirty="0">
                <a:solidFill>
                  <a:srgbClr val="5A6B78"/>
                </a:solidFill>
                <a:latin typeface="Calibri" pitchFamily="34" charset="0"/>
                <a:ea typeface="Calibri" pitchFamily="34" charset="-122"/>
                <a:cs typeface="Calibri" pitchFamily="34" charset="-120"/>
              </a:rPr>
              <a:t>the same programmatic grounding check runs here; this is a single extraction pass by design, because a ballot is a list-extraction task, not a single-value one.</a:t>
            </a:r>
            <a:endParaRPr lang="en-US" sz="1050" dirty="0"/>
          </a:p>
        </p:txBody>
      </p:sp>
      <p:sp>
        <p:nvSpPr>
          <p:cNvPr id="14" name="Shape 12"/>
          <p:cNvSpPr/>
          <p:nvPr/>
        </p:nvSpPr>
        <p:spPr>
          <a:xfrm>
            <a:off x="594360" y="3729446"/>
            <a:ext cx="329184" cy="329184"/>
          </a:xfrm>
          <a:prstGeom prst="ellipse">
            <a:avLst/>
          </a:prstGeom>
          <a:solidFill>
            <a:srgbClr val="1C7293"/>
          </a:solidFill>
          <a:ln/>
        </p:spPr>
      </p:sp>
      <p:sp>
        <p:nvSpPr>
          <p:cNvPr id="15" name="Text 13"/>
          <p:cNvSpPr txBox="1"/>
          <p:nvPr/>
        </p:nvSpPr>
        <p:spPr>
          <a:xfrm>
            <a:off x="594360" y="374316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1069848" y="3711158"/>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Apply the rules — </a:t>
            </a:r>
            <a:pPr indent="0" marL="0">
              <a:buNone/>
            </a:pPr>
            <a:r>
              <a:rPr lang="en-US" sz="1050" dirty="0">
                <a:solidFill>
                  <a:srgbClr val="5A6B78"/>
                </a:solidFill>
                <a:latin typeface="Calibri" pitchFamily="34" charset="0"/>
                <a:ea typeface="Calibri" pitchFamily="34" charset="-122"/>
                <a:cs typeface="Calibri" pitchFamily="34" charset="-120"/>
              </a:rPr>
              <a:t>ordered Python predicates are evaluated against the extracted figures — first non-null wins — so a disclosed number is never re-judged by a categorical model call.</a:t>
            </a:r>
            <a:endParaRPr lang="en-US" sz="1050" dirty="0"/>
          </a:p>
        </p:txBody>
      </p:sp>
      <p:sp>
        <p:nvSpPr>
          <p:cNvPr id="17" name="Shape 15"/>
          <p:cNvSpPr/>
          <p:nvPr/>
        </p:nvSpPr>
        <p:spPr>
          <a:xfrm>
            <a:off x="594360" y="4362994"/>
            <a:ext cx="329184" cy="329184"/>
          </a:xfrm>
          <a:prstGeom prst="ellipse">
            <a:avLst/>
          </a:prstGeom>
          <a:solidFill>
            <a:srgbClr val="1C7293"/>
          </a:solidFill>
          <a:ln/>
        </p:spPr>
      </p:sp>
      <p:sp>
        <p:nvSpPr>
          <p:cNvPr id="18" name="Text 16"/>
          <p:cNvSpPr txBox="1"/>
          <p:nvPr/>
        </p:nvSpPr>
        <p:spPr>
          <a:xfrm>
            <a:off x="594360" y="43767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1069848" y="4344706"/>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Fall through to judgment — </a:t>
            </a:r>
            <a:pPr indent="0" marL="0">
              <a:buNone/>
            </a:pPr>
            <a:r>
              <a:rPr lang="en-US" sz="1050" dirty="0">
                <a:solidFill>
                  <a:srgbClr val="5A6B78"/>
                </a:solidFill>
                <a:latin typeface="Calibri" pitchFamily="34" charset="0"/>
                <a:ea typeface="Calibri" pitchFamily="34" charset="-122"/>
                <a:cs typeface="Calibri" pitchFamily="34" charset="-120"/>
              </a:rPr>
              <a:t>contested elections and novel shareholder resolutions reach one schema-first policy call, which must return a cited rationale and a confidence.</a:t>
            </a:r>
            <a:endParaRPr lang="en-US" sz="1050" dirty="0"/>
          </a:p>
        </p:txBody>
      </p:sp>
      <p:sp>
        <p:nvSpPr>
          <p:cNvPr id="20" name="Shape 18"/>
          <p:cNvSpPr/>
          <p:nvPr/>
        </p:nvSpPr>
        <p:spPr>
          <a:xfrm>
            <a:off x="594360" y="4996543"/>
            <a:ext cx="329184" cy="329184"/>
          </a:xfrm>
          <a:prstGeom prst="ellipse">
            <a:avLst/>
          </a:prstGeom>
          <a:solidFill>
            <a:srgbClr val="1C7293"/>
          </a:solidFill>
          <a:ln/>
        </p:spPr>
      </p:sp>
      <p:sp>
        <p:nvSpPr>
          <p:cNvPr id="21" name="Text 19"/>
          <p:cNvSpPr txBox="1"/>
          <p:nvPr/>
        </p:nvSpPr>
        <p:spPr>
          <a:xfrm>
            <a:off x="594360" y="5010259"/>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1069848" y="4978255"/>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Cross-check engagement — </a:t>
            </a:r>
            <a:pPr indent="0" marL="0">
              <a:buNone/>
            </a:pPr>
            <a:r>
              <a:rPr lang="en-US" sz="1050" dirty="0">
                <a:solidFill>
                  <a:srgbClr val="5A6B78"/>
                </a:solidFill>
                <a:latin typeface="Calibri" pitchFamily="34" charset="0"/>
                <a:ea typeface="Calibri" pitchFamily="34" charset="-122"/>
                <a:cs typeface="Calibri" pitchFamily="34" charset="-120"/>
              </a:rPr>
              <a:t>the recommendation is compared against the company's engagement record and flagged when it contradicts an escalation or the fund's own resolution.</a:t>
            </a:r>
            <a:endParaRPr lang="en-US" sz="1050" dirty="0"/>
          </a:p>
        </p:txBody>
      </p:sp>
      <p:sp>
        <p:nvSpPr>
          <p:cNvPr id="23" name="Shape 21"/>
          <p:cNvSpPr/>
          <p:nvPr/>
        </p:nvSpPr>
        <p:spPr>
          <a:xfrm>
            <a:off x="594360" y="5630091"/>
            <a:ext cx="329184" cy="329184"/>
          </a:xfrm>
          <a:prstGeom prst="ellipse">
            <a:avLst/>
          </a:prstGeom>
          <a:solidFill>
            <a:srgbClr val="1C7293"/>
          </a:solidFill>
          <a:ln/>
        </p:spPr>
      </p:sp>
      <p:sp>
        <p:nvSpPr>
          <p:cNvPr id="24" name="Text 22"/>
          <p:cNvSpPr txBox="1"/>
          <p:nvPr/>
        </p:nvSpPr>
        <p:spPr>
          <a:xfrm>
            <a:off x="594360" y="5643807"/>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1069848" y="5611803"/>
            <a:ext cx="6245352" cy="578685"/>
          </a:xfrm>
          <a:prstGeom prst="rect">
            <a:avLst/>
          </a:prstGeom>
          <a:noFill/>
          <a:ln/>
        </p:spPr>
        <p:txBody>
          <a:bodyPr wrap="square" lIns="0" tIns="0" rIns="0" bIns="0" rtlCol="0" anchor="ctr"/>
          <a:lstStyle/>
          <a:p>
            <a:pPr indent="0" marL="0">
              <a:buNone/>
            </a:pPr>
            <a:r>
              <a:rPr lang="en-US" sz="1050" b="1" dirty="0">
                <a:solidFill>
                  <a:srgbClr val="10243A"/>
                </a:solidFill>
                <a:latin typeface="Calibri" pitchFamily="34" charset="0"/>
                <a:ea typeface="Calibri" pitchFamily="34" charset="-122"/>
                <a:cs typeface="Calibri" pitchFamily="34" charset="-120"/>
              </a:rPr>
              <a:t>Human decides, then cast — </a:t>
            </a:r>
            <a:pPr indent="0" marL="0">
              <a:buNone/>
            </a:pPr>
            <a:r>
              <a:rPr lang="en-US" sz="1050" dirty="0">
                <a:solidFill>
                  <a:srgbClr val="5A6B78"/>
                </a:solidFill>
                <a:latin typeface="Calibri" pitchFamily="34" charset="0"/>
                <a:ea typeface="Calibri" pitchFamily="34" charset="-122"/>
                <a:cs typeface="Calibri" pitchFamily="34" charset="-120"/>
              </a:rPr>
              <a:t>every item is reviewed and approved or overridden; only then can cast_vote run — idempotently, resumably, through a pluggable ballot platform.</a:t>
            </a:r>
            <a:endParaRPr lang="en-US" sz="1050" dirty="0"/>
          </a:p>
        </p:txBody>
      </p:sp>
      <p:sp>
        <p:nvSpPr>
          <p:cNvPr id="26" name="Shape 24"/>
          <p:cNvSpPr/>
          <p:nvPr/>
        </p:nvSpPr>
        <p:spPr>
          <a:xfrm>
            <a:off x="7589520" y="1810512"/>
            <a:ext cx="4005072" cy="1417320"/>
          </a:xfrm>
          <a:prstGeom prst="roundRect">
            <a:avLst>
              <a:gd name="adj" fmla="val 3871"/>
            </a:avLst>
          </a:prstGeom>
          <a:solidFill>
            <a:srgbClr val="10243A"/>
          </a:solidFill>
          <a:ln/>
        </p:spPr>
      </p:sp>
      <p:sp>
        <p:nvSpPr>
          <p:cNvPr id="27" name="Text 25"/>
          <p:cNvSpPr txBox="1"/>
          <p:nvPr/>
        </p:nvSpPr>
        <p:spPr>
          <a:xfrm>
            <a:off x="7790688" y="1975104"/>
            <a:ext cx="3602736" cy="219456"/>
          </a:xfrm>
          <a:prstGeom prst="rect">
            <a:avLst/>
          </a:prstGeom>
          <a:noFill/>
          <a:ln/>
        </p:spPr>
        <p:txBody>
          <a:bodyPr wrap="square" lIns="0" tIns="0" rIns="0" bIns="0" rtlCol="0" anchor="ctr"/>
          <a:lstStyle/>
          <a:p>
            <a:pPr indent="0" marL="0">
              <a:buNone/>
            </a:pPr>
            <a:r>
              <a:rPr lang="en-US" sz="950" b="1" spc="160" kern="0" dirty="0">
                <a:solidFill>
                  <a:srgbClr val="E0A526"/>
                </a:solidFill>
                <a:latin typeface="Calibri" pitchFamily="34" charset="0"/>
                <a:ea typeface="Calibri" pitchFamily="34" charset="-122"/>
                <a:cs typeface="Calibri" pitchFamily="34" charset="-120"/>
              </a:rPr>
              <a:t>MODULES</a:t>
            </a:r>
            <a:endParaRPr lang="en-US" sz="950" dirty="0"/>
          </a:p>
        </p:txBody>
      </p:sp>
      <p:sp>
        <p:nvSpPr>
          <p:cNvPr id="28" name="Text 26"/>
          <p:cNvSpPr txBox="1"/>
          <p:nvPr/>
        </p:nvSpPr>
        <p:spPr>
          <a:xfrm>
            <a:off x="7790688" y="2231136"/>
            <a:ext cx="3602736" cy="914400"/>
          </a:xfrm>
          <a:prstGeom prst="rect">
            <a:avLst/>
          </a:prstGeom>
          <a:noFill/>
          <a:ln/>
        </p:spPr>
        <p:txBody>
          <a:bodyPr wrap="square" lIns="0" tIns="0" rIns="0" bIns="0" rtlCol="0" anchor="ctr"/>
          <a:lstStyle/>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arp/voting/pipeline.py, ballot_graph.py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arp/voting/proposal_agent.py, policy_agent.py</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arp/voting/ballot_casting.py (BallotPlatform interface)</a:t>
            </a:r>
            <a:endParaRPr lang="en-US" sz="900" dirty="0"/>
          </a:p>
          <a:p>
            <a:pPr indent="0" marL="0">
              <a:lnSpc>
                <a:spcPct val="105000"/>
              </a:lnSpc>
              <a:buNone/>
            </a:pPr>
            <a:r>
              <a:rPr lang="en-US" sz="900" dirty="0">
                <a:solidFill>
                  <a:srgbClr val="B9CDDD"/>
                </a:solidFill>
                <a:latin typeface="Calibri" pitchFamily="34" charset="0"/>
                <a:ea typeface="Calibri" pitchFamily="34" charset="-122"/>
                <a:cs typeface="Calibri" pitchFamily="34" charset="-120"/>
              </a:rPr>
              <a:t>arp/schemas/voting.py  ·  arp/storage/engagement_store.py</a:t>
            </a:r>
            <a:endParaRPr lang="en-US" sz="900" dirty="0"/>
          </a:p>
        </p:txBody>
      </p:sp>
      <p:sp>
        <p:nvSpPr>
          <p:cNvPr id="29" name="Shape 27"/>
          <p:cNvSpPr/>
          <p:nvPr/>
        </p:nvSpPr>
        <p:spPr>
          <a:xfrm>
            <a:off x="7589520" y="3364992"/>
            <a:ext cx="4005072" cy="1005840"/>
          </a:xfrm>
          <a:prstGeom prst="roundRect">
            <a:avLst>
              <a:gd name="adj" fmla="val 5455"/>
            </a:avLst>
          </a:prstGeom>
          <a:solidFill>
            <a:srgbClr val="F1F5F9"/>
          </a:solidFill>
          <a:ln w="12700">
            <a:solidFill>
              <a:srgbClr val="DBE4EC"/>
            </a:solidFill>
            <a:prstDash val="solid"/>
          </a:ln>
        </p:spPr>
      </p:sp>
      <p:sp>
        <p:nvSpPr>
          <p:cNvPr id="30" name="Text 28"/>
          <p:cNvSpPr txBox="1"/>
          <p:nvPr/>
        </p:nvSpPr>
        <p:spPr>
          <a:xfrm>
            <a:off x="7790688" y="3529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IN → OUT</a:t>
            </a:r>
            <a:endParaRPr lang="en-US" sz="950" dirty="0"/>
          </a:p>
        </p:txBody>
      </p:sp>
      <p:sp>
        <p:nvSpPr>
          <p:cNvPr id="31" name="Text 29"/>
          <p:cNvSpPr txBox="1"/>
          <p:nvPr/>
        </p:nvSpPr>
        <p:spPr>
          <a:xfrm>
            <a:off x="7790688" y="3767328"/>
            <a:ext cx="3602736" cy="54864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In: company universe + available proxy statements; house policy rules.</a:t>
            </a:r>
            <a:endParaRPr lang="en-US" sz="950" dirty="0"/>
          </a:p>
          <a:p>
            <a:pPr indent="0" marL="0">
              <a:buNone/>
            </a:pPr>
            <a:r>
              <a:rPr lang="en-US" sz="950" dirty="0">
                <a:solidFill>
                  <a:srgbClr val="5A6B78"/>
                </a:solidFill>
                <a:latin typeface="Calibri" pitchFamily="34" charset="0"/>
                <a:ea typeface="Calibri" pitchFamily="34" charset="-122"/>
                <a:cs typeface="Calibri" pitchFamily="34" charset="-120"/>
              </a:rPr>
              <a:t>Out: VoteRecord per proposal — recommendation, alignment flag, human decision, cast confirmation.</a:t>
            </a:r>
            <a:endParaRPr lang="en-US" sz="950" dirty="0"/>
          </a:p>
        </p:txBody>
      </p:sp>
      <p:sp>
        <p:nvSpPr>
          <p:cNvPr id="32" name="Shape 30"/>
          <p:cNvSpPr/>
          <p:nvPr/>
        </p:nvSpPr>
        <p:spPr>
          <a:xfrm>
            <a:off x="7589520" y="4507992"/>
            <a:ext cx="4005072" cy="1737360"/>
          </a:xfrm>
          <a:prstGeom prst="roundRect">
            <a:avLst>
              <a:gd name="adj" fmla="val 3158"/>
            </a:avLst>
          </a:prstGeom>
          <a:solidFill>
            <a:srgbClr val="F1F5F9"/>
          </a:solidFill>
          <a:ln w="12700">
            <a:solidFill>
              <a:srgbClr val="DBE4EC"/>
            </a:solidFill>
            <a:prstDash val="solid"/>
          </a:ln>
        </p:spPr>
      </p:sp>
      <p:sp>
        <p:nvSpPr>
          <p:cNvPr id="33" name="Text 31"/>
          <p:cNvSpPr txBox="1"/>
          <p:nvPr/>
        </p:nvSpPr>
        <p:spPr>
          <a:xfrm>
            <a:off x="7790688" y="4672584"/>
            <a:ext cx="3602736" cy="219456"/>
          </a:xfrm>
          <a:prstGeom prst="rect">
            <a:avLst/>
          </a:prstGeom>
          <a:noFill/>
          <a:ln/>
        </p:spPr>
        <p:txBody>
          <a:bodyPr wrap="square" lIns="0" tIns="0" rIns="0" bIns="0" rtlCol="0" anchor="ctr"/>
          <a:lstStyle/>
          <a:p>
            <a:pPr indent="0" marL="0">
              <a:buNone/>
            </a:pPr>
            <a:r>
              <a:rPr lang="en-US" sz="950" b="1" spc="160" kern="0" dirty="0">
                <a:solidFill>
                  <a:srgbClr val="1C7293"/>
                </a:solidFill>
                <a:latin typeface="Calibri" pitchFamily="34" charset="0"/>
                <a:ea typeface="Calibri" pitchFamily="34" charset="-122"/>
                <a:cs typeface="Calibri" pitchFamily="34" charset="-120"/>
              </a:rPr>
              <a:t>CONTROLS</a:t>
            </a:r>
            <a:endParaRPr lang="en-US" sz="950" dirty="0"/>
          </a:p>
        </p:txBody>
      </p:sp>
      <p:sp>
        <p:nvSpPr>
          <p:cNvPr id="34" name="Shape 32"/>
          <p:cNvSpPr/>
          <p:nvPr/>
        </p:nvSpPr>
        <p:spPr>
          <a:xfrm>
            <a:off x="7808976" y="5038344"/>
            <a:ext cx="100584" cy="100584"/>
          </a:xfrm>
          <a:prstGeom prst="ellipse">
            <a:avLst/>
          </a:prstGeom>
          <a:solidFill>
            <a:srgbClr val="E0A526"/>
          </a:solidFill>
          <a:ln/>
        </p:spPr>
      </p:sp>
      <p:sp>
        <p:nvSpPr>
          <p:cNvPr id="35" name="Text 33"/>
          <p:cNvSpPr txBox="1"/>
          <p:nvPr/>
        </p:nvSpPr>
        <p:spPr>
          <a:xfrm>
            <a:off x="8046720" y="4956048"/>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cast_vote raises CastVoteError when human_decision is None.</a:t>
            </a:r>
            <a:endParaRPr lang="en-US" sz="950" dirty="0"/>
          </a:p>
        </p:txBody>
      </p:sp>
      <p:sp>
        <p:nvSpPr>
          <p:cNvPr id="36" name="Shape 34"/>
          <p:cNvSpPr/>
          <p:nvPr/>
        </p:nvSpPr>
        <p:spPr>
          <a:xfrm>
            <a:off x="7808976" y="5458968"/>
            <a:ext cx="100584" cy="100584"/>
          </a:xfrm>
          <a:prstGeom prst="ellipse">
            <a:avLst/>
          </a:prstGeom>
          <a:solidFill>
            <a:srgbClr val="E0A526"/>
          </a:solidFill>
          <a:ln/>
        </p:spPr>
      </p:sp>
      <p:sp>
        <p:nvSpPr>
          <p:cNvPr id="37" name="Text 35"/>
          <p:cNvSpPr txBox="1"/>
          <p:nvPr/>
        </p:nvSpPr>
        <p:spPr>
          <a:xfrm>
            <a:off x="8046720" y="5376672"/>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Casting is idempotent and checkpointed in cast_confirmations.jsonl.</a:t>
            </a:r>
            <a:endParaRPr lang="en-US" sz="950" dirty="0"/>
          </a:p>
        </p:txBody>
      </p:sp>
      <p:sp>
        <p:nvSpPr>
          <p:cNvPr id="38" name="Shape 36"/>
          <p:cNvSpPr/>
          <p:nvPr/>
        </p:nvSpPr>
        <p:spPr>
          <a:xfrm>
            <a:off x="7808976" y="5879592"/>
            <a:ext cx="100584" cy="100584"/>
          </a:xfrm>
          <a:prstGeom prst="ellipse">
            <a:avLst/>
          </a:prstGeom>
          <a:solidFill>
            <a:srgbClr val="E0A526"/>
          </a:solidFill>
          <a:ln/>
        </p:spPr>
      </p:sp>
      <p:sp>
        <p:nvSpPr>
          <p:cNvPr id="39" name="Text 37"/>
          <p:cNvSpPr txBox="1"/>
          <p:nvPr/>
        </p:nvSpPr>
        <p:spPr>
          <a:xfrm>
            <a:off x="8046720" y="5797296"/>
            <a:ext cx="3328416" cy="384048"/>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Every proposal is reviewed — no confidence threshold skips the gate.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Research Pipeline — Functions, Architecture and Process</dc:title>
  <dc:subject>PptxGenJS Presentation</dc:subject>
  <dc:creator>Agentic Research Pipeline</dc:creator>
  <cp:lastModifiedBy>Agentic Research Pipeline</cp:lastModifiedBy>
  <cp:revision>1</cp:revision>
  <dcterms:created xsi:type="dcterms:W3CDTF">2026-09-14T15:44:20Z</dcterms:created>
  <dcterms:modified xsi:type="dcterms:W3CDTF">2026-09-14T15:44:20Z</dcterms:modified>
</cp:coreProperties>
</file>