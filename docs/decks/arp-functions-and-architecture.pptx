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end-to-end stewardship process in six stages. A, the strategic foundation: spot emerging themes, define the activities and taxonomy, develop positions, set standards, and build the data framework and scoring. B: monitor portfolio companies, assess transition plans and sector barriers, and select companies by their gaps against the standards. C, engagement: prepare with the historical record, assessments and news; send individual letters, emails and invitations; document the meeting afterwards. D: monitor the company's progress, find and verify evidence, and propose escalation. E: analyse voting proposals from public information and apply voting controls. F: answer RFPs and disclose. The next two slides show what ARP does for each step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figures typed in from annual reports, or bought as vendor scores, come without a page reference. Nobody can check them quickly, and doing it by hand does not scale to thousands of companies.</a:t>
            </a:r>
          </a:p>
          <a:p/>
          <a:p>
            <a:r>
              <a:t>Argus answers with cited extraction: every value carries its quote and page, a verifier on a different model re-reads it, and anything uncertain goes to a person. XBRL facts are stored as the company filed them.</a:t>
            </a:r>
          </a:p>
          <a:p/>
          <a:p>
            <a:r>
              <a:t>Opportunities, as proposals: stewardship can quote the company's own disclosure in letters and vote rationales; product teams can define fund eligibility as a ratified Decision Studio template; and on data licences, figures from public reports and filings can be used to check a licensed vendor field, which the climate validation already does for emissions.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value Argus stores goes through the same chain. Code picks the evidence passages with BM25 and embeddings. The extractor returns the value with unit, period and a verbatim quote. A verifier on a different model extracts again without seeing the first answer; a value counts only when the two agree. Code checks that the quote exists on the cited page and that the number, unit, scale and period hold: the model's word is never enough. Values that fail text grounding get a page-image check. Anything that is not auto-accepted goes to a person, with the cited span boxed on the PDF page. Below the chain: the same flow as the Extraction screen shows it.</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run, made for this deck on 26 October 2026: one company, Apple, with its latest 10-K fetched from SEC EDGAR, and three fields marked high-risk so that every value goes to review. It ran as a trial because the demo schema was not released by an approver; the pipeline is the same. The run cost about 36 US cents. It found research and development expense of 34,550 million dollars for fiscal 2025 and about 166,000 full-time equivalent employees, each with its verbatim quote. Capital expenditure came back as not disclosed, which also goes to review. The scale and period checks flagged questions on each value, so a person decides.</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holdings, ESG data and climate research live in different places. A breach or a controversy is noticed late, and the annual climate review is assembled by hand each time.</a:t>
            </a:r>
          </a:p>
          <a:p/>
          <a:p>
            <a:r>
              <a:t>Transition Intelligence runs monthly monitoring, which is blocked rather than guessed when the month's holdings or ESG loads are not good, and a climate transition review: risk monitoring, transition barriers, transition plan, Decision Studio, selection for engagement, reports.</a:t>
            </a:r>
          </a:p>
          <a:p/>
          <a:p>
            <a:r>
              <a:t>Opportunities, as proposals: alerts become stewardship triggers with owners; climate-labelled products get holding-level and sector-level evidence; and because every provider source is tagged internal_only or redistributable, licence limits are enforced in code: internal-only facts can be shown internally but never published.</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matrix shows the approach at its clearest. The owner signs a rule book that says, for each criterion, which facts are needed and what makes it high, moderate or low feasibility. A model reads each fact from the official sources, and code checks the value, unit and quote. A three-valued rules engine derives the rating, and a named person ratifies it. The EUR-Lex refresh only proposes changes.</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a new theme or strategy usually starts in a spreadsheet. The boundary of the theme moves with each analyst, backtests are fitted to the past, and once a product launches it is hard to show which evidence it rests on.</a:t>
            </a:r>
          </a:p>
          <a:p/>
          <a:p>
            <a:r>
              <a:t>The R&amp;D Lab connects emerging themes, the taxonomy library, the thematic universe, Decision Studio and index construction, and strategy replication with out-of-sample tests and overfitting checks.</a:t>
            </a:r>
          </a:p>
          <a:p/>
          <a:p>
            <a:r>
              <a:t>Opportunities, as proposals: the theme dossier's planned step 5 links a product's position to stewardship flags; index products can be composed from presets and stay reproducible because calibrations are effective-dated; and house methodologies and taxonomies are the firm's own work, while some reference data, such as GICS below sector level, needs a licence.</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construction composes a methodology from named rules: ordered screens, one selection rule, a weighting scheme, bounded tilts, a capping waterfall and the EU Paris-aligned or climate transition benchmark trajectory. Presets expand into ordinary editable rules. Every stage writes a trace line, which is the committee's funnel and the audit trail. Calibrations are versioned and effective-dated, and optional solvers are never trusted: every constraint is re-checked in Python.</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stewardship work is scattered across emails, notes and spreadsheets. It is hard to show who owns an issue, what a company committed to, and why a vote went the way it did.</a:t>
            </a:r>
          </a:p>
          <a:p/>
          <a:p>
            <a:r>
              <a:t>StewardIQ keeps one engagement record per company with milestone stages and an escalation ladder, runs proxy voting with house rules before any model judgment and a person deciding every proposal, and produces client reports.</a:t>
            </a:r>
          </a:p>
          <a:p/>
          <a:p>
            <a:r>
              <a:t>Opportunities, as proposals: votes and engagements reinforce each other on one record; client reporting already separates house activity from where a client policy differed, which can support client-specific mandates; the client-overlay operating model is a target design and only partly built. On licences, proxy statements come from EDGAR, while vote data from an external provider would carry that provider's terms.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Steward Workflow draws the stewardship process as one graph: monitoring, selection, drafting, voting, the checkpoint and tracking for the house, with client policy and reporting as an overlay that stores only where a client differs. House and client rules are decision graphs on one engine. Escalation rules propose a ladder step that the issuer's coverage tier caps, and every metric shows whether it is live, sample or not built.</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every tool tends to map securities to issuers in its own way, and a feed that stopped loading is only noticed when a number looks wrong.</a:t>
            </a:r>
          </a:p>
          <a:p/>
          <a:p>
            <a:r>
              <a:t>Data Hub holds the security master, the golden source for issuer identity, loaded only by approvers and matched exactly by LEI, ISIN or CIK, never by name. Feeds shows each input's data date and whether it is behind; Issues lists every open data problem, blocking first; Outputs is the catalogue of stored results with what has used them.</a:t>
            </a:r>
          </a:p>
          <a:p/>
          <a:p>
            <a:r>
              <a:t>Opportunities, as proposals: stewardship evidence and holdings point at the same issuer; product teams can trace which inputs a product uses; and the licence tag on each provider source makes reuse limits visible up front.</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Hub keeps the inputs honest. The security master maps every held security to exactly one issuer by LEI, ISIN or CIK, and nothing is matched by name. Feeds shows each input's data date and flags it as behind. Issues lists every open data problem, blocking first, with feed and master problems ahead of the check failures they may cause, and each row links to where it is fixed. Provider sources carry a licence tag, and internal-only data is refused by the publish path.</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rules that hold across the code and the screens. The first three are the principles from the cover. Structured data first: XBRL facts, catalogue mappings and house voting rules resolve what they can before any model judgment. Not found is an answer: no evidence ends in an explicit not-found. Versioned and dated: decision frameworks, index calibrations and published facts are effective-dated and read as of a date. Resumable at scale: every run is checkpointed in Postgres. One signal colour: in the app, one colour means a person must act, and nothing else uses it. Processes, not pages: each workspace step names what it hands to the next, and manual handoffs are drawn as gaps.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robots are grouped by job. Read and extract: the field extractor runs any schema; proxy proposals, transition-plan lists, barrier facts and RFP questions have their own readers. Check and judge: a blind verifier on a different model, an adjudicator for disagreements, a page-image check, and the advocate, opposing and adjudicator debate for theme exposure. Classify and map: one identity call where lookups do not settle it, vote policy judgment when no house rule fires, a news risk classifier and the sector mappers. Draft and write: engagement dossiers and letters, the context brief and research note, the deck storyline and slide filler, and RFP answers drafted only from approved library entries. Ask and plan: the Ask ARP router, Portfolio Q&amp;A and Smart Search, which write a query or filter that code runs, and the BI chart planner. Standing agents run on a schedule and only propose. Several parts are deliberately model-free.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5.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9.png"/><Relationship Id="rId4" Type="http://schemas.openxmlformats.org/officeDocument/2006/relationships/image" Target="../media/image5.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19.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37.pn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72.png"/><Relationship Id="rId9" Type="http://schemas.openxmlformats.org/officeDocument/2006/relationships/image" Target="../media/image73.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png"/><Relationship Id="rId4" Type="http://schemas.openxmlformats.org/officeDocument/2006/relationships/image" Target="../media/image50.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75.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7.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90.png"/><Relationship Id="rId11" Type="http://schemas.openxmlformats.org/officeDocument/2006/relationships/image" Target="../media/image75.pn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2.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75.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7.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79.png"/><Relationship Id="rId8" Type="http://schemas.openxmlformats.org/officeDocument/2006/relationships/image" Target="../media/image97.png"/><Relationship Id="rId9" Type="http://schemas.openxmlformats.org/officeDocument/2006/relationships/image" Target="../media/image98.png"/><Relationship Id="rId10" Type="http://schemas.openxmlformats.org/officeDocument/2006/relationships/image" Target="../media/image99.png"/><Relationship Id="rId11" Type="http://schemas.openxmlformats.org/officeDocument/2006/relationships/image" Target="../media/image75.pn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7.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28.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75.pn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7.png"/><Relationship Id="rId4" Type="http://schemas.openxmlformats.org/officeDocument/2006/relationships/image" Target="../media/image108.png"/><Relationship Id="rId5" Type="http://schemas.openxmlformats.org/officeDocument/2006/relationships/image" Target="../media/image32.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83.png"/><Relationship Id="rId9" Type="http://schemas.openxmlformats.org/officeDocument/2006/relationships/image" Target="../media/image105.png"/><Relationship Id="rId10" Type="http://schemas.openxmlformats.org/officeDocument/2006/relationships/image" Target="../media/image111.png"/><Relationship Id="rId11" Type="http://schemas.openxmlformats.org/officeDocument/2006/relationships/image" Target="../media/image112.pn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image" Target="../media/image75.pn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image" Target="../media/image7.png"/><Relationship Id="rId4" Type="http://schemas.openxmlformats.org/officeDocument/2006/relationships/image" Target="../media/image121.png"/><Relationship Id="rId5" Type="http://schemas.openxmlformats.org/officeDocument/2006/relationships/image" Target="../media/image28.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122.png"/><Relationship Id="rId9" Type="http://schemas.openxmlformats.org/officeDocument/2006/relationships/image" Target="../media/image90.png"/><Relationship Id="rId10" Type="http://schemas.openxmlformats.org/officeDocument/2006/relationships/image" Target="../media/image123.png"/><Relationship Id="rId11" Type="http://schemas.openxmlformats.org/officeDocument/2006/relationships/image" Target="../media/image75.pn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7.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image" Target="../media/image128.png"/><Relationship Id="rId8" Type="http://schemas.openxmlformats.org/officeDocument/2006/relationships/image" Target="../media/image129.png"/><Relationship Id="rId9" Type="http://schemas.openxmlformats.org/officeDocument/2006/relationships/image" Target="../media/image130.png"/><Relationship Id="rId10" Type="http://schemas.openxmlformats.org/officeDocument/2006/relationships/image" Target="../media/image131.png"/><Relationship Id="rId11" Type="http://schemas.openxmlformats.org/officeDocument/2006/relationships/image" Target="../media/image75.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7.png"/><Relationship Id="rId4" Type="http://schemas.openxmlformats.org/officeDocument/2006/relationships/image" Target="../media/image52.png"/><Relationship Id="rId5" Type="http://schemas.openxmlformats.org/officeDocument/2006/relationships/image" Target="../media/image125.png"/><Relationship Id="rId6" Type="http://schemas.openxmlformats.org/officeDocument/2006/relationships/image" Target="../media/image51.png"/><Relationship Id="rId7" Type="http://schemas.openxmlformats.org/officeDocument/2006/relationships/image" Target="../media/image67.png"/><Relationship Id="rId8" Type="http://schemas.openxmlformats.org/officeDocument/2006/relationships/image" Target="../media/image133.png"/><Relationship Id="rId9" Type="http://schemas.openxmlformats.org/officeDocument/2006/relationships/image" Target="../media/image134.png"/><Relationship Id="rId10" Type="http://schemas.openxmlformats.org/officeDocument/2006/relationships/image" Target="../media/image135.png"/><Relationship Id="rId11" Type="http://schemas.openxmlformats.org/officeDocument/2006/relationships/image" Target="../media/image75.png"/><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7.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40.png"/><Relationship Id="rId7" Type="http://schemas.openxmlformats.org/officeDocument/2006/relationships/image" Target="../media/image139.png"/><Relationship Id="rId8" Type="http://schemas.openxmlformats.org/officeDocument/2006/relationships/image" Target="../media/image38.png"/><Relationship Id="rId9" Type="http://schemas.openxmlformats.org/officeDocument/2006/relationships/image" Target="../media/image140.png"/><Relationship Id="rId10" Type="http://schemas.openxmlformats.org/officeDocument/2006/relationships/image" Target="../media/image141.png"/><Relationship Id="rId11" Type="http://schemas.openxmlformats.org/officeDocument/2006/relationships/image" Target="../media/image54.png"/><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142.png"/><Relationship Id="rId6" Type="http://schemas.openxmlformats.org/officeDocument/2006/relationships/image" Target="../media/image143.png"/><Relationship Id="rId7" Type="http://schemas.openxmlformats.org/officeDocument/2006/relationships/image" Target="../media/image144.png"/><Relationship Id="rId8" Type="http://schemas.openxmlformats.org/officeDocument/2006/relationships/image" Target="../media/image145.png"/><Relationship Id="rId9" Type="http://schemas.openxmlformats.org/officeDocument/2006/relationships/image" Target="../media/image146.png"/><Relationship Id="rId10" Type="http://schemas.openxmlformats.org/officeDocument/2006/relationships/image" Target="../media/image147.png"/><Relationship Id="rId11" Type="http://schemas.openxmlformats.org/officeDocument/2006/relationships/image" Target="../media/image75.png"/><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148.png"/><Relationship Id="rId5" Type="http://schemas.openxmlformats.org/officeDocument/2006/relationships/image" Target="../media/image149.png"/><Relationship Id="rId6" Type="http://schemas.openxmlformats.org/officeDocument/2006/relationships/image" Target="../media/image150.png"/><Relationship Id="rId7" Type="http://schemas.openxmlformats.org/officeDocument/2006/relationships/image" Target="../media/image32.png"/><Relationship Id="rId8" Type="http://schemas.openxmlformats.org/officeDocument/2006/relationships/image" Target="../media/image151.png"/><Relationship Id="rId9" Type="http://schemas.openxmlformats.org/officeDocument/2006/relationships/image" Target="../media/image152.png"/><Relationship Id="rId10" Type="http://schemas.openxmlformats.org/officeDocument/2006/relationships/image" Target="../media/image54.png"/><Relationship Id="rId11" Type="http://schemas.openxmlformats.org/officeDocument/2006/relationships/image" Target="../media/image75.png"/><Relationship Id="rId1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 Id="rId3" Type="http://schemas.openxmlformats.org/officeDocument/2006/relationships/image" Target="../media/image7.png"/><Relationship Id="rId4" Type="http://schemas.openxmlformats.org/officeDocument/2006/relationships/image" Target="../media/image45.png"/><Relationship Id="rId5" Type="http://schemas.openxmlformats.org/officeDocument/2006/relationships/image" Target="../media/image154.png"/><Relationship Id="rId6" Type="http://schemas.openxmlformats.org/officeDocument/2006/relationships/image" Target="../media/image66.png"/><Relationship Id="rId7" Type="http://schemas.openxmlformats.org/officeDocument/2006/relationships/image" Target="../media/image32.png"/><Relationship Id="rId8" Type="http://schemas.openxmlformats.org/officeDocument/2006/relationships/image" Target="../media/image97.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73.png"/><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28.png"/><Relationship Id="rId5" Type="http://schemas.openxmlformats.org/officeDocument/2006/relationships/image" Target="../media/image157.png"/><Relationship Id="rId6" Type="http://schemas.openxmlformats.org/officeDocument/2006/relationships/image" Target="../media/image78.png"/><Relationship Id="rId7" Type="http://schemas.openxmlformats.org/officeDocument/2006/relationships/image" Target="../media/image158.png"/><Relationship Id="rId8" Type="http://schemas.openxmlformats.org/officeDocument/2006/relationships/image" Target="../media/image32.png"/><Relationship Id="rId9" Type="http://schemas.openxmlformats.org/officeDocument/2006/relationships/image" Target="../media/image105.png"/><Relationship Id="rId10" Type="http://schemas.openxmlformats.org/officeDocument/2006/relationships/image" Target="../media/image159.png"/><Relationship Id="rId11" Type="http://schemas.openxmlformats.org/officeDocument/2006/relationships/image" Target="../media/image75.png"/><Relationship Id="rId1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image" Target="../media/image7.png"/><Relationship Id="rId4" Type="http://schemas.openxmlformats.org/officeDocument/2006/relationships/image" Target="../media/image161.png"/><Relationship Id="rId5" Type="http://schemas.openxmlformats.org/officeDocument/2006/relationships/image" Target="../media/image66.png"/><Relationship Id="rId6" Type="http://schemas.openxmlformats.org/officeDocument/2006/relationships/image" Target="../media/image79.png"/><Relationship Id="rId7" Type="http://schemas.openxmlformats.org/officeDocument/2006/relationships/image" Target="../media/image43.png"/><Relationship Id="rId8" Type="http://schemas.openxmlformats.org/officeDocument/2006/relationships/image" Target="../media/image162.png"/><Relationship Id="rId9" Type="http://schemas.openxmlformats.org/officeDocument/2006/relationships/image" Target="../media/image163.png"/><Relationship Id="rId10" Type="http://schemas.openxmlformats.org/officeDocument/2006/relationships/image" Target="../media/image164.png"/><Relationship Id="rId11" Type="http://schemas.openxmlformats.org/officeDocument/2006/relationships/image" Target="../media/image75.png"/><Relationship Id="rId1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5.png"/><Relationship Id="rId3" Type="http://schemas.openxmlformats.org/officeDocument/2006/relationships/image" Target="../media/image7.png"/><Relationship Id="rId4" Type="http://schemas.openxmlformats.org/officeDocument/2006/relationships/image" Target="../media/image166.png"/><Relationship Id="rId5" Type="http://schemas.openxmlformats.org/officeDocument/2006/relationships/image" Target="../media/image32.png"/><Relationship Id="rId6" Type="http://schemas.openxmlformats.org/officeDocument/2006/relationships/image" Target="../media/image167.png"/><Relationship Id="rId7" Type="http://schemas.openxmlformats.org/officeDocument/2006/relationships/image" Target="../media/image168.png"/><Relationship Id="rId8" Type="http://schemas.openxmlformats.org/officeDocument/2006/relationships/image" Target="../media/image169.png"/><Relationship Id="rId9" Type="http://schemas.openxmlformats.org/officeDocument/2006/relationships/image" Target="../media/image170.png"/><Relationship Id="rId10" Type="http://schemas.openxmlformats.org/officeDocument/2006/relationships/image" Target="../media/image171.png"/><Relationship Id="rId11" Type="http://schemas.openxmlformats.org/officeDocument/2006/relationships/image" Target="../media/image75.png"/><Relationship Id="rId1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 Id="rId8"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AGENTIC RESEARCH PIPELINE</a:t>
            </a:r>
          </a:p>
        </p:txBody>
      </p:sp>
      <p:sp>
        <p:nvSpPr>
          <p:cNvPr id="3" name="TextBox 2"/>
          <p:cNvSpPr txBox="1"/>
          <p:nvPr/>
        </p:nvSpPr>
        <p:spPr>
          <a:xfrm>
            <a:off x="812800" y="11366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0F172A"/>
                </a:solidFill>
                <a:latin typeface="IBM Plex Sans"/>
              </a:rPr>
              <a:t>Research at scale, every number traceable</a:t>
            </a:r>
          </a:p>
        </p:txBody>
      </p:sp>
      <p:sp>
        <p:nvSpPr>
          <p:cNvPr id="4" name="TextBox 3"/>
          <p:cNvSpPr txBox="1"/>
          <p:nvPr/>
        </p:nvSpPr>
        <p:spPr>
          <a:xfrm>
            <a:off x="812800" y="19240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IT DOES</a:t>
            </a:r>
          </a:p>
        </p:txBody>
      </p:sp>
      <p:sp>
        <p:nvSpPr>
          <p:cNvPr id="5" name="Rounded Rectangle 4"/>
          <p:cNvSpPr/>
          <p:nvPr/>
        </p:nvSpPr>
        <p:spPr>
          <a:xfrm>
            <a:off x="8128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374900"/>
            <a:ext cx="304800" cy="304800"/>
          </a:xfrm>
          <a:prstGeom prst="ellipse">
            <a:avLst/>
          </a:prstGeom>
          <a:solidFill>
            <a:srgbClr val="0F172A"/>
          </a:solidFill>
          <a:ln>
            <a:noFill/>
          </a:ln>
          <a:effectLst/>
        </p:spPr>
        <p:txBody>
          <a:bodyPr rtlCol="0" anchor="ctr"/>
          <a:lstStyle/>
          <a:p>
            <a:pPr algn="ctr"/>
          </a:p>
        </p:txBody>
      </p:sp>
      <p:pic>
        <p:nvPicPr>
          <p:cNvPr id="7" name="Picture 6" descr="search-FFFFFF.png"/>
          <p:cNvPicPr>
            <a:picLocks noChangeAspect="1"/>
          </p:cNvPicPr>
          <p:nvPr/>
        </p:nvPicPr>
        <p:blipFill>
          <a:blip r:embed="rId2"/>
          <a:stretch>
            <a:fillRect/>
          </a:stretch>
        </p:blipFill>
        <p:spPr>
          <a:xfrm>
            <a:off x="1041400" y="2451100"/>
            <a:ext cx="152400" cy="152400"/>
          </a:xfrm>
          <a:prstGeom prst="rect">
            <a:avLst/>
          </a:prstGeom>
        </p:spPr>
      </p:pic>
      <p:sp>
        <p:nvSpPr>
          <p:cNvPr id="8" name="TextBox 7"/>
          <p:cNvSpPr txBox="1"/>
          <p:nvPr/>
        </p:nvSpPr>
        <p:spPr>
          <a:xfrm>
            <a:off x="13716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Find and extract</a:t>
            </a:r>
          </a:p>
        </p:txBody>
      </p:sp>
      <p:sp>
        <p:nvSpPr>
          <p:cNvPr id="9" name="TextBox 8"/>
          <p:cNvSpPr txBox="1"/>
          <p:nvPr/>
        </p:nvSpPr>
        <p:spPr>
          <a:xfrm>
            <a:off x="9652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Thematic universes, document discovery and identity resolution. Schema-defined figures, XBRL facts, transition plans and barriers, for ~4,000 companies per run.</a:t>
            </a:r>
          </a:p>
        </p:txBody>
      </p:sp>
      <p:sp>
        <p:nvSpPr>
          <p:cNvPr id="10" name="Rounded Rectangle 9"/>
          <p:cNvSpPr/>
          <p:nvPr/>
        </p:nvSpPr>
        <p:spPr>
          <a:xfrm>
            <a:off x="61722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6324600" y="2374900"/>
            <a:ext cx="304800" cy="304800"/>
          </a:xfrm>
          <a:prstGeom prst="ellipse">
            <a:avLst/>
          </a:prstGeom>
          <a:solidFill>
            <a:srgbClr val="0F172A"/>
          </a:solidFill>
          <a:ln>
            <a:noFill/>
          </a:ln>
          <a:effectLst/>
        </p:spPr>
        <p:txBody>
          <a:bodyPr rtlCol="0" anchor="ctr"/>
          <a:lstStyle/>
          <a:p>
            <a:pPr algn="ctr"/>
          </a:p>
        </p:txBody>
      </p:sp>
      <p:pic>
        <p:nvPicPr>
          <p:cNvPr id="12" name="Picture 11" descr="chart-column-FFFFFF.png"/>
          <p:cNvPicPr>
            <a:picLocks noChangeAspect="1"/>
          </p:cNvPicPr>
          <p:nvPr/>
        </p:nvPicPr>
        <p:blipFill>
          <a:blip r:embed="rId3"/>
          <a:stretch>
            <a:fillRect/>
          </a:stretch>
        </p:blipFill>
        <p:spPr>
          <a:xfrm>
            <a:off x="6400800" y="2451100"/>
            <a:ext cx="152400" cy="152400"/>
          </a:xfrm>
          <a:prstGeom prst="rect">
            <a:avLst/>
          </a:prstGeom>
        </p:spPr>
      </p:pic>
      <p:sp>
        <p:nvSpPr>
          <p:cNvPr id="13" name="TextBox 12"/>
          <p:cNvSpPr txBox="1"/>
          <p:nvPr/>
        </p:nvSpPr>
        <p:spPr>
          <a:xfrm>
            <a:off x="67310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Analyse and decide</a:t>
            </a:r>
          </a:p>
        </p:txBody>
      </p:sp>
      <p:sp>
        <p:nvSpPr>
          <p:cNvPr id="14" name="TextBox 13"/>
          <p:cNvSpPr txBox="1"/>
          <p:nvPr/>
        </p:nvSpPr>
        <p:spPr>
          <a:xfrm>
            <a:off x="63246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Portfolio and climate analytics (WACI, financed emissions), Decision Studio scoring and tiering, equity index construction, strategy backtests, reports, decks and dashboards.</a:t>
            </a:r>
          </a:p>
        </p:txBody>
      </p:sp>
      <p:sp>
        <p:nvSpPr>
          <p:cNvPr id="15" name="TextBox 14"/>
          <p:cNvSpPr txBox="1"/>
          <p:nvPr/>
        </p:nvSpPr>
        <p:spPr>
          <a:xfrm>
            <a:off x="812800" y="40386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MAKES IT POSSIBLE</a:t>
            </a:r>
          </a:p>
        </p:txBody>
      </p:sp>
      <p:sp>
        <p:nvSpPr>
          <p:cNvPr id="16" name="Rounded Rectangle 15"/>
          <p:cNvSpPr/>
          <p:nvPr/>
        </p:nvSpPr>
        <p:spPr>
          <a:xfrm>
            <a:off x="812800"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7" name="Oval 16"/>
          <p:cNvSpPr/>
          <p:nvPr/>
        </p:nvSpPr>
        <p:spPr>
          <a:xfrm>
            <a:off x="965200" y="4489450"/>
            <a:ext cx="304800" cy="304800"/>
          </a:xfrm>
          <a:prstGeom prst="ellipse">
            <a:avLst/>
          </a:prstGeom>
          <a:solidFill>
            <a:srgbClr val="16A34A"/>
          </a:solidFill>
          <a:ln>
            <a:noFill/>
          </a:ln>
          <a:effectLst/>
        </p:spPr>
        <p:txBody>
          <a:bodyPr rtlCol="0" anchor="ctr"/>
          <a:lstStyle/>
          <a:p>
            <a:pPr algn="ctr"/>
          </a:p>
        </p:txBody>
      </p:sp>
      <p:pic>
        <p:nvPicPr>
          <p:cNvPr id="18" name="Picture 17" descr="code-FFFFFF.png"/>
          <p:cNvPicPr>
            <a:picLocks noChangeAspect="1"/>
          </p:cNvPicPr>
          <p:nvPr/>
        </p:nvPicPr>
        <p:blipFill>
          <a:blip r:embed="rId4"/>
          <a:stretch>
            <a:fillRect/>
          </a:stretch>
        </p:blipFill>
        <p:spPr>
          <a:xfrm>
            <a:off x="1041400" y="4565650"/>
            <a:ext cx="152400" cy="152400"/>
          </a:xfrm>
          <a:prstGeom prst="rect">
            <a:avLst/>
          </a:prstGeom>
        </p:spPr>
      </p:pic>
      <p:sp>
        <p:nvSpPr>
          <p:cNvPr id="19" name="TextBox 18"/>
          <p:cNvSpPr txBox="1"/>
          <p:nvPr/>
        </p:nvSpPr>
        <p:spPr>
          <a:xfrm>
            <a:off x="1371600"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The LLM plans, code computes</a:t>
            </a:r>
          </a:p>
        </p:txBody>
      </p:sp>
      <p:sp>
        <p:nvSpPr>
          <p:cNvPr id="20" name="TextBox 19"/>
          <p:cNvSpPr txBox="1"/>
          <p:nvPr/>
        </p:nvSpPr>
        <p:spPr>
          <a:xfrm>
            <a:off x="965200"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Models draft, verify and propose. Numbers, scoring, index weights and backtests are plain deterministic code.</a:t>
            </a:r>
          </a:p>
        </p:txBody>
      </p:sp>
      <p:sp>
        <p:nvSpPr>
          <p:cNvPr id="21" name="Rounded Rectangle 20"/>
          <p:cNvSpPr/>
          <p:nvPr/>
        </p:nvSpPr>
        <p:spPr>
          <a:xfrm>
            <a:off x="4385733"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2" name="Oval 21"/>
          <p:cNvSpPr/>
          <p:nvPr/>
        </p:nvSpPr>
        <p:spPr>
          <a:xfrm>
            <a:off x="4538133" y="4489450"/>
            <a:ext cx="304800" cy="304800"/>
          </a:xfrm>
          <a:prstGeom prst="ellipse">
            <a:avLst/>
          </a:prstGeom>
          <a:solidFill>
            <a:srgbClr val="16A34A"/>
          </a:solidFill>
          <a:ln>
            <a:noFill/>
          </a:ln>
          <a:effectLst/>
        </p:spPr>
        <p:txBody>
          <a:bodyPr rtlCol="0" anchor="ctr"/>
          <a:lstStyle/>
          <a:p>
            <a:pPr algn="ctr"/>
          </a:p>
        </p:txBody>
      </p:sp>
      <p:pic>
        <p:nvPicPr>
          <p:cNvPr id="23" name="Picture 22" descr="badge-check-FFFFFF.png"/>
          <p:cNvPicPr>
            <a:picLocks noChangeAspect="1"/>
          </p:cNvPicPr>
          <p:nvPr/>
        </p:nvPicPr>
        <p:blipFill>
          <a:blip r:embed="rId5"/>
          <a:stretch>
            <a:fillRect/>
          </a:stretch>
        </p:blipFill>
        <p:spPr>
          <a:xfrm>
            <a:off x="4614333" y="4565650"/>
            <a:ext cx="152400" cy="152400"/>
          </a:xfrm>
          <a:prstGeom prst="rect">
            <a:avLst/>
          </a:prstGeom>
        </p:spPr>
      </p:pic>
      <p:sp>
        <p:nvSpPr>
          <p:cNvPr id="24" name="TextBox 23"/>
          <p:cNvSpPr txBox="1"/>
          <p:nvPr/>
        </p:nvSpPr>
        <p:spPr>
          <a:xfrm>
            <a:off x="4944533"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Every citation is checked</a:t>
            </a:r>
          </a:p>
        </p:txBody>
      </p:sp>
      <p:sp>
        <p:nvSpPr>
          <p:cNvPr id="25" name="TextBox 24"/>
          <p:cNvSpPr txBox="1"/>
          <p:nvPr/>
        </p:nvSpPr>
        <p:spPr>
          <a:xfrm>
            <a:off x="4538133"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quote is re-verified in code against the source document. An independent verifier runs on a different model.</a:t>
            </a:r>
          </a:p>
        </p:txBody>
      </p:sp>
      <p:sp>
        <p:nvSpPr>
          <p:cNvPr id="26" name="Rounded Rectangle 25"/>
          <p:cNvSpPr/>
          <p:nvPr/>
        </p:nvSpPr>
        <p:spPr>
          <a:xfrm>
            <a:off x="7958667"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7" name="Oval 26"/>
          <p:cNvSpPr/>
          <p:nvPr/>
        </p:nvSpPr>
        <p:spPr>
          <a:xfrm>
            <a:off x="8111067" y="4489450"/>
            <a:ext cx="304800" cy="304800"/>
          </a:xfrm>
          <a:prstGeom prst="ellipse">
            <a:avLst/>
          </a:prstGeom>
          <a:solidFill>
            <a:srgbClr val="2563EB"/>
          </a:solidFill>
          <a:ln>
            <a:noFill/>
          </a:ln>
          <a:effectLst/>
        </p:spPr>
        <p:txBody>
          <a:bodyPr rtlCol="0" anchor="ctr"/>
          <a:lstStyle/>
          <a:p>
            <a:pPr algn="ctr"/>
          </a:p>
        </p:txBody>
      </p:sp>
      <p:pic>
        <p:nvPicPr>
          <p:cNvPr id="28" name="Picture 27" descr="users-FFFFFF.png"/>
          <p:cNvPicPr>
            <a:picLocks noChangeAspect="1"/>
          </p:cNvPicPr>
          <p:nvPr/>
        </p:nvPicPr>
        <p:blipFill>
          <a:blip r:embed="rId6"/>
          <a:stretch>
            <a:fillRect/>
          </a:stretch>
        </p:blipFill>
        <p:spPr>
          <a:xfrm>
            <a:off x="8187267" y="4565650"/>
            <a:ext cx="152400" cy="152400"/>
          </a:xfrm>
          <a:prstGeom prst="rect">
            <a:avLst/>
          </a:prstGeom>
        </p:spPr>
      </p:pic>
      <p:sp>
        <p:nvSpPr>
          <p:cNvPr id="29" name="TextBox 28"/>
          <p:cNvSpPr txBox="1"/>
          <p:nvPr/>
        </p:nvSpPr>
        <p:spPr>
          <a:xfrm>
            <a:off x="8517467"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Agents propose, people ratify</a:t>
            </a:r>
          </a:p>
        </p:txBody>
      </p:sp>
      <p:sp>
        <p:nvSpPr>
          <p:cNvPr id="30" name="TextBox 29"/>
          <p:cNvSpPr txBox="1"/>
          <p:nvPr/>
        </p:nvSpPr>
        <p:spPr>
          <a:xfrm>
            <a:off x="8111067"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approval, versioned frameworks. Nothing flagged reaches an export until a named person approves.</a:t>
            </a:r>
          </a:p>
        </p:txBody>
      </p:sp>
      <p:sp>
        <p:nvSpPr>
          <p:cNvPr id="31" name="TextBox 30"/>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BUILT ON</a:t>
            </a:r>
          </a:p>
        </p:txBody>
      </p:sp>
      <p:sp>
        <p:nvSpPr>
          <p:cNvPr id="32" name="TextBox 31"/>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END TO END</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Six stages from a theme to the client's answer</a:t>
            </a:r>
          </a:p>
        </p:txBody>
      </p:sp>
      <p:sp>
        <p:nvSpPr>
          <p:cNvPr id="4" name="Oval 3"/>
          <p:cNvSpPr/>
          <p:nvPr/>
        </p:nvSpPr>
        <p:spPr>
          <a:xfrm>
            <a:off x="1413933" y="1854200"/>
            <a:ext cx="558800" cy="558800"/>
          </a:xfrm>
          <a:prstGeom prst="ellipse">
            <a:avLst/>
          </a:prstGeom>
          <a:solidFill>
            <a:srgbClr val="0F172A"/>
          </a:solidFill>
          <a:ln>
            <a:noFill/>
          </a:ln>
          <a:effectLst/>
        </p:spPr>
        <p:txBody>
          <a:bodyPr rtlCol="0" anchor="ctr"/>
          <a:lstStyle/>
          <a:p>
            <a:pPr algn="ctr"/>
          </a:p>
        </p:txBody>
      </p:sp>
      <p:pic>
        <p:nvPicPr>
          <p:cNvPr id="5" name="Picture 4" descr="compass-FFFFFF.png"/>
          <p:cNvPicPr>
            <a:picLocks noChangeAspect="1"/>
          </p:cNvPicPr>
          <p:nvPr/>
        </p:nvPicPr>
        <p:blipFill>
          <a:blip r:embed="rId2"/>
          <a:stretch>
            <a:fillRect/>
          </a:stretch>
        </p:blipFill>
        <p:spPr>
          <a:xfrm>
            <a:off x="1566333" y="2006600"/>
            <a:ext cx="254000" cy="254000"/>
          </a:xfrm>
          <a:prstGeom prst="rect">
            <a:avLst/>
          </a:prstGeom>
        </p:spPr>
      </p:pic>
      <p:sp>
        <p:nvSpPr>
          <p:cNvPr id="6" name="TextBox 5"/>
          <p:cNvSpPr txBox="1"/>
          <p:nvPr/>
        </p:nvSpPr>
        <p:spPr>
          <a:xfrm>
            <a:off x="8890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A</a:t>
            </a:r>
          </a:p>
          <a:p>
            <a:pPr algn="ctr">
              <a:lnSpc>
                <a:spcPct val="100000"/>
              </a:lnSpc>
              <a:spcAft>
                <a:spcPts val="0"/>
              </a:spcAft>
            </a:pPr>
            <a:r>
              <a:rPr sz="1400" b="1">
                <a:solidFill>
                  <a:srgbClr val="0F172A"/>
                </a:solidFill>
                <a:latin typeface="IBM Plex Sans"/>
              </a:rPr>
              <a:t>Strategic foundation</a:t>
            </a:r>
          </a:p>
        </p:txBody>
      </p:sp>
      <p:sp>
        <p:nvSpPr>
          <p:cNvPr id="7" name="TextBox 6"/>
          <p:cNvSpPr txBox="1"/>
          <p:nvPr/>
        </p:nvSpPr>
        <p:spPr>
          <a:xfrm>
            <a:off x="8890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Spot emerging themes</a:t>
            </a:r>
          </a:p>
          <a:p>
            <a:pPr>
              <a:lnSpc>
                <a:spcPct val="112500"/>
              </a:lnSpc>
              <a:spcAft>
                <a:spcPts val="400"/>
              </a:spcAft>
            </a:pPr>
            <a:r>
              <a:rPr sz="1200" b="0">
                <a:solidFill>
                  <a:srgbClr val="0F172A"/>
                </a:solidFill>
                <a:latin typeface="IBM Plex Sans"/>
              </a:rPr>
              <a:t>2. Define activities and taxonomy</a:t>
            </a:r>
          </a:p>
          <a:p>
            <a:pPr>
              <a:lnSpc>
                <a:spcPct val="112500"/>
              </a:lnSpc>
              <a:spcAft>
                <a:spcPts val="400"/>
              </a:spcAft>
            </a:pPr>
            <a:r>
              <a:rPr sz="1200" b="0">
                <a:solidFill>
                  <a:srgbClr val="0F172A"/>
                </a:solidFill>
                <a:latin typeface="IBM Plex Sans"/>
              </a:rPr>
              <a:t>3. Develop positions</a:t>
            </a:r>
          </a:p>
          <a:p>
            <a:pPr>
              <a:lnSpc>
                <a:spcPct val="112500"/>
              </a:lnSpc>
              <a:spcAft>
                <a:spcPts val="400"/>
              </a:spcAft>
            </a:pPr>
            <a:r>
              <a:rPr sz="1200" b="0">
                <a:solidFill>
                  <a:srgbClr val="0F172A"/>
                </a:solidFill>
                <a:latin typeface="IBM Plex Sans"/>
              </a:rPr>
              <a:t>4. Set standards</a:t>
            </a:r>
          </a:p>
          <a:p>
            <a:pPr>
              <a:lnSpc>
                <a:spcPct val="112500"/>
              </a:lnSpc>
              <a:spcAft>
                <a:spcPts val="400"/>
              </a:spcAft>
            </a:pPr>
            <a:r>
              <a:rPr sz="1200" b="0">
                <a:solidFill>
                  <a:srgbClr val="0F172A"/>
                </a:solidFill>
                <a:latin typeface="IBM Plex Sans"/>
              </a:rPr>
              <a:t>5. Data framework and scoring</a:t>
            </a:r>
          </a:p>
        </p:txBody>
      </p:sp>
      <p:sp>
        <p:nvSpPr>
          <p:cNvPr id="8" name="Rectangle 7"/>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082800"/>
            <a:ext cx="76200" cy="101600"/>
          </a:xfrm>
          <a:prstGeom prst="rect">
            <a:avLst/>
          </a:prstGeom>
        </p:spPr>
      </p:pic>
      <p:sp>
        <p:nvSpPr>
          <p:cNvPr id="10" name="Oval 9"/>
          <p:cNvSpPr/>
          <p:nvPr/>
        </p:nvSpPr>
        <p:spPr>
          <a:xfrm>
            <a:off x="3175000" y="1854200"/>
            <a:ext cx="558800" cy="558800"/>
          </a:xfrm>
          <a:prstGeom prst="ellipse">
            <a:avLst/>
          </a:prstGeom>
          <a:solidFill>
            <a:srgbClr val="0F172A"/>
          </a:solidFill>
          <a:ln>
            <a:noFill/>
          </a:ln>
          <a:effectLst/>
        </p:spPr>
        <p:txBody>
          <a:bodyPr rtlCol="0" anchor="ctr"/>
          <a:lstStyle/>
          <a:p>
            <a:pPr algn="ctr"/>
          </a:p>
        </p:txBody>
      </p:sp>
      <p:pic>
        <p:nvPicPr>
          <p:cNvPr id="11" name="Picture 10" descr="radar-FFFFFF.png"/>
          <p:cNvPicPr>
            <a:picLocks noChangeAspect="1"/>
          </p:cNvPicPr>
          <p:nvPr/>
        </p:nvPicPr>
        <p:blipFill>
          <a:blip r:embed="rId4"/>
          <a:stretch>
            <a:fillRect/>
          </a:stretch>
        </p:blipFill>
        <p:spPr>
          <a:xfrm>
            <a:off x="3327400" y="2006600"/>
            <a:ext cx="254000" cy="254000"/>
          </a:xfrm>
          <a:prstGeom prst="rect">
            <a:avLst/>
          </a:prstGeom>
        </p:spPr>
      </p:pic>
      <p:sp>
        <p:nvSpPr>
          <p:cNvPr id="12" name="TextBox 11"/>
          <p:cNvSpPr txBox="1"/>
          <p:nvPr/>
        </p:nvSpPr>
        <p:spPr>
          <a:xfrm>
            <a:off x="26500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B</a:t>
            </a:r>
          </a:p>
          <a:p>
            <a:pPr algn="ctr">
              <a:lnSpc>
                <a:spcPct val="100000"/>
              </a:lnSpc>
              <a:spcAft>
                <a:spcPts val="0"/>
              </a:spcAft>
            </a:pPr>
            <a:r>
              <a:rPr sz="1400" b="1">
                <a:solidFill>
                  <a:srgbClr val="0F172A"/>
                </a:solidFill>
                <a:latin typeface="IBM Plex Sans"/>
              </a:rPr>
              <a:t>Monitoring and selection</a:t>
            </a:r>
          </a:p>
        </p:txBody>
      </p:sp>
      <p:sp>
        <p:nvSpPr>
          <p:cNvPr id="13" name="TextBox 12"/>
          <p:cNvSpPr txBox="1"/>
          <p:nvPr/>
        </p:nvSpPr>
        <p:spPr>
          <a:xfrm>
            <a:off x="26500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portfolio companies</a:t>
            </a:r>
          </a:p>
          <a:p>
            <a:pPr>
              <a:lnSpc>
                <a:spcPct val="112500"/>
              </a:lnSpc>
              <a:spcAft>
                <a:spcPts val="400"/>
              </a:spcAft>
            </a:pPr>
            <a:r>
              <a:rPr sz="1200" b="0">
                <a:solidFill>
                  <a:srgbClr val="0F172A"/>
                </a:solidFill>
                <a:latin typeface="IBM Plex Sans"/>
              </a:rPr>
              <a:t>2. Assess transition plans and barriers</a:t>
            </a:r>
          </a:p>
          <a:p>
            <a:pPr>
              <a:lnSpc>
                <a:spcPct val="112500"/>
              </a:lnSpc>
              <a:spcAft>
                <a:spcPts val="400"/>
              </a:spcAft>
            </a:pPr>
            <a:r>
              <a:rPr sz="1200" b="0">
                <a:solidFill>
                  <a:srgbClr val="0F172A"/>
                </a:solidFill>
                <a:latin typeface="IBM Plex Sans"/>
              </a:rPr>
              <a:t>3. Select companies on gaps vs standards</a:t>
            </a:r>
          </a:p>
        </p:txBody>
      </p:sp>
      <p:sp>
        <p:nvSpPr>
          <p:cNvPr id="14" name="Rectangle 13"/>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4809067" y="2082800"/>
            <a:ext cx="76200" cy="101600"/>
          </a:xfrm>
          <a:prstGeom prst="rect">
            <a:avLst/>
          </a:prstGeom>
        </p:spPr>
      </p:pic>
      <p:sp>
        <p:nvSpPr>
          <p:cNvPr id="16" name="Oval 15"/>
          <p:cNvSpPr/>
          <p:nvPr/>
        </p:nvSpPr>
        <p:spPr>
          <a:xfrm>
            <a:off x="4936067" y="1854200"/>
            <a:ext cx="558800" cy="558800"/>
          </a:xfrm>
          <a:prstGeom prst="ellipse">
            <a:avLst/>
          </a:prstGeom>
          <a:solidFill>
            <a:srgbClr val="0F172A"/>
          </a:solidFill>
          <a:ln>
            <a:noFill/>
          </a:ln>
          <a:effectLst/>
        </p:spPr>
        <p:txBody>
          <a:bodyPr rtlCol="0" anchor="ctr"/>
          <a:lstStyle/>
          <a:p>
            <a:pPr algn="ctr"/>
          </a:p>
        </p:txBody>
      </p:sp>
      <p:pic>
        <p:nvPicPr>
          <p:cNvPr id="17" name="Picture 16" descr="handshake-FFFFFF.png"/>
          <p:cNvPicPr>
            <a:picLocks noChangeAspect="1"/>
          </p:cNvPicPr>
          <p:nvPr/>
        </p:nvPicPr>
        <p:blipFill>
          <a:blip r:embed="rId5"/>
          <a:stretch>
            <a:fillRect/>
          </a:stretch>
        </p:blipFill>
        <p:spPr>
          <a:xfrm>
            <a:off x="5088467" y="2006600"/>
            <a:ext cx="254000" cy="254000"/>
          </a:xfrm>
          <a:prstGeom prst="rect">
            <a:avLst/>
          </a:prstGeom>
        </p:spPr>
      </p:pic>
      <p:sp>
        <p:nvSpPr>
          <p:cNvPr id="18" name="TextBox 17"/>
          <p:cNvSpPr txBox="1"/>
          <p:nvPr/>
        </p:nvSpPr>
        <p:spPr>
          <a:xfrm>
            <a:off x="44111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C</a:t>
            </a:r>
          </a:p>
          <a:p>
            <a:pPr algn="ctr">
              <a:lnSpc>
                <a:spcPct val="100000"/>
              </a:lnSpc>
              <a:spcAft>
                <a:spcPts val="0"/>
              </a:spcAft>
            </a:pPr>
            <a:r>
              <a:rPr sz="1400" b="1">
                <a:solidFill>
                  <a:srgbClr val="0F172A"/>
                </a:solidFill>
                <a:latin typeface="IBM Plex Sans"/>
              </a:rPr>
              <a:t>Engagement</a:t>
            </a:r>
          </a:p>
        </p:txBody>
      </p:sp>
      <p:sp>
        <p:nvSpPr>
          <p:cNvPr id="19" name="TextBox 18"/>
          <p:cNvSpPr txBox="1"/>
          <p:nvPr/>
        </p:nvSpPr>
        <p:spPr>
          <a:xfrm>
            <a:off x="44111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Prepare: records, assessments, news</a:t>
            </a:r>
          </a:p>
          <a:p>
            <a:pPr>
              <a:lnSpc>
                <a:spcPct val="112500"/>
              </a:lnSpc>
              <a:spcAft>
                <a:spcPts val="400"/>
              </a:spcAft>
            </a:pPr>
            <a:r>
              <a:rPr sz="1200" b="0">
                <a:solidFill>
                  <a:srgbClr val="0F172A"/>
                </a:solidFill>
                <a:latin typeface="IBM Plex Sans"/>
              </a:rPr>
              <a:t>2. Send letters, emails, invites</a:t>
            </a:r>
          </a:p>
          <a:p>
            <a:pPr>
              <a:lnSpc>
                <a:spcPct val="112500"/>
              </a:lnSpc>
              <a:spcAft>
                <a:spcPts val="400"/>
              </a:spcAft>
            </a:pPr>
            <a:r>
              <a:rPr sz="1200" b="0">
                <a:solidFill>
                  <a:srgbClr val="0F172A"/>
                </a:solidFill>
                <a:latin typeface="IBM Plex Sans"/>
              </a:rPr>
              <a:t>3. Document the meeting</a:t>
            </a:r>
          </a:p>
        </p:txBody>
      </p:sp>
      <p:sp>
        <p:nvSpPr>
          <p:cNvPr id="20" name="Rectangle 19"/>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6570133" y="2082800"/>
            <a:ext cx="76200" cy="101600"/>
          </a:xfrm>
          <a:prstGeom prst="rect">
            <a:avLst/>
          </a:prstGeom>
        </p:spPr>
      </p:pic>
      <p:sp>
        <p:nvSpPr>
          <p:cNvPr id="22" name="Oval 21"/>
          <p:cNvSpPr/>
          <p:nvPr/>
        </p:nvSpPr>
        <p:spPr>
          <a:xfrm>
            <a:off x="6697133" y="1854200"/>
            <a:ext cx="558800" cy="558800"/>
          </a:xfrm>
          <a:prstGeom prst="ellipse">
            <a:avLst/>
          </a:prstGeom>
          <a:solidFill>
            <a:srgbClr val="0F172A"/>
          </a:solidFill>
          <a:ln>
            <a:noFill/>
          </a:ln>
          <a:effectLst/>
        </p:spPr>
        <p:txBody>
          <a:bodyPr rtlCol="0" anchor="ctr"/>
          <a:lstStyle/>
          <a:p>
            <a:pPr algn="ctr"/>
          </a:p>
        </p:txBody>
      </p:sp>
      <p:pic>
        <p:nvPicPr>
          <p:cNvPr id="23" name="Picture 22" descr="trending-up-FFFFFF.png"/>
          <p:cNvPicPr>
            <a:picLocks noChangeAspect="1"/>
          </p:cNvPicPr>
          <p:nvPr/>
        </p:nvPicPr>
        <p:blipFill>
          <a:blip r:embed="rId6"/>
          <a:stretch>
            <a:fillRect/>
          </a:stretch>
        </p:blipFill>
        <p:spPr>
          <a:xfrm>
            <a:off x="6849533" y="2006600"/>
            <a:ext cx="254000" cy="254000"/>
          </a:xfrm>
          <a:prstGeom prst="rect">
            <a:avLst/>
          </a:prstGeom>
        </p:spPr>
      </p:pic>
      <p:sp>
        <p:nvSpPr>
          <p:cNvPr id="24" name="TextBox 23"/>
          <p:cNvSpPr txBox="1"/>
          <p:nvPr/>
        </p:nvSpPr>
        <p:spPr>
          <a:xfrm>
            <a:off x="61722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D</a:t>
            </a:r>
          </a:p>
          <a:p>
            <a:pPr algn="ctr">
              <a:lnSpc>
                <a:spcPct val="100000"/>
              </a:lnSpc>
              <a:spcAft>
                <a:spcPts val="0"/>
              </a:spcAft>
            </a:pPr>
            <a:r>
              <a:rPr sz="1400" b="1">
                <a:solidFill>
                  <a:srgbClr val="0F172A"/>
                </a:solidFill>
                <a:latin typeface="IBM Plex Sans"/>
              </a:rPr>
              <a:t>Progress and escalation</a:t>
            </a:r>
          </a:p>
        </p:txBody>
      </p:sp>
      <p:sp>
        <p:nvSpPr>
          <p:cNvPr id="25" name="TextBox 24"/>
          <p:cNvSpPr txBox="1"/>
          <p:nvPr/>
        </p:nvSpPr>
        <p:spPr>
          <a:xfrm>
            <a:off x="61722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company progress</a:t>
            </a:r>
          </a:p>
          <a:p>
            <a:pPr>
              <a:lnSpc>
                <a:spcPct val="112500"/>
              </a:lnSpc>
              <a:spcAft>
                <a:spcPts val="400"/>
              </a:spcAft>
            </a:pPr>
            <a:r>
              <a:rPr sz="1200" b="0">
                <a:solidFill>
                  <a:srgbClr val="0F172A"/>
                </a:solidFill>
                <a:latin typeface="IBM Plex Sans"/>
              </a:rPr>
              <a:t>2. Find and verify evidence</a:t>
            </a:r>
          </a:p>
          <a:p>
            <a:pPr>
              <a:lnSpc>
                <a:spcPct val="112500"/>
              </a:lnSpc>
              <a:spcAft>
                <a:spcPts val="400"/>
              </a:spcAft>
            </a:pPr>
            <a:r>
              <a:rPr sz="1200" b="0">
                <a:solidFill>
                  <a:srgbClr val="0F172A"/>
                </a:solidFill>
                <a:latin typeface="IBM Plex Sans"/>
              </a:rPr>
              <a:t>3. Propose escalation</a:t>
            </a:r>
          </a:p>
        </p:txBody>
      </p:sp>
      <p:sp>
        <p:nvSpPr>
          <p:cNvPr id="26" name="Rectangle 25"/>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27" name="Picture 26" descr="arrowhead.png"/>
          <p:cNvPicPr>
            <a:picLocks noChangeAspect="1"/>
          </p:cNvPicPr>
          <p:nvPr/>
        </p:nvPicPr>
        <p:blipFill>
          <a:blip r:embed="rId3"/>
          <a:stretch>
            <a:fillRect/>
          </a:stretch>
        </p:blipFill>
        <p:spPr>
          <a:xfrm>
            <a:off x="8331200" y="2082800"/>
            <a:ext cx="76200" cy="101600"/>
          </a:xfrm>
          <a:prstGeom prst="rect">
            <a:avLst/>
          </a:prstGeom>
        </p:spPr>
      </p:pic>
      <p:sp>
        <p:nvSpPr>
          <p:cNvPr id="28" name="Oval 27"/>
          <p:cNvSpPr/>
          <p:nvPr/>
        </p:nvSpPr>
        <p:spPr>
          <a:xfrm>
            <a:off x="8458200" y="1854200"/>
            <a:ext cx="558800" cy="558800"/>
          </a:xfrm>
          <a:prstGeom prst="ellipse">
            <a:avLst/>
          </a:prstGeom>
          <a:solidFill>
            <a:srgbClr val="0F172A"/>
          </a:solidFill>
          <a:ln>
            <a:noFill/>
          </a:ln>
          <a:effectLst/>
        </p:spPr>
        <p:txBody>
          <a:bodyPr rtlCol="0" anchor="ctr"/>
          <a:lstStyle/>
          <a:p>
            <a:pPr algn="ctr"/>
          </a:p>
        </p:txBody>
      </p:sp>
      <p:pic>
        <p:nvPicPr>
          <p:cNvPr id="29" name="Picture 28" descr="vote-FFFFFF.png"/>
          <p:cNvPicPr>
            <a:picLocks noChangeAspect="1"/>
          </p:cNvPicPr>
          <p:nvPr/>
        </p:nvPicPr>
        <p:blipFill>
          <a:blip r:embed="rId7"/>
          <a:stretch>
            <a:fillRect/>
          </a:stretch>
        </p:blipFill>
        <p:spPr>
          <a:xfrm>
            <a:off x="8610600" y="2006600"/>
            <a:ext cx="254000" cy="254000"/>
          </a:xfrm>
          <a:prstGeom prst="rect">
            <a:avLst/>
          </a:prstGeom>
        </p:spPr>
      </p:pic>
      <p:sp>
        <p:nvSpPr>
          <p:cNvPr id="30" name="TextBox 29"/>
          <p:cNvSpPr txBox="1"/>
          <p:nvPr/>
        </p:nvSpPr>
        <p:spPr>
          <a:xfrm>
            <a:off x="79332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E</a:t>
            </a:r>
          </a:p>
          <a:p>
            <a:pPr algn="ctr">
              <a:lnSpc>
                <a:spcPct val="100000"/>
              </a:lnSpc>
              <a:spcAft>
                <a:spcPts val="0"/>
              </a:spcAft>
            </a:pPr>
            <a:r>
              <a:rPr sz="1400" b="1">
                <a:solidFill>
                  <a:srgbClr val="0F172A"/>
                </a:solidFill>
                <a:latin typeface="IBM Plex Sans"/>
              </a:rPr>
              <a:t>Voting</a:t>
            </a:r>
          </a:p>
        </p:txBody>
      </p:sp>
      <p:sp>
        <p:nvSpPr>
          <p:cNvPr id="31" name="TextBox 30"/>
          <p:cNvSpPr txBox="1"/>
          <p:nvPr/>
        </p:nvSpPr>
        <p:spPr>
          <a:xfrm>
            <a:off x="79332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Analyse proposals on public information</a:t>
            </a:r>
          </a:p>
          <a:p>
            <a:pPr>
              <a:lnSpc>
                <a:spcPct val="112500"/>
              </a:lnSpc>
              <a:spcAft>
                <a:spcPts val="400"/>
              </a:spcAft>
            </a:pPr>
            <a:r>
              <a:rPr sz="1200" b="0">
                <a:solidFill>
                  <a:srgbClr val="0F172A"/>
                </a:solidFill>
                <a:latin typeface="IBM Plex Sans"/>
              </a:rPr>
              <a:t>2. Apply voting controls</a:t>
            </a:r>
          </a:p>
        </p:txBody>
      </p:sp>
      <p:sp>
        <p:nvSpPr>
          <p:cNvPr id="32" name="Rectangle 3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33" name="Picture 32" descr="arrowhead.png"/>
          <p:cNvPicPr>
            <a:picLocks noChangeAspect="1"/>
          </p:cNvPicPr>
          <p:nvPr/>
        </p:nvPicPr>
        <p:blipFill>
          <a:blip r:embed="rId3"/>
          <a:stretch>
            <a:fillRect/>
          </a:stretch>
        </p:blipFill>
        <p:spPr>
          <a:xfrm>
            <a:off x="10092267" y="2082800"/>
            <a:ext cx="76200" cy="101600"/>
          </a:xfrm>
          <a:prstGeom prst="rect">
            <a:avLst/>
          </a:prstGeom>
        </p:spPr>
      </p:pic>
      <p:sp>
        <p:nvSpPr>
          <p:cNvPr id="34" name="Oval 33"/>
          <p:cNvSpPr/>
          <p:nvPr/>
        </p:nvSpPr>
        <p:spPr>
          <a:xfrm>
            <a:off x="10219267" y="1854200"/>
            <a:ext cx="558800" cy="558800"/>
          </a:xfrm>
          <a:prstGeom prst="ellipse">
            <a:avLst/>
          </a:prstGeom>
          <a:solidFill>
            <a:srgbClr val="0F172A"/>
          </a:solidFill>
          <a:ln>
            <a:noFill/>
          </a:ln>
          <a:effectLst/>
        </p:spPr>
        <p:txBody>
          <a:bodyPr rtlCol="0" anchor="ctr"/>
          <a:lstStyle/>
          <a:p>
            <a:pPr algn="ctr"/>
          </a:p>
        </p:txBody>
      </p:sp>
      <p:pic>
        <p:nvPicPr>
          <p:cNvPr id="35" name="Picture 34" descr="send-FFFFFF.png"/>
          <p:cNvPicPr>
            <a:picLocks noChangeAspect="1"/>
          </p:cNvPicPr>
          <p:nvPr/>
        </p:nvPicPr>
        <p:blipFill>
          <a:blip r:embed="rId8"/>
          <a:stretch>
            <a:fillRect/>
          </a:stretch>
        </p:blipFill>
        <p:spPr>
          <a:xfrm>
            <a:off x="10371667" y="2006600"/>
            <a:ext cx="254000" cy="254000"/>
          </a:xfrm>
          <a:prstGeom prst="rect">
            <a:avLst/>
          </a:prstGeom>
        </p:spPr>
      </p:pic>
      <p:sp>
        <p:nvSpPr>
          <p:cNvPr id="36" name="TextBox 35"/>
          <p:cNvSpPr txBox="1"/>
          <p:nvPr/>
        </p:nvSpPr>
        <p:spPr>
          <a:xfrm>
            <a:off x="96943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F</a:t>
            </a:r>
          </a:p>
          <a:p>
            <a:pPr algn="ctr">
              <a:lnSpc>
                <a:spcPct val="100000"/>
              </a:lnSpc>
              <a:spcAft>
                <a:spcPts val="0"/>
              </a:spcAft>
            </a:pPr>
            <a:r>
              <a:rPr sz="1400" b="1">
                <a:solidFill>
                  <a:srgbClr val="0F172A"/>
                </a:solidFill>
                <a:latin typeface="IBM Plex Sans"/>
              </a:rPr>
              <a:t>RFP and disclosure</a:t>
            </a:r>
          </a:p>
        </p:txBody>
      </p:sp>
      <p:sp>
        <p:nvSpPr>
          <p:cNvPr id="37" name="TextBox 36"/>
          <p:cNvSpPr txBox="1"/>
          <p:nvPr/>
        </p:nvSpPr>
        <p:spPr>
          <a:xfrm>
            <a:off x="96943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Answer RFPs</a:t>
            </a:r>
          </a:p>
          <a:p>
            <a:pPr>
              <a:lnSpc>
                <a:spcPct val="112500"/>
              </a:lnSpc>
              <a:spcAft>
                <a:spcPts val="400"/>
              </a:spcAft>
            </a:pPr>
            <a:r>
              <a:rPr sz="1200" b="0">
                <a:solidFill>
                  <a:srgbClr val="0F172A"/>
                </a:solidFill>
                <a:latin typeface="IBM Plex Sans"/>
              </a:rPr>
              <a:t>2. Disclose stewardship activity</a:t>
            </a:r>
          </a:p>
        </p:txBody>
      </p:sp>
      <p:sp>
        <p:nvSpPr>
          <p:cNvPr id="38" name="TextBox 3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9" name="TextBox 3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Foundation and monitoring</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compass-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  Foundation</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Spot emerging themes</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Emerging Themes Scanner: EDGAR, GDELT, RSS; context brief</a:t>
            </a:r>
          </a:p>
        </p:txBody>
      </p:sp>
      <p:pic>
        <p:nvPicPr>
          <p:cNvPr id="14" name="Picture 13" descr="circle-check-15803D.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Activities and taxonomy</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Taxonomy Library: five methods, ratified versions</a:t>
            </a:r>
          </a:p>
        </p:txBody>
      </p:sp>
      <p:pic>
        <p:nvPicPr>
          <p:cNvPr id="19" name="Picture 18" descr="circle-check-15803D.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Develop positions</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research note live; position drafting specified</a:t>
            </a:r>
          </a:p>
        </p:txBody>
      </p:sp>
      <p:pic>
        <p:nvPicPr>
          <p:cNvPr id="24" name="Picture 23" descr="contrast-B45309.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Set standards</a:t>
            </a:r>
          </a:p>
        </p:txBody>
      </p:sp>
      <p:sp>
        <p:nvSpPr>
          <p:cNvPr id="28" name="TextBox 27"/>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Position-and-standards step: approved spec, not built</a:t>
            </a:r>
          </a:p>
        </p:txBody>
      </p:sp>
      <p:pic>
        <p:nvPicPr>
          <p:cNvPr id="29" name="Picture 28" descr="circle-dashed-475569.png"/>
          <p:cNvPicPr>
            <a:picLocks noChangeAspect="1"/>
          </p:cNvPicPr>
          <p:nvPr/>
        </p:nvPicPr>
        <p:blipFill>
          <a:blip r:embed="rId5"/>
          <a:stretch>
            <a:fillRect/>
          </a:stretch>
        </p:blipFill>
        <p:spPr>
          <a:xfrm>
            <a:off x="10172700" y="3251200"/>
            <a:ext cx="152400" cy="152400"/>
          </a:xfrm>
          <a:prstGeom prst="rect">
            <a:avLst/>
          </a:prstGeom>
        </p:spPr>
      </p:pic>
      <p:sp>
        <p:nvSpPr>
          <p:cNvPr id="30" name="TextBox 29"/>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Mono"/>
              </a:rPr>
              <a:t>SPECIFIED</a:t>
            </a:r>
          </a:p>
        </p:txBody>
      </p:sp>
      <p:sp>
        <p:nvSpPr>
          <p:cNvPr id="31" name="Rectangle 30"/>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2" name="TextBox 31"/>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Data framework, scoring</a:t>
            </a:r>
          </a:p>
        </p:txBody>
      </p:sp>
      <p:sp>
        <p:nvSpPr>
          <p:cNvPr id="33" name="TextBox 32"/>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Schema per ratified taxonomy; Decision Studio scoring</a:t>
            </a:r>
          </a:p>
        </p:txBody>
      </p:sp>
      <p:pic>
        <p:nvPicPr>
          <p:cNvPr id="34" name="Picture 33" descr="circle-check-15803D.png"/>
          <p:cNvPicPr>
            <a:picLocks noChangeAspect="1"/>
          </p:cNvPicPr>
          <p:nvPr/>
        </p:nvPicPr>
        <p:blipFill>
          <a:blip r:embed="rId3"/>
          <a:stretch>
            <a:fillRect/>
          </a:stretch>
        </p:blipFill>
        <p:spPr>
          <a:xfrm>
            <a:off x="10172700" y="3600450"/>
            <a:ext cx="152400" cy="152400"/>
          </a:xfrm>
          <a:prstGeom prst="rect">
            <a:avLst/>
          </a:prstGeom>
        </p:spPr>
      </p:pic>
      <p:sp>
        <p:nvSpPr>
          <p:cNvPr id="35" name="TextBox 34"/>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36" name="Rectangle 35"/>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37" name="Oval 36"/>
          <p:cNvSpPr/>
          <p:nvPr/>
        </p:nvSpPr>
        <p:spPr>
          <a:xfrm>
            <a:off x="812800" y="3924300"/>
            <a:ext cx="203200" cy="203200"/>
          </a:xfrm>
          <a:prstGeom prst="ellipse">
            <a:avLst/>
          </a:prstGeom>
          <a:solidFill>
            <a:srgbClr val="0F172A"/>
          </a:solidFill>
          <a:ln>
            <a:noFill/>
          </a:ln>
          <a:effectLst/>
        </p:spPr>
        <p:txBody>
          <a:bodyPr rtlCol="0" anchor="ctr"/>
          <a:lstStyle/>
          <a:p>
            <a:pPr algn="ctr"/>
          </a:p>
        </p:txBody>
      </p:sp>
      <p:pic>
        <p:nvPicPr>
          <p:cNvPr id="38" name="Picture 37" descr="radar-FFFFFF.png"/>
          <p:cNvPicPr>
            <a:picLocks noChangeAspect="1"/>
          </p:cNvPicPr>
          <p:nvPr/>
        </p:nvPicPr>
        <p:blipFill>
          <a:blip r:embed="rId6"/>
          <a:stretch>
            <a:fillRect/>
          </a:stretch>
        </p:blipFill>
        <p:spPr>
          <a:xfrm>
            <a:off x="857250" y="3968750"/>
            <a:ext cx="114300" cy="114300"/>
          </a:xfrm>
          <a:prstGeom prst="rect">
            <a:avLst/>
          </a:prstGeom>
        </p:spPr>
      </p:pic>
      <p:sp>
        <p:nvSpPr>
          <p:cNvPr id="39" name="TextBox 38"/>
          <p:cNvSpPr txBox="1"/>
          <p:nvPr/>
        </p:nvSpPr>
        <p:spPr>
          <a:xfrm>
            <a:off x="1066800" y="39243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B  Monitoring</a:t>
            </a: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companies</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Monthly holdings, alerts, triggers; vendor data is sample</a:t>
            </a:r>
          </a:p>
        </p:txBody>
      </p:sp>
      <p:pic>
        <p:nvPicPr>
          <p:cNvPr id="42" name="Picture 41" descr="contrast-B45309.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TextBox 44"/>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Plans and barriers</a:t>
            </a:r>
          </a:p>
        </p:txBody>
      </p:sp>
      <p:sp>
        <p:nvSpPr>
          <p:cNvPr id="46" name="TextBox 45"/>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64 indicators, plan alignment checks, barrier matrix</a:t>
            </a:r>
          </a:p>
        </p:txBody>
      </p:sp>
      <p:pic>
        <p:nvPicPr>
          <p:cNvPr id="47" name="Picture 46" descr="circle-check-15803D.png"/>
          <p:cNvPicPr>
            <a:picLocks noChangeAspect="1"/>
          </p:cNvPicPr>
          <p:nvPr/>
        </p:nvPicPr>
        <p:blipFill>
          <a:blip r:embed="rId3"/>
          <a:stretch>
            <a:fillRect/>
          </a:stretch>
        </p:blipFill>
        <p:spPr>
          <a:xfrm>
            <a:off x="10172700" y="4298950"/>
            <a:ext cx="152400" cy="152400"/>
          </a:xfrm>
          <a:prstGeom prst="rect">
            <a:avLst/>
          </a:prstGeom>
        </p:spPr>
      </p:pic>
      <p:sp>
        <p:nvSpPr>
          <p:cNvPr id="48" name="TextBox 47"/>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9" name="Rectangle 48"/>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0" name="TextBox 49"/>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Select on gaps</a:t>
            </a:r>
          </a:p>
        </p:txBody>
      </p:sp>
      <p:sp>
        <p:nvSpPr>
          <p:cNvPr id="51" name="TextBox 50"/>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Decision Studio tiers feed selection; standards pending</a:t>
            </a:r>
          </a:p>
        </p:txBody>
      </p:sp>
      <p:pic>
        <p:nvPicPr>
          <p:cNvPr id="52" name="Picture 51" descr="contrast-B45309.png"/>
          <p:cNvPicPr>
            <a:picLocks noChangeAspect="1"/>
          </p:cNvPicPr>
          <p:nvPr/>
        </p:nvPicPr>
        <p:blipFill>
          <a:blip r:embed="rId4"/>
          <a:stretch>
            <a:fillRect/>
          </a:stretch>
        </p:blipFill>
        <p:spPr>
          <a:xfrm>
            <a:off x="10172700" y="4648200"/>
            <a:ext cx="152400" cy="152400"/>
          </a:xfrm>
          <a:prstGeom prst="rect">
            <a:avLst/>
          </a:prstGeom>
        </p:spPr>
      </p:pic>
      <p:sp>
        <p:nvSpPr>
          <p:cNvPr id="53" name="TextBox 52"/>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4" name="Rectangle 53"/>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5" name="TextBox 5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6" name="TextBox 5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40</a:t>
            </a:r>
          </a:p>
        </p:txBody>
      </p:sp>
      <p:pic>
        <p:nvPicPr>
          <p:cNvPr id="57" name="Picture 56" descr="circle-check-15803D.png"/>
          <p:cNvPicPr>
            <a:picLocks noChangeAspect="1"/>
          </p:cNvPicPr>
          <p:nvPr/>
        </p:nvPicPr>
        <p:blipFill>
          <a:blip r:embed="rId3"/>
          <a:stretch>
            <a:fillRect/>
          </a:stretch>
        </p:blipFill>
        <p:spPr>
          <a:xfrm>
            <a:off x="4800600" y="6280150"/>
            <a:ext cx="152400" cy="152400"/>
          </a:xfrm>
          <a:prstGeom prst="rect">
            <a:avLst/>
          </a:prstGeom>
        </p:spPr>
      </p:pic>
      <p:sp>
        <p:nvSpPr>
          <p:cNvPr id="58" name="TextBox 57"/>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59" name="Picture 58" descr="contrast-B45309.png"/>
          <p:cNvPicPr>
            <a:picLocks noChangeAspect="1"/>
          </p:cNvPicPr>
          <p:nvPr/>
        </p:nvPicPr>
        <p:blipFill>
          <a:blip r:embed="rId4"/>
          <a:stretch>
            <a:fillRect/>
          </a:stretch>
        </p:blipFill>
        <p:spPr>
          <a:xfrm>
            <a:off x="5562600" y="6280150"/>
            <a:ext cx="152400" cy="152400"/>
          </a:xfrm>
          <a:prstGeom prst="rect">
            <a:avLst/>
          </a:prstGeom>
        </p:spPr>
      </p:pic>
      <p:sp>
        <p:nvSpPr>
          <p:cNvPr id="60" name="TextBox 59"/>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61" name="Picture 60" descr="circle-dashed-475569.png"/>
          <p:cNvPicPr>
            <a:picLocks noChangeAspect="1"/>
          </p:cNvPicPr>
          <p:nvPr/>
        </p:nvPicPr>
        <p:blipFill>
          <a:blip r:embed="rId5"/>
          <a:stretch>
            <a:fillRect/>
          </a:stretch>
        </p:blipFill>
        <p:spPr>
          <a:xfrm>
            <a:off x="6527800" y="6280150"/>
            <a:ext cx="152400" cy="152400"/>
          </a:xfrm>
          <a:prstGeom prst="rect">
            <a:avLst/>
          </a:prstGeom>
        </p:spPr>
      </p:pic>
      <p:sp>
        <p:nvSpPr>
          <p:cNvPr id="62" name="TextBox 61"/>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follow-up, voting and disclosure</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handshake-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C  Engagement</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Prepare the engagement</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Research dossier and history; news sits in Feeds</a:t>
            </a:r>
          </a:p>
        </p:txBody>
      </p:sp>
      <p:pic>
        <p:nvPicPr>
          <p:cNvPr id="14" name="Picture 13" descr="contrast-B45309.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Letters, emails, invites</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Drafting agent writes letters; a person sends them</a:t>
            </a:r>
          </a:p>
        </p:txBody>
      </p:sp>
      <p:pic>
        <p:nvPicPr>
          <p:cNvPr id="19" name="Picture 18" descr="contrast-B45309.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Document the meeting</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Drafted meeting summary; validated notes log commitments</a:t>
            </a:r>
          </a:p>
        </p:txBody>
      </p:sp>
      <p:pic>
        <p:nvPicPr>
          <p:cNvPr id="24" name="Picture 23" descr="circle-check-15803D.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Oval 26"/>
          <p:cNvSpPr/>
          <p:nvPr/>
        </p:nvSpPr>
        <p:spPr>
          <a:xfrm>
            <a:off x="812800" y="3225800"/>
            <a:ext cx="203200" cy="203200"/>
          </a:xfrm>
          <a:prstGeom prst="ellipse">
            <a:avLst/>
          </a:prstGeom>
          <a:solidFill>
            <a:srgbClr val="0F172A"/>
          </a:solidFill>
          <a:ln>
            <a:noFill/>
          </a:ln>
          <a:effectLst/>
        </p:spPr>
        <p:txBody>
          <a:bodyPr rtlCol="0" anchor="ctr"/>
          <a:lstStyle/>
          <a:p>
            <a:pPr algn="ctr"/>
          </a:p>
        </p:txBody>
      </p:sp>
      <p:pic>
        <p:nvPicPr>
          <p:cNvPr id="28" name="Picture 27" descr="trending-up-FFFFFF.png"/>
          <p:cNvPicPr>
            <a:picLocks noChangeAspect="1"/>
          </p:cNvPicPr>
          <p:nvPr/>
        </p:nvPicPr>
        <p:blipFill>
          <a:blip r:embed="rId5"/>
          <a:stretch>
            <a:fillRect/>
          </a:stretch>
        </p:blipFill>
        <p:spPr>
          <a:xfrm>
            <a:off x="857250" y="3270250"/>
            <a:ext cx="114300" cy="114300"/>
          </a:xfrm>
          <a:prstGeom prst="rect">
            <a:avLst/>
          </a:prstGeom>
        </p:spPr>
      </p:pic>
      <p:sp>
        <p:nvSpPr>
          <p:cNvPr id="29" name="TextBox 28"/>
          <p:cNvSpPr txBox="1"/>
          <p:nvPr/>
        </p:nvSpPr>
        <p:spPr>
          <a:xfrm>
            <a:off x="1066800" y="32258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  Follow-up</a:t>
            </a:r>
          </a:p>
        </p:txBody>
      </p:sp>
      <p:sp>
        <p:nvSpPr>
          <p:cNvPr id="30" name="TextBox 29"/>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progress</a:t>
            </a:r>
          </a:p>
        </p:txBody>
      </p:sp>
      <p:sp>
        <p:nvSpPr>
          <p:cNvPr id="31" name="TextBox 30"/>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Milestone tracking; 45-day stall sweep run on demand</a:t>
            </a:r>
          </a:p>
        </p:txBody>
      </p:sp>
      <p:pic>
        <p:nvPicPr>
          <p:cNvPr id="32" name="Picture 31" descr="contrast-B45309.png"/>
          <p:cNvPicPr>
            <a:picLocks noChangeAspect="1"/>
          </p:cNvPicPr>
          <p:nvPr/>
        </p:nvPicPr>
        <p:blipFill>
          <a:blip r:embed="rId3"/>
          <a:stretch>
            <a:fillRect/>
          </a:stretch>
        </p:blipFill>
        <p:spPr>
          <a:xfrm>
            <a:off x="10172700" y="3251200"/>
            <a:ext cx="152400" cy="152400"/>
          </a:xfrm>
          <a:prstGeom prst="rect">
            <a:avLst/>
          </a:prstGeom>
        </p:spPr>
      </p:pic>
      <p:sp>
        <p:nvSpPr>
          <p:cNvPr id="33" name="TextBox 32"/>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4" name="Rectangle 33"/>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5" name="TextBox 34"/>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Find, verify evidence</a:t>
            </a:r>
          </a:p>
        </p:txBody>
      </p:sp>
      <p:sp>
        <p:nvSpPr>
          <p:cNvPr id="36" name="TextBox 35"/>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extraction re-reads reports; linking is manual</a:t>
            </a:r>
          </a:p>
        </p:txBody>
      </p:sp>
      <p:pic>
        <p:nvPicPr>
          <p:cNvPr id="37" name="Picture 36" descr="contrast-B45309.png"/>
          <p:cNvPicPr>
            <a:picLocks noChangeAspect="1"/>
          </p:cNvPicPr>
          <p:nvPr/>
        </p:nvPicPr>
        <p:blipFill>
          <a:blip r:embed="rId3"/>
          <a:stretch>
            <a:fillRect/>
          </a:stretch>
        </p:blipFill>
        <p:spPr>
          <a:xfrm>
            <a:off x="10172700" y="3600450"/>
            <a:ext cx="152400" cy="152400"/>
          </a:xfrm>
          <a:prstGeom prst="rect">
            <a:avLst/>
          </a:prstGeom>
        </p:spPr>
      </p:pic>
      <p:sp>
        <p:nvSpPr>
          <p:cNvPr id="38" name="TextBox 37"/>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9" name="Rectangle 38"/>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Propose escalation</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Escalation rules propose a ladder step; a person decides</a:t>
            </a:r>
          </a:p>
        </p:txBody>
      </p:sp>
      <p:pic>
        <p:nvPicPr>
          <p:cNvPr id="42" name="Picture 41" descr="circle-check-15803D.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Oval 44"/>
          <p:cNvSpPr/>
          <p:nvPr/>
        </p:nvSpPr>
        <p:spPr>
          <a:xfrm>
            <a:off x="812800" y="4273550"/>
            <a:ext cx="203200" cy="203200"/>
          </a:xfrm>
          <a:prstGeom prst="ellipse">
            <a:avLst/>
          </a:prstGeom>
          <a:solidFill>
            <a:srgbClr val="0F172A"/>
          </a:solidFill>
          <a:ln>
            <a:noFill/>
          </a:ln>
          <a:effectLst/>
        </p:spPr>
        <p:txBody>
          <a:bodyPr rtlCol="0" anchor="ctr"/>
          <a:lstStyle/>
          <a:p>
            <a:pPr algn="ctr"/>
          </a:p>
        </p:txBody>
      </p:sp>
      <p:pic>
        <p:nvPicPr>
          <p:cNvPr id="46" name="Picture 45" descr="vote-FFFFFF.png"/>
          <p:cNvPicPr>
            <a:picLocks noChangeAspect="1"/>
          </p:cNvPicPr>
          <p:nvPr/>
        </p:nvPicPr>
        <p:blipFill>
          <a:blip r:embed="rId6"/>
          <a:stretch>
            <a:fillRect/>
          </a:stretch>
        </p:blipFill>
        <p:spPr>
          <a:xfrm>
            <a:off x="857250" y="4318000"/>
            <a:ext cx="114300" cy="114300"/>
          </a:xfrm>
          <a:prstGeom prst="rect">
            <a:avLst/>
          </a:prstGeom>
        </p:spPr>
      </p:pic>
      <p:sp>
        <p:nvSpPr>
          <p:cNvPr id="47" name="TextBox 46"/>
          <p:cNvSpPr txBox="1"/>
          <p:nvPr/>
        </p:nvSpPr>
        <p:spPr>
          <a:xfrm>
            <a:off x="1066800" y="42735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E  Voting</a:t>
            </a:r>
          </a:p>
        </p:txBody>
      </p:sp>
      <p:sp>
        <p:nvSpPr>
          <p:cNvPr id="48" name="TextBox 47"/>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Analyse proposals</a:t>
            </a:r>
          </a:p>
        </p:txBody>
      </p:sp>
      <p:sp>
        <p:nvSpPr>
          <p:cNvPr id="49" name="TextBox 48"/>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US DEF 14A proposals cited; house rules, then judgment</a:t>
            </a:r>
          </a:p>
        </p:txBody>
      </p:sp>
      <p:pic>
        <p:nvPicPr>
          <p:cNvPr id="50" name="Picture 49" descr="contrast-B45309.png"/>
          <p:cNvPicPr>
            <a:picLocks noChangeAspect="1"/>
          </p:cNvPicPr>
          <p:nvPr/>
        </p:nvPicPr>
        <p:blipFill>
          <a:blip r:embed="rId3"/>
          <a:stretch>
            <a:fillRect/>
          </a:stretch>
        </p:blipFill>
        <p:spPr>
          <a:xfrm>
            <a:off x="10172700" y="4298950"/>
            <a:ext cx="152400" cy="152400"/>
          </a:xfrm>
          <a:prstGeom prst="rect">
            <a:avLst/>
          </a:prstGeom>
        </p:spPr>
      </p:pic>
      <p:sp>
        <p:nvSpPr>
          <p:cNvPr id="51" name="TextBox 50"/>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2" name="Rectangle 51"/>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3" name="TextBox 52"/>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Voting controls</a:t>
            </a:r>
          </a:p>
        </p:txBody>
      </p:sp>
      <p:sp>
        <p:nvSpPr>
          <p:cNvPr id="54" name="TextBox 53"/>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Engagement cross-check, decision per item, co-signer</a:t>
            </a:r>
          </a:p>
        </p:txBody>
      </p:sp>
      <p:pic>
        <p:nvPicPr>
          <p:cNvPr id="55" name="Picture 54" descr="circle-check-15803D.png"/>
          <p:cNvPicPr>
            <a:picLocks noChangeAspect="1"/>
          </p:cNvPicPr>
          <p:nvPr/>
        </p:nvPicPr>
        <p:blipFill>
          <a:blip r:embed="rId4"/>
          <a:stretch>
            <a:fillRect/>
          </a:stretch>
        </p:blipFill>
        <p:spPr>
          <a:xfrm>
            <a:off x="10172700" y="4648200"/>
            <a:ext cx="152400" cy="152400"/>
          </a:xfrm>
          <a:prstGeom prst="rect">
            <a:avLst/>
          </a:prstGeom>
        </p:spPr>
      </p:pic>
      <p:sp>
        <p:nvSpPr>
          <p:cNvPr id="56" name="TextBox 55"/>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57" name="Rectangle 56"/>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8" name="Oval 57"/>
          <p:cNvSpPr/>
          <p:nvPr/>
        </p:nvSpPr>
        <p:spPr>
          <a:xfrm>
            <a:off x="812800" y="4972050"/>
            <a:ext cx="203200" cy="203200"/>
          </a:xfrm>
          <a:prstGeom prst="ellipse">
            <a:avLst/>
          </a:prstGeom>
          <a:solidFill>
            <a:srgbClr val="0F172A"/>
          </a:solidFill>
          <a:ln>
            <a:noFill/>
          </a:ln>
          <a:effectLst/>
        </p:spPr>
        <p:txBody>
          <a:bodyPr rtlCol="0" anchor="ctr"/>
          <a:lstStyle/>
          <a:p>
            <a:pPr algn="ctr"/>
          </a:p>
        </p:txBody>
      </p:sp>
      <p:pic>
        <p:nvPicPr>
          <p:cNvPr id="59" name="Picture 58" descr="send-FFFFFF.png"/>
          <p:cNvPicPr>
            <a:picLocks noChangeAspect="1"/>
          </p:cNvPicPr>
          <p:nvPr/>
        </p:nvPicPr>
        <p:blipFill>
          <a:blip r:embed="rId7"/>
          <a:stretch>
            <a:fillRect/>
          </a:stretch>
        </p:blipFill>
        <p:spPr>
          <a:xfrm>
            <a:off x="857250" y="5016500"/>
            <a:ext cx="114300" cy="114300"/>
          </a:xfrm>
          <a:prstGeom prst="rect">
            <a:avLst/>
          </a:prstGeom>
        </p:spPr>
      </p:pic>
      <p:sp>
        <p:nvSpPr>
          <p:cNvPr id="60" name="TextBox 59"/>
          <p:cNvSpPr txBox="1"/>
          <p:nvPr/>
        </p:nvSpPr>
        <p:spPr>
          <a:xfrm>
            <a:off x="1066800" y="4972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  Disclosure</a:t>
            </a:r>
          </a:p>
        </p:txBody>
      </p:sp>
      <p:sp>
        <p:nvSpPr>
          <p:cNvPr id="61" name="TextBox 60"/>
          <p:cNvSpPr txBox="1"/>
          <p:nvPr/>
        </p:nvSpPr>
        <p:spPr>
          <a:xfrm>
            <a:off x="2552700" y="4972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Answer RFPs</a:t>
            </a:r>
          </a:p>
        </p:txBody>
      </p:sp>
      <p:sp>
        <p:nvSpPr>
          <p:cNvPr id="62" name="TextBox 61"/>
          <p:cNvSpPr txBox="1"/>
          <p:nvPr/>
        </p:nvSpPr>
        <p:spPr>
          <a:xfrm>
            <a:off x="4800600" y="4972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Answer library, auto-fill, four-eyes, export</a:t>
            </a:r>
          </a:p>
        </p:txBody>
      </p:sp>
      <p:pic>
        <p:nvPicPr>
          <p:cNvPr id="63" name="Picture 62" descr="circle-check-15803D.png"/>
          <p:cNvPicPr>
            <a:picLocks noChangeAspect="1"/>
          </p:cNvPicPr>
          <p:nvPr/>
        </p:nvPicPr>
        <p:blipFill>
          <a:blip r:embed="rId4"/>
          <a:stretch>
            <a:fillRect/>
          </a:stretch>
        </p:blipFill>
        <p:spPr>
          <a:xfrm>
            <a:off x="10172700" y="4997450"/>
            <a:ext cx="152400" cy="152400"/>
          </a:xfrm>
          <a:prstGeom prst="rect">
            <a:avLst/>
          </a:prstGeom>
        </p:spPr>
      </p:pic>
      <p:sp>
        <p:nvSpPr>
          <p:cNvPr id="64" name="TextBox 63"/>
          <p:cNvSpPr txBox="1"/>
          <p:nvPr/>
        </p:nvSpPr>
        <p:spPr>
          <a:xfrm>
            <a:off x="10375900" y="4972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65" name="Rectangle 64"/>
          <p:cNvSpPr/>
          <p:nvPr/>
        </p:nvSpPr>
        <p:spPr>
          <a:xfrm>
            <a:off x="812800" y="5257800"/>
            <a:ext cx="10566400" cy="6350"/>
          </a:xfrm>
          <a:prstGeom prst="rect">
            <a:avLst/>
          </a:prstGeom>
          <a:solidFill>
            <a:srgbClr val="E2E8F0"/>
          </a:solidFill>
          <a:ln>
            <a:noFill/>
          </a:ln>
          <a:effectLst/>
        </p:spPr>
        <p:txBody>
          <a:bodyPr rtlCol="0" anchor="ctr"/>
          <a:lstStyle/>
          <a:p>
            <a:pPr algn="ctr"/>
          </a:p>
        </p:txBody>
      </p:sp>
      <p:sp>
        <p:nvSpPr>
          <p:cNvPr id="66" name="TextBox 65"/>
          <p:cNvSpPr txBox="1"/>
          <p:nvPr/>
        </p:nvSpPr>
        <p:spPr>
          <a:xfrm>
            <a:off x="2552700" y="5321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Disclose</a:t>
            </a:r>
          </a:p>
        </p:txBody>
      </p:sp>
      <p:sp>
        <p:nvSpPr>
          <p:cNvPr id="67" name="TextBox 66"/>
          <p:cNvSpPr txBox="1"/>
          <p:nvPr/>
        </p:nvSpPr>
        <p:spPr>
          <a:xfrm>
            <a:off x="4800600" y="5321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Client report on sample data; vote disclosure not built</a:t>
            </a:r>
          </a:p>
        </p:txBody>
      </p:sp>
      <p:pic>
        <p:nvPicPr>
          <p:cNvPr id="68" name="Picture 67" descr="contrast-B45309.png"/>
          <p:cNvPicPr>
            <a:picLocks noChangeAspect="1"/>
          </p:cNvPicPr>
          <p:nvPr/>
        </p:nvPicPr>
        <p:blipFill>
          <a:blip r:embed="rId3"/>
          <a:stretch>
            <a:fillRect/>
          </a:stretch>
        </p:blipFill>
        <p:spPr>
          <a:xfrm>
            <a:off x="10172700" y="5346700"/>
            <a:ext cx="152400" cy="152400"/>
          </a:xfrm>
          <a:prstGeom prst="rect">
            <a:avLst/>
          </a:prstGeom>
        </p:spPr>
      </p:pic>
      <p:sp>
        <p:nvSpPr>
          <p:cNvPr id="69" name="TextBox 68"/>
          <p:cNvSpPr txBox="1"/>
          <p:nvPr/>
        </p:nvSpPr>
        <p:spPr>
          <a:xfrm>
            <a:off x="10375900" y="5321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70" name="Rectangle 69"/>
          <p:cNvSpPr/>
          <p:nvPr/>
        </p:nvSpPr>
        <p:spPr>
          <a:xfrm>
            <a:off x="812800" y="5607050"/>
            <a:ext cx="10566400" cy="6350"/>
          </a:xfrm>
          <a:prstGeom prst="rect">
            <a:avLst/>
          </a:prstGeom>
          <a:solidFill>
            <a:srgbClr val="E2E8F0"/>
          </a:solidFill>
          <a:ln>
            <a:noFill/>
          </a:ln>
          <a:effectLst/>
        </p:spPr>
        <p:txBody>
          <a:bodyPr rtlCol="0" anchor="ctr"/>
          <a:lstStyle/>
          <a:p>
            <a:pPr algn="ctr"/>
          </a:p>
        </p:txBody>
      </p:sp>
      <p:sp>
        <p:nvSpPr>
          <p:cNvPr id="71" name="TextBox 70"/>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2" name="TextBox 71"/>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04 / 40</a:t>
            </a:r>
          </a:p>
        </p:txBody>
      </p:sp>
      <p:pic>
        <p:nvPicPr>
          <p:cNvPr id="73" name="Picture 72" descr="circle-check-15803D.png"/>
          <p:cNvPicPr>
            <a:picLocks noChangeAspect="1"/>
          </p:cNvPicPr>
          <p:nvPr/>
        </p:nvPicPr>
        <p:blipFill>
          <a:blip r:embed="rId4"/>
          <a:stretch>
            <a:fillRect/>
          </a:stretch>
        </p:blipFill>
        <p:spPr>
          <a:xfrm>
            <a:off x="4800600" y="6280150"/>
            <a:ext cx="152400" cy="152400"/>
          </a:xfrm>
          <a:prstGeom prst="rect">
            <a:avLst/>
          </a:prstGeom>
        </p:spPr>
      </p:pic>
      <p:sp>
        <p:nvSpPr>
          <p:cNvPr id="74" name="TextBox 73"/>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75" name="Picture 74" descr="contrast-B45309.png"/>
          <p:cNvPicPr>
            <a:picLocks noChangeAspect="1"/>
          </p:cNvPicPr>
          <p:nvPr/>
        </p:nvPicPr>
        <p:blipFill>
          <a:blip r:embed="rId3"/>
          <a:stretch>
            <a:fillRect/>
          </a:stretch>
        </p:blipFill>
        <p:spPr>
          <a:xfrm>
            <a:off x="5562600" y="6280150"/>
            <a:ext cx="152400" cy="152400"/>
          </a:xfrm>
          <a:prstGeom prst="rect">
            <a:avLst/>
          </a:prstGeom>
        </p:spPr>
      </p:pic>
      <p:sp>
        <p:nvSpPr>
          <p:cNvPr id="76" name="TextBox 75"/>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77" name="Picture 76" descr="circle-dashed-475569.png"/>
          <p:cNvPicPr>
            <a:picLocks noChangeAspect="1"/>
          </p:cNvPicPr>
          <p:nvPr/>
        </p:nvPicPr>
        <p:blipFill>
          <a:blip r:embed="rId8"/>
          <a:stretch>
            <a:fillRect/>
          </a:stretch>
        </p:blipFill>
        <p:spPr>
          <a:xfrm>
            <a:off x="6527800" y="6280150"/>
            <a:ext cx="152400" cy="152400"/>
          </a:xfrm>
          <a:prstGeom prst="rect">
            <a:avLst/>
          </a:prstGeom>
        </p:spPr>
      </p:pic>
      <p:sp>
        <p:nvSpPr>
          <p:cNvPr id="78" name="TextBox 77"/>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4" name="Rounded Rectangle 3"/>
          <p:cNvSpPr/>
          <p:nvPr/>
        </p:nvSpPr>
        <p:spPr>
          <a:xfrm>
            <a:off x="81280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scan-search-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96520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Argus</a:t>
            </a:r>
          </a:p>
        </p:txBody>
      </p:sp>
      <p:sp>
        <p:nvSpPr>
          <p:cNvPr id="8" name="TextBox 7"/>
          <p:cNvSpPr txBox="1"/>
          <p:nvPr/>
        </p:nvSpPr>
        <p:spPr>
          <a:xfrm>
            <a:off x="96520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Extract cited data points and score them with ratified templates.</a:t>
            </a:r>
          </a:p>
        </p:txBody>
      </p:sp>
      <p:sp>
        <p:nvSpPr>
          <p:cNvPr id="9" name="Rounded Rectangle 8"/>
          <p:cNvSpPr/>
          <p:nvPr/>
        </p:nvSpPr>
        <p:spPr>
          <a:xfrm>
            <a:off x="295656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3108960" y="2006600"/>
            <a:ext cx="304800" cy="304800"/>
          </a:xfrm>
          <a:prstGeom prst="ellipse">
            <a:avLst/>
          </a:prstGeom>
          <a:solidFill>
            <a:srgbClr val="0F172A"/>
          </a:solidFill>
          <a:ln>
            <a:noFill/>
          </a:ln>
          <a:effectLst/>
        </p:spPr>
        <p:txBody>
          <a:bodyPr rtlCol="0" anchor="ctr"/>
          <a:lstStyle/>
          <a:p>
            <a:pPr algn="ctr"/>
          </a:p>
        </p:txBody>
      </p:sp>
      <p:pic>
        <p:nvPicPr>
          <p:cNvPr id="11" name="Picture 10" descr="leaf-FFFFFF.png"/>
          <p:cNvPicPr>
            <a:picLocks noChangeAspect="1"/>
          </p:cNvPicPr>
          <p:nvPr/>
        </p:nvPicPr>
        <p:blipFill>
          <a:blip r:embed="rId3"/>
          <a:stretch>
            <a:fillRect/>
          </a:stretch>
        </p:blipFill>
        <p:spPr>
          <a:xfrm>
            <a:off x="3185160" y="2082800"/>
            <a:ext cx="152400" cy="152400"/>
          </a:xfrm>
          <a:prstGeom prst="rect">
            <a:avLst/>
          </a:prstGeom>
        </p:spPr>
      </p:pic>
      <p:sp>
        <p:nvSpPr>
          <p:cNvPr id="12" name="TextBox 11"/>
          <p:cNvSpPr txBox="1"/>
          <p:nvPr/>
        </p:nvSpPr>
        <p:spPr>
          <a:xfrm>
            <a:off x="310896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Transition Intelligence</a:t>
            </a:r>
          </a:p>
        </p:txBody>
      </p:sp>
      <p:sp>
        <p:nvSpPr>
          <p:cNvPr id="13" name="TextBox 12"/>
          <p:cNvSpPr txBox="1"/>
          <p:nvPr/>
        </p:nvSpPr>
        <p:spPr>
          <a:xfrm>
            <a:off x="310896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 holdings; assess climate and transition risk.</a:t>
            </a:r>
          </a:p>
        </p:txBody>
      </p:sp>
      <p:sp>
        <p:nvSpPr>
          <p:cNvPr id="14" name="Rounded Rectangle 13"/>
          <p:cNvSpPr/>
          <p:nvPr/>
        </p:nvSpPr>
        <p:spPr>
          <a:xfrm>
            <a:off x="510032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5252720" y="2006600"/>
            <a:ext cx="304800" cy="304800"/>
          </a:xfrm>
          <a:prstGeom prst="ellipse">
            <a:avLst/>
          </a:prstGeom>
          <a:solidFill>
            <a:srgbClr val="0F172A"/>
          </a:solidFill>
          <a:ln>
            <a:noFill/>
          </a:ln>
          <a:effectLst/>
        </p:spPr>
        <p:txBody>
          <a:bodyPr rtlCol="0" anchor="ctr"/>
          <a:lstStyle/>
          <a:p>
            <a:pPr algn="ctr"/>
          </a:p>
        </p:txBody>
      </p:sp>
      <p:pic>
        <p:nvPicPr>
          <p:cNvPr id="16" name="Picture 15" descr="flask-conical-FFFFFF.png"/>
          <p:cNvPicPr>
            <a:picLocks noChangeAspect="1"/>
          </p:cNvPicPr>
          <p:nvPr/>
        </p:nvPicPr>
        <p:blipFill>
          <a:blip r:embed="rId4"/>
          <a:stretch>
            <a:fillRect/>
          </a:stretch>
        </p:blipFill>
        <p:spPr>
          <a:xfrm>
            <a:off x="5328920" y="2082800"/>
            <a:ext cx="152400" cy="152400"/>
          </a:xfrm>
          <a:prstGeom prst="rect">
            <a:avLst/>
          </a:prstGeom>
        </p:spPr>
      </p:pic>
      <p:sp>
        <p:nvSpPr>
          <p:cNvPr id="17" name="TextBox 16"/>
          <p:cNvSpPr txBox="1"/>
          <p:nvPr/>
        </p:nvSpPr>
        <p:spPr>
          <a:xfrm>
            <a:off x="525272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R&amp;D Lab</a:t>
            </a:r>
          </a:p>
        </p:txBody>
      </p:sp>
      <p:sp>
        <p:nvSpPr>
          <p:cNvPr id="18" name="TextBox 17"/>
          <p:cNvSpPr txBox="1"/>
          <p:nvPr/>
        </p:nvSpPr>
        <p:spPr>
          <a:xfrm>
            <a:off x="525272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Themes and strategies, scored and built into indices.</a:t>
            </a:r>
          </a:p>
        </p:txBody>
      </p:sp>
      <p:sp>
        <p:nvSpPr>
          <p:cNvPr id="19" name="Rounded Rectangle 18"/>
          <p:cNvSpPr/>
          <p:nvPr/>
        </p:nvSpPr>
        <p:spPr>
          <a:xfrm>
            <a:off x="724408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7396480" y="2006600"/>
            <a:ext cx="304800" cy="304800"/>
          </a:xfrm>
          <a:prstGeom prst="ellipse">
            <a:avLst/>
          </a:prstGeom>
          <a:solidFill>
            <a:srgbClr val="0F172A"/>
          </a:solidFill>
          <a:ln>
            <a:noFill/>
          </a:ln>
          <a:effectLst/>
        </p:spPr>
        <p:txBody>
          <a:bodyPr rtlCol="0" anchor="ctr"/>
          <a:lstStyle/>
          <a:p>
            <a:pPr algn="ctr"/>
          </a:p>
        </p:txBody>
      </p:sp>
      <p:pic>
        <p:nvPicPr>
          <p:cNvPr id="21" name="Picture 20" descr="handshake-FFFFFF.png"/>
          <p:cNvPicPr>
            <a:picLocks noChangeAspect="1"/>
          </p:cNvPicPr>
          <p:nvPr/>
        </p:nvPicPr>
        <p:blipFill>
          <a:blip r:embed="rId5"/>
          <a:stretch>
            <a:fillRect/>
          </a:stretch>
        </p:blipFill>
        <p:spPr>
          <a:xfrm>
            <a:off x="7472680" y="2082800"/>
            <a:ext cx="152400" cy="152400"/>
          </a:xfrm>
          <a:prstGeom prst="rect">
            <a:avLst/>
          </a:prstGeom>
        </p:spPr>
      </p:pic>
      <p:sp>
        <p:nvSpPr>
          <p:cNvPr id="22" name="TextBox 21"/>
          <p:cNvSpPr txBox="1"/>
          <p:nvPr/>
        </p:nvSpPr>
        <p:spPr>
          <a:xfrm>
            <a:off x="739648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StewardIQ</a:t>
            </a:r>
          </a:p>
        </p:txBody>
      </p:sp>
      <p:sp>
        <p:nvSpPr>
          <p:cNvPr id="23" name="TextBox 22"/>
          <p:cNvSpPr txBox="1"/>
          <p:nvPr/>
        </p:nvSpPr>
        <p:spPr>
          <a:xfrm>
            <a:off x="739648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Engage, vote, escalate and report to clients.</a:t>
            </a:r>
          </a:p>
        </p:txBody>
      </p:sp>
      <p:sp>
        <p:nvSpPr>
          <p:cNvPr id="24" name="Rounded Rectangle 23"/>
          <p:cNvSpPr/>
          <p:nvPr/>
        </p:nvSpPr>
        <p:spPr>
          <a:xfrm>
            <a:off x="938784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9540240" y="2006600"/>
            <a:ext cx="304800" cy="304800"/>
          </a:xfrm>
          <a:prstGeom prst="ellipse">
            <a:avLst/>
          </a:prstGeom>
          <a:solidFill>
            <a:srgbClr val="0F172A"/>
          </a:solidFill>
          <a:ln>
            <a:noFill/>
          </a:ln>
          <a:effectLst/>
        </p:spPr>
        <p:txBody>
          <a:bodyPr rtlCol="0" anchor="ctr"/>
          <a:lstStyle/>
          <a:p>
            <a:pPr algn="ctr"/>
          </a:p>
        </p:txBody>
      </p:sp>
      <p:pic>
        <p:nvPicPr>
          <p:cNvPr id="26" name="Picture 25" descr="database-FFFFFF.png"/>
          <p:cNvPicPr>
            <a:picLocks noChangeAspect="1"/>
          </p:cNvPicPr>
          <p:nvPr/>
        </p:nvPicPr>
        <p:blipFill>
          <a:blip r:embed="rId6"/>
          <a:stretch>
            <a:fillRect/>
          </a:stretch>
        </p:blipFill>
        <p:spPr>
          <a:xfrm>
            <a:off x="9616440" y="2082800"/>
            <a:ext cx="152400" cy="152400"/>
          </a:xfrm>
          <a:prstGeom prst="rect">
            <a:avLst/>
          </a:prstGeom>
        </p:spPr>
      </p:pic>
      <p:sp>
        <p:nvSpPr>
          <p:cNvPr id="27" name="TextBox 26"/>
          <p:cNvSpPr txBox="1"/>
          <p:nvPr/>
        </p:nvSpPr>
        <p:spPr>
          <a:xfrm>
            <a:off x="954024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Data Hub</a:t>
            </a:r>
          </a:p>
        </p:txBody>
      </p:sp>
      <p:sp>
        <p:nvSpPr>
          <p:cNvPr id="28" name="TextBox 27"/>
          <p:cNvSpPr txBox="1"/>
          <p:nvPr/>
        </p:nvSpPr>
        <p:spPr>
          <a:xfrm>
            <a:off x="954024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Feeds, stored data, the security master.</a:t>
            </a:r>
          </a:p>
        </p:txBody>
      </p:sp>
      <p:sp>
        <p:nvSpPr>
          <p:cNvPr id="29" name="Rounded Rectangle 28"/>
          <p:cNvSpPr/>
          <p:nvPr/>
        </p:nvSpPr>
        <p:spPr>
          <a:xfrm>
            <a:off x="812800"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24350"/>
            <a:ext cx="304800" cy="304800"/>
          </a:xfrm>
          <a:prstGeom prst="ellipse">
            <a:avLst/>
          </a:prstGeom>
          <a:solidFill>
            <a:srgbClr val="2563EB"/>
          </a:solidFill>
          <a:ln>
            <a:noFill/>
          </a:ln>
          <a:effectLst/>
        </p:spPr>
        <p:txBody>
          <a:bodyPr rtlCol="0" anchor="ctr"/>
          <a:lstStyle/>
          <a:p>
            <a:pPr algn="ctr"/>
          </a:p>
        </p:txBody>
      </p:sp>
      <p:pic>
        <p:nvPicPr>
          <p:cNvPr id="31" name="Picture 30" descr="inbox-FFFFFF.png"/>
          <p:cNvPicPr>
            <a:picLocks noChangeAspect="1"/>
          </p:cNvPicPr>
          <p:nvPr/>
        </p:nvPicPr>
        <p:blipFill>
          <a:blip r:embed="rId7"/>
          <a:stretch>
            <a:fillRect/>
          </a:stretch>
        </p:blipFill>
        <p:spPr>
          <a:xfrm>
            <a:off x="1041400" y="4400550"/>
            <a:ext cx="152400" cy="152400"/>
          </a:xfrm>
          <a:prstGeom prst="rect">
            <a:avLst/>
          </a:prstGeom>
        </p:spPr>
      </p:pic>
      <p:sp>
        <p:nvSpPr>
          <p:cNvPr id="32" name="TextBox 31"/>
          <p:cNvSpPr txBox="1"/>
          <p:nvPr/>
        </p:nvSpPr>
        <p:spPr>
          <a:xfrm>
            <a:off x="1371600"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Needs you: one inbox</a:t>
            </a:r>
          </a:p>
        </p:txBody>
      </p:sp>
      <p:sp>
        <p:nvSpPr>
          <p:cNvPr id="33" name="TextBox 32"/>
          <p:cNvSpPr txBox="1"/>
          <p:nvPr/>
        </p:nvSpPr>
        <p:spPr>
          <a:xfrm>
            <a:off x="965200"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34" name="Rounded Rectangle 33"/>
          <p:cNvSpPr/>
          <p:nvPr/>
        </p:nvSpPr>
        <p:spPr>
          <a:xfrm>
            <a:off x="4385733"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24350"/>
            <a:ext cx="304800" cy="304800"/>
          </a:xfrm>
          <a:prstGeom prst="ellipse">
            <a:avLst/>
          </a:prstGeom>
          <a:solidFill>
            <a:srgbClr val="16A34A"/>
          </a:solidFill>
          <a:ln>
            <a:noFill/>
          </a:ln>
          <a:effectLst/>
        </p:spPr>
        <p:txBody>
          <a:bodyPr rtlCol="0" anchor="ctr"/>
          <a:lstStyle/>
          <a:p>
            <a:pPr algn="ctr"/>
          </a:p>
        </p:txBody>
      </p:sp>
      <p:pic>
        <p:nvPicPr>
          <p:cNvPr id="36" name="Picture 35" descr="message-circle-question-FFFFFF.png"/>
          <p:cNvPicPr>
            <a:picLocks noChangeAspect="1"/>
          </p:cNvPicPr>
          <p:nvPr/>
        </p:nvPicPr>
        <p:blipFill>
          <a:blip r:embed="rId8"/>
          <a:stretch>
            <a:fillRect/>
          </a:stretch>
        </p:blipFill>
        <p:spPr>
          <a:xfrm>
            <a:off x="4614333" y="4400550"/>
            <a:ext cx="152400" cy="152400"/>
          </a:xfrm>
          <a:prstGeom prst="rect">
            <a:avLst/>
          </a:prstGeom>
        </p:spPr>
      </p:pic>
      <p:sp>
        <p:nvSpPr>
          <p:cNvPr id="37" name="TextBox 36"/>
          <p:cNvSpPr txBox="1"/>
          <p:nvPr/>
        </p:nvSpPr>
        <p:spPr>
          <a:xfrm>
            <a:off x="4944533"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Ask ARP: plain questions</a:t>
            </a:r>
          </a:p>
        </p:txBody>
      </p:sp>
      <p:sp>
        <p:nvSpPr>
          <p:cNvPr id="38" name="TextBox 37"/>
          <p:cNvSpPr txBox="1"/>
          <p:nvPr/>
        </p:nvSpPr>
        <p:spPr>
          <a:xfrm>
            <a:off x="4538133"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39" name="Rounded Rectangle 38"/>
          <p:cNvSpPr/>
          <p:nvPr/>
        </p:nvSpPr>
        <p:spPr>
          <a:xfrm>
            <a:off x="7958667"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24350"/>
            <a:ext cx="304800" cy="304800"/>
          </a:xfrm>
          <a:prstGeom prst="ellipse">
            <a:avLst/>
          </a:prstGeom>
          <a:solidFill>
            <a:srgbClr val="0F172A"/>
          </a:solidFill>
          <a:ln>
            <a:noFill/>
          </a:ln>
          <a:effectLst/>
        </p:spPr>
        <p:txBody>
          <a:bodyPr rtlCol="0" anchor="ctr"/>
          <a:lstStyle/>
          <a:p>
            <a:pPr algn="ctr"/>
          </a:p>
        </p:txBody>
      </p:sp>
      <p:pic>
        <p:nvPicPr>
          <p:cNvPr id="41" name="Picture 40" descr="presentation-FFFFFF.png"/>
          <p:cNvPicPr>
            <a:picLocks noChangeAspect="1"/>
          </p:cNvPicPr>
          <p:nvPr/>
        </p:nvPicPr>
        <p:blipFill>
          <a:blip r:embed="rId9"/>
          <a:stretch>
            <a:fillRect/>
          </a:stretch>
        </p:blipFill>
        <p:spPr>
          <a:xfrm>
            <a:off x="8187267" y="4400550"/>
            <a:ext cx="152400" cy="152400"/>
          </a:xfrm>
          <a:prstGeom prst="rect">
            <a:avLst/>
          </a:prstGeom>
        </p:spPr>
      </p:pic>
      <p:sp>
        <p:nvSpPr>
          <p:cNvPr id="42" name="TextBox 41"/>
          <p:cNvSpPr txBox="1"/>
          <p:nvPr/>
        </p:nvSpPr>
        <p:spPr>
          <a:xfrm>
            <a:off x="8517467"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Output: reports, catalogue</a:t>
            </a:r>
          </a:p>
        </p:txBody>
      </p:sp>
      <p:sp>
        <p:nvSpPr>
          <p:cNvPr id="43" name="TextBox 42"/>
          <p:cNvSpPr txBox="1"/>
          <p:nvPr/>
        </p:nvSpPr>
        <p:spPr>
          <a:xfrm>
            <a:off x="8111067"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stored result in one catalogue, with what has already used it.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cited data, not copied figures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Extract and score · XBRL facts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Company figures are copied from reports by hand or bought as vendor scores: no page reference, hard to check, slow at scale.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Every figure cited to its page, checked by a second model and reviewed by a person, for up to about 4,000 companies per run.</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Letters and vote rationales can quote the company's own report, page by page, so an engagement ask holds up when challenged.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Ratified Decision Studio templates turn extracted figures into tiers: eligibility rules for a fund, versioned and re-run on new data.</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Figures come from public reports and XBRL as filed. A licensed vendor field can be checked against the company's own report.</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Anatomy of one cited value</a:t>
            </a:r>
          </a:p>
        </p:txBody>
      </p:sp>
      <p:pic>
        <p:nvPicPr>
          <p:cNvPr id="4" name="Picture 3" descr="fig-machine-text-search.png"/>
          <p:cNvPicPr>
            <a:picLocks noChangeAspect="1"/>
          </p:cNvPicPr>
          <p:nvPr/>
        </p:nvPicPr>
        <p:blipFill>
          <a:blip r:embed="rId2"/>
          <a:stretch>
            <a:fillRect/>
          </a:stretch>
        </p:blipFill>
        <p:spPr>
          <a:xfrm>
            <a:off x="1413933" y="1854200"/>
            <a:ext cx="558800" cy="558800"/>
          </a:xfrm>
          <a:prstGeom prst="rect">
            <a:avLst/>
          </a:prstGeom>
        </p:spPr>
      </p:pic>
      <p:sp>
        <p:nvSpPr>
          <p:cNvPr id="5" name="TextBox 4"/>
          <p:cNvSpPr txBox="1"/>
          <p:nvPr/>
        </p:nvSpPr>
        <p:spPr>
          <a:xfrm>
            <a:off x="889000"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and embeddings pick passages</a:t>
            </a:r>
          </a:p>
        </p:txBody>
      </p:sp>
      <p:sp>
        <p:nvSpPr>
          <p:cNvPr id="6" name="Rectangle 5"/>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7" name="Picture 6" descr="arrowhead.png"/>
          <p:cNvPicPr>
            <a:picLocks noChangeAspect="1"/>
          </p:cNvPicPr>
          <p:nvPr/>
        </p:nvPicPr>
        <p:blipFill>
          <a:blip r:embed="rId3"/>
          <a:stretch>
            <a:fillRect/>
          </a:stretch>
        </p:blipFill>
        <p:spPr>
          <a:xfrm>
            <a:off x="3048000" y="2082800"/>
            <a:ext cx="76200" cy="101600"/>
          </a:xfrm>
          <a:prstGeom prst="rect">
            <a:avLst/>
          </a:prstGeom>
        </p:spPr>
      </p:pic>
      <p:pic>
        <p:nvPicPr>
          <p:cNvPr id="8" name="Picture 7" descr="fig-robot-scan-text.png"/>
          <p:cNvPicPr>
            <a:picLocks noChangeAspect="1"/>
          </p:cNvPicPr>
          <p:nvPr/>
        </p:nvPicPr>
        <p:blipFill>
          <a:blip r:embed="rId4"/>
          <a:stretch>
            <a:fillRect/>
          </a:stretch>
        </p:blipFill>
        <p:spPr>
          <a:xfrm>
            <a:off x="3175000" y="1854200"/>
            <a:ext cx="558800" cy="558800"/>
          </a:xfrm>
          <a:prstGeom prst="rect">
            <a:avLst/>
          </a:prstGeom>
        </p:spPr>
      </p:pic>
      <p:sp>
        <p:nvSpPr>
          <p:cNvPr id="9" name="TextBox 8"/>
          <p:cNvSpPr txBox="1"/>
          <p:nvPr/>
        </p:nvSpPr>
        <p:spPr>
          <a:xfrm>
            <a:off x="2650067"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Value, unit, period, verbatim quote</a:t>
            </a:r>
          </a:p>
        </p:txBody>
      </p:sp>
      <p:sp>
        <p:nvSpPr>
          <p:cNvPr id="10" name="Rectangle 9"/>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1" name="Picture 10" descr="arrowhead.png"/>
          <p:cNvPicPr>
            <a:picLocks noChangeAspect="1"/>
          </p:cNvPicPr>
          <p:nvPr/>
        </p:nvPicPr>
        <p:blipFill>
          <a:blip r:embed="rId3"/>
          <a:stretch>
            <a:fillRect/>
          </a:stretch>
        </p:blipFill>
        <p:spPr>
          <a:xfrm>
            <a:off x="4809067" y="2082800"/>
            <a:ext cx="76200" cy="101600"/>
          </a:xfrm>
          <a:prstGeom prst="rect">
            <a:avLst/>
          </a:prstGeom>
        </p:spPr>
      </p:pic>
      <p:pic>
        <p:nvPicPr>
          <p:cNvPr id="12" name="Picture 11" descr="fig-robot-scan-eye.png"/>
          <p:cNvPicPr>
            <a:picLocks noChangeAspect="1"/>
          </p:cNvPicPr>
          <p:nvPr/>
        </p:nvPicPr>
        <p:blipFill>
          <a:blip r:embed="rId5"/>
          <a:stretch>
            <a:fillRect/>
          </a:stretch>
        </p:blipFill>
        <p:spPr>
          <a:xfrm>
            <a:off x="4936067" y="1854200"/>
            <a:ext cx="558800" cy="558800"/>
          </a:xfrm>
          <a:prstGeom prst="rect">
            <a:avLst/>
          </a:prstGeom>
        </p:spPr>
      </p:pic>
      <p:sp>
        <p:nvSpPr>
          <p:cNvPr id="13" name="TextBox 12"/>
          <p:cNvSpPr txBox="1"/>
          <p:nvPr/>
        </p:nvSpPr>
        <p:spPr>
          <a:xfrm>
            <a:off x="4411133"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Blind verify</a:t>
            </a:r>
          </a:p>
          <a:p>
            <a:pPr algn="ctr">
              <a:lnSpc>
                <a:spcPct val="112500"/>
              </a:lnSpc>
              <a:spcAft>
                <a:spcPts val="0"/>
              </a:spcAft>
            </a:pPr>
            <a:r>
              <a:rPr sz="1200" b="0">
                <a:solidFill>
                  <a:srgbClr val="475569"/>
                </a:solidFill>
                <a:latin typeface="IBM Plex Sans"/>
              </a:rPr>
              <a:t>A different model extracts again</a:t>
            </a:r>
          </a:p>
        </p:txBody>
      </p:sp>
      <p:sp>
        <p:nvSpPr>
          <p:cNvPr id="14" name="Rectangle 13"/>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6570133" y="2082800"/>
            <a:ext cx="76200" cy="101600"/>
          </a:xfrm>
          <a:prstGeom prst="rect">
            <a:avLst/>
          </a:prstGeom>
        </p:spPr>
      </p:pic>
      <p:pic>
        <p:nvPicPr>
          <p:cNvPr id="16" name="Picture 15" descr="fig-machine-quote.png"/>
          <p:cNvPicPr>
            <a:picLocks noChangeAspect="1"/>
          </p:cNvPicPr>
          <p:nvPr/>
        </p:nvPicPr>
        <p:blipFill>
          <a:blip r:embed="rId6"/>
          <a:stretch>
            <a:fillRect/>
          </a:stretch>
        </p:blipFill>
        <p:spPr>
          <a:xfrm>
            <a:off x="6697133" y="1854200"/>
            <a:ext cx="558800" cy="558800"/>
          </a:xfrm>
          <a:prstGeom prst="rect">
            <a:avLst/>
          </a:prstGeom>
        </p:spPr>
      </p:pic>
      <p:sp>
        <p:nvSpPr>
          <p:cNvPr id="17" name="TextBox 16"/>
          <p:cNvSpPr txBox="1"/>
          <p:nvPr/>
        </p:nvSpPr>
        <p:spPr>
          <a:xfrm>
            <a:off x="6172200"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on the page; number, unit, period</a:t>
            </a:r>
          </a:p>
        </p:txBody>
      </p:sp>
      <p:sp>
        <p:nvSpPr>
          <p:cNvPr id="18" name="Rectangle 17"/>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8331200" y="2082800"/>
            <a:ext cx="76200" cy="101600"/>
          </a:xfrm>
          <a:prstGeom prst="rect">
            <a:avLst/>
          </a:prstGeom>
        </p:spPr>
      </p:pic>
      <p:pic>
        <p:nvPicPr>
          <p:cNvPr id="20" name="Picture 19" descr="fig-robot-eye.png"/>
          <p:cNvPicPr>
            <a:picLocks noChangeAspect="1"/>
          </p:cNvPicPr>
          <p:nvPr/>
        </p:nvPicPr>
        <p:blipFill>
          <a:blip r:embed="rId7"/>
          <a:stretch>
            <a:fillRect/>
          </a:stretch>
        </p:blipFill>
        <p:spPr>
          <a:xfrm>
            <a:off x="8458200" y="1854200"/>
            <a:ext cx="558800" cy="558800"/>
          </a:xfrm>
          <a:prstGeom prst="rect">
            <a:avLst/>
          </a:prstGeom>
        </p:spPr>
      </p:pic>
      <p:sp>
        <p:nvSpPr>
          <p:cNvPr id="21" name="TextBox 20"/>
          <p:cNvSpPr txBox="1"/>
          <p:nvPr/>
        </p:nvSpPr>
        <p:spPr>
          <a:xfrm>
            <a:off x="7933267"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Page-image check</a:t>
            </a:r>
          </a:p>
          <a:p>
            <a:pPr algn="ctr">
              <a:lnSpc>
                <a:spcPct val="112500"/>
              </a:lnSpc>
              <a:spcAft>
                <a:spcPts val="0"/>
              </a:spcAft>
            </a:pPr>
            <a:r>
              <a:rPr sz="1200" b="0">
                <a:solidFill>
                  <a:srgbClr val="475569"/>
                </a:solidFill>
                <a:latin typeface="IBM Plex Sans"/>
              </a:rPr>
              <a:t>Reads the figure off the page image</a:t>
            </a:r>
          </a:p>
        </p:txBody>
      </p:sp>
      <p:sp>
        <p:nvSpPr>
          <p:cNvPr id="22" name="Rectangle 2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23" name="Picture 22" descr="arrowhead.png"/>
          <p:cNvPicPr>
            <a:picLocks noChangeAspect="1"/>
          </p:cNvPicPr>
          <p:nvPr/>
        </p:nvPicPr>
        <p:blipFill>
          <a:blip r:embed="rId3"/>
          <a:stretch>
            <a:fillRect/>
          </a:stretch>
        </p:blipFill>
        <p:spPr>
          <a:xfrm>
            <a:off x="10092267" y="2082800"/>
            <a:ext cx="76200" cy="101600"/>
          </a:xfrm>
          <a:prstGeom prst="rect">
            <a:avLst/>
          </a:prstGeom>
        </p:spPr>
      </p:pic>
      <p:pic>
        <p:nvPicPr>
          <p:cNvPr id="24" name="Picture 23" descr="fig-person-user-check.png"/>
          <p:cNvPicPr>
            <a:picLocks noChangeAspect="1"/>
          </p:cNvPicPr>
          <p:nvPr/>
        </p:nvPicPr>
        <p:blipFill>
          <a:blip r:embed="rId8"/>
          <a:stretch>
            <a:fillRect/>
          </a:stretch>
        </p:blipFill>
        <p:spPr>
          <a:xfrm>
            <a:off x="10219267" y="1854200"/>
            <a:ext cx="558800" cy="558800"/>
          </a:xfrm>
          <a:prstGeom prst="rect">
            <a:avLst/>
          </a:prstGeom>
        </p:spPr>
      </p:pic>
      <p:sp>
        <p:nvSpPr>
          <p:cNvPr id="25" name="TextBox 24"/>
          <p:cNvSpPr txBox="1"/>
          <p:nvPr/>
        </p:nvSpPr>
        <p:spPr>
          <a:xfrm>
            <a:off x="9694333"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The rest, with the span boxed</a:t>
            </a:r>
          </a:p>
        </p:txBody>
      </p:sp>
      <p:pic>
        <p:nvPicPr>
          <p:cNvPr id="26" name="Picture 25" descr="argus-flow.png"/>
          <p:cNvPicPr>
            <a:picLocks noChangeAspect="1"/>
          </p:cNvPicPr>
          <p:nvPr/>
        </p:nvPicPr>
        <p:blipFill>
          <a:blip r:embed="rId9"/>
          <a:stretch>
            <a:fillRect/>
          </a:stretch>
        </p:blipFill>
        <p:spPr>
          <a:xfrm>
            <a:off x="812800" y="3911600"/>
            <a:ext cx="10566400" cy="1501913"/>
          </a:xfrm>
          <a:prstGeom prst="rect">
            <a:avLst/>
          </a:prstGeom>
        </p:spPr>
      </p:pic>
      <p:sp>
        <p:nvSpPr>
          <p:cNvPr id="27" name="Rounded Rectangle 26"/>
          <p:cNvSpPr/>
          <p:nvPr/>
        </p:nvSpPr>
        <p:spPr>
          <a:xfrm>
            <a:off x="812800" y="3911600"/>
            <a:ext cx="10566400" cy="1501913"/>
          </a:xfrm>
          <a:prstGeom prst="roundRect">
            <a:avLst>
              <a:gd name="adj" fmla="val 6764"/>
            </a:avLst>
          </a:prstGeom>
          <a:noFill/>
          <a:ln w="9525">
            <a:solidFill>
              <a:srgbClr val="E2E8F0"/>
            </a:solidFill>
          </a:ln>
          <a:effectLst/>
        </p:spPr>
        <p:txBody>
          <a:bodyPr rtlCol="0" anchor="ctr"/>
          <a:lstStyle/>
          <a:p>
            <a:pPr algn="ctr"/>
          </a:p>
        </p:txBody>
      </p:sp>
      <p:sp>
        <p:nvSpPr>
          <p:cNvPr id="28" name="TextBox 2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9" name="TextBox 2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40</a:t>
            </a:r>
          </a:p>
        </p:txBody>
      </p:sp>
      <p:sp>
        <p:nvSpPr>
          <p:cNvPr id="30" name="Oval 2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31" name="TextBox 3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32" name="Oval 3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33" name="TextBox 3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34" name="Oval 3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35" name="TextBox 3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real value, ready for review</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Apple's latest 10-K, read live: every figure arrives with its quote, its page and both models' confidence.</a:t>
            </a:r>
          </a:p>
        </p:txBody>
      </p:sp>
      <p:pic>
        <p:nvPicPr>
          <p:cNvPr id="5" name="Picture 4" descr="review-tight.png"/>
          <p:cNvPicPr>
            <a:picLocks noChangeAspect="1"/>
          </p:cNvPicPr>
          <p:nvPr/>
        </p:nvPicPr>
        <p:blipFill>
          <a:blip r:embed="rId2"/>
          <a:stretch>
            <a:fillRect/>
          </a:stretch>
        </p:blipFill>
        <p:spPr>
          <a:xfrm>
            <a:off x="812800" y="2101850"/>
            <a:ext cx="8098064" cy="2152650"/>
          </a:xfrm>
          <a:prstGeom prst="rect">
            <a:avLst/>
          </a:prstGeom>
        </p:spPr>
      </p:pic>
      <p:sp>
        <p:nvSpPr>
          <p:cNvPr id="6" name="Rounded Rectangle 5"/>
          <p:cNvSpPr/>
          <p:nvPr/>
        </p:nvSpPr>
        <p:spPr>
          <a:xfrm>
            <a:off x="812800" y="2101850"/>
            <a:ext cx="8098064" cy="2152650"/>
          </a:xfrm>
          <a:prstGeom prst="roundRect">
            <a:avLst>
              <a:gd name="adj" fmla="val 4719"/>
            </a:avLst>
          </a:prstGeom>
          <a:noFill/>
          <a:ln w="9525">
            <a:solidFill>
              <a:srgbClr val="E2E8F0"/>
            </a:solidFill>
          </a:ln>
          <a:effectLst/>
        </p:spPr>
        <p:txBody>
          <a:bodyPr rtlCol="0" anchor="ctr"/>
          <a:lstStyle/>
          <a:p>
            <a:pPr algn="ctr"/>
          </a:p>
        </p:txBody>
      </p:sp>
      <p:pic>
        <p:nvPicPr>
          <p:cNvPr id="7" name="Picture 6" descr="fig-robot-scan-text.png"/>
          <p:cNvPicPr>
            <a:picLocks noChangeAspect="1"/>
          </p:cNvPicPr>
          <p:nvPr/>
        </p:nvPicPr>
        <p:blipFill>
          <a:blip r:embed="rId3"/>
          <a:stretch>
            <a:fillRect/>
          </a:stretch>
        </p:blipFill>
        <p:spPr>
          <a:xfrm>
            <a:off x="812800" y="4432300"/>
            <a:ext cx="406400" cy="406400"/>
          </a:xfrm>
          <a:prstGeom prst="rect">
            <a:avLst/>
          </a:prstGeom>
        </p:spPr>
      </p:pic>
      <p:sp>
        <p:nvSpPr>
          <p:cNvPr id="8" name="TextBox 7"/>
          <p:cNvSpPr txBox="1"/>
          <p:nvPr/>
        </p:nvSpPr>
        <p:spPr>
          <a:xfrm>
            <a:off x="1320800" y="4432300"/>
            <a:ext cx="2019300" cy="140970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Extracted: 166,000 employees</a:t>
            </a:r>
          </a:p>
          <a:p>
            <a:pPr>
              <a:lnSpc>
                <a:spcPct val="116667"/>
              </a:lnSpc>
              <a:spcAft>
                <a:spcPts val="0"/>
              </a:spcAft>
            </a:pPr>
            <a:r>
              <a:rPr sz="1200" b="0">
                <a:solidFill>
                  <a:srgbClr val="475569"/>
                </a:solidFill>
                <a:latin typeface="IBM Plex Sans"/>
              </a:rPr>
              <a:t>The extractor quoted the 10-K word for word, at 0.90 confidence.</a:t>
            </a:r>
          </a:p>
        </p:txBody>
      </p:sp>
      <p:pic>
        <p:nvPicPr>
          <p:cNvPr id="9" name="Picture 8" descr="fig-robot-scan-eye.png"/>
          <p:cNvPicPr>
            <a:picLocks noChangeAspect="1"/>
          </p:cNvPicPr>
          <p:nvPr/>
        </p:nvPicPr>
        <p:blipFill>
          <a:blip r:embed="rId4"/>
          <a:stretch>
            <a:fillRect/>
          </a:stretch>
        </p:blipFill>
        <p:spPr>
          <a:xfrm>
            <a:off x="3492500" y="4432300"/>
            <a:ext cx="406400" cy="406400"/>
          </a:xfrm>
          <a:prstGeom prst="rect">
            <a:avLst/>
          </a:prstGeom>
        </p:spPr>
      </p:pic>
      <p:sp>
        <p:nvSpPr>
          <p:cNvPr id="10" name="TextBox 9"/>
          <p:cNvSpPr txBox="1"/>
          <p:nvPr/>
        </p:nvSpPr>
        <p:spPr>
          <a:xfrm>
            <a:off x="4000500" y="4432300"/>
            <a:ext cx="2019300" cy="140970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Confirmed by a second model</a:t>
            </a:r>
          </a:p>
          <a:p>
            <a:pPr>
              <a:lnSpc>
                <a:spcPct val="116667"/>
              </a:lnSpc>
              <a:spcAft>
                <a:spcPts val="0"/>
              </a:spcAft>
            </a:pPr>
            <a:r>
              <a:rPr sz="1200" b="0">
                <a:solidFill>
                  <a:srgbClr val="475569"/>
                </a:solidFill>
                <a:latin typeface="IBM Plex Sans"/>
              </a:rPr>
              <a:t>A different model extracted it blind and agreed, at 0.93.</a:t>
            </a:r>
          </a:p>
        </p:txBody>
      </p:sp>
      <p:pic>
        <p:nvPicPr>
          <p:cNvPr id="11" name="Picture 10" descr="fig-machine-quote.png"/>
          <p:cNvPicPr>
            <a:picLocks noChangeAspect="1"/>
          </p:cNvPicPr>
          <p:nvPr/>
        </p:nvPicPr>
        <p:blipFill>
          <a:blip r:embed="rId5"/>
          <a:stretch>
            <a:fillRect/>
          </a:stretch>
        </p:blipFill>
        <p:spPr>
          <a:xfrm>
            <a:off x="6172200" y="4432300"/>
            <a:ext cx="406400" cy="406400"/>
          </a:xfrm>
          <a:prstGeom prst="rect">
            <a:avLst/>
          </a:prstGeom>
        </p:spPr>
      </p:pic>
      <p:sp>
        <p:nvSpPr>
          <p:cNvPr id="12" name="TextBox 11"/>
          <p:cNvSpPr txBox="1"/>
          <p:nvPr/>
        </p:nvSpPr>
        <p:spPr>
          <a:xfrm>
            <a:off x="6680200" y="4432300"/>
            <a:ext cx="2019300" cy="140970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Found on page 3 of 23</a:t>
            </a:r>
          </a:p>
          <a:p>
            <a:pPr>
              <a:lnSpc>
                <a:spcPct val="116667"/>
              </a:lnSpc>
              <a:spcAft>
                <a:spcPts val="0"/>
              </a:spcAft>
            </a:pPr>
            <a:r>
              <a:rPr sz="1200" b="0">
                <a:solidFill>
                  <a:srgbClr val="475569"/>
                </a:solidFill>
                <a:latin typeface="IBM Plex Sans"/>
              </a:rPr>
              <a:t>Code located the quote in the stored 10-K; the reviewer sees it highlighted.</a:t>
            </a:r>
          </a:p>
        </p:txBody>
      </p:sp>
      <p:pic>
        <p:nvPicPr>
          <p:cNvPr id="13" name="Picture 12" descr="fig-person-user-check.png"/>
          <p:cNvPicPr>
            <a:picLocks noChangeAspect="1"/>
          </p:cNvPicPr>
          <p:nvPr/>
        </p:nvPicPr>
        <p:blipFill>
          <a:blip r:embed="rId6"/>
          <a:stretch>
            <a:fillRect/>
          </a:stretch>
        </p:blipFill>
        <p:spPr>
          <a:xfrm>
            <a:off x="8851900" y="4432300"/>
            <a:ext cx="406400" cy="406400"/>
          </a:xfrm>
          <a:prstGeom prst="rect">
            <a:avLst/>
          </a:prstGeom>
        </p:spPr>
      </p:pic>
      <p:sp>
        <p:nvSpPr>
          <p:cNvPr id="14" name="TextBox 13"/>
          <p:cNvSpPr txBox="1"/>
          <p:nvPr/>
        </p:nvSpPr>
        <p:spPr>
          <a:xfrm>
            <a:off x="9359900" y="4432300"/>
            <a:ext cx="2019300" cy="140970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person decides</a:t>
            </a:r>
          </a:p>
          <a:p>
            <a:pPr>
              <a:lnSpc>
                <a:spcPct val="116667"/>
              </a:lnSpc>
              <a:spcAft>
                <a:spcPts val="0"/>
              </a:spcAft>
            </a:pPr>
            <a:r>
              <a:rPr sz="1200" b="0">
                <a:solidFill>
                  <a:srgbClr val="475569"/>
                </a:solidFill>
                <a:latin typeface="IBM Plex Sans"/>
              </a:rPr>
              <a:t>The period check flagged the date: accept, correct, reject or escalate. Every decision is kept.</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Intelligence: risk seen monthly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Monthly monitoring · Climate transition review</a:t>
            </a:r>
          </a:p>
        </p:txBody>
      </p:sp>
      <p:sp>
        <p:nvSpPr>
          <p:cNvPr id="5" name="Rounded Rectangle 4"/>
          <p:cNvSpPr/>
          <p:nvPr/>
        </p:nvSpPr>
        <p:spPr>
          <a:xfrm>
            <a:off x="812800" y="2101850"/>
            <a:ext cx="3810000" cy="3727450"/>
          </a:xfrm>
          <a:prstGeom prst="roundRect">
            <a:avLst>
              <a:gd name="adj" fmla="val 2725"/>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Holdings, ESG feeds and climate research sit apart, so a breach surfaces late and the annual climate review is rebuilt by hand.</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monthly run that turns every breach and controversy on a holding into an owned alert, and a climate review that ends in a tiered list of issuers.</a:t>
            </a:r>
          </a:p>
        </p:txBody>
      </p:sp>
      <p:sp>
        <p:nvSpPr>
          <p:cNvPr id="15" name="Rounded Rectangle 14"/>
          <p:cNvSpPr/>
          <p:nvPr/>
        </p:nvSpPr>
        <p:spPr>
          <a:xfrm>
            <a:off x="4775200" y="21018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36825"/>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613025"/>
            <a:ext cx="152400" cy="152400"/>
          </a:xfrm>
          <a:prstGeom prst="rect">
            <a:avLst/>
          </a:prstGeom>
        </p:spPr>
      </p:pic>
      <p:sp>
        <p:nvSpPr>
          <p:cNvPr id="18" name="TextBox 17"/>
          <p:cNvSpPr txBox="1"/>
          <p:nvPr/>
        </p:nvSpPr>
        <p:spPr>
          <a:xfrm>
            <a:off x="5359400" y="22542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Each alert becomes a stewardship trigger with an owner; the climate review hands StewardIQ the issuers to engage, with a walk-versus-talk verdict.</a:t>
            </a:r>
          </a:p>
        </p:txBody>
      </p:sp>
      <p:sp>
        <p:nvSpPr>
          <p:cNvPr id="19" name="Rounded Rectangle 18"/>
          <p:cNvSpPr/>
          <p:nvPr/>
        </p:nvSpPr>
        <p:spPr>
          <a:xfrm>
            <a:off x="4775200" y="337820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81317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889375"/>
            <a:ext cx="152400" cy="152400"/>
          </a:xfrm>
          <a:prstGeom prst="rect">
            <a:avLst/>
          </a:prstGeom>
        </p:spPr>
      </p:pic>
      <p:sp>
        <p:nvSpPr>
          <p:cNvPr id="22" name="TextBox 21"/>
          <p:cNvSpPr txBox="1"/>
          <p:nvPr/>
        </p:nvSpPr>
        <p:spPr>
          <a:xfrm>
            <a:off x="5359400" y="353060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WACI, financed emissions, plan alignment and the sector barrier matrix give a climate-labelled product evidence for every holding and sector.</a:t>
            </a:r>
          </a:p>
        </p:txBody>
      </p:sp>
      <p:sp>
        <p:nvSpPr>
          <p:cNvPr id="23" name="Rounded Rectangle 22"/>
          <p:cNvSpPr/>
          <p:nvPr/>
        </p:nvSpPr>
        <p:spPr>
          <a:xfrm>
            <a:off x="4775200" y="46545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5089525"/>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5165725"/>
            <a:ext cx="152400" cy="152400"/>
          </a:xfrm>
          <a:prstGeom prst="rect">
            <a:avLst/>
          </a:prstGeom>
        </p:spPr>
      </p:pic>
      <p:sp>
        <p:nvSpPr>
          <p:cNvPr id="26" name="TextBox 25"/>
          <p:cNvSpPr txBox="1"/>
          <p:nvPr/>
        </p:nvSpPr>
        <p:spPr>
          <a:xfrm>
            <a:off x="5359400" y="48069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Each provider feed carries a licence tag: internal-only facts stay in internal dashboards and the publish path refuses them.</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Barrier matrix: rules derive, people ratify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105 rated cells, each traceable to its rule, its facts and the person who ratified it.</a:t>
            </a:r>
          </a:p>
        </p:txBody>
      </p:sp>
      <p:pic>
        <p:nvPicPr>
          <p:cNvPr id="5" name="Picture 4" descr="barriers.png"/>
          <p:cNvPicPr>
            <a:picLocks noChangeAspect="1"/>
          </p:cNvPicPr>
          <p:nvPr/>
        </p:nvPicPr>
        <p:blipFill>
          <a:blip r:embed="rId2"/>
          <a:stretch>
            <a:fillRect/>
          </a:stretch>
        </p:blipFill>
        <p:spPr>
          <a:xfrm>
            <a:off x="812800" y="2101850"/>
            <a:ext cx="6553200" cy="3684832"/>
          </a:xfrm>
          <a:prstGeom prst="rect">
            <a:avLst/>
          </a:prstGeom>
        </p:spPr>
      </p:pic>
      <p:sp>
        <p:nvSpPr>
          <p:cNvPr id="6" name="Rounded Rectangle 5"/>
          <p:cNvSpPr/>
          <p:nvPr/>
        </p:nvSpPr>
        <p:spPr>
          <a:xfrm>
            <a:off x="812800" y="2101850"/>
            <a:ext cx="6553200" cy="3684832"/>
          </a:xfrm>
          <a:prstGeom prst="roundRect">
            <a:avLst>
              <a:gd name="adj" fmla="val 2757"/>
            </a:avLst>
          </a:prstGeom>
          <a:noFill/>
          <a:ln w="9525">
            <a:solidFill>
              <a:srgbClr val="E2E8F0"/>
            </a:solidFill>
          </a:ln>
          <a:effectLst/>
        </p:spPr>
        <p:txBody>
          <a:bodyPr rtlCol="0" anchor="ctr"/>
          <a:lstStyle/>
          <a:p>
            <a:pPr algn="ctr"/>
          </a:p>
        </p:txBody>
      </p:sp>
      <p:pic>
        <p:nvPicPr>
          <p:cNvPr id="7" name="Picture 6" descr="fig-machine-book-marked.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Owner-signed rule book</a:t>
            </a:r>
          </a:p>
          <a:p>
            <a:pPr>
              <a:lnSpc>
                <a:spcPct val="116667"/>
              </a:lnSpc>
              <a:spcAft>
                <a:spcPts val="0"/>
              </a:spcAft>
            </a:pPr>
            <a:r>
              <a:rPr sz="1200" b="0">
                <a:solidFill>
                  <a:srgbClr val="475569"/>
                </a:solidFill>
                <a:latin typeface="IBM Plex Sans"/>
              </a:rPr>
              <a:t>Each criterion lists the facts it needs and the H, M and L conditions.</a:t>
            </a:r>
          </a:p>
        </p:txBody>
      </p:sp>
      <p:pic>
        <p:nvPicPr>
          <p:cNvPr id="9" name="Picture 8" descr="fig-robot-scan-text.png"/>
          <p:cNvPicPr>
            <a:picLocks noChangeAspect="1"/>
          </p:cNvPicPr>
          <p:nvPr/>
        </p:nvPicPr>
        <p:blipFill>
          <a:blip r:embed="rId4"/>
          <a:stretch>
            <a:fillRect/>
          </a:stretch>
        </p:blipFill>
        <p:spPr>
          <a:xfrm>
            <a:off x="7569200" y="3090944"/>
            <a:ext cx="508000" cy="508000"/>
          </a:xfrm>
          <a:prstGeom prst="rect">
            <a:avLst/>
          </a:prstGeom>
        </p:spPr>
      </p:pic>
      <p:sp>
        <p:nvSpPr>
          <p:cNvPr id="10" name="TextBox 9"/>
          <p:cNvSpPr txBox="1"/>
          <p:nvPr/>
        </p:nvSpPr>
        <p:spPr>
          <a:xfrm>
            <a:off x="8204200" y="3090944"/>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Facts read from sources</a:t>
            </a:r>
          </a:p>
          <a:p>
            <a:pPr>
              <a:lnSpc>
                <a:spcPct val="116667"/>
              </a:lnSpc>
              <a:spcAft>
                <a:spcPts val="0"/>
              </a:spcAft>
            </a:pPr>
            <a:r>
              <a:rPr sz="1200" b="0">
                <a:solidFill>
                  <a:srgbClr val="475569"/>
                </a:solidFill>
                <a:latin typeface="IBM Plex Sans"/>
              </a:rPr>
              <a:t>The model reads one fact at a time; code checks value, unit and quote.</a:t>
            </a:r>
          </a:p>
        </p:txBody>
      </p:sp>
      <p:pic>
        <p:nvPicPr>
          <p:cNvPr id="11" name="Picture 10" descr="fig-machine-cog.png"/>
          <p:cNvPicPr>
            <a:picLocks noChangeAspect="1"/>
          </p:cNvPicPr>
          <p:nvPr/>
        </p:nvPicPr>
        <p:blipFill>
          <a:blip r:embed="rId5"/>
          <a:stretch>
            <a:fillRect/>
          </a:stretch>
        </p:blipFill>
        <p:spPr>
          <a:xfrm>
            <a:off x="7569200" y="4080038"/>
            <a:ext cx="508000" cy="508000"/>
          </a:xfrm>
          <a:prstGeom prst="rect">
            <a:avLst/>
          </a:prstGeom>
        </p:spPr>
      </p:pic>
      <p:sp>
        <p:nvSpPr>
          <p:cNvPr id="12" name="TextBox 11"/>
          <p:cNvSpPr txBox="1"/>
          <p:nvPr/>
        </p:nvSpPr>
        <p:spPr>
          <a:xfrm>
            <a:off x="8204200" y="4080038"/>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rules engine decides</a:t>
            </a:r>
          </a:p>
          <a:p>
            <a:pPr>
              <a:lnSpc>
                <a:spcPct val="116667"/>
              </a:lnSpc>
              <a:spcAft>
                <a:spcPts val="0"/>
              </a:spcAft>
            </a:pPr>
            <a:r>
              <a:rPr sz="1200" b="0">
                <a:solidFill>
                  <a:srgbClr val="475569"/>
                </a:solidFill>
                <a:latin typeface="IBM Plex Sans"/>
              </a:rPr>
              <a:t>Code derives the rating; a missing fact stays unknown, never guessed.</a:t>
            </a:r>
          </a:p>
        </p:txBody>
      </p:sp>
      <p:pic>
        <p:nvPicPr>
          <p:cNvPr id="13" name="Picture 12" descr="fig-person-badge-check.png"/>
          <p:cNvPicPr>
            <a:picLocks noChangeAspect="1"/>
          </p:cNvPicPr>
          <p:nvPr/>
        </p:nvPicPr>
        <p:blipFill>
          <a:blip r:embed="rId6"/>
          <a:stretch>
            <a:fillRect/>
          </a:stretch>
        </p:blipFill>
        <p:spPr>
          <a:xfrm>
            <a:off x="7569200" y="5069132"/>
            <a:ext cx="508000" cy="508000"/>
          </a:xfrm>
          <a:prstGeom prst="rect">
            <a:avLst/>
          </a:prstGeom>
        </p:spPr>
      </p:pic>
      <p:sp>
        <p:nvSpPr>
          <p:cNvPr id="14" name="TextBox 13"/>
          <p:cNvSpPr txBox="1"/>
          <p:nvPr/>
        </p:nvSpPr>
        <p:spPr>
          <a:xfrm>
            <a:off x="8204200" y="5069132"/>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named person ratifies</a:t>
            </a:r>
          </a:p>
          <a:p>
            <a:pPr>
              <a:lnSpc>
                <a:spcPct val="116667"/>
              </a:lnSpc>
              <a:spcAft>
                <a:spcPts val="0"/>
              </a:spcAft>
            </a:pPr>
            <a:r>
              <a:rPr sz="1200" b="0">
                <a:solidFill>
                  <a:srgbClr val="475569"/>
                </a:solidFill>
                <a:latin typeface="IBM Plex Sans"/>
              </a:rPr>
              <a:t>Refresh findings are proposals; no rating moves without sign-off.</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R&amp;D Lab: from idea to index</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Launch a thematic product · Research a strategy</a:t>
            </a:r>
          </a:p>
        </p:txBody>
      </p:sp>
      <p:sp>
        <p:nvSpPr>
          <p:cNvPr id="5" name="Rounded Rectangle 4"/>
          <p:cNvSpPr/>
          <p:nvPr/>
        </p:nvSpPr>
        <p:spPr>
          <a:xfrm>
            <a:off x="812800" y="2101850"/>
            <a:ext cx="3810000" cy="3276600"/>
          </a:xfrm>
          <a:prstGeom prst="roundRect">
            <a:avLst>
              <a:gd name="adj" fmla="val 3100"/>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Themes and strategies live in spreadsheets: boundaries drift, backtests overfit, and a product is hard to trace to its evidence.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69215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ratified theme, a reviewed universe and a dated index calibration; strategies tested out of sample first.</a:t>
            </a:r>
          </a:p>
        </p:txBody>
      </p:sp>
      <p:sp>
        <p:nvSpPr>
          <p:cNvPr id="15" name="Rounded Rectangle 14"/>
          <p:cNvSpPr/>
          <p:nvPr/>
        </p:nvSpPr>
        <p:spPr>
          <a:xfrm>
            <a:off x="4775200" y="2101850"/>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461683"/>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37883"/>
            <a:ext cx="152400" cy="152400"/>
          </a:xfrm>
          <a:prstGeom prst="rect">
            <a:avLst/>
          </a:prstGeom>
        </p:spPr>
      </p:pic>
      <p:sp>
        <p:nvSpPr>
          <p:cNvPr id="18" name="TextBox 17"/>
          <p:cNvSpPr txBox="1"/>
          <p:nvPr/>
        </p:nvSpPr>
        <p:spPr>
          <a:xfrm>
            <a:off x="5359400" y="2254250"/>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A theme's position and standards (specified, not built) become StewardIQ flags: the product thesis turns into engagement asks.</a:t>
            </a:r>
          </a:p>
        </p:txBody>
      </p:sp>
      <p:sp>
        <p:nvSpPr>
          <p:cNvPr id="19" name="Rounded Rectangle 18"/>
          <p:cNvSpPr/>
          <p:nvPr/>
        </p:nvSpPr>
        <p:spPr>
          <a:xfrm>
            <a:off x="4775200" y="3227917"/>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587750"/>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663950"/>
            <a:ext cx="152400" cy="152400"/>
          </a:xfrm>
          <a:prstGeom prst="rect">
            <a:avLst/>
          </a:prstGeom>
        </p:spPr>
      </p:pic>
      <p:sp>
        <p:nvSpPr>
          <p:cNvPr id="22" name="TextBox 21"/>
          <p:cNvSpPr txBox="1"/>
          <p:nvPr/>
        </p:nvSpPr>
        <p:spPr>
          <a:xfrm>
            <a:off x="5359400" y="3380317"/>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PAB, CTB, best-in-class and thematic presets compose an index; dated calibrations keep past reviews reproducible.</a:t>
            </a:r>
          </a:p>
        </p:txBody>
      </p:sp>
      <p:sp>
        <p:nvSpPr>
          <p:cNvPr id="23" name="Rounded Rectangle 22"/>
          <p:cNvSpPr/>
          <p:nvPr/>
        </p:nvSpPr>
        <p:spPr>
          <a:xfrm>
            <a:off x="4775200" y="4353983"/>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713817"/>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790017"/>
            <a:ext cx="152400" cy="152400"/>
          </a:xfrm>
          <a:prstGeom prst="rect">
            <a:avLst/>
          </a:prstGeom>
        </p:spPr>
      </p:pic>
      <p:sp>
        <p:nvSpPr>
          <p:cNvPr id="26" name="TextBox 25"/>
          <p:cNvSpPr txBox="1"/>
          <p:nvPr/>
        </p:nvSpPr>
        <p:spPr>
          <a:xfrm>
            <a:off x="5359400" y="4506383"/>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Methodologies and taxonomies are house IP. GICS below sector level needs an MSCI/S&amp;P licence; IO data is OECD and EXIOBASE.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 every stage leaves a trace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methodology composed from named rules, with no model anywhere in the numbers.</a:t>
            </a:r>
          </a:p>
        </p:txBody>
      </p:sp>
      <p:pic>
        <p:nvPicPr>
          <p:cNvPr id="5" name="Picture 4" descr="index.png"/>
          <p:cNvPicPr>
            <a:picLocks noChangeAspect="1"/>
          </p:cNvPicPr>
          <p:nvPr/>
        </p:nvPicPr>
        <p:blipFill>
          <a:blip r:embed="rId2"/>
          <a:stretch>
            <a:fillRect/>
          </a:stretch>
        </p:blipFill>
        <p:spPr>
          <a:xfrm>
            <a:off x="812800" y="2101850"/>
            <a:ext cx="6553200" cy="3684832"/>
          </a:xfrm>
          <a:prstGeom prst="rect">
            <a:avLst/>
          </a:prstGeom>
        </p:spPr>
      </p:pic>
      <p:sp>
        <p:nvSpPr>
          <p:cNvPr id="6" name="Rounded Rectangle 5"/>
          <p:cNvSpPr/>
          <p:nvPr/>
        </p:nvSpPr>
        <p:spPr>
          <a:xfrm>
            <a:off x="812800" y="2101850"/>
            <a:ext cx="6553200" cy="3684832"/>
          </a:xfrm>
          <a:prstGeom prst="roundRect">
            <a:avLst>
              <a:gd name="adj" fmla="val 2757"/>
            </a:avLst>
          </a:prstGeom>
          <a:noFill/>
          <a:ln w="9525">
            <a:solidFill>
              <a:srgbClr val="E2E8F0"/>
            </a:solidFill>
          </a:ln>
          <a:effectLst/>
        </p:spPr>
        <p:txBody>
          <a:bodyPr rtlCol="0" anchor="ctr"/>
          <a:lstStyle/>
          <a:p>
            <a:pPr algn="ctr"/>
          </a:p>
        </p:txBody>
      </p:sp>
      <p:pic>
        <p:nvPicPr>
          <p:cNvPr id="7" name="Picture 6" descr="fig-machine-filter.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Composed from named rules</a:t>
            </a:r>
          </a:p>
          <a:p>
            <a:pPr>
              <a:lnSpc>
                <a:spcPct val="116667"/>
              </a:lnSpc>
              <a:spcAft>
                <a:spcPts val="0"/>
              </a:spcAft>
            </a:pPr>
            <a:r>
              <a:rPr sz="1200" b="0">
                <a:solidFill>
                  <a:srgbClr val="475569"/>
                </a:solidFill>
                <a:latin typeface="IBM Plex Sans"/>
              </a:rPr>
              <a:t>Screens, selection, weighting, tilts, capping and the PAB or CTB path.</a:t>
            </a:r>
          </a:p>
        </p:txBody>
      </p:sp>
      <p:pic>
        <p:nvPicPr>
          <p:cNvPr id="9" name="Picture 8" descr="fig-machine-calendar-clock.png"/>
          <p:cNvPicPr>
            <a:picLocks noChangeAspect="1"/>
          </p:cNvPicPr>
          <p:nvPr/>
        </p:nvPicPr>
        <p:blipFill>
          <a:blip r:embed="rId4"/>
          <a:stretch>
            <a:fillRect/>
          </a:stretch>
        </p:blipFill>
        <p:spPr>
          <a:xfrm>
            <a:off x="7569200" y="3090944"/>
            <a:ext cx="508000" cy="508000"/>
          </a:xfrm>
          <a:prstGeom prst="rect">
            <a:avLst/>
          </a:prstGeom>
        </p:spPr>
      </p:pic>
      <p:sp>
        <p:nvSpPr>
          <p:cNvPr id="10" name="TextBox 9"/>
          <p:cNvSpPr txBox="1"/>
          <p:nvPr/>
        </p:nvSpPr>
        <p:spPr>
          <a:xfrm>
            <a:off x="8204200" y="3090944"/>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Effective-dated calibrations</a:t>
            </a:r>
          </a:p>
          <a:p>
            <a:pPr>
              <a:lnSpc>
                <a:spcPct val="116667"/>
              </a:lnSpc>
              <a:spcAft>
                <a:spcPts val="0"/>
              </a:spcAft>
            </a:pPr>
            <a:r>
              <a:rPr sz="1200" b="0">
                <a:solidFill>
                  <a:srgbClr val="475569"/>
                </a:solidFill>
                <a:latin typeface="IBM Plex Sans"/>
              </a:rPr>
              <a:t>A review uses the methodology in force on its date; the past holds.</a:t>
            </a:r>
          </a:p>
        </p:txBody>
      </p:sp>
      <p:pic>
        <p:nvPicPr>
          <p:cNvPr id="11" name="Picture 10" descr="fig-machine-calculator.png"/>
          <p:cNvPicPr>
            <a:picLocks noChangeAspect="1"/>
          </p:cNvPicPr>
          <p:nvPr/>
        </p:nvPicPr>
        <p:blipFill>
          <a:blip r:embed="rId5"/>
          <a:stretch>
            <a:fillRect/>
          </a:stretch>
        </p:blipFill>
        <p:spPr>
          <a:xfrm>
            <a:off x="7569200" y="4080038"/>
            <a:ext cx="508000" cy="508000"/>
          </a:xfrm>
          <a:prstGeom prst="rect">
            <a:avLst/>
          </a:prstGeom>
        </p:spPr>
      </p:pic>
      <p:sp>
        <p:nvSpPr>
          <p:cNvPr id="12" name="TextBox 11"/>
          <p:cNvSpPr txBox="1"/>
          <p:nvPr/>
        </p:nvSpPr>
        <p:spPr>
          <a:xfrm>
            <a:off x="8204200" y="4080038"/>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Solvers re-checked</a:t>
            </a:r>
          </a:p>
          <a:p>
            <a:pPr>
              <a:lnSpc>
                <a:spcPct val="116667"/>
              </a:lnSpc>
              <a:spcAft>
                <a:spcPts val="0"/>
              </a:spcAft>
            </a:pPr>
            <a:r>
              <a:rPr sz="1200" b="0">
                <a:solidFill>
                  <a:srgbClr val="475569"/>
                </a:solidFill>
                <a:latin typeface="IBM Plex Sans"/>
              </a:rPr>
              <a:t>Every constraint is verified again in plain Python after any solver.</a:t>
            </a:r>
          </a:p>
        </p:txBody>
      </p:sp>
      <p:pic>
        <p:nvPicPr>
          <p:cNvPr id="13" name="Picture 12" descr="fig-person-users.png"/>
          <p:cNvPicPr>
            <a:picLocks noChangeAspect="1"/>
          </p:cNvPicPr>
          <p:nvPr/>
        </p:nvPicPr>
        <p:blipFill>
          <a:blip r:embed="rId6"/>
          <a:stretch>
            <a:fillRect/>
          </a:stretch>
        </p:blipFill>
        <p:spPr>
          <a:xfrm>
            <a:off x="7569200" y="5069132"/>
            <a:ext cx="508000" cy="508000"/>
          </a:xfrm>
          <a:prstGeom prst="rect">
            <a:avLst/>
          </a:prstGeom>
        </p:spPr>
      </p:pic>
      <p:sp>
        <p:nvSpPr>
          <p:cNvPr id="14" name="TextBox 13"/>
          <p:cNvSpPr txBox="1"/>
          <p:nvPr/>
        </p:nvSpPr>
        <p:spPr>
          <a:xfrm>
            <a:off x="8204200" y="5069132"/>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funnel for the committee</a:t>
            </a:r>
          </a:p>
          <a:p>
            <a:pPr>
              <a:lnSpc>
                <a:spcPct val="116667"/>
              </a:lnSpc>
              <a:spcAft>
                <a:spcPts val="0"/>
              </a:spcAft>
            </a:pPr>
            <a:r>
              <a:rPr sz="1200" b="0">
                <a:solidFill>
                  <a:srgbClr val="475569"/>
                </a:solidFill>
                <a:latin typeface="IBM Plex Sans"/>
              </a:rPr>
              <a:t>Each stage logs count in, count out and the names it dropped.</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StewardIQ: 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Engage and escalate · Proxy season · Client reporting</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Engagement notes, votes and escalations sit in email and spreadsheets: no clear owner, promise or reason for a vote.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record per company, a seven-step escalation ladder, votes cross-checked against open engagements, and a person deciding every step.</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Votes, engagements and escalations share one record, so a vote against management can follow from a stalled engagement, documented.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Client reporting is designed to show house activity plus where a client's policy differed: a basis for client-specific mandates.</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Proxy statements come free from SEC EDGAR and the engagement record is house data. Vote data from a provider brings its own licence terms.</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policy engine for house and clients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Eight stages on one graph; clients add only the points where their policy differs.</a:t>
            </a:r>
          </a:p>
        </p:txBody>
      </p:sp>
      <p:pic>
        <p:nvPicPr>
          <p:cNvPr id="5" name="Picture 4" descr="steward.png"/>
          <p:cNvPicPr>
            <a:picLocks noChangeAspect="1"/>
          </p:cNvPicPr>
          <p:nvPr/>
        </p:nvPicPr>
        <p:blipFill>
          <a:blip r:embed="rId2"/>
          <a:stretch>
            <a:fillRect/>
          </a:stretch>
        </p:blipFill>
        <p:spPr>
          <a:xfrm>
            <a:off x="812800" y="2101850"/>
            <a:ext cx="6553200" cy="3276600"/>
          </a:xfrm>
          <a:prstGeom prst="rect">
            <a:avLst/>
          </a:prstGeom>
        </p:spPr>
      </p:pic>
      <p:sp>
        <p:nvSpPr>
          <p:cNvPr id="6" name="Rounded Rectangle 5"/>
          <p:cNvSpPr/>
          <p:nvPr/>
        </p:nvSpPr>
        <p:spPr>
          <a:xfrm>
            <a:off x="812800" y="2101850"/>
            <a:ext cx="6553200" cy="3276600"/>
          </a:xfrm>
          <a:prstGeom prst="roundRect">
            <a:avLst>
              <a:gd name="adj" fmla="val 3100"/>
            </a:avLst>
          </a:prstGeom>
          <a:noFill/>
          <a:ln w="9525">
            <a:solidFill>
              <a:srgbClr val="E2E8F0"/>
            </a:solidFill>
          </a:ln>
          <a:effectLst/>
        </p:spPr>
        <p:txBody>
          <a:bodyPr rtlCol="0" anchor="ctr"/>
          <a:lstStyle/>
          <a:p>
            <a:pPr algn="ctr"/>
          </a:p>
        </p:txBody>
      </p:sp>
      <p:pic>
        <p:nvPicPr>
          <p:cNvPr id="7" name="Picture 6" descr="fig-machine-workflow.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Eight stages, one graph</a:t>
            </a:r>
          </a:p>
          <a:p>
            <a:pPr>
              <a:lnSpc>
                <a:spcPct val="116667"/>
              </a:lnSpc>
              <a:spcAft>
                <a:spcPts val="0"/>
              </a:spcAft>
            </a:pPr>
            <a:r>
              <a:rPr sz="1200" b="0">
                <a:solidFill>
                  <a:srgbClr val="475569"/>
                </a:solidFill>
                <a:latin typeface="IBM Plex Sans"/>
              </a:rPr>
              <a:t>House stages 1 to 6; client policy and reporting are an overlay.</a:t>
            </a:r>
          </a:p>
        </p:txBody>
      </p:sp>
      <p:pic>
        <p:nvPicPr>
          <p:cNvPr id="9" name="Picture 8" descr="fig-machine-git-branch.png"/>
          <p:cNvPicPr>
            <a:picLocks noChangeAspect="1"/>
          </p:cNvPicPr>
          <p:nvPr/>
        </p:nvPicPr>
        <p:blipFill>
          <a:blip r:embed="rId4"/>
          <a:stretch>
            <a:fillRect/>
          </a:stretch>
        </p:blipFill>
        <p:spPr>
          <a:xfrm>
            <a:off x="7569200" y="2954867"/>
            <a:ext cx="508000" cy="508000"/>
          </a:xfrm>
          <a:prstGeom prst="rect">
            <a:avLst/>
          </a:prstGeom>
        </p:spPr>
      </p:pic>
      <p:sp>
        <p:nvSpPr>
          <p:cNvPr id="10" name="TextBox 9"/>
          <p:cNvSpPr txBox="1"/>
          <p:nvPr/>
        </p:nvSpPr>
        <p:spPr>
          <a:xfrm>
            <a:off x="8204200" y="2954867"/>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Rules as decision graphs</a:t>
            </a:r>
          </a:p>
          <a:p>
            <a:pPr>
              <a:lnSpc>
                <a:spcPct val="116667"/>
              </a:lnSpc>
              <a:spcAft>
                <a:spcPts val="0"/>
              </a:spcAft>
            </a:pPr>
            <a:r>
              <a:rPr sz="1200" b="0">
                <a:solidFill>
                  <a:srgbClr val="475569"/>
                </a:solidFill>
                <a:latin typeface="IBM Plex Sans"/>
              </a:rPr>
              <a:t>House and client rules run on one decision-graph engine.</a:t>
            </a:r>
          </a:p>
        </p:txBody>
      </p:sp>
      <p:pic>
        <p:nvPicPr>
          <p:cNvPr id="11" name="Picture 10" descr="fig-machine-trending-up.png"/>
          <p:cNvPicPr>
            <a:picLocks noChangeAspect="1"/>
          </p:cNvPicPr>
          <p:nvPr/>
        </p:nvPicPr>
        <p:blipFill>
          <a:blip r:embed="rId5"/>
          <a:stretch>
            <a:fillRect/>
          </a:stretch>
        </p:blipFill>
        <p:spPr>
          <a:xfrm>
            <a:off x="7569200" y="3807883"/>
            <a:ext cx="508000" cy="508000"/>
          </a:xfrm>
          <a:prstGeom prst="rect">
            <a:avLst/>
          </a:prstGeom>
        </p:spPr>
      </p:pic>
      <p:sp>
        <p:nvSpPr>
          <p:cNvPr id="12" name="TextBox 11"/>
          <p:cNvSpPr txBox="1"/>
          <p:nvPr/>
        </p:nvSpPr>
        <p:spPr>
          <a:xfrm>
            <a:off x="8204200" y="3807883"/>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Escalation capped by tier</a:t>
            </a:r>
          </a:p>
          <a:p>
            <a:pPr>
              <a:lnSpc>
                <a:spcPct val="116667"/>
              </a:lnSpc>
              <a:spcAft>
                <a:spcPts val="0"/>
              </a:spcAft>
            </a:pPr>
            <a:r>
              <a:rPr sz="1200" b="0">
                <a:solidFill>
                  <a:srgbClr val="475569"/>
                </a:solidFill>
                <a:latin typeface="IBM Plex Sans"/>
              </a:rPr>
              <a:t>Rules propose how far to escalate; the coverage tier caps it.</a:t>
            </a:r>
          </a:p>
        </p:txBody>
      </p:sp>
      <p:pic>
        <p:nvPicPr>
          <p:cNvPr id="13" name="Picture 12" descr="fig-person-scale.png"/>
          <p:cNvPicPr>
            <a:picLocks noChangeAspect="1"/>
          </p:cNvPicPr>
          <p:nvPr/>
        </p:nvPicPr>
        <p:blipFill>
          <a:blip r:embed="rId6"/>
          <a:stretch>
            <a:fillRect/>
          </a:stretch>
        </p:blipFill>
        <p:spPr>
          <a:xfrm>
            <a:off x="7569200" y="4660900"/>
            <a:ext cx="508000" cy="508000"/>
          </a:xfrm>
          <a:prstGeom prst="rect">
            <a:avLst/>
          </a:prstGeom>
        </p:spPr>
      </p:pic>
      <p:sp>
        <p:nvSpPr>
          <p:cNvPr id="14" name="TextBox 13"/>
          <p:cNvSpPr txBox="1"/>
          <p:nvPr/>
        </p:nvSpPr>
        <p:spPr>
          <a:xfrm>
            <a:off x="8204200" y="46609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People decide at the checkpoint</a:t>
            </a:r>
          </a:p>
          <a:p>
            <a:pPr>
              <a:lnSpc>
                <a:spcPct val="116667"/>
              </a:lnSpc>
              <a:spcAft>
                <a:spcPts val="0"/>
              </a:spcAft>
            </a:pPr>
            <a:r>
              <a:rPr sz="1200" b="0">
                <a:solidFill>
                  <a:srgbClr val="475569"/>
                </a:solidFill>
                <a:latin typeface="IBM Plex Sans"/>
              </a:rPr>
              <a:t>Escalations and tier changes wait for a named person.</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 Hub: one source of truth for inputs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Map securities to issuers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Each tool maps securities to issuers its own way, and a stale or failed feed goes unnoticed until a number is wrong.</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security master that maps every held security to exactly one issuer, a feed list that shows what is behind, and one list of open data issues.</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Holdings, news and alerts reach the same issuer through one master, so an engagement and its evidence point to the same company.</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The output catalogue shows which universes, runs, scores and calibrations each product uses, so its inputs can be traced and reused.</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Every provider source is tagged internal-only or redistributable, so the licence limits on each dataset are visible before reuse.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Every data problem in one list, blocking first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Feeds, the security master and failing checks, each issue linked to where it is fixed.</a:t>
            </a:r>
          </a:p>
        </p:txBody>
      </p:sp>
      <p:pic>
        <p:nvPicPr>
          <p:cNvPr id="5" name="Picture 4" descr="issues.png"/>
          <p:cNvPicPr>
            <a:picLocks noChangeAspect="1"/>
          </p:cNvPicPr>
          <p:nvPr/>
        </p:nvPicPr>
        <p:blipFill>
          <a:blip r:embed="rId2"/>
          <a:stretch>
            <a:fillRect/>
          </a:stretch>
        </p:blipFill>
        <p:spPr>
          <a:xfrm>
            <a:off x="812800" y="2101850"/>
            <a:ext cx="6553200" cy="2954311"/>
          </a:xfrm>
          <a:prstGeom prst="rect">
            <a:avLst/>
          </a:prstGeom>
        </p:spPr>
      </p:pic>
      <p:sp>
        <p:nvSpPr>
          <p:cNvPr id="6" name="Rounded Rectangle 5"/>
          <p:cNvSpPr/>
          <p:nvPr/>
        </p:nvSpPr>
        <p:spPr>
          <a:xfrm>
            <a:off x="812800" y="2101850"/>
            <a:ext cx="6553200" cy="2954311"/>
          </a:xfrm>
          <a:prstGeom prst="roundRect">
            <a:avLst>
              <a:gd name="adj" fmla="val 3439"/>
            </a:avLst>
          </a:prstGeom>
          <a:noFill/>
          <a:ln w="9525">
            <a:solidFill>
              <a:srgbClr val="E2E8F0"/>
            </a:solidFill>
          </a:ln>
          <a:effectLst/>
        </p:spPr>
        <p:txBody>
          <a:bodyPr rtlCol="0" anchor="ctr"/>
          <a:lstStyle/>
          <a:p>
            <a:pPr algn="ctr"/>
          </a:p>
        </p:txBody>
      </p:sp>
      <p:pic>
        <p:nvPicPr>
          <p:cNvPr id="7" name="Picture 6" descr="fig-machine-key-round.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Exact matching only</a:t>
            </a:r>
          </a:p>
          <a:p>
            <a:pPr>
              <a:lnSpc>
                <a:spcPct val="116667"/>
              </a:lnSpc>
              <a:spcAft>
                <a:spcPts val="0"/>
              </a:spcAft>
            </a:pPr>
            <a:r>
              <a:rPr sz="1200" b="0">
                <a:solidFill>
                  <a:srgbClr val="475569"/>
                </a:solidFill>
                <a:latin typeface="IBM Plex Sans"/>
              </a:rPr>
              <a:t>LEI, ISIN or CIK map a security to one issuer, never a name.</a:t>
            </a:r>
          </a:p>
        </p:txBody>
      </p:sp>
      <p:pic>
        <p:nvPicPr>
          <p:cNvPr id="9" name="Picture 8" descr="fig-machine-bell-ring.png"/>
          <p:cNvPicPr>
            <a:picLocks noChangeAspect="1"/>
          </p:cNvPicPr>
          <p:nvPr/>
        </p:nvPicPr>
        <p:blipFill>
          <a:blip r:embed="rId4"/>
          <a:stretch>
            <a:fillRect/>
          </a:stretch>
        </p:blipFill>
        <p:spPr>
          <a:xfrm>
            <a:off x="7569200" y="2921000"/>
            <a:ext cx="508000" cy="508000"/>
          </a:xfrm>
          <a:prstGeom prst="rect">
            <a:avLst/>
          </a:prstGeom>
        </p:spPr>
      </p:pic>
      <p:sp>
        <p:nvSpPr>
          <p:cNvPr id="10" name="TextBox 9"/>
          <p:cNvSpPr txBox="1"/>
          <p:nvPr/>
        </p:nvSpPr>
        <p:spPr>
          <a:xfrm>
            <a:off x="8204200" y="29210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Feeds that say they are late</a:t>
            </a:r>
          </a:p>
          <a:p>
            <a:pPr>
              <a:lnSpc>
                <a:spcPct val="116667"/>
              </a:lnSpc>
              <a:spcAft>
                <a:spcPts val="0"/>
              </a:spcAft>
            </a:pPr>
            <a:r>
              <a:rPr sz="1200" b="0">
                <a:solidFill>
                  <a:srgbClr val="475569"/>
                </a:solidFill>
                <a:latin typeface="IBM Plex Sans"/>
              </a:rPr>
              <a:t>A load older than last month end is flagged as behind.</a:t>
            </a:r>
          </a:p>
        </p:txBody>
      </p:sp>
      <p:pic>
        <p:nvPicPr>
          <p:cNvPr id="11" name="Picture 10" descr="fig-machine-list-ordered.png"/>
          <p:cNvPicPr>
            <a:picLocks noChangeAspect="1"/>
          </p:cNvPicPr>
          <p:nvPr/>
        </p:nvPicPr>
        <p:blipFill>
          <a:blip r:embed="rId5"/>
          <a:stretch>
            <a:fillRect/>
          </a:stretch>
        </p:blipFill>
        <p:spPr>
          <a:xfrm>
            <a:off x="7569200" y="3740150"/>
            <a:ext cx="508000" cy="508000"/>
          </a:xfrm>
          <a:prstGeom prst="rect">
            <a:avLst/>
          </a:prstGeom>
        </p:spPr>
      </p:pic>
      <p:sp>
        <p:nvSpPr>
          <p:cNvPr id="12" name="TextBox 11"/>
          <p:cNvSpPr txBox="1"/>
          <p:nvPr/>
        </p:nvSpPr>
        <p:spPr>
          <a:xfrm>
            <a:off x="8204200" y="37401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Blocking issues first</a:t>
            </a:r>
          </a:p>
          <a:p>
            <a:pPr>
              <a:lnSpc>
                <a:spcPct val="116667"/>
              </a:lnSpc>
              <a:spcAft>
                <a:spcPts val="0"/>
              </a:spcAft>
            </a:pPr>
            <a:r>
              <a:rPr sz="1200" b="0">
                <a:solidFill>
                  <a:srgbClr val="475569"/>
                </a:solidFill>
                <a:latin typeface="IBM Plex Sans"/>
              </a:rPr>
              <a:t>Feed and master problems come before the checks they cause.</a:t>
            </a:r>
          </a:p>
        </p:txBody>
      </p:sp>
      <p:pic>
        <p:nvPicPr>
          <p:cNvPr id="13" name="Picture 12" descr="fig-machine-lock.png"/>
          <p:cNvPicPr>
            <a:picLocks noChangeAspect="1"/>
          </p:cNvPicPr>
          <p:nvPr/>
        </p:nvPicPr>
        <p:blipFill>
          <a:blip r:embed="rId6"/>
          <a:stretch>
            <a:fillRect/>
          </a:stretch>
        </p:blipFill>
        <p:spPr>
          <a:xfrm>
            <a:off x="7569200" y="4559300"/>
            <a:ext cx="508000" cy="508000"/>
          </a:xfrm>
          <a:prstGeom prst="rect">
            <a:avLst/>
          </a:prstGeom>
        </p:spPr>
      </p:pic>
      <p:sp>
        <p:nvSpPr>
          <p:cNvPr id="14" name="TextBox 13"/>
          <p:cNvSpPr txBox="1"/>
          <p:nvPr/>
        </p:nvSpPr>
        <p:spPr>
          <a:xfrm>
            <a:off x="8204200" y="45593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Licence-aware publishing</a:t>
            </a:r>
          </a:p>
          <a:p>
            <a:pPr>
              <a:lnSpc>
                <a:spcPct val="116667"/>
              </a:lnSpc>
              <a:spcAft>
                <a:spcPts val="0"/>
              </a:spcAft>
            </a:pPr>
            <a:r>
              <a:rPr sz="1200" b="0">
                <a:solidFill>
                  <a:srgbClr val="475569"/>
                </a:solidFill>
                <a:latin typeface="IBM Plex Sans"/>
              </a:rPr>
              <a:t>Internal-only provider data never reaches the publish path.</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5" name="Rounded Rectangle 4"/>
          <p:cNvSpPr/>
          <p:nvPr/>
        </p:nvSpPr>
        <p:spPr>
          <a:xfrm>
            <a:off x="812800" y="21018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47900"/>
            <a:ext cx="304800" cy="304800"/>
          </a:xfrm>
          <a:prstGeom prst="ellipse">
            <a:avLst/>
          </a:prstGeom>
          <a:solidFill>
            <a:srgbClr val="F1F5F9"/>
          </a:solidFill>
          <a:ln>
            <a:noFill/>
          </a:ln>
          <a:effectLst/>
        </p:spPr>
        <p:txBody>
          <a:bodyPr rtlCol="0" anchor="ctr"/>
          <a:lstStyle/>
          <a:p>
            <a:pPr algn="ctr"/>
          </a:p>
        </p:txBody>
      </p:sp>
      <p:pic>
        <p:nvPicPr>
          <p:cNvPr id="7" name="Picture 6" descr="monitor-0F172A.png"/>
          <p:cNvPicPr>
            <a:picLocks noChangeAspect="1"/>
          </p:cNvPicPr>
          <p:nvPr/>
        </p:nvPicPr>
        <p:blipFill>
          <a:blip r:embed="rId2"/>
          <a:stretch>
            <a:fillRect/>
          </a:stretch>
        </p:blipFill>
        <p:spPr>
          <a:xfrm>
            <a:off x="1041400" y="2324100"/>
            <a:ext cx="152400" cy="152400"/>
          </a:xfrm>
          <a:prstGeom prst="rect">
            <a:avLst/>
          </a:prstGeom>
        </p:spPr>
      </p:pic>
      <p:sp>
        <p:nvSpPr>
          <p:cNvPr id="8" name="TextBox 7"/>
          <p:cNvSpPr txBox="1"/>
          <p:nvPr/>
        </p:nvSpPr>
        <p:spPr>
          <a:xfrm>
            <a:off x="1397000" y="2101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9" name="Rounded Rectangle 8"/>
          <p:cNvSpPr/>
          <p:nvPr/>
        </p:nvSpPr>
        <p:spPr>
          <a:xfrm>
            <a:off x="3505200"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0" name="TextBox 9"/>
          <p:cNvSpPr txBox="1"/>
          <p:nvPr/>
        </p:nvSpPr>
        <p:spPr>
          <a:xfrm>
            <a:off x="3505200"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1" name="Rounded Rectangle 10"/>
          <p:cNvSpPr/>
          <p:nvPr/>
        </p:nvSpPr>
        <p:spPr>
          <a:xfrm>
            <a:off x="4467352" y="2251075"/>
            <a:ext cx="800608" cy="298450"/>
          </a:xfrm>
          <a:prstGeom prst="roundRect">
            <a:avLst>
              <a:gd name="adj" fmla="val 25531"/>
            </a:avLst>
          </a:prstGeom>
          <a:solidFill>
            <a:srgbClr val="F1F5F9"/>
          </a:solidFill>
          <a:ln>
            <a:noFill/>
          </a:ln>
          <a:effectLst/>
        </p:spPr>
        <p:txBody>
          <a:bodyPr rtlCol="0" anchor="ctr"/>
          <a:lstStyle/>
          <a:p>
            <a:pPr algn="ctr"/>
          </a:p>
        </p:txBody>
      </p:sp>
      <p:sp>
        <p:nvSpPr>
          <p:cNvPr id="12" name="TextBox 11"/>
          <p:cNvSpPr txBox="1"/>
          <p:nvPr/>
        </p:nvSpPr>
        <p:spPr>
          <a:xfrm>
            <a:off x="4467352" y="22510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3" name="Rounded Rectangle 12"/>
          <p:cNvSpPr/>
          <p:nvPr/>
        </p:nvSpPr>
        <p:spPr>
          <a:xfrm>
            <a:off x="5344160" y="2251075"/>
            <a:ext cx="971296" cy="298450"/>
          </a:xfrm>
          <a:prstGeom prst="roundRect">
            <a:avLst>
              <a:gd name="adj" fmla="val 25531"/>
            </a:avLst>
          </a:prstGeom>
          <a:solidFill>
            <a:srgbClr val="F1F5F9"/>
          </a:solidFill>
          <a:ln>
            <a:noFill/>
          </a:ln>
          <a:effectLst/>
        </p:spPr>
        <p:txBody>
          <a:bodyPr rtlCol="0" anchor="ctr"/>
          <a:lstStyle/>
          <a:p>
            <a:pPr algn="ctr"/>
          </a:p>
        </p:txBody>
      </p:sp>
      <p:sp>
        <p:nvSpPr>
          <p:cNvPr id="14" name="TextBox 13"/>
          <p:cNvSpPr txBox="1"/>
          <p:nvPr/>
        </p:nvSpPr>
        <p:spPr>
          <a:xfrm>
            <a:off x="5344160" y="22510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5" name="Rounded Rectangle 14"/>
          <p:cNvSpPr/>
          <p:nvPr/>
        </p:nvSpPr>
        <p:spPr>
          <a:xfrm>
            <a:off x="6391656" y="2251075"/>
            <a:ext cx="1312672" cy="298450"/>
          </a:xfrm>
          <a:prstGeom prst="roundRect">
            <a:avLst>
              <a:gd name="adj" fmla="val 25531"/>
            </a:avLst>
          </a:prstGeom>
          <a:solidFill>
            <a:srgbClr val="F1F5F9"/>
          </a:solidFill>
          <a:ln>
            <a:noFill/>
          </a:ln>
          <a:effectLst/>
        </p:spPr>
        <p:txBody>
          <a:bodyPr rtlCol="0" anchor="ctr"/>
          <a:lstStyle/>
          <a:p>
            <a:pPr algn="ctr"/>
          </a:p>
        </p:txBody>
      </p:sp>
      <p:sp>
        <p:nvSpPr>
          <p:cNvPr id="16" name="TextBox 15"/>
          <p:cNvSpPr txBox="1"/>
          <p:nvPr/>
        </p:nvSpPr>
        <p:spPr>
          <a:xfrm>
            <a:off x="6391656" y="22510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7" name="Rounded Rectangle 16"/>
          <p:cNvSpPr/>
          <p:nvPr/>
        </p:nvSpPr>
        <p:spPr>
          <a:xfrm>
            <a:off x="7780528"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8" name="TextBox 17"/>
          <p:cNvSpPr txBox="1"/>
          <p:nvPr/>
        </p:nvSpPr>
        <p:spPr>
          <a:xfrm>
            <a:off x="7780528"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9" name="Rounded Rectangle 18"/>
          <p:cNvSpPr/>
          <p:nvPr/>
        </p:nvSpPr>
        <p:spPr>
          <a:xfrm>
            <a:off x="812800" y="27876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2933700"/>
            <a:ext cx="304800" cy="304800"/>
          </a:xfrm>
          <a:prstGeom prst="ellipse">
            <a:avLst/>
          </a:prstGeom>
          <a:solidFill>
            <a:srgbClr val="F1F5F9"/>
          </a:solidFill>
          <a:ln>
            <a:noFill/>
          </a:ln>
          <a:effectLst/>
        </p:spPr>
        <p:txBody>
          <a:bodyPr rtlCol="0" anchor="ctr"/>
          <a:lstStyle/>
          <a:p>
            <a:pPr algn="ctr"/>
          </a:p>
        </p:txBody>
      </p:sp>
      <p:pic>
        <p:nvPicPr>
          <p:cNvPr id="21" name="Picture 20" descr="workflow-0F172A.png"/>
          <p:cNvPicPr>
            <a:picLocks noChangeAspect="1"/>
          </p:cNvPicPr>
          <p:nvPr/>
        </p:nvPicPr>
        <p:blipFill>
          <a:blip r:embed="rId3"/>
          <a:stretch>
            <a:fillRect/>
          </a:stretch>
        </p:blipFill>
        <p:spPr>
          <a:xfrm>
            <a:off x="1041400" y="3009900"/>
            <a:ext cx="152400" cy="152400"/>
          </a:xfrm>
          <a:prstGeom prst="rect">
            <a:avLst/>
          </a:prstGeom>
        </p:spPr>
      </p:pic>
      <p:sp>
        <p:nvSpPr>
          <p:cNvPr id="22" name="TextBox 21"/>
          <p:cNvSpPr txBox="1"/>
          <p:nvPr/>
        </p:nvSpPr>
        <p:spPr>
          <a:xfrm>
            <a:off x="1397000" y="2787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3" name="Rounded Rectangle 22"/>
          <p:cNvSpPr/>
          <p:nvPr/>
        </p:nvSpPr>
        <p:spPr>
          <a:xfrm>
            <a:off x="3505200" y="2936875"/>
            <a:ext cx="1739392" cy="298450"/>
          </a:xfrm>
          <a:prstGeom prst="roundRect">
            <a:avLst>
              <a:gd name="adj" fmla="val 25531"/>
            </a:avLst>
          </a:prstGeom>
          <a:solidFill>
            <a:srgbClr val="F1F5F9"/>
          </a:solidFill>
          <a:ln>
            <a:noFill/>
          </a:ln>
          <a:effectLst/>
        </p:spPr>
        <p:txBody>
          <a:bodyPr rtlCol="0" anchor="ctr"/>
          <a:lstStyle/>
          <a:p>
            <a:pPr algn="ctr"/>
          </a:p>
        </p:txBody>
      </p:sp>
      <p:sp>
        <p:nvSpPr>
          <p:cNvPr id="24" name="TextBox 23"/>
          <p:cNvSpPr txBox="1"/>
          <p:nvPr/>
        </p:nvSpPr>
        <p:spPr>
          <a:xfrm>
            <a:off x="3505200" y="29368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5" name="Rounded Rectangle 24"/>
          <p:cNvSpPr/>
          <p:nvPr/>
        </p:nvSpPr>
        <p:spPr>
          <a:xfrm>
            <a:off x="5320792" y="2936875"/>
            <a:ext cx="1141984" cy="298450"/>
          </a:xfrm>
          <a:prstGeom prst="roundRect">
            <a:avLst>
              <a:gd name="adj" fmla="val 25531"/>
            </a:avLst>
          </a:prstGeom>
          <a:solidFill>
            <a:srgbClr val="F1F5F9"/>
          </a:solidFill>
          <a:ln>
            <a:noFill/>
          </a:ln>
          <a:effectLst/>
        </p:spPr>
        <p:txBody>
          <a:bodyPr rtlCol="0" anchor="ctr"/>
          <a:lstStyle/>
          <a:p>
            <a:pPr algn="ctr"/>
          </a:p>
        </p:txBody>
      </p:sp>
      <p:sp>
        <p:nvSpPr>
          <p:cNvPr id="26" name="TextBox 25"/>
          <p:cNvSpPr txBox="1"/>
          <p:nvPr/>
        </p:nvSpPr>
        <p:spPr>
          <a:xfrm>
            <a:off x="5320792" y="29368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checkpoints</a:t>
            </a:r>
          </a:p>
        </p:txBody>
      </p:sp>
      <p:sp>
        <p:nvSpPr>
          <p:cNvPr id="27" name="Rounded Rectangle 26"/>
          <p:cNvSpPr/>
          <p:nvPr/>
        </p:nvSpPr>
        <p:spPr>
          <a:xfrm>
            <a:off x="6538976" y="2936875"/>
            <a:ext cx="1398016" cy="298450"/>
          </a:xfrm>
          <a:prstGeom prst="roundRect">
            <a:avLst>
              <a:gd name="adj" fmla="val 25531"/>
            </a:avLst>
          </a:prstGeom>
          <a:solidFill>
            <a:srgbClr val="F1F5F9"/>
          </a:solidFill>
          <a:ln>
            <a:noFill/>
          </a:ln>
          <a:effectLst/>
        </p:spPr>
        <p:txBody>
          <a:bodyPr rtlCol="0" anchor="ctr"/>
          <a:lstStyle/>
          <a:p>
            <a:pPr algn="ctr"/>
          </a:p>
        </p:txBody>
      </p:sp>
      <p:sp>
        <p:nvSpPr>
          <p:cNvPr id="28" name="TextBox 27"/>
          <p:cNvSpPr txBox="1"/>
          <p:nvPr/>
        </p:nvSpPr>
        <p:spPr>
          <a:xfrm>
            <a:off x="6538976" y="29368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9" name="Rounded Rectangle 28"/>
          <p:cNvSpPr/>
          <p:nvPr/>
        </p:nvSpPr>
        <p:spPr>
          <a:xfrm>
            <a:off x="8013192" y="2936875"/>
            <a:ext cx="971296" cy="298450"/>
          </a:xfrm>
          <a:prstGeom prst="roundRect">
            <a:avLst>
              <a:gd name="adj" fmla="val 25531"/>
            </a:avLst>
          </a:prstGeom>
          <a:solidFill>
            <a:srgbClr val="F1F5F9"/>
          </a:solidFill>
          <a:ln>
            <a:noFill/>
          </a:ln>
          <a:effectLst/>
        </p:spPr>
        <p:txBody>
          <a:bodyPr rtlCol="0" anchor="ctr"/>
          <a:lstStyle/>
          <a:p>
            <a:pPr algn="ctr"/>
          </a:p>
        </p:txBody>
      </p:sp>
      <p:sp>
        <p:nvSpPr>
          <p:cNvPr id="30" name="TextBox 29"/>
          <p:cNvSpPr txBox="1"/>
          <p:nvPr/>
        </p:nvSpPr>
        <p:spPr>
          <a:xfrm>
            <a:off x="8013192" y="2936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31" name="Rounded Rectangle 30"/>
          <p:cNvSpPr/>
          <p:nvPr/>
        </p:nvSpPr>
        <p:spPr>
          <a:xfrm>
            <a:off x="9060688" y="2936875"/>
            <a:ext cx="1227328" cy="298450"/>
          </a:xfrm>
          <a:prstGeom prst="roundRect">
            <a:avLst>
              <a:gd name="adj" fmla="val 25531"/>
            </a:avLst>
          </a:prstGeom>
          <a:solidFill>
            <a:srgbClr val="F1F5F9"/>
          </a:solidFill>
          <a:ln>
            <a:noFill/>
          </a:ln>
          <a:effectLst/>
        </p:spPr>
        <p:txBody>
          <a:bodyPr rtlCol="0" anchor="ctr"/>
          <a:lstStyle/>
          <a:p>
            <a:pPr algn="ctr"/>
          </a:p>
        </p:txBody>
      </p:sp>
      <p:sp>
        <p:nvSpPr>
          <p:cNvPr id="32" name="TextBox 31"/>
          <p:cNvSpPr txBox="1"/>
          <p:nvPr/>
        </p:nvSpPr>
        <p:spPr>
          <a:xfrm>
            <a:off x="9060688" y="29368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3" name="Rounded Rectangle 32"/>
          <p:cNvSpPr/>
          <p:nvPr/>
        </p:nvSpPr>
        <p:spPr>
          <a:xfrm>
            <a:off x="812800" y="34734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3619500"/>
            <a:ext cx="304800" cy="304800"/>
          </a:xfrm>
          <a:prstGeom prst="ellipse">
            <a:avLst/>
          </a:prstGeom>
          <a:solidFill>
            <a:srgbClr val="F1F5F9"/>
          </a:solidFill>
          <a:ln>
            <a:noFill/>
          </a:ln>
          <a:effectLst/>
        </p:spPr>
        <p:txBody>
          <a:bodyPr rtlCol="0" anchor="ctr"/>
          <a:lstStyle/>
          <a:p>
            <a:pPr algn="ctr"/>
          </a:p>
        </p:txBody>
      </p:sp>
      <p:pic>
        <p:nvPicPr>
          <p:cNvPr id="35" name="Picture 34" descr="git-branch-0F172A.png"/>
          <p:cNvPicPr>
            <a:picLocks noChangeAspect="1"/>
          </p:cNvPicPr>
          <p:nvPr/>
        </p:nvPicPr>
        <p:blipFill>
          <a:blip r:embed="rId4"/>
          <a:stretch>
            <a:fillRect/>
          </a:stretch>
        </p:blipFill>
        <p:spPr>
          <a:xfrm>
            <a:off x="1041400" y="3695700"/>
            <a:ext cx="152400" cy="152400"/>
          </a:xfrm>
          <a:prstGeom prst="rect">
            <a:avLst/>
          </a:prstGeom>
        </p:spPr>
      </p:pic>
      <p:sp>
        <p:nvSpPr>
          <p:cNvPr id="36" name="TextBox 35"/>
          <p:cNvSpPr txBox="1"/>
          <p:nvPr/>
        </p:nvSpPr>
        <p:spPr>
          <a:xfrm>
            <a:off x="1397000" y="3473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7" name="Rounded Rectangle 36"/>
          <p:cNvSpPr/>
          <p:nvPr/>
        </p:nvSpPr>
        <p:spPr>
          <a:xfrm>
            <a:off x="3505200" y="3622675"/>
            <a:ext cx="2080768" cy="298450"/>
          </a:xfrm>
          <a:prstGeom prst="roundRect">
            <a:avLst>
              <a:gd name="adj" fmla="val 25531"/>
            </a:avLst>
          </a:prstGeom>
          <a:solidFill>
            <a:srgbClr val="F1F5F9"/>
          </a:solidFill>
          <a:ln>
            <a:noFill/>
          </a:ln>
          <a:effectLst/>
        </p:spPr>
        <p:txBody>
          <a:bodyPr rtlCol="0" anchor="ctr"/>
          <a:lstStyle/>
          <a:p>
            <a:pPr algn="ctr"/>
          </a:p>
        </p:txBody>
      </p:sp>
      <p:sp>
        <p:nvSpPr>
          <p:cNvPr id="38" name="TextBox 37"/>
          <p:cNvSpPr txBox="1"/>
          <p:nvPr/>
        </p:nvSpPr>
        <p:spPr>
          <a:xfrm>
            <a:off x="3505200" y="36226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9" name="Rounded Rectangle 38"/>
          <p:cNvSpPr/>
          <p:nvPr/>
        </p:nvSpPr>
        <p:spPr>
          <a:xfrm>
            <a:off x="5662168" y="3622675"/>
            <a:ext cx="1739392" cy="298450"/>
          </a:xfrm>
          <a:prstGeom prst="roundRect">
            <a:avLst>
              <a:gd name="adj" fmla="val 25531"/>
            </a:avLst>
          </a:prstGeom>
          <a:solidFill>
            <a:srgbClr val="F1F5F9"/>
          </a:solidFill>
          <a:ln>
            <a:noFill/>
          </a:ln>
          <a:effectLst/>
        </p:spPr>
        <p:txBody>
          <a:bodyPr rtlCol="0" anchor="ctr"/>
          <a:lstStyle/>
          <a:p>
            <a:pPr algn="ctr"/>
          </a:p>
        </p:txBody>
      </p:sp>
      <p:sp>
        <p:nvSpPr>
          <p:cNvPr id="40" name="TextBox 39"/>
          <p:cNvSpPr txBox="1"/>
          <p:nvPr/>
        </p:nvSpPr>
        <p:spPr>
          <a:xfrm>
            <a:off x="5662168" y="3622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41" name="Rounded Rectangle 40"/>
          <p:cNvSpPr/>
          <p:nvPr/>
        </p:nvSpPr>
        <p:spPr>
          <a:xfrm>
            <a:off x="7477760" y="3622675"/>
            <a:ext cx="715264" cy="298450"/>
          </a:xfrm>
          <a:prstGeom prst="roundRect">
            <a:avLst>
              <a:gd name="adj" fmla="val 25531"/>
            </a:avLst>
          </a:prstGeom>
          <a:solidFill>
            <a:srgbClr val="F1F5F9"/>
          </a:solidFill>
          <a:ln>
            <a:noFill/>
          </a:ln>
          <a:effectLst/>
        </p:spPr>
        <p:txBody>
          <a:bodyPr rtlCol="0" anchor="ctr"/>
          <a:lstStyle/>
          <a:p>
            <a:pPr algn="ctr"/>
          </a:p>
        </p:txBody>
      </p:sp>
      <p:sp>
        <p:nvSpPr>
          <p:cNvPr id="42" name="TextBox 41"/>
          <p:cNvSpPr txBox="1"/>
          <p:nvPr/>
        </p:nvSpPr>
        <p:spPr>
          <a:xfrm>
            <a:off x="7477760" y="36226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43" name="Rounded Rectangle 42"/>
          <p:cNvSpPr/>
          <p:nvPr/>
        </p:nvSpPr>
        <p:spPr>
          <a:xfrm>
            <a:off x="8269224" y="3622675"/>
            <a:ext cx="1056640" cy="298450"/>
          </a:xfrm>
          <a:prstGeom prst="roundRect">
            <a:avLst>
              <a:gd name="adj" fmla="val 25531"/>
            </a:avLst>
          </a:prstGeom>
          <a:solidFill>
            <a:srgbClr val="F1F5F9"/>
          </a:solidFill>
          <a:ln>
            <a:noFill/>
          </a:ln>
          <a:effectLst/>
        </p:spPr>
        <p:txBody>
          <a:bodyPr rtlCol="0" anchor="ctr"/>
          <a:lstStyle/>
          <a:p>
            <a:pPr algn="ctr"/>
          </a:p>
        </p:txBody>
      </p:sp>
      <p:sp>
        <p:nvSpPr>
          <p:cNvPr id="44" name="TextBox 43"/>
          <p:cNvSpPr txBox="1"/>
          <p:nvPr/>
        </p:nvSpPr>
        <p:spPr>
          <a:xfrm>
            <a:off x="8269224" y="36226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5" name="Rounded Rectangle 44"/>
          <p:cNvSpPr/>
          <p:nvPr/>
        </p:nvSpPr>
        <p:spPr>
          <a:xfrm>
            <a:off x="9402064" y="3622675"/>
            <a:ext cx="1141984" cy="298450"/>
          </a:xfrm>
          <a:prstGeom prst="roundRect">
            <a:avLst>
              <a:gd name="adj" fmla="val 25531"/>
            </a:avLst>
          </a:prstGeom>
          <a:solidFill>
            <a:srgbClr val="F1F5F9"/>
          </a:solidFill>
          <a:ln>
            <a:noFill/>
          </a:ln>
          <a:effectLst/>
        </p:spPr>
        <p:txBody>
          <a:bodyPr rtlCol="0" anchor="ctr"/>
          <a:lstStyle/>
          <a:p>
            <a:pPr algn="ctr"/>
          </a:p>
        </p:txBody>
      </p:sp>
      <p:sp>
        <p:nvSpPr>
          <p:cNvPr id="46" name="TextBox 45"/>
          <p:cNvSpPr txBox="1"/>
          <p:nvPr/>
        </p:nvSpPr>
        <p:spPr>
          <a:xfrm>
            <a:off x="9402064" y="36226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7" name="Rounded Rectangle 46"/>
          <p:cNvSpPr/>
          <p:nvPr/>
        </p:nvSpPr>
        <p:spPr>
          <a:xfrm>
            <a:off x="812800" y="41592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48" name="Oval 47"/>
          <p:cNvSpPr/>
          <p:nvPr/>
        </p:nvSpPr>
        <p:spPr>
          <a:xfrm>
            <a:off x="965200" y="4305300"/>
            <a:ext cx="304800" cy="304800"/>
          </a:xfrm>
          <a:prstGeom prst="ellipse">
            <a:avLst/>
          </a:prstGeom>
          <a:solidFill>
            <a:srgbClr val="F1F5F9"/>
          </a:solidFill>
          <a:ln>
            <a:noFill/>
          </a:ln>
          <a:effectLst/>
        </p:spPr>
        <p:txBody>
          <a:bodyPr rtlCol="0" anchor="ctr"/>
          <a:lstStyle/>
          <a:p>
            <a:pPr algn="ctr"/>
          </a:p>
        </p:txBody>
      </p:sp>
      <p:pic>
        <p:nvPicPr>
          <p:cNvPr id="49" name="Picture 48" descr="wrench-0F172A.png"/>
          <p:cNvPicPr>
            <a:picLocks noChangeAspect="1"/>
          </p:cNvPicPr>
          <p:nvPr/>
        </p:nvPicPr>
        <p:blipFill>
          <a:blip r:embed="rId5"/>
          <a:stretch>
            <a:fillRect/>
          </a:stretch>
        </p:blipFill>
        <p:spPr>
          <a:xfrm>
            <a:off x="1041400" y="4381500"/>
            <a:ext cx="152400" cy="152400"/>
          </a:xfrm>
          <a:prstGeom prst="rect">
            <a:avLst/>
          </a:prstGeom>
        </p:spPr>
      </p:pic>
      <p:sp>
        <p:nvSpPr>
          <p:cNvPr id="50" name="TextBox 49"/>
          <p:cNvSpPr txBox="1"/>
          <p:nvPr/>
        </p:nvSpPr>
        <p:spPr>
          <a:xfrm>
            <a:off x="1397000" y="4159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51" name="Rounded Rectangle 50"/>
          <p:cNvSpPr/>
          <p:nvPr/>
        </p:nvSpPr>
        <p:spPr>
          <a:xfrm>
            <a:off x="3505200"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2" name="TextBox 51"/>
          <p:cNvSpPr txBox="1"/>
          <p:nvPr/>
        </p:nvSpPr>
        <p:spPr>
          <a:xfrm>
            <a:off x="3505200"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53" name="Rounded Rectangle 52"/>
          <p:cNvSpPr/>
          <p:nvPr/>
        </p:nvSpPr>
        <p:spPr>
          <a:xfrm>
            <a:off x="5235448"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4" name="TextBox 53"/>
          <p:cNvSpPr txBox="1"/>
          <p:nvPr/>
        </p:nvSpPr>
        <p:spPr>
          <a:xfrm>
            <a:off x="5235448"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55" name="Rounded Rectangle 54"/>
          <p:cNvSpPr/>
          <p:nvPr/>
        </p:nvSpPr>
        <p:spPr>
          <a:xfrm>
            <a:off x="6965696"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6" name="TextBox 55"/>
          <p:cNvSpPr txBox="1"/>
          <p:nvPr/>
        </p:nvSpPr>
        <p:spPr>
          <a:xfrm>
            <a:off x="6965696"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7" name="Rounded Rectangle 56"/>
          <p:cNvSpPr/>
          <p:nvPr/>
        </p:nvSpPr>
        <p:spPr>
          <a:xfrm>
            <a:off x="8695944" y="4308475"/>
            <a:ext cx="971296" cy="298450"/>
          </a:xfrm>
          <a:prstGeom prst="roundRect">
            <a:avLst>
              <a:gd name="adj" fmla="val 25531"/>
            </a:avLst>
          </a:prstGeom>
          <a:solidFill>
            <a:srgbClr val="F1F5F9"/>
          </a:solidFill>
          <a:ln>
            <a:noFill/>
          </a:ln>
          <a:effectLst/>
        </p:spPr>
        <p:txBody>
          <a:bodyPr rtlCol="0" anchor="ctr"/>
          <a:lstStyle/>
          <a:p>
            <a:pPr algn="ctr"/>
          </a:p>
        </p:txBody>
      </p:sp>
      <p:sp>
        <p:nvSpPr>
          <p:cNvPr id="58" name="TextBox 57"/>
          <p:cNvSpPr txBox="1"/>
          <p:nvPr/>
        </p:nvSpPr>
        <p:spPr>
          <a:xfrm>
            <a:off x="8695944" y="43084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9" name="Rounded Rectangle 58"/>
          <p:cNvSpPr/>
          <p:nvPr/>
        </p:nvSpPr>
        <p:spPr>
          <a:xfrm>
            <a:off x="9743440" y="4308475"/>
            <a:ext cx="1056640" cy="298450"/>
          </a:xfrm>
          <a:prstGeom prst="roundRect">
            <a:avLst>
              <a:gd name="adj" fmla="val 25531"/>
            </a:avLst>
          </a:prstGeom>
          <a:solidFill>
            <a:srgbClr val="F1F5F9"/>
          </a:solidFill>
          <a:ln>
            <a:noFill/>
          </a:ln>
          <a:effectLst/>
        </p:spPr>
        <p:txBody>
          <a:bodyPr rtlCol="0" anchor="ctr"/>
          <a:lstStyle/>
          <a:p>
            <a:pPr algn="ctr"/>
          </a:p>
        </p:txBody>
      </p:sp>
      <p:sp>
        <p:nvSpPr>
          <p:cNvPr id="60" name="TextBox 59"/>
          <p:cNvSpPr txBox="1"/>
          <p:nvPr/>
        </p:nvSpPr>
        <p:spPr>
          <a:xfrm>
            <a:off x="9743440" y="4308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61" name="Rounded Rectangle 60"/>
          <p:cNvSpPr/>
          <p:nvPr/>
        </p:nvSpPr>
        <p:spPr>
          <a:xfrm>
            <a:off x="812800" y="48450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2" name="Oval 61"/>
          <p:cNvSpPr/>
          <p:nvPr/>
        </p:nvSpPr>
        <p:spPr>
          <a:xfrm>
            <a:off x="965200" y="4991100"/>
            <a:ext cx="304800" cy="304800"/>
          </a:xfrm>
          <a:prstGeom prst="ellipse">
            <a:avLst/>
          </a:prstGeom>
          <a:solidFill>
            <a:srgbClr val="F1F5F9"/>
          </a:solidFill>
          <a:ln>
            <a:noFill/>
          </a:ln>
          <a:effectLst/>
        </p:spPr>
        <p:txBody>
          <a:bodyPr rtlCol="0" anchor="ctr"/>
          <a:lstStyle/>
          <a:p>
            <a:pPr algn="ctr"/>
          </a:p>
        </p:txBody>
      </p:sp>
      <p:pic>
        <p:nvPicPr>
          <p:cNvPr id="63" name="Picture 62" descr="database-0F172A.png"/>
          <p:cNvPicPr>
            <a:picLocks noChangeAspect="1"/>
          </p:cNvPicPr>
          <p:nvPr/>
        </p:nvPicPr>
        <p:blipFill>
          <a:blip r:embed="rId6"/>
          <a:stretch>
            <a:fillRect/>
          </a:stretch>
        </p:blipFill>
        <p:spPr>
          <a:xfrm>
            <a:off x="1041400" y="5067300"/>
            <a:ext cx="152400" cy="152400"/>
          </a:xfrm>
          <a:prstGeom prst="rect">
            <a:avLst/>
          </a:prstGeom>
        </p:spPr>
      </p:pic>
      <p:sp>
        <p:nvSpPr>
          <p:cNvPr id="64" name="TextBox 63"/>
          <p:cNvSpPr txBox="1"/>
          <p:nvPr/>
        </p:nvSpPr>
        <p:spPr>
          <a:xfrm>
            <a:off x="1397000" y="4845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65" name="Rounded Rectangle 64"/>
          <p:cNvSpPr/>
          <p:nvPr/>
        </p:nvSpPr>
        <p:spPr>
          <a:xfrm>
            <a:off x="3505200" y="4994275"/>
            <a:ext cx="1824736" cy="298450"/>
          </a:xfrm>
          <a:prstGeom prst="roundRect">
            <a:avLst>
              <a:gd name="adj" fmla="val 25531"/>
            </a:avLst>
          </a:prstGeom>
          <a:solidFill>
            <a:srgbClr val="F1F5F9"/>
          </a:solidFill>
          <a:ln>
            <a:noFill/>
          </a:ln>
          <a:effectLst/>
        </p:spPr>
        <p:txBody>
          <a:bodyPr rtlCol="0" anchor="ctr"/>
          <a:lstStyle/>
          <a:p>
            <a:pPr algn="ctr"/>
          </a:p>
        </p:txBody>
      </p:sp>
      <p:sp>
        <p:nvSpPr>
          <p:cNvPr id="66" name="TextBox 65"/>
          <p:cNvSpPr txBox="1"/>
          <p:nvPr/>
        </p:nvSpPr>
        <p:spPr>
          <a:xfrm>
            <a:off x="3505200" y="49942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67" name="Rounded Rectangle 66"/>
          <p:cNvSpPr/>
          <p:nvPr/>
        </p:nvSpPr>
        <p:spPr>
          <a:xfrm>
            <a:off x="5406136" y="4994275"/>
            <a:ext cx="2251456" cy="298450"/>
          </a:xfrm>
          <a:prstGeom prst="roundRect">
            <a:avLst>
              <a:gd name="adj" fmla="val 25531"/>
            </a:avLst>
          </a:prstGeom>
          <a:solidFill>
            <a:srgbClr val="F1F5F9"/>
          </a:solidFill>
          <a:ln>
            <a:noFill/>
          </a:ln>
          <a:effectLst/>
        </p:spPr>
        <p:txBody>
          <a:bodyPr rtlCol="0" anchor="ctr"/>
          <a:lstStyle/>
          <a:p>
            <a:pPr algn="ctr"/>
          </a:p>
        </p:txBody>
      </p:sp>
      <p:sp>
        <p:nvSpPr>
          <p:cNvPr id="68" name="TextBox 67"/>
          <p:cNvSpPr txBox="1"/>
          <p:nvPr/>
        </p:nvSpPr>
        <p:spPr>
          <a:xfrm>
            <a:off x="5406136" y="49942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9" name="Rounded Rectangle 68"/>
          <p:cNvSpPr/>
          <p:nvPr/>
        </p:nvSpPr>
        <p:spPr>
          <a:xfrm>
            <a:off x="7733792"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0" name="TextBox 69"/>
          <p:cNvSpPr txBox="1"/>
          <p:nvPr/>
        </p:nvSpPr>
        <p:spPr>
          <a:xfrm>
            <a:off x="7733792"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71" name="Rounded Rectangle 70"/>
          <p:cNvSpPr/>
          <p:nvPr/>
        </p:nvSpPr>
        <p:spPr>
          <a:xfrm>
            <a:off x="9208008"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2" name="TextBox 71"/>
          <p:cNvSpPr txBox="1"/>
          <p:nvPr/>
        </p:nvSpPr>
        <p:spPr>
          <a:xfrm>
            <a:off x="9208008"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73" name="TextBox 7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4" name="TextBox 7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DESIGN PRINCIPLES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Nine rules the whole app follows</a:t>
            </a:r>
          </a:p>
        </p:txBody>
      </p:sp>
      <p:sp>
        <p:nvSpPr>
          <p:cNvPr id="4" name="Rounded Rectangle 3"/>
          <p:cNvSpPr/>
          <p:nvPr/>
        </p:nvSpPr>
        <p:spPr>
          <a:xfrm>
            <a:off x="812800"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code-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1371600"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The LLM plans, code computes</a:t>
            </a:r>
          </a:p>
        </p:txBody>
      </p:sp>
      <p:sp>
        <p:nvSpPr>
          <p:cNvPr id="8" name="TextBox 7"/>
          <p:cNvSpPr txBox="1"/>
          <p:nvPr/>
        </p:nvSpPr>
        <p:spPr>
          <a:xfrm>
            <a:off x="965200"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Numbers and scores are plain code; a model never states a figure.</a:t>
            </a:r>
          </a:p>
        </p:txBody>
      </p:sp>
      <p:sp>
        <p:nvSpPr>
          <p:cNvPr id="9" name="Rounded Rectangle 8"/>
          <p:cNvSpPr/>
          <p:nvPr/>
        </p:nvSpPr>
        <p:spPr>
          <a:xfrm>
            <a:off x="4385733"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4538133" y="2006600"/>
            <a:ext cx="304800" cy="304800"/>
          </a:xfrm>
          <a:prstGeom prst="ellipse">
            <a:avLst/>
          </a:prstGeom>
          <a:solidFill>
            <a:srgbClr val="16A34A"/>
          </a:solidFill>
          <a:ln>
            <a:noFill/>
          </a:ln>
          <a:effectLst/>
        </p:spPr>
        <p:txBody>
          <a:bodyPr rtlCol="0" anchor="ctr"/>
          <a:lstStyle/>
          <a:p>
            <a:pPr algn="ctr"/>
          </a:p>
        </p:txBody>
      </p:sp>
      <p:pic>
        <p:nvPicPr>
          <p:cNvPr id="11" name="Picture 10" descr="quote-FFFFFF.png"/>
          <p:cNvPicPr>
            <a:picLocks noChangeAspect="1"/>
          </p:cNvPicPr>
          <p:nvPr/>
        </p:nvPicPr>
        <p:blipFill>
          <a:blip r:embed="rId3"/>
          <a:stretch>
            <a:fillRect/>
          </a:stretch>
        </p:blipFill>
        <p:spPr>
          <a:xfrm>
            <a:off x="4614333" y="2082800"/>
            <a:ext cx="152400" cy="152400"/>
          </a:xfrm>
          <a:prstGeom prst="rect">
            <a:avLst/>
          </a:prstGeom>
        </p:spPr>
      </p:pic>
      <p:sp>
        <p:nvSpPr>
          <p:cNvPr id="12" name="TextBox 11"/>
          <p:cNvSpPr txBox="1"/>
          <p:nvPr/>
        </p:nvSpPr>
        <p:spPr>
          <a:xfrm>
            <a:off x="4944533"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Every citation is re-checked</a:t>
            </a:r>
          </a:p>
        </p:txBody>
      </p:sp>
      <p:sp>
        <p:nvSpPr>
          <p:cNvPr id="13" name="TextBox 12"/>
          <p:cNvSpPr txBox="1"/>
          <p:nvPr/>
        </p:nvSpPr>
        <p:spPr>
          <a:xfrm>
            <a:off x="4538133"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Quotes are matched to the source in code, never taken on trust.</a:t>
            </a:r>
          </a:p>
        </p:txBody>
      </p:sp>
      <p:sp>
        <p:nvSpPr>
          <p:cNvPr id="14" name="Rounded Rectangle 13"/>
          <p:cNvSpPr/>
          <p:nvPr/>
        </p:nvSpPr>
        <p:spPr>
          <a:xfrm>
            <a:off x="7958667"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8111067" y="2006600"/>
            <a:ext cx="304800" cy="304800"/>
          </a:xfrm>
          <a:prstGeom prst="ellipse">
            <a:avLst/>
          </a:prstGeom>
          <a:solidFill>
            <a:srgbClr val="2563EB"/>
          </a:solidFill>
          <a:ln>
            <a:noFill/>
          </a:ln>
          <a:effectLst/>
        </p:spPr>
        <p:txBody>
          <a:bodyPr rtlCol="0" anchor="ctr"/>
          <a:lstStyle/>
          <a:p>
            <a:pPr algn="ctr"/>
          </a:p>
        </p:txBody>
      </p:sp>
      <p:pic>
        <p:nvPicPr>
          <p:cNvPr id="16" name="Picture 15" descr="users-FFFFFF.png"/>
          <p:cNvPicPr>
            <a:picLocks noChangeAspect="1"/>
          </p:cNvPicPr>
          <p:nvPr/>
        </p:nvPicPr>
        <p:blipFill>
          <a:blip r:embed="rId4"/>
          <a:stretch>
            <a:fillRect/>
          </a:stretch>
        </p:blipFill>
        <p:spPr>
          <a:xfrm>
            <a:off x="8187267" y="2082800"/>
            <a:ext cx="152400" cy="152400"/>
          </a:xfrm>
          <a:prstGeom prst="rect">
            <a:avLst/>
          </a:prstGeom>
        </p:spPr>
      </p:pic>
      <p:sp>
        <p:nvSpPr>
          <p:cNvPr id="17" name="TextBox 16"/>
          <p:cNvSpPr txBox="1"/>
          <p:nvPr/>
        </p:nvSpPr>
        <p:spPr>
          <a:xfrm>
            <a:off x="8517467"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Agents propose, people ratify</a:t>
            </a:r>
          </a:p>
        </p:txBody>
      </p:sp>
      <p:sp>
        <p:nvSpPr>
          <p:cNvPr id="18" name="TextBox 17"/>
          <p:cNvSpPr txBox="1"/>
          <p:nvPr/>
        </p:nvSpPr>
        <p:spPr>
          <a:xfrm>
            <a:off x="8111067"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signed rules; only approvers publish.</a:t>
            </a:r>
          </a:p>
        </p:txBody>
      </p:sp>
      <p:sp>
        <p:nvSpPr>
          <p:cNvPr id="19" name="Rounded Rectangle 18"/>
          <p:cNvSpPr/>
          <p:nvPr/>
        </p:nvSpPr>
        <p:spPr>
          <a:xfrm>
            <a:off x="812800"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3308350"/>
            <a:ext cx="304800" cy="304800"/>
          </a:xfrm>
          <a:prstGeom prst="ellipse">
            <a:avLst/>
          </a:prstGeom>
          <a:solidFill>
            <a:srgbClr val="0F172A"/>
          </a:solidFill>
          <a:ln>
            <a:noFill/>
          </a:ln>
          <a:effectLst/>
        </p:spPr>
        <p:txBody>
          <a:bodyPr rtlCol="0" anchor="ctr"/>
          <a:lstStyle/>
          <a:p>
            <a:pPr algn="ctr"/>
          </a:p>
        </p:txBody>
      </p:sp>
      <p:pic>
        <p:nvPicPr>
          <p:cNvPr id="21" name="Picture 20" descr="layers-FFFFFF.png"/>
          <p:cNvPicPr>
            <a:picLocks noChangeAspect="1"/>
          </p:cNvPicPr>
          <p:nvPr/>
        </p:nvPicPr>
        <p:blipFill>
          <a:blip r:embed="rId5"/>
          <a:stretch>
            <a:fillRect/>
          </a:stretch>
        </p:blipFill>
        <p:spPr>
          <a:xfrm>
            <a:off x="1041400" y="3384550"/>
            <a:ext cx="152400" cy="152400"/>
          </a:xfrm>
          <a:prstGeom prst="rect">
            <a:avLst/>
          </a:prstGeom>
        </p:spPr>
      </p:pic>
      <p:sp>
        <p:nvSpPr>
          <p:cNvPr id="22" name="TextBox 21"/>
          <p:cNvSpPr txBox="1"/>
          <p:nvPr/>
        </p:nvSpPr>
        <p:spPr>
          <a:xfrm>
            <a:off x="1371600"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Structured data first</a:t>
            </a:r>
          </a:p>
        </p:txBody>
      </p:sp>
      <p:sp>
        <p:nvSpPr>
          <p:cNvPr id="23" name="TextBox 22"/>
          <p:cNvSpPr txBox="1"/>
          <p:nvPr/>
        </p:nvSpPr>
        <p:spPr>
          <a:xfrm>
            <a:off x="965200"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XBRL, catalogues and house rules settle what they can first.</a:t>
            </a:r>
          </a:p>
        </p:txBody>
      </p:sp>
      <p:sp>
        <p:nvSpPr>
          <p:cNvPr id="24" name="Rounded Rectangle 23"/>
          <p:cNvSpPr/>
          <p:nvPr/>
        </p:nvSpPr>
        <p:spPr>
          <a:xfrm>
            <a:off x="4385733"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4538133" y="3308350"/>
            <a:ext cx="304800" cy="304800"/>
          </a:xfrm>
          <a:prstGeom prst="ellipse">
            <a:avLst/>
          </a:prstGeom>
          <a:solidFill>
            <a:srgbClr val="0F172A"/>
          </a:solidFill>
          <a:ln>
            <a:noFill/>
          </a:ln>
          <a:effectLst/>
        </p:spPr>
        <p:txBody>
          <a:bodyPr rtlCol="0" anchor="ctr"/>
          <a:lstStyle/>
          <a:p>
            <a:pPr algn="ctr"/>
          </a:p>
        </p:txBody>
      </p:sp>
      <p:pic>
        <p:nvPicPr>
          <p:cNvPr id="26" name="Picture 25" descr="search-x-FFFFFF.png"/>
          <p:cNvPicPr>
            <a:picLocks noChangeAspect="1"/>
          </p:cNvPicPr>
          <p:nvPr/>
        </p:nvPicPr>
        <p:blipFill>
          <a:blip r:embed="rId6"/>
          <a:stretch>
            <a:fillRect/>
          </a:stretch>
        </p:blipFill>
        <p:spPr>
          <a:xfrm>
            <a:off x="4614333" y="3384550"/>
            <a:ext cx="152400" cy="152400"/>
          </a:xfrm>
          <a:prstGeom prst="rect">
            <a:avLst/>
          </a:prstGeom>
        </p:spPr>
      </p:pic>
      <p:sp>
        <p:nvSpPr>
          <p:cNvPr id="27" name="TextBox 26"/>
          <p:cNvSpPr txBox="1"/>
          <p:nvPr/>
        </p:nvSpPr>
        <p:spPr>
          <a:xfrm>
            <a:off x="4944533"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Not found is an answer</a:t>
            </a:r>
          </a:p>
        </p:txBody>
      </p:sp>
      <p:sp>
        <p:nvSpPr>
          <p:cNvPr id="28" name="TextBox 27"/>
          <p:cNvSpPr txBox="1"/>
          <p:nvPr/>
        </p:nvSpPr>
        <p:spPr>
          <a:xfrm>
            <a:off x="4538133"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not-found, never a guess.</a:t>
            </a:r>
          </a:p>
        </p:txBody>
      </p:sp>
      <p:sp>
        <p:nvSpPr>
          <p:cNvPr id="29" name="Rounded Rectangle 28"/>
          <p:cNvSpPr/>
          <p:nvPr/>
        </p:nvSpPr>
        <p:spPr>
          <a:xfrm>
            <a:off x="7958667"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8111067" y="3308350"/>
            <a:ext cx="304800" cy="304800"/>
          </a:xfrm>
          <a:prstGeom prst="ellipse">
            <a:avLst/>
          </a:prstGeom>
          <a:solidFill>
            <a:srgbClr val="0F172A"/>
          </a:solidFill>
          <a:ln>
            <a:noFill/>
          </a:ln>
          <a:effectLst/>
        </p:spPr>
        <p:txBody>
          <a:bodyPr rtlCol="0" anchor="ctr"/>
          <a:lstStyle/>
          <a:p>
            <a:pPr algn="ctr"/>
          </a:p>
        </p:txBody>
      </p:sp>
      <p:pic>
        <p:nvPicPr>
          <p:cNvPr id="31" name="Picture 30" descr="history-FFFFFF.png"/>
          <p:cNvPicPr>
            <a:picLocks noChangeAspect="1"/>
          </p:cNvPicPr>
          <p:nvPr/>
        </p:nvPicPr>
        <p:blipFill>
          <a:blip r:embed="rId7"/>
          <a:stretch>
            <a:fillRect/>
          </a:stretch>
        </p:blipFill>
        <p:spPr>
          <a:xfrm>
            <a:off x="8187267" y="3384550"/>
            <a:ext cx="152400" cy="152400"/>
          </a:xfrm>
          <a:prstGeom prst="rect">
            <a:avLst/>
          </a:prstGeom>
        </p:spPr>
      </p:pic>
      <p:sp>
        <p:nvSpPr>
          <p:cNvPr id="32" name="TextBox 31"/>
          <p:cNvSpPr txBox="1"/>
          <p:nvPr/>
        </p:nvSpPr>
        <p:spPr>
          <a:xfrm>
            <a:off x="8517467"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Versioned and dated</a:t>
            </a:r>
          </a:p>
        </p:txBody>
      </p:sp>
      <p:sp>
        <p:nvSpPr>
          <p:cNvPr id="33" name="TextBox 32"/>
          <p:cNvSpPr txBox="1"/>
          <p:nvPr/>
        </p:nvSpPr>
        <p:spPr>
          <a:xfrm>
            <a:off x="8111067"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Frameworks, calibrations and facts are dated; the past holds.</a:t>
            </a:r>
          </a:p>
        </p:txBody>
      </p:sp>
      <p:sp>
        <p:nvSpPr>
          <p:cNvPr id="34" name="Rounded Rectangle 33"/>
          <p:cNvSpPr/>
          <p:nvPr/>
        </p:nvSpPr>
        <p:spPr>
          <a:xfrm>
            <a:off x="812800"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965200" y="4610100"/>
            <a:ext cx="304800" cy="304800"/>
          </a:xfrm>
          <a:prstGeom prst="ellipse">
            <a:avLst/>
          </a:prstGeom>
          <a:solidFill>
            <a:srgbClr val="0F172A"/>
          </a:solidFill>
          <a:ln>
            <a:noFill/>
          </a:ln>
          <a:effectLst/>
        </p:spPr>
        <p:txBody>
          <a:bodyPr rtlCol="0" anchor="ctr"/>
          <a:lstStyle/>
          <a:p>
            <a:pPr algn="ctr"/>
          </a:p>
        </p:txBody>
      </p:sp>
      <p:pic>
        <p:nvPicPr>
          <p:cNvPr id="36" name="Picture 35" descr="database-FFFFFF.png"/>
          <p:cNvPicPr>
            <a:picLocks noChangeAspect="1"/>
          </p:cNvPicPr>
          <p:nvPr/>
        </p:nvPicPr>
        <p:blipFill>
          <a:blip r:embed="rId8"/>
          <a:stretch>
            <a:fillRect/>
          </a:stretch>
        </p:blipFill>
        <p:spPr>
          <a:xfrm>
            <a:off x="1041400" y="4686300"/>
            <a:ext cx="152400" cy="152400"/>
          </a:xfrm>
          <a:prstGeom prst="rect">
            <a:avLst/>
          </a:prstGeom>
        </p:spPr>
      </p:pic>
      <p:sp>
        <p:nvSpPr>
          <p:cNvPr id="37" name="TextBox 36"/>
          <p:cNvSpPr txBox="1"/>
          <p:nvPr/>
        </p:nvSpPr>
        <p:spPr>
          <a:xfrm>
            <a:off x="1371600"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Resumable at scale</a:t>
            </a:r>
          </a:p>
        </p:txBody>
      </p:sp>
      <p:sp>
        <p:nvSpPr>
          <p:cNvPr id="38" name="TextBox 37"/>
          <p:cNvSpPr txBox="1"/>
          <p:nvPr/>
        </p:nvSpPr>
        <p:spPr>
          <a:xfrm>
            <a:off x="965200"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Postgres is the record; each company commits as it finishes.</a:t>
            </a:r>
          </a:p>
        </p:txBody>
      </p:sp>
      <p:sp>
        <p:nvSpPr>
          <p:cNvPr id="39" name="Rounded Rectangle 38"/>
          <p:cNvSpPr/>
          <p:nvPr/>
        </p:nvSpPr>
        <p:spPr>
          <a:xfrm>
            <a:off x="4385733"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4538133" y="4610100"/>
            <a:ext cx="304800" cy="304800"/>
          </a:xfrm>
          <a:prstGeom prst="ellipse">
            <a:avLst/>
          </a:prstGeom>
          <a:solidFill>
            <a:srgbClr val="2563EB"/>
          </a:solidFill>
          <a:ln>
            <a:noFill/>
          </a:ln>
          <a:effectLst/>
        </p:spPr>
        <p:txBody>
          <a:bodyPr rtlCol="0" anchor="ctr"/>
          <a:lstStyle/>
          <a:p>
            <a:pPr algn="ctr"/>
          </a:p>
        </p:txBody>
      </p:sp>
      <p:pic>
        <p:nvPicPr>
          <p:cNvPr id="41" name="Picture 40" descr="bell-ring-FFFFFF.png"/>
          <p:cNvPicPr>
            <a:picLocks noChangeAspect="1"/>
          </p:cNvPicPr>
          <p:nvPr/>
        </p:nvPicPr>
        <p:blipFill>
          <a:blip r:embed="rId9"/>
          <a:stretch>
            <a:fillRect/>
          </a:stretch>
        </p:blipFill>
        <p:spPr>
          <a:xfrm>
            <a:off x="4614333" y="4686300"/>
            <a:ext cx="152400" cy="152400"/>
          </a:xfrm>
          <a:prstGeom prst="rect">
            <a:avLst/>
          </a:prstGeom>
        </p:spPr>
      </p:pic>
      <p:sp>
        <p:nvSpPr>
          <p:cNvPr id="42" name="TextBox 41"/>
          <p:cNvSpPr txBox="1"/>
          <p:nvPr/>
        </p:nvSpPr>
        <p:spPr>
          <a:xfrm>
            <a:off x="4944533"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One signal colour</a:t>
            </a:r>
          </a:p>
        </p:txBody>
      </p:sp>
      <p:sp>
        <p:nvSpPr>
          <p:cNvPr id="43" name="TextBox 42"/>
          <p:cNvSpPr txBox="1"/>
          <p:nvPr/>
        </p:nvSpPr>
        <p:spPr>
          <a:xfrm>
            <a:off x="4538133"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screen lights up only where a person must act.</a:t>
            </a:r>
          </a:p>
        </p:txBody>
      </p:sp>
      <p:sp>
        <p:nvSpPr>
          <p:cNvPr id="44" name="Rounded Rectangle 43"/>
          <p:cNvSpPr/>
          <p:nvPr/>
        </p:nvSpPr>
        <p:spPr>
          <a:xfrm>
            <a:off x="7958667"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45" name="Oval 44"/>
          <p:cNvSpPr/>
          <p:nvPr/>
        </p:nvSpPr>
        <p:spPr>
          <a:xfrm>
            <a:off x="8111067" y="4610100"/>
            <a:ext cx="304800" cy="304800"/>
          </a:xfrm>
          <a:prstGeom prst="ellipse">
            <a:avLst/>
          </a:prstGeom>
          <a:solidFill>
            <a:srgbClr val="0F172A"/>
          </a:solidFill>
          <a:ln>
            <a:noFill/>
          </a:ln>
          <a:effectLst/>
        </p:spPr>
        <p:txBody>
          <a:bodyPr rtlCol="0" anchor="ctr"/>
          <a:lstStyle/>
          <a:p>
            <a:pPr algn="ctr"/>
          </a:p>
        </p:txBody>
      </p:sp>
      <p:pic>
        <p:nvPicPr>
          <p:cNvPr id="46" name="Picture 45" descr="workflow-FFFFFF.png"/>
          <p:cNvPicPr>
            <a:picLocks noChangeAspect="1"/>
          </p:cNvPicPr>
          <p:nvPr/>
        </p:nvPicPr>
        <p:blipFill>
          <a:blip r:embed="rId10"/>
          <a:stretch>
            <a:fillRect/>
          </a:stretch>
        </p:blipFill>
        <p:spPr>
          <a:xfrm>
            <a:off x="8187267" y="4686300"/>
            <a:ext cx="152400" cy="152400"/>
          </a:xfrm>
          <a:prstGeom prst="rect">
            <a:avLst/>
          </a:prstGeom>
        </p:spPr>
      </p:pic>
      <p:sp>
        <p:nvSpPr>
          <p:cNvPr id="47" name="TextBox 46"/>
          <p:cNvSpPr txBox="1"/>
          <p:nvPr/>
        </p:nvSpPr>
        <p:spPr>
          <a:xfrm>
            <a:off x="8517467"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Processes, not pages</a:t>
            </a:r>
          </a:p>
        </p:txBody>
      </p:sp>
      <p:sp>
        <p:nvSpPr>
          <p:cNvPr id="48" name="TextBox 47"/>
          <p:cNvSpPr txBox="1"/>
          <p:nvPr/>
        </p:nvSpPr>
        <p:spPr>
          <a:xfrm>
            <a:off x="8111067"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step names its handoff; manual handoffs show as gaps.</a:t>
            </a:r>
          </a:p>
        </p:txBody>
      </p:sp>
      <p:sp>
        <p:nvSpPr>
          <p:cNvPr id="49" name="TextBox 4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0" name="TextBox 4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AGENTS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Robots that propose, code that checks</a:t>
            </a:r>
          </a:p>
        </p:txBody>
      </p:sp>
      <p:sp>
        <p:nvSpPr>
          <p:cNvPr id="4" name="Rounded Rectangle 3"/>
          <p:cNvSpPr/>
          <p:nvPr/>
        </p:nvSpPr>
        <p:spPr>
          <a:xfrm>
            <a:off x="812800"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5" name="Picture 4" descr="fig-robot-scan-text.png"/>
          <p:cNvPicPr>
            <a:picLocks noChangeAspect="1"/>
          </p:cNvPicPr>
          <p:nvPr/>
        </p:nvPicPr>
        <p:blipFill>
          <a:blip r:embed="rId2"/>
          <a:stretch>
            <a:fillRect/>
          </a:stretch>
        </p:blipFill>
        <p:spPr>
          <a:xfrm>
            <a:off x="965200" y="1981200"/>
            <a:ext cx="558800" cy="558800"/>
          </a:xfrm>
          <a:prstGeom prst="rect">
            <a:avLst/>
          </a:prstGeom>
        </p:spPr>
      </p:pic>
      <p:sp>
        <p:nvSpPr>
          <p:cNvPr id="6" name="TextBox 5"/>
          <p:cNvSpPr txBox="1"/>
          <p:nvPr/>
        </p:nvSpPr>
        <p:spPr>
          <a:xfrm>
            <a:off x="1625600"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Read and extract</a:t>
            </a:r>
          </a:p>
          <a:p>
            <a:pPr>
              <a:lnSpc>
                <a:spcPct val="108333"/>
              </a:lnSpc>
              <a:spcAft>
                <a:spcPts val="100"/>
              </a:spcAft>
            </a:pPr>
            <a:r>
              <a:rPr sz="1200" b="0">
                <a:solidFill>
                  <a:srgbClr val="475569"/>
                </a:solidFill>
                <a:latin typeface="IBM Plex Sans"/>
              </a:rPr>
              <a:t>Field extractor</a:t>
            </a:r>
          </a:p>
          <a:p>
            <a:pPr>
              <a:lnSpc>
                <a:spcPct val="108333"/>
              </a:lnSpc>
              <a:spcAft>
                <a:spcPts val="100"/>
              </a:spcAft>
            </a:pPr>
            <a:r>
              <a:rPr sz="1200" b="0">
                <a:solidFill>
                  <a:srgbClr val="475569"/>
                </a:solidFill>
                <a:latin typeface="IBM Plex Sans"/>
              </a:rPr>
              <a:t>Proxy proposal reader</a:t>
            </a:r>
          </a:p>
          <a:p>
            <a:pPr>
              <a:lnSpc>
                <a:spcPct val="108333"/>
              </a:lnSpc>
              <a:spcAft>
                <a:spcPts val="100"/>
              </a:spcAft>
            </a:pPr>
            <a:r>
              <a:rPr sz="1200" b="0">
                <a:solidFill>
                  <a:srgbClr val="475569"/>
                </a:solidFill>
                <a:latin typeface="IBM Plex Sans"/>
              </a:rPr>
              <a:t>Plan and barrier facts</a:t>
            </a:r>
          </a:p>
          <a:p>
            <a:pPr>
              <a:lnSpc>
                <a:spcPct val="108333"/>
              </a:lnSpc>
              <a:spcAft>
                <a:spcPts val="100"/>
              </a:spcAft>
            </a:pPr>
            <a:r>
              <a:rPr sz="1200" b="0">
                <a:solidFill>
                  <a:srgbClr val="475569"/>
                </a:solidFill>
                <a:latin typeface="IBM Plex Sans"/>
              </a:rPr>
              <a:t>RFP question finder</a:t>
            </a:r>
          </a:p>
        </p:txBody>
      </p:sp>
      <p:sp>
        <p:nvSpPr>
          <p:cNvPr id="7" name="Rounded Rectangle 6"/>
          <p:cNvSpPr/>
          <p:nvPr/>
        </p:nvSpPr>
        <p:spPr>
          <a:xfrm>
            <a:off x="4385733"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8" name="Picture 7" descr="fig-robot-scan-eye.png"/>
          <p:cNvPicPr>
            <a:picLocks noChangeAspect="1"/>
          </p:cNvPicPr>
          <p:nvPr/>
        </p:nvPicPr>
        <p:blipFill>
          <a:blip r:embed="rId3"/>
          <a:stretch>
            <a:fillRect/>
          </a:stretch>
        </p:blipFill>
        <p:spPr>
          <a:xfrm>
            <a:off x="4538133" y="1981200"/>
            <a:ext cx="558800" cy="558800"/>
          </a:xfrm>
          <a:prstGeom prst="rect">
            <a:avLst/>
          </a:prstGeom>
        </p:spPr>
      </p:pic>
      <p:sp>
        <p:nvSpPr>
          <p:cNvPr id="9" name="TextBox 8"/>
          <p:cNvSpPr txBox="1"/>
          <p:nvPr/>
        </p:nvSpPr>
        <p:spPr>
          <a:xfrm>
            <a:off x="5198533"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Check and judge</a:t>
            </a:r>
          </a:p>
          <a:p>
            <a:pPr>
              <a:lnSpc>
                <a:spcPct val="108333"/>
              </a:lnSpc>
              <a:spcAft>
                <a:spcPts val="100"/>
              </a:spcAft>
            </a:pPr>
            <a:r>
              <a:rPr sz="1200" b="0">
                <a:solidFill>
                  <a:srgbClr val="475569"/>
                </a:solidFill>
                <a:latin typeface="IBM Plex Sans"/>
              </a:rPr>
              <a:t>Blind verifier</a:t>
            </a:r>
          </a:p>
          <a:p>
            <a:pPr>
              <a:lnSpc>
                <a:spcPct val="108333"/>
              </a:lnSpc>
              <a:spcAft>
                <a:spcPts val="100"/>
              </a:spcAft>
            </a:pPr>
            <a:r>
              <a:rPr sz="1200" b="0">
                <a:solidFill>
                  <a:srgbClr val="475569"/>
                </a:solidFill>
                <a:latin typeface="IBM Plex Sans"/>
              </a:rPr>
              <a:t>Adjudicator</a:t>
            </a:r>
          </a:p>
          <a:p>
            <a:pPr>
              <a:lnSpc>
                <a:spcPct val="108333"/>
              </a:lnSpc>
              <a:spcAft>
                <a:spcPts val="100"/>
              </a:spcAft>
            </a:pPr>
            <a:r>
              <a:rPr sz="1200" b="0">
                <a:solidFill>
                  <a:srgbClr val="475569"/>
                </a:solidFill>
                <a:latin typeface="IBM Plex Sans"/>
              </a:rPr>
              <a:t>Page-image check</a:t>
            </a:r>
          </a:p>
          <a:p>
            <a:pPr>
              <a:lnSpc>
                <a:spcPct val="108333"/>
              </a:lnSpc>
              <a:spcAft>
                <a:spcPts val="100"/>
              </a:spcAft>
            </a:pPr>
            <a:r>
              <a:rPr sz="1200" b="0">
                <a:solidFill>
                  <a:srgbClr val="475569"/>
                </a:solidFill>
                <a:latin typeface="IBM Plex Sans"/>
              </a:rPr>
              <a:t>Theme debate trio</a:t>
            </a:r>
          </a:p>
        </p:txBody>
      </p:sp>
      <p:sp>
        <p:nvSpPr>
          <p:cNvPr id="10" name="Rounded Rectangle 9"/>
          <p:cNvSpPr/>
          <p:nvPr/>
        </p:nvSpPr>
        <p:spPr>
          <a:xfrm>
            <a:off x="7958667"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1" name="Picture 10" descr="fig-robot-tags.png"/>
          <p:cNvPicPr>
            <a:picLocks noChangeAspect="1"/>
          </p:cNvPicPr>
          <p:nvPr/>
        </p:nvPicPr>
        <p:blipFill>
          <a:blip r:embed="rId4"/>
          <a:stretch>
            <a:fillRect/>
          </a:stretch>
        </p:blipFill>
        <p:spPr>
          <a:xfrm>
            <a:off x="8111067" y="1981200"/>
            <a:ext cx="558800" cy="558800"/>
          </a:xfrm>
          <a:prstGeom prst="rect">
            <a:avLst/>
          </a:prstGeom>
        </p:spPr>
      </p:pic>
      <p:sp>
        <p:nvSpPr>
          <p:cNvPr id="12" name="TextBox 11"/>
          <p:cNvSpPr txBox="1"/>
          <p:nvPr/>
        </p:nvSpPr>
        <p:spPr>
          <a:xfrm>
            <a:off x="8771467"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Classify and map</a:t>
            </a:r>
          </a:p>
          <a:p>
            <a:pPr>
              <a:lnSpc>
                <a:spcPct val="108333"/>
              </a:lnSpc>
              <a:spcAft>
                <a:spcPts val="100"/>
              </a:spcAft>
            </a:pPr>
            <a:r>
              <a:rPr sz="1200" b="0">
                <a:solidFill>
                  <a:srgbClr val="475569"/>
                </a:solidFill>
                <a:latin typeface="IBM Plex Sans"/>
              </a:rPr>
              <a:t>Identity resolver</a:t>
            </a:r>
          </a:p>
          <a:p>
            <a:pPr>
              <a:lnSpc>
                <a:spcPct val="108333"/>
              </a:lnSpc>
              <a:spcAft>
                <a:spcPts val="100"/>
              </a:spcAft>
            </a:pPr>
            <a:r>
              <a:rPr sz="1200" b="0">
                <a:solidFill>
                  <a:srgbClr val="475569"/>
                </a:solidFill>
                <a:latin typeface="IBM Plex Sans"/>
              </a:rPr>
              <a:t>Vote policy judgment</a:t>
            </a:r>
          </a:p>
          <a:p>
            <a:pPr>
              <a:lnSpc>
                <a:spcPct val="108333"/>
              </a:lnSpc>
              <a:spcAft>
                <a:spcPts val="100"/>
              </a:spcAft>
            </a:pPr>
            <a:r>
              <a:rPr sz="1200" b="0">
                <a:solidFill>
                  <a:srgbClr val="475569"/>
                </a:solidFill>
                <a:latin typeface="IBM Plex Sans"/>
              </a:rPr>
              <a:t>News risk classifier</a:t>
            </a:r>
          </a:p>
          <a:p>
            <a:pPr>
              <a:lnSpc>
                <a:spcPct val="108333"/>
              </a:lnSpc>
              <a:spcAft>
                <a:spcPts val="100"/>
              </a:spcAft>
            </a:pPr>
            <a:r>
              <a:rPr sz="1200" b="0">
                <a:solidFill>
                  <a:srgbClr val="475569"/>
                </a:solidFill>
                <a:latin typeface="IBM Plex Sans"/>
              </a:rPr>
              <a:t>Sector mappers</a:t>
            </a:r>
          </a:p>
        </p:txBody>
      </p:sp>
      <p:sp>
        <p:nvSpPr>
          <p:cNvPr id="13" name="Rounded Rectangle 12"/>
          <p:cNvSpPr/>
          <p:nvPr/>
        </p:nvSpPr>
        <p:spPr>
          <a:xfrm>
            <a:off x="812800"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4" name="Picture 13" descr="fig-robot-pen-line.png"/>
          <p:cNvPicPr>
            <a:picLocks noChangeAspect="1"/>
          </p:cNvPicPr>
          <p:nvPr/>
        </p:nvPicPr>
        <p:blipFill>
          <a:blip r:embed="rId5"/>
          <a:stretch>
            <a:fillRect/>
          </a:stretch>
        </p:blipFill>
        <p:spPr>
          <a:xfrm>
            <a:off x="965200" y="3575050"/>
            <a:ext cx="558800" cy="558800"/>
          </a:xfrm>
          <a:prstGeom prst="rect">
            <a:avLst/>
          </a:prstGeom>
        </p:spPr>
      </p:pic>
      <p:sp>
        <p:nvSpPr>
          <p:cNvPr id="15" name="TextBox 14"/>
          <p:cNvSpPr txBox="1"/>
          <p:nvPr/>
        </p:nvSpPr>
        <p:spPr>
          <a:xfrm>
            <a:off x="1625600"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Draft and write</a:t>
            </a:r>
          </a:p>
          <a:p>
            <a:pPr>
              <a:lnSpc>
                <a:spcPct val="108333"/>
              </a:lnSpc>
              <a:spcAft>
                <a:spcPts val="100"/>
              </a:spcAft>
            </a:pPr>
            <a:r>
              <a:rPr sz="1200" b="0">
                <a:solidFill>
                  <a:srgbClr val="475569"/>
                </a:solidFill>
                <a:latin typeface="IBM Plex Sans"/>
              </a:rPr>
              <a:t>Engagement letters</a:t>
            </a:r>
          </a:p>
          <a:p>
            <a:pPr>
              <a:lnSpc>
                <a:spcPct val="108333"/>
              </a:lnSpc>
              <a:spcAft>
                <a:spcPts val="100"/>
              </a:spcAft>
            </a:pPr>
            <a:r>
              <a:rPr sz="1200" b="0">
                <a:solidFill>
                  <a:srgbClr val="475569"/>
                </a:solidFill>
                <a:latin typeface="IBM Plex Sans"/>
              </a:rPr>
              <a:t>Brief and research note</a:t>
            </a:r>
          </a:p>
          <a:p>
            <a:pPr>
              <a:lnSpc>
                <a:spcPct val="108333"/>
              </a:lnSpc>
              <a:spcAft>
                <a:spcPts val="100"/>
              </a:spcAft>
            </a:pPr>
            <a:r>
              <a:rPr sz="1200" b="0">
                <a:solidFill>
                  <a:srgbClr val="475569"/>
                </a:solidFill>
                <a:latin typeface="IBM Plex Sans"/>
              </a:rPr>
              <a:t>Deck storyline</a:t>
            </a:r>
          </a:p>
          <a:p>
            <a:pPr>
              <a:lnSpc>
                <a:spcPct val="108333"/>
              </a:lnSpc>
              <a:spcAft>
                <a:spcPts val="100"/>
              </a:spcAft>
            </a:pPr>
            <a:r>
              <a:rPr sz="1200" b="0">
                <a:solidFill>
                  <a:srgbClr val="475569"/>
                </a:solidFill>
                <a:latin typeface="IBM Plex Sans"/>
              </a:rPr>
              <a:t>RFP answer drafter</a:t>
            </a:r>
          </a:p>
        </p:txBody>
      </p:sp>
      <p:sp>
        <p:nvSpPr>
          <p:cNvPr id="16" name="Rounded Rectangle 15"/>
          <p:cNvSpPr/>
          <p:nvPr/>
        </p:nvSpPr>
        <p:spPr>
          <a:xfrm>
            <a:off x="4385733"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7" name="Picture 16" descr="fig-robot-message-circle-question.png"/>
          <p:cNvPicPr>
            <a:picLocks noChangeAspect="1"/>
          </p:cNvPicPr>
          <p:nvPr/>
        </p:nvPicPr>
        <p:blipFill>
          <a:blip r:embed="rId6"/>
          <a:stretch>
            <a:fillRect/>
          </a:stretch>
        </p:blipFill>
        <p:spPr>
          <a:xfrm>
            <a:off x="4538133" y="3575050"/>
            <a:ext cx="558800" cy="558800"/>
          </a:xfrm>
          <a:prstGeom prst="rect">
            <a:avLst/>
          </a:prstGeom>
        </p:spPr>
      </p:pic>
      <p:sp>
        <p:nvSpPr>
          <p:cNvPr id="18" name="TextBox 17"/>
          <p:cNvSpPr txBox="1"/>
          <p:nvPr/>
        </p:nvSpPr>
        <p:spPr>
          <a:xfrm>
            <a:off x="5198533"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Ask and plan</a:t>
            </a:r>
          </a:p>
          <a:p>
            <a:pPr>
              <a:lnSpc>
                <a:spcPct val="108333"/>
              </a:lnSpc>
              <a:spcAft>
                <a:spcPts val="100"/>
              </a:spcAft>
            </a:pPr>
            <a:r>
              <a:rPr sz="1200" b="0">
                <a:solidFill>
                  <a:srgbClr val="475569"/>
                </a:solidFill>
                <a:latin typeface="IBM Plex Sans"/>
              </a:rPr>
              <a:t>Ask ARP router</a:t>
            </a:r>
          </a:p>
          <a:p>
            <a:pPr>
              <a:lnSpc>
                <a:spcPct val="108333"/>
              </a:lnSpc>
              <a:spcAft>
                <a:spcPts val="100"/>
              </a:spcAft>
            </a:pPr>
            <a:r>
              <a:rPr sz="1200" b="0">
                <a:solidFill>
                  <a:srgbClr val="475569"/>
                </a:solidFill>
                <a:latin typeface="IBM Plex Sans"/>
              </a:rPr>
              <a:t>Portfolio Q&amp;A</a:t>
            </a:r>
          </a:p>
          <a:p>
            <a:pPr>
              <a:lnSpc>
                <a:spcPct val="108333"/>
              </a:lnSpc>
              <a:spcAft>
                <a:spcPts val="100"/>
              </a:spcAft>
            </a:pPr>
            <a:r>
              <a:rPr sz="1200" b="0">
                <a:solidFill>
                  <a:srgbClr val="475569"/>
                </a:solidFill>
                <a:latin typeface="IBM Plex Sans"/>
              </a:rPr>
              <a:t>Smart Search</a:t>
            </a:r>
          </a:p>
          <a:p>
            <a:pPr>
              <a:lnSpc>
                <a:spcPct val="108333"/>
              </a:lnSpc>
              <a:spcAft>
                <a:spcPts val="100"/>
              </a:spcAft>
            </a:pPr>
            <a:r>
              <a:rPr sz="1200" b="0">
                <a:solidFill>
                  <a:srgbClr val="475569"/>
                </a:solidFill>
                <a:latin typeface="IBM Plex Sans"/>
              </a:rPr>
              <a:t>BI chart planner</a:t>
            </a:r>
          </a:p>
        </p:txBody>
      </p:sp>
      <p:sp>
        <p:nvSpPr>
          <p:cNvPr id="19" name="Rounded Rectangle 18"/>
          <p:cNvSpPr/>
          <p:nvPr/>
        </p:nvSpPr>
        <p:spPr>
          <a:xfrm>
            <a:off x="7958667"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20" name="Picture 19" descr="fig-robot-clock.png"/>
          <p:cNvPicPr>
            <a:picLocks noChangeAspect="1"/>
          </p:cNvPicPr>
          <p:nvPr/>
        </p:nvPicPr>
        <p:blipFill>
          <a:blip r:embed="rId7"/>
          <a:stretch>
            <a:fillRect/>
          </a:stretch>
        </p:blipFill>
        <p:spPr>
          <a:xfrm>
            <a:off x="8111067" y="3575050"/>
            <a:ext cx="558800" cy="558800"/>
          </a:xfrm>
          <a:prstGeom prst="rect">
            <a:avLst/>
          </a:prstGeom>
        </p:spPr>
      </p:pic>
      <p:sp>
        <p:nvSpPr>
          <p:cNvPr id="21" name="TextBox 20"/>
          <p:cNvSpPr txBox="1"/>
          <p:nvPr/>
        </p:nvSpPr>
        <p:spPr>
          <a:xfrm>
            <a:off x="8771467"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Standing agents</a:t>
            </a:r>
          </a:p>
          <a:p>
            <a:pPr>
              <a:lnSpc>
                <a:spcPct val="108333"/>
              </a:lnSpc>
              <a:spcAft>
                <a:spcPts val="100"/>
              </a:spcAft>
            </a:pPr>
            <a:r>
              <a:rPr sz="1200" b="0">
                <a:solidFill>
                  <a:srgbClr val="475569"/>
                </a:solidFill>
                <a:latin typeface="IBM Plex Sans"/>
              </a:rPr>
              <a:t>Taxonomy Researcher</a:t>
            </a:r>
          </a:p>
          <a:p>
            <a:pPr>
              <a:lnSpc>
                <a:spcPct val="108333"/>
              </a:lnSpc>
              <a:spcAft>
                <a:spcPts val="100"/>
              </a:spcAft>
            </a:pPr>
            <a:r>
              <a:rPr sz="1200" b="0">
                <a:solidFill>
                  <a:srgbClr val="475569"/>
                </a:solidFill>
                <a:latin typeface="IBM Plex Sans"/>
              </a:rPr>
              <a:t>Theme scans</a:t>
            </a:r>
          </a:p>
          <a:p>
            <a:pPr>
              <a:lnSpc>
                <a:spcPct val="108333"/>
              </a:lnSpc>
              <a:spcAft>
                <a:spcPts val="100"/>
              </a:spcAft>
            </a:pPr>
            <a:r>
              <a:rPr sz="1200" b="0">
                <a:solidFill>
                  <a:srgbClr val="475569"/>
                </a:solidFill>
                <a:latin typeface="IBM Plex Sans"/>
              </a:rPr>
              <a:t>Report runs</a:t>
            </a:r>
          </a:p>
          <a:p>
            <a:pPr>
              <a:lnSpc>
                <a:spcPct val="108333"/>
              </a:lnSpc>
              <a:spcAft>
                <a:spcPts val="100"/>
              </a:spcAft>
            </a:pPr>
            <a:r>
              <a:rPr sz="1200" b="0">
                <a:solidFill>
                  <a:srgbClr val="475569"/>
                </a:solidFill>
                <a:latin typeface="IBM Plex Sans"/>
              </a:rPr>
              <a:t>Calibration Agent</a:t>
            </a:r>
          </a:p>
        </p:txBody>
      </p:sp>
      <p:sp>
        <p:nvSpPr>
          <p:cNvPr id="22" name="Rounded Rectangle 21"/>
          <p:cNvSpPr/>
          <p:nvPr/>
        </p:nvSpPr>
        <p:spPr>
          <a:xfrm>
            <a:off x="812800" y="5041900"/>
            <a:ext cx="10566400" cy="730250"/>
          </a:xfrm>
          <a:prstGeom prst="roundRect">
            <a:avLst>
              <a:gd name="adj" fmla="val 13913"/>
            </a:avLst>
          </a:prstGeom>
          <a:solidFill>
            <a:srgbClr val="F1F5F9"/>
          </a:solidFill>
          <a:ln>
            <a:noFill/>
          </a:ln>
          <a:effectLst/>
        </p:spPr>
        <p:txBody>
          <a:bodyPr rtlCol="0" anchor="ctr"/>
          <a:lstStyle/>
          <a:p>
            <a:pPr algn="ctr"/>
          </a:p>
        </p:txBody>
      </p:sp>
      <p:pic>
        <p:nvPicPr>
          <p:cNvPr id="23" name="Picture 22" descr="fig-machine-cog.png"/>
          <p:cNvPicPr>
            <a:picLocks noChangeAspect="1"/>
          </p:cNvPicPr>
          <p:nvPr/>
        </p:nvPicPr>
        <p:blipFill>
          <a:blip r:embed="rId8"/>
          <a:stretch>
            <a:fillRect/>
          </a:stretch>
        </p:blipFill>
        <p:spPr>
          <a:xfrm>
            <a:off x="965200" y="5168900"/>
            <a:ext cx="457200" cy="457200"/>
          </a:xfrm>
          <a:prstGeom prst="rect">
            <a:avLst/>
          </a:prstGeom>
        </p:spPr>
      </p:pic>
      <p:sp>
        <p:nvSpPr>
          <p:cNvPr id="24" name="TextBox 23"/>
          <p:cNvSpPr txBox="1"/>
          <p:nvPr/>
        </p:nvSpPr>
        <p:spPr>
          <a:xfrm>
            <a:off x="1549400" y="5168900"/>
            <a:ext cx="9677400" cy="476250"/>
          </a:xfrm>
          <a:prstGeom prst="rect">
            <a:avLst/>
          </a:prstGeom>
          <a:noFill/>
        </p:spPr>
        <p:txBody>
          <a:bodyPr wrap="square" lIns="0" rIns="0" tIns="0" bIns="0" anchor="ctr">
            <a:spAutoFit/>
          </a:bodyPr>
          <a:lstStyle/>
          <a:p>
            <a:pPr>
              <a:lnSpc>
                <a:spcPct val="108333"/>
              </a:lnSpc>
              <a:spcAft>
                <a:spcPts val="200"/>
              </a:spcAft>
            </a:pPr>
            <a:r>
              <a:rPr sz="1200" b="1">
                <a:solidFill>
                  <a:srgbClr val="0F172A"/>
                </a:solidFill>
                <a:latin typeface="IBM Plex Sans"/>
              </a:rPr>
              <a:t>No model, by design</a:t>
            </a:r>
          </a:p>
          <a:p>
            <a:pPr>
              <a:lnSpc>
                <a:spcPct val="116667"/>
              </a:lnSpc>
              <a:spcAft>
                <a:spcPts val="0"/>
              </a:spcAft>
            </a:pPr>
            <a:r>
              <a:rPr sz="1200" b="0">
                <a:solidFill>
                  <a:srgbClr val="475569"/>
                </a:solidFill>
                <a:latin typeface="IBM Plex Sans"/>
              </a:rPr>
              <a:t>Tracking, reporting, house voting rules, the policy graph, Decision Studio and the index engine are plain code.</a:t>
            </a:r>
          </a:p>
        </p:txBody>
      </p:sp>
      <p:sp>
        <p:nvSpPr>
          <p:cNvPr id="25" name="TextBox 2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6" name="TextBox 2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Find and extract</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Build the universe, find the documents and pull cited figures out of them, for up to about 4,000 companies per run.</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Argus</a:t>
            </a:r>
          </a:p>
          <a:p>
            <a:pPr>
              <a:lnSpc>
                <a:spcPct val="108333"/>
              </a:lnSpc>
              <a:spcAft>
                <a:spcPts val="0"/>
              </a:spcAft>
            </a:pPr>
            <a:r>
              <a:rPr sz="1200" b="0">
                <a:solidFill>
                  <a:srgbClr val="475569"/>
                </a:solidFill>
                <a:latin typeface="IBM Plex Sans"/>
              </a:rPr>
              <a:t>The extract-and-score flow</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Identity</a:t>
            </a:r>
          </a:p>
          <a:p>
            <a:pPr>
              <a:lnSpc>
                <a:spcPct val="108333"/>
              </a:lnSpc>
              <a:spcAft>
                <a:spcPts val="0"/>
              </a:spcAft>
            </a:pPr>
            <a:r>
              <a:rPr sz="1200" b="0">
                <a:solidFill>
                  <a:srgbClr val="475569"/>
                </a:solidFill>
                <a:latin typeface="IBM Plex Sans"/>
              </a:rPr>
              <a:t>Which company is this?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Documents</a:t>
            </a:r>
          </a:p>
          <a:p>
            <a:pPr>
              <a:lnSpc>
                <a:spcPct val="108333"/>
              </a:lnSpc>
              <a:spcAft>
                <a:spcPts val="0"/>
              </a:spcAft>
            </a:pPr>
            <a:r>
              <a:rPr sz="1200" b="0">
                <a:solidFill>
                  <a:srgbClr val="475569"/>
                </a:solidFill>
                <a:latin typeface="IBM Plex Sans"/>
              </a:rPr>
              <a:t>Finding the reports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Data-point extraction</a:t>
            </a:r>
          </a:p>
          <a:p>
            <a:pPr>
              <a:lnSpc>
                <a:spcPct val="108333"/>
              </a:lnSpc>
              <a:spcAft>
                <a:spcPts val="0"/>
              </a:spcAft>
            </a:pPr>
            <a:r>
              <a:rPr sz="1200" b="0">
                <a:solidFill>
                  <a:srgbClr val="475569"/>
                </a:solidFill>
                <a:latin typeface="IBM Plex Sans"/>
              </a:rPr>
              <a:t>Cited figures and verdicts</a:t>
            </a:r>
          </a:p>
        </p:txBody>
      </p:sp>
      <p:sp>
        <p:nvSpPr>
          <p:cNvPr id="17" name="Rectangle 16"/>
          <p:cNvSpPr/>
          <p:nvPr/>
        </p:nvSpPr>
        <p:spPr>
          <a:xfrm>
            <a:off x="812800" y="56515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8128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05</a:t>
            </a:r>
          </a:p>
        </p:txBody>
      </p:sp>
      <p:sp>
        <p:nvSpPr>
          <p:cNvPr id="19" name="TextBox 18"/>
          <p:cNvSpPr txBox="1"/>
          <p:nvPr/>
        </p:nvSpPr>
        <p:spPr>
          <a:xfrm>
            <a:off x="12700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Financials and XBRL</a:t>
            </a:r>
          </a:p>
          <a:p>
            <a:pPr>
              <a:lnSpc>
                <a:spcPct val="108333"/>
              </a:lnSpc>
              <a:spcAft>
                <a:spcPts val="0"/>
              </a:spcAft>
            </a:pPr>
            <a:r>
              <a:rPr sz="1200" b="0">
                <a:solidFill>
                  <a:srgbClr val="475569"/>
                </a:solidFill>
                <a:latin typeface="IBM Plex Sans"/>
              </a:rPr>
              <a:t>Segments, capex, R&amp;D, filed facts</a:t>
            </a:r>
          </a:p>
        </p:txBody>
      </p:sp>
      <p:sp>
        <p:nvSpPr>
          <p:cNvPr id="20" name="Rectangle 19"/>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06</a:t>
            </a:r>
          </a:p>
        </p:txBody>
      </p:sp>
      <p:sp>
        <p:nvSpPr>
          <p:cNvPr id="22" name="TextBox 21"/>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Thematic universe</a:t>
            </a:r>
          </a:p>
          <a:p>
            <a:pPr>
              <a:lnSpc>
                <a:spcPct val="108333"/>
              </a:lnSpc>
              <a:spcAft>
                <a:spcPts val="0"/>
              </a:spcAft>
            </a:pPr>
            <a:r>
              <a:rPr sz="1200" b="0">
                <a:solidFill>
                  <a:srgbClr val="475569"/>
                </a:solidFill>
                <a:latin typeface="IBM Plex Sans"/>
              </a:rPr>
              <a:t>From a theme to its companies</a:t>
            </a:r>
          </a:p>
        </p:txBody>
      </p:sp>
      <p:sp>
        <p:nvSpPr>
          <p:cNvPr id="23" name="Rectangle 22"/>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07</a:t>
            </a:r>
          </a:p>
        </p:txBody>
      </p:sp>
      <p:sp>
        <p:nvSpPr>
          <p:cNvPr id="25" name="TextBox 24"/>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Theme dossier</a:t>
            </a:r>
          </a:p>
          <a:p>
            <a:pPr>
              <a:lnSpc>
                <a:spcPct val="108333"/>
              </a:lnSpc>
              <a:spcAft>
                <a:spcPts val="0"/>
              </a:spcAft>
            </a:pPr>
            <a:r>
              <a:rPr sz="1200" b="0">
                <a:solidFill>
                  <a:srgbClr val="475569"/>
                </a:solidFill>
                <a:latin typeface="IBM Plex Sans"/>
              </a:rPr>
              <a:t>Spot, define and research a theme</a:t>
            </a:r>
          </a:p>
        </p:txBody>
      </p:sp>
      <p:sp>
        <p:nvSpPr>
          <p:cNvPr id="26" name="Rectangle 25"/>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08</a:t>
            </a:r>
          </a:p>
        </p:txBody>
      </p:sp>
      <p:sp>
        <p:nvSpPr>
          <p:cNvPr id="28" name="TextBox 27"/>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plans</a:t>
            </a:r>
          </a:p>
          <a:p>
            <a:pPr>
              <a:lnSpc>
                <a:spcPct val="108333"/>
              </a:lnSpc>
              <a:spcAft>
                <a:spcPts val="0"/>
              </a:spcAft>
            </a:pPr>
            <a:r>
              <a:rPr sz="1200" b="0">
                <a:solidFill>
                  <a:srgbClr val="475569"/>
                </a:solidFill>
                <a:latin typeface="IBM Plex Sans"/>
              </a:rPr>
              <a:t>Walk versus talk, then alignment</a:t>
            </a:r>
          </a:p>
        </p:txBody>
      </p:sp>
      <p:sp>
        <p:nvSpPr>
          <p:cNvPr id="29" name="Rectangle 28"/>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30" name="TextBox 29"/>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09</a:t>
            </a:r>
          </a:p>
        </p:txBody>
      </p:sp>
      <p:sp>
        <p:nvSpPr>
          <p:cNvPr id="31" name="TextBox 30"/>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barriers</a:t>
            </a:r>
          </a:p>
          <a:p>
            <a:pPr>
              <a:lnSpc>
                <a:spcPct val="108333"/>
              </a:lnSpc>
              <a:spcAft>
                <a:spcPts val="0"/>
              </a:spcAft>
            </a:pPr>
            <a:r>
              <a:rPr sz="1200" b="0">
                <a:solidFill>
                  <a:srgbClr val="475569"/>
                </a:solidFill>
                <a:latin typeface="IBM Plex Sans"/>
              </a:rPr>
              <a:t>Is decarbonisation feasible here?</a:t>
            </a:r>
          </a:p>
        </p:txBody>
      </p:sp>
      <p:sp>
        <p:nvSpPr>
          <p:cNvPr id="32" name="Rectangle 31"/>
          <p:cNvSpPr/>
          <p:nvPr/>
        </p:nvSpPr>
        <p:spPr>
          <a:xfrm>
            <a:off x="6299200" y="5651500"/>
            <a:ext cx="5080000" cy="6350"/>
          </a:xfrm>
          <a:prstGeom prst="rect">
            <a:avLst/>
          </a:prstGeom>
          <a:solidFill>
            <a:srgbClr val="E2E8F0"/>
          </a:solidFill>
          <a:ln>
            <a:noFill/>
          </a:ln>
          <a:effectLst/>
        </p:spPr>
        <p:txBody>
          <a:bodyPr rtlCol="0" anchor="ctr"/>
          <a:lstStyle/>
          <a:p>
            <a:pPr algn="ctr"/>
          </a:p>
        </p:txBody>
      </p:sp>
      <p:sp>
        <p:nvSpPr>
          <p:cNvPr id="33" name="TextBox 32"/>
          <p:cNvSpPr txBox="1"/>
          <p:nvPr/>
        </p:nvSpPr>
        <p:spPr>
          <a:xfrm>
            <a:off x="62992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10</a:t>
            </a:r>
          </a:p>
        </p:txBody>
      </p:sp>
      <p:sp>
        <p:nvSpPr>
          <p:cNvPr id="34" name="TextBox 33"/>
          <p:cNvSpPr txBox="1"/>
          <p:nvPr/>
        </p:nvSpPr>
        <p:spPr>
          <a:xfrm>
            <a:off x="67564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Value chain</a:t>
            </a:r>
          </a:p>
          <a:p>
            <a:pPr>
              <a:lnSpc>
                <a:spcPct val="108333"/>
              </a:lnSpc>
              <a:spcAft>
                <a:spcPts val="0"/>
              </a:spcAft>
            </a:pPr>
            <a:r>
              <a:rPr sz="1200" b="0">
                <a:solidFill>
                  <a:srgbClr val="475569"/>
                </a:solidFill>
                <a:latin typeface="IBM Plex Sans"/>
              </a:rPr>
              <a:t>Exposure through input-output tables</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Uploaded or saved, mapped through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building-2.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One internal id each; LEI, ISIN, CIK matched exactly</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file-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Documents</a:t>
            </a:r>
          </a:p>
          <a:p>
            <a:pPr algn="ctr">
              <a:lnSpc>
                <a:spcPct val="112500"/>
              </a:lnSpc>
              <a:spcAft>
                <a:spcPts val="0"/>
              </a:spcAft>
            </a:pPr>
            <a:r>
              <a:rPr sz="1200" b="0">
                <a:solidFill>
                  <a:srgbClr val="475569"/>
                </a:solidFill>
                <a:latin typeface="IBM Plex Sans"/>
              </a:rPr>
              <a:t>Upload, import folder, SEC or ESEF filings, web crawl</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text.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 fields; verifier on a different model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Accept, override or reject in the queue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trophy-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Score</a:t>
            </a:r>
          </a:p>
          <a:p>
            <a:pPr algn="ctr">
              <a:lnSpc>
                <a:spcPct val="112500"/>
              </a:lnSpc>
              <a:spcAft>
                <a:spcPts val="0"/>
              </a:spcAft>
            </a:pPr>
            <a:r>
              <a:rPr sz="1200" b="0">
                <a:solidFill>
                  <a:srgbClr val="475569"/>
                </a:solidFill>
                <a:latin typeface="IBM Plex Sans"/>
              </a:rPr>
              <a:t>Decision Studio tiers from a ratified template</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activity-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gauge-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RUN MODES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ows-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 row</a:t>
            </a:r>
          </a:p>
          <a:p>
            <a:pPr algn="ctr">
              <a:lnSpc>
                <a:spcPct val="112500"/>
              </a:lnSpc>
              <a:spcAft>
                <a:spcPts val="0"/>
              </a:spcAft>
            </a:pPr>
            <a:r>
              <a:rPr sz="1200" b="0">
                <a:solidFill>
                  <a:srgbClr val="475569"/>
                </a:solidFill>
                <a:latin typeface="IBM Plex Sans"/>
              </a:rPr>
              <a:t>Name, maybe a ticker, LEI, ISIN or CIK</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key-roun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Security master</a:t>
            </a:r>
          </a:p>
          <a:p>
            <a:pPr algn="ctr">
              <a:lnSpc>
                <a:spcPct val="112500"/>
              </a:lnSpc>
              <a:spcAft>
                <a:spcPts val="0"/>
              </a:spcAft>
            </a:pPr>
            <a:r>
              <a:rPr sz="1200" b="0">
                <a:solidFill>
                  <a:srgbClr val="475569"/>
                </a:solidFill>
                <a:latin typeface="IBM Plex Sans"/>
              </a:rPr>
              <a:t>Exact LEI, ISIN or CIK to one internal issuer</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earch.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Lookups</a:t>
            </a:r>
          </a:p>
          <a:p>
            <a:pPr algn="ctr">
              <a:lnSpc>
                <a:spcPct val="112500"/>
              </a:lnSpc>
              <a:spcAft>
                <a:spcPts val="0"/>
              </a:spcAft>
            </a:pPr>
            <a:r>
              <a:rPr sz="1200" b="0">
                <a:solidFill>
                  <a:srgbClr val="475569"/>
                </a:solidFill>
                <a:latin typeface="IBM Plex Sans"/>
              </a:rPr>
              <a:t>GLEIF fills the LEI from an ISIN; EDGAR by CIK</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l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Adjudicate</a:t>
            </a:r>
          </a:p>
          <a:p>
            <a:pPr algn="ctr">
              <a:lnSpc>
                <a:spcPct val="112500"/>
              </a:lnSpc>
              <a:spcAft>
                <a:spcPts val="0"/>
              </a:spcAft>
            </a:pPr>
            <a:r>
              <a:rPr sz="1200" b="0">
                <a:solidFill>
                  <a:srgbClr val="475569"/>
                </a:solidFill>
                <a:latin typeface="IBM Plex Sans"/>
              </a:rPr>
              <a:t>One call over EDGAR and GLEIF candidates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shield-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 in code</a:t>
            </a:r>
          </a:p>
          <a:p>
            <a:pPr algn="ctr">
              <a:lnSpc>
                <a:spcPct val="112500"/>
              </a:lnSpc>
              <a:spcAft>
                <a:spcPts val="0"/>
              </a:spcAft>
            </a:pPr>
            <a:r>
              <a:rPr sz="1200" b="0">
                <a:solidFill>
                  <a:srgbClr val="475569"/>
                </a:solidFill>
                <a:latin typeface="IBM Plex Sans"/>
              </a:rPr>
              <a:t>Website and CIK must match the gathered signals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circle-check-big-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Verdict</a:t>
            </a:r>
          </a:p>
          <a:p>
            <a:pPr algn="ctr">
              <a:lnSpc>
                <a:spcPct val="112500"/>
              </a:lnSpc>
              <a:spcAft>
                <a:spcPts val="0"/>
              </a:spcAft>
            </a:pPr>
            <a:r>
              <a:rPr sz="1200" b="0">
                <a:solidFill>
                  <a:srgbClr val="475569"/>
                </a:solidFill>
                <a:latin typeface="IBM Plex Sans"/>
              </a:rPr>
              <a:t>Resolved, or sent to review</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phone-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ONE CALL</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Which company it is rarely has two sides, so no debate. Most rows never reach a model.</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globe-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WEBSITES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Identifiers are copied verbatim, never composed; a non-US ticker never gets a US CIK.</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Resolved identity and website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landmark.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ESEF first</a:t>
            </a:r>
          </a:p>
          <a:p>
            <a:pPr algn="ctr">
              <a:lnSpc>
                <a:spcPct val="112500"/>
              </a:lnSpc>
              <a:spcAft>
                <a:spcPts val="0"/>
              </a:spcAft>
            </a:pPr>
            <a:r>
              <a:rPr sz="1200" b="0">
                <a:solidFill>
                  <a:srgbClr val="475569"/>
                </a:solidFill>
                <a:latin typeface="IBM Plex Sans"/>
              </a:rPr>
              <a:t>The latest annual filing on filings.xbrl.org</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file-search.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PDF search</a:t>
            </a:r>
          </a:p>
          <a:p>
            <a:pPr algn="ctr">
              <a:lnSpc>
                <a:spcPct val="112500"/>
              </a:lnSpc>
              <a:spcAft>
                <a:spcPts val="0"/>
              </a:spcAft>
            </a:pPr>
            <a:r>
              <a:rPr sz="1200" b="0">
                <a:solidFill>
                  <a:srgbClr val="475569"/>
                </a:solidFill>
                <a:latin typeface="IBM Plex Sans"/>
              </a:rPr>
              <a:t>A direct search for the report PDF</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glob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Site crawl</a:t>
            </a:r>
          </a:p>
          <a:p>
            <a:pPr algn="ctr">
              <a:lnSpc>
                <a:spcPct val="112500"/>
              </a:lnSpc>
              <a:spcAft>
                <a:spcPts val="0"/>
              </a:spcAft>
            </a:pPr>
            <a:r>
              <a:rPr sz="1200" b="0">
                <a:solidFill>
                  <a:srgbClr val="475569"/>
                </a:solidFill>
                <a:latin typeface="IBM Plex Sans"/>
              </a:rPr>
              <a:t>Same domain, robots.txt, depth caps, sitemap seeds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arrow-down-wide-narrow.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Rank and check</a:t>
            </a:r>
          </a:p>
          <a:p>
            <a:pPr algn="ctr">
              <a:lnSpc>
                <a:spcPct val="112500"/>
              </a:lnSpc>
              <a:spcAft>
                <a:spcPts val="0"/>
              </a:spcAft>
            </a:pPr>
            <a:r>
              <a:rPr sz="1200" b="0">
                <a:solidFill>
                  <a:srgbClr val="475569"/>
                </a:solidFill>
                <a:latin typeface="IBM Plex Sans"/>
              </a:rPr>
              <a:t>Best two; each PDF must name the company</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archive-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Document store</a:t>
            </a:r>
          </a:p>
          <a:p>
            <a:pPr algn="ctr">
              <a:lnSpc>
                <a:spcPct val="112500"/>
              </a:lnSpc>
              <a:spcAft>
                <a:spcPts val="0"/>
              </a:spcAft>
            </a:pPr>
            <a:r>
              <a:rPr sz="1200" b="0">
                <a:solidFill>
                  <a:srgbClr val="475569"/>
                </a:solidFill>
                <a:latin typeface="IBM Plex Sans"/>
              </a:rPr>
              <a:t>Only new or changed files, by content hash</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ist-ordered-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THIS ORDER</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refresh-cw-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CHANGE DETECTION</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Schema + reports</a:t>
            </a:r>
          </a:p>
          <a:p>
            <a:pPr algn="ctr">
              <a:lnSpc>
                <a:spcPct val="112500"/>
              </a:lnSpc>
              <a:spcAft>
                <a:spcPts val="0"/>
              </a:spcAft>
            </a:pPr>
            <a:r>
              <a:rPr sz="1200" b="0">
                <a:solidFill>
                  <a:srgbClr val="475569"/>
                </a:solidFill>
                <a:latin typeface="IBM Plex Sans"/>
              </a:rPr>
              <a:t>Fields with meaning, unit, edge cases, keywords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text-search.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 embeddings, optional rerank</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sca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Schema-forced output, retry when invalid</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ey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Verify</a:t>
            </a:r>
          </a:p>
          <a:p>
            <a:pPr algn="ctr">
              <a:lnSpc>
                <a:spcPct val="112500"/>
              </a:lnSpc>
              <a:spcAft>
                <a:spcPts val="0"/>
              </a:spcAft>
            </a:pPr>
            <a:r>
              <a:rPr sz="1200" b="0">
                <a:solidFill>
                  <a:srgbClr val="475569"/>
                </a:solidFill>
                <a:latin typeface="IBM Plex Sans"/>
              </a:rPr>
              <a:t>A blind second extraction on a different model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quot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found in the source; number, unit, period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user-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Whatever is not auto-accepted, span boxed on the page</a:t>
            </a:r>
          </a:p>
        </p:txBody>
      </p:sp>
      <p:sp>
        <p:nvSpPr>
          <p:cNvPr id="28" name="Rounded Rectangle 27"/>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0" name="Picture 29" descr="circle-check-big-0F172A.png"/>
          <p:cNvPicPr>
            <a:picLocks noChangeAspect="1"/>
          </p:cNvPicPr>
          <p:nvPr/>
        </p:nvPicPr>
        <p:blipFill>
          <a:blip r:embed="rId9"/>
          <a:stretch>
            <a:fillRect/>
          </a:stretch>
        </p:blipFill>
        <p:spPr>
          <a:xfrm>
            <a:off x="1041400" y="4635500"/>
            <a:ext cx="152400" cy="152400"/>
          </a:xfrm>
          <a:prstGeom prst="rect">
            <a:avLst/>
          </a:prstGeom>
        </p:spPr>
      </p:pic>
      <p:sp>
        <p:nvSpPr>
          <p:cNvPr id="31" name="TextBox 30"/>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AUTO-ACCEPT ONLY IF</a:t>
            </a:r>
          </a:p>
        </p:txBody>
      </p:sp>
      <p:sp>
        <p:nvSpPr>
          <p:cNvPr id="32" name="TextBox 31"/>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3" name="Rounded Rectangle 32"/>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5" name="Picture 34" descr="search-x-0F172A.png"/>
          <p:cNvPicPr>
            <a:picLocks noChangeAspect="1"/>
          </p:cNvPicPr>
          <p:nvPr/>
        </p:nvPicPr>
        <p:blipFill>
          <a:blip r:embed="rId10"/>
          <a:stretch>
            <a:fillRect/>
          </a:stretch>
        </p:blipFill>
        <p:spPr>
          <a:xfrm>
            <a:off x="4614333" y="4635500"/>
            <a:ext cx="152400" cy="152400"/>
          </a:xfrm>
          <a:prstGeom prst="rect">
            <a:avLst/>
          </a:prstGeom>
        </p:spPr>
      </p:pic>
      <p:sp>
        <p:nvSpPr>
          <p:cNvPr id="36" name="TextBox 35"/>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 FOUND IS AN ANSWER</a:t>
            </a:r>
          </a:p>
        </p:txBody>
      </p:sp>
      <p:sp>
        <p:nvSpPr>
          <p:cNvPr id="37" name="TextBox 36"/>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38" name="Rounded Rectangle 37"/>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0" name="Picture 39"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1" name="TextBox 40"/>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2" name="TextBox 41"/>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40</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CIK or LEI, routed to the SEC or ESEF</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file-spreadshee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Filed facts</a:t>
            </a:r>
          </a:p>
          <a:p>
            <a:pPr algn="ctr">
              <a:lnSpc>
                <a:spcPct val="112500"/>
              </a:lnSpc>
              <a:spcAft>
                <a:spcPts val="0"/>
              </a:spcAft>
            </a:pPr>
            <a:r>
              <a:rPr sz="1200" b="0">
                <a:solidFill>
                  <a:srgbClr val="475569"/>
                </a:solidFill>
                <a:latin typeface="IBM Plex Sans"/>
              </a:rPr>
              <a:t>SEC companyfacts or ESEF xBRL-JSON, as filed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layers.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Combined pass</a:t>
            </a:r>
          </a:p>
          <a:p>
            <a:pPr algn="ctr">
              <a:lnSpc>
                <a:spcPct val="112500"/>
              </a:lnSpc>
              <a:spcAft>
                <a:spcPts val="0"/>
              </a:spcAft>
            </a:pPr>
            <a:r>
              <a:rPr sz="1200" b="0">
                <a:solidFill>
                  <a:srgbClr val="475569"/>
                </a:solidFill>
                <a:latin typeface="IBM Plex Sans"/>
              </a:rPr>
              <a:t>Segments, capex, R&amp;D; extractor and verifier</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layer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XBRL overlay</a:t>
            </a:r>
          </a:p>
          <a:p>
            <a:pPr algn="ctr">
              <a:lnSpc>
                <a:spcPct val="112500"/>
              </a:lnSpc>
              <a:spcAft>
                <a:spcPts val="0"/>
              </a:spcAft>
            </a:pPr>
            <a:r>
              <a:rPr sz="1200" b="0">
                <a:solidFill>
                  <a:srgbClr val="475569"/>
                </a:solidFill>
                <a:latin typeface="IBM Plex Sans"/>
              </a:rPr>
              <a:t>Tagged totals replace a read of the prose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shield-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Verify a run</a:t>
            </a:r>
          </a:p>
          <a:p>
            <a:pPr algn="ctr">
              <a:lnSpc>
                <a:spcPct val="112500"/>
              </a:lnSpc>
              <a:spcAft>
                <a:spcPts val="0"/>
              </a:spcAft>
            </a:pPr>
            <a:r>
              <a:rPr sz="1200" b="0">
                <a:solidFill>
                  <a:srgbClr val="475569"/>
                </a:solidFill>
                <a:latin typeface="IBM Plex Sans"/>
              </a:rPr>
              <a:t>Extracted values against the tagged values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Per-section review flags, citations, provenance</a:t>
            </a:r>
          </a:p>
        </p:txBody>
      </p:sp>
      <p:sp>
        <p:nvSpPr>
          <p:cNvPr id="29" name="Rounded Rectangle 28"/>
          <p:cNvSpPr/>
          <p:nvPr/>
        </p:nvSpPr>
        <p:spPr>
          <a:xfrm>
            <a:off x="812800"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combine-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COMBINED</a:t>
            </a:r>
          </a:p>
        </p:txBody>
      </p:sp>
      <p:sp>
        <p:nvSpPr>
          <p:cNvPr id="33" name="TextBox 32"/>
          <p:cNvSpPr txBox="1"/>
          <p:nvPr/>
        </p:nvSpPr>
        <p:spPr>
          <a:xfrm>
            <a:off x="965200"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4" name="Rounded Rectangle 33"/>
          <p:cNvSpPr/>
          <p:nvPr/>
        </p:nvSpPr>
        <p:spPr>
          <a:xfrm>
            <a:off x="4385733"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file-spreadsheet-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XBRL FACTS</a:t>
            </a:r>
          </a:p>
        </p:txBody>
      </p:sp>
      <p:sp>
        <p:nvSpPr>
          <p:cNvPr id="38" name="TextBox 37"/>
          <p:cNvSpPr txBox="1"/>
          <p:nvPr/>
        </p:nvSpPr>
        <p:spPr>
          <a:xfrm>
            <a:off x="4538133"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39" name="Rounded Rectangle 38"/>
          <p:cNvSpPr/>
          <p:nvPr/>
        </p:nvSpPr>
        <p:spPr>
          <a:xfrm>
            <a:off x="7958667"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25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ghtbulb-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Theme</a:t>
            </a:r>
          </a:p>
          <a:p>
            <a:pPr algn="ctr">
              <a:lnSpc>
                <a:spcPct val="112500"/>
              </a:lnSpc>
              <a:spcAft>
                <a:spcPts val="0"/>
              </a:spcAft>
            </a:pPr>
            <a:r>
              <a:rPr sz="1200" b="0">
                <a:solidFill>
                  <a:srgbClr val="475569"/>
                </a:solidFill>
                <a:latin typeface="IBM Plex Sans"/>
              </a:rPr>
              <a:t>A macro theme or a promoted candidate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person-network.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Taxonomy</a:t>
            </a:r>
          </a:p>
          <a:p>
            <a:pPr algn="ctr">
              <a:lnSpc>
                <a:spcPct val="112500"/>
              </a:lnSpc>
              <a:spcAft>
                <a:spcPts val="0"/>
              </a:spcAft>
            </a:pPr>
            <a:r>
              <a:rPr sz="1200" b="0">
                <a:solidFill>
                  <a:srgbClr val="475569"/>
                </a:solidFill>
                <a:latin typeface="IBM Plex Sans"/>
              </a:rPr>
              <a:t>Versioned activities, ratified by a person</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tabl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Catalogue</a:t>
            </a:r>
          </a:p>
          <a:p>
            <a:pPr algn="ctr">
              <a:lnSpc>
                <a:spcPct val="112500"/>
              </a:lnSpc>
              <a:spcAft>
                <a:spcPts val="0"/>
              </a:spcAft>
            </a:pPr>
            <a:r>
              <a:rPr sz="1200" b="0">
                <a:solidFill>
                  <a:srgbClr val="475569"/>
                </a:solidFill>
                <a:latin typeface="IBM Plex Sans"/>
              </a:rPr>
              <a:t>A confirmed revenue mapping; arithmetic only</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text.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Extraction</a:t>
            </a:r>
          </a:p>
          <a:p>
            <a:pPr algn="ctr">
              <a:lnSpc>
                <a:spcPct val="112500"/>
              </a:lnSpc>
              <a:spcAft>
                <a:spcPts val="0"/>
              </a:spcAft>
            </a:pPr>
            <a:r>
              <a:rPr sz="1200" b="0">
                <a:solidFill>
                  <a:srgbClr val="475569"/>
                </a:solidFill>
                <a:latin typeface="IBM Plex Sans"/>
              </a:rPr>
              <a:t>Generated schema: revenue, capex, opex, R&amp;D %</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messages-squar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Debate</a:t>
            </a:r>
          </a:p>
          <a:p>
            <a:pPr algn="ctr">
              <a:lnSpc>
                <a:spcPct val="112500"/>
              </a:lnSpc>
              <a:spcAft>
                <a:spcPts val="0"/>
              </a:spcAft>
            </a:pPr>
            <a:r>
              <a:rPr sz="1200" b="0">
                <a:solidFill>
                  <a:srgbClr val="475569"/>
                </a:solidFill>
                <a:latin typeface="IBM Plex Sans"/>
              </a:rPr>
              <a:t>Advocate, Opposing, Adjudicator, as a last resort</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gauge-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Pure play, significant, minor or none</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ock-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GATE</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layers-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EXPOSURE LAYERS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26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adar-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Spot</a:t>
            </a:r>
          </a:p>
          <a:p>
            <a:pPr algn="ctr">
              <a:lnSpc>
                <a:spcPct val="112500"/>
              </a:lnSpc>
              <a:spcAft>
                <a:spcPts val="0"/>
              </a:spcAft>
            </a:pPr>
            <a:r>
              <a:rPr sz="1200" b="0">
                <a:solidFill>
                  <a:srgbClr val="475569"/>
                </a:solidFill>
                <a:latin typeface="IBM Plex Sans"/>
              </a:rPr>
              <a:t>Candidates from EDGAR, GDELT and regulatory RSS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newspaper.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Context brief</a:t>
            </a:r>
          </a:p>
          <a:p>
            <a:pPr algn="ctr">
              <a:lnSpc>
                <a:spcPct val="112500"/>
              </a:lnSpc>
              <a:spcAft>
                <a:spcPts val="0"/>
              </a:spcAft>
            </a:pPr>
            <a:r>
              <a:rPr sz="1200" b="0">
                <a:solidFill>
                  <a:srgbClr val="475569"/>
                </a:solidFill>
                <a:latin typeface="IBM Plex Sans"/>
              </a:rPr>
              <a:t>Why now and early evidence; uncited lines dropped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person-user-check.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Define</a:t>
            </a:r>
          </a:p>
          <a:p>
            <a:pPr algn="ctr">
              <a:lnSpc>
                <a:spcPct val="112500"/>
              </a:lnSpc>
              <a:spcAft>
                <a:spcPts val="0"/>
              </a:spcAft>
            </a:pPr>
            <a:r>
              <a:rPr sz="1200" b="0">
                <a:solidFill>
                  <a:srgbClr val="475569"/>
                </a:solidFill>
                <a:latin typeface="IBM Plex Sans"/>
              </a:rPr>
              <a:t>A ratified taxonomy version</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person-list-check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Source plan</a:t>
            </a:r>
          </a:p>
          <a:p>
            <a:pPr algn="ctr">
              <a:lnSpc>
                <a:spcPct val="112500"/>
              </a:lnSpc>
              <a:spcAft>
                <a:spcPts val="0"/>
              </a:spcAft>
            </a:pPr>
            <a:r>
              <a:rPr sz="1200" b="0">
                <a:solidFill>
                  <a:srgbClr val="475569"/>
                </a:solidFill>
                <a:latin typeface="IBM Plex Sans"/>
              </a:rPr>
              <a:t>Up to 12 authoritative sources, approved</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notebook-tex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note</a:t>
            </a:r>
          </a:p>
          <a:p>
            <a:pPr algn="ctr">
              <a:lnSpc>
                <a:spcPct val="112500"/>
              </a:lnSpc>
              <a:spcAft>
                <a:spcPts val="0"/>
              </a:spcAft>
            </a:pPr>
            <a:r>
              <a:rPr sz="1200" b="0">
                <a:solidFill>
                  <a:srgbClr val="475569"/>
                </a:solidFill>
                <a:latin typeface="IBM Plex Sans"/>
              </a:rPr>
              <a:t>Five sections, a grounded quote per statement</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building-2-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The exposed universe, reviewed</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ock-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PROMOTION GATE</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user-check-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APPROVALS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arrow-right-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NEXT</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27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Plan documents</a:t>
            </a:r>
          </a:p>
          <a:p>
            <a:pPr algn="ctr">
              <a:lnSpc>
                <a:spcPct val="112500"/>
              </a:lnSpc>
              <a:spcAft>
                <a:spcPts val="0"/>
              </a:spcAft>
            </a:pPr>
            <a:r>
              <a:rPr sz="1200" b="0">
                <a:solidFill>
                  <a:srgbClr val="475569"/>
                </a:solidFill>
                <a:latin typeface="IBM Plex Sans"/>
              </a:rPr>
              <a:t>Transition plan, sustainability report</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list-checks.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64 indicators</a:t>
            </a:r>
          </a:p>
          <a:p>
            <a:pPr algn="ctr">
              <a:lnSpc>
                <a:spcPct val="112500"/>
              </a:lnSpc>
              <a:spcAft>
                <a:spcPts val="0"/>
              </a:spcAft>
            </a:pPr>
            <a:r>
              <a:rPr sz="1200" b="0">
                <a:solidFill>
                  <a:srgbClr val="475569"/>
                </a:solidFill>
                <a:latin typeface="IBM Plex Sans"/>
              </a:rPr>
              <a:t>One yes/no field each, Colesanti Senni et al.</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list-todo.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Plan as a list</a:t>
            </a:r>
          </a:p>
          <a:p>
            <a:pPr algn="ctr">
              <a:lnSpc>
                <a:spcPct val="112500"/>
              </a:lnSpc>
              <a:spcAft>
                <a:spcPts val="0"/>
              </a:spcAft>
            </a:pPr>
            <a:r>
              <a:rPr sz="1200" b="0">
                <a:solidFill>
                  <a:srgbClr val="475569"/>
                </a:solidFill>
                <a:latin typeface="IBM Plex Sans"/>
              </a:rPr>
              <a:t>Actions, assumed prices, targets, phase-outs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actory.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Capex and actions</a:t>
            </a:r>
          </a:p>
          <a:p>
            <a:pPr algn="ctr">
              <a:lnSpc>
                <a:spcPct val="112500"/>
              </a:lnSpc>
              <a:spcAft>
                <a:spcPts val="0"/>
              </a:spcAft>
            </a:pPr>
            <a:r>
              <a:rPr sz="1200" b="0">
                <a:solidFill>
                  <a:srgbClr val="475569"/>
                </a:solidFill>
                <a:latin typeface="IBM Plex Sans"/>
              </a:rPr>
              <a:t>Capex vs benchmark, actions vs barriers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targe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Delivery checks</a:t>
            </a:r>
          </a:p>
          <a:p>
            <a:pPr algn="ctr">
              <a:lnSpc>
                <a:spcPct val="112500"/>
              </a:lnSpc>
              <a:spcAft>
                <a:spcPts val="0"/>
              </a:spcAft>
            </a:pPr>
            <a:r>
              <a:rPr sz="1200" b="0">
                <a:solidFill>
                  <a:srgbClr val="475569"/>
                </a:solidFill>
                <a:latin typeface="IBM Plex Sans"/>
              </a:rPr>
              <a:t>Targets, abatement, phase-outs, carbon price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flag-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Flags and KPIs</a:t>
            </a:r>
          </a:p>
          <a:p>
            <a:pPr algn="ctr">
              <a:lnSpc>
                <a:spcPct val="112500"/>
              </a:lnSpc>
              <a:spcAft>
                <a:spcPts val="0"/>
              </a:spcAft>
            </a:pPr>
            <a:r>
              <a:rPr sz="1200" b="0">
                <a:solidFill>
                  <a:srgbClr val="475569"/>
                </a:solidFill>
                <a:latin typeface="IBM Plex Sans"/>
              </a:rPr>
              <a:t>5 flags and 9 KPIs, never one score</a:t>
            </a:r>
          </a:p>
        </p:txBody>
      </p:sp>
      <p:sp>
        <p:nvSpPr>
          <p:cNvPr id="29" name="Rounded Rectangle 28"/>
          <p:cNvSpPr/>
          <p:nvPr/>
        </p:nvSpPr>
        <p:spPr>
          <a:xfrm>
            <a:off x="812800"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65650"/>
            <a:ext cx="304800" cy="304800"/>
          </a:xfrm>
          <a:prstGeom prst="ellipse">
            <a:avLst/>
          </a:prstGeom>
          <a:solidFill>
            <a:srgbClr val="F1F5F9"/>
          </a:solidFill>
          <a:ln>
            <a:noFill/>
          </a:ln>
          <a:effectLst/>
        </p:spPr>
        <p:txBody>
          <a:bodyPr rtlCol="0" anchor="ctr"/>
          <a:lstStyle/>
          <a:p>
            <a:pPr algn="ctr"/>
          </a:p>
        </p:txBody>
      </p:sp>
      <p:pic>
        <p:nvPicPr>
          <p:cNvPr id="31" name="Picture 30" descr="triangle-alert-0F172A.png"/>
          <p:cNvPicPr>
            <a:picLocks noChangeAspect="1"/>
          </p:cNvPicPr>
          <p:nvPr/>
        </p:nvPicPr>
        <p:blipFill>
          <a:blip r:embed="rId9"/>
          <a:stretch>
            <a:fillRect/>
          </a:stretch>
        </p:blipFill>
        <p:spPr>
          <a:xfrm>
            <a:off x="1041400" y="4641850"/>
            <a:ext cx="152400" cy="152400"/>
          </a:xfrm>
          <a:prstGeom prst="rect">
            <a:avLst/>
          </a:prstGeom>
        </p:spPr>
      </p:pic>
      <p:sp>
        <p:nvSpPr>
          <p:cNvPr id="32" name="TextBox 31"/>
          <p:cNvSpPr txBox="1"/>
          <p:nvPr/>
        </p:nvSpPr>
        <p:spPr>
          <a:xfrm>
            <a:off x="1371600"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CONTRADICTIONS</a:t>
            </a:r>
          </a:p>
        </p:txBody>
      </p:sp>
      <p:sp>
        <p:nvSpPr>
          <p:cNvPr id="33" name="TextBox 32"/>
          <p:cNvSpPr txBox="1"/>
          <p:nvPr/>
        </p:nvSpPr>
        <p:spPr>
          <a:xfrm>
            <a:off x="965200"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4" name="Rounded Rectangle 33"/>
          <p:cNvSpPr/>
          <p:nvPr/>
        </p:nvSpPr>
        <p:spPr>
          <a:xfrm>
            <a:off x="4385733"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65650"/>
            <a:ext cx="304800" cy="304800"/>
          </a:xfrm>
          <a:prstGeom prst="ellipse">
            <a:avLst/>
          </a:prstGeom>
          <a:solidFill>
            <a:srgbClr val="F1F5F9"/>
          </a:solidFill>
          <a:ln>
            <a:noFill/>
          </a:ln>
          <a:effectLst/>
        </p:spPr>
        <p:txBody>
          <a:bodyPr rtlCol="0" anchor="ctr"/>
          <a:lstStyle/>
          <a:p>
            <a:pPr algn="ctr"/>
          </a:p>
        </p:txBody>
      </p:sp>
      <p:pic>
        <p:nvPicPr>
          <p:cNvPr id="36" name="Picture 35" descr="ruler-0F172A.png"/>
          <p:cNvPicPr>
            <a:picLocks noChangeAspect="1"/>
          </p:cNvPicPr>
          <p:nvPr/>
        </p:nvPicPr>
        <p:blipFill>
          <a:blip r:embed="rId10"/>
          <a:stretch>
            <a:fillRect/>
          </a:stretch>
        </p:blipFill>
        <p:spPr>
          <a:xfrm>
            <a:off x="4614333" y="4641850"/>
            <a:ext cx="152400" cy="152400"/>
          </a:xfrm>
          <a:prstGeom prst="rect">
            <a:avLst/>
          </a:prstGeom>
        </p:spPr>
      </p:pic>
      <p:sp>
        <p:nvSpPr>
          <p:cNvPr id="37" name="TextBox 36"/>
          <p:cNvSpPr txBox="1"/>
          <p:nvPr/>
        </p:nvSpPr>
        <p:spPr>
          <a:xfrm>
            <a:off x="4944533"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BENCHMARKS</a:t>
            </a:r>
          </a:p>
        </p:txBody>
      </p:sp>
      <p:sp>
        <p:nvSpPr>
          <p:cNvPr id="38" name="TextBox 37"/>
          <p:cNvSpPr txBox="1"/>
          <p:nvPr/>
        </p:nvSpPr>
        <p:spPr>
          <a:xfrm>
            <a:off x="4538133"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39" name="Rounded Rectangle 38"/>
          <p:cNvSpPr/>
          <p:nvPr/>
        </p:nvSpPr>
        <p:spPr>
          <a:xfrm>
            <a:off x="7958667"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656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41850"/>
            <a:ext cx="152400" cy="152400"/>
          </a:xfrm>
          <a:prstGeom prst="rect">
            <a:avLst/>
          </a:prstGeom>
        </p:spPr>
      </p:pic>
      <p:sp>
        <p:nvSpPr>
          <p:cNvPr id="42" name="TextBox 41"/>
          <p:cNvSpPr txBox="1"/>
          <p:nvPr/>
        </p:nvSpPr>
        <p:spPr>
          <a:xfrm>
            <a:off x="8517467"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28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ook-marked-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Rule book</a:t>
            </a:r>
          </a:p>
          <a:p>
            <a:pPr algn="ctr">
              <a:lnSpc>
                <a:spcPct val="112500"/>
              </a:lnSpc>
              <a:spcAft>
                <a:spcPts val="0"/>
              </a:spcAft>
            </a:pPr>
            <a:r>
              <a:rPr sz="1200" b="0">
                <a:solidFill>
                  <a:srgbClr val="475569"/>
                </a:solidFill>
                <a:latin typeface="IBM Plex Sans"/>
              </a:rPr>
              <a:t>Facts needed, H/M/L conditions, thresholds; signed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downloa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Fetch sources</a:t>
            </a:r>
          </a:p>
          <a:p>
            <a:pPr algn="ctr">
              <a:lnSpc>
                <a:spcPct val="112500"/>
              </a:lnSpc>
              <a:spcAft>
                <a:spcPts val="0"/>
              </a:spcAft>
            </a:pPr>
            <a:r>
              <a:rPr sz="1200" b="0">
                <a:solidFill>
                  <a:srgbClr val="475569"/>
                </a:solidFill>
                <a:latin typeface="IBM Plex Sans"/>
              </a:rPr>
              <a:t>Through the SSRF guard, stored in Postgres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sca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 facts</a:t>
            </a:r>
          </a:p>
          <a:p>
            <a:pPr algn="ctr">
              <a:lnSpc>
                <a:spcPct val="112500"/>
              </a:lnSpc>
              <a:spcAft>
                <a:spcPts val="0"/>
              </a:spcAft>
            </a:pPr>
            <a:r>
              <a:rPr sz="1200" b="0">
                <a:solidFill>
                  <a:srgbClr val="475569"/>
                </a:solidFill>
                <a:latin typeface="IBM Plex Sans"/>
              </a:rPr>
              <a:t>Value, unit and quote checked in code</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cog.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Rules engine</a:t>
            </a:r>
          </a:p>
          <a:p>
            <a:pPr algn="ctr">
              <a:lnSpc>
                <a:spcPct val="112500"/>
              </a:lnSpc>
              <a:spcAft>
                <a:spcPts val="0"/>
              </a:spcAft>
            </a:pPr>
            <a:r>
              <a:rPr sz="1200" b="0">
                <a:solidFill>
                  <a:srgbClr val="475569"/>
                </a:solidFill>
                <a:latin typeface="IBM Plex Sans"/>
              </a:rPr>
              <a:t>Three-valued rules derive H, M or 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badge-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a:t>
            </a:r>
          </a:p>
          <a:p>
            <a:pPr algn="ctr">
              <a:lnSpc>
                <a:spcPct val="112500"/>
              </a:lnSpc>
              <a:spcAft>
                <a:spcPts val="0"/>
              </a:spcAft>
            </a:pPr>
            <a:r>
              <a:rPr sz="1200" b="0">
                <a:solidFill>
                  <a:srgbClr val="475569"/>
                </a:solidFill>
                <a:latin typeface="IBM Plex Sans"/>
              </a:rPr>
              <a:t>A named person accepts or rejects each cell</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grid-2x2-chec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Rated cell</a:t>
            </a:r>
          </a:p>
          <a:p>
            <a:pPr algn="ctr">
              <a:lnSpc>
                <a:spcPct val="112500"/>
              </a:lnSpc>
              <a:spcAft>
                <a:spcPts val="0"/>
              </a:spcAft>
            </a:pPr>
            <a:r>
              <a:rPr sz="1200" b="0">
                <a:solidFill>
                  <a:srgbClr val="475569"/>
                </a:solidFill>
                <a:latin typeface="IBM Plex Sans"/>
              </a:rPr>
              <a:t>Rating, confidence, evidence, last verified</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refresh-cw-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REFRESH</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clock-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STALENESS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29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rid-3x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IO tables</a:t>
            </a:r>
          </a:p>
          <a:p>
            <a:pPr algn="ctr">
              <a:lnSpc>
                <a:spcPct val="112500"/>
              </a:lnSpc>
              <a:spcAft>
                <a:spcPts val="0"/>
              </a:spcAft>
            </a:pPr>
            <a:r>
              <a:rPr sz="1200" b="0">
                <a:solidFill>
                  <a:srgbClr val="475569"/>
                </a:solidFill>
                <a:latin typeface="IBM Plex Sans"/>
              </a:rPr>
              <a:t>OECD ICIO 2025 and EXIOBASE 3</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sigma.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Leontief inverse</a:t>
            </a:r>
          </a:p>
          <a:p>
            <a:pPr algn="ctr">
              <a:lnSpc>
                <a:spcPct val="112500"/>
              </a:lnSpc>
              <a:spcAft>
                <a:spcPts val="0"/>
              </a:spcAft>
            </a:pPr>
            <a:r>
              <a:rPr sz="1200" b="0">
                <a:solidFill>
                  <a:srgbClr val="475569"/>
                </a:solidFill>
                <a:latin typeface="IBM Plex Sans"/>
              </a:rPr>
              <a:t>A = Z ÷ x, then L = (I − A)⁻¹, cached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map.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Map sectors</a:t>
            </a:r>
          </a:p>
          <a:p>
            <a:pPr algn="ctr">
              <a:lnSpc>
                <a:spcPct val="112500"/>
              </a:lnSpc>
              <a:spcAft>
                <a:spcPts val="0"/>
              </a:spcAft>
            </a:pPr>
            <a:r>
              <a:rPr sz="1200" b="0">
                <a:solidFill>
                  <a:srgbClr val="475569"/>
                </a:solidFill>
                <a:latin typeface="IBM Plex Sans"/>
              </a:rPr>
              <a:t>A theme's core sectors; a company's code if missing</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gaug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Upstream, downstream, end market, GHG, region</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flag.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 flag</a:t>
            </a:r>
          </a:p>
          <a:p>
            <a:pPr algn="ctr">
              <a:lnSpc>
                <a:spcPct val="112500"/>
              </a:lnSpc>
              <a:spcAft>
                <a:spcPts val="0"/>
              </a:spcAft>
            </a:pPr>
            <a:r>
              <a:rPr sz="1200" b="0">
                <a:solidFill>
                  <a:srgbClr val="475569"/>
                </a:solidFill>
                <a:latin typeface="IBM Plex Sans"/>
              </a:rPr>
              <a:t>A silent company at 0.3 or more is queued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etwor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Explorer</a:t>
            </a:r>
          </a:p>
          <a:p>
            <a:pPr algn="ctr">
              <a:lnSpc>
                <a:spcPct val="112500"/>
              </a:lnSpc>
              <a:spcAft>
                <a:spcPts val="0"/>
              </a:spcAft>
            </a:pPr>
            <a:r>
              <a:rPr sz="1200" b="0">
                <a:solidFill>
                  <a:srgbClr val="475569"/>
                </a:solidFill>
                <a:latin typeface="IBM Plex Sans"/>
              </a:rPr>
              <a:t>7,987 nodes: node, upstream tree, footprint</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network-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VALUE CHAIN EXPLORER</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split-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KEPT SEPARATE</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30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Analyse and decide</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Turn cited figures into monitored portfolios, scored decisions, indices, votes and client answers, with code doing the arithmetic.</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Portfolio and climate</a:t>
            </a:r>
          </a:p>
          <a:p>
            <a:pPr>
              <a:lnSpc>
                <a:spcPct val="108333"/>
              </a:lnSpc>
              <a:spcAft>
                <a:spcPts val="0"/>
              </a:spcAft>
            </a:pPr>
            <a:r>
              <a:rPr sz="1200" b="0">
                <a:solidFill>
                  <a:srgbClr val="475569"/>
                </a:solidFill>
                <a:latin typeface="IBM Plex Sans"/>
              </a:rPr>
              <a:t>Holdings, alerts, WACI, financed emissions</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Decision Studio</a:t>
            </a:r>
          </a:p>
          <a:p>
            <a:pPr>
              <a:lnSpc>
                <a:spcPct val="108333"/>
              </a:lnSpc>
              <a:spcAft>
                <a:spcPts val="0"/>
              </a:spcAft>
            </a:pPr>
            <a:r>
              <a:rPr sz="1200" b="0">
                <a:solidFill>
                  <a:srgbClr val="475569"/>
                </a:solidFill>
                <a:latin typeface="IBM Plex Sans"/>
              </a:rPr>
              <a:t>Scored, ranked and tiered decisions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Index construction</a:t>
            </a:r>
          </a:p>
          <a:p>
            <a:pPr>
              <a:lnSpc>
                <a:spcPct val="108333"/>
              </a:lnSpc>
              <a:spcAft>
                <a:spcPts val="0"/>
              </a:spcAft>
            </a:pPr>
            <a:r>
              <a:rPr sz="1200" b="0">
                <a:solidFill>
                  <a:srgbClr val="475569"/>
                </a:solidFill>
                <a:latin typeface="IBM Plex Sans"/>
              </a:rPr>
              <a:t>Rule-based index methodologies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Strategy and signals</a:t>
            </a:r>
          </a:p>
          <a:p>
            <a:pPr>
              <a:lnSpc>
                <a:spcPct val="108333"/>
              </a:lnSpc>
              <a:spcAft>
                <a:spcPts val="0"/>
              </a:spcAft>
            </a:pPr>
            <a:r>
              <a:rPr sz="1200" b="0">
                <a:solidFill>
                  <a:srgbClr val="475569"/>
                </a:solidFill>
                <a:latin typeface="IBM Plex Sans"/>
              </a:rPr>
              <a:t>Backtests and honest signal tests</a:t>
            </a:r>
          </a:p>
        </p:txBody>
      </p:sp>
      <p:sp>
        <p:nvSpPr>
          <p:cNvPr id="17" name="Rectangle 16"/>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15</a:t>
            </a:r>
          </a:p>
        </p:txBody>
      </p:sp>
      <p:sp>
        <p:nvSpPr>
          <p:cNvPr id="19" name="TextBox 18"/>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Engagement</a:t>
            </a:r>
          </a:p>
          <a:p>
            <a:pPr>
              <a:lnSpc>
                <a:spcPct val="108333"/>
              </a:lnSpc>
              <a:spcAft>
                <a:spcPts val="0"/>
              </a:spcAft>
            </a:pPr>
            <a:r>
              <a:rPr sz="1200" b="0">
                <a:solidFill>
                  <a:srgbClr val="475569"/>
                </a:solidFill>
                <a:latin typeface="IBM Plex Sans"/>
              </a:rPr>
              <a:t>One record per company, people at every gate</a:t>
            </a:r>
          </a:p>
        </p:txBody>
      </p:sp>
      <p:sp>
        <p:nvSpPr>
          <p:cNvPr id="20" name="Rectangle 19"/>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16</a:t>
            </a:r>
          </a:p>
        </p:txBody>
      </p:sp>
      <p:sp>
        <p:nvSpPr>
          <p:cNvPr id="22" name="TextBox 21"/>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Proxy voting</a:t>
            </a:r>
          </a:p>
          <a:p>
            <a:pPr>
              <a:lnSpc>
                <a:spcPct val="108333"/>
              </a:lnSpc>
              <a:spcAft>
                <a:spcPts val="0"/>
              </a:spcAft>
            </a:pPr>
            <a:r>
              <a:rPr sz="1200" b="0">
                <a:solidFill>
                  <a:srgbClr val="475569"/>
                </a:solidFill>
                <a:latin typeface="IBM Plex Sans"/>
              </a:rPr>
              <a:t>Rules before judgment, people before a vote</a:t>
            </a:r>
          </a:p>
        </p:txBody>
      </p:sp>
      <p:sp>
        <p:nvSpPr>
          <p:cNvPr id="23" name="Rectangle 22"/>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17</a:t>
            </a:r>
          </a:p>
        </p:txBody>
      </p:sp>
      <p:sp>
        <p:nvSpPr>
          <p:cNvPr id="25" name="TextBox 24"/>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RFP answers</a:t>
            </a:r>
          </a:p>
          <a:p>
            <a:pPr>
              <a:lnSpc>
                <a:spcPct val="108333"/>
              </a:lnSpc>
              <a:spcAft>
                <a:spcPts val="0"/>
              </a:spcAft>
            </a:pPr>
            <a:r>
              <a:rPr sz="1200" b="0">
                <a:solidFill>
                  <a:srgbClr val="475569"/>
                </a:solidFill>
                <a:latin typeface="IBM Plex Sans"/>
              </a:rPr>
              <a:t>Questionnaires from approved answers</a:t>
            </a:r>
          </a:p>
        </p:txBody>
      </p:sp>
      <p:sp>
        <p:nvSpPr>
          <p:cNvPr id="26" name="Rectangle 25"/>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18</a:t>
            </a:r>
          </a:p>
        </p:txBody>
      </p:sp>
      <p:sp>
        <p:nvSpPr>
          <p:cNvPr id="28" name="TextBox 27"/>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Reporting</a:t>
            </a:r>
          </a:p>
          <a:p>
            <a:pPr>
              <a:lnSpc>
                <a:spcPct val="108333"/>
              </a:lnSpc>
              <a:spcAft>
                <a:spcPts val="0"/>
              </a:spcAft>
            </a:pPr>
            <a:r>
              <a:rPr sz="1200" b="0">
                <a:solidFill>
                  <a:srgbClr val="475569"/>
                </a:solidFill>
                <a:latin typeface="IBM Plex Sans"/>
              </a:rPr>
              <a:t>Reports, house decks, dashboards</a:t>
            </a:r>
          </a:p>
        </p:txBody>
      </p:sp>
      <p:sp>
        <p:nvSpPr>
          <p:cNvPr id="29" name="TextBox 2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riefc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Holdings intake</a:t>
            </a:r>
          </a:p>
          <a:p>
            <a:pPr algn="ctr">
              <a:lnSpc>
                <a:spcPct val="112500"/>
              </a:lnSpc>
              <a:spcAft>
                <a:spcPts val="0"/>
              </a:spcAft>
            </a:pPr>
            <a:r>
              <a:rPr sz="1200" b="0">
                <a:solidFill>
                  <a:srgbClr val="475569"/>
                </a:solidFill>
                <a:latin typeface="IBM Plex Sans"/>
              </a:rPr>
              <a:t>Monthly, mapped by ISIN via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list-ordere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Data cascade</a:t>
            </a:r>
          </a:p>
          <a:p>
            <a:pPr algn="ctr">
              <a:lnSpc>
                <a:spcPct val="112500"/>
              </a:lnSpc>
              <a:spcAft>
                <a:spcPts val="0"/>
              </a:spcAft>
            </a:pPr>
            <a:r>
              <a:rPr sz="1200" b="0">
                <a:solidFill>
                  <a:srgbClr val="475569"/>
                </a:solidFill>
                <a:latin typeface="IBM Plex Sans"/>
              </a:rPr>
              <a:t>Extraction, exposure, catalogue, else missing</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igma.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Aggregate</a:t>
            </a:r>
          </a:p>
          <a:p>
            <a:pPr algn="ctr">
              <a:lnSpc>
                <a:spcPct val="112500"/>
              </a:lnSpc>
              <a:spcAft>
                <a:spcPts val="0"/>
              </a:spcAft>
            </a:pPr>
            <a:r>
              <a:rPr sz="1200" b="0">
                <a:solidFill>
                  <a:srgbClr val="475569"/>
                </a:solidFill>
                <a:latin typeface="IBM Plex Sans"/>
              </a:rPr>
              <a:t>Group, weight, sum by any dimension</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bell-ring.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Monitoring</a:t>
            </a:r>
          </a:p>
          <a:p>
            <a:pPr algn="ctr">
              <a:lnSpc>
                <a:spcPct val="112500"/>
              </a:lnSpc>
              <a:spcAft>
                <a:spcPts val="0"/>
              </a:spcAft>
            </a:pPr>
            <a:r>
              <a:rPr sz="1200" b="0">
                <a:solidFill>
                  <a:srgbClr val="475569"/>
                </a:solidFill>
                <a:latin typeface="IBM Plex Sans"/>
              </a:rPr>
              <a:t>Monthly alerts and stewardship triggers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message-circle-question.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Ask</a:t>
            </a:r>
          </a:p>
          <a:p>
            <a:pPr algn="ctr">
              <a:lnSpc>
                <a:spcPct val="112500"/>
              </a:lnSpc>
              <a:spcAft>
                <a:spcPts val="0"/>
              </a:spcAft>
            </a:pPr>
            <a:r>
              <a:rPr sz="1200" b="0">
                <a:solidFill>
                  <a:srgbClr val="475569"/>
                </a:solidFill>
                <a:latin typeface="IBM Plex Sans"/>
              </a:rPr>
              <a:t>The model drafts the query; the engine computes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layout-dashboard-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Dashboards</a:t>
            </a:r>
          </a:p>
          <a:p>
            <a:pPr algn="ctr">
              <a:lnSpc>
                <a:spcPct val="112500"/>
              </a:lnSpc>
              <a:spcAft>
                <a:spcPts val="0"/>
              </a:spcAft>
            </a:pPr>
            <a:r>
              <a:rPr sz="1200" b="0">
                <a:solidFill>
                  <a:srgbClr val="475569"/>
                </a:solidFill>
                <a:latin typeface="IBM Plex Sans"/>
              </a:rPr>
              <a:t>Superset: exposure, WACI, financed emissions</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eaf-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CLIMATE</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octagon-x-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BLOCKED, NOT GUESSED</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32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tabl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Table</a:t>
            </a:r>
          </a:p>
          <a:p>
            <a:pPr algn="ctr">
              <a:lnSpc>
                <a:spcPct val="112500"/>
              </a:lnSpc>
              <a:spcAft>
                <a:spcPts val="0"/>
              </a:spcAft>
            </a:pPr>
            <a:r>
              <a:rPr sz="1200" b="0">
                <a:solidFill>
                  <a:srgbClr val="475569"/>
                </a:solidFill>
                <a:latin typeface="IBM Plex Sans"/>
              </a:rPr>
              <a:t>From an ARP run or an upload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table-properties.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Profile</a:t>
            </a:r>
          </a:p>
          <a:p>
            <a:pPr algn="ctr">
              <a:lnSpc>
                <a:spcPct val="112500"/>
              </a:lnSpc>
              <a:spcAft>
                <a:spcPts val="0"/>
              </a:spcAft>
            </a:pPr>
            <a:r>
              <a:rPr sz="1200" b="0">
                <a:solidFill>
                  <a:srgbClr val="475569"/>
                </a:solidFill>
                <a:latin typeface="IBM Plex Sans"/>
              </a:rPr>
              <a:t>Direction inferred, flagged where it is a guess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group.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Normalise, group</a:t>
            </a:r>
          </a:p>
          <a:p>
            <a:pPr algn="ctr">
              <a:lnSpc>
                <a:spcPct val="112500"/>
              </a:lnSpc>
              <a:spcAft>
                <a:spcPts val="0"/>
              </a:spcAft>
            </a:pPr>
            <a:r>
              <a:rPr sz="1200" b="0">
                <a:solidFill>
                  <a:srgbClr val="475569"/>
                </a:solidFill>
                <a:latin typeface="IBM Plex Sans"/>
              </a:rPr>
              <a:t>Peer cohorts; correlated criteria grouped</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ilter.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Gates, then score</a:t>
            </a:r>
          </a:p>
          <a:p>
            <a:pPr algn="ctr">
              <a:lnSpc>
                <a:spcPct val="112500"/>
              </a:lnSpc>
              <a:spcAft>
                <a:spcPts val="0"/>
              </a:spcAft>
            </a:pPr>
            <a:r>
              <a:rPr sz="1200" b="0">
                <a:solidFill>
                  <a:srgbClr val="475569"/>
                </a:solidFill>
                <a:latin typeface="IBM Plex Sans"/>
              </a:rPr>
              <a:t>Hard gates resolve before the average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chart-bar.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Tiers, stability</a:t>
            </a:r>
          </a:p>
          <a:p>
            <a:pPr algn="ctr">
              <a:lnSpc>
                <a:spcPct val="112500"/>
              </a:lnSpc>
              <a:spcAft>
                <a:spcPts val="0"/>
              </a:spcAft>
            </a:pPr>
            <a:r>
              <a:rPr sz="1200" b="0">
                <a:solidFill>
                  <a:srgbClr val="475569"/>
                </a:solidFill>
                <a:latin typeface="IBM Plex Sans"/>
              </a:rPr>
              <a:t>Decision tree; rank range over four specs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badge-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 framework</a:t>
            </a:r>
          </a:p>
          <a:p>
            <a:pPr algn="ctr">
              <a:lnSpc>
                <a:spcPct val="112500"/>
              </a:lnSpc>
              <a:spcAft>
                <a:spcPts val="0"/>
              </a:spcAft>
            </a:pPr>
            <a:r>
              <a:rPr sz="1200" b="0">
                <a:solidFill>
                  <a:srgbClr val="475569"/>
                </a:solidFill>
                <a:latin typeface="IBM Plex Sans"/>
              </a:rPr>
              <a:t>Versioned; applied unchanged next quarter</a:t>
            </a:r>
          </a:p>
        </p:txBody>
      </p:sp>
      <p:sp>
        <p:nvSpPr>
          <p:cNvPr id="28" name="Rounded Rectangle 27"/>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0" name="Picture 29" descr="group-0F172A.png"/>
          <p:cNvPicPr>
            <a:picLocks noChangeAspect="1"/>
          </p:cNvPicPr>
          <p:nvPr/>
        </p:nvPicPr>
        <p:blipFill>
          <a:blip r:embed="rId9"/>
          <a:stretch>
            <a:fillRect/>
          </a:stretch>
        </p:blipFill>
        <p:spPr>
          <a:xfrm>
            <a:off x="1041400" y="4635500"/>
            <a:ext cx="152400" cy="152400"/>
          </a:xfrm>
          <a:prstGeom prst="rect">
            <a:avLst/>
          </a:prstGeom>
        </p:spPr>
      </p:pic>
      <p:sp>
        <p:nvSpPr>
          <p:cNvPr id="31" name="TextBox 30"/>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GROUP CRITERIA</a:t>
            </a:r>
          </a:p>
        </p:txBody>
      </p:sp>
      <p:sp>
        <p:nvSpPr>
          <p:cNvPr id="32" name="TextBox 31"/>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One theme measured seven ways does not earn seven times the weight.</a:t>
            </a:r>
          </a:p>
        </p:txBody>
      </p:sp>
      <p:sp>
        <p:nvSpPr>
          <p:cNvPr id="33" name="Rounded Rectangle 32"/>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5" name="Picture 34" descr="history-0F172A.png"/>
          <p:cNvPicPr>
            <a:picLocks noChangeAspect="1"/>
          </p:cNvPicPr>
          <p:nvPr/>
        </p:nvPicPr>
        <p:blipFill>
          <a:blip r:embed="rId10"/>
          <a:stretch>
            <a:fillRect/>
          </a:stretch>
        </p:blipFill>
        <p:spPr>
          <a:xfrm>
            <a:off x="4614333" y="4635500"/>
            <a:ext cx="152400" cy="152400"/>
          </a:xfrm>
          <a:prstGeom prst="rect">
            <a:avLst/>
          </a:prstGeom>
        </p:spPr>
      </p:pic>
      <p:sp>
        <p:nvSpPr>
          <p:cNvPr id="36" name="TextBox 35"/>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AUDIT</a:t>
            </a:r>
          </a:p>
        </p:txBody>
      </p:sp>
      <p:sp>
        <p:nvSpPr>
          <p:cNvPr id="37" name="TextBox 36"/>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38" name="Rounded Rectangle 37"/>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0" name="Picture 39" descr="monitor-0F172A.png"/>
          <p:cNvPicPr>
            <a:picLocks noChangeAspect="1"/>
          </p:cNvPicPr>
          <p:nvPr/>
        </p:nvPicPr>
        <p:blipFill>
          <a:blip r:embed="rId11"/>
          <a:stretch>
            <a:fillRect/>
          </a:stretch>
        </p:blipFill>
        <p:spPr>
          <a:xfrm>
            <a:off x="8187267" y="4635500"/>
            <a:ext cx="152400" cy="152400"/>
          </a:xfrm>
          <a:prstGeom prst="rect">
            <a:avLst/>
          </a:prstGeom>
        </p:spPr>
      </p:pic>
      <p:sp>
        <p:nvSpPr>
          <p:cNvPr id="41" name="TextBox 40"/>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SURFACES</a:t>
            </a:r>
          </a:p>
        </p:txBody>
      </p:sp>
      <p:sp>
        <p:nvSpPr>
          <p:cNvPr id="42" name="TextBox 41"/>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Eight tabs in the app; the same engine in the API and CLI.</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33 / 40</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Price, FX, shares, free float, sector, metrics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filter.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Screens</a:t>
            </a:r>
          </a:p>
          <a:p>
            <a:pPr algn="ctr">
              <a:lnSpc>
                <a:spcPct val="112500"/>
              </a:lnSpc>
              <a:spcAft>
                <a:spcPts val="0"/>
              </a:spcAft>
            </a:pPr>
            <a:r>
              <a:rPr sz="1200" b="0">
                <a:solidFill>
                  <a:srgbClr val="475569"/>
                </a:solidFill>
                <a:latin typeface="IBM Plex Sans"/>
              </a:rPr>
              <a:t>Ordered exclusions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liders-horizontal.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weight</a:t>
            </a:r>
          </a:p>
          <a:p>
            <a:pPr algn="ctr">
              <a:lnSpc>
                <a:spcPct val="112500"/>
              </a:lnSpc>
              <a:spcAft>
                <a:spcPts val="0"/>
              </a:spcAft>
            </a:pPr>
            <a:r>
              <a:rPr sz="1200" b="0">
                <a:solidFill>
                  <a:srgbClr val="475569"/>
                </a:solidFill>
                <a:latin typeface="IBM Plex Sans"/>
              </a:rPr>
              <a:t>Coverage target with buffers, or top-N; tilts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chart-pi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a:t>
            </a:r>
          </a:p>
          <a:p>
            <a:pPr algn="ctr">
              <a:lnSpc>
                <a:spcPct val="112500"/>
              </a:lnSpc>
              <a:spcAft>
                <a:spcPts val="0"/>
              </a:spcAft>
            </a:pPr>
            <a:r>
              <a:rPr sz="1200" b="0">
                <a:solidFill>
                  <a:srgbClr val="475569"/>
                </a:solidFill>
                <a:latin typeface="IBM Plex Sans"/>
              </a:rPr>
              <a:t>Single name, group, UCITS 5/10/40</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trending-down.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Trajectory</a:t>
            </a:r>
          </a:p>
          <a:p>
            <a:pPr algn="ctr">
              <a:lnSpc>
                <a:spcPct val="112500"/>
              </a:lnSpc>
              <a:spcAft>
                <a:spcPts val="0"/>
              </a:spcAft>
            </a:pPr>
            <a:r>
              <a:rPr sz="1200" b="0">
                <a:solidFill>
                  <a:srgbClr val="475569"/>
                </a:solidFill>
                <a:latin typeface="IBM Plex Sans"/>
              </a:rPr>
              <a:t>EU PAB or CTB decarbonisation path</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user-chec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Constituents, divisor, turnover, stage trace</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calendar-clock-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CALIBRATIONS</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calculator-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SOLVERS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34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Paper</a:t>
            </a:r>
          </a:p>
          <a:p>
            <a:pPr algn="ctr">
              <a:lnSpc>
                <a:spcPct val="112500"/>
              </a:lnSpc>
              <a:spcAft>
                <a:spcPts val="0"/>
              </a:spcAft>
            </a:pPr>
            <a:r>
              <a:rPr sz="1200" b="0">
                <a:solidFill>
                  <a:srgbClr val="475569"/>
                </a:solidFill>
                <a:latin typeface="IBM Plex Sans"/>
              </a:rPr>
              <a:t>Found by literature discovery, or uploaded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scroll-tex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Strategy spec</a:t>
            </a:r>
          </a:p>
          <a:p>
            <a:pPr algn="ctr">
              <a:lnSpc>
                <a:spcPct val="112500"/>
              </a:lnSpc>
              <a:spcAft>
                <a:spcPts val="0"/>
              </a:spcAft>
            </a:pPr>
            <a:r>
              <a:rPr sz="1200" b="0">
                <a:solidFill>
                  <a:srgbClr val="475569"/>
                </a:solidFill>
                <a:latin typeface="IBM Plex Sans"/>
              </a:rPr>
              <a:t>Extracted, verified and grounded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chart-lin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Backtest</a:t>
            </a:r>
          </a:p>
          <a:p>
            <a:pPr algn="ctr">
              <a:lnSpc>
                <a:spcPct val="112500"/>
              </a:lnSpc>
              <a:spcAft>
                <a:spcPts val="0"/>
              </a:spcAft>
            </a:pPr>
            <a:r>
              <a:rPr sz="1200" b="0">
                <a:solidFill>
                  <a:srgbClr val="475569"/>
                </a:solidFill>
                <a:latin typeface="IBM Plex Sans"/>
              </a:rPr>
              <a:t>In-sample and out-of-sample windows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lask-conical.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Rigor checks</a:t>
            </a:r>
          </a:p>
          <a:p>
            <a:pPr algn="ctr">
              <a:lnSpc>
                <a:spcPct val="112500"/>
              </a:lnSpc>
              <a:spcAft>
                <a:spcPts val="0"/>
              </a:spcAft>
            </a:pPr>
            <a:r>
              <a:rPr sz="1200" b="0">
                <a:solidFill>
                  <a:srgbClr val="475569"/>
                </a:solidFill>
                <a:latin typeface="IBM Plex Sans"/>
              </a:rPr>
              <a:t>Deflated Sharpe, PBO by purged CSCV, regimes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Graduate or shelve</a:t>
            </a:r>
          </a:p>
          <a:p>
            <a:pPr algn="ctr">
              <a:lnSpc>
                <a:spcPct val="112500"/>
              </a:lnSpc>
              <a:spcAft>
                <a:spcPts val="0"/>
              </a:spcAft>
            </a:pPr>
            <a:r>
              <a:rPr sz="1200" b="0">
                <a:solidFill>
                  <a:srgbClr val="475569"/>
                </a:solidFill>
                <a:latin typeface="IBM Plex Sans"/>
              </a:rPr>
              <a:t>A person records the decision</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send-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Hand over</a:t>
            </a:r>
          </a:p>
          <a:p>
            <a:pPr algn="ctr">
              <a:lnSpc>
                <a:spcPct val="112500"/>
              </a:lnSpc>
              <a:spcAft>
                <a:spcPts val="0"/>
              </a:spcAft>
            </a:pPr>
            <a:r>
              <a:rPr sz="1200" b="0">
                <a:solidFill>
                  <a:srgbClr val="475569"/>
                </a:solidFill>
                <a:latin typeface="IBM Plex Sans"/>
              </a:rPr>
              <a:t>To Decision Studio and index construction</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flask-conical-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SIGNALS WORKBENCH</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monitor-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IN THE APP</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35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ell-ring-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Triggers</a:t>
            </a:r>
          </a:p>
          <a:p>
            <a:pPr algn="ctr">
              <a:lnSpc>
                <a:spcPct val="112500"/>
              </a:lnSpc>
              <a:spcAft>
                <a:spcPts val="0"/>
              </a:spcAft>
            </a:pPr>
            <a:r>
              <a:rPr sz="1200" b="0">
                <a:solidFill>
                  <a:srgbClr val="475569"/>
                </a:solidFill>
                <a:latin typeface="IBM Plex Sans"/>
              </a:rPr>
              <a:t>Controversies, monitoring alerts, 45-day stall sweep</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workflow.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Next action</a:t>
            </a:r>
          </a:p>
          <a:p>
            <a:pPr algn="ctr">
              <a:lnSpc>
                <a:spcPct val="112500"/>
              </a:lnSpc>
              <a:spcAft>
                <a:spcPts val="0"/>
              </a:spcAft>
            </a:pPr>
            <a:r>
              <a:rPr sz="1200" b="0">
                <a:solidFill>
                  <a:srgbClr val="475569"/>
                </a:solidFill>
                <a:latin typeface="IBM Plex Sans"/>
              </a:rPr>
              <a:t>A pure function over one issue</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book-ope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dossier</a:t>
            </a:r>
          </a:p>
          <a:p>
            <a:pPr algn="ctr">
              <a:lnSpc>
                <a:spcPct val="112500"/>
              </a:lnSpc>
              <a:spcAft>
                <a:spcPts val="0"/>
              </a:spcAft>
            </a:pPr>
            <a:r>
              <a:rPr sz="1200" b="0">
                <a:solidFill>
                  <a:srgbClr val="475569"/>
                </a:solidFill>
                <a:latin typeface="IBM Plex Sans"/>
              </a:rPr>
              <a:t>Grounded in the company's own disclosures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pen-lin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Draft</a:t>
            </a:r>
          </a:p>
          <a:p>
            <a:pPr algn="ctr">
              <a:lnSpc>
                <a:spcPct val="112500"/>
              </a:lnSpc>
              <a:spcAft>
                <a:spcPts val="0"/>
              </a:spcAft>
            </a:pPr>
            <a:r>
              <a:rPr sz="1200" b="0">
                <a:solidFill>
                  <a:srgbClr val="475569"/>
                </a:solidFill>
                <a:latin typeface="IBM Plex Sans"/>
              </a:rPr>
              <a:t>Letter, talking points, meeting summary</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Validate</a:t>
            </a:r>
          </a:p>
          <a:p>
            <a:pPr algn="ctr">
              <a:lnSpc>
                <a:spcPct val="112500"/>
              </a:lnSpc>
              <a:spcAft>
                <a:spcPts val="0"/>
              </a:spcAft>
            </a:pPr>
            <a:r>
              <a:rPr sz="1200" b="0">
                <a:solidFill>
                  <a:srgbClr val="475569"/>
                </a:solidFill>
                <a:latin typeface="IBM Plex Sans"/>
              </a:rPr>
              <a:t>Notes validated; escalation decided by name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Six milestone stages, append-only audit</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trending-up-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ESCALATION</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mail-x-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NOTHING IS SENT</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system logs outreach; a person sends it.</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activity-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36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Proxy statement</a:t>
            </a:r>
          </a:p>
          <a:p>
            <a:pPr algn="ctr">
              <a:lnSpc>
                <a:spcPct val="112500"/>
              </a:lnSpc>
              <a:spcAft>
                <a:spcPts val="0"/>
              </a:spcAft>
            </a:pPr>
            <a:r>
              <a:rPr sz="1200" b="0">
                <a:solidFill>
                  <a:srgbClr val="475569"/>
                </a:solidFill>
                <a:latin typeface="IBM Plex Sans"/>
              </a:rPr>
              <a:t>DEF 14A from the document registry</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scan-tex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Proposals</a:t>
            </a:r>
          </a:p>
          <a:p>
            <a:pPr algn="ctr">
              <a:lnSpc>
                <a:spcPct val="112500"/>
              </a:lnSpc>
              <a:spcAft>
                <a:spcPts val="0"/>
              </a:spcAft>
            </a:pPr>
            <a:r>
              <a:rPr sz="1200" b="0">
                <a:solidFill>
                  <a:srgbClr val="475569"/>
                </a:solidFill>
                <a:latin typeface="IBM Plex Sans"/>
              </a:rPr>
              <a:t>One extraction pass, citations grounded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book-open.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House rules</a:t>
            </a:r>
          </a:p>
          <a:p>
            <a:pPr algn="ctr">
              <a:lnSpc>
                <a:spcPct val="112500"/>
              </a:lnSpc>
              <a:spcAft>
                <a:spcPts val="0"/>
              </a:spcAft>
            </a:pPr>
            <a:r>
              <a:rPr sz="1200" b="0">
                <a:solidFill>
                  <a:srgbClr val="475569"/>
                </a:solidFill>
                <a:latin typeface="IBM Plex Sans"/>
              </a:rPr>
              <a:t>Ordered predicates on disclosed figures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l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Judgment</a:t>
            </a:r>
          </a:p>
          <a:p>
            <a:pPr algn="ctr">
              <a:lnSpc>
                <a:spcPct val="112500"/>
              </a:lnSpc>
              <a:spcAft>
                <a:spcPts val="0"/>
              </a:spcAft>
            </a:pPr>
            <a:r>
              <a:rPr sz="1200" b="0">
                <a:solidFill>
                  <a:srgbClr val="475569"/>
                </a:solidFill>
                <a:latin typeface="IBM Plex Sans"/>
              </a:rPr>
              <a:t>Only when no rule fires; cited rationale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git-compar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Cross-check</a:t>
            </a:r>
          </a:p>
          <a:p>
            <a:pPr algn="ctr">
              <a:lnSpc>
                <a:spcPct val="112500"/>
              </a:lnSpc>
              <a:spcAft>
                <a:spcPts val="0"/>
              </a:spcAft>
            </a:pPr>
            <a:r>
              <a:rPr sz="1200" b="0">
                <a:solidFill>
                  <a:srgbClr val="475569"/>
                </a:solidFill>
                <a:latin typeface="IBM Plex Sans"/>
              </a:rPr>
              <a:t>Against the engagement record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user-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Decide</a:t>
            </a:r>
          </a:p>
          <a:p>
            <a:pPr algn="ctr">
              <a:lnSpc>
                <a:spcPct val="112500"/>
              </a:lnSpc>
              <a:spcAft>
                <a:spcPts val="0"/>
              </a:spcAft>
            </a:pPr>
            <a:r>
              <a:rPr sz="1200" b="0">
                <a:solidFill>
                  <a:srgbClr val="475569"/>
                </a:solidFill>
                <a:latin typeface="IBM Plex Sans"/>
              </a:rPr>
              <a:t>Every proposal; a co-signer when flagged</a:t>
            </a:r>
          </a:p>
        </p:txBody>
      </p:sp>
      <p:sp>
        <p:nvSpPr>
          <p:cNvPr id="28" name="Rounded Rectangle 27"/>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0" name="Picture 29" descr="lock-0F172A.png"/>
          <p:cNvPicPr>
            <a:picLocks noChangeAspect="1"/>
          </p:cNvPicPr>
          <p:nvPr/>
        </p:nvPicPr>
        <p:blipFill>
          <a:blip r:embed="rId9"/>
          <a:stretch>
            <a:fillRect/>
          </a:stretch>
        </p:blipFill>
        <p:spPr>
          <a:xfrm>
            <a:off x="1041400" y="4413250"/>
            <a:ext cx="152400" cy="152400"/>
          </a:xfrm>
          <a:prstGeom prst="rect">
            <a:avLst/>
          </a:prstGeom>
        </p:spPr>
      </p:pic>
      <p:sp>
        <p:nvSpPr>
          <p:cNvPr id="31" name="TextBox 30"/>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THE GATE</a:t>
            </a:r>
          </a:p>
        </p:txBody>
      </p:sp>
      <p:sp>
        <p:nvSpPr>
          <p:cNvPr id="32" name="TextBox 31"/>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3" name="Rounded Rectangle 32"/>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5" name="Picture 34" descr="send-0F172A.png"/>
          <p:cNvPicPr>
            <a:picLocks noChangeAspect="1"/>
          </p:cNvPicPr>
          <p:nvPr/>
        </p:nvPicPr>
        <p:blipFill>
          <a:blip r:embed="rId10"/>
          <a:stretch>
            <a:fillRect/>
          </a:stretch>
        </p:blipFill>
        <p:spPr>
          <a:xfrm>
            <a:off x="4614333" y="4413250"/>
            <a:ext cx="152400" cy="152400"/>
          </a:xfrm>
          <a:prstGeom prst="rect">
            <a:avLst/>
          </a:prstGeom>
        </p:spPr>
      </p:pic>
      <p:sp>
        <p:nvSpPr>
          <p:cNvPr id="36" name="TextBox 35"/>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CASTING TODAY</a:t>
            </a:r>
          </a:p>
        </p:txBody>
      </p:sp>
      <p:sp>
        <p:nvSpPr>
          <p:cNvPr id="37" name="TextBox 36"/>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writes an instruction file; no voting platform is connected.</a:t>
            </a:r>
          </a:p>
        </p:txBody>
      </p:sp>
      <p:sp>
        <p:nvSpPr>
          <p:cNvPr id="38" name="Rounded Rectangle 37"/>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0" name="Picture 39"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1" name="TextBox 40"/>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2" name="TextBox 41"/>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is idempotent and checkpointed, so a re-run never votes twice.</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37 / 40</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brary-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Answer library</a:t>
            </a:r>
          </a:p>
          <a:p>
            <a:pPr algn="ctr">
              <a:lnSpc>
                <a:spcPct val="112500"/>
              </a:lnSpc>
              <a:spcAft>
                <a:spcPts val="0"/>
              </a:spcAft>
            </a:pPr>
            <a:r>
              <a:rPr sz="1200" b="0">
                <a:solidFill>
                  <a:srgbClr val="475569"/>
                </a:solidFill>
                <a:latin typeface="IBM Plex Sans"/>
              </a:rPr>
              <a:t>Past Word and Excel responses, verbatim</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file-search.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Find questions</a:t>
            </a:r>
          </a:p>
          <a:p>
            <a:pPr algn="ctr">
              <a:lnSpc>
                <a:spcPct val="112500"/>
              </a:lnSpc>
              <a:spcAft>
                <a:spcPts val="0"/>
              </a:spcAft>
            </a:pPr>
            <a:r>
              <a:rPr sz="1200" b="0">
                <a:solidFill>
                  <a:srgbClr val="475569"/>
                </a:solidFill>
                <a:latin typeface="IBM Plex Sans"/>
              </a:rPr>
              <a:t>Kept only where code can locate them</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pen-lin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Auto-fill</a:t>
            </a:r>
          </a:p>
          <a:p>
            <a:pPr algn="ctr">
              <a:lnSpc>
                <a:spcPct val="112500"/>
              </a:lnSpc>
              <a:spcAft>
                <a:spcPts val="0"/>
              </a:spcAft>
            </a:pPr>
            <a:r>
              <a:rPr sz="1200" b="0">
                <a:solidFill>
                  <a:srgbClr val="475569"/>
                </a:solidFill>
                <a:latin typeface="IBM Plex Sans"/>
              </a:rPr>
              <a:t>Drafts from the top 8 library entries only</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shield-check.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a:t>
            </a:r>
          </a:p>
          <a:p>
            <a:pPr algn="ctr">
              <a:lnSpc>
                <a:spcPct val="112500"/>
              </a:lnSpc>
              <a:spcAft>
                <a:spcPts val="0"/>
              </a:spcAft>
            </a:pPr>
            <a:r>
              <a:rPr sz="1200" b="0">
                <a:solidFill>
                  <a:srgbClr val="475569"/>
                </a:solidFill>
                <a:latin typeface="IBM Plex Sans"/>
              </a:rPr>
              <a:t>Quotes grounded; numbers must appear in a source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s.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Four-eyes</a:t>
            </a:r>
          </a:p>
          <a:p>
            <a:pPr algn="ctr">
              <a:lnSpc>
                <a:spcPct val="112500"/>
              </a:lnSpc>
              <a:spcAft>
                <a:spcPts val="0"/>
              </a:spcAft>
            </a:pPr>
            <a:r>
              <a:rPr sz="1200" b="0">
                <a:solidFill>
                  <a:srgbClr val="475569"/>
                </a:solidFill>
                <a:latin typeface="IBM Plex Sans"/>
              </a:rPr>
              <a:t>Approver is not the last editor</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file-output-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Export</a:t>
            </a:r>
          </a:p>
          <a:p>
            <a:pPr algn="ctr">
              <a:lnSpc>
                <a:spcPct val="112500"/>
              </a:lnSpc>
              <a:spcAft>
                <a:spcPts val="0"/>
              </a:spcAft>
            </a:pPr>
            <a:r>
              <a:rPr sz="1200" b="0">
                <a:solidFill>
                  <a:srgbClr val="475569"/>
                </a:solidFill>
                <a:latin typeface="IBM Plex Sans"/>
              </a:rPr>
              <a:t>Approved answers in the investor's own file</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ibrary-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LIBRARY</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flag-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FLAGS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38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datab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Stored outputs</a:t>
            </a:r>
          </a:p>
          <a:p>
            <a:pPr algn="ctr">
              <a:lnSpc>
                <a:spcPct val="112500"/>
              </a:lnSpc>
              <a:spcAft>
                <a:spcPts val="0"/>
              </a:spcAft>
            </a:pPr>
            <a:r>
              <a:rPr sz="1200" b="0">
                <a:solidFill>
                  <a:srgbClr val="475569"/>
                </a:solidFill>
                <a:latin typeface="IBM Plex Sans"/>
              </a:rPr>
              <a:t>Runs and decisions from the catalogue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presentation.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Storyline</a:t>
            </a:r>
          </a:p>
          <a:p>
            <a:pPr algn="ctr">
              <a:lnSpc>
                <a:spcPct val="112500"/>
              </a:lnSpc>
              <a:spcAft>
                <a:spcPts val="0"/>
              </a:spcAft>
            </a:pPr>
            <a:r>
              <a:rPr sz="1200" b="0">
                <a:solidFill>
                  <a:srgbClr val="475569"/>
                </a:solidFill>
                <a:latin typeface="IBM Plex Sans"/>
              </a:rPr>
              <a:t>A drafted plan of slides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person-user-check.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Approve</a:t>
            </a:r>
          </a:p>
          <a:p>
            <a:pPr algn="ctr">
              <a:lnSpc>
                <a:spcPct val="112500"/>
              </a:lnSpc>
              <a:spcAft>
                <a:spcPts val="0"/>
              </a:spcAft>
            </a:pPr>
            <a:r>
              <a:rPr sz="1200" b="0">
                <a:solidFill>
                  <a:srgbClr val="475569"/>
                </a:solidFill>
                <a:latin typeface="IBM Plex Sans"/>
              </a:rPr>
              <a:t>Edit or accept the storyline</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wand-sparkle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Fill and check</a:t>
            </a:r>
          </a:p>
          <a:p>
            <a:pPr algn="ctr">
              <a:lnSpc>
                <a:spcPct val="112500"/>
              </a:lnSpc>
              <a:spcAft>
                <a:spcPts val="0"/>
              </a:spcAft>
            </a:pPr>
            <a:r>
              <a:rPr sz="1200" b="0">
                <a:solidFill>
                  <a:srgbClr val="475569"/>
                </a:solidFill>
                <a:latin typeface="IBM Plex Sans"/>
              </a:rPr>
              <a:t>Each slide filled, linted, fitted, checked</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file-outpu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Render</a:t>
            </a:r>
          </a:p>
          <a:p>
            <a:pPr algn="ctr">
              <a:lnSpc>
                <a:spcPct val="112500"/>
              </a:lnSpc>
              <a:spcAft>
                <a:spcPts val="0"/>
              </a:spcAft>
            </a:pPr>
            <a:r>
              <a:rPr sz="1200" b="0">
                <a:solidFill>
                  <a:srgbClr val="475569"/>
                </a:solidFill>
                <a:latin typeface="IBM Plex Sans"/>
              </a:rPr>
              <a:t>PPTX, PDF and DOCX in the house style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presentatio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Deck or report</a:t>
            </a:r>
          </a:p>
          <a:p>
            <a:pPr algn="ctr">
              <a:lnSpc>
                <a:spcPct val="112500"/>
              </a:lnSpc>
              <a:spcAft>
                <a:spcPts val="0"/>
              </a:spcAft>
            </a:pPr>
            <a:r>
              <a:rPr sz="1200" b="0">
                <a:solidFill>
                  <a:srgbClr val="475569"/>
                </a:solidFill>
                <a:latin typeface="IBM Plex Sans"/>
              </a:rPr>
              <a:t>Re-runnable on fresh pipeline data</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ayout-dashboard-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SUPERSET BI</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layout-template-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TEMPLATES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ingested .pptx template's layouts, colours and fonts are reused.</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39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5" name="Rounded Rectangle 4"/>
          <p:cNvSpPr/>
          <p:nvPr/>
        </p:nvSpPr>
        <p:spPr>
          <a:xfrm>
            <a:off x="812800"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54250"/>
            <a:ext cx="304800" cy="304800"/>
          </a:xfrm>
          <a:prstGeom prst="ellipse">
            <a:avLst/>
          </a:prstGeom>
          <a:solidFill>
            <a:srgbClr val="0F172A"/>
          </a:solidFill>
          <a:ln>
            <a:noFill/>
          </a:ln>
          <a:effectLst/>
        </p:spPr>
        <p:txBody>
          <a:bodyPr rtlCol="0" anchor="ctr"/>
          <a:lstStyle/>
          <a:p>
            <a:pPr algn="ctr"/>
          </a:p>
        </p:txBody>
      </p:sp>
      <p:pic>
        <p:nvPicPr>
          <p:cNvPr id="7" name="Picture 6" descr="code-FFFFFF.png"/>
          <p:cNvPicPr>
            <a:picLocks noChangeAspect="1"/>
          </p:cNvPicPr>
          <p:nvPr/>
        </p:nvPicPr>
        <p:blipFill>
          <a:blip r:embed="rId2"/>
          <a:stretch>
            <a:fillRect/>
          </a:stretch>
        </p:blipFill>
        <p:spPr>
          <a:xfrm>
            <a:off x="1041400" y="2330450"/>
            <a:ext cx="152400" cy="152400"/>
          </a:xfrm>
          <a:prstGeom prst="rect">
            <a:avLst/>
          </a:prstGeom>
        </p:spPr>
      </p:pic>
      <p:sp>
        <p:nvSpPr>
          <p:cNvPr id="8" name="TextBox 7"/>
          <p:cNvSpPr txBox="1"/>
          <p:nvPr/>
        </p:nvSpPr>
        <p:spPr>
          <a:xfrm>
            <a:off x="1371600"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The LLM plans, code computes</a:t>
            </a:r>
          </a:p>
        </p:txBody>
      </p:sp>
      <p:sp>
        <p:nvSpPr>
          <p:cNvPr id="9" name="TextBox 8"/>
          <p:cNvSpPr txBox="1"/>
          <p:nvPr/>
        </p:nvSpPr>
        <p:spPr>
          <a:xfrm>
            <a:off x="965200"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10" name="Rounded Rectangle 9"/>
          <p:cNvSpPr/>
          <p:nvPr/>
        </p:nvSpPr>
        <p:spPr>
          <a:xfrm>
            <a:off x="4385733"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4538133" y="2254250"/>
            <a:ext cx="304800" cy="304800"/>
          </a:xfrm>
          <a:prstGeom prst="ellipse">
            <a:avLst/>
          </a:prstGeom>
          <a:solidFill>
            <a:srgbClr val="16A34A"/>
          </a:solidFill>
          <a:ln>
            <a:noFill/>
          </a:ln>
          <a:effectLst/>
        </p:spPr>
        <p:txBody>
          <a:bodyPr rtlCol="0" anchor="ctr"/>
          <a:lstStyle/>
          <a:p>
            <a:pPr algn="ctr"/>
          </a:p>
        </p:txBody>
      </p:sp>
      <p:pic>
        <p:nvPicPr>
          <p:cNvPr id="12" name="Picture 11" descr="badge-check-FFFFFF.png"/>
          <p:cNvPicPr>
            <a:picLocks noChangeAspect="1"/>
          </p:cNvPicPr>
          <p:nvPr/>
        </p:nvPicPr>
        <p:blipFill>
          <a:blip r:embed="rId3"/>
          <a:stretch>
            <a:fillRect/>
          </a:stretch>
        </p:blipFill>
        <p:spPr>
          <a:xfrm>
            <a:off x="4614333" y="2330450"/>
            <a:ext cx="152400" cy="152400"/>
          </a:xfrm>
          <a:prstGeom prst="rect">
            <a:avLst/>
          </a:prstGeom>
        </p:spPr>
      </p:pic>
      <p:sp>
        <p:nvSpPr>
          <p:cNvPr id="13" name="TextBox 12"/>
          <p:cNvSpPr txBox="1"/>
          <p:nvPr/>
        </p:nvSpPr>
        <p:spPr>
          <a:xfrm>
            <a:off x="4944533"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Every citation is checked</a:t>
            </a:r>
          </a:p>
        </p:txBody>
      </p:sp>
      <p:sp>
        <p:nvSpPr>
          <p:cNvPr id="14" name="TextBox 13"/>
          <p:cNvSpPr txBox="1"/>
          <p:nvPr/>
        </p:nvSpPr>
        <p:spPr>
          <a:xfrm>
            <a:off x="4538133"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5" name="Rounded Rectangle 14"/>
          <p:cNvSpPr/>
          <p:nvPr/>
        </p:nvSpPr>
        <p:spPr>
          <a:xfrm>
            <a:off x="7958667"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8111067" y="2254250"/>
            <a:ext cx="304800" cy="304800"/>
          </a:xfrm>
          <a:prstGeom prst="ellipse">
            <a:avLst/>
          </a:prstGeom>
          <a:solidFill>
            <a:srgbClr val="2563EB"/>
          </a:solidFill>
          <a:ln>
            <a:noFill/>
          </a:ln>
          <a:effectLst/>
        </p:spPr>
        <p:txBody>
          <a:bodyPr rtlCol="0" anchor="ctr"/>
          <a:lstStyle/>
          <a:p>
            <a:pPr algn="ctr"/>
          </a:p>
        </p:txBody>
      </p:sp>
      <p:pic>
        <p:nvPicPr>
          <p:cNvPr id="17" name="Picture 16" descr="users-FFFFFF.png"/>
          <p:cNvPicPr>
            <a:picLocks noChangeAspect="1"/>
          </p:cNvPicPr>
          <p:nvPr/>
        </p:nvPicPr>
        <p:blipFill>
          <a:blip r:embed="rId4"/>
          <a:stretch>
            <a:fillRect/>
          </a:stretch>
        </p:blipFill>
        <p:spPr>
          <a:xfrm>
            <a:off x="8187267" y="2330450"/>
            <a:ext cx="152400" cy="152400"/>
          </a:xfrm>
          <a:prstGeom prst="rect">
            <a:avLst/>
          </a:prstGeom>
        </p:spPr>
      </p:pic>
      <p:sp>
        <p:nvSpPr>
          <p:cNvPr id="18" name="TextBox 17"/>
          <p:cNvSpPr txBox="1"/>
          <p:nvPr/>
        </p:nvSpPr>
        <p:spPr>
          <a:xfrm>
            <a:off x="8517467"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Agents propose, people ratify</a:t>
            </a:r>
          </a:p>
        </p:txBody>
      </p:sp>
      <p:sp>
        <p:nvSpPr>
          <p:cNvPr id="19" name="TextBox 18"/>
          <p:cNvSpPr txBox="1"/>
          <p:nvPr/>
        </p:nvSpPr>
        <p:spPr>
          <a:xfrm>
            <a:off x="8111067"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20" name="Rounded Rectangle 19"/>
          <p:cNvSpPr/>
          <p:nvPr/>
        </p:nvSpPr>
        <p:spPr>
          <a:xfrm>
            <a:off x="812800"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1" name="Oval 20"/>
          <p:cNvSpPr/>
          <p:nvPr/>
        </p:nvSpPr>
        <p:spPr>
          <a:xfrm>
            <a:off x="965200" y="4533900"/>
            <a:ext cx="304800" cy="304800"/>
          </a:xfrm>
          <a:prstGeom prst="ellipse">
            <a:avLst/>
          </a:prstGeom>
          <a:solidFill>
            <a:srgbClr val="0F172A"/>
          </a:solidFill>
          <a:ln>
            <a:noFill/>
          </a:ln>
          <a:effectLst/>
        </p:spPr>
        <p:txBody>
          <a:bodyPr rtlCol="0" anchor="ctr"/>
          <a:lstStyle/>
          <a:p>
            <a:pPr algn="ctr"/>
          </a:p>
        </p:txBody>
      </p:sp>
      <p:pic>
        <p:nvPicPr>
          <p:cNvPr id="22" name="Picture 21" descr="rotate-ccw-FFFFFF.png"/>
          <p:cNvPicPr>
            <a:picLocks noChangeAspect="1"/>
          </p:cNvPicPr>
          <p:nvPr/>
        </p:nvPicPr>
        <p:blipFill>
          <a:blip r:embed="rId5"/>
          <a:stretch>
            <a:fillRect/>
          </a:stretch>
        </p:blipFill>
        <p:spPr>
          <a:xfrm>
            <a:off x="1041400" y="4610100"/>
            <a:ext cx="152400" cy="152400"/>
          </a:xfrm>
          <a:prstGeom prst="rect">
            <a:avLst/>
          </a:prstGeom>
        </p:spPr>
      </p:pic>
      <p:sp>
        <p:nvSpPr>
          <p:cNvPr id="23" name="TextBox 22"/>
          <p:cNvSpPr txBox="1"/>
          <p:nvPr/>
        </p:nvSpPr>
        <p:spPr>
          <a:xfrm>
            <a:off x="1371600"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Resumable runs</a:t>
            </a:r>
          </a:p>
        </p:txBody>
      </p:sp>
      <p:sp>
        <p:nvSpPr>
          <p:cNvPr id="24" name="TextBox 23"/>
          <p:cNvSpPr txBox="1"/>
          <p:nvPr/>
        </p:nvSpPr>
        <p:spPr>
          <a:xfrm>
            <a:off x="965200"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company commits as it finishes; a resume skips what is stored.</a:t>
            </a:r>
          </a:p>
        </p:txBody>
      </p:sp>
      <p:sp>
        <p:nvSpPr>
          <p:cNvPr id="25" name="Rounded Rectangle 24"/>
          <p:cNvSpPr/>
          <p:nvPr/>
        </p:nvSpPr>
        <p:spPr>
          <a:xfrm>
            <a:off x="4385733"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6" name="Oval 25"/>
          <p:cNvSpPr/>
          <p:nvPr/>
        </p:nvSpPr>
        <p:spPr>
          <a:xfrm>
            <a:off x="4538133" y="4533900"/>
            <a:ext cx="304800" cy="304800"/>
          </a:xfrm>
          <a:prstGeom prst="ellipse">
            <a:avLst/>
          </a:prstGeom>
          <a:solidFill>
            <a:srgbClr val="0F172A"/>
          </a:solidFill>
          <a:ln>
            <a:noFill/>
          </a:ln>
          <a:effectLst/>
        </p:spPr>
        <p:txBody>
          <a:bodyPr rtlCol="0" anchor="ctr"/>
          <a:lstStyle/>
          <a:p>
            <a:pPr algn="ctr"/>
          </a:p>
        </p:txBody>
      </p:sp>
      <p:pic>
        <p:nvPicPr>
          <p:cNvPr id="27" name="Picture 26" descr="gauge-FFFFFF.png"/>
          <p:cNvPicPr>
            <a:picLocks noChangeAspect="1"/>
          </p:cNvPicPr>
          <p:nvPr/>
        </p:nvPicPr>
        <p:blipFill>
          <a:blip r:embed="rId6"/>
          <a:stretch>
            <a:fillRect/>
          </a:stretch>
        </p:blipFill>
        <p:spPr>
          <a:xfrm>
            <a:off x="4614333" y="4610100"/>
            <a:ext cx="152400" cy="152400"/>
          </a:xfrm>
          <a:prstGeom prst="rect">
            <a:avLst/>
          </a:prstGeom>
        </p:spPr>
      </p:pic>
      <p:sp>
        <p:nvSpPr>
          <p:cNvPr id="28" name="TextBox 27"/>
          <p:cNvSpPr txBox="1"/>
          <p:nvPr/>
        </p:nvSpPr>
        <p:spPr>
          <a:xfrm>
            <a:off x="4944533"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Batch and run modes</a:t>
            </a:r>
          </a:p>
        </p:txBody>
      </p:sp>
      <p:sp>
        <p:nvSpPr>
          <p:cNvPr id="29" name="TextBox 28"/>
          <p:cNvSpPr txBox="1"/>
          <p:nvPr/>
        </p:nvSpPr>
        <p:spPr>
          <a:xfrm>
            <a:off x="4538133"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Batch mode halves background model cost; cheap, normal or max.</a:t>
            </a:r>
          </a:p>
        </p:txBody>
      </p:sp>
      <p:sp>
        <p:nvSpPr>
          <p:cNvPr id="30" name="Rounded Rectangle 29"/>
          <p:cNvSpPr/>
          <p:nvPr/>
        </p:nvSpPr>
        <p:spPr>
          <a:xfrm>
            <a:off x="7958667"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1" name="Oval 30"/>
          <p:cNvSpPr/>
          <p:nvPr/>
        </p:nvSpPr>
        <p:spPr>
          <a:xfrm>
            <a:off x="8111067" y="4533900"/>
            <a:ext cx="304800" cy="304800"/>
          </a:xfrm>
          <a:prstGeom prst="ellipse">
            <a:avLst/>
          </a:prstGeom>
          <a:solidFill>
            <a:srgbClr val="0F172A"/>
          </a:solidFill>
          <a:ln>
            <a:noFill/>
          </a:ln>
          <a:effectLst/>
        </p:spPr>
        <p:txBody>
          <a:bodyPr rtlCol="0" anchor="ctr"/>
          <a:lstStyle/>
          <a:p>
            <a:pPr algn="ctr"/>
          </a:p>
        </p:txBody>
      </p:sp>
      <p:pic>
        <p:nvPicPr>
          <p:cNvPr id="32" name="Picture 31" descr="factory-FFFFFF.png"/>
          <p:cNvPicPr>
            <a:picLocks noChangeAspect="1"/>
          </p:cNvPicPr>
          <p:nvPr/>
        </p:nvPicPr>
        <p:blipFill>
          <a:blip r:embed="rId7"/>
          <a:stretch>
            <a:fillRect/>
          </a:stretch>
        </p:blipFill>
        <p:spPr>
          <a:xfrm>
            <a:off x="8187267" y="4610100"/>
            <a:ext cx="152400" cy="152400"/>
          </a:xfrm>
          <a:prstGeom prst="rect">
            <a:avLst/>
          </a:prstGeom>
        </p:spPr>
      </p:pic>
      <p:sp>
        <p:nvSpPr>
          <p:cNvPr id="33" name="TextBox 32"/>
          <p:cNvSpPr txBox="1"/>
          <p:nvPr/>
        </p:nvSpPr>
        <p:spPr>
          <a:xfrm>
            <a:off x="8517467"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Software factory</a:t>
            </a:r>
          </a:p>
        </p:txBody>
      </p:sp>
      <p:sp>
        <p:nvSpPr>
          <p:cNvPr id="34" name="TextBox 33"/>
          <p:cNvSpPr txBox="1"/>
          <p:nvPr/>
        </p:nvSpPr>
        <p:spPr>
          <a:xfrm>
            <a:off x="8111067"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Acceptance tables, hidden tests, mutation checks, a main guard.</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