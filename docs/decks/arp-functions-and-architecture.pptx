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row: what ARP can do. Find and extract builds the company universe and pulls cited figures out of disclosures, up to about 4,000 companies per run. Analyse and decide turns those figures into portfolio and climate analytics, scored decisions, indices, backtests and reports.</a:t>
            </a:r>
          </a:p>
          <a:p/>
          <a:p>
            <a:r>
              <a:t>Bottom row: why the output is defensible. First, the LLM only plans, drafts and proposes; every number is computed by deterministic code. Second, every citation is re-checked by code against the original document, and a verifier on a different model checks the extractor. Third, nothing counts until a named person ratifies it: review queues, four-eyes approval, versioned and effective-dated frameworks.</a:t>
            </a:r>
          </a:p>
          <a:p/>
          <a:p>
            <a:r>
              <a:t>Footer: the engine underneath. Postgres is the system of record, every run is checkpointed and resumable, per-company flows are LangGraph state graphs, and the API, CLI and UI all call the same pipelines.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end-to-end stewardship process in six stages. A, the strategic foundation: spot emerging themes, define the activities and taxonomy, develop positions, set standards, and build the data framework and scoring. B: monitor portfolio companies, assess transition plans and sector barriers, and select companies by their gaps against the standards. C, engagement: prepare with the historical record, assessments and news; send individual letters, emails and invitations; document the meeting afterwards. D: monitor the company's progress, find and verify evidence, and propose escalation. E: analyse voting proposals from public information and apply voting controls. F: answer RFPs and disclose. The next two slides show what ARP does for each step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built and running on real data. Partly: built in part, or running on the synthetic sample until real feeds exist. Specified: an approved design that is not built yet. Status as of 26 October 2026, from the code on main: Steward Workflow labels each stage live, sample or not built. Sending letters stays with a person by design: no code path sends anything to a company. The stall sweep runs when someone starts it, not on a schedule. Vote analysis reads US DEF 14A filings only; there is no meeting calendar yet. Standards (A4) are an approved spec, so selection by gaps against standards (B3) waits on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built and running on real data. Partly: built in part, or running on the synthetic sample until real feeds exist. Specified: an approved design that is not built yet. Status as of 26 October 2026, from the code on main: Steward Workflow labels each stage live, sample or not built. Sending letters stays with a person by design: no code path sends anything to a company. The stall sweep runs when someone starts it, not on a schedule. Vote analysis reads US DEF 14A filings only; there is no meeting calendar yet. Standards (A4) are an approved spec, so selection by gaps against standards (B3) waits on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is organised around how the team works, not around functions. Five workspaces mirror the business: Argus for cited data extraction and scoring, Transition Intelligence for monthly holdings monitoring and climate review, the R&amp;D Lab for themes, strategies and indices, StewardIQ for engagement, proxy voting and client reporting, and Data Hub for feeds and the security master. A process is a path through existing screens; the workspace page holds the order, the handoffs and the live status of each step.</a:t>
            </a:r>
          </a:p>
          <a:p/>
          <a:p>
            <a:r>
              <a:t>Across all of them: Needs you lists everything waiting on a person, oldest first. Ask ARP (Ctrl or Cmd J) answers plain-language questions through read-only tools. Output holds reports and the output catalogue, which shows what has already used each stored result.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figures typed in from annual reports, or bought as vendor scores, come without a page reference. Nobody can check them quickly, and doing it by hand does not scale to thousands of companies.</a:t>
            </a:r>
          </a:p>
          <a:p/>
          <a:p>
            <a:r>
              <a:t>Argus answers with cited extraction: every value carries its quote and page, a verifier on a different model re-reads it, and anything uncertain goes to a person. XBRL facts are stored as the company filed them.</a:t>
            </a:r>
          </a:p>
          <a:p/>
          <a:p>
            <a:r>
              <a:t>Opportunities, as proposals: stewardship can quote the company's own disclosure in letters and vote rationales; product teams can define fund eligibility as a ratified Decision Studio template; and on data licences, figures from public reports and filings can be used to check a licensed vendor field, which the climate validation already does for emissions.</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value Argus stores goes through the same chain. Code picks the evidence passages with BM25 and embeddings. The extractor returns the value with unit, period and a verbatim quote. A verifier on a different model extracts again without seeing the first answer; a value counts only when the two agree. Code checks that the quote exists on the cited page and that the number, unit, scale and period hold: the model's word is never enough. Values that fail text grounding get a page-image check. Anything that is not auto-accepted goes to a person, with the cited span boxed on the PDF page. Below the chain: the same flow as the Extraction screen shows it.</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run, made for this deck on 26 October 2026, with the built-in green capex preset: total capex, green capex, green capex share and EU Taxonomy-aligned capex, all high-risk fields, so every value goes to review. ARP fetched Signify's latest annual report from the ESEF filing index by its LEI. It found, for 2025, EUR 230.5 million total capex, of which EUR 211.5 million Taxonomy-eligible and EUR 101.4 million Taxonomy-aligned, quoted from page 25 of 89 and grounded exactly. The prior-period check flagged the jump from EUR 40.1 million in 2024. Two prior-year values quoted only as bare numbers failed grounding and are marked not verified. The run cost about 53 US cents and ran as a trial because the demo schema was not released by an approver.</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holdings, ESG data and climate research live in different places. A breach or a controversy is noticed late, and the annual climate review is assembled by hand each time.</a:t>
            </a:r>
          </a:p>
          <a:p/>
          <a:p>
            <a:r>
              <a:t>Transition Intelligence runs monthly monitoring, which is blocked rather than guessed when the month's holdings or ESG loads are not good, and a climate transition review: risk monitoring, transition barriers, transition plan, Decision Studio, selection for engagement, reports.</a:t>
            </a:r>
          </a:p>
          <a:p/>
          <a:p>
            <a:r>
              <a:t>Opportunities, as proposals: alerts become stewardship triggers with owners; climate-labelled products get holding-level and sector-level evidence; and because every provider source is tagged internal_only or redistributable, licence limits are enforced in code: internal-only facts can be shown internally but never published.</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barrier matrix shows the approach at its clearest. The owner signs a rule book that says, for each criterion, which facts are needed and what makes it high, moderate or low feasibility. A model reads each fact from the official sources, and code checks the value, unit and quote. A three-valued rules engine derives the rating, and a named person ratifies it. The EUR-Lex refresh only proposes changes.</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a new theme or strategy usually starts in a spreadsheet. The boundary of the theme moves with each analyst, backtests are fitted to the past, and once a product launches it is hard to show which evidence it rests on.</a:t>
            </a:r>
          </a:p>
          <a:p/>
          <a:p>
            <a:r>
              <a:t>The R&amp;D Lab connects emerging themes, the taxonomy library, the thematic universe, Decision Studio and index construction, and strategy replication with out-of-sample tests and overfitting checks.</a:t>
            </a:r>
          </a:p>
          <a:p/>
          <a:p>
            <a:r>
              <a:t>Opportunities, as proposals: the theme dossier's planned step 5 links a product's position to stewardship flags; index products can be composed from presets and stay reproducible because calibrations are effective-dated; and house methodologies and taxonomies are the firm's own work, while some reference data, such as GICS below sector level, needs a licence.</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construction composes a methodology from named rules: ordered screens, one selection rule, a weighting scheme, bounded tilts, a capping waterfall and the EU Paris-aligned or climate transition benchmark trajectory. Presets expand into ordinary editable rules. Every stage writes a trace line, which is the committee's funnel and the audit trail. Calibrations are versioned and effective-dated, and optional solvers are never trusted: every constraint is re-checked in Python.</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stewardship work is scattered across emails, notes and spreadsheets. It is hard to show who owns an issue, what a company committed to, and why a vote went the way it did.</a:t>
            </a:r>
          </a:p>
          <a:p/>
          <a:p>
            <a:r>
              <a:t>StewardIQ keeps one engagement record per company with milestone stages and an escalation ladder, runs proxy voting with house rules before any model judgment and a person deciding every proposal, and produces client reports.</a:t>
            </a:r>
          </a:p>
          <a:p/>
          <a:p>
            <a:r>
              <a:t>Opportunities, as proposals: votes and engagements reinforce each other on one record; client reporting already separates house activity from where a client policy differed, which can support client-specific mandates; the client-overlay operating model is a target design and only partly built. On licences, proxy statements come from EDGAR, while vote data from an external provider would carry that provider's terms.</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Steward Workflow draws the stewardship process as one graph: monitoring, selection, drafting, voting, the checkpoint and tracking for the house, with client policy and reporting as an overlay that stores only where a client differs. House and client rules are decision graphs on one engine. Escalation rules propose a ladder step that the issuer's coverage tier caps, and every metric shows whether it is live, sample or not built.</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every tool tends to map securities to issuers in its own way, and a feed that stopped loading is only noticed when a number looks wrong.</a:t>
            </a:r>
          </a:p>
          <a:p/>
          <a:p>
            <a:r>
              <a:t>Data Hub holds the security master, the golden source for issuer identity, loaded only by approvers and matched exactly by LEI, ISIN or CIK, never by name. Feeds shows each input's data date and whether it is behind; Issues lists every open data problem, blocking first; Outputs is the catalogue of stored results with what has used them.</a:t>
            </a:r>
          </a:p>
          <a:p/>
          <a:p>
            <a:r>
              <a:t>Opportunities, as proposals: stewardship evidence and holdings point at the same issuer; product teams can trace which inputs a product uses; and the licence tag on each provider source makes reuse limits visible up front.</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Hub keeps the inputs honest. The security master maps every held security to exactly one issuer by LEI, ISIN or CIK, and nothing is matched by name. Feeds shows each input's data date and flags it as behind. Issues lists every open data problem, blocking first, with feed and master problems ahead of the check failures they may cause, and each row links to where it is fixed. Provider sources carry a licence tag, and internal-only data is refused by the publish path.</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Interfaces: the React UI, the FastAPI backend and the Typer CLI call the same pipeline functions; the CLI is the headless path for large batches. Superset serves dashboards from read-only bi views.</a:t>
            </a:r>
          </a:p>
          <a:p/>
          <a:p>
            <a:r>
              <a:t>Orchestration: every run type is checkpointed in Postgres. Each company's result commits in one transaction as it finishes, so a resume skips what is stored; cancel is cooperative. Background runs can use the Batch API at about half the model cost.</a:t>
            </a:r>
          </a:p>
          <a:p/>
          <a:p>
            <a:r>
              <a:t>Pipelines: each per-company multi-step flow is an explicit LangGraph state graph; batch fan-out stays outside the graphs. New data points are added as extraction presets, not new pipelines.</a:t>
            </a:r>
          </a:p>
          <a:p/>
          <a:p>
            <a:r>
              <a:t>Shared services: one narrow LLM interface with schema-forced output, a validation-retry loop and a response cache, now with Claude and Gemini models; run modes cheap, normal and max always pair an extractor with a verifier on a different model. LlamaIndex BM25 plus local embeddings select evidence; grounding re-verifies every citation independently.</a:t>
            </a:r>
          </a:p>
          <a:p/>
          <a:p>
            <a:r>
              <a:t>Storage and compute: Postgres with pgvector is required. Facts move through an insert-only ledger and are published by an approver, then read as of a date. PDF parsing, reranking and embeddings can run on Cloud Run GPUs and fall back to local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rules that hold across the code and the screens. The first three are the principles from the cover. Structured data first: XBRL facts, catalogue mappings and house voting rules resolve what they can before any model judgment. Not found is an answer: no evidence ends in an explicit not-found. Versioned and dated: decision frameworks, index calibrations and published facts are effective-dated and read as of a date. Resumable at scale: every run is checkpointed in Postgres. One signal colour: in the app, one colour means a person must act, and nothing else uses it. Processes, not pages: each workspace step names what it hands to the next, and manual handoffs are drawn as gaps.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robots are grouped by job. Read and extract: the field extractor runs any schema; proxy proposals, transition-plan lists, barrier facts and RFP questions have their own readers. Check and judge: a blind verifier on a different model, an adjudicator for disagreements, a page-image check, and the advocate, opposing and adjudicator debate for theme exposure. Classify and map: one identity call where lookups do not settle it, vote policy judgment when no house rule fires, a news risk classifier and the sector mappers. Draft and write: engagement dossiers and letters, the context brief and research note, the deck storyline and slide filler, and RFP answers drafted only from approved library entries. Ask and plan: the Ask ARP router, Portfolio Q&amp;A and Smart Search, which write a query or filter that code runs, and the BI chart planner. Standing agents run on a schedule and only propose. Several parts are deliberately model-free.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covers everything that turns a list of companies into cited, reviewed facts: who the company is, where its reports are, what they say, and how a theme, a transition plan or a value chain connects to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Argus is the process most people start with. The universe page maps every company through the security master by exact identifier and shows what ARP already holds for it: identity, documents, extraction runs and XBRL files. It starts no run itself.</a:t>
            </a:r>
          </a:p>
          <a:p/>
          <a:p>
            <a:r>
              <a:t>The simplified Argus flow has a start page with a live process view, everyone's runs and what is waiting for you, and draft flows saved on the server. Step 1, Companies, is built; documents, schema, extract and results still hand over to the existing Extraction screens until the next slices land.</a:t>
            </a:r>
          </a:p>
          <a:p/>
          <a:p>
            <a:r>
              <a:t>Run modes choose the model pair, the number of evidence passages and the review threshold. The extractor and the verifier are always different models.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master is the golden source for issuer identity: exact matching only, nothing by name, and nothing assigned by hand. Where the master does not know the company, identifier lookups come first: GLEIF fills a missing LEI from the ISIN, EDGAR resolves by CIK.</a:t>
            </a:r>
          </a:p>
          <a:p/>
          <a:p>
            <a:r>
              <a:t>Only the rows no lookup settles reach the one adjudication call, which picks from real EDGAR and GLEIF candidates. Its answer is then checked in code against those signals, so an invented website or CIK cannot survive. Uncertain and unresolved are routing decisions to the review queue, not a softened resolved.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returns each company's latest annual report and sustainability report. A live test in October found reports for only 2 of 10 large European companies, because many sites block cloud servers and report pages carry hundreds of PDFs, often on other hosts.</a:t>
            </a:r>
          </a:p>
          <a:p/>
          <a:p>
            <a:r>
              <a:t>So the order is: an ESEF filing first, then a direct search for the PDF, then a crawl that seeds from the sitemap and ranks the best two candidates. A downloaded PDF that does not name the company goes to review. Manual uploads and crawler downloads land in the same document store.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comes first: a wrong value that goes out unreviewed is the worst outcome, and 'needs review' is an acceptable answer. Metrics (a number with unit, scale and period) and criteria (a yes/no verdict against a written criterion) now share one engine, so every schema gets the same guarantees.</a:t>
            </a:r>
          </a:p>
          <a:p/>
          <a:p>
            <a:r>
              <a:t>A value is auto-accepted only when its quote is grounded in the passages the model saw, the number appears in that quote and passes the unit, scale and period checks, and a blind second extraction on a different model agrees. Values that fail text grounding get a page-image check, and reviewers see the cited span boxed on the PDF page.</a:t>
            </a:r>
          </a:p>
          <a:p/>
          <a:p>
            <a:r>
              <a:t>Schema rules are small typed conditions; an agent suggests them for drafted schemas and the owner accepts them. A failing rule only flags the value. The golden set replays the real pipeline before a prompt or model change ships, and runs in CI.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Company financials pull business segments, total capex and R&amp;D in a single combined pass per company, each figure with a grounded description of what it funds. Where a company files XBRL, the tagged totals resolve capex and R&amp;D ahead of the model.</a:t>
            </a:r>
          </a:p>
          <a:p/>
          <a:p>
            <a:r>
              <a:t>XBRL Facts is a separate function. It downloads each company's SEC companyfacts and latest 10-K, or for EU companies the latest ESEF annual report from filings.xbrl.org, routed by country, ISIN prefix or identifiers. It extracts every tagged fact and can verify an extraction run against the filer's own tagged values; a run that copied XBRL is refused.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Library holds reusable, versioned theme definitions: industry-anchored, authority-source, empirical, news and transcript mining, or ETF holdings, plus compare and merge and NACE, NAICS, SIC and GICS crosswalks. A person ratifies a version before it is used.</a:t>
            </a:r>
          </a:p>
          <a:p/>
          <a:p>
            <a:r>
              <a:t>Each company and activity goes down a cascade: a confirmed revenue or capex catalogue mapping resolves by arithmetic; otherwise grounded extraction with the schema generated from the ratified taxonomy (revenue, capex, opex and R&amp;D shares); only if both are empty, the Advocate, Opposing and Adjudicator debate. All paths band the same way, so a verdict means the same thing whichever path produced it.</a:t>
            </a:r>
          </a:p>
          <a:p/>
          <a:p>
            <a:r>
              <a:t>Exposure layers add value-chain exposure: layer 1 own revenue share, layer 2 revenue from exposed customers one or two hops up, decayed per hop. Layer 3 has no data source yet.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Emerging Themes Scanner finds candidates bottom-up from EDGAR full-text search, GDELT and regulatory RSS, with cluster lineage across periods and an action-score gate: corporate action, not mention counts.</a:t>
            </a:r>
          </a:p>
          <a:p/>
          <a:p>
            <a:r>
              <a:t>The dossier keeps one record per theme. It stores links and decisions only; each step's state is derived when it is read. The context brief computes every count in code; one model call writes the wording and any sentence that cites no evidence is dropped. The research note: the model proposes sources from intergovernmental bodies, official statistics, central banks and regulators, and academia; the owner approves the plan; the note is written only from those sources and approved again.</a:t>
            </a:r>
          </a:p>
          <a:p/>
          <a:p>
            <a:r>
              <a:t>Step 5 is specified but not built: research item, position paragraph, standard, data point, and a StewardIQ flag.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walk-versus-talk assessment replicates Colesanti Senni, Schimanski, Bingler, Ni and Leippold (2024): 64 fixed indicators across target, governance, strategy and tracking. Since 21 October it runs as the transition_plan_indicators preset on the shared extraction engine; the dedicated pipeline was retired, old runs stay readable, and Decision Studio columns are unchanged.</a:t>
            </a:r>
          </a:p>
          <a:p/>
          <a:p>
            <a:r>
              <a:t>Transition plan alignment then reads the plan as a list of actions and checks it in code: low-carbon capex share against the sector benchmark, each action against the barrier criteria that limit it in its region, delivery against targets and phase-outs, five ACT consistency flags and nine sector delivery KPIs. Each flag is raised, clear or not checked; they are never combined into one score. The result shows in the Transition section of the company page.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barrier assessment answers a question upstream of every company judgment: how feasible is decarbonisation in this sector and region at all. H means more feasible. Each cell carries a rating, a confidence tier, its evidence, sources and the date it was last verified; today 24 H, 49 M and 32 L.</a:t>
            </a:r>
          </a:p>
          <a:p/>
          <a:p>
            <a:r>
              <a:t>The owner-signed rule book (version 2) lists the facts each criterion needs and the conditions for H, M and L. Facts are extracted from fetched sources with the model, then checked in code; a three-valued rules engine derives the rating, and a named person ratifies it. The EUR-Lex refresh finds unchanged evidence, drift or rating-change candidates and only ever proposes.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indirect exposure tier is a structural, quantitative read on supply-chain exposure for companies whose own disclosures stay silent. ICIO 2025 gives 50 industries; EXIOBASE 3 adds 163 sectors mapped onto them, with emissions and an electricity split.</a:t>
            </a:r>
          </a:p>
          <a:p/>
          <a:p>
            <a:r>
              <a:t>The only model calls are classification around the maths: choosing a theme's core sectors, and a company's industry code when the universe file does not supply one. Above the threshold, a company with no direct evidence is queued for review instead of dropped.</a:t>
            </a:r>
          </a:p>
          <a:p/>
          <a:p>
            <a:r>
              <a:t>The R&amp;D Lab's Value Chain Explorer browses the full EXIOBASE table, 7,987 nodes, with a node page, an upstream tree and footprints for CO2e, energy and jobs. It has no model in it by design.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covers what happens to the facts: monitoring and climate analytics, scoring and tiering, index construction, strategy research, stewardship and client work. Everywhere in this part the model may plan, draft or route; it never produces a number.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Holdings arrive monthly and are mapped to issuers through the security master; an unmatched security is listed in Data Hub and fixed there. For each issuer, values come from a cascade: what extraction already read from the company's own report, an exposure result, a supplied catalogue row, or missing, reported against coverage.</a:t>
            </a:r>
          </a:p>
          <a:p/>
          <a:p>
            <a:r>
              <a:t>The monthly monitoring run raises portfolio alerts, then stewardship triggers. It is blocked unless that month's holdings and ESG loads are good. Ask the Portfolio lets the model draft a query spec; the engine returns the number with the spec beside it. Dashboards are Superset, embedded in the app, including a provisioned exposure dashboard with fund, sector and country filters.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Studio has two separate entry points: derivation looks at the data and proposes rules; application takes rules and produces decisions. A ratified framework can therefore be applied to next quarter's snapshot unchanged, which is the only way period-on-period movement means anything. Applying a framework never changes it.</a:t>
            </a:r>
          </a:p>
          <a:p/>
          <a:p>
            <a:r>
              <a:t>Criteria are normalised within peer cohorts, correlated criteria are grouped, direction is inferred and flagged where it is a guess, a sufficiency gate precedes scoring and hard gates resolve before the average. Every entity carries its rank range across four specifications. Scoring templates connect it to Argus, so extraction results can be tiered directly.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index methodology is composed from named rules: ordered screens, one selection rule (best-in-class to a coverage target with hysteresis buffers, an absolute threshold, or top-N), a weighting scheme, bounded tilts, a deterministic capping waterfall and the path-dependent EU Paris-aligned or climate-transition benchmark trajectory. Presets expand into ordinary editable rules.</a:t>
            </a:r>
          </a:p>
          <a:p/>
          <a:p>
            <a:r>
              <a:t>Each stage appends a trace line with counts in and out and the names dropped; that trace is both the committee's funnel and the audit trail. The optional optimiser can project, minimise tracking error or maximise score under a budget, but a solver's own 'optimal' is never taken as proof.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Strategy replication reduces a strategy paper to an executable spec, then backtests it deterministically in and out of sample, with the deflated Sharpe ratio, the probability of backtest overfitting via purged and embargoed combinatorial cross-validation, and regime stratification.</a:t>
            </a:r>
          </a:p>
          <a:p/>
          <a:p>
            <a:r>
              <a:t>The Signals workbench in the R&amp;D Lab tests whether text and market data predict returns honestly: a point-in-time text store, a map of model training cutoffs to catch look-ahead, rank information coefficients and an experiment registry. Two experiments can be compared, and a person records graduate or shelve.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Engagement keeps one record per company: identified, contacted, dialogue opened, response received, commitment made, commitment verified. The controller decides what should happen next as a pure function; it never calls an agent itself, so a scheduler can be added without touching the rules.</a:t>
            </a:r>
          </a:p>
          <a:p/>
          <a:p>
            <a:r>
              <a:t>The research agent drafts a grounded dossier that a person checks before drafting. Only a validated meeting summary writes commitments, and it needs validated_by. Escalation needs decided_by, and no code path sends anything to a company. The stall sweep runs on demand from the CLI or API, with 45 days as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Proxy voting extracts each ballot's proposals in one grounded pass, applies the house rules first (ordered, deterministic predicates on the disclosed figures, for example voting against an auditor when non-audit fees exceed half the audit fee), and asks the model for a cited judgment only when no rule fires.</a:t>
            </a:r>
          </a:p>
          <a:p/>
          <a:p>
            <a:r>
              <a:t>A cross-check against the engagement record flags a vote that contradicts an escalation. Every proposal is reviewed, with no confidence threshold that skips one. The gate is in the casting code itself, so an unauthorised vote cannot reach a platform integration whatever upstream code does.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RFP answers starts from a library of past responses, imported as question and answer pairs stored verbatim. For an incoming questionnaire the model finds the questions, and code keeps only those it can locate in the file. Drafts are built only from the eight best-matching library entries; every quote is grounded and every number must appear in a cited entry or the question, otherwise the draft is discarded.</a:t>
            </a:r>
          </a:p>
          <a:p/>
          <a:p>
            <a:r>
              <a:t>Analysts edit, assign or leave questions blank. An approver who is not the question's last editor approves each answer and confirms every flag. The export writes the approved answers into a copy of the investor's original file and reports how many remain unapproved.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model call drafts a report plan; deterministic renderers emit PPTX, DOCX and PDF. House decks draft a storyline for a person to approve, then fill, lint, fit and visually check each slide in the app's own design system, and can be re-run on fresh data.</a:t>
            </a:r>
          </a:p>
          <a:p/>
          <a:p>
            <a:r>
              <a:t>The Superset BI designer turns a description into an unpublished dashboard draft. A closed catalogue of datasets and metrics bounds the plan, a validator rejects anything outside it, and Superset reads only the bi views over Postgres, so company facts are the reviewed ones. A person publishes.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principles are enforced by the shape of the code, not by policy. No model sits inside an aggregate, score, index weight or backtest. Every citation is re-verified against the source in code, and an independent verifier on a different model checks each extraction. Agents propose and people ratify: review queues, four-eyes approval for RFP answers and flagged votes, owner-signed rule books and benchmarks, and approver-only publishing into an insert-only fact ledger read as of a date.</a:t>
            </a:r>
          </a:p>
          <a:p/>
          <a:p>
            <a:r>
              <a:t>Standing agents, the Taxonomy Researcher and the Calibration Agent, run on a schedule and only propose changes for review.</a:t>
            </a:r>
          </a:p>
          <a:p/>
          <a:p>
            <a:r>
              <a:t>Underneath: runs are checkpointed per company and resumable, background runs can use the Batch API at about half the model cost, and every change goes through the software factory: specs with acceptance tables, hidden holdout tests, mutation checks, a golden set for model changes, and a main guard that proposes a revert when main goes 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5.pn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2.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28.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9.png"/><Relationship Id="rId4" Type="http://schemas.openxmlformats.org/officeDocument/2006/relationships/image" Target="../media/image5.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 Id="rId8" Type="http://schemas.openxmlformats.org/officeDocument/2006/relationships/image" Target="../media/image19.png"/><Relationship Id="rId9" Type="http://schemas.openxmlformats.org/officeDocument/2006/relationships/image" Target="../media/image63.png"/><Relationship Id="rId10" Type="http://schemas.openxmlformats.org/officeDocument/2006/relationships/image" Target="../media/image64.png"/><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37.png"/><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28.png"/><Relationship Id="rId7" Type="http://schemas.openxmlformats.org/officeDocument/2006/relationships/image" Target="../media/image32.png"/><Relationship Id="rId8" Type="http://schemas.openxmlformats.org/officeDocument/2006/relationships/image" Target="../media/image72.png"/><Relationship Id="rId9" Type="http://schemas.openxmlformats.org/officeDocument/2006/relationships/image" Target="../media/image73.png"/><Relationship Id="rId10" Type="http://schemas.openxmlformats.org/officeDocument/2006/relationships/image" Target="../media/image74.png"/><Relationship Id="rId11" Type="http://schemas.openxmlformats.org/officeDocument/2006/relationships/image" Target="../media/image75.png"/><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png"/><Relationship Id="rId4" Type="http://schemas.openxmlformats.org/officeDocument/2006/relationships/image" Target="../media/image50.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image" Target="../media/image80.png"/><Relationship Id="rId9" Type="http://schemas.openxmlformats.org/officeDocument/2006/relationships/image" Target="../media/image81.png"/><Relationship Id="rId10" Type="http://schemas.openxmlformats.org/officeDocument/2006/relationships/image" Target="../media/image82.png"/><Relationship Id="rId11" Type="http://schemas.openxmlformats.org/officeDocument/2006/relationships/image" Target="../media/image75.png"/><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7.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90.png"/><Relationship Id="rId11" Type="http://schemas.openxmlformats.org/officeDocument/2006/relationships/image" Target="../media/image75.png"/><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7.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2.png"/><Relationship Id="rId9" Type="http://schemas.openxmlformats.org/officeDocument/2006/relationships/image" Target="../media/image92.png"/><Relationship Id="rId10" Type="http://schemas.openxmlformats.org/officeDocument/2006/relationships/image" Target="../media/image93.png"/><Relationship Id="rId11" Type="http://schemas.openxmlformats.org/officeDocument/2006/relationships/image" Target="../media/image75.pn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7.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79.png"/><Relationship Id="rId8" Type="http://schemas.openxmlformats.org/officeDocument/2006/relationships/image" Target="../media/image97.png"/><Relationship Id="rId9" Type="http://schemas.openxmlformats.org/officeDocument/2006/relationships/image" Target="../media/image98.png"/><Relationship Id="rId10" Type="http://schemas.openxmlformats.org/officeDocument/2006/relationships/image" Target="../media/image99.png"/><Relationship Id="rId11" Type="http://schemas.openxmlformats.org/officeDocument/2006/relationships/image" Target="../media/image75.pn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7.png"/><Relationship Id="rId4" Type="http://schemas.openxmlformats.org/officeDocument/2006/relationships/image" Target="../media/image101.png"/><Relationship Id="rId5" Type="http://schemas.openxmlformats.org/officeDocument/2006/relationships/image" Target="../media/image102.png"/><Relationship Id="rId6" Type="http://schemas.openxmlformats.org/officeDocument/2006/relationships/image" Target="../media/image28.png"/><Relationship Id="rId7" Type="http://schemas.openxmlformats.org/officeDocument/2006/relationships/image" Target="../media/image103.png"/><Relationship Id="rId8"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image" Target="../media/image75.pn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7.png"/><Relationship Id="rId4" Type="http://schemas.openxmlformats.org/officeDocument/2006/relationships/image" Target="../media/image108.png"/><Relationship Id="rId5" Type="http://schemas.openxmlformats.org/officeDocument/2006/relationships/image" Target="../media/image32.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83.png"/><Relationship Id="rId9" Type="http://schemas.openxmlformats.org/officeDocument/2006/relationships/image" Target="../media/image105.png"/><Relationship Id="rId10" Type="http://schemas.openxmlformats.org/officeDocument/2006/relationships/image" Target="../media/image111.png"/><Relationship Id="rId11" Type="http://schemas.openxmlformats.org/officeDocument/2006/relationships/image" Target="../media/image112.png"/><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7.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image" Target="../media/image118.png"/><Relationship Id="rId10" Type="http://schemas.openxmlformats.org/officeDocument/2006/relationships/image" Target="../media/image119.png"/><Relationship Id="rId11" Type="http://schemas.openxmlformats.org/officeDocument/2006/relationships/image" Target="../media/image75.png"/><Relationship Id="rId1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 Id="rId3" Type="http://schemas.openxmlformats.org/officeDocument/2006/relationships/image" Target="../media/image7.png"/><Relationship Id="rId4" Type="http://schemas.openxmlformats.org/officeDocument/2006/relationships/image" Target="../media/image121.png"/><Relationship Id="rId5" Type="http://schemas.openxmlformats.org/officeDocument/2006/relationships/image" Target="../media/image28.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122.png"/><Relationship Id="rId9" Type="http://schemas.openxmlformats.org/officeDocument/2006/relationships/image" Target="../media/image90.png"/><Relationship Id="rId10" Type="http://schemas.openxmlformats.org/officeDocument/2006/relationships/image" Target="../media/image123.png"/><Relationship Id="rId11" Type="http://schemas.openxmlformats.org/officeDocument/2006/relationships/image" Target="../media/image75.png"/><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7.png"/><Relationship Id="rId4" Type="http://schemas.openxmlformats.org/officeDocument/2006/relationships/image" Target="../media/image125.png"/><Relationship Id="rId5" Type="http://schemas.openxmlformats.org/officeDocument/2006/relationships/image" Target="../media/image126.png"/><Relationship Id="rId6" Type="http://schemas.openxmlformats.org/officeDocument/2006/relationships/image" Target="../media/image127.png"/><Relationship Id="rId7" Type="http://schemas.openxmlformats.org/officeDocument/2006/relationships/image" Target="../media/image128.png"/><Relationship Id="rId8" Type="http://schemas.openxmlformats.org/officeDocument/2006/relationships/image" Target="../media/image129.png"/><Relationship Id="rId9" Type="http://schemas.openxmlformats.org/officeDocument/2006/relationships/image" Target="../media/image130.png"/><Relationship Id="rId10" Type="http://schemas.openxmlformats.org/officeDocument/2006/relationships/image" Target="../media/image131.png"/><Relationship Id="rId11" Type="http://schemas.openxmlformats.org/officeDocument/2006/relationships/image" Target="../media/image75.png"/><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7.png"/><Relationship Id="rId4" Type="http://schemas.openxmlformats.org/officeDocument/2006/relationships/image" Target="../media/image52.png"/><Relationship Id="rId5" Type="http://schemas.openxmlformats.org/officeDocument/2006/relationships/image" Target="../media/image125.png"/><Relationship Id="rId6" Type="http://schemas.openxmlformats.org/officeDocument/2006/relationships/image" Target="../media/image51.png"/><Relationship Id="rId7" Type="http://schemas.openxmlformats.org/officeDocument/2006/relationships/image" Target="../media/image67.png"/><Relationship Id="rId8" Type="http://schemas.openxmlformats.org/officeDocument/2006/relationships/image" Target="../media/image133.png"/><Relationship Id="rId9" Type="http://schemas.openxmlformats.org/officeDocument/2006/relationships/image" Target="../media/image134.png"/><Relationship Id="rId10" Type="http://schemas.openxmlformats.org/officeDocument/2006/relationships/image" Target="../media/image135.png"/><Relationship Id="rId11" Type="http://schemas.openxmlformats.org/officeDocument/2006/relationships/image" Target="../media/image75.png"/><Relationship Id="rId1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png"/><Relationship Id="rId3" Type="http://schemas.openxmlformats.org/officeDocument/2006/relationships/image" Target="../media/image7.png"/><Relationship Id="rId4" Type="http://schemas.openxmlformats.org/officeDocument/2006/relationships/image" Target="../media/image137.png"/><Relationship Id="rId5" Type="http://schemas.openxmlformats.org/officeDocument/2006/relationships/image" Target="../media/image138.png"/><Relationship Id="rId6" Type="http://schemas.openxmlformats.org/officeDocument/2006/relationships/image" Target="../media/image40.png"/><Relationship Id="rId7" Type="http://schemas.openxmlformats.org/officeDocument/2006/relationships/image" Target="../media/image139.png"/><Relationship Id="rId8" Type="http://schemas.openxmlformats.org/officeDocument/2006/relationships/image" Target="../media/image38.png"/><Relationship Id="rId9" Type="http://schemas.openxmlformats.org/officeDocument/2006/relationships/image" Target="../media/image140.png"/><Relationship Id="rId10" Type="http://schemas.openxmlformats.org/officeDocument/2006/relationships/image" Target="../media/image141.png"/><Relationship Id="rId11" Type="http://schemas.openxmlformats.org/officeDocument/2006/relationships/image" Target="../media/image54.png"/><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png"/><Relationship Id="rId4" Type="http://schemas.openxmlformats.org/officeDocument/2006/relationships/image" Target="../media/image40.png"/><Relationship Id="rId5" Type="http://schemas.openxmlformats.org/officeDocument/2006/relationships/image" Target="../media/image142.png"/><Relationship Id="rId6" Type="http://schemas.openxmlformats.org/officeDocument/2006/relationships/image" Target="../media/image143.png"/><Relationship Id="rId7" Type="http://schemas.openxmlformats.org/officeDocument/2006/relationships/image" Target="../media/image144.png"/><Relationship Id="rId8" Type="http://schemas.openxmlformats.org/officeDocument/2006/relationships/image" Target="../media/image145.png"/><Relationship Id="rId9" Type="http://schemas.openxmlformats.org/officeDocument/2006/relationships/image" Target="../media/image146.png"/><Relationship Id="rId10" Type="http://schemas.openxmlformats.org/officeDocument/2006/relationships/image" Target="../media/image147.png"/><Relationship Id="rId11" Type="http://schemas.openxmlformats.org/officeDocument/2006/relationships/image" Target="../media/image75.png"/><Relationship Id="rId1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7.png"/><Relationship Id="rId4" Type="http://schemas.openxmlformats.org/officeDocument/2006/relationships/image" Target="../media/image148.png"/><Relationship Id="rId5" Type="http://schemas.openxmlformats.org/officeDocument/2006/relationships/image" Target="../media/image149.png"/><Relationship Id="rId6" Type="http://schemas.openxmlformats.org/officeDocument/2006/relationships/image" Target="../media/image150.png"/><Relationship Id="rId7" Type="http://schemas.openxmlformats.org/officeDocument/2006/relationships/image" Target="../media/image32.png"/><Relationship Id="rId8" Type="http://schemas.openxmlformats.org/officeDocument/2006/relationships/image" Target="../media/image151.png"/><Relationship Id="rId9" Type="http://schemas.openxmlformats.org/officeDocument/2006/relationships/image" Target="../media/image152.png"/><Relationship Id="rId10" Type="http://schemas.openxmlformats.org/officeDocument/2006/relationships/image" Target="../media/image54.png"/><Relationship Id="rId11" Type="http://schemas.openxmlformats.org/officeDocument/2006/relationships/image" Target="../media/image75.png"/><Relationship Id="rId1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png"/><Relationship Id="rId3" Type="http://schemas.openxmlformats.org/officeDocument/2006/relationships/image" Target="../media/image7.png"/><Relationship Id="rId4" Type="http://schemas.openxmlformats.org/officeDocument/2006/relationships/image" Target="../media/image45.png"/><Relationship Id="rId5" Type="http://schemas.openxmlformats.org/officeDocument/2006/relationships/image" Target="../media/image154.png"/><Relationship Id="rId6" Type="http://schemas.openxmlformats.org/officeDocument/2006/relationships/image" Target="../media/image66.png"/><Relationship Id="rId7" Type="http://schemas.openxmlformats.org/officeDocument/2006/relationships/image" Target="../media/image32.png"/><Relationship Id="rId8" Type="http://schemas.openxmlformats.org/officeDocument/2006/relationships/image" Target="../media/image97.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73.png"/><Relationship Id="rId1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7.png"/><Relationship Id="rId4" Type="http://schemas.openxmlformats.org/officeDocument/2006/relationships/image" Target="../media/image28.png"/><Relationship Id="rId5" Type="http://schemas.openxmlformats.org/officeDocument/2006/relationships/image" Target="../media/image157.png"/><Relationship Id="rId6" Type="http://schemas.openxmlformats.org/officeDocument/2006/relationships/image" Target="../media/image78.png"/><Relationship Id="rId7" Type="http://schemas.openxmlformats.org/officeDocument/2006/relationships/image" Target="../media/image158.png"/><Relationship Id="rId8" Type="http://schemas.openxmlformats.org/officeDocument/2006/relationships/image" Target="../media/image32.png"/><Relationship Id="rId9" Type="http://schemas.openxmlformats.org/officeDocument/2006/relationships/image" Target="../media/image105.png"/><Relationship Id="rId10" Type="http://schemas.openxmlformats.org/officeDocument/2006/relationships/image" Target="../media/image159.png"/><Relationship Id="rId11" Type="http://schemas.openxmlformats.org/officeDocument/2006/relationships/image" Target="../media/image75.png"/><Relationship Id="rId1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0.png"/><Relationship Id="rId3" Type="http://schemas.openxmlformats.org/officeDocument/2006/relationships/image" Target="../media/image7.png"/><Relationship Id="rId4" Type="http://schemas.openxmlformats.org/officeDocument/2006/relationships/image" Target="../media/image161.png"/><Relationship Id="rId5" Type="http://schemas.openxmlformats.org/officeDocument/2006/relationships/image" Target="../media/image66.png"/><Relationship Id="rId6" Type="http://schemas.openxmlformats.org/officeDocument/2006/relationships/image" Target="../media/image79.png"/><Relationship Id="rId7" Type="http://schemas.openxmlformats.org/officeDocument/2006/relationships/image" Target="../media/image43.png"/><Relationship Id="rId8" Type="http://schemas.openxmlformats.org/officeDocument/2006/relationships/image" Target="../media/image162.png"/><Relationship Id="rId9" Type="http://schemas.openxmlformats.org/officeDocument/2006/relationships/image" Target="../media/image163.png"/><Relationship Id="rId10" Type="http://schemas.openxmlformats.org/officeDocument/2006/relationships/image" Target="../media/image164.png"/><Relationship Id="rId11" Type="http://schemas.openxmlformats.org/officeDocument/2006/relationships/image" Target="../media/image75.png"/><Relationship Id="rId1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5.png"/><Relationship Id="rId3" Type="http://schemas.openxmlformats.org/officeDocument/2006/relationships/image" Target="../media/image7.png"/><Relationship Id="rId4" Type="http://schemas.openxmlformats.org/officeDocument/2006/relationships/image" Target="../media/image166.png"/><Relationship Id="rId5" Type="http://schemas.openxmlformats.org/officeDocument/2006/relationships/image" Target="../media/image32.png"/><Relationship Id="rId6" Type="http://schemas.openxmlformats.org/officeDocument/2006/relationships/image" Target="../media/image167.png"/><Relationship Id="rId7" Type="http://schemas.openxmlformats.org/officeDocument/2006/relationships/image" Target="../media/image168.png"/><Relationship Id="rId8" Type="http://schemas.openxmlformats.org/officeDocument/2006/relationships/image" Target="../media/image169.png"/><Relationship Id="rId9" Type="http://schemas.openxmlformats.org/officeDocument/2006/relationships/image" Target="../media/image170.png"/><Relationship Id="rId10" Type="http://schemas.openxmlformats.org/officeDocument/2006/relationships/image" Target="../media/image171.png"/><Relationship Id="rId11" Type="http://schemas.openxmlformats.org/officeDocument/2006/relationships/image" Target="../media/image75.png"/><Relationship Id="rId1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72.png"/><Relationship Id="rId6" Type="http://schemas.openxmlformats.org/officeDocument/2006/relationships/image" Target="../media/image173.png"/><Relationship Id="rId7" Type="http://schemas.openxmlformats.org/officeDocument/2006/relationships/image" Target="../media/image174.png"/><Relationship Id="rId8"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AGENTIC RESEARCH PIPELINE</a:t>
            </a:r>
          </a:p>
        </p:txBody>
      </p:sp>
      <p:sp>
        <p:nvSpPr>
          <p:cNvPr id="3" name="TextBox 2"/>
          <p:cNvSpPr txBox="1"/>
          <p:nvPr/>
        </p:nvSpPr>
        <p:spPr>
          <a:xfrm>
            <a:off x="812800" y="1136650"/>
            <a:ext cx="10566400" cy="508000"/>
          </a:xfrm>
          <a:prstGeom prst="rect">
            <a:avLst/>
          </a:prstGeom>
          <a:noFill/>
        </p:spPr>
        <p:txBody>
          <a:bodyPr wrap="square" lIns="0" rIns="0" tIns="0" bIns="0" anchor="t">
            <a:spAutoFit/>
          </a:bodyPr>
          <a:lstStyle/>
          <a:p>
            <a:pPr>
              <a:lnSpc>
                <a:spcPct val="91667"/>
              </a:lnSpc>
              <a:spcAft>
                <a:spcPts val="0"/>
              </a:spcAft>
            </a:pPr>
            <a:r>
              <a:rPr sz="3600" b="1">
                <a:solidFill>
                  <a:srgbClr val="0F172A"/>
                </a:solidFill>
                <a:latin typeface="IBM Plex Sans"/>
              </a:rPr>
              <a:t>Research at scale, every number traceable</a:t>
            </a:r>
          </a:p>
        </p:txBody>
      </p:sp>
      <p:sp>
        <p:nvSpPr>
          <p:cNvPr id="4" name="TextBox 3"/>
          <p:cNvSpPr txBox="1"/>
          <p:nvPr/>
        </p:nvSpPr>
        <p:spPr>
          <a:xfrm>
            <a:off x="812800" y="192405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IT DOES</a:t>
            </a:r>
          </a:p>
        </p:txBody>
      </p:sp>
      <p:sp>
        <p:nvSpPr>
          <p:cNvPr id="5" name="Rounded Rectangle 4"/>
          <p:cNvSpPr/>
          <p:nvPr/>
        </p:nvSpPr>
        <p:spPr>
          <a:xfrm>
            <a:off x="812800" y="2222500"/>
            <a:ext cx="5207000"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374900"/>
            <a:ext cx="304800" cy="304800"/>
          </a:xfrm>
          <a:prstGeom prst="ellipse">
            <a:avLst/>
          </a:prstGeom>
          <a:solidFill>
            <a:srgbClr val="0F172A"/>
          </a:solidFill>
          <a:ln>
            <a:noFill/>
          </a:ln>
          <a:effectLst/>
        </p:spPr>
        <p:txBody>
          <a:bodyPr rtlCol="0" anchor="ctr"/>
          <a:lstStyle/>
          <a:p>
            <a:pPr algn="ctr"/>
          </a:p>
        </p:txBody>
      </p:sp>
      <p:pic>
        <p:nvPicPr>
          <p:cNvPr id="7" name="Picture 6" descr="search-FFFFFF.png"/>
          <p:cNvPicPr>
            <a:picLocks noChangeAspect="1"/>
          </p:cNvPicPr>
          <p:nvPr/>
        </p:nvPicPr>
        <p:blipFill>
          <a:blip r:embed="rId2"/>
          <a:stretch>
            <a:fillRect/>
          </a:stretch>
        </p:blipFill>
        <p:spPr>
          <a:xfrm>
            <a:off x="1041400" y="2451100"/>
            <a:ext cx="152400" cy="152400"/>
          </a:xfrm>
          <a:prstGeom prst="rect">
            <a:avLst/>
          </a:prstGeom>
        </p:spPr>
      </p:pic>
      <p:sp>
        <p:nvSpPr>
          <p:cNvPr id="8" name="TextBox 7"/>
          <p:cNvSpPr txBox="1"/>
          <p:nvPr/>
        </p:nvSpPr>
        <p:spPr>
          <a:xfrm>
            <a:off x="1371600" y="2374900"/>
            <a:ext cx="4495800"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Find and extract</a:t>
            </a:r>
          </a:p>
        </p:txBody>
      </p:sp>
      <p:sp>
        <p:nvSpPr>
          <p:cNvPr id="9" name="TextBox 8"/>
          <p:cNvSpPr txBox="1"/>
          <p:nvPr/>
        </p:nvSpPr>
        <p:spPr>
          <a:xfrm>
            <a:off x="965200" y="2755900"/>
            <a:ext cx="490220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Thematic universes, document discovery and identity resolution. Schema-defined figures, XBRL facts, transition plans and barriers, for ~4,000 companies per run.</a:t>
            </a:r>
          </a:p>
        </p:txBody>
      </p:sp>
      <p:sp>
        <p:nvSpPr>
          <p:cNvPr id="10" name="Rounded Rectangle 9"/>
          <p:cNvSpPr/>
          <p:nvPr/>
        </p:nvSpPr>
        <p:spPr>
          <a:xfrm>
            <a:off x="6172200" y="2222500"/>
            <a:ext cx="5207000"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11" name="Oval 10"/>
          <p:cNvSpPr/>
          <p:nvPr/>
        </p:nvSpPr>
        <p:spPr>
          <a:xfrm>
            <a:off x="6324600" y="2374900"/>
            <a:ext cx="304800" cy="304800"/>
          </a:xfrm>
          <a:prstGeom prst="ellipse">
            <a:avLst/>
          </a:prstGeom>
          <a:solidFill>
            <a:srgbClr val="0F172A"/>
          </a:solidFill>
          <a:ln>
            <a:noFill/>
          </a:ln>
          <a:effectLst/>
        </p:spPr>
        <p:txBody>
          <a:bodyPr rtlCol="0" anchor="ctr"/>
          <a:lstStyle/>
          <a:p>
            <a:pPr algn="ctr"/>
          </a:p>
        </p:txBody>
      </p:sp>
      <p:pic>
        <p:nvPicPr>
          <p:cNvPr id="12" name="Picture 11" descr="chart-column-FFFFFF.png"/>
          <p:cNvPicPr>
            <a:picLocks noChangeAspect="1"/>
          </p:cNvPicPr>
          <p:nvPr/>
        </p:nvPicPr>
        <p:blipFill>
          <a:blip r:embed="rId3"/>
          <a:stretch>
            <a:fillRect/>
          </a:stretch>
        </p:blipFill>
        <p:spPr>
          <a:xfrm>
            <a:off x="6400800" y="2451100"/>
            <a:ext cx="152400" cy="152400"/>
          </a:xfrm>
          <a:prstGeom prst="rect">
            <a:avLst/>
          </a:prstGeom>
        </p:spPr>
      </p:pic>
      <p:sp>
        <p:nvSpPr>
          <p:cNvPr id="13" name="TextBox 12"/>
          <p:cNvSpPr txBox="1"/>
          <p:nvPr/>
        </p:nvSpPr>
        <p:spPr>
          <a:xfrm>
            <a:off x="6731000" y="2374900"/>
            <a:ext cx="4495800"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Analyse and decide</a:t>
            </a:r>
          </a:p>
        </p:txBody>
      </p:sp>
      <p:sp>
        <p:nvSpPr>
          <p:cNvPr id="14" name="TextBox 13"/>
          <p:cNvSpPr txBox="1"/>
          <p:nvPr/>
        </p:nvSpPr>
        <p:spPr>
          <a:xfrm>
            <a:off x="6324600" y="2755900"/>
            <a:ext cx="490220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Portfolio and climate analytics (WACI, financed emissions), Decision Studio scoring and tiering, equity index construction, strategy backtests, reports, decks and dashboards.</a:t>
            </a:r>
          </a:p>
        </p:txBody>
      </p:sp>
      <p:sp>
        <p:nvSpPr>
          <p:cNvPr id="15" name="TextBox 14"/>
          <p:cNvSpPr txBox="1"/>
          <p:nvPr/>
        </p:nvSpPr>
        <p:spPr>
          <a:xfrm>
            <a:off x="812800" y="40386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MAKES IT POSSIBLE</a:t>
            </a:r>
          </a:p>
        </p:txBody>
      </p:sp>
      <p:sp>
        <p:nvSpPr>
          <p:cNvPr id="16" name="Rounded Rectangle 15"/>
          <p:cNvSpPr/>
          <p:nvPr/>
        </p:nvSpPr>
        <p:spPr>
          <a:xfrm>
            <a:off x="812800" y="43370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17" name="Oval 16"/>
          <p:cNvSpPr/>
          <p:nvPr/>
        </p:nvSpPr>
        <p:spPr>
          <a:xfrm>
            <a:off x="965200" y="4489450"/>
            <a:ext cx="304800" cy="304800"/>
          </a:xfrm>
          <a:prstGeom prst="ellipse">
            <a:avLst/>
          </a:prstGeom>
          <a:solidFill>
            <a:srgbClr val="16A34A"/>
          </a:solidFill>
          <a:ln>
            <a:noFill/>
          </a:ln>
          <a:effectLst/>
        </p:spPr>
        <p:txBody>
          <a:bodyPr rtlCol="0" anchor="ctr"/>
          <a:lstStyle/>
          <a:p>
            <a:pPr algn="ctr"/>
          </a:p>
        </p:txBody>
      </p:sp>
      <p:pic>
        <p:nvPicPr>
          <p:cNvPr id="18" name="Picture 17" descr="code-FFFFFF.png"/>
          <p:cNvPicPr>
            <a:picLocks noChangeAspect="1"/>
          </p:cNvPicPr>
          <p:nvPr/>
        </p:nvPicPr>
        <p:blipFill>
          <a:blip r:embed="rId4"/>
          <a:stretch>
            <a:fillRect/>
          </a:stretch>
        </p:blipFill>
        <p:spPr>
          <a:xfrm>
            <a:off x="1041400" y="4565650"/>
            <a:ext cx="152400" cy="152400"/>
          </a:xfrm>
          <a:prstGeom prst="rect">
            <a:avLst/>
          </a:prstGeom>
        </p:spPr>
      </p:pic>
      <p:sp>
        <p:nvSpPr>
          <p:cNvPr id="19" name="TextBox 18"/>
          <p:cNvSpPr txBox="1"/>
          <p:nvPr/>
        </p:nvSpPr>
        <p:spPr>
          <a:xfrm>
            <a:off x="1371600"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The LLM plans, code computes</a:t>
            </a:r>
          </a:p>
        </p:txBody>
      </p:sp>
      <p:sp>
        <p:nvSpPr>
          <p:cNvPr id="20" name="TextBox 19"/>
          <p:cNvSpPr txBox="1"/>
          <p:nvPr/>
        </p:nvSpPr>
        <p:spPr>
          <a:xfrm>
            <a:off x="965200"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Models draft, verify and propose. Numbers, scoring, index weights and backtests are plain deterministic code.</a:t>
            </a:r>
          </a:p>
        </p:txBody>
      </p:sp>
      <p:sp>
        <p:nvSpPr>
          <p:cNvPr id="21" name="Rounded Rectangle 20"/>
          <p:cNvSpPr/>
          <p:nvPr/>
        </p:nvSpPr>
        <p:spPr>
          <a:xfrm>
            <a:off x="4385733" y="43370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22" name="Oval 21"/>
          <p:cNvSpPr/>
          <p:nvPr/>
        </p:nvSpPr>
        <p:spPr>
          <a:xfrm>
            <a:off x="4538133" y="4489450"/>
            <a:ext cx="304800" cy="304800"/>
          </a:xfrm>
          <a:prstGeom prst="ellipse">
            <a:avLst/>
          </a:prstGeom>
          <a:solidFill>
            <a:srgbClr val="16A34A"/>
          </a:solidFill>
          <a:ln>
            <a:noFill/>
          </a:ln>
          <a:effectLst/>
        </p:spPr>
        <p:txBody>
          <a:bodyPr rtlCol="0" anchor="ctr"/>
          <a:lstStyle/>
          <a:p>
            <a:pPr algn="ctr"/>
          </a:p>
        </p:txBody>
      </p:sp>
      <p:pic>
        <p:nvPicPr>
          <p:cNvPr id="23" name="Picture 22" descr="badge-check-FFFFFF.png"/>
          <p:cNvPicPr>
            <a:picLocks noChangeAspect="1"/>
          </p:cNvPicPr>
          <p:nvPr/>
        </p:nvPicPr>
        <p:blipFill>
          <a:blip r:embed="rId5"/>
          <a:stretch>
            <a:fillRect/>
          </a:stretch>
        </p:blipFill>
        <p:spPr>
          <a:xfrm>
            <a:off x="4614333" y="4565650"/>
            <a:ext cx="152400" cy="152400"/>
          </a:xfrm>
          <a:prstGeom prst="rect">
            <a:avLst/>
          </a:prstGeom>
        </p:spPr>
      </p:pic>
      <p:sp>
        <p:nvSpPr>
          <p:cNvPr id="24" name="TextBox 23"/>
          <p:cNvSpPr txBox="1"/>
          <p:nvPr/>
        </p:nvSpPr>
        <p:spPr>
          <a:xfrm>
            <a:off x="4944533"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Every citation is checked</a:t>
            </a:r>
          </a:p>
        </p:txBody>
      </p:sp>
      <p:sp>
        <p:nvSpPr>
          <p:cNvPr id="25" name="TextBox 24"/>
          <p:cNvSpPr txBox="1"/>
          <p:nvPr/>
        </p:nvSpPr>
        <p:spPr>
          <a:xfrm>
            <a:off x="4538133"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Each quote is re-verified in code against the source document. An independent verifier runs on a different model.</a:t>
            </a:r>
          </a:p>
        </p:txBody>
      </p:sp>
      <p:sp>
        <p:nvSpPr>
          <p:cNvPr id="26" name="Rounded Rectangle 25"/>
          <p:cNvSpPr/>
          <p:nvPr/>
        </p:nvSpPr>
        <p:spPr>
          <a:xfrm>
            <a:off x="7958667" y="43370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27" name="Oval 26"/>
          <p:cNvSpPr/>
          <p:nvPr/>
        </p:nvSpPr>
        <p:spPr>
          <a:xfrm>
            <a:off x="8111067" y="4489450"/>
            <a:ext cx="304800" cy="304800"/>
          </a:xfrm>
          <a:prstGeom prst="ellipse">
            <a:avLst/>
          </a:prstGeom>
          <a:solidFill>
            <a:srgbClr val="2563EB"/>
          </a:solidFill>
          <a:ln>
            <a:noFill/>
          </a:ln>
          <a:effectLst/>
        </p:spPr>
        <p:txBody>
          <a:bodyPr rtlCol="0" anchor="ctr"/>
          <a:lstStyle/>
          <a:p>
            <a:pPr algn="ctr"/>
          </a:p>
        </p:txBody>
      </p:sp>
      <p:pic>
        <p:nvPicPr>
          <p:cNvPr id="28" name="Picture 27" descr="users-FFFFFF.png"/>
          <p:cNvPicPr>
            <a:picLocks noChangeAspect="1"/>
          </p:cNvPicPr>
          <p:nvPr/>
        </p:nvPicPr>
        <p:blipFill>
          <a:blip r:embed="rId6"/>
          <a:stretch>
            <a:fillRect/>
          </a:stretch>
        </p:blipFill>
        <p:spPr>
          <a:xfrm>
            <a:off x="8187267" y="4565650"/>
            <a:ext cx="152400" cy="152400"/>
          </a:xfrm>
          <a:prstGeom prst="rect">
            <a:avLst/>
          </a:prstGeom>
        </p:spPr>
      </p:pic>
      <p:sp>
        <p:nvSpPr>
          <p:cNvPr id="29" name="TextBox 28"/>
          <p:cNvSpPr txBox="1"/>
          <p:nvPr/>
        </p:nvSpPr>
        <p:spPr>
          <a:xfrm>
            <a:off x="8517467"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Agents propose, people ratify</a:t>
            </a:r>
          </a:p>
        </p:txBody>
      </p:sp>
      <p:sp>
        <p:nvSpPr>
          <p:cNvPr id="30" name="TextBox 29"/>
          <p:cNvSpPr txBox="1"/>
          <p:nvPr/>
        </p:nvSpPr>
        <p:spPr>
          <a:xfrm>
            <a:off x="8111067"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Review queues, four-eyes approval, versioned frameworks. Nothing flagged reaches an export until a named person approves.</a:t>
            </a:r>
          </a:p>
        </p:txBody>
      </p:sp>
      <p:sp>
        <p:nvSpPr>
          <p:cNvPr id="31" name="TextBox 30"/>
          <p:cNvSpPr txBox="1"/>
          <p:nvPr/>
        </p:nvSpPr>
        <p:spPr>
          <a:xfrm>
            <a:off x="812800" y="6254750"/>
            <a:ext cx="11176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BUILT ON</a:t>
            </a:r>
          </a:p>
        </p:txBody>
      </p:sp>
      <p:sp>
        <p:nvSpPr>
          <p:cNvPr id="32" name="TextBox 31"/>
          <p:cNvSpPr txBox="1"/>
          <p:nvPr/>
        </p:nvSpPr>
        <p:spPr>
          <a:xfrm>
            <a:off x="2082800" y="6254750"/>
            <a:ext cx="9296400" cy="39370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Sans"/>
              </a:rPr>
              <a:t>Postgres system of record · resumable batch runs · LangGraph per-company flows · one LLM interface · API, CLI and UI on the same pipelines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STEWARDSHIP, END TO END</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Six stages from a theme to the client's answer</a:t>
            </a:r>
          </a:p>
        </p:txBody>
      </p:sp>
      <p:sp>
        <p:nvSpPr>
          <p:cNvPr id="4" name="Oval 3"/>
          <p:cNvSpPr/>
          <p:nvPr/>
        </p:nvSpPr>
        <p:spPr>
          <a:xfrm>
            <a:off x="1413933" y="1854200"/>
            <a:ext cx="558800" cy="558800"/>
          </a:xfrm>
          <a:prstGeom prst="ellipse">
            <a:avLst/>
          </a:prstGeom>
          <a:solidFill>
            <a:srgbClr val="0F172A"/>
          </a:solidFill>
          <a:ln>
            <a:noFill/>
          </a:ln>
          <a:effectLst/>
        </p:spPr>
        <p:txBody>
          <a:bodyPr rtlCol="0" anchor="ctr"/>
          <a:lstStyle/>
          <a:p>
            <a:pPr algn="ctr"/>
          </a:p>
        </p:txBody>
      </p:sp>
      <p:pic>
        <p:nvPicPr>
          <p:cNvPr id="5" name="Picture 4" descr="compass-FFFFFF.png"/>
          <p:cNvPicPr>
            <a:picLocks noChangeAspect="1"/>
          </p:cNvPicPr>
          <p:nvPr/>
        </p:nvPicPr>
        <p:blipFill>
          <a:blip r:embed="rId2"/>
          <a:stretch>
            <a:fillRect/>
          </a:stretch>
        </p:blipFill>
        <p:spPr>
          <a:xfrm>
            <a:off x="1566333" y="2006600"/>
            <a:ext cx="254000" cy="254000"/>
          </a:xfrm>
          <a:prstGeom prst="rect">
            <a:avLst/>
          </a:prstGeom>
        </p:spPr>
      </p:pic>
      <p:sp>
        <p:nvSpPr>
          <p:cNvPr id="6" name="TextBox 5"/>
          <p:cNvSpPr txBox="1"/>
          <p:nvPr/>
        </p:nvSpPr>
        <p:spPr>
          <a:xfrm>
            <a:off x="889000"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A</a:t>
            </a:r>
          </a:p>
          <a:p>
            <a:pPr algn="ctr">
              <a:lnSpc>
                <a:spcPct val="100000"/>
              </a:lnSpc>
              <a:spcAft>
                <a:spcPts val="0"/>
              </a:spcAft>
            </a:pPr>
            <a:r>
              <a:rPr sz="1400" b="1">
                <a:solidFill>
                  <a:srgbClr val="0F172A"/>
                </a:solidFill>
                <a:latin typeface="IBM Plex Sans"/>
              </a:rPr>
              <a:t>Strategic foundation</a:t>
            </a:r>
          </a:p>
        </p:txBody>
      </p:sp>
      <p:sp>
        <p:nvSpPr>
          <p:cNvPr id="7" name="TextBox 6"/>
          <p:cNvSpPr txBox="1"/>
          <p:nvPr/>
        </p:nvSpPr>
        <p:spPr>
          <a:xfrm>
            <a:off x="889000"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Spot emerging themes</a:t>
            </a:r>
          </a:p>
          <a:p>
            <a:pPr>
              <a:lnSpc>
                <a:spcPct val="112500"/>
              </a:lnSpc>
              <a:spcAft>
                <a:spcPts val="400"/>
              </a:spcAft>
            </a:pPr>
            <a:r>
              <a:rPr sz="1200" b="0">
                <a:solidFill>
                  <a:srgbClr val="0F172A"/>
                </a:solidFill>
                <a:latin typeface="IBM Plex Sans"/>
              </a:rPr>
              <a:t>2. Define activities and taxonomy</a:t>
            </a:r>
          </a:p>
          <a:p>
            <a:pPr>
              <a:lnSpc>
                <a:spcPct val="112500"/>
              </a:lnSpc>
              <a:spcAft>
                <a:spcPts val="400"/>
              </a:spcAft>
            </a:pPr>
            <a:r>
              <a:rPr sz="1200" b="0">
                <a:solidFill>
                  <a:srgbClr val="0F172A"/>
                </a:solidFill>
                <a:latin typeface="IBM Plex Sans"/>
              </a:rPr>
              <a:t>3. Develop positions</a:t>
            </a:r>
          </a:p>
          <a:p>
            <a:pPr>
              <a:lnSpc>
                <a:spcPct val="112500"/>
              </a:lnSpc>
              <a:spcAft>
                <a:spcPts val="400"/>
              </a:spcAft>
            </a:pPr>
            <a:r>
              <a:rPr sz="1200" b="0">
                <a:solidFill>
                  <a:srgbClr val="0F172A"/>
                </a:solidFill>
                <a:latin typeface="IBM Plex Sans"/>
              </a:rPr>
              <a:t>4. Set standards</a:t>
            </a:r>
          </a:p>
          <a:p>
            <a:pPr>
              <a:lnSpc>
                <a:spcPct val="112500"/>
              </a:lnSpc>
              <a:spcAft>
                <a:spcPts val="400"/>
              </a:spcAft>
            </a:pPr>
            <a:r>
              <a:rPr sz="1200" b="0">
                <a:solidFill>
                  <a:srgbClr val="0F172A"/>
                </a:solidFill>
                <a:latin typeface="IBM Plex Sans"/>
              </a:rPr>
              <a:t>5. Data framework and scoring</a:t>
            </a:r>
          </a:p>
        </p:txBody>
      </p:sp>
      <p:sp>
        <p:nvSpPr>
          <p:cNvPr id="8" name="Rectangle 7"/>
          <p:cNvSpPr/>
          <p:nvPr/>
        </p:nvSpPr>
        <p:spPr>
          <a:xfrm>
            <a:off x="2099733" y="212725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082800"/>
            <a:ext cx="76200" cy="101600"/>
          </a:xfrm>
          <a:prstGeom prst="rect">
            <a:avLst/>
          </a:prstGeom>
        </p:spPr>
      </p:pic>
      <p:sp>
        <p:nvSpPr>
          <p:cNvPr id="10" name="Oval 9"/>
          <p:cNvSpPr/>
          <p:nvPr/>
        </p:nvSpPr>
        <p:spPr>
          <a:xfrm>
            <a:off x="3175000" y="1854200"/>
            <a:ext cx="558800" cy="558800"/>
          </a:xfrm>
          <a:prstGeom prst="ellipse">
            <a:avLst/>
          </a:prstGeom>
          <a:solidFill>
            <a:srgbClr val="0F172A"/>
          </a:solidFill>
          <a:ln>
            <a:noFill/>
          </a:ln>
          <a:effectLst/>
        </p:spPr>
        <p:txBody>
          <a:bodyPr rtlCol="0" anchor="ctr"/>
          <a:lstStyle/>
          <a:p>
            <a:pPr algn="ctr"/>
          </a:p>
        </p:txBody>
      </p:sp>
      <p:pic>
        <p:nvPicPr>
          <p:cNvPr id="11" name="Picture 10" descr="radar-FFFFFF.png"/>
          <p:cNvPicPr>
            <a:picLocks noChangeAspect="1"/>
          </p:cNvPicPr>
          <p:nvPr/>
        </p:nvPicPr>
        <p:blipFill>
          <a:blip r:embed="rId4"/>
          <a:stretch>
            <a:fillRect/>
          </a:stretch>
        </p:blipFill>
        <p:spPr>
          <a:xfrm>
            <a:off x="3327400" y="2006600"/>
            <a:ext cx="254000" cy="254000"/>
          </a:xfrm>
          <a:prstGeom prst="rect">
            <a:avLst/>
          </a:prstGeom>
        </p:spPr>
      </p:pic>
      <p:sp>
        <p:nvSpPr>
          <p:cNvPr id="12" name="TextBox 11"/>
          <p:cNvSpPr txBox="1"/>
          <p:nvPr/>
        </p:nvSpPr>
        <p:spPr>
          <a:xfrm>
            <a:off x="2650067"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B</a:t>
            </a:r>
          </a:p>
          <a:p>
            <a:pPr algn="ctr">
              <a:lnSpc>
                <a:spcPct val="100000"/>
              </a:lnSpc>
              <a:spcAft>
                <a:spcPts val="0"/>
              </a:spcAft>
            </a:pPr>
            <a:r>
              <a:rPr sz="1400" b="1">
                <a:solidFill>
                  <a:srgbClr val="0F172A"/>
                </a:solidFill>
                <a:latin typeface="IBM Plex Sans"/>
              </a:rPr>
              <a:t>Monitoring and selection</a:t>
            </a:r>
          </a:p>
        </p:txBody>
      </p:sp>
      <p:sp>
        <p:nvSpPr>
          <p:cNvPr id="13" name="TextBox 12"/>
          <p:cNvSpPr txBox="1"/>
          <p:nvPr/>
        </p:nvSpPr>
        <p:spPr>
          <a:xfrm>
            <a:off x="2650067"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Monitor portfolio companies</a:t>
            </a:r>
          </a:p>
          <a:p>
            <a:pPr>
              <a:lnSpc>
                <a:spcPct val="112500"/>
              </a:lnSpc>
              <a:spcAft>
                <a:spcPts val="400"/>
              </a:spcAft>
            </a:pPr>
            <a:r>
              <a:rPr sz="1200" b="0">
                <a:solidFill>
                  <a:srgbClr val="0F172A"/>
                </a:solidFill>
                <a:latin typeface="IBM Plex Sans"/>
              </a:rPr>
              <a:t>2. Assess transition plans and barriers</a:t>
            </a:r>
          </a:p>
          <a:p>
            <a:pPr>
              <a:lnSpc>
                <a:spcPct val="112500"/>
              </a:lnSpc>
              <a:spcAft>
                <a:spcPts val="400"/>
              </a:spcAft>
            </a:pPr>
            <a:r>
              <a:rPr sz="1200" b="0">
                <a:solidFill>
                  <a:srgbClr val="0F172A"/>
                </a:solidFill>
                <a:latin typeface="IBM Plex Sans"/>
              </a:rPr>
              <a:t>3. Select companies on gaps vs standards</a:t>
            </a:r>
          </a:p>
        </p:txBody>
      </p:sp>
      <p:sp>
        <p:nvSpPr>
          <p:cNvPr id="14" name="Rectangle 13"/>
          <p:cNvSpPr/>
          <p:nvPr/>
        </p:nvSpPr>
        <p:spPr>
          <a:xfrm>
            <a:off x="3860800" y="2127250"/>
            <a:ext cx="948267" cy="12700"/>
          </a:xfrm>
          <a:prstGeom prst="rect">
            <a:avLst/>
          </a:prstGeom>
          <a:solidFill>
            <a:srgbClr val="94A3B8"/>
          </a:solidFill>
          <a:ln>
            <a:noFill/>
          </a:ln>
          <a:effectLst/>
        </p:spPr>
        <p:txBody>
          <a:bodyPr rtlCol="0" anchor="ctr"/>
          <a:lstStyle/>
          <a:p>
            <a:pPr algn="ctr"/>
          </a:p>
        </p:txBody>
      </p:sp>
      <p:pic>
        <p:nvPicPr>
          <p:cNvPr id="15" name="Picture 14" descr="arrowhead.png"/>
          <p:cNvPicPr>
            <a:picLocks noChangeAspect="1"/>
          </p:cNvPicPr>
          <p:nvPr/>
        </p:nvPicPr>
        <p:blipFill>
          <a:blip r:embed="rId3"/>
          <a:stretch>
            <a:fillRect/>
          </a:stretch>
        </p:blipFill>
        <p:spPr>
          <a:xfrm>
            <a:off x="4809067" y="2082800"/>
            <a:ext cx="76200" cy="101600"/>
          </a:xfrm>
          <a:prstGeom prst="rect">
            <a:avLst/>
          </a:prstGeom>
        </p:spPr>
      </p:pic>
      <p:sp>
        <p:nvSpPr>
          <p:cNvPr id="16" name="Oval 15"/>
          <p:cNvSpPr/>
          <p:nvPr/>
        </p:nvSpPr>
        <p:spPr>
          <a:xfrm>
            <a:off x="4936067" y="1854200"/>
            <a:ext cx="558800" cy="558800"/>
          </a:xfrm>
          <a:prstGeom prst="ellipse">
            <a:avLst/>
          </a:prstGeom>
          <a:solidFill>
            <a:srgbClr val="0F172A"/>
          </a:solidFill>
          <a:ln>
            <a:noFill/>
          </a:ln>
          <a:effectLst/>
        </p:spPr>
        <p:txBody>
          <a:bodyPr rtlCol="0" anchor="ctr"/>
          <a:lstStyle/>
          <a:p>
            <a:pPr algn="ctr"/>
          </a:p>
        </p:txBody>
      </p:sp>
      <p:pic>
        <p:nvPicPr>
          <p:cNvPr id="17" name="Picture 16" descr="handshake-FFFFFF.png"/>
          <p:cNvPicPr>
            <a:picLocks noChangeAspect="1"/>
          </p:cNvPicPr>
          <p:nvPr/>
        </p:nvPicPr>
        <p:blipFill>
          <a:blip r:embed="rId5"/>
          <a:stretch>
            <a:fillRect/>
          </a:stretch>
        </p:blipFill>
        <p:spPr>
          <a:xfrm>
            <a:off x="5088467" y="2006600"/>
            <a:ext cx="254000" cy="254000"/>
          </a:xfrm>
          <a:prstGeom prst="rect">
            <a:avLst/>
          </a:prstGeom>
        </p:spPr>
      </p:pic>
      <p:sp>
        <p:nvSpPr>
          <p:cNvPr id="18" name="TextBox 17"/>
          <p:cNvSpPr txBox="1"/>
          <p:nvPr/>
        </p:nvSpPr>
        <p:spPr>
          <a:xfrm>
            <a:off x="4411133"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C</a:t>
            </a:r>
          </a:p>
          <a:p>
            <a:pPr algn="ctr">
              <a:lnSpc>
                <a:spcPct val="100000"/>
              </a:lnSpc>
              <a:spcAft>
                <a:spcPts val="0"/>
              </a:spcAft>
            </a:pPr>
            <a:r>
              <a:rPr sz="1400" b="1">
                <a:solidFill>
                  <a:srgbClr val="0F172A"/>
                </a:solidFill>
                <a:latin typeface="IBM Plex Sans"/>
              </a:rPr>
              <a:t>Engagement</a:t>
            </a:r>
          </a:p>
        </p:txBody>
      </p:sp>
      <p:sp>
        <p:nvSpPr>
          <p:cNvPr id="19" name="TextBox 18"/>
          <p:cNvSpPr txBox="1"/>
          <p:nvPr/>
        </p:nvSpPr>
        <p:spPr>
          <a:xfrm>
            <a:off x="4411133"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Prepare: records, assessments, news</a:t>
            </a:r>
          </a:p>
          <a:p>
            <a:pPr>
              <a:lnSpc>
                <a:spcPct val="112500"/>
              </a:lnSpc>
              <a:spcAft>
                <a:spcPts val="400"/>
              </a:spcAft>
            </a:pPr>
            <a:r>
              <a:rPr sz="1200" b="0">
                <a:solidFill>
                  <a:srgbClr val="0F172A"/>
                </a:solidFill>
                <a:latin typeface="IBM Plex Sans"/>
              </a:rPr>
              <a:t>2. Send letters, emails, invites</a:t>
            </a:r>
          </a:p>
          <a:p>
            <a:pPr>
              <a:lnSpc>
                <a:spcPct val="112500"/>
              </a:lnSpc>
              <a:spcAft>
                <a:spcPts val="400"/>
              </a:spcAft>
            </a:pPr>
            <a:r>
              <a:rPr sz="1200" b="0">
                <a:solidFill>
                  <a:srgbClr val="0F172A"/>
                </a:solidFill>
                <a:latin typeface="IBM Plex Sans"/>
              </a:rPr>
              <a:t>3. Document the meeting</a:t>
            </a:r>
          </a:p>
        </p:txBody>
      </p:sp>
      <p:sp>
        <p:nvSpPr>
          <p:cNvPr id="20" name="Rectangle 19"/>
          <p:cNvSpPr/>
          <p:nvPr/>
        </p:nvSpPr>
        <p:spPr>
          <a:xfrm>
            <a:off x="5621867" y="212725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6570133" y="2082800"/>
            <a:ext cx="76200" cy="101600"/>
          </a:xfrm>
          <a:prstGeom prst="rect">
            <a:avLst/>
          </a:prstGeom>
        </p:spPr>
      </p:pic>
      <p:sp>
        <p:nvSpPr>
          <p:cNvPr id="22" name="Oval 21"/>
          <p:cNvSpPr/>
          <p:nvPr/>
        </p:nvSpPr>
        <p:spPr>
          <a:xfrm>
            <a:off x="6697133" y="1854200"/>
            <a:ext cx="558800" cy="558800"/>
          </a:xfrm>
          <a:prstGeom prst="ellipse">
            <a:avLst/>
          </a:prstGeom>
          <a:solidFill>
            <a:srgbClr val="0F172A"/>
          </a:solidFill>
          <a:ln>
            <a:noFill/>
          </a:ln>
          <a:effectLst/>
        </p:spPr>
        <p:txBody>
          <a:bodyPr rtlCol="0" anchor="ctr"/>
          <a:lstStyle/>
          <a:p>
            <a:pPr algn="ctr"/>
          </a:p>
        </p:txBody>
      </p:sp>
      <p:pic>
        <p:nvPicPr>
          <p:cNvPr id="23" name="Picture 22" descr="trending-up-FFFFFF.png"/>
          <p:cNvPicPr>
            <a:picLocks noChangeAspect="1"/>
          </p:cNvPicPr>
          <p:nvPr/>
        </p:nvPicPr>
        <p:blipFill>
          <a:blip r:embed="rId6"/>
          <a:stretch>
            <a:fillRect/>
          </a:stretch>
        </p:blipFill>
        <p:spPr>
          <a:xfrm>
            <a:off x="6849533" y="2006600"/>
            <a:ext cx="254000" cy="254000"/>
          </a:xfrm>
          <a:prstGeom prst="rect">
            <a:avLst/>
          </a:prstGeom>
        </p:spPr>
      </p:pic>
      <p:sp>
        <p:nvSpPr>
          <p:cNvPr id="24" name="TextBox 23"/>
          <p:cNvSpPr txBox="1"/>
          <p:nvPr/>
        </p:nvSpPr>
        <p:spPr>
          <a:xfrm>
            <a:off x="6172200"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D</a:t>
            </a:r>
          </a:p>
          <a:p>
            <a:pPr algn="ctr">
              <a:lnSpc>
                <a:spcPct val="100000"/>
              </a:lnSpc>
              <a:spcAft>
                <a:spcPts val="0"/>
              </a:spcAft>
            </a:pPr>
            <a:r>
              <a:rPr sz="1400" b="1">
                <a:solidFill>
                  <a:srgbClr val="0F172A"/>
                </a:solidFill>
                <a:latin typeface="IBM Plex Sans"/>
              </a:rPr>
              <a:t>Progress and escalation</a:t>
            </a:r>
          </a:p>
        </p:txBody>
      </p:sp>
      <p:sp>
        <p:nvSpPr>
          <p:cNvPr id="25" name="TextBox 24"/>
          <p:cNvSpPr txBox="1"/>
          <p:nvPr/>
        </p:nvSpPr>
        <p:spPr>
          <a:xfrm>
            <a:off x="6172200"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Monitor company progress</a:t>
            </a:r>
          </a:p>
          <a:p>
            <a:pPr>
              <a:lnSpc>
                <a:spcPct val="112500"/>
              </a:lnSpc>
              <a:spcAft>
                <a:spcPts val="400"/>
              </a:spcAft>
            </a:pPr>
            <a:r>
              <a:rPr sz="1200" b="0">
                <a:solidFill>
                  <a:srgbClr val="0F172A"/>
                </a:solidFill>
                <a:latin typeface="IBM Plex Sans"/>
              </a:rPr>
              <a:t>2. Find and verify evidence</a:t>
            </a:r>
          </a:p>
          <a:p>
            <a:pPr>
              <a:lnSpc>
                <a:spcPct val="112500"/>
              </a:lnSpc>
              <a:spcAft>
                <a:spcPts val="400"/>
              </a:spcAft>
            </a:pPr>
            <a:r>
              <a:rPr sz="1200" b="0">
                <a:solidFill>
                  <a:srgbClr val="0F172A"/>
                </a:solidFill>
                <a:latin typeface="IBM Plex Sans"/>
              </a:rPr>
              <a:t>3. Propose escalation</a:t>
            </a:r>
          </a:p>
        </p:txBody>
      </p:sp>
      <p:sp>
        <p:nvSpPr>
          <p:cNvPr id="26" name="Rectangle 25"/>
          <p:cNvSpPr/>
          <p:nvPr/>
        </p:nvSpPr>
        <p:spPr>
          <a:xfrm>
            <a:off x="7382933" y="2127250"/>
            <a:ext cx="948267" cy="12700"/>
          </a:xfrm>
          <a:prstGeom prst="rect">
            <a:avLst/>
          </a:prstGeom>
          <a:solidFill>
            <a:srgbClr val="94A3B8"/>
          </a:solidFill>
          <a:ln>
            <a:noFill/>
          </a:ln>
          <a:effectLst/>
        </p:spPr>
        <p:txBody>
          <a:bodyPr rtlCol="0" anchor="ctr"/>
          <a:lstStyle/>
          <a:p>
            <a:pPr algn="ctr"/>
          </a:p>
        </p:txBody>
      </p:sp>
      <p:pic>
        <p:nvPicPr>
          <p:cNvPr id="27" name="Picture 26" descr="arrowhead.png"/>
          <p:cNvPicPr>
            <a:picLocks noChangeAspect="1"/>
          </p:cNvPicPr>
          <p:nvPr/>
        </p:nvPicPr>
        <p:blipFill>
          <a:blip r:embed="rId3"/>
          <a:stretch>
            <a:fillRect/>
          </a:stretch>
        </p:blipFill>
        <p:spPr>
          <a:xfrm>
            <a:off x="8331200" y="2082800"/>
            <a:ext cx="76200" cy="101600"/>
          </a:xfrm>
          <a:prstGeom prst="rect">
            <a:avLst/>
          </a:prstGeom>
        </p:spPr>
      </p:pic>
      <p:sp>
        <p:nvSpPr>
          <p:cNvPr id="28" name="Oval 27"/>
          <p:cNvSpPr/>
          <p:nvPr/>
        </p:nvSpPr>
        <p:spPr>
          <a:xfrm>
            <a:off x="8458200" y="1854200"/>
            <a:ext cx="558800" cy="558800"/>
          </a:xfrm>
          <a:prstGeom prst="ellipse">
            <a:avLst/>
          </a:prstGeom>
          <a:solidFill>
            <a:srgbClr val="0F172A"/>
          </a:solidFill>
          <a:ln>
            <a:noFill/>
          </a:ln>
          <a:effectLst/>
        </p:spPr>
        <p:txBody>
          <a:bodyPr rtlCol="0" anchor="ctr"/>
          <a:lstStyle/>
          <a:p>
            <a:pPr algn="ctr"/>
          </a:p>
        </p:txBody>
      </p:sp>
      <p:pic>
        <p:nvPicPr>
          <p:cNvPr id="29" name="Picture 28" descr="vote-FFFFFF.png"/>
          <p:cNvPicPr>
            <a:picLocks noChangeAspect="1"/>
          </p:cNvPicPr>
          <p:nvPr/>
        </p:nvPicPr>
        <p:blipFill>
          <a:blip r:embed="rId7"/>
          <a:stretch>
            <a:fillRect/>
          </a:stretch>
        </p:blipFill>
        <p:spPr>
          <a:xfrm>
            <a:off x="8610600" y="2006600"/>
            <a:ext cx="254000" cy="254000"/>
          </a:xfrm>
          <a:prstGeom prst="rect">
            <a:avLst/>
          </a:prstGeom>
        </p:spPr>
      </p:pic>
      <p:sp>
        <p:nvSpPr>
          <p:cNvPr id="30" name="TextBox 29"/>
          <p:cNvSpPr txBox="1"/>
          <p:nvPr/>
        </p:nvSpPr>
        <p:spPr>
          <a:xfrm>
            <a:off x="7933267"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E</a:t>
            </a:r>
          </a:p>
          <a:p>
            <a:pPr algn="ctr">
              <a:lnSpc>
                <a:spcPct val="100000"/>
              </a:lnSpc>
              <a:spcAft>
                <a:spcPts val="0"/>
              </a:spcAft>
            </a:pPr>
            <a:r>
              <a:rPr sz="1400" b="1">
                <a:solidFill>
                  <a:srgbClr val="0F172A"/>
                </a:solidFill>
                <a:latin typeface="IBM Plex Sans"/>
              </a:rPr>
              <a:t>Voting</a:t>
            </a:r>
          </a:p>
        </p:txBody>
      </p:sp>
      <p:sp>
        <p:nvSpPr>
          <p:cNvPr id="31" name="TextBox 30"/>
          <p:cNvSpPr txBox="1"/>
          <p:nvPr/>
        </p:nvSpPr>
        <p:spPr>
          <a:xfrm>
            <a:off x="7933267"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Analyse proposals on public information</a:t>
            </a:r>
          </a:p>
          <a:p>
            <a:pPr>
              <a:lnSpc>
                <a:spcPct val="112500"/>
              </a:lnSpc>
              <a:spcAft>
                <a:spcPts val="400"/>
              </a:spcAft>
            </a:pPr>
            <a:r>
              <a:rPr sz="1200" b="0">
                <a:solidFill>
                  <a:srgbClr val="0F172A"/>
                </a:solidFill>
                <a:latin typeface="IBM Plex Sans"/>
              </a:rPr>
              <a:t>2. Apply voting controls</a:t>
            </a:r>
          </a:p>
        </p:txBody>
      </p:sp>
      <p:sp>
        <p:nvSpPr>
          <p:cNvPr id="32" name="Rectangle 31"/>
          <p:cNvSpPr/>
          <p:nvPr/>
        </p:nvSpPr>
        <p:spPr>
          <a:xfrm>
            <a:off x="9144000" y="2127250"/>
            <a:ext cx="948267" cy="12700"/>
          </a:xfrm>
          <a:prstGeom prst="rect">
            <a:avLst/>
          </a:prstGeom>
          <a:solidFill>
            <a:srgbClr val="94A3B8"/>
          </a:solidFill>
          <a:ln>
            <a:noFill/>
          </a:ln>
          <a:effectLst/>
        </p:spPr>
        <p:txBody>
          <a:bodyPr rtlCol="0" anchor="ctr"/>
          <a:lstStyle/>
          <a:p>
            <a:pPr algn="ctr"/>
          </a:p>
        </p:txBody>
      </p:sp>
      <p:pic>
        <p:nvPicPr>
          <p:cNvPr id="33" name="Picture 32" descr="arrowhead.png"/>
          <p:cNvPicPr>
            <a:picLocks noChangeAspect="1"/>
          </p:cNvPicPr>
          <p:nvPr/>
        </p:nvPicPr>
        <p:blipFill>
          <a:blip r:embed="rId3"/>
          <a:stretch>
            <a:fillRect/>
          </a:stretch>
        </p:blipFill>
        <p:spPr>
          <a:xfrm>
            <a:off x="10092267" y="2082800"/>
            <a:ext cx="76200" cy="101600"/>
          </a:xfrm>
          <a:prstGeom prst="rect">
            <a:avLst/>
          </a:prstGeom>
        </p:spPr>
      </p:pic>
      <p:sp>
        <p:nvSpPr>
          <p:cNvPr id="34" name="Oval 33"/>
          <p:cNvSpPr/>
          <p:nvPr/>
        </p:nvSpPr>
        <p:spPr>
          <a:xfrm>
            <a:off x="10219267" y="1854200"/>
            <a:ext cx="558800" cy="558800"/>
          </a:xfrm>
          <a:prstGeom prst="ellipse">
            <a:avLst/>
          </a:prstGeom>
          <a:solidFill>
            <a:srgbClr val="0F172A"/>
          </a:solidFill>
          <a:ln>
            <a:noFill/>
          </a:ln>
          <a:effectLst/>
        </p:spPr>
        <p:txBody>
          <a:bodyPr rtlCol="0" anchor="ctr"/>
          <a:lstStyle/>
          <a:p>
            <a:pPr algn="ctr"/>
          </a:p>
        </p:txBody>
      </p:sp>
      <p:pic>
        <p:nvPicPr>
          <p:cNvPr id="35" name="Picture 34" descr="send-FFFFFF.png"/>
          <p:cNvPicPr>
            <a:picLocks noChangeAspect="1"/>
          </p:cNvPicPr>
          <p:nvPr/>
        </p:nvPicPr>
        <p:blipFill>
          <a:blip r:embed="rId8"/>
          <a:stretch>
            <a:fillRect/>
          </a:stretch>
        </p:blipFill>
        <p:spPr>
          <a:xfrm>
            <a:off x="10371667" y="2006600"/>
            <a:ext cx="254000" cy="254000"/>
          </a:xfrm>
          <a:prstGeom prst="rect">
            <a:avLst/>
          </a:prstGeom>
        </p:spPr>
      </p:pic>
      <p:sp>
        <p:nvSpPr>
          <p:cNvPr id="36" name="TextBox 35"/>
          <p:cNvSpPr txBox="1"/>
          <p:nvPr/>
        </p:nvSpPr>
        <p:spPr>
          <a:xfrm>
            <a:off x="9694333"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F</a:t>
            </a:r>
          </a:p>
          <a:p>
            <a:pPr algn="ctr">
              <a:lnSpc>
                <a:spcPct val="100000"/>
              </a:lnSpc>
              <a:spcAft>
                <a:spcPts val="0"/>
              </a:spcAft>
            </a:pPr>
            <a:r>
              <a:rPr sz="1400" b="1">
                <a:solidFill>
                  <a:srgbClr val="0F172A"/>
                </a:solidFill>
                <a:latin typeface="IBM Plex Sans"/>
              </a:rPr>
              <a:t>RFP and disclosure</a:t>
            </a:r>
          </a:p>
        </p:txBody>
      </p:sp>
      <p:sp>
        <p:nvSpPr>
          <p:cNvPr id="37" name="TextBox 36"/>
          <p:cNvSpPr txBox="1"/>
          <p:nvPr/>
        </p:nvSpPr>
        <p:spPr>
          <a:xfrm>
            <a:off x="9694333"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Answer RFPs</a:t>
            </a:r>
          </a:p>
          <a:p>
            <a:pPr>
              <a:lnSpc>
                <a:spcPct val="112500"/>
              </a:lnSpc>
              <a:spcAft>
                <a:spcPts val="400"/>
              </a:spcAft>
            </a:pPr>
            <a:r>
              <a:rPr sz="1200" b="0">
                <a:solidFill>
                  <a:srgbClr val="0F172A"/>
                </a:solidFill>
                <a:latin typeface="IBM Plex Sans"/>
              </a:rPr>
              <a:t>2. Disclose stewardship activity</a:t>
            </a:r>
          </a:p>
        </p:txBody>
      </p:sp>
      <p:sp>
        <p:nvSpPr>
          <p:cNvPr id="38" name="TextBox 3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9" name="TextBox 3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STEWARDSHIP · WHERE ARP STANDS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Foundation and monitoring</a:t>
            </a:r>
          </a:p>
        </p:txBody>
      </p:sp>
      <p:sp>
        <p:nvSpPr>
          <p:cNvPr id="4" name="TextBox 3"/>
          <p:cNvSpPr txBox="1"/>
          <p:nvPr/>
        </p:nvSpPr>
        <p:spPr>
          <a:xfrm>
            <a:off x="812800" y="1854200"/>
            <a:ext cx="1587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STAGE</a:t>
            </a:r>
          </a:p>
        </p:txBody>
      </p:sp>
      <p:sp>
        <p:nvSpPr>
          <p:cNvPr id="5" name="TextBox 4"/>
          <p:cNvSpPr txBox="1"/>
          <p:nvPr/>
        </p:nvSpPr>
        <p:spPr>
          <a:xfrm>
            <a:off x="2552700" y="1854200"/>
            <a:ext cx="2095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STEP</a:t>
            </a:r>
          </a:p>
        </p:txBody>
      </p:sp>
      <p:sp>
        <p:nvSpPr>
          <p:cNvPr id="6" name="TextBox 5"/>
          <p:cNvSpPr txBox="1"/>
          <p:nvPr/>
        </p:nvSpPr>
        <p:spPr>
          <a:xfrm>
            <a:off x="4800600" y="1854200"/>
            <a:ext cx="52197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ARP DOES TODAY</a:t>
            </a:r>
          </a:p>
        </p:txBody>
      </p:sp>
      <p:sp>
        <p:nvSpPr>
          <p:cNvPr id="7" name="TextBox 6"/>
          <p:cNvSpPr txBox="1"/>
          <p:nvPr/>
        </p:nvSpPr>
        <p:spPr>
          <a:xfrm>
            <a:off x="10172700" y="1854200"/>
            <a:ext cx="1206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STATUS</a:t>
            </a:r>
          </a:p>
        </p:txBody>
      </p:sp>
      <p:sp>
        <p:nvSpPr>
          <p:cNvPr id="8" name="Rectangle 7"/>
          <p:cNvSpPr/>
          <p:nvPr/>
        </p:nvSpPr>
        <p:spPr>
          <a:xfrm>
            <a:off x="812800" y="2114550"/>
            <a:ext cx="10566400" cy="6350"/>
          </a:xfrm>
          <a:prstGeom prst="rect">
            <a:avLst/>
          </a:prstGeom>
          <a:solidFill>
            <a:srgbClr val="94A3B8"/>
          </a:solidFill>
          <a:ln>
            <a:noFill/>
          </a:ln>
          <a:effectLst/>
        </p:spPr>
        <p:txBody>
          <a:bodyPr rtlCol="0" anchor="ctr"/>
          <a:lstStyle/>
          <a:p>
            <a:pPr algn="ctr"/>
          </a:p>
        </p:txBody>
      </p:sp>
      <p:sp>
        <p:nvSpPr>
          <p:cNvPr id="9" name="Oval 8"/>
          <p:cNvSpPr/>
          <p:nvPr/>
        </p:nvSpPr>
        <p:spPr>
          <a:xfrm>
            <a:off x="812800" y="2178050"/>
            <a:ext cx="203200" cy="203200"/>
          </a:xfrm>
          <a:prstGeom prst="ellipse">
            <a:avLst/>
          </a:prstGeom>
          <a:solidFill>
            <a:srgbClr val="0F172A"/>
          </a:solidFill>
          <a:ln>
            <a:noFill/>
          </a:ln>
          <a:effectLst/>
        </p:spPr>
        <p:txBody>
          <a:bodyPr rtlCol="0" anchor="ctr"/>
          <a:lstStyle/>
          <a:p>
            <a:pPr algn="ctr"/>
          </a:p>
        </p:txBody>
      </p:sp>
      <p:pic>
        <p:nvPicPr>
          <p:cNvPr id="10" name="Picture 9" descr="compass-FFFFFF.png"/>
          <p:cNvPicPr>
            <a:picLocks noChangeAspect="1"/>
          </p:cNvPicPr>
          <p:nvPr/>
        </p:nvPicPr>
        <p:blipFill>
          <a:blip r:embed="rId2"/>
          <a:stretch>
            <a:fillRect/>
          </a:stretch>
        </p:blipFill>
        <p:spPr>
          <a:xfrm>
            <a:off x="857250" y="2222500"/>
            <a:ext cx="114300" cy="114300"/>
          </a:xfrm>
          <a:prstGeom prst="rect">
            <a:avLst/>
          </a:prstGeom>
        </p:spPr>
      </p:pic>
      <p:sp>
        <p:nvSpPr>
          <p:cNvPr id="11" name="TextBox 10"/>
          <p:cNvSpPr txBox="1"/>
          <p:nvPr/>
        </p:nvSpPr>
        <p:spPr>
          <a:xfrm>
            <a:off x="1066800" y="21780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  Foundation</a:t>
            </a:r>
          </a:p>
        </p:txBody>
      </p:sp>
      <p:sp>
        <p:nvSpPr>
          <p:cNvPr id="12" name="TextBox 11"/>
          <p:cNvSpPr txBox="1"/>
          <p:nvPr/>
        </p:nvSpPr>
        <p:spPr>
          <a:xfrm>
            <a:off x="2552700" y="2178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Spot emerging themes</a:t>
            </a:r>
          </a:p>
        </p:txBody>
      </p:sp>
      <p:sp>
        <p:nvSpPr>
          <p:cNvPr id="13" name="TextBox 12"/>
          <p:cNvSpPr txBox="1"/>
          <p:nvPr/>
        </p:nvSpPr>
        <p:spPr>
          <a:xfrm>
            <a:off x="4800600" y="2178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Emerging Themes Scanner: EDGAR, GDELT, RSS; context brief</a:t>
            </a:r>
          </a:p>
        </p:txBody>
      </p:sp>
      <p:pic>
        <p:nvPicPr>
          <p:cNvPr id="14" name="Picture 13" descr="circle-check-15803D.png"/>
          <p:cNvPicPr>
            <a:picLocks noChangeAspect="1"/>
          </p:cNvPicPr>
          <p:nvPr/>
        </p:nvPicPr>
        <p:blipFill>
          <a:blip r:embed="rId3"/>
          <a:stretch>
            <a:fillRect/>
          </a:stretch>
        </p:blipFill>
        <p:spPr>
          <a:xfrm>
            <a:off x="10172700" y="2203450"/>
            <a:ext cx="152400" cy="152400"/>
          </a:xfrm>
          <a:prstGeom prst="rect">
            <a:avLst/>
          </a:prstGeom>
        </p:spPr>
      </p:pic>
      <p:sp>
        <p:nvSpPr>
          <p:cNvPr id="15" name="TextBox 14"/>
          <p:cNvSpPr txBox="1"/>
          <p:nvPr/>
        </p:nvSpPr>
        <p:spPr>
          <a:xfrm>
            <a:off x="10375900" y="2178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16" name="Rectangle 15"/>
          <p:cNvSpPr/>
          <p:nvPr/>
        </p:nvSpPr>
        <p:spPr>
          <a:xfrm>
            <a:off x="812800" y="2463800"/>
            <a:ext cx="10566400" cy="6350"/>
          </a:xfrm>
          <a:prstGeom prst="rect">
            <a:avLst/>
          </a:prstGeom>
          <a:solidFill>
            <a:srgbClr val="E2E8F0"/>
          </a:solidFill>
          <a:ln>
            <a:noFill/>
          </a:ln>
          <a:effectLst/>
        </p:spPr>
        <p:txBody>
          <a:bodyPr rtlCol="0" anchor="ctr"/>
          <a:lstStyle/>
          <a:p>
            <a:pPr algn="ctr"/>
          </a:p>
        </p:txBody>
      </p:sp>
      <p:sp>
        <p:nvSpPr>
          <p:cNvPr id="17" name="TextBox 16"/>
          <p:cNvSpPr txBox="1"/>
          <p:nvPr/>
        </p:nvSpPr>
        <p:spPr>
          <a:xfrm>
            <a:off x="2552700" y="2527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Activities and taxonomy</a:t>
            </a:r>
          </a:p>
        </p:txBody>
      </p:sp>
      <p:sp>
        <p:nvSpPr>
          <p:cNvPr id="18" name="TextBox 17"/>
          <p:cNvSpPr txBox="1"/>
          <p:nvPr/>
        </p:nvSpPr>
        <p:spPr>
          <a:xfrm>
            <a:off x="4800600" y="2527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Taxonomy Library: five methods, ratified versions</a:t>
            </a:r>
          </a:p>
        </p:txBody>
      </p:sp>
      <p:pic>
        <p:nvPicPr>
          <p:cNvPr id="19" name="Picture 18" descr="circle-check-15803D.png"/>
          <p:cNvPicPr>
            <a:picLocks noChangeAspect="1"/>
          </p:cNvPicPr>
          <p:nvPr/>
        </p:nvPicPr>
        <p:blipFill>
          <a:blip r:embed="rId3"/>
          <a:stretch>
            <a:fillRect/>
          </a:stretch>
        </p:blipFill>
        <p:spPr>
          <a:xfrm>
            <a:off x="10172700" y="2552700"/>
            <a:ext cx="152400" cy="152400"/>
          </a:xfrm>
          <a:prstGeom prst="rect">
            <a:avLst/>
          </a:prstGeom>
        </p:spPr>
      </p:pic>
      <p:sp>
        <p:nvSpPr>
          <p:cNvPr id="20" name="TextBox 19"/>
          <p:cNvSpPr txBox="1"/>
          <p:nvPr/>
        </p:nvSpPr>
        <p:spPr>
          <a:xfrm>
            <a:off x="10375900" y="2527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21" name="Rectangle 20"/>
          <p:cNvSpPr/>
          <p:nvPr/>
        </p:nvSpPr>
        <p:spPr>
          <a:xfrm>
            <a:off x="812800" y="2813050"/>
            <a:ext cx="10566400" cy="6350"/>
          </a:xfrm>
          <a:prstGeom prst="rect">
            <a:avLst/>
          </a:prstGeom>
          <a:solidFill>
            <a:srgbClr val="E2E8F0"/>
          </a:solidFill>
          <a:ln>
            <a:noFill/>
          </a:ln>
          <a:effectLst/>
        </p:spPr>
        <p:txBody>
          <a:bodyPr rtlCol="0" anchor="ctr"/>
          <a:lstStyle/>
          <a:p>
            <a:pPr algn="ctr"/>
          </a:p>
        </p:txBody>
      </p:sp>
      <p:sp>
        <p:nvSpPr>
          <p:cNvPr id="22" name="TextBox 21"/>
          <p:cNvSpPr txBox="1"/>
          <p:nvPr/>
        </p:nvSpPr>
        <p:spPr>
          <a:xfrm>
            <a:off x="2552700" y="2876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Develop positions</a:t>
            </a:r>
          </a:p>
        </p:txBody>
      </p:sp>
      <p:sp>
        <p:nvSpPr>
          <p:cNvPr id="23" name="TextBox 22"/>
          <p:cNvSpPr txBox="1"/>
          <p:nvPr/>
        </p:nvSpPr>
        <p:spPr>
          <a:xfrm>
            <a:off x="4800600" y="2876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Cited research note live; position drafting specified</a:t>
            </a:r>
          </a:p>
        </p:txBody>
      </p:sp>
      <p:pic>
        <p:nvPicPr>
          <p:cNvPr id="24" name="Picture 23" descr="contrast-B45309.png"/>
          <p:cNvPicPr>
            <a:picLocks noChangeAspect="1"/>
          </p:cNvPicPr>
          <p:nvPr/>
        </p:nvPicPr>
        <p:blipFill>
          <a:blip r:embed="rId4"/>
          <a:stretch>
            <a:fillRect/>
          </a:stretch>
        </p:blipFill>
        <p:spPr>
          <a:xfrm>
            <a:off x="10172700" y="2901950"/>
            <a:ext cx="152400" cy="152400"/>
          </a:xfrm>
          <a:prstGeom prst="rect">
            <a:avLst/>
          </a:prstGeom>
        </p:spPr>
      </p:pic>
      <p:sp>
        <p:nvSpPr>
          <p:cNvPr id="25" name="TextBox 24"/>
          <p:cNvSpPr txBox="1"/>
          <p:nvPr/>
        </p:nvSpPr>
        <p:spPr>
          <a:xfrm>
            <a:off x="10375900" y="2876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26" name="Rectangle 25"/>
          <p:cNvSpPr/>
          <p:nvPr/>
        </p:nvSpPr>
        <p:spPr>
          <a:xfrm>
            <a:off x="812800" y="3162300"/>
            <a:ext cx="10566400" cy="6350"/>
          </a:xfrm>
          <a:prstGeom prst="rect">
            <a:avLst/>
          </a:prstGeom>
          <a:solidFill>
            <a:srgbClr val="E2E8F0"/>
          </a:solidFill>
          <a:ln>
            <a:noFill/>
          </a:ln>
          <a:effectLst/>
        </p:spPr>
        <p:txBody>
          <a:bodyPr rtlCol="0" anchor="ctr"/>
          <a:lstStyle/>
          <a:p>
            <a:pPr algn="ctr"/>
          </a:p>
        </p:txBody>
      </p:sp>
      <p:sp>
        <p:nvSpPr>
          <p:cNvPr id="27" name="TextBox 26"/>
          <p:cNvSpPr txBox="1"/>
          <p:nvPr/>
        </p:nvSpPr>
        <p:spPr>
          <a:xfrm>
            <a:off x="2552700" y="3225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Set standards</a:t>
            </a:r>
          </a:p>
        </p:txBody>
      </p:sp>
      <p:sp>
        <p:nvSpPr>
          <p:cNvPr id="28" name="TextBox 27"/>
          <p:cNvSpPr txBox="1"/>
          <p:nvPr/>
        </p:nvSpPr>
        <p:spPr>
          <a:xfrm>
            <a:off x="4800600" y="3225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Position-and-standards step: approved spec, not built</a:t>
            </a:r>
          </a:p>
        </p:txBody>
      </p:sp>
      <p:pic>
        <p:nvPicPr>
          <p:cNvPr id="29" name="Picture 28" descr="circle-dashed-475569.png"/>
          <p:cNvPicPr>
            <a:picLocks noChangeAspect="1"/>
          </p:cNvPicPr>
          <p:nvPr/>
        </p:nvPicPr>
        <p:blipFill>
          <a:blip r:embed="rId5"/>
          <a:stretch>
            <a:fillRect/>
          </a:stretch>
        </p:blipFill>
        <p:spPr>
          <a:xfrm>
            <a:off x="10172700" y="3251200"/>
            <a:ext cx="152400" cy="152400"/>
          </a:xfrm>
          <a:prstGeom prst="rect">
            <a:avLst/>
          </a:prstGeom>
        </p:spPr>
      </p:pic>
      <p:sp>
        <p:nvSpPr>
          <p:cNvPr id="30" name="TextBox 29"/>
          <p:cNvSpPr txBox="1"/>
          <p:nvPr/>
        </p:nvSpPr>
        <p:spPr>
          <a:xfrm>
            <a:off x="10375900" y="3225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Mono"/>
              </a:rPr>
              <a:t>SPECIFIED</a:t>
            </a:r>
          </a:p>
        </p:txBody>
      </p:sp>
      <p:sp>
        <p:nvSpPr>
          <p:cNvPr id="31" name="Rectangle 30"/>
          <p:cNvSpPr/>
          <p:nvPr/>
        </p:nvSpPr>
        <p:spPr>
          <a:xfrm>
            <a:off x="812800" y="3511550"/>
            <a:ext cx="10566400" cy="6350"/>
          </a:xfrm>
          <a:prstGeom prst="rect">
            <a:avLst/>
          </a:prstGeom>
          <a:solidFill>
            <a:srgbClr val="E2E8F0"/>
          </a:solidFill>
          <a:ln>
            <a:noFill/>
          </a:ln>
          <a:effectLst/>
        </p:spPr>
        <p:txBody>
          <a:bodyPr rtlCol="0" anchor="ctr"/>
          <a:lstStyle/>
          <a:p>
            <a:pPr algn="ctr"/>
          </a:p>
        </p:txBody>
      </p:sp>
      <p:sp>
        <p:nvSpPr>
          <p:cNvPr id="32" name="TextBox 31"/>
          <p:cNvSpPr txBox="1"/>
          <p:nvPr/>
        </p:nvSpPr>
        <p:spPr>
          <a:xfrm>
            <a:off x="2552700" y="3575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Data framework, scoring</a:t>
            </a:r>
          </a:p>
        </p:txBody>
      </p:sp>
      <p:sp>
        <p:nvSpPr>
          <p:cNvPr id="33" name="TextBox 32"/>
          <p:cNvSpPr txBox="1"/>
          <p:nvPr/>
        </p:nvSpPr>
        <p:spPr>
          <a:xfrm>
            <a:off x="4800600" y="3575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Schema per ratified taxonomy; Decision Studio scoring</a:t>
            </a:r>
          </a:p>
        </p:txBody>
      </p:sp>
      <p:pic>
        <p:nvPicPr>
          <p:cNvPr id="34" name="Picture 33" descr="circle-check-15803D.png"/>
          <p:cNvPicPr>
            <a:picLocks noChangeAspect="1"/>
          </p:cNvPicPr>
          <p:nvPr/>
        </p:nvPicPr>
        <p:blipFill>
          <a:blip r:embed="rId3"/>
          <a:stretch>
            <a:fillRect/>
          </a:stretch>
        </p:blipFill>
        <p:spPr>
          <a:xfrm>
            <a:off x="10172700" y="3600450"/>
            <a:ext cx="152400" cy="152400"/>
          </a:xfrm>
          <a:prstGeom prst="rect">
            <a:avLst/>
          </a:prstGeom>
        </p:spPr>
      </p:pic>
      <p:sp>
        <p:nvSpPr>
          <p:cNvPr id="35" name="TextBox 34"/>
          <p:cNvSpPr txBox="1"/>
          <p:nvPr/>
        </p:nvSpPr>
        <p:spPr>
          <a:xfrm>
            <a:off x="10375900" y="3575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36" name="Rectangle 35"/>
          <p:cNvSpPr/>
          <p:nvPr/>
        </p:nvSpPr>
        <p:spPr>
          <a:xfrm>
            <a:off x="812800" y="3860800"/>
            <a:ext cx="10566400" cy="6350"/>
          </a:xfrm>
          <a:prstGeom prst="rect">
            <a:avLst/>
          </a:prstGeom>
          <a:solidFill>
            <a:srgbClr val="E2E8F0"/>
          </a:solidFill>
          <a:ln>
            <a:noFill/>
          </a:ln>
          <a:effectLst/>
        </p:spPr>
        <p:txBody>
          <a:bodyPr rtlCol="0" anchor="ctr"/>
          <a:lstStyle/>
          <a:p>
            <a:pPr algn="ctr"/>
          </a:p>
        </p:txBody>
      </p:sp>
      <p:sp>
        <p:nvSpPr>
          <p:cNvPr id="37" name="Oval 36"/>
          <p:cNvSpPr/>
          <p:nvPr/>
        </p:nvSpPr>
        <p:spPr>
          <a:xfrm>
            <a:off x="812800" y="3924300"/>
            <a:ext cx="203200" cy="203200"/>
          </a:xfrm>
          <a:prstGeom prst="ellipse">
            <a:avLst/>
          </a:prstGeom>
          <a:solidFill>
            <a:srgbClr val="0F172A"/>
          </a:solidFill>
          <a:ln>
            <a:noFill/>
          </a:ln>
          <a:effectLst/>
        </p:spPr>
        <p:txBody>
          <a:bodyPr rtlCol="0" anchor="ctr"/>
          <a:lstStyle/>
          <a:p>
            <a:pPr algn="ctr"/>
          </a:p>
        </p:txBody>
      </p:sp>
      <p:pic>
        <p:nvPicPr>
          <p:cNvPr id="38" name="Picture 37" descr="radar-FFFFFF.png"/>
          <p:cNvPicPr>
            <a:picLocks noChangeAspect="1"/>
          </p:cNvPicPr>
          <p:nvPr/>
        </p:nvPicPr>
        <p:blipFill>
          <a:blip r:embed="rId6"/>
          <a:stretch>
            <a:fillRect/>
          </a:stretch>
        </p:blipFill>
        <p:spPr>
          <a:xfrm>
            <a:off x="857250" y="3968750"/>
            <a:ext cx="114300" cy="114300"/>
          </a:xfrm>
          <a:prstGeom prst="rect">
            <a:avLst/>
          </a:prstGeom>
        </p:spPr>
      </p:pic>
      <p:sp>
        <p:nvSpPr>
          <p:cNvPr id="39" name="TextBox 38"/>
          <p:cNvSpPr txBox="1"/>
          <p:nvPr/>
        </p:nvSpPr>
        <p:spPr>
          <a:xfrm>
            <a:off x="1066800" y="392430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B  Monitoring</a:t>
            </a:r>
          </a:p>
        </p:txBody>
      </p:sp>
      <p:sp>
        <p:nvSpPr>
          <p:cNvPr id="40" name="TextBox 39"/>
          <p:cNvSpPr txBox="1"/>
          <p:nvPr/>
        </p:nvSpPr>
        <p:spPr>
          <a:xfrm>
            <a:off x="2552700" y="3924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Monitor companies</a:t>
            </a:r>
          </a:p>
        </p:txBody>
      </p:sp>
      <p:sp>
        <p:nvSpPr>
          <p:cNvPr id="41" name="TextBox 40"/>
          <p:cNvSpPr txBox="1"/>
          <p:nvPr/>
        </p:nvSpPr>
        <p:spPr>
          <a:xfrm>
            <a:off x="4800600" y="3924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Monthly holdings, alerts, triggers; vendor data is sample</a:t>
            </a:r>
          </a:p>
        </p:txBody>
      </p:sp>
      <p:pic>
        <p:nvPicPr>
          <p:cNvPr id="42" name="Picture 41" descr="contrast-B45309.png"/>
          <p:cNvPicPr>
            <a:picLocks noChangeAspect="1"/>
          </p:cNvPicPr>
          <p:nvPr/>
        </p:nvPicPr>
        <p:blipFill>
          <a:blip r:embed="rId4"/>
          <a:stretch>
            <a:fillRect/>
          </a:stretch>
        </p:blipFill>
        <p:spPr>
          <a:xfrm>
            <a:off x="10172700" y="3949700"/>
            <a:ext cx="152400" cy="152400"/>
          </a:xfrm>
          <a:prstGeom prst="rect">
            <a:avLst/>
          </a:prstGeom>
        </p:spPr>
      </p:pic>
      <p:sp>
        <p:nvSpPr>
          <p:cNvPr id="43" name="TextBox 42"/>
          <p:cNvSpPr txBox="1"/>
          <p:nvPr/>
        </p:nvSpPr>
        <p:spPr>
          <a:xfrm>
            <a:off x="10375900" y="3924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44" name="Rectangle 43"/>
          <p:cNvSpPr/>
          <p:nvPr/>
        </p:nvSpPr>
        <p:spPr>
          <a:xfrm>
            <a:off x="812800" y="4210050"/>
            <a:ext cx="10566400" cy="6350"/>
          </a:xfrm>
          <a:prstGeom prst="rect">
            <a:avLst/>
          </a:prstGeom>
          <a:solidFill>
            <a:srgbClr val="E2E8F0"/>
          </a:solidFill>
          <a:ln>
            <a:noFill/>
          </a:ln>
          <a:effectLst/>
        </p:spPr>
        <p:txBody>
          <a:bodyPr rtlCol="0" anchor="ctr"/>
          <a:lstStyle/>
          <a:p>
            <a:pPr algn="ctr"/>
          </a:p>
        </p:txBody>
      </p:sp>
      <p:sp>
        <p:nvSpPr>
          <p:cNvPr id="45" name="TextBox 44"/>
          <p:cNvSpPr txBox="1"/>
          <p:nvPr/>
        </p:nvSpPr>
        <p:spPr>
          <a:xfrm>
            <a:off x="2552700" y="4273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Plans and barriers</a:t>
            </a:r>
          </a:p>
        </p:txBody>
      </p:sp>
      <p:sp>
        <p:nvSpPr>
          <p:cNvPr id="46" name="TextBox 45"/>
          <p:cNvSpPr txBox="1"/>
          <p:nvPr/>
        </p:nvSpPr>
        <p:spPr>
          <a:xfrm>
            <a:off x="4800600" y="4273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64 indicators, plan alignment checks, barrier matrix</a:t>
            </a:r>
          </a:p>
        </p:txBody>
      </p:sp>
      <p:pic>
        <p:nvPicPr>
          <p:cNvPr id="47" name="Picture 46" descr="circle-check-15803D.png"/>
          <p:cNvPicPr>
            <a:picLocks noChangeAspect="1"/>
          </p:cNvPicPr>
          <p:nvPr/>
        </p:nvPicPr>
        <p:blipFill>
          <a:blip r:embed="rId3"/>
          <a:stretch>
            <a:fillRect/>
          </a:stretch>
        </p:blipFill>
        <p:spPr>
          <a:xfrm>
            <a:off x="10172700" y="4298950"/>
            <a:ext cx="152400" cy="152400"/>
          </a:xfrm>
          <a:prstGeom prst="rect">
            <a:avLst/>
          </a:prstGeom>
        </p:spPr>
      </p:pic>
      <p:sp>
        <p:nvSpPr>
          <p:cNvPr id="48" name="TextBox 47"/>
          <p:cNvSpPr txBox="1"/>
          <p:nvPr/>
        </p:nvSpPr>
        <p:spPr>
          <a:xfrm>
            <a:off x="10375900" y="4273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49" name="Rectangle 48"/>
          <p:cNvSpPr/>
          <p:nvPr/>
        </p:nvSpPr>
        <p:spPr>
          <a:xfrm>
            <a:off x="812800" y="4559300"/>
            <a:ext cx="10566400" cy="6350"/>
          </a:xfrm>
          <a:prstGeom prst="rect">
            <a:avLst/>
          </a:prstGeom>
          <a:solidFill>
            <a:srgbClr val="E2E8F0"/>
          </a:solidFill>
          <a:ln>
            <a:noFill/>
          </a:ln>
          <a:effectLst/>
        </p:spPr>
        <p:txBody>
          <a:bodyPr rtlCol="0" anchor="ctr"/>
          <a:lstStyle/>
          <a:p>
            <a:pPr algn="ctr"/>
          </a:p>
        </p:txBody>
      </p:sp>
      <p:sp>
        <p:nvSpPr>
          <p:cNvPr id="50" name="TextBox 49"/>
          <p:cNvSpPr txBox="1"/>
          <p:nvPr/>
        </p:nvSpPr>
        <p:spPr>
          <a:xfrm>
            <a:off x="2552700" y="4622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Select on gaps</a:t>
            </a:r>
          </a:p>
        </p:txBody>
      </p:sp>
      <p:sp>
        <p:nvSpPr>
          <p:cNvPr id="51" name="TextBox 50"/>
          <p:cNvSpPr txBox="1"/>
          <p:nvPr/>
        </p:nvSpPr>
        <p:spPr>
          <a:xfrm>
            <a:off x="4800600" y="4622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Decision Studio tiers feed selection; standards pending</a:t>
            </a:r>
          </a:p>
        </p:txBody>
      </p:sp>
      <p:pic>
        <p:nvPicPr>
          <p:cNvPr id="52" name="Picture 51" descr="contrast-B45309.png"/>
          <p:cNvPicPr>
            <a:picLocks noChangeAspect="1"/>
          </p:cNvPicPr>
          <p:nvPr/>
        </p:nvPicPr>
        <p:blipFill>
          <a:blip r:embed="rId4"/>
          <a:stretch>
            <a:fillRect/>
          </a:stretch>
        </p:blipFill>
        <p:spPr>
          <a:xfrm>
            <a:off x="10172700" y="4648200"/>
            <a:ext cx="152400" cy="152400"/>
          </a:xfrm>
          <a:prstGeom prst="rect">
            <a:avLst/>
          </a:prstGeom>
        </p:spPr>
      </p:pic>
      <p:sp>
        <p:nvSpPr>
          <p:cNvPr id="53" name="TextBox 52"/>
          <p:cNvSpPr txBox="1"/>
          <p:nvPr/>
        </p:nvSpPr>
        <p:spPr>
          <a:xfrm>
            <a:off x="10375900" y="4622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54" name="Rectangle 53"/>
          <p:cNvSpPr/>
          <p:nvPr/>
        </p:nvSpPr>
        <p:spPr>
          <a:xfrm>
            <a:off x="812800" y="4908550"/>
            <a:ext cx="10566400" cy="6350"/>
          </a:xfrm>
          <a:prstGeom prst="rect">
            <a:avLst/>
          </a:prstGeom>
          <a:solidFill>
            <a:srgbClr val="E2E8F0"/>
          </a:solidFill>
          <a:ln>
            <a:noFill/>
          </a:ln>
          <a:effectLst/>
        </p:spPr>
        <p:txBody>
          <a:bodyPr rtlCol="0" anchor="ctr"/>
          <a:lstStyle/>
          <a:p>
            <a:pPr algn="ctr"/>
          </a:p>
        </p:txBody>
      </p:sp>
      <p:sp>
        <p:nvSpPr>
          <p:cNvPr id="55" name="TextBox 5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56" name="TextBox 5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03 / 40</a:t>
            </a:r>
          </a:p>
        </p:txBody>
      </p:sp>
      <p:pic>
        <p:nvPicPr>
          <p:cNvPr id="57" name="Picture 56" descr="circle-check-15803D.png"/>
          <p:cNvPicPr>
            <a:picLocks noChangeAspect="1"/>
          </p:cNvPicPr>
          <p:nvPr/>
        </p:nvPicPr>
        <p:blipFill>
          <a:blip r:embed="rId3"/>
          <a:stretch>
            <a:fillRect/>
          </a:stretch>
        </p:blipFill>
        <p:spPr>
          <a:xfrm>
            <a:off x="4800600" y="6280150"/>
            <a:ext cx="152400" cy="152400"/>
          </a:xfrm>
          <a:prstGeom prst="rect">
            <a:avLst/>
          </a:prstGeom>
        </p:spPr>
      </p:pic>
      <p:sp>
        <p:nvSpPr>
          <p:cNvPr id="58" name="TextBox 57"/>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LIVE</a:t>
            </a:r>
          </a:p>
        </p:txBody>
      </p:sp>
      <p:pic>
        <p:nvPicPr>
          <p:cNvPr id="59" name="Picture 58" descr="contrast-B45309.png"/>
          <p:cNvPicPr>
            <a:picLocks noChangeAspect="1"/>
          </p:cNvPicPr>
          <p:nvPr/>
        </p:nvPicPr>
        <p:blipFill>
          <a:blip r:embed="rId4"/>
          <a:stretch>
            <a:fillRect/>
          </a:stretch>
        </p:blipFill>
        <p:spPr>
          <a:xfrm>
            <a:off x="5562600" y="6280150"/>
            <a:ext cx="152400" cy="152400"/>
          </a:xfrm>
          <a:prstGeom prst="rect">
            <a:avLst/>
          </a:prstGeom>
        </p:spPr>
      </p:pic>
      <p:sp>
        <p:nvSpPr>
          <p:cNvPr id="60" name="TextBox 59"/>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B45309"/>
                </a:solidFill>
                <a:latin typeface="IBM Plex Mono"/>
              </a:rPr>
              <a:t>PARTLY</a:t>
            </a:r>
          </a:p>
        </p:txBody>
      </p:sp>
      <p:pic>
        <p:nvPicPr>
          <p:cNvPr id="61" name="Picture 60" descr="circle-dashed-475569.png"/>
          <p:cNvPicPr>
            <a:picLocks noChangeAspect="1"/>
          </p:cNvPicPr>
          <p:nvPr/>
        </p:nvPicPr>
        <p:blipFill>
          <a:blip r:embed="rId5"/>
          <a:stretch>
            <a:fillRect/>
          </a:stretch>
        </p:blipFill>
        <p:spPr>
          <a:xfrm>
            <a:off x="6527800" y="6280150"/>
            <a:ext cx="152400" cy="152400"/>
          </a:xfrm>
          <a:prstGeom prst="rect">
            <a:avLst/>
          </a:prstGeom>
        </p:spPr>
      </p:pic>
      <p:sp>
        <p:nvSpPr>
          <p:cNvPr id="62" name="TextBox 61"/>
          <p:cNvSpPr txBox="1"/>
          <p:nvPr/>
        </p:nvSpPr>
        <p:spPr>
          <a:xfrm>
            <a:off x="67056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SPECIFIED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STEWARDSHIP · WHERE ARP STANDS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Engagement, follow-up, voting and disclosure</a:t>
            </a:r>
          </a:p>
        </p:txBody>
      </p:sp>
      <p:sp>
        <p:nvSpPr>
          <p:cNvPr id="4" name="TextBox 3"/>
          <p:cNvSpPr txBox="1"/>
          <p:nvPr/>
        </p:nvSpPr>
        <p:spPr>
          <a:xfrm>
            <a:off x="812800" y="1854200"/>
            <a:ext cx="1587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STAGE</a:t>
            </a:r>
          </a:p>
        </p:txBody>
      </p:sp>
      <p:sp>
        <p:nvSpPr>
          <p:cNvPr id="5" name="TextBox 4"/>
          <p:cNvSpPr txBox="1"/>
          <p:nvPr/>
        </p:nvSpPr>
        <p:spPr>
          <a:xfrm>
            <a:off x="2552700" y="1854200"/>
            <a:ext cx="2095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STEP</a:t>
            </a:r>
          </a:p>
        </p:txBody>
      </p:sp>
      <p:sp>
        <p:nvSpPr>
          <p:cNvPr id="6" name="TextBox 5"/>
          <p:cNvSpPr txBox="1"/>
          <p:nvPr/>
        </p:nvSpPr>
        <p:spPr>
          <a:xfrm>
            <a:off x="4800600" y="1854200"/>
            <a:ext cx="52197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ARP DOES TODAY</a:t>
            </a:r>
          </a:p>
        </p:txBody>
      </p:sp>
      <p:sp>
        <p:nvSpPr>
          <p:cNvPr id="7" name="TextBox 6"/>
          <p:cNvSpPr txBox="1"/>
          <p:nvPr/>
        </p:nvSpPr>
        <p:spPr>
          <a:xfrm>
            <a:off x="10172700" y="1854200"/>
            <a:ext cx="1206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STATUS</a:t>
            </a:r>
          </a:p>
        </p:txBody>
      </p:sp>
      <p:sp>
        <p:nvSpPr>
          <p:cNvPr id="8" name="Rectangle 7"/>
          <p:cNvSpPr/>
          <p:nvPr/>
        </p:nvSpPr>
        <p:spPr>
          <a:xfrm>
            <a:off x="812800" y="2114550"/>
            <a:ext cx="10566400" cy="6350"/>
          </a:xfrm>
          <a:prstGeom prst="rect">
            <a:avLst/>
          </a:prstGeom>
          <a:solidFill>
            <a:srgbClr val="94A3B8"/>
          </a:solidFill>
          <a:ln>
            <a:noFill/>
          </a:ln>
          <a:effectLst/>
        </p:spPr>
        <p:txBody>
          <a:bodyPr rtlCol="0" anchor="ctr"/>
          <a:lstStyle/>
          <a:p>
            <a:pPr algn="ctr"/>
          </a:p>
        </p:txBody>
      </p:sp>
      <p:sp>
        <p:nvSpPr>
          <p:cNvPr id="9" name="Oval 8"/>
          <p:cNvSpPr/>
          <p:nvPr/>
        </p:nvSpPr>
        <p:spPr>
          <a:xfrm>
            <a:off x="812800" y="2178050"/>
            <a:ext cx="203200" cy="203200"/>
          </a:xfrm>
          <a:prstGeom prst="ellipse">
            <a:avLst/>
          </a:prstGeom>
          <a:solidFill>
            <a:srgbClr val="0F172A"/>
          </a:solidFill>
          <a:ln>
            <a:noFill/>
          </a:ln>
          <a:effectLst/>
        </p:spPr>
        <p:txBody>
          <a:bodyPr rtlCol="0" anchor="ctr"/>
          <a:lstStyle/>
          <a:p>
            <a:pPr algn="ctr"/>
          </a:p>
        </p:txBody>
      </p:sp>
      <p:pic>
        <p:nvPicPr>
          <p:cNvPr id="10" name="Picture 9" descr="handshake-FFFFFF.png"/>
          <p:cNvPicPr>
            <a:picLocks noChangeAspect="1"/>
          </p:cNvPicPr>
          <p:nvPr/>
        </p:nvPicPr>
        <p:blipFill>
          <a:blip r:embed="rId2"/>
          <a:stretch>
            <a:fillRect/>
          </a:stretch>
        </p:blipFill>
        <p:spPr>
          <a:xfrm>
            <a:off x="857250" y="2222500"/>
            <a:ext cx="114300" cy="114300"/>
          </a:xfrm>
          <a:prstGeom prst="rect">
            <a:avLst/>
          </a:prstGeom>
        </p:spPr>
      </p:pic>
      <p:sp>
        <p:nvSpPr>
          <p:cNvPr id="11" name="TextBox 10"/>
          <p:cNvSpPr txBox="1"/>
          <p:nvPr/>
        </p:nvSpPr>
        <p:spPr>
          <a:xfrm>
            <a:off x="1066800" y="21780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C  Engagement</a:t>
            </a:r>
          </a:p>
        </p:txBody>
      </p:sp>
      <p:sp>
        <p:nvSpPr>
          <p:cNvPr id="12" name="TextBox 11"/>
          <p:cNvSpPr txBox="1"/>
          <p:nvPr/>
        </p:nvSpPr>
        <p:spPr>
          <a:xfrm>
            <a:off x="2552700" y="2178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Prepare the engagement</a:t>
            </a:r>
          </a:p>
        </p:txBody>
      </p:sp>
      <p:sp>
        <p:nvSpPr>
          <p:cNvPr id="13" name="TextBox 12"/>
          <p:cNvSpPr txBox="1"/>
          <p:nvPr/>
        </p:nvSpPr>
        <p:spPr>
          <a:xfrm>
            <a:off x="4800600" y="2178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Research dossier and history; news sits in Feeds</a:t>
            </a:r>
          </a:p>
        </p:txBody>
      </p:sp>
      <p:pic>
        <p:nvPicPr>
          <p:cNvPr id="14" name="Picture 13" descr="contrast-B45309.png"/>
          <p:cNvPicPr>
            <a:picLocks noChangeAspect="1"/>
          </p:cNvPicPr>
          <p:nvPr/>
        </p:nvPicPr>
        <p:blipFill>
          <a:blip r:embed="rId3"/>
          <a:stretch>
            <a:fillRect/>
          </a:stretch>
        </p:blipFill>
        <p:spPr>
          <a:xfrm>
            <a:off x="10172700" y="2203450"/>
            <a:ext cx="152400" cy="152400"/>
          </a:xfrm>
          <a:prstGeom prst="rect">
            <a:avLst/>
          </a:prstGeom>
        </p:spPr>
      </p:pic>
      <p:sp>
        <p:nvSpPr>
          <p:cNvPr id="15" name="TextBox 14"/>
          <p:cNvSpPr txBox="1"/>
          <p:nvPr/>
        </p:nvSpPr>
        <p:spPr>
          <a:xfrm>
            <a:off x="10375900" y="2178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16" name="Rectangle 15"/>
          <p:cNvSpPr/>
          <p:nvPr/>
        </p:nvSpPr>
        <p:spPr>
          <a:xfrm>
            <a:off x="812800" y="2463800"/>
            <a:ext cx="10566400" cy="6350"/>
          </a:xfrm>
          <a:prstGeom prst="rect">
            <a:avLst/>
          </a:prstGeom>
          <a:solidFill>
            <a:srgbClr val="E2E8F0"/>
          </a:solidFill>
          <a:ln>
            <a:noFill/>
          </a:ln>
          <a:effectLst/>
        </p:spPr>
        <p:txBody>
          <a:bodyPr rtlCol="0" anchor="ctr"/>
          <a:lstStyle/>
          <a:p>
            <a:pPr algn="ctr"/>
          </a:p>
        </p:txBody>
      </p:sp>
      <p:sp>
        <p:nvSpPr>
          <p:cNvPr id="17" name="TextBox 16"/>
          <p:cNvSpPr txBox="1"/>
          <p:nvPr/>
        </p:nvSpPr>
        <p:spPr>
          <a:xfrm>
            <a:off x="2552700" y="2527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Letters, emails, invites</a:t>
            </a:r>
          </a:p>
        </p:txBody>
      </p:sp>
      <p:sp>
        <p:nvSpPr>
          <p:cNvPr id="18" name="TextBox 17"/>
          <p:cNvSpPr txBox="1"/>
          <p:nvPr/>
        </p:nvSpPr>
        <p:spPr>
          <a:xfrm>
            <a:off x="4800600" y="2527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Drafting agent writes letters; a person sends them</a:t>
            </a:r>
          </a:p>
        </p:txBody>
      </p:sp>
      <p:pic>
        <p:nvPicPr>
          <p:cNvPr id="19" name="Picture 18" descr="contrast-B45309.png"/>
          <p:cNvPicPr>
            <a:picLocks noChangeAspect="1"/>
          </p:cNvPicPr>
          <p:nvPr/>
        </p:nvPicPr>
        <p:blipFill>
          <a:blip r:embed="rId3"/>
          <a:stretch>
            <a:fillRect/>
          </a:stretch>
        </p:blipFill>
        <p:spPr>
          <a:xfrm>
            <a:off x="10172700" y="2552700"/>
            <a:ext cx="152400" cy="152400"/>
          </a:xfrm>
          <a:prstGeom prst="rect">
            <a:avLst/>
          </a:prstGeom>
        </p:spPr>
      </p:pic>
      <p:sp>
        <p:nvSpPr>
          <p:cNvPr id="20" name="TextBox 19"/>
          <p:cNvSpPr txBox="1"/>
          <p:nvPr/>
        </p:nvSpPr>
        <p:spPr>
          <a:xfrm>
            <a:off x="10375900" y="2527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21" name="Rectangle 20"/>
          <p:cNvSpPr/>
          <p:nvPr/>
        </p:nvSpPr>
        <p:spPr>
          <a:xfrm>
            <a:off x="812800" y="2813050"/>
            <a:ext cx="10566400" cy="6350"/>
          </a:xfrm>
          <a:prstGeom prst="rect">
            <a:avLst/>
          </a:prstGeom>
          <a:solidFill>
            <a:srgbClr val="E2E8F0"/>
          </a:solidFill>
          <a:ln>
            <a:noFill/>
          </a:ln>
          <a:effectLst/>
        </p:spPr>
        <p:txBody>
          <a:bodyPr rtlCol="0" anchor="ctr"/>
          <a:lstStyle/>
          <a:p>
            <a:pPr algn="ctr"/>
          </a:p>
        </p:txBody>
      </p:sp>
      <p:sp>
        <p:nvSpPr>
          <p:cNvPr id="22" name="TextBox 21"/>
          <p:cNvSpPr txBox="1"/>
          <p:nvPr/>
        </p:nvSpPr>
        <p:spPr>
          <a:xfrm>
            <a:off x="2552700" y="2876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Document the meeting</a:t>
            </a:r>
          </a:p>
        </p:txBody>
      </p:sp>
      <p:sp>
        <p:nvSpPr>
          <p:cNvPr id="23" name="TextBox 22"/>
          <p:cNvSpPr txBox="1"/>
          <p:nvPr/>
        </p:nvSpPr>
        <p:spPr>
          <a:xfrm>
            <a:off x="4800600" y="2876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Drafted meeting summary; validated notes log commitments</a:t>
            </a:r>
          </a:p>
        </p:txBody>
      </p:sp>
      <p:pic>
        <p:nvPicPr>
          <p:cNvPr id="24" name="Picture 23" descr="circle-check-15803D.png"/>
          <p:cNvPicPr>
            <a:picLocks noChangeAspect="1"/>
          </p:cNvPicPr>
          <p:nvPr/>
        </p:nvPicPr>
        <p:blipFill>
          <a:blip r:embed="rId4"/>
          <a:stretch>
            <a:fillRect/>
          </a:stretch>
        </p:blipFill>
        <p:spPr>
          <a:xfrm>
            <a:off x="10172700" y="2901950"/>
            <a:ext cx="152400" cy="152400"/>
          </a:xfrm>
          <a:prstGeom prst="rect">
            <a:avLst/>
          </a:prstGeom>
        </p:spPr>
      </p:pic>
      <p:sp>
        <p:nvSpPr>
          <p:cNvPr id="25" name="TextBox 24"/>
          <p:cNvSpPr txBox="1"/>
          <p:nvPr/>
        </p:nvSpPr>
        <p:spPr>
          <a:xfrm>
            <a:off x="10375900" y="2876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26" name="Rectangle 25"/>
          <p:cNvSpPr/>
          <p:nvPr/>
        </p:nvSpPr>
        <p:spPr>
          <a:xfrm>
            <a:off x="812800" y="3162300"/>
            <a:ext cx="10566400" cy="6350"/>
          </a:xfrm>
          <a:prstGeom prst="rect">
            <a:avLst/>
          </a:prstGeom>
          <a:solidFill>
            <a:srgbClr val="E2E8F0"/>
          </a:solidFill>
          <a:ln>
            <a:noFill/>
          </a:ln>
          <a:effectLst/>
        </p:spPr>
        <p:txBody>
          <a:bodyPr rtlCol="0" anchor="ctr"/>
          <a:lstStyle/>
          <a:p>
            <a:pPr algn="ctr"/>
          </a:p>
        </p:txBody>
      </p:sp>
      <p:sp>
        <p:nvSpPr>
          <p:cNvPr id="27" name="Oval 26"/>
          <p:cNvSpPr/>
          <p:nvPr/>
        </p:nvSpPr>
        <p:spPr>
          <a:xfrm>
            <a:off x="812800" y="3225800"/>
            <a:ext cx="203200" cy="203200"/>
          </a:xfrm>
          <a:prstGeom prst="ellipse">
            <a:avLst/>
          </a:prstGeom>
          <a:solidFill>
            <a:srgbClr val="0F172A"/>
          </a:solidFill>
          <a:ln>
            <a:noFill/>
          </a:ln>
          <a:effectLst/>
        </p:spPr>
        <p:txBody>
          <a:bodyPr rtlCol="0" anchor="ctr"/>
          <a:lstStyle/>
          <a:p>
            <a:pPr algn="ctr"/>
          </a:p>
        </p:txBody>
      </p:sp>
      <p:pic>
        <p:nvPicPr>
          <p:cNvPr id="28" name="Picture 27" descr="trending-up-FFFFFF.png"/>
          <p:cNvPicPr>
            <a:picLocks noChangeAspect="1"/>
          </p:cNvPicPr>
          <p:nvPr/>
        </p:nvPicPr>
        <p:blipFill>
          <a:blip r:embed="rId5"/>
          <a:stretch>
            <a:fillRect/>
          </a:stretch>
        </p:blipFill>
        <p:spPr>
          <a:xfrm>
            <a:off x="857250" y="3270250"/>
            <a:ext cx="114300" cy="114300"/>
          </a:xfrm>
          <a:prstGeom prst="rect">
            <a:avLst/>
          </a:prstGeom>
        </p:spPr>
      </p:pic>
      <p:sp>
        <p:nvSpPr>
          <p:cNvPr id="29" name="TextBox 28"/>
          <p:cNvSpPr txBox="1"/>
          <p:nvPr/>
        </p:nvSpPr>
        <p:spPr>
          <a:xfrm>
            <a:off x="1066800" y="322580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  Follow-up</a:t>
            </a:r>
          </a:p>
        </p:txBody>
      </p:sp>
      <p:sp>
        <p:nvSpPr>
          <p:cNvPr id="30" name="TextBox 29"/>
          <p:cNvSpPr txBox="1"/>
          <p:nvPr/>
        </p:nvSpPr>
        <p:spPr>
          <a:xfrm>
            <a:off x="2552700" y="3225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Monitor progress</a:t>
            </a:r>
          </a:p>
        </p:txBody>
      </p:sp>
      <p:sp>
        <p:nvSpPr>
          <p:cNvPr id="31" name="TextBox 30"/>
          <p:cNvSpPr txBox="1"/>
          <p:nvPr/>
        </p:nvSpPr>
        <p:spPr>
          <a:xfrm>
            <a:off x="4800600" y="3225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Milestone tracking; 45-day stall sweep run on demand</a:t>
            </a:r>
          </a:p>
        </p:txBody>
      </p:sp>
      <p:pic>
        <p:nvPicPr>
          <p:cNvPr id="32" name="Picture 31" descr="contrast-B45309.png"/>
          <p:cNvPicPr>
            <a:picLocks noChangeAspect="1"/>
          </p:cNvPicPr>
          <p:nvPr/>
        </p:nvPicPr>
        <p:blipFill>
          <a:blip r:embed="rId3"/>
          <a:stretch>
            <a:fillRect/>
          </a:stretch>
        </p:blipFill>
        <p:spPr>
          <a:xfrm>
            <a:off x="10172700" y="3251200"/>
            <a:ext cx="152400" cy="152400"/>
          </a:xfrm>
          <a:prstGeom prst="rect">
            <a:avLst/>
          </a:prstGeom>
        </p:spPr>
      </p:pic>
      <p:sp>
        <p:nvSpPr>
          <p:cNvPr id="33" name="TextBox 32"/>
          <p:cNvSpPr txBox="1"/>
          <p:nvPr/>
        </p:nvSpPr>
        <p:spPr>
          <a:xfrm>
            <a:off x="10375900" y="3225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34" name="Rectangle 33"/>
          <p:cNvSpPr/>
          <p:nvPr/>
        </p:nvSpPr>
        <p:spPr>
          <a:xfrm>
            <a:off x="812800" y="3511550"/>
            <a:ext cx="10566400" cy="6350"/>
          </a:xfrm>
          <a:prstGeom prst="rect">
            <a:avLst/>
          </a:prstGeom>
          <a:solidFill>
            <a:srgbClr val="E2E8F0"/>
          </a:solidFill>
          <a:ln>
            <a:noFill/>
          </a:ln>
          <a:effectLst/>
        </p:spPr>
        <p:txBody>
          <a:bodyPr rtlCol="0" anchor="ctr"/>
          <a:lstStyle/>
          <a:p>
            <a:pPr algn="ctr"/>
          </a:p>
        </p:txBody>
      </p:sp>
      <p:sp>
        <p:nvSpPr>
          <p:cNvPr id="35" name="TextBox 34"/>
          <p:cNvSpPr txBox="1"/>
          <p:nvPr/>
        </p:nvSpPr>
        <p:spPr>
          <a:xfrm>
            <a:off x="2552700" y="3575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Find, verify evidence</a:t>
            </a:r>
          </a:p>
        </p:txBody>
      </p:sp>
      <p:sp>
        <p:nvSpPr>
          <p:cNvPr id="36" name="TextBox 35"/>
          <p:cNvSpPr txBox="1"/>
          <p:nvPr/>
        </p:nvSpPr>
        <p:spPr>
          <a:xfrm>
            <a:off x="4800600" y="3575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Cited extraction re-reads reports; linking is manual</a:t>
            </a:r>
          </a:p>
        </p:txBody>
      </p:sp>
      <p:pic>
        <p:nvPicPr>
          <p:cNvPr id="37" name="Picture 36" descr="contrast-B45309.png"/>
          <p:cNvPicPr>
            <a:picLocks noChangeAspect="1"/>
          </p:cNvPicPr>
          <p:nvPr/>
        </p:nvPicPr>
        <p:blipFill>
          <a:blip r:embed="rId3"/>
          <a:stretch>
            <a:fillRect/>
          </a:stretch>
        </p:blipFill>
        <p:spPr>
          <a:xfrm>
            <a:off x="10172700" y="3600450"/>
            <a:ext cx="152400" cy="152400"/>
          </a:xfrm>
          <a:prstGeom prst="rect">
            <a:avLst/>
          </a:prstGeom>
        </p:spPr>
      </p:pic>
      <p:sp>
        <p:nvSpPr>
          <p:cNvPr id="38" name="TextBox 37"/>
          <p:cNvSpPr txBox="1"/>
          <p:nvPr/>
        </p:nvSpPr>
        <p:spPr>
          <a:xfrm>
            <a:off x="10375900" y="3575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39" name="Rectangle 38"/>
          <p:cNvSpPr/>
          <p:nvPr/>
        </p:nvSpPr>
        <p:spPr>
          <a:xfrm>
            <a:off x="812800" y="3860800"/>
            <a:ext cx="10566400" cy="6350"/>
          </a:xfrm>
          <a:prstGeom prst="rect">
            <a:avLst/>
          </a:prstGeom>
          <a:solidFill>
            <a:srgbClr val="E2E8F0"/>
          </a:solidFill>
          <a:ln>
            <a:noFill/>
          </a:ln>
          <a:effectLst/>
        </p:spPr>
        <p:txBody>
          <a:bodyPr rtlCol="0" anchor="ctr"/>
          <a:lstStyle/>
          <a:p>
            <a:pPr algn="ctr"/>
          </a:p>
        </p:txBody>
      </p:sp>
      <p:sp>
        <p:nvSpPr>
          <p:cNvPr id="40" name="TextBox 39"/>
          <p:cNvSpPr txBox="1"/>
          <p:nvPr/>
        </p:nvSpPr>
        <p:spPr>
          <a:xfrm>
            <a:off x="2552700" y="3924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Propose escalation</a:t>
            </a:r>
          </a:p>
        </p:txBody>
      </p:sp>
      <p:sp>
        <p:nvSpPr>
          <p:cNvPr id="41" name="TextBox 40"/>
          <p:cNvSpPr txBox="1"/>
          <p:nvPr/>
        </p:nvSpPr>
        <p:spPr>
          <a:xfrm>
            <a:off x="4800600" y="3924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Escalation rules propose a ladder step; a person decides</a:t>
            </a:r>
          </a:p>
        </p:txBody>
      </p:sp>
      <p:pic>
        <p:nvPicPr>
          <p:cNvPr id="42" name="Picture 41" descr="circle-check-15803D.png"/>
          <p:cNvPicPr>
            <a:picLocks noChangeAspect="1"/>
          </p:cNvPicPr>
          <p:nvPr/>
        </p:nvPicPr>
        <p:blipFill>
          <a:blip r:embed="rId4"/>
          <a:stretch>
            <a:fillRect/>
          </a:stretch>
        </p:blipFill>
        <p:spPr>
          <a:xfrm>
            <a:off x="10172700" y="3949700"/>
            <a:ext cx="152400" cy="152400"/>
          </a:xfrm>
          <a:prstGeom prst="rect">
            <a:avLst/>
          </a:prstGeom>
        </p:spPr>
      </p:pic>
      <p:sp>
        <p:nvSpPr>
          <p:cNvPr id="43" name="TextBox 42"/>
          <p:cNvSpPr txBox="1"/>
          <p:nvPr/>
        </p:nvSpPr>
        <p:spPr>
          <a:xfrm>
            <a:off x="10375900" y="3924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44" name="Rectangle 43"/>
          <p:cNvSpPr/>
          <p:nvPr/>
        </p:nvSpPr>
        <p:spPr>
          <a:xfrm>
            <a:off x="812800" y="4210050"/>
            <a:ext cx="10566400" cy="6350"/>
          </a:xfrm>
          <a:prstGeom prst="rect">
            <a:avLst/>
          </a:prstGeom>
          <a:solidFill>
            <a:srgbClr val="E2E8F0"/>
          </a:solidFill>
          <a:ln>
            <a:noFill/>
          </a:ln>
          <a:effectLst/>
        </p:spPr>
        <p:txBody>
          <a:bodyPr rtlCol="0" anchor="ctr"/>
          <a:lstStyle/>
          <a:p>
            <a:pPr algn="ctr"/>
          </a:p>
        </p:txBody>
      </p:sp>
      <p:sp>
        <p:nvSpPr>
          <p:cNvPr id="45" name="Oval 44"/>
          <p:cNvSpPr/>
          <p:nvPr/>
        </p:nvSpPr>
        <p:spPr>
          <a:xfrm>
            <a:off x="812800" y="4273550"/>
            <a:ext cx="203200" cy="203200"/>
          </a:xfrm>
          <a:prstGeom prst="ellipse">
            <a:avLst/>
          </a:prstGeom>
          <a:solidFill>
            <a:srgbClr val="0F172A"/>
          </a:solidFill>
          <a:ln>
            <a:noFill/>
          </a:ln>
          <a:effectLst/>
        </p:spPr>
        <p:txBody>
          <a:bodyPr rtlCol="0" anchor="ctr"/>
          <a:lstStyle/>
          <a:p>
            <a:pPr algn="ctr"/>
          </a:p>
        </p:txBody>
      </p:sp>
      <p:pic>
        <p:nvPicPr>
          <p:cNvPr id="46" name="Picture 45" descr="vote-FFFFFF.png"/>
          <p:cNvPicPr>
            <a:picLocks noChangeAspect="1"/>
          </p:cNvPicPr>
          <p:nvPr/>
        </p:nvPicPr>
        <p:blipFill>
          <a:blip r:embed="rId6"/>
          <a:stretch>
            <a:fillRect/>
          </a:stretch>
        </p:blipFill>
        <p:spPr>
          <a:xfrm>
            <a:off x="857250" y="4318000"/>
            <a:ext cx="114300" cy="114300"/>
          </a:xfrm>
          <a:prstGeom prst="rect">
            <a:avLst/>
          </a:prstGeom>
        </p:spPr>
      </p:pic>
      <p:sp>
        <p:nvSpPr>
          <p:cNvPr id="47" name="TextBox 46"/>
          <p:cNvSpPr txBox="1"/>
          <p:nvPr/>
        </p:nvSpPr>
        <p:spPr>
          <a:xfrm>
            <a:off x="1066800" y="42735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E  Voting</a:t>
            </a:r>
          </a:p>
        </p:txBody>
      </p:sp>
      <p:sp>
        <p:nvSpPr>
          <p:cNvPr id="48" name="TextBox 47"/>
          <p:cNvSpPr txBox="1"/>
          <p:nvPr/>
        </p:nvSpPr>
        <p:spPr>
          <a:xfrm>
            <a:off x="2552700" y="4273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Analyse proposals</a:t>
            </a:r>
          </a:p>
        </p:txBody>
      </p:sp>
      <p:sp>
        <p:nvSpPr>
          <p:cNvPr id="49" name="TextBox 48"/>
          <p:cNvSpPr txBox="1"/>
          <p:nvPr/>
        </p:nvSpPr>
        <p:spPr>
          <a:xfrm>
            <a:off x="4800600" y="4273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US DEF 14A proposals cited; house rules, then judgment</a:t>
            </a:r>
          </a:p>
        </p:txBody>
      </p:sp>
      <p:pic>
        <p:nvPicPr>
          <p:cNvPr id="50" name="Picture 49" descr="contrast-B45309.png"/>
          <p:cNvPicPr>
            <a:picLocks noChangeAspect="1"/>
          </p:cNvPicPr>
          <p:nvPr/>
        </p:nvPicPr>
        <p:blipFill>
          <a:blip r:embed="rId3"/>
          <a:stretch>
            <a:fillRect/>
          </a:stretch>
        </p:blipFill>
        <p:spPr>
          <a:xfrm>
            <a:off x="10172700" y="4298950"/>
            <a:ext cx="152400" cy="152400"/>
          </a:xfrm>
          <a:prstGeom prst="rect">
            <a:avLst/>
          </a:prstGeom>
        </p:spPr>
      </p:pic>
      <p:sp>
        <p:nvSpPr>
          <p:cNvPr id="51" name="TextBox 50"/>
          <p:cNvSpPr txBox="1"/>
          <p:nvPr/>
        </p:nvSpPr>
        <p:spPr>
          <a:xfrm>
            <a:off x="10375900" y="4273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52" name="Rectangle 51"/>
          <p:cNvSpPr/>
          <p:nvPr/>
        </p:nvSpPr>
        <p:spPr>
          <a:xfrm>
            <a:off x="812800" y="4559300"/>
            <a:ext cx="10566400" cy="6350"/>
          </a:xfrm>
          <a:prstGeom prst="rect">
            <a:avLst/>
          </a:prstGeom>
          <a:solidFill>
            <a:srgbClr val="E2E8F0"/>
          </a:solidFill>
          <a:ln>
            <a:noFill/>
          </a:ln>
          <a:effectLst/>
        </p:spPr>
        <p:txBody>
          <a:bodyPr rtlCol="0" anchor="ctr"/>
          <a:lstStyle/>
          <a:p>
            <a:pPr algn="ctr"/>
          </a:p>
        </p:txBody>
      </p:sp>
      <p:sp>
        <p:nvSpPr>
          <p:cNvPr id="53" name="TextBox 52"/>
          <p:cNvSpPr txBox="1"/>
          <p:nvPr/>
        </p:nvSpPr>
        <p:spPr>
          <a:xfrm>
            <a:off x="2552700" y="4622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Voting controls</a:t>
            </a:r>
          </a:p>
        </p:txBody>
      </p:sp>
      <p:sp>
        <p:nvSpPr>
          <p:cNvPr id="54" name="TextBox 53"/>
          <p:cNvSpPr txBox="1"/>
          <p:nvPr/>
        </p:nvSpPr>
        <p:spPr>
          <a:xfrm>
            <a:off x="4800600" y="4622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Engagement cross-check, decision per item, co-signer</a:t>
            </a:r>
          </a:p>
        </p:txBody>
      </p:sp>
      <p:pic>
        <p:nvPicPr>
          <p:cNvPr id="55" name="Picture 54" descr="circle-check-15803D.png"/>
          <p:cNvPicPr>
            <a:picLocks noChangeAspect="1"/>
          </p:cNvPicPr>
          <p:nvPr/>
        </p:nvPicPr>
        <p:blipFill>
          <a:blip r:embed="rId4"/>
          <a:stretch>
            <a:fillRect/>
          </a:stretch>
        </p:blipFill>
        <p:spPr>
          <a:xfrm>
            <a:off x="10172700" y="4648200"/>
            <a:ext cx="152400" cy="152400"/>
          </a:xfrm>
          <a:prstGeom prst="rect">
            <a:avLst/>
          </a:prstGeom>
        </p:spPr>
      </p:pic>
      <p:sp>
        <p:nvSpPr>
          <p:cNvPr id="56" name="TextBox 55"/>
          <p:cNvSpPr txBox="1"/>
          <p:nvPr/>
        </p:nvSpPr>
        <p:spPr>
          <a:xfrm>
            <a:off x="10375900" y="4622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57" name="Rectangle 56"/>
          <p:cNvSpPr/>
          <p:nvPr/>
        </p:nvSpPr>
        <p:spPr>
          <a:xfrm>
            <a:off x="812800" y="4908550"/>
            <a:ext cx="10566400" cy="6350"/>
          </a:xfrm>
          <a:prstGeom prst="rect">
            <a:avLst/>
          </a:prstGeom>
          <a:solidFill>
            <a:srgbClr val="E2E8F0"/>
          </a:solidFill>
          <a:ln>
            <a:noFill/>
          </a:ln>
          <a:effectLst/>
        </p:spPr>
        <p:txBody>
          <a:bodyPr rtlCol="0" anchor="ctr"/>
          <a:lstStyle/>
          <a:p>
            <a:pPr algn="ctr"/>
          </a:p>
        </p:txBody>
      </p:sp>
      <p:sp>
        <p:nvSpPr>
          <p:cNvPr id="58" name="Oval 57"/>
          <p:cNvSpPr/>
          <p:nvPr/>
        </p:nvSpPr>
        <p:spPr>
          <a:xfrm>
            <a:off x="812800" y="4972050"/>
            <a:ext cx="203200" cy="203200"/>
          </a:xfrm>
          <a:prstGeom prst="ellipse">
            <a:avLst/>
          </a:prstGeom>
          <a:solidFill>
            <a:srgbClr val="0F172A"/>
          </a:solidFill>
          <a:ln>
            <a:noFill/>
          </a:ln>
          <a:effectLst/>
        </p:spPr>
        <p:txBody>
          <a:bodyPr rtlCol="0" anchor="ctr"/>
          <a:lstStyle/>
          <a:p>
            <a:pPr algn="ctr"/>
          </a:p>
        </p:txBody>
      </p:sp>
      <p:pic>
        <p:nvPicPr>
          <p:cNvPr id="59" name="Picture 58" descr="send-FFFFFF.png"/>
          <p:cNvPicPr>
            <a:picLocks noChangeAspect="1"/>
          </p:cNvPicPr>
          <p:nvPr/>
        </p:nvPicPr>
        <p:blipFill>
          <a:blip r:embed="rId7"/>
          <a:stretch>
            <a:fillRect/>
          </a:stretch>
        </p:blipFill>
        <p:spPr>
          <a:xfrm>
            <a:off x="857250" y="5016500"/>
            <a:ext cx="114300" cy="114300"/>
          </a:xfrm>
          <a:prstGeom prst="rect">
            <a:avLst/>
          </a:prstGeom>
        </p:spPr>
      </p:pic>
      <p:sp>
        <p:nvSpPr>
          <p:cNvPr id="60" name="TextBox 59"/>
          <p:cNvSpPr txBox="1"/>
          <p:nvPr/>
        </p:nvSpPr>
        <p:spPr>
          <a:xfrm>
            <a:off x="1066800" y="49720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F  Disclosure</a:t>
            </a:r>
          </a:p>
        </p:txBody>
      </p:sp>
      <p:sp>
        <p:nvSpPr>
          <p:cNvPr id="61" name="TextBox 60"/>
          <p:cNvSpPr txBox="1"/>
          <p:nvPr/>
        </p:nvSpPr>
        <p:spPr>
          <a:xfrm>
            <a:off x="2552700" y="4972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Answer RFPs</a:t>
            </a:r>
          </a:p>
        </p:txBody>
      </p:sp>
      <p:sp>
        <p:nvSpPr>
          <p:cNvPr id="62" name="TextBox 61"/>
          <p:cNvSpPr txBox="1"/>
          <p:nvPr/>
        </p:nvSpPr>
        <p:spPr>
          <a:xfrm>
            <a:off x="4800600" y="4972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Answer library, auto-fill, four-eyes, export</a:t>
            </a:r>
          </a:p>
        </p:txBody>
      </p:sp>
      <p:pic>
        <p:nvPicPr>
          <p:cNvPr id="63" name="Picture 62" descr="circle-check-15803D.png"/>
          <p:cNvPicPr>
            <a:picLocks noChangeAspect="1"/>
          </p:cNvPicPr>
          <p:nvPr/>
        </p:nvPicPr>
        <p:blipFill>
          <a:blip r:embed="rId4"/>
          <a:stretch>
            <a:fillRect/>
          </a:stretch>
        </p:blipFill>
        <p:spPr>
          <a:xfrm>
            <a:off x="10172700" y="4997450"/>
            <a:ext cx="152400" cy="152400"/>
          </a:xfrm>
          <a:prstGeom prst="rect">
            <a:avLst/>
          </a:prstGeom>
        </p:spPr>
      </p:pic>
      <p:sp>
        <p:nvSpPr>
          <p:cNvPr id="64" name="TextBox 63"/>
          <p:cNvSpPr txBox="1"/>
          <p:nvPr/>
        </p:nvSpPr>
        <p:spPr>
          <a:xfrm>
            <a:off x="10375900" y="4972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65" name="Rectangle 64"/>
          <p:cNvSpPr/>
          <p:nvPr/>
        </p:nvSpPr>
        <p:spPr>
          <a:xfrm>
            <a:off x="812800" y="5257800"/>
            <a:ext cx="10566400" cy="6350"/>
          </a:xfrm>
          <a:prstGeom prst="rect">
            <a:avLst/>
          </a:prstGeom>
          <a:solidFill>
            <a:srgbClr val="E2E8F0"/>
          </a:solidFill>
          <a:ln>
            <a:noFill/>
          </a:ln>
          <a:effectLst/>
        </p:spPr>
        <p:txBody>
          <a:bodyPr rtlCol="0" anchor="ctr"/>
          <a:lstStyle/>
          <a:p>
            <a:pPr algn="ctr"/>
          </a:p>
        </p:txBody>
      </p:sp>
      <p:sp>
        <p:nvSpPr>
          <p:cNvPr id="66" name="TextBox 65"/>
          <p:cNvSpPr txBox="1"/>
          <p:nvPr/>
        </p:nvSpPr>
        <p:spPr>
          <a:xfrm>
            <a:off x="2552700" y="5321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Disclose</a:t>
            </a:r>
          </a:p>
        </p:txBody>
      </p:sp>
      <p:sp>
        <p:nvSpPr>
          <p:cNvPr id="67" name="TextBox 66"/>
          <p:cNvSpPr txBox="1"/>
          <p:nvPr/>
        </p:nvSpPr>
        <p:spPr>
          <a:xfrm>
            <a:off x="4800600" y="5321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Client report on sample data; vote disclosure not built</a:t>
            </a:r>
          </a:p>
        </p:txBody>
      </p:sp>
      <p:pic>
        <p:nvPicPr>
          <p:cNvPr id="68" name="Picture 67" descr="contrast-B45309.png"/>
          <p:cNvPicPr>
            <a:picLocks noChangeAspect="1"/>
          </p:cNvPicPr>
          <p:nvPr/>
        </p:nvPicPr>
        <p:blipFill>
          <a:blip r:embed="rId3"/>
          <a:stretch>
            <a:fillRect/>
          </a:stretch>
        </p:blipFill>
        <p:spPr>
          <a:xfrm>
            <a:off x="10172700" y="5346700"/>
            <a:ext cx="152400" cy="152400"/>
          </a:xfrm>
          <a:prstGeom prst="rect">
            <a:avLst/>
          </a:prstGeom>
        </p:spPr>
      </p:pic>
      <p:sp>
        <p:nvSpPr>
          <p:cNvPr id="69" name="TextBox 68"/>
          <p:cNvSpPr txBox="1"/>
          <p:nvPr/>
        </p:nvSpPr>
        <p:spPr>
          <a:xfrm>
            <a:off x="10375900" y="5321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70" name="Rectangle 69"/>
          <p:cNvSpPr/>
          <p:nvPr/>
        </p:nvSpPr>
        <p:spPr>
          <a:xfrm>
            <a:off x="812800" y="5607050"/>
            <a:ext cx="10566400" cy="6350"/>
          </a:xfrm>
          <a:prstGeom prst="rect">
            <a:avLst/>
          </a:prstGeom>
          <a:solidFill>
            <a:srgbClr val="E2E8F0"/>
          </a:solidFill>
          <a:ln>
            <a:noFill/>
          </a:ln>
          <a:effectLst/>
        </p:spPr>
        <p:txBody>
          <a:bodyPr rtlCol="0" anchor="ctr"/>
          <a:lstStyle/>
          <a:p>
            <a:pPr algn="ctr"/>
          </a:p>
        </p:txBody>
      </p:sp>
      <p:sp>
        <p:nvSpPr>
          <p:cNvPr id="71" name="TextBox 70"/>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72" name="TextBox 71"/>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04 / 40</a:t>
            </a:r>
          </a:p>
        </p:txBody>
      </p:sp>
      <p:pic>
        <p:nvPicPr>
          <p:cNvPr id="73" name="Picture 72" descr="circle-check-15803D.png"/>
          <p:cNvPicPr>
            <a:picLocks noChangeAspect="1"/>
          </p:cNvPicPr>
          <p:nvPr/>
        </p:nvPicPr>
        <p:blipFill>
          <a:blip r:embed="rId4"/>
          <a:stretch>
            <a:fillRect/>
          </a:stretch>
        </p:blipFill>
        <p:spPr>
          <a:xfrm>
            <a:off x="4800600" y="6280150"/>
            <a:ext cx="152400" cy="152400"/>
          </a:xfrm>
          <a:prstGeom prst="rect">
            <a:avLst/>
          </a:prstGeom>
        </p:spPr>
      </p:pic>
      <p:sp>
        <p:nvSpPr>
          <p:cNvPr id="74" name="TextBox 73"/>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LIVE</a:t>
            </a:r>
          </a:p>
        </p:txBody>
      </p:sp>
      <p:pic>
        <p:nvPicPr>
          <p:cNvPr id="75" name="Picture 74" descr="contrast-B45309.png"/>
          <p:cNvPicPr>
            <a:picLocks noChangeAspect="1"/>
          </p:cNvPicPr>
          <p:nvPr/>
        </p:nvPicPr>
        <p:blipFill>
          <a:blip r:embed="rId3"/>
          <a:stretch>
            <a:fillRect/>
          </a:stretch>
        </p:blipFill>
        <p:spPr>
          <a:xfrm>
            <a:off x="5562600" y="6280150"/>
            <a:ext cx="152400" cy="152400"/>
          </a:xfrm>
          <a:prstGeom prst="rect">
            <a:avLst/>
          </a:prstGeom>
        </p:spPr>
      </p:pic>
      <p:sp>
        <p:nvSpPr>
          <p:cNvPr id="76" name="TextBox 75"/>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B45309"/>
                </a:solidFill>
                <a:latin typeface="IBM Plex Mono"/>
              </a:rPr>
              <a:t>PARTLY</a:t>
            </a:r>
          </a:p>
        </p:txBody>
      </p:sp>
      <p:pic>
        <p:nvPicPr>
          <p:cNvPr id="77" name="Picture 76" descr="circle-dashed-475569.png"/>
          <p:cNvPicPr>
            <a:picLocks noChangeAspect="1"/>
          </p:cNvPicPr>
          <p:nvPr/>
        </p:nvPicPr>
        <p:blipFill>
          <a:blip r:embed="rId8"/>
          <a:stretch>
            <a:fillRect/>
          </a:stretch>
        </p:blipFill>
        <p:spPr>
          <a:xfrm>
            <a:off x="6527800" y="6280150"/>
            <a:ext cx="152400" cy="152400"/>
          </a:xfrm>
          <a:prstGeom prst="rect">
            <a:avLst/>
          </a:prstGeom>
        </p:spPr>
      </p:pic>
      <p:sp>
        <p:nvSpPr>
          <p:cNvPr id="78" name="TextBox 77"/>
          <p:cNvSpPr txBox="1"/>
          <p:nvPr/>
        </p:nvSpPr>
        <p:spPr>
          <a:xfrm>
            <a:off x="67056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SPECIFIED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THE APP</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One app, five workspaces</a:t>
            </a:r>
          </a:p>
        </p:txBody>
      </p:sp>
      <p:sp>
        <p:nvSpPr>
          <p:cNvPr id="4" name="Rounded Rectangle 3"/>
          <p:cNvSpPr/>
          <p:nvPr/>
        </p:nvSpPr>
        <p:spPr>
          <a:xfrm>
            <a:off x="81280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5" name="Oval 4"/>
          <p:cNvSpPr/>
          <p:nvPr/>
        </p:nvSpPr>
        <p:spPr>
          <a:xfrm>
            <a:off x="965200" y="2006600"/>
            <a:ext cx="304800" cy="304800"/>
          </a:xfrm>
          <a:prstGeom prst="ellipse">
            <a:avLst/>
          </a:prstGeom>
          <a:solidFill>
            <a:srgbClr val="0F172A"/>
          </a:solidFill>
          <a:ln>
            <a:noFill/>
          </a:ln>
          <a:effectLst/>
        </p:spPr>
        <p:txBody>
          <a:bodyPr rtlCol="0" anchor="ctr"/>
          <a:lstStyle/>
          <a:p>
            <a:pPr algn="ctr"/>
          </a:p>
        </p:txBody>
      </p:sp>
      <p:pic>
        <p:nvPicPr>
          <p:cNvPr id="6" name="Picture 5" descr="scan-search-FFFFFF.png"/>
          <p:cNvPicPr>
            <a:picLocks noChangeAspect="1"/>
          </p:cNvPicPr>
          <p:nvPr/>
        </p:nvPicPr>
        <p:blipFill>
          <a:blip r:embed="rId2"/>
          <a:stretch>
            <a:fillRect/>
          </a:stretch>
        </p:blipFill>
        <p:spPr>
          <a:xfrm>
            <a:off x="1041400" y="2082800"/>
            <a:ext cx="152400" cy="152400"/>
          </a:xfrm>
          <a:prstGeom prst="rect">
            <a:avLst/>
          </a:prstGeom>
        </p:spPr>
      </p:pic>
      <p:sp>
        <p:nvSpPr>
          <p:cNvPr id="7" name="TextBox 6"/>
          <p:cNvSpPr txBox="1"/>
          <p:nvPr/>
        </p:nvSpPr>
        <p:spPr>
          <a:xfrm>
            <a:off x="96520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Argus</a:t>
            </a:r>
          </a:p>
        </p:txBody>
      </p:sp>
      <p:sp>
        <p:nvSpPr>
          <p:cNvPr id="8" name="TextBox 7"/>
          <p:cNvSpPr txBox="1"/>
          <p:nvPr/>
        </p:nvSpPr>
        <p:spPr>
          <a:xfrm>
            <a:off x="96520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Extract cited data points and score them with ratified templates.</a:t>
            </a:r>
          </a:p>
        </p:txBody>
      </p:sp>
      <p:sp>
        <p:nvSpPr>
          <p:cNvPr id="9" name="Rounded Rectangle 8"/>
          <p:cNvSpPr/>
          <p:nvPr/>
        </p:nvSpPr>
        <p:spPr>
          <a:xfrm>
            <a:off x="295656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10" name="Oval 9"/>
          <p:cNvSpPr/>
          <p:nvPr/>
        </p:nvSpPr>
        <p:spPr>
          <a:xfrm>
            <a:off x="3108960" y="2006600"/>
            <a:ext cx="304800" cy="304800"/>
          </a:xfrm>
          <a:prstGeom prst="ellipse">
            <a:avLst/>
          </a:prstGeom>
          <a:solidFill>
            <a:srgbClr val="0F172A"/>
          </a:solidFill>
          <a:ln>
            <a:noFill/>
          </a:ln>
          <a:effectLst/>
        </p:spPr>
        <p:txBody>
          <a:bodyPr rtlCol="0" anchor="ctr"/>
          <a:lstStyle/>
          <a:p>
            <a:pPr algn="ctr"/>
          </a:p>
        </p:txBody>
      </p:sp>
      <p:pic>
        <p:nvPicPr>
          <p:cNvPr id="11" name="Picture 10" descr="leaf-FFFFFF.png"/>
          <p:cNvPicPr>
            <a:picLocks noChangeAspect="1"/>
          </p:cNvPicPr>
          <p:nvPr/>
        </p:nvPicPr>
        <p:blipFill>
          <a:blip r:embed="rId3"/>
          <a:stretch>
            <a:fillRect/>
          </a:stretch>
        </p:blipFill>
        <p:spPr>
          <a:xfrm>
            <a:off x="3185160" y="2082800"/>
            <a:ext cx="152400" cy="152400"/>
          </a:xfrm>
          <a:prstGeom prst="rect">
            <a:avLst/>
          </a:prstGeom>
        </p:spPr>
      </p:pic>
      <p:sp>
        <p:nvSpPr>
          <p:cNvPr id="12" name="TextBox 11"/>
          <p:cNvSpPr txBox="1"/>
          <p:nvPr/>
        </p:nvSpPr>
        <p:spPr>
          <a:xfrm>
            <a:off x="310896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Transition Intelligence</a:t>
            </a:r>
          </a:p>
        </p:txBody>
      </p:sp>
      <p:sp>
        <p:nvSpPr>
          <p:cNvPr id="13" name="TextBox 12"/>
          <p:cNvSpPr txBox="1"/>
          <p:nvPr/>
        </p:nvSpPr>
        <p:spPr>
          <a:xfrm>
            <a:off x="310896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Monitor holdings; assess climate and transition risk.</a:t>
            </a:r>
          </a:p>
        </p:txBody>
      </p:sp>
      <p:sp>
        <p:nvSpPr>
          <p:cNvPr id="14" name="Rounded Rectangle 13"/>
          <p:cNvSpPr/>
          <p:nvPr/>
        </p:nvSpPr>
        <p:spPr>
          <a:xfrm>
            <a:off x="510032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15" name="Oval 14"/>
          <p:cNvSpPr/>
          <p:nvPr/>
        </p:nvSpPr>
        <p:spPr>
          <a:xfrm>
            <a:off x="5252720" y="2006600"/>
            <a:ext cx="304800" cy="304800"/>
          </a:xfrm>
          <a:prstGeom prst="ellipse">
            <a:avLst/>
          </a:prstGeom>
          <a:solidFill>
            <a:srgbClr val="0F172A"/>
          </a:solidFill>
          <a:ln>
            <a:noFill/>
          </a:ln>
          <a:effectLst/>
        </p:spPr>
        <p:txBody>
          <a:bodyPr rtlCol="0" anchor="ctr"/>
          <a:lstStyle/>
          <a:p>
            <a:pPr algn="ctr"/>
          </a:p>
        </p:txBody>
      </p:sp>
      <p:pic>
        <p:nvPicPr>
          <p:cNvPr id="16" name="Picture 15" descr="flask-conical-FFFFFF.png"/>
          <p:cNvPicPr>
            <a:picLocks noChangeAspect="1"/>
          </p:cNvPicPr>
          <p:nvPr/>
        </p:nvPicPr>
        <p:blipFill>
          <a:blip r:embed="rId4"/>
          <a:stretch>
            <a:fillRect/>
          </a:stretch>
        </p:blipFill>
        <p:spPr>
          <a:xfrm>
            <a:off x="5328920" y="2082800"/>
            <a:ext cx="152400" cy="152400"/>
          </a:xfrm>
          <a:prstGeom prst="rect">
            <a:avLst/>
          </a:prstGeom>
        </p:spPr>
      </p:pic>
      <p:sp>
        <p:nvSpPr>
          <p:cNvPr id="17" name="TextBox 16"/>
          <p:cNvSpPr txBox="1"/>
          <p:nvPr/>
        </p:nvSpPr>
        <p:spPr>
          <a:xfrm>
            <a:off x="525272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R&amp;D Lab</a:t>
            </a:r>
          </a:p>
        </p:txBody>
      </p:sp>
      <p:sp>
        <p:nvSpPr>
          <p:cNvPr id="18" name="TextBox 17"/>
          <p:cNvSpPr txBox="1"/>
          <p:nvPr/>
        </p:nvSpPr>
        <p:spPr>
          <a:xfrm>
            <a:off x="525272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Themes and strategies, scored and built into indices.</a:t>
            </a:r>
          </a:p>
        </p:txBody>
      </p:sp>
      <p:sp>
        <p:nvSpPr>
          <p:cNvPr id="19" name="Rounded Rectangle 18"/>
          <p:cNvSpPr/>
          <p:nvPr/>
        </p:nvSpPr>
        <p:spPr>
          <a:xfrm>
            <a:off x="724408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7396480" y="2006600"/>
            <a:ext cx="304800" cy="304800"/>
          </a:xfrm>
          <a:prstGeom prst="ellipse">
            <a:avLst/>
          </a:prstGeom>
          <a:solidFill>
            <a:srgbClr val="0F172A"/>
          </a:solidFill>
          <a:ln>
            <a:noFill/>
          </a:ln>
          <a:effectLst/>
        </p:spPr>
        <p:txBody>
          <a:bodyPr rtlCol="0" anchor="ctr"/>
          <a:lstStyle/>
          <a:p>
            <a:pPr algn="ctr"/>
          </a:p>
        </p:txBody>
      </p:sp>
      <p:pic>
        <p:nvPicPr>
          <p:cNvPr id="21" name="Picture 20" descr="handshake-FFFFFF.png"/>
          <p:cNvPicPr>
            <a:picLocks noChangeAspect="1"/>
          </p:cNvPicPr>
          <p:nvPr/>
        </p:nvPicPr>
        <p:blipFill>
          <a:blip r:embed="rId5"/>
          <a:stretch>
            <a:fillRect/>
          </a:stretch>
        </p:blipFill>
        <p:spPr>
          <a:xfrm>
            <a:off x="7472680" y="2082800"/>
            <a:ext cx="152400" cy="152400"/>
          </a:xfrm>
          <a:prstGeom prst="rect">
            <a:avLst/>
          </a:prstGeom>
        </p:spPr>
      </p:pic>
      <p:sp>
        <p:nvSpPr>
          <p:cNvPr id="22" name="TextBox 21"/>
          <p:cNvSpPr txBox="1"/>
          <p:nvPr/>
        </p:nvSpPr>
        <p:spPr>
          <a:xfrm>
            <a:off x="739648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StewardIQ</a:t>
            </a:r>
          </a:p>
        </p:txBody>
      </p:sp>
      <p:sp>
        <p:nvSpPr>
          <p:cNvPr id="23" name="TextBox 22"/>
          <p:cNvSpPr txBox="1"/>
          <p:nvPr/>
        </p:nvSpPr>
        <p:spPr>
          <a:xfrm>
            <a:off x="739648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Engage, vote, escalate and report to clients.</a:t>
            </a:r>
          </a:p>
        </p:txBody>
      </p:sp>
      <p:sp>
        <p:nvSpPr>
          <p:cNvPr id="24" name="Rounded Rectangle 23"/>
          <p:cNvSpPr/>
          <p:nvPr/>
        </p:nvSpPr>
        <p:spPr>
          <a:xfrm>
            <a:off x="938784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25" name="Oval 24"/>
          <p:cNvSpPr/>
          <p:nvPr/>
        </p:nvSpPr>
        <p:spPr>
          <a:xfrm>
            <a:off x="9540240" y="2006600"/>
            <a:ext cx="304800" cy="304800"/>
          </a:xfrm>
          <a:prstGeom prst="ellipse">
            <a:avLst/>
          </a:prstGeom>
          <a:solidFill>
            <a:srgbClr val="0F172A"/>
          </a:solidFill>
          <a:ln>
            <a:noFill/>
          </a:ln>
          <a:effectLst/>
        </p:spPr>
        <p:txBody>
          <a:bodyPr rtlCol="0" anchor="ctr"/>
          <a:lstStyle/>
          <a:p>
            <a:pPr algn="ctr"/>
          </a:p>
        </p:txBody>
      </p:sp>
      <p:pic>
        <p:nvPicPr>
          <p:cNvPr id="26" name="Picture 25" descr="database-FFFFFF.png"/>
          <p:cNvPicPr>
            <a:picLocks noChangeAspect="1"/>
          </p:cNvPicPr>
          <p:nvPr/>
        </p:nvPicPr>
        <p:blipFill>
          <a:blip r:embed="rId6"/>
          <a:stretch>
            <a:fillRect/>
          </a:stretch>
        </p:blipFill>
        <p:spPr>
          <a:xfrm>
            <a:off x="9616440" y="2082800"/>
            <a:ext cx="152400" cy="152400"/>
          </a:xfrm>
          <a:prstGeom prst="rect">
            <a:avLst/>
          </a:prstGeom>
        </p:spPr>
      </p:pic>
      <p:sp>
        <p:nvSpPr>
          <p:cNvPr id="27" name="TextBox 26"/>
          <p:cNvSpPr txBox="1"/>
          <p:nvPr/>
        </p:nvSpPr>
        <p:spPr>
          <a:xfrm>
            <a:off x="954024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Data Hub</a:t>
            </a:r>
          </a:p>
        </p:txBody>
      </p:sp>
      <p:sp>
        <p:nvSpPr>
          <p:cNvPr id="28" name="TextBox 27"/>
          <p:cNvSpPr txBox="1"/>
          <p:nvPr/>
        </p:nvSpPr>
        <p:spPr>
          <a:xfrm>
            <a:off x="954024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Feeds, stored data, the security master.</a:t>
            </a:r>
          </a:p>
        </p:txBody>
      </p:sp>
      <p:sp>
        <p:nvSpPr>
          <p:cNvPr id="29" name="Rounded Rectangle 28"/>
          <p:cNvSpPr/>
          <p:nvPr/>
        </p:nvSpPr>
        <p:spPr>
          <a:xfrm>
            <a:off x="812800"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24350"/>
            <a:ext cx="304800" cy="304800"/>
          </a:xfrm>
          <a:prstGeom prst="ellipse">
            <a:avLst/>
          </a:prstGeom>
          <a:solidFill>
            <a:srgbClr val="2563EB"/>
          </a:solidFill>
          <a:ln>
            <a:noFill/>
          </a:ln>
          <a:effectLst/>
        </p:spPr>
        <p:txBody>
          <a:bodyPr rtlCol="0" anchor="ctr"/>
          <a:lstStyle/>
          <a:p>
            <a:pPr algn="ctr"/>
          </a:p>
        </p:txBody>
      </p:sp>
      <p:pic>
        <p:nvPicPr>
          <p:cNvPr id="31" name="Picture 30" descr="inbox-FFFFFF.png"/>
          <p:cNvPicPr>
            <a:picLocks noChangeAspect="1"/>
          </p:cNvPicPr>
          <p:nvPr/>
        </p:nvPicPr>
        <p:blipFill>
          <a:blip r:embed="rId7"/>
          <a:stretch>
            <a:fillRect/>
          </a:stretch>
        </p:blipFill>
        <p:spPr>
          <a:xfrm>
            <a:off x="1041400" y="4400550"/>
            <a:ext cx="152400" cy="152400"/>
          </a:xfrm>
          <a:prstGeom prst="rect">
            <a:avLst/>
          </a:prstGeom>
        </p:spPr>
      </p:pic>
      <p:sp>
        <p:nvSpPr>
          <p:cNvPr id="32" name="TextBox 31"/>
          <p:cNvSpPr txBox="1"/>
          <p:nvPr/>
        </p:nvSpPr>
        <p:spPr>
          <a:xfrm>
            <a:off x="1371600"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Needs you: one inbox</a:t>
            </a:r>
          </a:p>
        </p:txBody>
      </p:sp>
      <p:sp>
        <p:nvSpPr>
          <p:cNvPr id="33" name="TextBox 32"/>
          <p:cNvSpPr txBox="1"/>
          <p:nvPr/>
        </p:nvSpPr>
        <p:spPr>
          <a:xfrm>
            <a:off x="965200"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Items to review, ballots to decide and blocking data issues, oldest first.</a:t>
            </a:r>
          </a:p>
        </p:txBody>
      </p:sp>
      <p:sp>
        <p:nvSpPr>
          <p:cNvPr id="34" name="Rounded Rectangle 33"/>
          <p:cNvSpPr/>
          <p:nvPr/>
        </p:nvSpPr>
        <p:spPr>
          <a:xfrm>
            <a:off x="4385733"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24350"/>
            <a:ext cx="304800" cy="304800"/>
          </a:xfrm>
          <a:prstGeom prst="ellipse">
            <a:avLst/>
          </a:prstGeom>
          <a:solidFill>
            <a:srgbClr val="16A34A"/>
          </a:solidFill>
          <a:ln>
            <a:noFill/>
          </a:ln>
          <a:effectLst/>
        </p:spPr>
        <p:txBody>
          <a:bodyPr rtlCol="0" anchor="ctr"/>
          <a:lstStyle/>
          <a:p>
            <a:pPr algn="ctr"/>
          </a:p>
        </p:txBody>
      </p:sp>
      <p:pic>
        <p:nvPicPr>
          <p:cNvPr id="36" name="Picture 35" descr="message-circle-question-FFFFFF.png"/>
          <p:cNvPicPr>
            <a:picLocks noChangeAspect="1"/>
          </p:cNvPicPr>
          <p:nvPr/>
        </p:nvPicPr>
        <p:blipFill>
          <a:blip r:embed="rId8"/>
          <a:stretch>
            <a:fillRect/>
          </a:stretch>
        </p:blipFill>
        <p:spPr>
          <a:xfrm>
            <a:off x="4614333" y="4400550"/>
            <a:ext cx="152400" cy="152400"/>
          </a:xfrm>
          <a:prstGeom prst="rect">
            <a:avLst/>
          </a:prstGeom>
        </p:spPr>
      </p:pic>
      <p:sp>
        <p:nvSpPr>
          <p:cNvPr id="37" name="TextBox 36"/>
          <p:cNvSpPr txBox="1"/>
          <p:nvPr/>
        </p:nvSpPr>
        <p:spPr>
          <a:xfrm>
            <a:off x="4944533"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Ask ARP: plain questions</a:t>
            </a:r>
          </a:p>
        </p:txBody>
      </p:sp>
      <p:sp>
        <p:nvSpPr>
          <p:cNvPr id="38" name="TextBox 37"/>
          <p:cNvSpPr txBox="1"/>
          <p:nvPr/>
        </p:nvSpPr>
        <p:spPr>
          <a:xfrm>
            <a:off x="4538133"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model routes each question to a read-only tool; code computes every figure.</a:t>
            </a:r>
          </a:p>
        </p:txBody>
      </p:sp>
      <p:sp>
        <p:nvSpPr>
          <p:cNvPr id="39" name="Rounded Rectangle 38"/>
          <p:cNvSpPr/>
          <p:nvPr/>
        </p:nvSpPr>
        <p:spPr>
          <a:xfrm>
            <a:off x="7958667"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24350"/>
            <a:ext cx="304800" cy="304800"/>
          </a:xfrm>
          <a:prstGeom prst="ellipse">
            <a:avLst/>
          </a:prstGeom>
          <a:solidFill>
            <a:srgbClr val="0F172A"/>
          </a:solidFill>
          <a:ln>
            <a:noFill/>
          </a:ln>
          <a:effectLst/>
        </p:spPr>
        <p:txBody>
          <a:bodyPr rtlCol="0" anchor="ctr"/>
          <a:lstStyle/>
          <a:p>
            <a:pPr algn="ctr"/>
          </a:p>
        </p:txBody>
      </p:sp>
      <p:pic>
        <p:nvPicPr>
          <p:cNvPr id="41" name="Picture 40" descr="presentation-FFFFFF.png"/>
          <p:cNvPicPr>
            <a:picLocks noChangeAspect="1"/>
          </p:cNvPicPr>
          <p:nvPr/>
        </p:nvPicPr>
        <p:blipFill>
          <a:blip r:embed="rId9"/>
          <a:stretch>
            <a:fillRect/>
          </a:stretch>
        </p:blipFill>
        <p:spPr>
          <a:xfrm>
            <a:off x="8187267" y="4400550"/>
            <a:ext cx="152400" cy="152400"/>
          </a:xfrm>
          <a:prstGeom prst="rect">
            <a:avLst/>
          </a:prstGeom>
        </p:spPr>
      </p:pic>
      <p:sp>
        <p:nvSpPr>
          <p:cNvPr id="42" name="TextBox 41"/>
          <p:cNvSpPr txBox="1"/>
          <p:nvPr/>
        </p:nvSpPr>
        <p:spPr>
          <a:xfrm>
            <a:off x="8517467"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Output: reports, catalogue</a:t>
            </a:r>
          </a:p>
        </p:txBody>
      </p:sp>
      <p:sp>
        <p:nvSpPr>
          <p:cNvPr id="43" name="TextBox 42"/>
          <p:cNvSpPr txBox="1"/>
          <p:nvPr/>
        </p:nvSpPr>
        <p:spPr>
          <a:xfrm>
            <a:off x="8111067"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stored result in one catalogue, with what has already used it.</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ARGUS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Argus: cited data, not copied figures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Extract and score · XBRL facts</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Company figures are copied from reports by hand or bought as vendor scores: no page reference, hard to check, slow at scale.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Every figure cited to its page, checked by a second model and reviewed by a person, for up to about 4,000 companies per run.</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Letters and vote rationales can quote the company's own report, page by page, so an engagement ask holds up when challenged.</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Ratified Decision Studio templates turn extracted figures into tiers: eligibility rules for a fund, versioned and re-run on new data.</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Figures come from public reports and XBRL as filed. A licensed vendor field can be checked against the company's own report.</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ARGUS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Anatomy of one cited value</a:t>
            </a:r>
          </a:p>
        </p:txBody>
      </p:sp>
      <p:pic>
        <p:nvPicPr>
          <p:cNvPr id="4" name="Picture 3" descr="fig-machine-text-search.png"/>
          <p:cNvPicPr>
            <a:picLocks noChangeAspect="1"/>
          </p:cNvPicPr>
          <p:nvPr/>
        </p:nvPicPr>
        <p:blipFill>
          <a:blip r:embed="rId2"/>
          <a:stretch>
            <a:fillRect/>
          </a:stretch>
        </p:blipFill>
        <p:spPr>
          <a:xfrm>
            <a:off x="1413933" y="1854200"/>
            <a:ext cx="558800" cy="558800"/>
          </a:xfrm>
          <a:prstGeom prst="rect">
            <a:avLst/>
          </a:prstGeom>
        </p:spPr>
      </p:pic>
      <p:sp>
        <p:nvSpPr>
          <p:cNvPr id="5" name="TextBox 4"/>
          <p:cNvSpPr txBox="1"/>
          <p:nvPr/>
        </p:nvSpPr>
        <p:spPr>
          <a:xfrm>
            <a:off x="889000"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evidence</a:t>
            </a:r>
          </a:p>
          <a:p>
            <a:pPr algn="ctr">
              <a:lnSpc>
                <a:spcPct val="112500"/>
              </a:lnSpc>
              <a:spcAft>
                <a:spcPts val="0"/>
              </a:spcAft>
            </a:pPr>
            <a:r>
              <a:rPr sz="1200" b="0">
                <a:solidFill>
                  <a:srgbClr val="475569"/>
                </a:solidFill>
                <a:latin typeface="IBM Plex Sans"/>
              </a:rPr>
              <a:t>BM25 and embeddings pick passages</a:t>
            </a:r>
          </a:p>
        </p:txBody>
      </p:sp>
      <p:sp>
        <p:nvSpPr>
          <p:cNvPr id="6" name="Rectangle 5"/>
          <p:cNvSpPr/>
          <p:nvPr/>
        </p:nvSpPr>
        <p:spPr>
          <a:xfrm>
            <a:off x="2099733" y="2127250"/>
            <a:ext cx="948267" cy="12700"/>
          </a:xfrm>
          <a:prstGeom prst="rect">
            <a:avLst/>
          </a:prstGeom>
          <a:solidFill>
            <a:srgbClr val="94A3B8"/>
          </a:solidFill>
          <a:ln>
            <a:noFill/>
          </a:ln>
          <a:effectLst/>
        </p:spPr>
        <p:txBody>
          <a:bodyPr rtlCol="0" anchor="ctr"/>
          <a:lstStyle/>
          <a:p>
            <a:pPr algn="ctr"/>
          </a:p>
        </p:txBody>
      </p:sp>
      <p:pic>
        <p:nvPicPr>
          <p:cNvPr id="7" name="Picture 6" descr="arrowhead.png"/>
          <p:cNvPicPr>
            <a:picLocks noChangeAspect="1"/>
          </p:cNvPicPr>
          <p:nvPr/>
        </p:nvPicPr>
        <p:blipFill>
          <a:blip r:embed="rId3"/>
          <a:stretch>
            <a:fillRect/>
          </a:stretch>
        </p:blipFill>
        <p:spPr>
          <a:xfrm>
            <a:off x="3048000" y="2082800"/>
            <a:ext cx="76200" cy="101600"/>
          </a:xfrm>
          <a:prstGeom prst="rect">
            <a:avLst/>
          </a:prstGeom>
        </p:spPr>
      </p:pic>
      <p:pic>
        <p:nvPicPr>
          <p:cNvPr id="8" name="Picture 7" descr="fig-robot-scan-text.png"/>
          <p:cNvPicPr>
            <a:picLocks noChangeAspect="1"/>
          </p:cNvPicPr>
          <p:nvPr/>
        </p:nvPicPr>
        <p:blipFill>
          <a:blip r:embed="rId4"/>
          <a:stretch>
            <a:fillRect/>
          </a:stretch>
        </p:blipFill>
        <p:spPr>
          <a:xfrm>
            <a:off x="3175000" y="1854200"/>
            <a:ext cx="558800" cy="558800"/>
          </a:xfrm>
          <a:prstGeom prst="rect">
            <a:avLst/>
          </a:prstGeom>
        </p:spPr>
      </p:pic>
      <p:sp>
        <p:nvSpPr>
          <p:cNvPr id="9" name="TextBox 8"/>
          <p:cNvSpPr txBox="1"/>
          <p:nvPr/>
        </p:nvSpPr>
        <p:spPr>
          <a:xfrm>
            <a:off x="2650067"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Value, unit, period, verbatim quote</a:t>
            </a:r>
          </a:p>
        </p:txBody>
      </p:sp>
      <p:sp>
        <p:nvSpPr>
          <p:cNvPr id="10" name="Rectangle 9"/>
          <p:cNvSpPr/>
          <p:nvPr/>
        </p:nvSpPr>
        <p:spPr>
          <a:xfrm>
            <a:off x="3860800" y="2127250"/>
            <a:ext cx="948267" cy="12700"/>
          </a:xfrm>
          <a:prstGeom prst="rect">
            <a:avLst/>
          </a:prstGeom>
          <a:solidFill>
            <a:srgbClr val="94A3B8"/>
          </a:solidFill>
          <a:ln>
            <a:noFill/>
          </a:ln>
          <a:effectLst/>
        </p:spPr>
        <p:txBody>
          <a:bodyPr rtlCol="0" anchor="ctr"/>
          <a:lstStyle/>
          <a:p>
            <a:pPr algn="ctr"/>
          </a:p>
        </p:txBody>
      </p:sp>
      <p:pic>
        <p:nvPicPr>
          <p:cNvPr id="11" name="Picture 10" descr="arrowhead.png"/>
          <p:cNvPicPr>
            <a:picLocks noChangeAspect="1"/>
          </p:cNvPicPr>
          <p:nvPr/>
        </p:nvPicPr>
        <p:blipFill>
          <a:blip r:embed="rId3"/>
          <a:stretch>
            <a:fillRect/>
          </a:stretch>
        </p:blipFill>
        <p:spPr>
          <a:xfrm>
            <a:off x="4809067" y="2082800"/>
            <a:ext cx="76200" cy="101600"/>
          </a:xfrm>
          <a:prstGeom prst="rect">
            <a:avLst/>
          </a:prstGeom>
        </p:spPr>
      </p:pic>
      <p:pic>
        <p:nvPicPr>
          <p:cNvPr id="12" name="Picture 11" descr="fig-robot-scan-eye.png"/>
          <p:cNvPicPr>
            <a:picLocks noChangeAspect="1"/>
          </p:cNvPicPr>
          <p:nvPr/>
        </p:nvPicPr>
        <p:blipFill>
          <a:blip r:embed="rId5"/>
          <a:stretch>
            <a:fillRect/>
          </a:stretch>
        </p:blipFill>
        <p:spPr>
          <a:xfrm>
            <a:off x="4936067" y="1854200"/>
            <a:ext cx="558800" cy="558800"/>
          </a:xfrm>
          <a:prstGeom prst="rect">
            <a:avLst/>
          </a:prstGeom>
        </p:spPr>
      </p:pic>
      <p:sp>
        <p:nvSpPr>
          <p:cNvPr id="13" name="TextBox 12"/>
          <p:cNvSpPr txBox="1"/>
          <p:nvPr/>
        </p:nvSpPr>
        <p:spPr>
          <a:xfrm>
            <a:off x="4411133"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Blind verify</a:t>
            </a:r>
          </a:p>
          <a:p>
            <a:pPr algn="ctr">
              <a:lnSpc>
                <a:spcPct val="112500"/>
              </a:lnSpc>
              <a:spcAft>
                <a:spcPts val="0"/>
              </a:spcAft>
            </a:pPr>
            <a:r>
              <a:rPr sz="1200" b="0">
                <a:solidFill>
                  <a:srgbClr val="475569"/>
                </a:solidFill>
                <a:latin typeface="IBM Plex Sans"/>
              </a:rPr>
              <a:t>A different model extracts again</a:t>
            </a:r>
          </a:p>
        </p:txBody>
      </p:sp>
      <p:sp>
        <p:nvSpPr>
          <p:cNvPr id="14" name="Rectangle 13"/>
          <p:cNvSpPr/>
          <p:nvPr/>
        </p:nvSpPr>
        <p:spPr>
          <a:xfrm>
            <a:off x="5621867" y="2127250"/>
            <a:ext cx="948267" cy="12700"/>
          </a:xfrm>
          <a:prstGeom prst="rect">
            <a:avLst/>
          </a:prstGeom>
          <a:solidFill>
            <a:srgbClr val="94A3B8"/>
          </a:solidFill>
          <a:ln>
            <a:noFill/>
          </a:ln>
          <a:effectLst/>
        </p:spPr>
        <p:txBody>
          <a:bodyPr rtlCol="0" anchor="ctr"/>
          <a:lstStyle/>
          <a:p>
            <a:pPr algn="ctr"/>
          </a:p>
        </p:txBody>
      </p:sp>
      <p:pic>
        <p:nvPicPr>
          <p:cNvPr id="15" name="Picture 14" descr="arrowhead.png"/>
          <p:cNvPicPr>
            <a:picLocks noChangeAspect="1"/>
          </p:cNvPicPr>
          <p:nvPr/>
        </p:nvPicPr>
        <p:blipFill>
          <a:blip r:embed="rId3"/>
          <a:stretch>
            <a:fillRect/>
          </a:stretch>
        </p:blipFill>
        <p:spPr>
          <a:xfrm>
            <a:off x="6570133" y="2082800"/>
            <a:ext cx="76200" cy="101600"/>
          </a:xfrm>
          <a:prstGeom prst="rect">
            <a:avLst/>
          </a:prstGeom>
        </p:spPr>
      </p:pic>
      <p:pic>
        <p:nvPicPr>
          <p:cNvPr id="16" name="Picture 15" descr="fig-machine-quote.png"/>
          <p:cNvPicPr>
            <a:picLocks noChangeAspect="1"/>
          </p:cNvPicPr>
          <p:nvPr/>
        </p:nvPicPr>
        <p:blipFill>
          <a:blip r:embed="rId6"/>
          <a:stretch>
            <a:fillRect/>
          </a:stretch>
        </p:blipFill>
        <p:spPr>
          <a:xfrm>
            <a:off x="6697133" y="1854200"/>
            <a:ext cx="558800" cy="558800"/>
          </a:xfrm>
          <a:prstGeom prst="rect">
            <a:avLst/>
          </a:prstGeom>
        </p:spPr>
      </p:pic>
      <p:sp>
        <p:nvSpPr>
          <p:cNvPr id="17" name="TextBox 16"/>
          <p:cNvSpPr txBox="1"/>
          <p:nvPr/>
        </p:nvSpPr>
        <p:spPr>
          <a:xfrm>
            <a:off x="6172200"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Ground + check</a:t>
            </a:r>
          </a:p>
          <a:p>
            <a:pPr algn="ctr">
              <a:lnSpc>
                <a:spcPct val="112500"/>
              </a:lnSpc>
              <a:spcAft>
                <a:spcPts val="0"/>
              </a:spcAft>
            </a:pPr>
            <a:r>
              <a:rPr sz="1200" b="0">
                <a:solidFill>
                  <a:srgbClr val="475569"/>
                </a:solidFill>
                <a:latin typeface="IBM Plex Sans"/>
              </a:rPr>
              <a:t>Quote on the page; number, unit, period</a:t>
            </a:r>
          </a:p>
        </p:txBody>
      </p:sp>
      <p:sp>
        <p:nvSpPr>
          <p:cNvPr id="18" name="Rectangle 17"/>
          <p:cNvSpPr/>
          <p:nvPr/>
        </p:nvSpPr>
        <p:spPr>
          <a:xfrm>
            <a:off x="7382933" y="212725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8331200" y="2082800"/>
            <a:ext cx="76200" cy="101600"/>
          </a:xfrm>
          <a:prstGeom prst="rect">
            <a:avLst/>
          </a:prstGeom>
        </p:spPr>
      </p:pic>
      <p:pic>
        <p:nvPicPr>
          <p:cNvPr id="20" name="Picture 19" descr="fig-robot-eye.png"/>
          <p:cNvPicPr>
            <a:picLocks noChangeAspect="1"/>
          </p:cNvPicPr>
          <p:nvPr/>
        </p:nvPicPr>
        <p:blipFill>
          <a:blip r:embed="rId7"/>
          <a:stretch>
            <a:fillRect/>
          </a:stretch>
        </p:blipFill>
        <p:spPr>
          <a:xfrm>
            <a:off x="8458200" y="1854200"/>
            <a:ext cx="558800" cy="558800"/>
          </a:xfrm>
          <a:prstGeom prst="rect">
            <a:avLst/>
          </a:prstGeom>
        </p:spPr>
      </p:pic>
      <p:sp>
        <p:nvSpPr>
          <p:cNvPr id="21" name="TextBox 20"/>
          <p:cNvSpPr txBox="1"/>
          <p:nvPr/>
        </p:nvSpPr>
        <p:spPr>
          <a:xfrm>
            <a:off x="7933267"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Page-image check</a:t>
            </a:r>
          </a:p>
          <a:p>
            <a:pPr algn="ctr">
              <a:lnSpc>
                <a:spcPct val="112500"/>
              </a:lnSpc>
              <a:spcAft>
                <a:spcPts val="0"/>
              </a:spcAft>
            </a:pPr>
            <a:r>
              <a:rPr sz="1200" b="0">
                <a:solidFill>
                  <a:srgbClr val="475569"/>
                </a:solidFill>
                <a:latin typeface="IBM Plex Sans"/>
              </a:rPr>
              <a:t>Reads the figure off the page image</a:t>
            </a:r>
          </a:p>
        </p:txBody>
      </p:sp>
      <p:sp>
        <p:nvSpPr>
          <p:cNvPr id="22" name="Rectangle 21"/>
          <p:cNvSpPr/>
          <p:nvPr/>
        </p:nvSpPr>
        <p:spPr>
          <a:xfrm>
            <a:off x="9144000" y="2127250"/>
            <a:ext cx="948267" cy="12700"/>
          </a:xfrm>
          <a:prstGeom prst="rect">
            <a:avLst/>
          </a:prstGeom>
          <a:solidFill>
            <a:srgbClr val="94A3B8"/>
          </a:solidFill>
          <a:ln>
            <a:noFill/>
          </a:ln>
          <a:effectLst/>
        </p:spPr>
        <p:txBody>
          <a:bodyPr rtlCol="0" anchor="ctr"/>
          <a:lstStyle/>
          <a:p>
            <a:pPr algn="ctr"/>
          </a:p>
        </p:txBody>
      </p:sp>
      <p:pic>
        <p:nvPicPr>
          <p:cNvPr id="23" name="Picture 22" descr="arrowhead.png"/>
          <p:cNvPicPr>
            <a:picLocks noChangeAspect="1"/>
          </p:cNvPicPr>
          <p:nvPr/>
        </p:nvPicPr>
        <p:blipFill>
          <a:blip r:embed="rId3"/>
          <a:stretch>
            <a:fillRect/>
          </a:stretch>
        </p:blipFill>
        <p:spPr>
          <a:xfrm>
            <a:off x="10092267" y="2082800"/>
            <a:ext cx="76200" cy="101600"/>
          </a:xfrm>
          <a:prstGeom prst="rect">
            <a:avLst/>
          </a:prstGeom>
        </p:spPr>
      </p:pic>
      <p:pic>
        <p:nvPicPr>
          <p:cNvPr id="24" name="Picture 23" descr="fig-person-user-check.png"/>
          <p:cNvPicPr>
            <a:picLocks noChangeAspect="1"/>
          </p:cNvPicPr>
          <p:nvPr/>
        </p:nvPicPr>
        <p:blipFill>
          <a:blip r:embed="rId8"/>
          <a:stretch>
            <a:fillRect/>
          </a:stretch>
        </p:blipFill>
        <p:spPr>
          <a:xfrm>
            <a:off x="10219267" y="1854200"/>
            <a:ext cx="558800" cy="558800"/>
          </a:xfrm>
          <a:prstGeom prst="rect">
            <a:avLst/>
          </a:prstGeom>
        </p:spPr>
      </p:pic>
      <p:sp>
        <p:nvSpPr>
          <p:cNvPr id="25" name="TextBox 24"/>
          <p:cNvSpPr txBox="1"/>
          <p:nvPr/>
        </p:nvSpPr>
        <p:spPr>
          <a:xfrm>
            <a:off x="9694333"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The rest, with the span boxed</a:t>
            </a:r>
          </a:p>
        </p:txBody>
      </p:sp>
      <p:pic>
        <p:nvPicPr>
          <p:cNvPr id="26" name="Picture 25" descr="argus-flow.png"/>
          <p:cNvPicPr>
            <a:picLocks noChangeAspect="1"/>
          </p:cNvPicPr>
          <p:nvPr/>
        </p:nvPicPr>
        <p:blipFill>
          <a:blip r:embed="rId9"/>
          <a:stretch>
            <a:fillRect/>
          </a:stretch>
        </p:blipFill>
        <p:spPr>
          <a:xfrm>
            <a:off x="812800" y="3911600"/>
            <a:ext cx="10566400" cy="1501913"/>
          </a:xfrm>
          <a:prstGeom prst="rect">
            <a:avLst/>
          </a:prstGeom>
        </p:spPr>
      </p:pic>
      <p:sp>
        <p:nvSpPr>
          <p:cNvPr id="27" name="Rounded Rectangle 26"/>
          <p:cNvSpPr/>
          <p:nvPr/>
        </p:nvSpPr>
        <p:spPr>
          <a:xfrm>
            <a:off x="812800" y="3911600"/>
            <a:ext cx="10566400" cy="1501913"/>
          </a:xfrm>
          <a:prstGeom prst="roundRect">
            <a:avLst>
              <a:gd name="adj" fmla="val 6764"/>
            </a:avLst>
          </a:prstGeom>
          <a:noFill/>
          <a:ln w="9525">
            <a:solidFill>
              <a:srgbClr val="E2E8F0"/>
            </a:solidFill>
          </a:ln>
          <a:effectLst/>
        </p:spPr>
        <p:txBody>
          <a:bodyPr rtlCol="0" anchor="ctr"/>
          <a:lstStyle/>
          <a:p>
            <a:pPr algn="ctr"/>
          </a:p>
        </p:txBody>
      </p:sp>
      <p:sp>
        <p:nvSpPr>
          <p:cNvPr id="28" name="TextBox 2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9" name="TextBox 2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07 / 40</a:t>
            </a:r>
          </a:p>
        </p:txBody>
      </p:sp>
      <p:sp>
        <p:nvSpPr>
          <p:cNvPr id="30" name="Oval 2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31" name="TextBox 3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32" name="Oval 3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33" name="TextBox 3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34" name="Oval 3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35" name="TextBox 3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ARGUS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Green capex, extracted and checked</a:t>
            </a:r>
          </a:p>
        </p:txBody>
      </p:sp>
      <p:sp>
        <p:nvSpPr>
          <p:cNvPr id="4" name="TextBox 3"/>
          <p:cNvSpPr txBox="1"/>
          <p:nvPr/>
        </p:nvSpPr>
        <p:spPr>
          <a:xfrm>
            <a:off x="812800" y="1625600"/>
            <a:ext cx="10566400" cy="49530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Signify's 2025 annual report, read live from its ESEF filing: EUR 101.4m of EUR 230.5m capex is EU Taxonomy-aligned.</a:t>
            </a:r>
          </a:p>
        </p:txBody>
      </p:sp>
      <p:pic>
        <p:nvPicPr>
          <p:cNvPr id="5" name="Picture 4" descr="green-review.png"/>
          <p:cNvPicPr>
            <a:picLocks noChangeAspect="1"/>
          </p:cNvPicPr>
          <p:nvPr/>
        </p:nvPicPr>
        <p:blipFill>
          <a:blip r:embed="rId2"/>
          <a:stretch>
            <a:fillRect/>
          </a:stretch>
        </p:blipFill>
        <p:spPr>
          <a:xfrm>
            <a:off x="812800" y="2349500"/>
            <a:ext cx="7203575" cy="2368550"/>
          </a:xfrm>
          <a:prstGeom prst="rect">
            <a:avLst/>
          </a:prstGeom>
        </p:spPr>
      </p:pic>
      <p:sp>
        <p:nvSpPr>
          <p:cNvPr id="6" name="Rounded Rectangle 5"/>
          <p:cNvSpPr/>
          <p:nvPr/>
        </p:nvSpPr>
        <p:spPr>
          <a:xfrm>
            <a:off x="812800" y="2349500"/>
            <a:ext cx="7203575" cy="2368550"/>
          </a:xfrm>
          <a:prstGeom prst="roundRect">
            <a:avLst>
              <a:gd name="adj" fmla="val 4289"/>
            </a:avLst>
          </a:prstGeom>
          <a:noFill/>
          <a:ln w="9525">
            <a:solidFill>
              <a:srgbClr val="E2E8F0"/>
            </a:solidFill>
          </a:ln>
          <a:effectLst/>
        </p:spPr>
        <p:txBody>
          <a:bodyPr rtlCol="0" anchor="ctr"/>
          <a:lstStyle/>
          <a:p>
            <a:pPr algn="ctr"/>
          </a:p>
        </p:txBody>
      </p:sp>
      <p:pic>
        <p:nvPicPr>
          <p:cNvPr id="7" name="Picture 6" descr="fig-robot-scan-text.png"/>
          <p:cNvPicPr>
            <a:picLocks noChangeAspect="1"/>
          </p:cNvPicPr>
          <p:nvPr/>
        </p:nvPicPr>
        <p:blipFill>
          <a:blip r:embed="rId3"/>
          <a:stretch>
            <a:fillRect/>
          </a:stretch>
        </p:blipFill>
        <p:spPr>
          <a:xfrm>
            <a:off x="812800" y="4895850"/>
            <a:ext cx="406400" cy="406400"/>
          </a:xfrm>
          <a:prstGeom prst="rect">
            <a:avLst/>
          </a:prstGeom>
        </p:spPr>
      </p:pic>
      <p:sp>
        <p:nvSpPr>
          <p:cNvPr id="8" name="TextBox 7"/>
          <p:cNvSpPr txBox="1"/>
          <p:nvPr/>
        </p:nvSpPr>
        <p:spPr>
          <a:xfrm>
            <a:off x="1320800" y="4895850"/>
            <a:ext cx="2019300" cy="9461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Extracted: EUR 101.4m</a:t>
            </a:r>
          </a:p>
          <a:p>
            <a:pPr>
              <a:lnSpc>
                <a:spcPct val="116667"/>
              </a:lnSpc>
              <a:spcAft>
                <a:spcPts val="0"/>
              </a:spcAft>
            </a:pPr>
            <a:r>
              <a:rPr sz="1200" b="0">
                <a:solidFill>
                  <a:srgbClr val="475569"/>
                </a:solidFill>
                <a:latin typeface="IBM Plex Sans"/>
              </a:rPr>
              <a:t>Quoted word for word from the EU Taxonomy note.</a:t>
            </a:r>
          </a:p>
        </p:txBody>
      </p:sp>
      <p:pic>
        <p:nvPicPr>
          <p:cNvPr id="9" name="Picture 8" descr="fig-robot-scan-eye.png"/>
          <p:cNvPicPr>
            <a:picLocks noChangeAspect="1"/>
          </p:cNvPicPr>
          <p:nvPr/>
        </p:nvPicPr>
        <p:blipFill>
          <a:blip r:embed="rId4"/>
          <a:stretch>
            <a:fillRect/>
          </a:stretch>
        </p:blipFill>
        <p:spPr>
          <a:xfrm>
            <a:off x="3492500" y="4895850"/>
            <a:ext cx="406400" cy="406400"/>
          </a:xfrm>
          <a:prstGeom prst="rect">
            <a:avLst/>
          </a:prstGeom>
        </p:spPr>
      </p:pic>
      <p:sp>
        <p:nvSpPr>
          <p:cNvPr id="10" name="TextBox 9"/>
          <p:cNvSpPr txBox="1"/>
          <p:nvPr/>
        </p:nvSpPr>
        <p:spPr>
          <a:xfrm>
            <a:off x="4000500" y="4895850"/>
            <a:ext cx="2019300" cy="9461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A second model agrees</a:t>
            </a:r>
          </a:p>
          <a:p>
            <a:pPr>
              <a:lnSpc>
                <a:spcPct val="116667"/>
              </a:lnSpc>
              <a:spcAft>
                <a:spcPts val="0"/>
              </a:spcAft>
            </a:pPr>
            <a:r>
              <a:rPr sz="1200" b="0">
                <a:solidFill>
                  <a:srgbClr val="475569"/>
                </a:solidFill>
                <a:latin typeface="IBM Plex Sans"/>
              </a:rPr>
              <a:t>A different model extracted it blind: 0.85.</a:t>
            </a:r>
          </a:p>
        </p:txBody>
      </p:sp>
      <p:pic>
        <p:nvPicPr>
          <p:cNvPr id="11" name="Picture 10" descr="fig-machine-quote.png"/>
          <p:cNvPicPr>
            <a:picLocks noChangeAspect="1"/>
          </p:cNvPicPr>
          <p:nvPr/>
        </p:nvPicPr>
        <p:blipFill>
          <a:blip r:embed="rId5"/>
          <a:stretch>
            <a:fillRect/>
          </a:stretch>
        </p:blipFill>
        <p:spPr>
          <a:xfrm>
            <a:off x="6172200" y="4895850"/>
            <a:ext cx="406400" cy="406400"/>
          </a:xfrm>
          <a:prstGeom prst="rect">
            <a:avLst/>
          </a:prstGeom>
        </p:spPr>
      </p:pic>
      <p:sp>
        <p:nvSpPr>
          <p:cNvPr id="12" name="TextBox 11"/>
          <p:cNvSpPr txBox="1"/>
          <p:nvPr/>
        </p:nvSpPr>
        <p:spPr>
          <a:xfrm>
            <a:off x="6680200" y="4895850"/>
            <a:ext cx="2019300" cy="9461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Grounded on page 25</a:t>
            </a:r>
          </a:p>
          <a:p>
            <a:pPr>
              <a:lnSpc>
                <a:spcPct val="116667"/>
              </a:lnSpc>
              <a:spcAft>
                <a:spcPts val="0"/>
              </a:spcAft>
            </a:pPr>
            <a:r>
              <a:rPr sz="1200" b="0">
                <a:solidFill>
                  <a:srgbClr val="475569"/>
                </a:solidFill>
                <a:latin typeface="IBM Plex Sans"/>
              </a:rPr>
              <a:t>Code found the exact quote; a bare '40.1' failed.</a:t>
            </a:r>
          </a:p>
        </p:txBody>
      </p:sp>
      <p:pic>
        <p:nvPicPr>
          <p:cNvPr id="13" name="Picture 12" descr="fig-person-user-check.png"/>
          <p:cNvPicPr>
            <a:picLocks noChangeAspect="1"/>
          </p:cNvPicPr>
          <p:nvPr/>
        </p:nvPicPr>
        <p:blipFill>
          <a:blip r:embed="rId6"/>
          <a:stretch>
            <a:fillRect/>
          </a:stretch>
        </p:blipFill>
        <p:spPr>
          <a:xfrm>
            <a:off x="8851900" y="4895850"/>
            <a:ext cx="406400" cy="406400"/>
          </a:xfrm>
          <a:prstGeom prst="rect">
            <a:avLst/>
          </a:prstGeom>
        </p:spPr>
      </p:pic>
      <p:sp>
        <p:nvSpPr>
          <p:cNvPr id="14" name="TextBox 13"/>
          <p:cNvSpPr txBox="1"/>
          <p:nvPr/>
        </p:nvSpPr>
        <p:spPr>
          <a:xfrm>
            <a:off x="9359900" y="4895850"/>
            <a:ext cx="2019300" cy="9461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A person decides</a:t>
            </a:r>
          </a:p>
          <a:p>
            <a:pPr>
              <a:lnSpc>
                <a:spcPct val="116667"/>
              </a:lnSpc>
              <a:spcAft>
                <a:spcPts val="0"/>
              </a:spcAft>
            </a:pPr>
            <a:r>
              <a:rPr sz="1200" b="0">
                <a:solidFill>
                  <a:srgbClr val="475569"/>
                </a:solidFill>
                <a:latin typeface="IBM Plex Sans"/>
              </a:rPr>
              <a:t>The jump from EUR 40.1m in 2024 is flagged.</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TRANSITION INTELLIGENCE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Intelligence: risk seen monthly</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Monthly monitoring · Climate transition review</a:t>
            </a:r>
          </a:p>
        </p:txBody>
      </p:sp>
      <p:sp>
        <p:nvSpPr>
          <p:cNvPr id="5" name="Rounded Rectangle 4"/>
          <p:cNvSpPr/>
          <p:nvPr/>
        </p:nvSpPr>
        <p:spPr>
          <a:xfrm>
            <a:off x="812800" y="2101850"/>
            <a:ext cx="3810000" cy="3727450"/>
          </a:xfrm>
          <a:prstGeom prst="roundRect">
            <a:avLst>
              <a:gd name="adj" fmla="val 2725"/>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Holdings, ESG feeds and climate research sit apart, so a breach surfaces late and the annual climate review is rebuilt by hand.</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A monthly run that turns every breach and controversy on a holding into an owned alert, and a climate review that ends in a tiered list of issuers.</a:t>
            </a:r>
          </a:p>
        </p:txBody>
      </p:sp>
      <p:sp>
        <p:nvSpPr>
          <p:cNvPr id="15" name="Rounded Rectangle 14"/>
          <p:cNvSpPr/>
          <p:nvPr/>
        </p:nvSpPr>
        <p:spPr>
          <a:xfrm>
            <a:off x="4775200" y="210185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36825"/>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613025"/>
            <a:ext cx="152400" cy="152400"/>
          </a:xfrm>
          <a:prstGeom prst="rect">
            <a:avLst/>
          </a:prstGeom>
        </p:spPr>
      </p:pic>
      <p:sp>
        <p:nvSpPr>
          <p:cNvPr id="18" name="TextBox 17"/>
          <p:cNvSpPr txBox="1"/>
          <p:nvPr/>
        </p:nvSpPr>
        <p:spPr>
          <a:xfrm>
            <a:off x="5359400" y="225425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Each alert becomes a stewardship trigger with an owner; the climate review hands StewardIQ the issuers to engage, with a walk-versus-talk verdict.</a:t>
            </a:r>
          </a:p>
        </p:txBody>
      </p:sp>
      <p:sp>
        <p:nvSpPr>
          <p:cNvPr id="19" name="Rounded Rectangle 18"/>
          <p:cNvSpPr/>
          <p:nvPr/>
        </p:nvSpPr>
        <p:spPr>
          <a:xfrm>
            <a:off x="4775200" y="337820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81317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889375"/>
            <a:ext cx="152400" cy="152400"/>
          </a:xfrm>
          <a:prstGeom prst="rect">
            <a:avLst/>
          </a:prstGeom>
        </p:spPr>
      </p:pic>
      <p:sp>
        <p:nvSpPr>
          <p:cNvPr id="22" name="TextBox 21"/>
          <p:cNvSpPr txBox="1"/>
          <p:nvPr/>
        </p:nvSpPr>
        <p:spPr>
          <a:xfrm>
            <a:off x="5359400" y="353060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WACI, financed emissions, plan alignment and the sector barrier matrix give a climate-labelled product evidence for every holding and sector.</a:t>
            </a:r>
          </a:p>
        </p:txBody>
      </p:sp>
      <p:sp>
        <p:nvSpPr>
          <p:cNvPr id="23" name="Rounded Rectangle 22"/>
          <p:cNvSpPr/>
          <p:nvPr/>
        </p:nvSpPr>
        <p:spPr>
          <a:xfrm>
            <a:off x="4775200" y="465455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5089525"/>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5165725"/>
            <a:ext cx="152400" cy="152400"/>
          </a:xfrm>
          <a:prstGeom prst="rect">
            <a:avLst/>
          </a:prstGeom>
        </p:spPr>
      </p:pic>
      <p:sp>
        <p:nvSpPr>
          <p:cNvPr id="26" name="TextBox 25"/>
          <p:cNvSpPr txBox="1"/>
          <p:nvPr/>
        </p:nvSpPr>
        <p:spPr>
          <a:xfrm>
            <a:off x="5359400" y="480695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Each provider feed carries a licence tag: internal-only facts stay in internal dashboards and the publish path refuses them.</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TRANSITION INTELLIGENCE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Barrier matrix: rules derive, people ratify</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105 rated cells, each traceable to its rule, its facts and the person who ratified it.</a:t>
            </a:r>
          </a:p>
        </p:txBody>
      </p:sp>
      <p:pic>
        <p:nvPicPr>
          <p:cNvPr id="5" name="Picture 4" descr="barriers.png"/>
          <p:cNvPicPr>
            <a:picLocks noChangeAspect="1"/>
          </p:cNvPicPr>
          <p:nvPr/>
        </p:nvPicPr>
        <p:blipFill>
          <a:blip r:embed="rId2"/>
          <a:stretch>
            <a:fillRect/>
          </a:stretch>
        </p:blipFill>
        <p:spPr>
          <a:xfrm>
            <a:off x="812800" y="2101850"/>
            <a:ext cx="6553200" cy="3684832"/>
          </a:xfrm>
          <a:prstGeom prst="rect">
            <a:avLst/>
          </a:prstGeom>
        </p:spPr>
      </p:pic>
      <p:sp>
        <p:nvSpPr>
          <p:cNvPr id="6" name="Rounded Rectangle 5"/>
          <p:cNvSpPr/>
          <p:nvPr/>
        </p:nvSpPr>
        <p:spPr>
          <a:xfrm>
            <a:off x="812800" y="2101850"/>
            <a:ext cx="6553200" cy="3684832"/>
          </a:xfrm>
          <a:prstGeom prst="roundRect">
            <a:avLst>
              <a:gd name="adj" fmla="val 2757"/>
            </a:avLst>
          </a:prstGeom>
          <a:noFill/>
          <a:ln w="9525">
            <a:solidFill>
              <a:srgbClr val="E2E8F0"/>
            </a:solidFill>
          </a:ln>
          <a:effectLst/>
        </p:spPr>
        <p:txBody>
          <a:bodyPr rtlCol="0" anchor="ctr"/>
          <a:lstStyle/>
          <a:p>
            <a:pPr algn="ctr"/>
          </a:p>
        </p:txBody>
      </p:sp>
      <p:pic>
        <p:nvPicPr>
          <p:cNvPr id="7" name="Picture 6" descr="fig-machine-book-marked.png"/>
          <p:cNvPicPr>
            <a:picLocks noChangeAspect="1"/>
          </p:cNvPicPr>
          <p:nvPr/>
        </p:nvPicPr>
        <p:blipFill>
          <a:blip r:embed="rId3"/>
          <a:stretch>
            <a:fillRect/>
          </a:stretch>
        </p:blipFill>
        <p:spPr>
          <a:xfrm>
            <a:off x="7569200" y="2101850"/>
            <a:ext cx="508000" cy="508000"/>
          </a:xfrm>
          <a:prstGeom prst="rect">
            <a:avLst/>
          </a:prstGeom>
        </p:spPr>
      </p:pic>
      <p:sp>
        <p:nvSpPr>
          <p:cNvPr id="8" name="TextBox 7"/>
          <p:cNvSpPr txBox="1"/>
          <p:nvPr/>
        </p:nvSpPr>
        <p:spPr>
          <a:xfrm>
            <a:off x="8204200" y="21018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Owner-signed rule book</a:t>
            </a:r>
          </a:p>
          <a:p>
            <a:pPr>
              <a:lnSpc>
                <a:spcPct val="116667"/>
              </a:lnSpc>
              <a:spcAft>
                <a:spcPts val="0"/>
              </a:spcAft>
            </a:pPr>
            <a:r>
              <a:rPr sz="1200" b="0">
                <a:solidFill>
                  <a:srgbClr val="475569"/>
                </a:solidFill>
                <a:latin typeface="IBM Plex Sans"/>
              </a:rPr>
              <a:t>Each criterion lists the facts it needs and the H, M and L conditions.</a:t>
            </a:r>
          </a:p>
        </p:txBody>
      </p:sp>
      <p:pic>
        <p:nvPicPr>
          <p:cNvPr id="9" name="Picture 8" descr="fig-robot-scan-text.png"/>
          <p:cNvPicPr>
            <a:picLocks noChangeAspect="1"/>
          </p:cNvPicPr>
          <p:nvPr/>
        </p:nvPicPr>
        <p:blipFill>
          <a:blip r:embed="rId4"/>
          <a:stretch>
            <a:fillRect/>
          </a:stretch>
        </p:blipFill>
        <p:spPr>
          <a:xfrm>
            <a:off x="7569200" y="3090944"/>
            <a:ext cx="508000" cy="508000"/>
          </a:xfrm>
          <a:prstGeom prst="rect">
            <a:avLst/>
          </a:prstGeom>
        </p:spPr>
      </p:pic>
      <p:sp>
        <p:nvSpPr>
          <p:cNvPr id="10" name="TextBox 9"/>
          <p:cNvSpPr txBox="1"/>
          <p:nvPr/>
        </p:nvSpPr>
        <p:spPr>
          <a:xfrm>
            <a:off x="8204200" y="3090944"/>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Facts read from sources</a:t>
            </a:r>
          </a:p>
          <a:p>
            <a:pPr>
              <a:lnSpc>
                <a:spcPct val="116667"/>
              </a:lnSpc>
              <a:spcAft>
                <a:spcPts val="0"/>
              </a:spcAft>
            </a:pPr>
            <a:r>
              <a:rPr sz="1200" b="0">
                <a:solidFill>
                  <a:srgbClr val="475569"/>
                </a:solidFill>
                <a:latin typeface="IBM Plex Sans"/>
              </a:rPr>
              <a:t>The model reads one fact at a time; code checks value, unit and quote.</a:t>
            </a:r>
          </a:p>
        </p:txBody>
      </p:sp>
      <p:pic>
        <p:nvPicPr>
          <p:cNvPr id="11" name="Picture 10" descr="fig-machine-cog.png"/>
          <p:cNvPicPr>
            <a:picLocks noChangeAspect="1"/>
          </p:cNvPicPr>
          <p:nvPr/>
        </p:nvPicPr>
        <p:blipFill>
          <a:blip r:embed="rId5"/>
          <a:stretch>
            <a:fillRect/>
          </a:stretch>
        </p:blipFill>
        <p:spPr>
          <a:xfrm>
            <a:off x="7569200" y="4080038"/>
            <a:ext cx="508000" cy="508000"/>
          </a:xfrm>
          <a:prstGeom prst="rect">
            <a:avLst/>
          </a:prstGeom>
        </p:spPr>
      </p:pic>
      <p:sp>
        <p:nvSpPr>
          <p:cNvPr id="12" name="TextBox 11"/>
          <p:cNvSpPr txBox="1"/>
          <p:nvPr/>
        </p:nvSpPr>
        <p:spPr>
          <a:xfrm>
            <a:off x="8204200" y="4080038"/>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A rules engine decides</a:t>
            </a:r>
          </a:p>
          <a:p>
            <a:pPr>
              <a:lnSpc>
                <a:spcPct val="116667"/>
              </a:lnSpc>
              <a:spcAft>
                <a:spcPts val="0"/>
              </a:spcAft>
            </a:pPr>
            <a:r>
              <a:rPr sz="1200" b="0">
                <a:solidFill>
                  <a:srgbClr val="475569"/>
                </a:solidFill>
                <a:latin typeface="IBM Plex Sans"/>
              </a:rPr>
              <a:t>Code derives the rating; a missing fact stays unknown, never guessed.</a:t>
            </a:r>
          </a:p>
        </p:txBody>
      </p:sp>
      <p:pic>
        <p:nvPicPr>
          <p:cNvPr id="13" name="Picture 12" descr="fig-person-badge-check.png"/>
          <p:cNvPicPr>
            <a:picLocks noChangeAspect="1"/>
          </p:cNvPicPr>
          <p:nvPr/>
        </p:nvPicPr>
        <p:blipFill>
          <a:blip r:embed="rId6"/>
          <a:stretch>
            <a:fillRect/>
          </a:stretch>
        </p:blipFill>
        <p:spPr>
          <a:xfrm>
            <a:off x="7569200" y="5069132"/>
            <a:ext cx="508000" cy="508000"/>
          </a:xfrm>
          <a:prstGeom prst="rect">
            <a:avLst/>
          </a:prstGeom>
        </p:spPr>
      </p:pic>
      <p:sp>
        <p:nvSpPr>
          <p:cNvPr id="14" name="TextBox 13"/>
          <p:cNvSpPr txBox="1"/>
          <p:nvPr/>
        </p:nvSpPr>
        <p:spPr>
          <a:xfrm>
            <a:off x="8204200" y="5069132"/>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A named person ratifies</a:t>
            </a:r>
          </a:p>
          <a:p>
            <a:pPr>
              <a:lnSpc>
                <a:spcPct val="116667"/>
              </a:lnSpc>
              <a:spcAft>
                <a:spcPts val="0"/>
              </a:spcAft>
            </a:pPr>
            <a:r>
              <a:rPr sz="1200" b="0">
                <a:solidFill>
                  <a:srgbClr val="475569"/>
                </a:solidFill>
                <a:latin typeface="IBM Plex Sans"/>
              </a:rPr>
              <a:t>Refresh findings are proposals; no rating moves without sign-off.</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R&amp;D LAB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R&amp;D Lab: from idea to index</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Launch a thematic product · Research a strategy</a:t>
            </a:r>
          </a:p>
        </p:txBody>
      </p:sp>
      <p:sp>
        <p:nvSpPr>
          <p:cNvPr id="5" name="Rounded Rectangle 4"/>
          <p:cNvSpPr/>
          <p:nvPr/>
        </p:nvSpPr>
        <p:spPr>
          <a:xfrm>
            <a:off x="812800" y="2101850"/>
            <a:ext cx="3810000" cy="3276600"/>
          </a:xfrm>
          <a:prstGeom prst="roundRect">
            <a:avLst>
              <a:gd name="adj" fmla="val 3100"/>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Themes and strategies live in spreadsheets: boundaries drift, backtests overfit, and a product is hard to trace to its evidence.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69215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A ratified theme, a reviewed universe and a dated index calibration; strategies tested out of sample first.</a:t>
            </a:r>
          </a:p>
        </p:txBody>
      </p:sp>
      <p:sp>
        <p:nvSpPr>
          <p:cNvPr id="15" name="Rounded Rectangle 14"/>
          <p:cNvSpPr/>
          <p:nvPr/>
        </p:nvSpPr>
        <p:spPr>
          <a:xfrm>
            <a:off x="4775200" y="2101850"/>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461683"/>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37883"/>
            <a:ext cx="152400" cy="152400"/>
          </a:xfrm>
          <a:prstGeom prst="rect">
            <a:avLst/>
          </a:prstGeom>
        </p:spPr>
      </p:pic>
      <p:sp>
        <p:nvSpPr>
          <p:cNvPr id="18" name="TextBox 17"/>
          <p:cNvSpPr txBox="1"/>
          <p:nvPr/>
        </p:nvSpPr>
        <p:spPr>
          <a:xfrm>
            <a:off x="5359400" y="2254250"/>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A theme's position and standards (specified, not built) become StewardIQ flags: the product thesis turns into engagement asks.</a:t>
            </a:r>
          </a:p>
        </p:txBody>
      </p:sp>
      <p:sp>
        <p:nvSpPr>
          <p:cNvPr id="19" name="Rounded Rectangle 18"/>
          <p:cNvSpPr/>
          <p:nvPr/>
        </p:nvSpPr>
        <p:spPr>
          <a:xfrm>
            <a:off x="4775200" y="3227917"/>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587750"/>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663950"/>
            <a:ext cx="152400" cy="152400"/>
          </a:xfrm>
          <a:prstGeom prst="rect">
            <a:avLst/>
          </a:prstGeom>
        </p:spPr>
      </p:pic>
      <p:sp>
        <p:nvSpPr>
          <p:cNvPr id="22" name="TextBox 21"/>
          <p:cNvSpPr txBox="1"/>
          <p:nvPr/>
        </p:nvSpPr>
        <p:spPr>
          <a:xfrm>
            <a:off x="5359400" y="3380317"/>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PAB, CTB, best-in-class and thematic presets compose an index; dated calibrations keep past reviews reproducible.</a:t>
            </a:r>
          </a:p>
        </p:txBody>
      </p:sp>
      <p:sp>
        <p:nvSpPr>
          <p:cNvPr id="23" name="Rounded Rectangle 22"/>
          <p:cNvSpPr/>
          <p:nvPr/>
        </p:nvSpPr>
        <p:spPr>
          <a:xfrm>
            <a:off x="4775200" y="4353983"/>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713817"/>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790017"/>
            <a:ext cx="152400" cy="152400"/>
          </a:xfrm>
          <a:prstGeom prst="rect">
            <a:avLst/>
          </a:prstGeom>
        </p:spPr>
      </p:pic>
      <p:sp>
        <p:nvSpPr>
          <p:cNvPr id="26" name="TextBox 25"/>
          <p:cNvSpPr txBox="1"/>
          <p:nvPr/>
        </p:nvSpPr>
        <p:spPr>
          <a:xfrm>
            <a:off x="5359400" y="4506383"/>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Methodologies and taxonomies are house IP. GICS below sector level needs an MSCI/S&amp;P licence; IO data is OECD and EXIOBASE.</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R&amp;D LAB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Index construction: every stage leaves a trace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methodology composed from named rules, with no model anywhere in the numbers.</a:t>
            </a:r>
          </a:p>
        </p:txBody>
      </p:sp>
      <p:pic>
        <p:nvPicPr>
          <p:cNvPr id="5" name="Picture 4" descr="index.png"/>
          <p:cNvPicPr>
            <a:picLocks noChangeAspect="1"/>
          </p:cNvPicPr>
          <p:nvPr/>
        </p:nvPicPr>
        <p:blipFill>
          <a:blip r:embed="rId2"/>
          <a:stretch>
            <a:fillRect/>
          </a:stretch>
        </p:blipFill>
        <p:spPr>
          <a:xfrm>
            <a:off x="812800" y="2101850"/>
            <a:ext cx="6553200" cy="3684832"/>
          </a:xfrm>
          <a:prstGeom prst="rect">
            <a:avLst/>
          </a:prstGeom>
        </p:spPr>
      </p:pic>
      <p:sp>
        <p:nvSpPr>
          <p:cNvPr id="6" name="Rounded Rectangle 5"/>
          <p:cNvSpPr/>
          <p:nvPr/>
        </p:nvSpPr>
        <p:spPr>
          <a:xfrm>
            <a:off x="812800" y="2101850"/>
            <a:ext cx="6553200" cy="3684832"/>
          </a:xfrm>
          <a:prstGeom prst="roundRect">
            <a:avLst>
              <a:gd name="adj" fmla="val 2757"/>
            </a:avLst>
          </a:prstGeom>
          <a:noFill/>
          <a:ln w="9525">
            <a:solidFill>
              <a:srgbClr val="E2E8F0"/>
            </a:solidFill>
          </a:ln>
          <a:effectLst/>
        </p:spPr>
        <p:txBody>
          <a:bodyPr rtlCol="0" anchor="ctr"/>
          <a:lstStyle/>
          <a:p>
            <a:pPr algn="ctr"/>
          </a:p>
        </p:txBody>
      </p:sp>
      <p:pic>
        <p:nvPicPr>
          <p:cNvPr id="7" name="Picture 6" descr="fig-machine-filter.png"/>
          <p:cNvPicPr>
            <a:picLocks noChangeAspect="1"/>
          </p:cNvPicPr>
          <p:nvPr/>
        </p:nvPicPr>
        <p:blipFill>
          <a:blip r:embed="rId3"/>
          <a:stretch>
            <a:fillRect/>
          </a:stretch>
        </p:blipFill>
        <p:spPr>
          <a:xfrm>
            <a:off x="7569200" y="2101850"/>
            <a:ext cx="508000" cy="508000"/>
          </a:xfrm>
          <a:prstGeom prst="rect">
            <a:avLst/>
          </a:prstGeom>
        </p:spPr>
      </p:pic>
      <p:sp>
        <p:nvSpPr>
          <p:cNvPr id="8" name="TextBox 7"/>
          <p:cNvSpPr txBox="1"/>
          <p:nvPr/>
        </p:nvSpPr>
        <p:spPr>
          <a:xfrm>
            <a:off x="8204200" y="21018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Composed from named rules</a:t>
            </a:r>
          </a:p>
          <a:p>
            <a:pPr>
              <a:lnSpc>
                <a:spcPct val="116667"/>
              </a:lnSpc>
              <a:spcAft>
                <a:spcPts val="0"/>
              </a:spcAft>
            </a:pPr>
            <a:r>
              <a:rPr sz="1200" b="0">
                <a:solidFill>
                  <a:srgbClr val="475569"/>
                </a:solidFill>
                <a:latin typeface="IBM Plex Sans"/>
              </a:rPr>
              <a:t>Screens, selection, weighting, tilts, capping and the PAB or CTB path.</a:t>
            </a:r>
          </a:p>
        </p:txBody>
      </p:sp>
      <p:pic>
        <p:nvPicPr>
          <p:cNvPr id="9" name="Picture 8" descr="fig-machine-calendar-clock.png"/>
          <p:cNvPicPr>
            <a:picLocks noChangeAspect="1"/>
          </p:cNvPicPr>
          <p:nvPr/>
        </p:nvPicPr>
        <p:blipFill>
          <a:blip r:embed="rId4"/>
          <a:stretch>
            <a:fillRect/>
          </a:stretch>
        </p:blipFill>
        <p:spPr>
          <a:xfrm>
            <a:off x="7569200" y="3090944"/>
            <a:ext cx="508000" cy="508000"/>
          </a:xfrm>
          <a:prstGeom prst="rect">
            <a:avLst/>
          </a:prstGeom>
        </p:spPr>
      </p:pic>
      <p:sp>
        <p:nvSpPr>
          <p:cNvPr id="10" name="TextBox 9"/>
          <p:cNvSpPr txBox="1"/>
          <p:nvPr/>
        </p:nvSpPr>
        <p:spPr>
          <a:xfrm>
            <a:off x="8204200" y="3090944"/>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Effective-dated calibrations</a:t>
            </a:r>
          </a:p>
          <a:p>
            <a:pPr>
              <a:lnSpc>
                <a:spcPct val="116667"/>
              </a:lnSpc>
              <a:spcAft>
                <a:spcPts val="0"/>
              </a:spcAft>
            </a:pPr>
            <a:r>
              <a:rPr sz="1200" b="0">
                <a:solidFill>
                  <a:srgbClr val="475569"/>
                </a:solidFill>
                <a:latin typeface="IBM Plex Sans"/>
              </a:rPr>
              <a:t>A review uses the methodology in force on its date; the past holds.</a:t>
            </a:r>
          </a:p>
        </p:txBody>
      </p:sp>
      <p:pic>
        <p:nvPicPr>
          <p:cNvPr id="11" name="Picture 10" descr="fig-machine-calculator.png"/>
          <p:cNvPicPr>
            <a:picLocks noChangeAspect="1"/>
          </p:cNvPicPr>
          <p:nvPr/>
        </p:nvPicPr>
        <p:blipFill>
          <a:blip r:embed="rId5"/>
          <a:stretch>
            <a:fillRect/>
          </a:stretch>
        </p:blipFill>
        <p:spPr>
          <a:xfrm>
            <a:off x="7569200" y="4080038"/>
            <a:ext cx="508000" cy="508000"/>
          </a:xfrm>
          <a:prstGeom prst="rect">
            <a:avLst/>
          </a:prstGeom>
        </p:spPr>
      </p:pic>
      <p:sp>
        <p:nvSpPr>
          <p:cNvPr id="12" name="TextBox 11"/>
          <p:cNvSpPr txBox="1"/>
          <p:nvPr/>
        </p:nvSpPr>
        <p:spPr>
          <a:xfrm>
            <a:off x="8204200" y="4080038"/>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Solvers re-checked</a:t>
            </a:r>
          </a:p>
          <a:p>
            <a:pPr>
              <a:lnSpc>
                <a:spcPct val="116667"/>
              </a:lnSpc>
              <a:spcAft>
                <a:spcPts val="0"/>
              </a:spcAft>
            </a:pPr>
            <a:r>
              <a:rPr sz="1200" b="0">
                <a:solidFill>
                  <a:srgbClr val="475569"/>
                </a:solidFill>
                <a:latin typeface="IBM Plex Sans"/>
              </a:rPr>
              <a:t>Every constraint is verified again in plain Python after any solver.</a:t>
            </a:r>
          </a:p>
        </p:txBody>
      </p:sp>
      <p:pic>
        <p:nvPicPr>
          <p:cNvPr id="13" name="Picture 12" descr="fig-person-users.png"/>
          <p:cNvPicPr>
            <a:picLocks noChangeAspect="1"/>
          </p:cNvPicPr>
          <p:nvPr/>
        </p:nvPicPr>
        <p:blipFill>
          <a:blip r:embed="rId6"/>
          <a:stretch>
            <a:fillRect/>
          </a:stretch>
        </p:blipFill>
        <p:spPr>
          <a:xfrm>
            <a:off x="7569200" y="5069132"/>
            <a:ext cx="508000" cy="508000"/>
          </a:xfrm>
          <a:prstGeom prst="rect">
            <a:avLst/>
          </a:prstGeom>
        </p:spPr>
      </p:pic>
      <p:sp>
        <p:nvSpPr>
          <p:cNvPr id="14" name="TextBox 13"/>
          <p:cNvSpPr txBox="1"/>
          <p:nvPr/>
        </p:nvSpPr>
        <p:spPr>
          <a:xfrm>
            <a:off x="8204200" y="5069132"/>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A funnel for the committee</a:t>
            </a:r>
          </a:p>
          <a:p>
            <a:pPr>
              <a:lnSpc>
                <a:spcPct val="116667"/>
              </a:lnSpc>
              <a:spcAft>
                <a:spcPts val="0"/>
              </a:spcAft>
            </a:pPr>
            <a:r>
              <a:rPr sz="1200" b="0">
                <a:solidFill>
                  <a:srgbClr val="475569"/>
                </a:solidFill>
                <a:latin typeface="IBM Plex Sans"/>
              </a:rPr>
              <a:t>Each stage logs count in, count out and the names it dropped.</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STEWARDIQ</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StewardIQ: engagement on the record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Engage and escalate · Proxy season · Client reporting</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Engagement notes, votes and escalations sit in email and spreadsheets: no clear owner, promise or reason for a vote.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One record per company, a seven-step escalation ladder, votes cross-checked against open engagements, and a person deciding every step.</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Votes, engagements and escalations share one record, so a vote against management can follow from a stalled engagement, documented.</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Client reporting is designed to show house activity plus where a client's policy differed: a basis for client-specific mandates.</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Proxy statements come free from SEC EDGAR and the engagement record is house data. Vote data from a provider brings its own licence terms.</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STEWARDIQ</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One policy engine for house and clients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Eight stages on one graph; clients add only the points where their policy differs.</a:t>
            </a:r>
          </a:p>
        </p:txBody>
      </p:sp>
      <p:pic>
        <p:nvPicPr>
          <p:cNvPr id="5" name="Picture 4" descr="steward.png"/>
          <p:cNvPicPr>
            <a:picLocks noChangeAspect="1"/>
          </p:cNvPicPr>
          <p:nvPr/>
        </p:nvPicPr>
        <p:blipFill>
          <a:blip r:embed="rId2"/>
          <a:stretch>
            <a:fillRect/>
          </a:stretch>
        </p:blipFill>
        <p:spPr>
          <a:xfrm>
            <a:off x="812800" y="2101850"/>
            <a:ext cx="6553200" cy="3276600"/>
          </a:xfrm>
          <a:prstGeom prst="rect">
            <a:avLst/>
          </a:prstGeom>
        </p:spPr>
      </p:pic>
      <p:sp>
        <p:nvSpPr>
          <p:cNvPr id="6" name="Rounded Rectangle 5"/>
          <p:cNvSpPr/>
          <p:nvPr/>
        </p:nvSpPr>
        <p:spPr>
          <a:xfrm>
            <a:off x="812800" y="2101850"/>
            <a:ext cx="6553200" cy="3276600"/>
          </a:xfrm>
          <a:prstGeom prst="roundRect">
            <a:avLst>
              <a:gd name="adj" fmla="val 3100"/>
            </a:avLst>
          </a:prstGeom>
          <a:noFill/>
          <a:ln w="9525">
            <a:solidFill>
              <a:srgbClr val="E2E8F0"/>
            </a:solidFill>
          </a:ln>
          <a:effectLst/>
        </p:spPr>
        <p:txBody>
          <a:bodyPr rtlCol="0" anchor="ctr"/>
          <a:lstStyle/>
          <a:p>
            <a:pPr algn="ctr"/>
          </a:p>
        </p:txBody>
      </p:sp>
      <p:pic>
        <p:nvPicPr>
          <p:cNvPr id="7" name="Picture 6" descr="fig-machine-workflow.png"/>
          <p:cNvPicPr>
            <a:picLocks noChangeAspect="1"/>
          </p:cNvPicPr>
          <p:nvPr/>
        </p:nvPicPr>
        <p:blipFill>
          <a:blip r:embed="rId3"/>
          <a:stretch>
            <a:fillRect/>
          </a:stretch>
        </p:blipFill>
        <p:spPr>
          <a:xfrm>
            <a:off x="7569200" y="2101850"/>
            <a:ext cx="508000" cy="508000"/>
          </a:xfrm>
          <a:prstGeom prst="rect">
            <a:avLst/>
          </a:prstGeom>
        </p:spPr>
      </p:pic>
      <p:sp>
        <p:nvSpPr>
          <p:cNvPr id="8" name="TextBox 7"/>
          <p:cNvSpPr txBox="1"/>
          <p:nvPr/>
        </p:nvSpPr>
        <p:spPr>
          <a:xfrm>
            <a:off x="8204200" y="21018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Eight stages, one graph</a:t>
            </a:r>
          </a:p>
          <a:p>
            <a:pPr>
              <a:lnSpc>
                <a:spcPct val="116667"/>
              </a:lnSpc>
              <a:spcAft>
                <a:spcPts val="0"/>
              </a:spcAft>
            </a:pPr>
            <a:r>
              <a:rPr sz="1200" b="0">
                <a:solidFill>
                  <a:srgbClr val="475569"/>
                </a:solidFill>
                <a:latin typeface="IBM Plex Sans"/>
              </a:rPr>
              <a:t>House stages 1 to 6; client policy and reporting are an overlay.</a:t>
            </a:r>
          </a:p>
        </p:txBody>
      </p:sp>
      <p:pic>
        <p:nvPicPr>
          <p:cNvPr id="9" name="Picture 8" descr="fig-machine-git-branch.png"/>
          <p:cNvPicPr>
            <a:picLocks noChangeAspect="1"/>
          </p:cNvPicPr>
          <p:nvPr/>
        </p:nvPicPr>
        <p:blipFill>
          <a:blip r:embed="rId4"/>
          <a:stretch>
            <a:fillRect/>
          </a:stretch>
        </p:blipFill>
        <p:spPr>
          <a:xfrm>
            <a:off x="7569200" y="2954867"/>
            <a:ext cx="508000" cy="508000"/>
          </a:xfrm>
          <a:prstGeom prst="rect">
            <a:avLst/>
          </a:prstGeom>
        </p:spPr>
      </p:pic>
      <p:sp>
        <p:nvSpPr>
          <p:cNvPr id="10" name="TextBox 9"/>
          <p:cNvSpPr txBox="1"/>
          <p:nvPr/>
        </p:nvSpPr>
        <p:spPr>
          <a:xfrm>
            <a:off x="8204200" y="2954867"/>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Rules as decision graphs</a:t>
            </a:r>
          </a:p>
          <a:p>
            <a:pPr>
              <a:lnSpc>
                <a:spcPct val="116667"/>
              </a:lnSpc>
              <a:spcAft>
                <a:spcPts val="0"/>
              </a:spcAft>
            </a:pPr>
            <a:r>
              <a:rPr sz="1200" b="0">
                <a:solidFill>
                  <a:srgbClr val="475569"/>
                </a:solidFill>
                <a:latin typeface="IBM Plex Sans"/>
              </a:rPr>
              <a:t>House and client rules run on one decision-graph engine.</a:t>
            </a:r>
          </a:p>
        </p:txBody>
      </p:sp>
      <p:pic>
        <p:nvPicPr>
          <p:cNvPr id="11" name="Picture 10" descr="fig-machine-trending-up.png"/>
          <p:cNvPicPr>
            <a:picLocks noChangeAspect="1"/>
          </p:cNvPicPr>
          <p:nvPr/>
        </p:nvPicPr>
        <p:blipFill>
          <a:blip r:embed="rId5"/>
          <a:stretch>
            <a:fillRect/>
          </a:stretch>
        </p:blipFill>
        <p:spPr>
          <a:xfrm>
            <a:off x="7569200" y="3807883"/>
            <a:ext cx="508000" cy="508000"/>
          </a:xfrm>
          <a:prstGeom prst="rect">
            <a:avLst/>
          </a:prstGeom>
        </p:spPr>
      </p:pic>
      <p:sp>
        <p:nvSpPr>
          <p:cNvPr id="12" name="TextBox 11"/>
          <p:cNvSpPr txBox="1"/>
          <p:nvPr/>
        </p:nvSpPr>
        <p:spPr>
          <a:xfrm>
            <a:off x="8204200" y="3807883"/>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Escalation capped by tier</a:t>
            </a:r>
          </a:p>
          <a:p>
            <a:pPr>
              <a:lnSpc>
                <a:spcPct val="116667"/>
              </a:lnSpc>
              <a:spcAft>
                <a:spcPts val="0"/>
              </a:spcAft>
            </a:pPr>
            <a:r>
              <a:rPr sz="1200" b="0">
                <a:solidFill>
                  <a:srgbClr val="475569"/>
                </a:solidFill>
                <a:latin typeface="IBM Plex Sans"/>
              </a:rPr>
              <a:t>Rules propose how far to escalate; the coverage tier caps it.</a:t>
            </a:r>
          </a:p>
        </p:txBody>
      </p:sp>
      <p:pic>
        <p:nvPicPr>
          <p:cNvPr id="13" name="Picture 12" descr="fig-person-scale.png"/>
          <p:cNvPicPr>
            <a:picLocks noChangeAspect="1"/>
          </p:cNvPicPr>
          <p:nvPr/>
        </p:nvPicPr>
        <p:blipFill>
          <a:blip r:embed="rId6"/>
          <a:stretch>
            <a:fillRect/>
          </a:stretch>
        </p:blipFill>
        <p:spPr>
          <a:xfrm>
            <a:off x="7569200" y="4660900"/>
            <a:ext cx="508000" cy="508000"/>
          </a:xfrm>
          <a:prstGeom prst="rect">
            <a:avLst/>
          </a:prstGeom>
        </p:spPr>
      </p:pic>
      <p:sp>
        <p:nvSpPr>
          <p:cNvPr id="14" name="TextBox 13"/>
          <p:cNvSpPr txBox="1"/>
          <p:nvPr/>
        </p:nvSpPr>
        <p:spPr>
          <a:xfrm>
            <a:off x="8204200" y="466090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People decide at the checkpoint</a:t>
            </a:r>
          </a:p>
          <a:p>
            <a:pPr>
              <a:lnSpc>
                <a:spcPct val="116667"/>
              </a:lnSpc>
              <a:spcAft>
                <a:spcPts val="0"/>
              </a:spcAft>
            </a:pPr>
            <a:r>
              <a:rPr sz="1200" b="0">
                <a:solidFill>
                  <a:srgbClr val="475569"/>
                </a:solidFill>
                <a:latin typeface="IBM Plex Sans"/>
              </a:rPr>
              <a:t>Escalations and tier changes wait for a named person.</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DATA HUB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Data Hub: one source of truth for inputs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Map securities to issuers</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Each tool maps securities to issuers its own way, and a stale or failed feed goes unnoticed until a number is wrong.</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One security master that maps every held security to exactly one issuer, a feed list that shows what is behind, and one list of open data issues.</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Holdings, news and alerts reach the same issuer through one master, so an engagement and its evidence point to the same company.</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The output catalogue shows which universes, runs, scores and calibrations each product uses, so its inputs can be traced and reused.</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Every provider source is tagged internal-only or redistributable, so the licence limits on each dataset are visible before reuse.</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DATA HUB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Every data problem in one list, blocking first</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Feeds, the security master and failing checks, each issue linked to where it is fixed.</a:t>
            </a:r>
          </a:p>
        </p:txBody>
      </p:sp>
      <p:pic>
        <p:nvPicPr>
          <p:cNvPr id="5" name="Picture 4" descr="issues.png"/>
          <p:cNvPicPr>
            <a:picLocks noChangeAspect="1"/>
          </p:cNvPicPr>
          <p:nvPr/>
        </p:nvPicPr>
        <p:blipFill>
          <a:blip r:embed="rId2"/>
          <a:stretch>
            <a:fillRect/>
          </a:stretch>
        </p:blipFill>
        <p:spPr>
          <a:xfrm>
            <a:off x="812800" y="2101850"/>
            <a:ext cx="6553200" cy="2954311"/>
          </a:xfrm>
          <a:prstGeom prst="rect">
            <a:avLst/>
          </a:prstGeom>
        </p:spPr>
      </p:pic>
      <p:sp>
        <p:nvSpPr>
          <p:cNvPr id="6" name="Rounded Rectangle 5"/>
          <p:cNvSpPr/>
          <p:nvPr/>
        </p:nvSpPr>
        <p:spPr>
          <a:xfrm>
            <a:off x="812800" y="2101850"/>
            <a:ext cx="6553200" cy="2954311"/>
          </a:xfrm>
          <a:prstGeom prst="roundRect">
            <a:avLst>
              <a:gd name="adj" fmla="val 3439"/>
            </a:avLst>
          </a:prstGeom>
          <a:noFill/>
          <a:ln w="9525">
            <a:solidFill>
              <a:srgbClr val="E2E8F0"/>
            </a:solidFill>
          </a:ln>
          <a:effectLst/>
        </p:spPr>
        <p:txBody>
          <a:bodyPr rtlCol="0" anchor="ctr"/>
          <a:lstStyle/>
          <a:p>
            <a:pPr algn="ctr"/>
          </a:p>
        </p:txBody>
      </p:sp>
      <p:pic>
        <p:nvPicPr>
          <p:cNvPr id="7" name="Picture 6" descr="fig-machine-key-round.png"/>
          <p:cNvPicPr>
            <a:picLocks noChangeAspect="1"/>
          </p:cNvPicPr>
          <p:nvPr/>
        </p:nvPicPr>
        <p:blipFill>
          <a:blip r:embed="rId3"/>
          <a:stretch>
            <a:fillRect/>
          </a:stretch>
        </p:blipFill>
        <p:spPr>
          <a:xfrm>
            <a:off x="7569200" y="2101850"/>
            <a:ext cx="508000" cy="508000"/>
          </a:xfrm>
          <a:prstGeom prst="rect">
            <a:avLst/>
          </a:prstGeom>
        </p:spPr>
      </p:pic>
      <p:sp>
        <p:nvSpPr>
          <p:cNvPr id="8" name="TextBox 7"/>
          <p:cNvSpPr txBox="1"/>
          <p:nvPr/>
        </p:nvSpPr>
        <p:spPr>
          <a:xfrm>
            <a:off x="8204200" y="21018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Exact matching only</a:t>
            </a:r>
          </a:p>
          <a:p>
            <a:pPr>
              <a:lnSpc>
                <a:spcPct val="116667"/>
              </a:lnSpc>
              <a:spcAft>
                <a:spcPts val="0"/>
              </a:spcAft>
            </a:pPr>
            <a:r>
              <a:rPr sz="1200" b="0">
                <a:solidFill>
                  <a:srgbClr val="475569"/>
                </a:solidFill>
                <a:latin typeface="IBM Plex Sans"/>
              </a:rPr>
              <a:t>LEI, ISIN or CIK map a security to one issuer, never a name.</a:t>
            </a:r>
          </a:p>
        </p:txBody>
      </p:sp>
      <p:pic>
        <p:nvPicPr>
          <p:cNvPr id="9" name="Picture 8" descr="fig-machine-bell-ring.png"/>
          <p:cNvPicPr>
            <a:picLocks noChangeAspect="1"/>
          </p:cNvPicPr>
          <p:nvPr/>
        </p:nvPicPr>
        <p:blipFill>
          <a:blip r:embed="rId4"/>
          <a:stretch>
            <a:fillRect/>
          </a:stretch>
        </p:blipFill>
        <p:spPr>
          <a:xfrm>
            <a:off x="7569200" y="2921000"/>
            <a:ext cx="508000" cy="508000"/>
          </a:xfrm>
          <a:prstGeom prst="rect">
            <a:avLst/>
          </a:prstGeom>
        </p:spPr>
      </p:pic>
      <p:sp>
        <p:nvSpPr>
          <p:cNvPr id="10" name="TextBox 9"/>
          <p:cNvSpPr txBox="1"/>
          <p:nvPr/>
        </p:nvSpPr>
        <p:spPr>
          <a:xfrm>
            <a:off x="8204200" y="292100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Feeds that say they are late</a:t>
            </a:r>
          </a:p>
          <a:p>
            <a:pPr>
              <a:lnSpc>
                <a:spcPct val="116667"/>
              </a:lnSpc>
              <a:spcAft>
                <a:spcPts val="0"/>
              </a:spcAft>
            </a:pPr>
            <a:r>
              <a:rPr sz="1200" b="0">
                <a:solidFill>
                  <a:srgbClr val="475569"/>
                </a:solidFill>
                <a:latin typeface="IBM Plex Sans"/>
              </a:rPr>
              <a:t>A load older than last month end is flagged as behind.</a:t>
            </a:r>
          </a:p>
        </p:txBody>
      </p:sp>
      <p:pic>
        <p:nvPicPr>
          <p:cNvPr id="11" name="Picture 10" descr="fig-machine-list-ordered.png"/>
          <p:cNvPicPr>
            <a:picLocks noChangeAspect="1"/>
          </p:cNvPicPr>
          <p:nvPr/>
        </p:nvPicPr>
        <p:blipFill>
          <a:blip r:embed="rId5"/>
          <a:stretch>
            <a:fillRect/>
          </a:stretch>
        </p:blipFill>
        <p:spPr>
          <a:xfrm>
            <a:off x="7569200" y="3740150"/>
            <a:ext cx="508000" cy="508000"/>
          </a:xfrm>
          <a:prstGeom prst="rect">
            <a:avLst/>
          </a:prstGeom>
        </p:spPr>
      </p:pic>
      <p:sp>
        <p:nvSpPr>
          <p:cNvPr id="12" name="TextBox 11"/>
          <p:cNvSpPr txBox="1"/>
          <p:nvPr/>
        </p:nvSpPr>
        <p:spPr>
          <a:xfrm>
            <a:off x="8204200" y="37401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Blocking issues first</a:t>
            </a:r>
          </a:p>
          <a:p>
            <a:pPr>
              <a:lnSpc>
                <a:spcPct val="116667"/>
              </a:lnSpc>
              <a:spcAft>
                <a:spcPts val="0"/>
              </a:spcAft>
            </a:pPr>
            <a:r>
              <a:rPr sz="1200" b="0">
                <a:solidFill>
                  <a:srgbClr val="475569"/>
                </a:solidFill>
                <a:latin typeface="IBM Plex Sans"/>
              </a:rPr>
              <a:t>Feed and master problems come before the checks they cause.</a:t>
            </a:r>
          </a:p>
        </p:txBody>
      </p:sp>
      <p:pic>
        <p:nvPicPr>
          <p:cNvPr id="13" name="Picture 12" descr="fig-machine-lock.png"/>
          <p:cNvPicPr>
            <a:picLocks noChangeAspect="1"/>
          </p:cNvPicPr>
          <p:nvPr/>
        </p:nvPicPr>
        <p:blipFill>
          <a:blip r:embed="rId6"/>
          <a:stretch>
            <a:fillRect/>
          </a:stretch>
        </p:blipFill>
        <p:spPr>
          <a:xfrm>
            <a:off x="7569200" y="4559300"/>
            <a:ext cx="508000" cy="508000"/>
          </a:xfrm>
          <a:prstGeom prst="rect">
            <a:avLst/>
          </a:prstGeom>
        </p:spPr>
      </p:pic>
      <p:sp>
        <p:nvSpPr>
          <p:cNvPr id="14" name="TextBox 13"/>
          <p:cNvSpPr txBox="1"/>
          <p:nvPr/>
        </p:nvSpPr>
        <p:spPr>
          <a:xfrm>
            <a:off x="8204200" y="455930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Licence-aware publishing</a:t>
            </a:r>
          </a:p>
          <a:p>
            <a:pPr>
              <a:lnSpc>
                <a:spcPct val="116667"/>
              </a:lnSpc>
              <a:spcAft>
                <a:spcPts val="0"/>
              </a:spcAft>
            </a:pPr>
            <a:r>
              <a:rPr sz="1200" b="0">
                <a:solidFill>
                  <a:srgbClr val="475569"/>
                </a:solidFill>
                <a:latin typeface="IBM Plex Sans"/>
              </a:rPr>
              <a:t>Internal-only provider data never reaches the publish path.</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SYSTEM ARCHITECTURE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Five layers under every function</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Every function runs on the same orchestration and shared services, with Postgres as the system of record.</a:t>
            </a:r>
          </a:p>
        </p:txBody>
      </p:sp>
      <p:sp>
        <p:nvSpPr>
          <p:cNvPr id="5" name="Rounded Rectangle 4"/>
          <p:cNvSpPr/>
          <p:nvPr/>
        </p:nvSpPr>
        <p:spPr>
          <a:xfrm>
            <a:off x="812800" y="21018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247900"/>
            <a:ext cx="304800" cy="304800"/>
          </a:xfrm>
          <a:prstGeom prst="ellipse">
            <a:avLst/>
          </a:prstGeom>
          <a:solidFill>
            <a:srgbClr val="F1F5F9"/>
          </a:solidFill>
          <a:ln>
            <a:noFill/>
          </a:ln>
          <a:effectLst/>
        </p:spPr>
        <p:txBody>
          <a:bodyPr rtlCol="0" anchor="ctr"/>
          <a:lstStyle/>
          <a:p>
            <a:pPr algn="ctr"/>
          </a:p>
        </p:txBody>
      </p:sp>
      <p:pic>
        <p:nvPicPr>
          <p:cNvPr id="7" name="Picture 6" descr="monitor-0F172A.png"/>
          <p:cNvPicPr>
            <a:picLocks noChangeAspect="1"/>
          </p:cNvPicPr>
          <p:nvPr/>
        </p:nvPicPr>
        <p:blipFill>
          <a:blip r:embed="rId2"/>
          <a:stretch>
            <a:fillRect/>
          </a:stretch>
        </p:blipFill>
        <p:spPr>
          <a:xfrm>
            <a:off x="1041400" y="2324100"/>
            <a:ext cx="152400" cy="152400"/>
          </a:xfrm>
          <a:prstGeom prst="rect">
            <a:avLst/>
          </a:prstGeom>
        </p:spPr>
      </p:pic>
      <p:sp>
        <p:nvSpPr>
          <p:cNvPr id="8" name="TextBox 7"/>
          <p:cNvSpPr txBox="1"/>
          <p:nvPr/>
        </p:nvSpPr>
        <p:spPr>
          <a:xfrm>
            <a:off x="1397000" y="21018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INTERFACES</a:t>
            </a:r>
          </a:p>
          <a:p>
            <a:pPr>
              <a:lnSpc>
                <a:spcPct val="108333"/>
              </a:lnSpc>
              <a:spcAft>
                <a:spcPts val="0"/>
              </a:spcAft>
            </a:pPr>
            <a:r>
              <a:rPr sz="1200" b="0">
                <a:solidFill>
                  <a:srgbClr val="475569"/>
                </a:solidFill>
                <a:latin typeface="IBM Plex Sans"/>
              </a:rPr>
              <a:t>who drives it</a:t>
            </a:r>
          </a:p>
        </p:txBody>
      </p:sp>
      <p:sp>
        <p:nvSpPr>
          <p:cNvPr id="9" name="Rounded Rectangle 8"/>
          <p:cNvSpPr/>
          <p:nvPr/>
        </p:nvSpPr>
        <p:spPr>
          <a:xfrm>
            <a:off x="3505200" y="2251075"/>
            <a:ext cx="885952" cy="298450"/>
          </a:xfrm>
          <a:prstGeom prst="roundRect">
            <a:avLst>
              <a:gd name="adj" fmla="val 25531"/>
            </a:avLst>
          </a:prstGeom>
          <a:solidFill>
            <a:srgbClr val="F1F5F9"/>
          </a:solidFill>
          <a:ln>
            <a:noFill/>
          </a:ln>
          <a:effectLst/>
        </p:spPr>
        <p:txBody>
          <a:bodyPr rtlCol="0" anchor="ctr"/>
          <a:lstStyle/>
          <a:p>
            <a:pPr algn="ctr"/>
          </a:p>
        </p:txBody>
      </p:sp>
      <p:sp>
        <p:nvSpPr>
          <p:cNvPr id="10" name="TextBox 9"/>
          <p:cNvSpPr txBox="1"/>
          <p:nvPr/>
        </p:nvSpPr>
        <p:spPr>
          <a:xfrm>
            <a:off x="3505200" y="22510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React UI</a:t>
            </a:r>
          </a:p>
        </p:txBody>
      </p:sp>
      <p:sp>
        <p:nvSpPr>
          <p:cNvPr id="11" name="Rounded Rectangle 10"/>
          <p:cNvSpPr/>
          <p:nvPr/>
        </p:nvSpPr>
        <p:spPr>
          <a:xfrm>
            <a:off x="4467352" y="2251075"/>
            <a:ext cx="800608" cy="298450"/>
          </a:xfrm>
          <a:prstGeom prst="roundRect">
            <a:avLst>
              <a:gd name="adj" fmla="val 25531"/>
            </a:avLst>
          </a:prstGeom>
          <a:solidFill>
            <a:srgbClr val="F1F5F9"/>
          </a:solidFill>
          <a:ln>
            <a:noFill/>
          </a:ln>
          <a:effectLst/>
        </p:spPr>
        <p:txBody>
          <a:bodyPr rtlCol="0" anchor="ctr"/>
          <a:lstStyle/>
          <a:p>
            <a:pPr algn="ctr"/>
          </a:p>
        </p:txBody>
      </p:sp>
      <p:sp>
        <p:nvSpPr>
          <p:cNvPr id="12" name="TextBox 11"/>
          <p:cNvSpPr txBox="1"/>
          <p:nvPr/>
        </p:nvSpPr>
        <p:spPr>
          <a:xfrm>
            <a:off x="4467352" y="2251075"/>
            <a:ext cx="80060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FastAPI</a:t>
            </a:r>
          </a:p>
        </p:txBody>
      </p:sp>
      <p:sp>
        <p:nvSpPr>
          <p:cNvPr id="13" name="Rounded Rectangle 12"/>
          <p:cNvSpPr/>
          <p:nvPr/>
        </p:nvSpPr>
        <p:spPr>
          <a:xfrm>
            <a:off x="5344160" y="2251075"/>
            <a:ext cx="971296" cy="298450"/>
          </a:xfrm>
          <a:prstGeom prst="roundRect">
            <a:avLst>
              <a:gd name="adj" fmla="val 25531"/>
            </a:avLst>
          </a:prstGeom>
          <a:solidFill>
            <a:srgbClr val="F1F5F9"/>
          </a:solidFill>
          <a:ln>
            <a:noFill/>
          </a:ln>
          <a:effectLst/>
        </p:spPr>
        <p:txBody>
          <a:bodyPr rtlCol="0" anchor="ctr"/>
          <a:lstStyle/>
          <a:p>
            <a:pPr algn="ctr"/>
          </a:p>
        </p:txBody>
      </p:sp>
      <p:sp>
        <p:nvSpPr>
          <p:cNvPr id="14" name="TextBox 13"/>
          <p:cNvSpPr txBox="1"/>
          <p:nvPr/>
        </p:nvSpPr>
        <p:spPr>
          <a:xfrm>
            <a:off x="5344160" y="22510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Typer CLI</a:t>
            </a:r>
          </a:p>
        </p:txBody>
      </p:sp>
      <p:sp>
        <p:nvSpPr>
          <p:cNvPr id="15" name="Rounded Rectangle 14"/>
          <p:cNvSpPr/>
          <p:nvPr/>
        </p:nvSpPr>
        <p:spPr>
          <a:xfrm>
            <a:off x="6391656" y="2251075"/>
            <a:ext cx="1312672" cy="298450"/>
          </a:xfrm>
          <a:prstGeom prst="roundRect">
            <a:avLst>
              <a:gd name="adj" fmla="val 25531"/>
            </a:avLst>
          </a:prstGeom>
          <a:solidFill>
            <a:srgbClr val="F1F5F9"/>
          </a:solidFill>
          <a:ln>
            <a:noFill/>
          </a:ln>
          <a:effectLst/>
        </p:spPr>
        <p:txBody>
          <a:bodyPr rtlCol="0" anchor="ctr"/>
          <a:lstStyle/>
          <a:p>
            <a:pPr algn="ctr"/>
          </a:p>
        </p:txBody>
      </p:sp>
      <p:sp>
        <p:nvSpPr>
          <p:cNvPr id="16" name="TextBox 15"/>
          <p:cNvSpPr txBox="1"/>
          <p:nvPr/>
        </p:nvSpPr>
        <p:spPr>
          <a:xfrm>
            <a:off x="6391656" y="2251075"/>
            <a:ext cx="131267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Ask ARP panel</a:t>
            </a:r>
          </a:p>
        </p:txBody>
      </p:sp>
      <p:sp>
        <p:nvSpPr>
          <p:cNvPr id="17" name="Rounded Rectangle 16"/>
          <p:cNvSpPr/>
          <p:nvPr/>
        </p:nvSpPr>
        <p:spPr>
          <a:xfrm>
            <a:off x="7780528" y="2251075"/>
            <a:ext cx="885952" cy="298450"/>
          </a:xfrm>
          <a:prstGeom prst="roundRect">
            <a:avLst>
              <a:gd name="adj" fmla="val 25531"/>
            </a:avLst>
          </a:prstGeom>
          <a:solidFill>
            <a:srgbClr val="F1F5F9"/>
          </a:solidFill>
          <a:ln>
            <a:noFill/>
          </a:ln>
          <a:effectLst/>
        </p:spPr>
        <p:txBody>
          <a:bodyPr rtlCol="0" anchor="ctr"/>
          <a:lstStyle/>
          <a:p>
            <a:pPr algn="ctr"/>
          </a:p>
        </p:txBody>
      </p:sp>
      <p:sp>
        <p:nvSpPr>
          <p:cNvPr id="18" name="TextBox 17"/>
          <p:cNvSpPr txBox="1"/>
          <p:nvPr/>
        </p:nvSpPr>
        <p:spPr>
          <a:xfrm>
            <a:off x="7780528" y="22510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Superset</a:t>
            </a:r>
          </a:p>
        </p:txBody>
      </p:sp>
      <p:sp>
        <p:nvSpPr>
          <p:cNvPr id="19" name="Rounded Rectangle 18"/>
          <p:cNvSpPr/>
          <p:nvPr/>
        </p:nvSpPr>
        <p:spPr>
          <a:xfrm>
            <a:off x="812800" y="27876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965200" y="2933700"/>
            <a:ext cx="304800" cy="304800"/>
          </a:xfrm>
          <a:prstGeom prst="ellipse">
            <a:avLst/>
          </a:prstGeom>
          <a:solidFill>
            <a:srgbClr val="F1F5F9"/>
          </a:solidFill>
          <a:ln>
            <a:noFill/>
          </a:ln>
          <a:effectLst/>
        </p:spPr>
        <p:txBody>
          <a:bodyPr rtlCol="0" anchor="ctr"/>
          <a:lstStyle/>
          <a:p>
            <a:pPr algn="ctr"/>
          </a:p>
        </p:txBody>
      </p:sp>
      <p:pic>
        <p:nvPicPr>
          <p:cNvPr id="21" name="Picture 20" descr="workflow-0F172A.png"/>
          <p:cNvPicPr>
            <a:picLocks noChangeAspect="1"/>
          </p:cNvPicPr>
          <p:nvPr/>
        </p:nvPicPr>
        <p:blipFill>
          <a:blip r:embed="rId3"/>
          <a:stretch>
            <a:fillRect/>
          </a:stretch>
        </p:blipFill>
        <p:spPr>
          <a:xfrm>
            <a:off x="1041400" y="3009900"/>
            <a:ext cx="152400" cy="152400"/>
          </a:xfrm>
          <a:prstGeom prst="rect">
            <a:avLst/>
          </a:prstGeom>
        </p:spPr>
      </p:pic>
      <p:sp>
        <p:nvSpPr>
          <p:cNvPr id="22" name="TextBox 21"/>
          <p:cNvSpPr txBox="1"/>
          <p:nvPr/>
        </p:nvSpPr>
        <p:spPr>
          <a:xfrm>
            <a:off x="1397000" y="27876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ORCHESTRATION</a:t>
            </a:r>
          </a:p>
          <a:p>
            <a:pPr>
              <a:lnSpc>
                <a:spcPct val="108333"/>
              </a:lnSpc>
              <a:spcAft>
                <a:spcPts val="0"/>
              </a:spcAft>
            </a:pPr>
            <a:r>
              <a:rPr sz="1200" b="0">
                <a:solidFill>
                  <a:srgbClr val="475569"/>
                </a:solidFill>
                <a:latin typeface="IBM Plex Sans"/>
              </a:rPr>
              <a:t>how a run behaves</a:t>
            </a:r>
          </a:p>
        </p:txBody>
      </p:sp>
      <p:sp>
        <p:nvSpPr>
          <p:cNvPr id="23" name="Rounded Rectangle 22"/>
          <p:cNvSpPr/>
          <p:nvPr/>
        </p:nvSpPr>
        <p:spPr>
          <a:xfrm>
            <a:off x="3505200" y="2936875"/>
            <a:ext cx="1739392" cy="298450"/>
          </a:xfrm>
          <a:prstGeom prst="roundRect">
            <a:avLst>
              <a:gd name="adj" fmla="val 25531"/>
            </a:avLst>
          </a:prstGeom>
          <a:solidFill>
            <a:srgbClr val="F1F5F9"/>
          </a:solidFill>
          <a:ln>
            <a:noFill/>
          </a:ln>
          <a:effectLst/>
        </p:spPr>
        <p:txBody>
          <a:bodyPr rtlCol="0" anchor="ctr"/>
          <a:lstStyle/>
          <a:p>
            <a:pPr algn="ctr"/>
          </a:p>
        </p:txBody>
      </p:sp>
      <p:sp>
        <p:nvSpPr>
          <p:cNvPr id="24" name="TextBox 23"/>
          <p:cNvSpPr txBox="1"/>
          <p:nvPr/>
        </p:nvSpPr>
        <p:spPr>
          <a:xfrm>
            <a:off x="3505200" y="29368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run store</a:t>
            </a:r>
          </a:p>
        </p:txBody>
      </p:sp>
      <p:sp>
        <p:nvSpPr>
          <p:cNvPr id="25" name="Rounded Rectangle 24"/>
          <p:cNvSpPr/>
          <p:nvPr/>
        </p:nvSpPr>
        <p:spPr>
          <a:xfrm>
            <a:off x="5320792" y="2936875"/>
            <a:ext cx="1141984" cy="298450"/>
          </a:xfrm>
          <a:prstGeom prst="roundRect">
            <a:avLst>
              <a:gd name="adj" fmla="val 25531"/>
            </a:avLst>
          </a:prstGeom>
          <a:solidFill>
            <a:srgbClr val="F1F5F9"/>
          </a:solidFill>
          <a:ln>
            <a:noFill/>
          </a:ln>
          <a:effectLst/>
        </p:spPr>
        <p:txBody>
          <a:bodyPr rtlCol="0" anchor="ctr"/>
          <a:lstStyle/>
          <a:p>
            <a:pPr algn="ctr"/>
          </a:p>
        </p:txBody>
      </p:sp>
      <p:sp>
        <p:nvSpPr>
          <p:cNvPr id="26" name="TextBox 25"/>
          <p:cNvSpPr txBox="1"/>
          <p:nvPr/>
        </p:nvSpPr>
        <p:spPr>
          <a:xfrm>
            <a:off x="5320792" y="2936875"/>
            <a:ext cx="11419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checkpoints</a:t>
            </a:r>
          </a:p>
        </p:txBody>
      </p:sp>
      <p:sp>
        <p:nvSpPr>
          <p:cNvPr id="27" name="Rounded Rectangle 26"/>
          <p:cNvSpPr/>
          <p:nvPr/>
        </p:nvSpPr>
        <p:spPr>
          <a:xfrm>
            <a:off x="6538976" y="2936875"/>
            <a:ext cx="1398016" cy="298450"/>
          </a:xfrm>
          <a:prstGeom prst="roundRect">
            <a:avLst>
              <a:gd name="adj" fmla="val 25531"/>
            </a:avLst>
          </a:prstGeom>
          <a:solidFill>
            <a:srgbClr val="F1F5F9"/>
          </a:solidFill>
          <a:ln>
            <a:noFill/>
          </a:ln>
          <a:effectLst/>
        </p:spPr>
        <p:txBody>
          <a:bodyPr rtlCol="0" anchor="ctr"/>
          <a:lstStyle/>
          <a:p>
            <a:pPr algn="ctr"/>
          </a:p>
        </p:txBody>
      </p:sp>
      <p:sp>
        <p:nvSpPr>
          <p:cNvPr id="28" name="TextBox 27"/>
          <p:cNvSpPr txBox="1"/>
          <p:nvPr/>
        </p:nvSpPr>
        <p:spPr>
          <a:xfrm>
            <a:off x="6538976" y="29368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resume, cancel</a:t>
            </a:r>
          </a:p>
        </p:txBody>
      </p:sp>
      <p:sp>
        <p:nvSpPr>
          <p:cNvPr id="29" name="Rounded Rectangle 28"/>
          <p:cNvSpPr/>
          <p:nvPr/>
        </p:nvSpPr>
        <p:spPr>
          <a:xfrm>
            <a:off x="8013192" y="2936875"/>
            <a:ext cx="971296" cy="298450"/>
          </a:xfrm>
          <a:prstGeom prst="roundRect">
            <a:avLst>
              <a:gd name="adj" fmla="val 25531"/>
            </a:avLst>
          </a:prstGeom>
          <a:solidFill>
            <a:srgbClr val="F1F5F9"/>
          </a:solidFill>
          <a:ln>
            <a:noFill/>
          </a:ln>
          <a:effectLst/>
        </p:spPr>
        <p:txBody>
          <a:bodyPr rtlCol="0" anchor="ctr"/>
          <a:lstStyle/>
          <a:p>
            <a:pPr algn="ctr"/>
          </a:p>
        </p:txBody>
      </p:sp>
      <p:sp>
        <p:nvSpPr>
          <p:cNvPr id="30" name="TextBox 29"/>
          <p:cNvSpPr txBox="1"/>
          <p:nvPr/>
        </p:nvSpPr>
        <p:spPr>
          <a:xfrm>
            <a:off x="8013192" y="29368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Batch API</a:t>
            </a:r>
          </a:p>
        </p:txBody>
      </p:sp>
      <p:sp>
        <p:nvSpPr>
          <p:cNvPr id="31" name="Rounded Rectangle 30"/>
          <p:cNvSpPr/>
          <p:nvPr/>
        </p:nvSpPr>
        <p:spPr>
          <a:xfrm>
            <a:off x="9060688" y="2936875"/>
            <a:ext cx="1227328" cy="298450"/>
          </a:xfrm>
          <a:prstGeom prst="roundRect">
            <a:avLst>
              <a:gd name="adj" fmla="val 25531"/>
            </a:avLst>
          </a:prstGeom>
          <a:solidFill>
            <a:srgbClr val="F1F5F9"/>
          </a:solidFill>
          <a:ln>
            <a:noFill/>
          </a:ln>
          <a:effectLst/>
        </p:spPr>
        <p:txBody>
          <a:bodyPr rtlCol="0" anchor="ctr"/>
          <a:lstStyle/>
          <a:p>
            <a:pPr algn="ctr"/>
          </a:p>
        </p:txBody>
      </p:sp>
      <p:sp>
        <p:nvSpPr>
          <p:cNvPr id="32" name="TextBox 31"/>
          <p:cNvSpPr txBox="1"/>
          <p:nvPr/>
        </p:nvSpPr>
        <p:spPr>
          <a:xfrm>
            <a:off x="9060688" y="2936875"/>
            <a:ext cx="122732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review queue</a:t>
            </a:r>
          </a:p>
        </p:txBody>
      </p:sp>
      <p:sp>
        <p:nvSpPr>
          <p:cNvPr id="33" name="Rounded Rectangle 32"/>
          <p:cNvSpPr/>
          <p:nvPr/>
        </p:nvSpPr>
        <p:spPr>
          <a:xfrm>
            <a:off x="812800" y="34734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3619500"/>
            <a:ext cx="304800" cy="304800"/>
          </a:xfrm>
          <a:prstGeom prst="ellipse">
            <a:avLst/>
          </a:prstGeom>
          <a:solidFill>
            <a:srgbClr val="F1F5F9"/>
          </a:solidFill>
          <a:ln>
            <a:noFill/>
          </a:ln>
          <a:effectLst/>
        </p:spPr>
        <p:txBody>
          <a:bodyPr rtlCol="0" anchor="ctr"/>
          <a:lstStyle/>
          <a:p>
            <a:pPr algn="ctr"/>
          </a:p>
        </p:txBody>
      </p:sp>
      <p:pic>
        <p:nvPicPr>
          <p:cNvPr id="35" name="Picture 34" descr="git-branch-0F172A.png"/>
          <p:cNvPicPr>
            <a:picLocks noChangeAspect="1"/>
          </p:cNvPicPr>
          <p:nvPr/>
        </p:nvPicPr>
        <p:blipFill>
          <a:blip r:embed="rId4"/>
          <a:stretch>
            <a:fillRect/>
          </a:stretch>
        </p:blipFill>
        <p:spPr>
          <a:xfrm>
            <a:off x="1041400" y="3695700"/>
            <a:ext cx="152400" cy="152400"/>
          </a:xfrm>
          <a:prstGeom prst="rect">
            <a:avLst/>
          </a:prstGeom>
        </p:spPr>
      </p:pic>
      <p:sp>
        <p:nvSpPr>
          <p:cNvPr id="36" name="TextBox 35"/>
          <p:cNvSpPr txBox="1"/>
          <p:nvPr/>
        </p:nvSpPr>
        <p:spPr>
          <a:xfrm>
            <a:off x="1397000" y="34734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AGENT PIPELINES</a:t>
            </a:r>
          </a:p>
          <a:p>
            <a:pPr>
              <a:lnSpc>
                <a:spcPct val="108333"/>
              </a:lnSpc>
              <a:spcAft>
                <a:spcPts val="0"/>
              </a:spcAft>
            </a:pPr>
            <a:r>
              <a:rPr sz="1200" b="0">
                <a:solidFill>
                  <a:srgbClr val="475569"/>
                </a:solidFill>
                <a:latin typeface="IBM Plex Sans"/>
              </a:rPr>
              <a:t>per-company flows</a:t>
            </a:r>
          </a:p>
        </p:txBody>
      </p:sp>
      <p:sp>
        <p:nvSpPr>
          <p:cNvPr id="37" name="Rounded Rectangle 36"/>
          <p:cNvSpPr/>
          <p:nvPr/>
        </p:nvSpPr>
        <p:spPr>
          <a:xfrm>
            <a:off x="3505200" y="3622675"/>
            <a:ext cx="2080768" cy="298450"/>
          </a:xfrm>
          <a:prstGeom prst="roundRect">
            <a:avLst>
              <a:gd name="adj" fmla="val 25531"/>
            </a:avLst>
          </a:prstGeom>
          <a:solidFill>
            <a:srgbClr val="F1F5F9"/>
          </a:solidFill>
          <a:ln>
            <a:noFill/>
          </a:ln>
          <a:effectLst/>
        </p:spPr>
        <p:txBody>
          <a:bodyPr rtlCol="0" anchor="ctr"/>
          <a:lstStyle/>
          <a:p>
            <a:pPr algn="ctr"/>
          </a:p>
        </p:txBody>
      </p:sp>
      <p:sp>
        <p:nvSpPr>
          <p:cNvPr id="38" name="TextBox 37"/>
          <p:cNvSpPr txBox="1"/>
          <p:nvPr/>
        </p:nvSpPr>
        <p:spPr>
          <a:xfrm>
            <a:off x="3505200" y="3622675"/>
            <a:ext cx="208076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LangGraph state graphs</a:t>
            </a:r>
          </a:p>
        </p:txBody>
      </p:sp>
      <p:sp>
        <p:nvSpPr>
          <p:cNvPr id="39" name="Rounded Rectangle 38"/>
          <p:cNvSpPr/>
          <p:nvPr/>
        </p:nvSpPr>
        <p:spPr>
          <a:xfrm>
            <a:off x="5662168" y="3622675"/>
            <a:ext cx="1739392" cy="298450"/>
          </a:xfrm>
          <a:prstGeom prst="roundRect">
            <a:avLst>
              <a:gd name="adj" fmla="val 25531"/>
            </a:avLst>
          </a:prstGeom>
          <a:solidFill>
            <a:srgbClr val="F1F5F9"/>
          </a:solidFill>
          <a:ln>
            <a:noFill/>
          </a:ln>
          <a:effectLst/>
        </p:spPr>
        <p:txBody>
          <a:bodyPr rtlCol="0" anchor="ctr"/>
          <a:lstStyle/>
          <a:p>
            <a:pPr algn="ctr"/>
          </a:p>
        </p:txBody>
      </p:sp>
      <p:sp>
        <p:nvSpPr>
          <p:cNvPr id="40" name="TextBox 39"/>
          <p:cNvSpPr txBox="1"/>
          <p:nvPr/>
        </p:nvSpPr>
        <p:spPr>
          <a:xfrm>
            <a:off x="5662168" y="36226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extraction presets</a:t>
            </a:r>
          </a:p>
        </p:txBody>
      </p:sp>
      <p:sp>
        <p:nvSpPr>
          <p:cNvPr id="41" name="Rounded Rectangle 40"/>
          <p:cNvSpPr/>
          <p:nvPr/>
        </p:nvSpPr>
        <p:spPr>
          <a:xfrm>
            <a:off x="7477760" y="3622675"/>
            <a:ext cx="715264" cy="298450"/>
          </a:xfrm>
          <a:prstGeom prst="roundRect">
            <a:avLst>
              <a:gd name="adj" fmla="val 25531"/>
            </a:avLst>
          </a:prstGeom>
          <a:solidFill>
            <a:srgbClr val="F1F5F9"/>
          </a:solidFill>
          <a:ln>
            <a:noFill/>
          </a:ln>
          <a:effectLst/>
        </p:spPr>
        <p:txBody>
          <a:bodyPr rtlCol="0" anchor="ctr"/>
          <a:lstStyle/>
          <a:p>
            <a:pPr algn="ctr"/>
          </a:p>
        </p:txBody>
      </p:sp>
      <p:sp>
        <p:nvSpPr>
          <p:cNvPr id="42" name="TextBox 41"/>
          <p:cNvSpPr txBox="1"/>
          <p:nvPr/>
        </p:nvSpPr>
        <p:spPr>
          <a:xfrm>
            <a:off x="7477760" y="3622675"/>
            <a:ext cx="71526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themes</a:t>
            </a:r>
          </a:p>
        </p:txBody>
      </p:sp>
      <p:sp>
        <p:nvSpPr>
          <p:cNvPr id="43" name="Rounded Rectangle 42"/>
          <p:cNvSpPr/>
          <p:nvPr/>
        </p:nvSpPr>
        <p:spPr>
          <a:xfrm>
            <a:off x="8269224" y="3622675"/>
            <a:ext cx="1056640" cy="298450"/>
          </a:xfrm>
          <a:prstGeom prst="roundRect">
            <a:avLst>
              <a:gd name="adj" fmla="val 25531"/>
            </a:avLst>
          </a:prstGeom>
          <a:solidFill>
            <a:srgbClr val="F1F5F9"/>
          </a:solidFill>
          <a:ln>
            <a:noFill/>
          </a:ln>
          <a:effectLst/>
        </p:spPr>
        <p:txBody>
          <a:bodyPr rtlCol="0" anchor="ctr"/>
          <a:lstStyle/>
          <a:p>
            <a:pPr algn="ctr"/>
          </a:p>
        </p:txBody>
      </p:sp>
      <p:sp>
        <p:nvSpPr>
          <p:cNvPr id="44" name="TextBox 43"/>
          <p:cNvSpPr txBox="1"/>
          <p:nvPr/>
        </p:nvSpPr>
        <p:spPr>
          <a:xfrm>
            <a:off x="8269224" y="36226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transition</a:t>
            </a:r>
          </a:p>
        </p:txBody>
      </p:sp>
      <p:sp>
        <p:nvSpPr>
          <p:cNvPr id="45" name="Rounded Rectangle 44"/>
          <p:cNvSpPr/>
          <p:nvPr/>
        </p:nvSpPr>
        <p:spPr>
          <a:xfrm>
            <a:off x="9402064" y="3622675"/>
            <a:ext cx="1141984" cy="298450"/>
          </a:xfrm>
          <a:prstGeom prst="roundRect">
            <a:avLst>
              <a:gd name="adj" fmla="val 25531"/>
            </a:avLst>
          </a:prstGeom>
          <a:solidFill>
            <a:srgbClr val="F1F5F9"/>
          </a:solidFill>
          <a:ln>
            <a:noFill/>
          </a:ln>
          <a:effectLst/>
        </p:spPr>
        <p:txBody>
          <a:bodyPr rtlCol="0" anchor="ctr"/>
          <a:lstStyle/>
          <a:p>
            <a:pPr algn="ctr"/>
          </a:p>
        </p:txBody>
      </p:sp>
      <p:sp>
        <p:nvSpPr>
          <p:cNvPr id="46" name="TextBox 45"/>
          <p:cNvSpPr txBox="1"/>
          <p:nvPr/>
        </p:nvSpPr>
        <p:spPr>
          <a:xfrm>
            <a:off x="9402064" y="3622675"/>
            <a:ext cx="11419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stewardship</a:t>
            </a:r>
          </a:p>
        </p:txBody>
      </p:sp>
      <p:sp>
        <p:nvSpPr>
          <p:cNvPr id="47" name="Rounded Rectangle 46"/>
          <p:cNvSpPr/>
          <p:nvPr/>
        </p:nvSpPr>
        <p:spPr>
          <a:xfrm>
            <a:off x="812800" y="41592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48" name="Oval 47"/>
          <p:cNvSpPr/>
          <p:nvPr/>
        </p:nvSpPr>
        <p:spPr>
          <a:xfrm>
            <a:off x="965200" y="4305300"/>
            <a:ext cx="304800" cy="304800"/>
          </a:xfrm>
          <a:prstGeom prst="ellipse">
            <a:avLst/>
          </a:prstGeom>
          <a:solidFill>
            <a:srgbClr val="F1F5F9"/>
          </a:solidFill>
          <a:ln>
            <a:noFill/>
          </a:ln>
          <a:effectLst/>
        </p:spPr>
        <p:txBody>
          <a:bodyPr rtlCol="0" anchor="ctr"/>
          <a:lstStyle/>
          <a:p>
            <a:pPr algn="ctr"/>
          </a:p>
        </p:txBody>
      </p:sp>
      <p:pic>
        <p:nvPicPr>
          <p:cNvPr id="49" name="Picture 48" descr="wrench-0F172A.png"/>
          <p:cNvPicPr>
            <a:picLocks noChangeAspect="1"/>
          </p:cNvPicPr>
          <p:nvPr/>
        </p:nvPicPr>
        <p:blipFill>
          <a:blip r:embed="rId5"/>
          <a:stretch>
            <a:fillRect/>
          </a:stretch>
        </p:blipFill>
        <p:spPr>
          <a:xfrm>
            <a:off x="1041400" y="4381500"/>
            <a:ext cx="152400" cy="152400"/>
          </a:xfrm>
          <a:prstGeom prst="rect">
            <a:avLst/>
          </a:prstGeom>
        </p:spPr>
      </p:pic>
      <p:sp>
        <p:nvSpPr>
          <p:cNvPr id="50" name="TextBox 49"/>
          <p:cNvSpPr txBox="1"/>
          <p:nvPr/>
        </p:nvSpPr>
        <p:spPr>
          <a:xfrm>
            <a:off x="1397000" y="41592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SHARED SERVICES</a:t>
            </a:r>
          </a:p>
          <a:p>
            <a:pPr>
              <a:lnSpc>
                <a:spcPct val="108333"/>
              </a:lnSpc>
              <a:spcAft>
                <a:spcPts val="0"/>
              </a:spcAft>
            </a:pPr>
            <a:r>
              <a:rPr sz="1200" b="0">
                <a:solidFill>
                  <a:srgbClr val="475569"/>
                </a:solidFill>
                <a:latin typeface="IBM Plex Sans"/>
              </a:rPr>
              <a:t>used by every pipeline</a:t>
            </a:r>
          </a:p>
        </p:txBody>
      </p:sp>
      <p:sp>
        <p:nvSpPr>
          <p:cNvPr id="51" name="Rounded Rectangle 50"/>
          <p:cNvSpPr/>
          <p:nvPr/>
        </p:nvSpPr>
        <p:spPr>
          <a:xfrm>
            <a:off x="3505200"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2" name="TextBox 51"/>
          <p:cNvSpPr txBox="1"/>
          <p:nvPr/>
        </p:nvSpPr>
        <p:spPr>
          <a:xfrm>
            <a:off x="3505200"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one LLM interface</a:t>
            </a:r>
          </a:p>
        </p:txBody>
      </p:sp>
      <p:sp>
        <p:nvSpPr>
          <p:cNvPr id="53" name="Rounded Rectangle 52"/>
          <p:cNvSpPr/>
          <p:nvPr/>
        </p:nvSpPr>
        <p:spPr>
          <a:xfrm>
            <a:off x="5235448"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4" name="TextBox 53"/>
          <p:cNvSpPr txBox="1"/>
          <p:nvPr/>
        </p:nvSpPr>
        <p:spPr>
          <a:xfrm>
            <a:off x="5235448"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Claude and Gemini</a:t>
            </a:r>
          </a:p>
        </p:txBody>
      </p:sp>
      <p:sp>
        <p:nvSpPr>
          <p:cNvPr id="55" name="Rounded Rectangle 54"/>
          <p:cNvSpPr/>
          <p:nvPr/>
        </p:nvSpPr>
        <p:spPr>
          <a:xfrm>
            <a:off x="6965696"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6" name="TextBox 55"/>
          <p:cNvSpPr txBox="1"/>
          <p:nvPr/>
        </p:nvSpPr>
        <p:spPr>
          <a:xfrm>
            <a:off x="6965696"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BM25 + embeddings</a:t>
            </a:r>
          </a:p>
        </p:txBody>
      </p:sp>
      <p:sp>
        <p:nvSpPr>
          <p:cNvPr id="57" name="Rounded Rectangle 56"/>
          <p:cNvSpPr/>
          <p:nvPr/>
        </p:nvSpPr>
        <p:spPr>
          <a:xfrm>
            <a:off x="8695944" y="4308475"/>
            <a:ext cx="971296" cy="298450"/>
          </a:xfrm>
          <a:prstGeom prst="roundRect">
            <a:avLst>
              <a:gd name="adj" fmla="val 25531"/>
            </a:avLst>
          </a:prstGeom>
          <a:solidFill>
            <a:srgbClr val="F1F5F9"/>
          </a:solidFill>
          <a:ln>
            <a:noFill/>
          </a:ln>
          <a:effectLst/>
        </p:spPr>
        <p:txBody>
          <a:bodyPr rtlCol="0" anchor="ctr"/>
          <a:lstStyle/>
          <a:p>
            <a:pPr algn="ctr"/>
          </a:p>
        </p:txBody>
      </p:sp>
      <p:sp>
        <p:nvSpPr>
          <p:cNvPr id="58" name="TextBox 57"/>
          <p:cNvSpPr txBox="1"/>
          <p:nvPr/>
        </p:nvSpPr>
        <p:spPr>
          <a:xfrm>
            <a:off x="8695944" y="43084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grounding</a:t>
            </a:r>
          </a:p>
        </p:txBody>
      </p:sp>
      <p:sp>
        <p:nvSpPr>
          <p:cNvPr id="59" name="Rounded Rectangle 58"/>
          <p:cNvSpPr/>
          <p:nvPr/>
        </p:nvSpPr>
        <p:spPr>
          <a:xfrm>
            <a:off x="9743440" y="4308475"/>
            <a:ext cx="1056640" cy="298450"/>
          </a:xfrm>
          <a:prstGeom prst="roundRect">
            <a:avLst>
              <a:gd name="adj" fmla="val 25531"/>
            </a:avLst>
          </a:prstGeom>
          <a:solidFill>
            <a:srgbClr val="F1F5F9"/>
          </a:solidFill>
          <a:ln>
            <a:noFill/>
          </a:ln>
          <a:effectLst/>
        </p:spPr>
        <p:txBody>
          <a:bodyPr rtlCol="0" anchor="ctr"/>
          <a:lstStyle/>
          <a:p>
            <a:pPr algn="ctr"/>
          </a:p>
        </p:txBody>
      </p:sp>
      <p:sp>
        <p:nvSpPr>
          <p:cNvPr id="60" name="TextBox 59"/>
          <p:cNvSpPr txBox="1"/>
          <p:nvPr/>
        </p:nvSpPr>
        <p:spPr>
          <a:xfrm>
            <a:off x="9743440" y="43084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SSRF guard</a:t>
            </a:r>
          </a:p>
        </p:txBody>
      </p:sp>
      <p:sp>
        <p:nvSpPr>
          <p:cNvPr id="61" name="Rounded Rectangle 60"/>
          <p:cNvSpPr/>
          <p:nvPr/>
        </p:nvSpPr>
        <p:spPr>
          <a:xfrm>
            <a:off x="812800" y="48450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62" name="Oval 61"/>
          <p:cNvSpPr/>
          <p:nvPr/>
        </p:nvSpPr>
        <p:spPr>
          <a:xfrm>
            <a:off x="965200" y="4991100"/>
            <a:ext cx="304800" cy="304800"/>
          </a:xfrm>
          <a:prstGeom prst="ellipse">
            <a:avLst/>
          </a:prstGeom>
          <a:solidFill>
            <a:srgbClr val="F1F5F9"/>
          </a:solidFill>
          <a:ln>
            <a:noFill/>
          </a:ln>
          <a:effectLst/>
        </p:spPr>
        <p:txBody>
          <a:bodyPr rtlCol="0" anchor="ctr"/>
          <a:lstStyle/>
          <a:p>
            <a:pPr algn="ctr"/>
          </a:p>
        </p:txBody>
      </p:sp>
      <p:pic>
        <p:nvPicPr>
          <p:cNvPr id="63" name="Picture 62" descr="database-0F172A.png"/>
          <p:cNvPicPr>
            <a:picLocks noChangeAspect="1"/>
          </p:cNvPicPr>
          <p:nvPr/>
        </p:nvPicPr>
        <p:blipFill>
          <a:blip r:embed="rId6"/>
          <a:stretch>
            <a:fillRect/>
          </a:stretch>
        </p:blipFill>
        <p:spPr>
          <a:xfrm>
            <a:off x="1041400" y="5067300"/>
            <a:ext cx="152400" cy="152400"/>
          </a:xfrm>
          <a:prstGeom prst="rect">
            <a:avLst/>
          </a:prstGeom>
        </p:spPr>
      </p:pic>
      <p:sp>
        <p:nvSpPr>
          <p:cNvPr id="64" name="TextBox 63"/>
          <p:cNvSpPr txBox="1"/>
          <p:nvPr/>
        </p:nvSpPr>
        <p:spPr>
          <a:xfrm>
            <a:off x="1397000" y="48450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STORAGE, COMPUTE</a:t>
            </a:r>
          </a:p>
          <a:p>
            <a:pPr>
              <a:lnSpc>
                <a:spcPct val="108333"/>
              </a:lnSpc>
              <a:spcAft>
                <a:spcPts val="0"/>
              </a:spcAft>
            </a:pPr>
            <a:r>
              <a:rPr sz="1200" b="0">
                <a:solidFill>
                  <a:srgbClr val="475569"/>
                </a:solidFill>
                <a:latin typeface="IBM Plex Sans"/>
              </a:rPr>
              <a:t>what persists</a:t>
            </a:r>
          </a:p>
        </p:txBody>
      </p:sp>
      <p:sp>
        <p:nvSpPr>
          <p:cNvPr id="65" name="Rounded Rectangle 64"/>
          <p:cNvSpPr/>
          <p:nvPr/>
        </p:nvSpPr>
        <p:spPr>
          <a:xfrm>
            <a:off x="3505200" y="4994275"/>
            <a:ext cx="1824736" cy="298450"/>
          </a:xfrm>
          <a:prstGeom prst="roundRect">
            <a:avLst>
              <a:gd name="adj" fmla="val 25531"/>
            </a:avLst>
          </a:prstGeom>
          <a:solidFill>
            <a:srgbClr val="F1F5F9"/>
          </a:solidFill>
          <a:ln>
            <a:noFill/>
          </a:ln>
          <a:effectLst/>
        </p:spPr>
        <p:txBody>
          <a:bodyPr rtlCol="0" anchor="ctr"/>
          <a:lstStyle/>
          <a:p>
            <a:pPr algn="ctr"/>
          </a:p>
        </p:txBody>
      </p:sp>
      <p:sp>
        <p:nvSpPr>
          <p:cNvPr id="66" name="TextBox 65"/>
          <p:cNvSpPr txBox="1"/>
          <p:nvPr/>
        </p:nvSpPr>
        <p:spPr>
          <a:xfrm>
            <a:off x="3505200" y="4994275"/>
            <a:ext cx="182473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 pgvector</a:t>
            </a:r>
          </a:p>
        </p:txBody>
      </p:sp>
      <p:sp>
        <p:nvSpPr>
          <p:cNvPr id="67" name="Rounded Rectangle 66"/>
          <p:cNvSpPr/>
          <p:nvPr/>
        </p:nvSpPr>
        <p:spPr>
          <a:xfrm>
            <a:off x="5406136" y="4994275"/>
            <a:ext cx="2251456" cy="298450"/>
          </a:xfrm>
          <a:prstGeom prst="roundRect">
            <a:avLst>
              <a:gd name="adj" fmla="val 25531"/>
            </a:avLst>
          </a:prstGeom>
          <a:solidFill>
            <a:srgbClr val="F1F5F9"/>
          </a:solidFill>
          <a:ln>
            <a:noFill/>
          </a:ln>
          <a:effectLst/>
        </p:spPr>
        <p:txBody>
          <a:bodyPr rtlCol="0" anchor="ctr"/>
          <a:lstStyle/>
          <a:p>
            <a:pPr algn="ctr"/>
          </a:p>
        </p:txBody>
      </p:sp>
      <p:sp>
        <p:nvSpPr>
          <p:cNvPr id="68" name="TextBox 67"/>
          <p:cNvSpPr txBox="1"/>
          <p:nvPr/>
        </p:nvSpPr>
        <p:spPr>
          <a:xfrm>
            <a:off x="5406136" y="4994275"/>
            <a:ext cx="225145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fact ledger, as-of reads</a:t>
            </a:r>
          </a:p>
        </p:txBody>
      </p:sp>
      <p:sp>
        <p:nvSpPr>
          <p:cNvPr id="69" name="Rounded Rectangle 68"/>
          <p:cNvSpPr/>
          <p:nvPr/>
        </p:nvSpPr>
        <p:spPr>
          <a:xfrm>
            <a:off x="7733792" y="4994275"/>
            <a:ext cx="1398016" cy="298450"/>
          </a:xfrm>
          <a:prstGeom prst="roundRect">
            <a:avLst>
              <a:gd name="adj" fmla="val 25531"/>
            </a:avLst>
          </a:prstGeom>
          <a:solidFill>
            <a:srgbClr val="F1F5F9"/>
          </a:solidFill>
          <a:ln>
            <a:noFill/>
          </a:ln>
          <a:effectLst/>
        </p:spPr>
        <p:txBody>
          <a:bodyPr rtlCol="0" anchor="ctr"/>
          <a:lstStyle/>
          <a:p>
            <a:pPr algn="ctr"/>
          </a:p>
        </p:txBody>
      </p:sp>
      <p:sp>
        <p:nvSpPr>
          <p:cNvPr id="70" name="TextBox 69"/>
          <p:cNvSpPr txBox="1"/>
          <p:nvPr/>
        </p:nvSpPr>
        <p:spPr>
          <a:xfrm>
            <a:off x="7733792" y="49942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document store</a:t>
            </a:r>
          </a:p>
        </p:txBody>
      </p:sp>
      <p:sp>
        <p:nvSpPr>
          <p:cNvPr id="71" name="Rounded Rectangle 70"/>
          <p:cNvSpPr/>
          <p:nvPr/>
        </p:nvSpPr>
        <p:spPr>
          <a:xfrm>
            <a:off x="9208008" y="4994275"/>
            <a:ext cx="1398016" cy="298450"/>
          </a:xfrm>
          <a:prstGeom prst="roundRect">
            <a:avLst>
              <a:gd name="adj" fmla="val 25531"/>
            </a:avLst>
          </a:prstGeom>
          <a:solidFill>
            <a:srgbClr val="F1F5F9"/>
          </a:solidFill>
          <a:ln>
            <a:noFill/>
          </a:ln>
          <a:effectLst/>
        </p:spPr>
        <p:txBody>
          <a:bodyPr rtlCol="0" anchor="ctr"/>
          <a:lstStyle/>
          <a:p>
            <a:pPr algn="ctr"/>
          </a:p>
        </p:txBody>
      </p:sp>
      <p:sp>
        <p:nvSpPr>
          <p:cNvPr id="72" name="TextBox 71"/>
          <p:cNvSpPr txBox="1"/>
          <p:nvPr/>
        </p:nvSpPr>
        <p:spPr>
          <a:xfrm>
            <a:off x="9208008" y="49942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Cloud Run GPUs</a:t>
            </a:r>
          </a:p>
        </p:txBody>
      </p:sp>
      <p:sp>
        <p:nvSpPr>
          <p:cNvPr id="73" name="TextBox 7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74" name="TextBox 7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DESIGN PRINCIPLES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Nine rules the whole app follows</a:t>
            </a:r>
          </a:p>
        </p:txBody>
      </p:sp>
      <p:sp>
        <p:nvSpPr>
          <p:cNvPr id="4" name="Rounded Rectangle 3"/>
          <p:cNvSpPr/>
          <p:nvPr/>
        </p:nvSpPr>
        <p:spPr>
          <a:xfrm>
            <a:off x="812800" y="18542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5" name="Oval 4"/>
          <p:cNvSpPr/>
          <p:nvPr/>
        </p:nvSpPr>
        <p:spPr>
          <a:xfrm>
            <a:off x="965200" y="2006600"/>
            <a:ext cx="304800" cy="304800"/>
          </a:xfrm>
          <a:prstGeom prst="ellipse">
            <a:avLst/>
          </a:prstGeom>
          <a:solidFill>
            <a:srgbClr val="0F172A"/>
          </a:solidFill>
          <a:ln>
            <a:noFill/>
          </a:ln>
          <a:effectLst/>
        </p:spPr>
        <p:txBody>
          <a:bodyPr rtlCol="0" anchor="ctr"/>
          <a:lstStyle/>
          <a:p>
            <a:pPr algn="ctr"/>
          </a:p>
        </p:txBody>
      </p:sp>
      <p:pic>
        <p:nvPicPr>
          <p:cNvPr id="6" name="Picture 5" descr="code-FFFFFF.png"/>
          <p:cNvPicPr>
            <a:picLocks noChangeAspect="1"/>
          </p:cNvPicPr>
          <p:nvPr/>
        </p:nvPicPr>
        <p:blipFill>
          <a:blip r:embed="rId2"/>
          <a:stretch>
            <a:fillRect/>
          </a:stretch>
        </p:blipFill>
        <p:spPr>
          <a:xfrm>
            <a:off x="1041400" y="2082800"/>
            <a:ext cx="152400" cy="152400"/>
          </a:xfrm>
          <a:prstGeom prst="rect">
            <a:avLst/>
          </a:prstGeom>
        </p:spPr>
      </p:pic>
      <p:sp>
        <p:nvSpPr>
          <p:cNvPr id="7" name="TextBox 6"/>
          <p:cNvSpPr txBox="1"/>
          <p:nvPr/>
        </p:nvSpPr>
        <p:spPr>
          <a:xfrm>
            <a:off x="1371600" y="20066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The LLM plans, code computes</a:t>
            </a:r>
          </a:p>
        </p:txBody>
      </p:sp>
      <p:sp>
        <p:nvSpPr>
          <p:cNvPr id="8" name="TextBox 7"/>
          <p:cNvSpPr txBox="1"/>
          <p:nvPr/>
        </p:nvSpPr>
        <p:spPr>
          <a:xfrm>
            <a:off x="965200" y="23876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Numbers and scores are plain code; a model never states a figure.</a:t>
            </a:r>
          </a:p>
        </p:txBody>
      </p:sp>
      <p:sp>
        <p:nvSpPr>
          <p:cNvPr id="9" name="Rounded Rectangle 8"/>
          <p:cNvSpPr/>
          <p:nvPr/>
        </p:nvSpPr>
        <p:spPr>
          <a:xfrm>
            <a:off x="4385733" y="18542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10" name="Oval 9"/>
          <p:cNvSpPr/>
          <p:nvPr/>
        </p:nvSpPr>
        <p:spPr>
          <a:xfrm>
            <a:off x="4538133" y="2006600"/>
            <a:ext cx="304800" cy="304800"/>
          </a:xfrm>
          <a:prstGeom prst="ellipse">
            <a:avLst/>
          </a:prstGeom>
          <a:solidFill>
            <a:srgbClr val="16A34A"/>
          </a:solidFill>
          <a:ln>
            <a:noFill/>
          </a:ln>
          <a:effectLst/>
        </p:spPr>
        <p:txBody>
          <a:bodyPr rtlCol="0" anchor="ctr"/>
          <a:lstStyle/>
          <a:p>
            <a:pPr algn="ctr"/>
          </a:p>
        </p:txBody>
      </p:sp>
      <p:pic>
        <p:nvPicPr>
          <p:cNvPr id="11" name="Picture 10" descr="quote-FFFFFF.png"/>
          <p:cNvPicPr>
            <a:picLocks noChangeAspect="1"/>
          </p:cNvPicPr>
          <p:nvPr/>
        </p:nvPicPr>
        <p:blipFill>
          <a:blip r:embed="rId3"/>
          <a:stretch>
            <a:fillRect/>
          </a:stretch>
        </p:blipFill>
        <p:spPr>
          <a:xfrm>
            <a:off x="4614333" y="2082800"/>
            <a:ext cx="152400" cy="152400"/>
          </a:xfrm>
          <a:prstGeom prst="rect">
            <a:avLst/>
          </a:prstGeom>
        </p:spPr>
      </p:pic>
      <p:sp>
        <p:nvSpPr>
          <p:cNvPr id="12" name="TextBox 11"/>
          <p:cNvSpPr txBox="1"/>
          <p:nvPr/>
        </p:nvSpPr>
        <p:spPr>
          <a:xfrm>
            <a:off x="4944533" y="20066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Every citation is re-checked</a:t>
            </a:r>
          </a:p>
        </p:txBody>
      </p:sp>
      <p:sp>
        <p:nvSpPr>
          <p:cNvPr id="13" name="TextBox 12"/>
          <p:cNvSpPr txBox="1"/>
          <p:nvPr/>
        </p:nvSpPr>
        <p:spPr>
          <a:xfrm>
            <a:off x="4538133" y="23876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Quotes are matched to the source in code, never taken on trust.</a:t>
            </a:r>
          </a:p>
        </p:txBody>
      </p:sp>
      <p:sp>
        <p:nvSpPr>
          <p:cNvPr id="14" name="Rounded Rectangle 13"/>
          <p:cNvSpPr/>
          <p:nvPr/>
        </p:nvSpPr>
        <p:spPr>
          <a:xfrm>
            <a:off x="7958667" y="18542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15" name="Oval 14"/>
          <p:cNvSpPr/>
          <p:nvPr/>
        </p:nvSpPr>
        <p:spPr>
          <a:xfrm>
            <a:off x="8111067" y="2006600"/>
            <a:ext cx="304800" cy="304800"/>
          </a:xfrm>
          <a:prstGeom prst="ellipse">
            <a:avLst/>
          </a:prstGeom>
          <a:solidFill>
            <a:srgbClr val="2563EB"/>
          </a:solidFill>
          <a:ln>
            <a:noFill/>
          </a:ln>
          <a:effectLst/>
        </p:spPr>
        <p:txBody>
          <a:bodyPr rtlCol="0" anchor="ctr"/>
          <a:lstStyle/>
          <a:p>
            <a:pPr algn="ctr"/>
          </a:p>
        </p:txBody>
      </p:sp>
      <p:pic>
        <p:nvPicPr>
          <p:cNvPr id="16" name="Picture 15" descr="users-FFFFFF.png"/>
          <p:cNvPicPr>
            <a:picLocks noChangeAspect="1"/>
          </p:cNvPicPr>
          <p:nvPr/>
        </p:nvPicPr>
        <p:blipFill>
          <a:blip r:embed="rId4"/>
          <a:stretch>
            <a:fillRect/>
          </a:stretch>
        </p:blipFill>
        <p:spPr>
          <a:xfrm>
            <a:off x="8187267" y="2082800"/>
            <a:ext cx="152400" cy="152400"/>
          </a:xfrm>
          <a:prstGeom prst="rect">
            <a:avLst/>
          </a:prstGeom>
        </p:spPr>
      </p:pic>
      <p:sp>
        <p:nvSpPr>
          <p:cNvPr id="17" name="TextBox 16"/>
          <p:cNvSpPr txBox="1"/>
          <p:nvPr/>
        </p:nvSpPr>
        <p:spPr>
          <a:xfrm>
            <a:off x="8517467" y="20066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Agents propose, people ratify</a:t>
            </a:r>
          </a:p>
        </p:txBody>
      </p:sp>
      <p:sp>
        <p:nvSpPr>
          <p:cNvPr id="18" name="TextBox 17"/>
          <p:cNvSpPr txBox="1"/>
          <p:nvPr/>
        </p:nvSpPr>
        <p:spPr>
          <a:xfrm>
            <a:off x="8111067" y="23876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Review queues, four-eyes, signed rules; only approvers publish.</a:t>
            </a:r>
          </a:p>
        </p:txBody>
      </p:sp>
      <p:sp>
        <p:nvSpPr>
          <p:cNvPr id="19" name="Rounded Rectangle 18"/>
          <p:cNvSpPr/>
          <p:nvPr/>
        </p:nvSpPr>
        <p:spPr>
          <a:xfrm>
            <a:off x="812800" y="315595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965200" y="3308350"/>
            <a:ext cx="304800" cy="304800"/>
          </a:xfrm>
          <a:prstGeom prst="ellipse">
            <a:avLst/>
          </a:prstGeom>
          <a:solidFill>
            <a:srgbClr val="0F172A"/>
          </a:solidFill>
          <a:ln>
            <a:noFill/>
          </a:ln>
          <a:effectLst/>
        </p:spPr>
        <p:txBody>
          <a:bodyPr rtlCol="0" anchor="ctr"/>
          <a:lstStyle/>
          <a:p>
            <a:pPr algn="ctr"/>
          </a:p>
        </p:txBody>
      </p:sp>
      <p:pic>
        <p:nvPicPr>
          <p:cNvPr id="21" name="Picture 20" descr="layers-FFFFFF.png"/>
          <p:cNvPicPr>
            <a:picLocks noChangeAspect="1"/>
          </p:cNvPicPr>
          <p:nvPr/>
        </p:nvPicPr>
        <p:blipFill>
          <a:blip r:embed="rId5"/>
          <a:stretch>
            <a:fillRect/>
          </a:stretch>
        </p:blipFill>
        <p:spPr>
          <a:xfrm>
            <a:off x="1041400" y="3384550"/>
            <a:ext cx="152400" cy="152400"/>
          </a:xfrm>
          <a:prstGeom prst="rect">
            <a:avLst/>
          </a:prstGeom>
        </p:spPr>
      </p:pic>
      <p:sp>
        <p:nvSpPr>
          <p:cNvPr id="22" name="TextBox 21"/>
          <p:cNvSpPr txBox="1"/>
          <p:nvPr/>
        </p:nvSpPr>
        <p:spPr>
          <a:xfrm>
            <a:off x="1371600" y="330835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Structured data first</a:t>
            </a:r>
          </a:p>
        </p:txBody>
      </p:sp>
      <p:sp>
        <p:nvSpPr>
          <p:cNvPr id="23" name="TextBox 22"/>
          <p:cNvSpPr txBox="1"/>
          <p:nvPr/>
        </p:nvSpPr>
        <p:spPr>
          <a:xfrm>
            <a:off x="965200" y="368935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XBRL, catalogues and house rules settle what they can first.</a:t>
            </a:r>
          </a:p>
        </p:txBody>
      </p:sp>
      <p:sp>
        <p:nvSpPr>
          <p:cNvPr id="24" name="Rounded Rectangle 23"/>
          <p:cNvSpPr/>
          <p:nvPr/>
        </p:nvSpPr>
        <p:spPr>
          <a:xfrm>
            <a:off x="4385733" y="315595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5" name="Oval 24"/>
          <p:cNvSpPr/>
          <p:nvPr/>
        </p:nvSpPr>
        <p:spPr>
          <a:xfrm>
            <a:off x="4538133" y="3308350"/>
            <a:ext cx="304800" cy="304800"/>
          </a:xfrm>
          <a:prstGeom prst="ellipse">
            <a:avLst/>
          </a:prstGeom>
          <a:solidFill>
            <a:srgbClr val="0F172A"/>
          </a:solidFill>
          <a:ln>
            <a:noFill/>
          </a:ln>
          <a:effectLst/>
        </p:spPr>
        <p:txBody>
          <a:bodyPr rtlCol="0" anchor="ctr"/>
          <a:lstStyle/>
          <a:p>
            <a:pPr algn="ctr"/>
          </a:p>
        </p:txBody>
      </p:sp>
      <p:pic>
        <p:nvPicPr>
          <p:cNvPr id="26" name="Picture 25" descr="search-x-FFFFFF.png"/>
          <p:cNvPicPr>
            <a:picLocks noChangeAspect="1"/>
          </p:cNvPicPr>
          <p:nvPr/>
        </p:nvPicPr>
        <p:blipFill>
          <a:blip r:embed="rId6"/>
          <a:stretch>
            <a:fillRect/>
          </a:stretch>
        </p:blipFill>
        <p:spPr>
          <a:xfrm>
            <a:off x="4614333" y="3384550"/>
            <a:ext cx="152400" cy="152400"/>
          </a:xfrm>
          <a:prstGeom prst="rect">
            <a:avLst/>
          </a:prstGeom>
        </p:spPr>
      </p:pic>
      <p:sp>
        <p:nvSpPr>
          <p:cNvPr id="27" name="TextBox 26"/>
          <p:cNvSpPr txBox="1"/>
          <p:nvPr/>
        </p:nvSpPr>
        <p:spPr>
          <a:xfrm>
            <a:off x="4944533" y="330835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Not found is an answer</a:t>
            </a:r>
          </a:p>
        </p:txBody>
      </p:sp>
      <p:sp>
        <p:nvSpPr>
          <p:cNvPr id="28" name="TextBox 27"/>
          <p:cNvSpPr txBox="1"/>
          <p:nvPr/>
        </p:nvSpPr>
        <p:spPr>
          <a:xfrm>
            <a:off x="4538133" y="368935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evidence ends in an explicit not-found, never a guess.</a:t>
            </a:r>
          </a:p>
        </p:txBody>
      </p:sp>
      <p:sp>
        <p:nvSpPr>
          <p:cNvPr id="29" name="Rounded Rectangle 28"/>
          <p:cNvSpPr/>
          <p:nvPr/>
        </p:nvSpPr>
        <p:spPr>
          <a:xfrm>
            <a:off x="7958667" y="315595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8111067" y="3308350"/>
            <a:ext cx="304800" cy="304800"/>
          </a:xfrm>
          <a:prstGeom prst="ellipse">
            <a:avLst/>
          </a:prstGeom>
          <a:solidFill>
            <a:srgbClr val="0F172A"/>
          </a:solidFill>
          <a:ln>
            <a:noFill/>
          </a:ln>
          <a:effectLst/>
        </p:spPr>
        <p:txBody>
          <a:bodyPr rtlCol="0" anchor="ctr"/>
          <a:lstStyle/>
          <a:p>
            <a:pPr algn="ctr"/>
          </a:p>
        </p:txBody>
      </p:sp>
      <p:pic>
        <p:nvPicPr>
          <p:cNvPr id="31" name="Picture 30" descr="history-FFFFFF.png"/>
          <p:cNvPicPr>
            <a:picLocks noChangeAspect="1"/>
          </p:cNvPicPr>
          <p:nvPr/>
        </p:nvPicPr>
        <p:blipFill>
          <a:blip r:embed="rId7"/>
          <a:stretch>
            <a:fillRect/>
          </a:stretch>
        </p:blipFill>
        <p:spPr>
          <a:xfrm>
            <a:off x="8187267" y="3384550"/>
            <a:ext cx="152400" cy="152400"/>
          </a:xfrm>
          <a:prstGeom prst="rect">
            <a:avLst/>
          </a:prstGeom>
        </p:spPr>
      </p:pic>
      <p:sp>
        <p:nvSpPr>
          <p:cNvPr id="32" name="TextBox 31"/>
          <p:cNvSpPr txBox="1"/>
          <p:nvPr/>
        </p:nvSpPr>
        <p:spPr>
          <a:xfrm>
            <a:off x="8517467" y="330835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Versioned and dated</a:t>
            </a:r>
          </a:p>
        </p:txBody>
      </p:sp>
      <p:sp>
        <p:nvSpPr>
          <p:cNvPr id="33" name="TextBox 32"/>
          <p:cNvSpPr txBox="1"/>
          <p:nvPr/>
        </p:nvSpPr>
        <p:spPr>
          <a:xfrm>
            <a:off x="8111067" y="368935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Frameworks, calibrations and facts are dated; the past holds.</a:t>
            </a:r>
          </a:p>
        </p:txBody>
      </p:sp>
      <p:sp>
        <p:nvSpPr>
          <p:cNvPr id="34" name="Rounded Rectangle 33"/>
          <p:cNvSpPr/>
          <p:nvPr/>
        </p:nvSpPr>
        <p:spPr>
          <a:xfrm>
            <a:off x="812800" y="44577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965200" y="4610100"/>
            <a:ext cx="304800" cy="304800"/>
          </a:xfrm>
          <a:prstGeom prst="ellipse">
            <a:avLst/>
          </a:prstGeom>
          <a:solidFill>
            <a:srgbClr val="0F172A"/>
          </a:solidFill>
          <a:ln>
            <a:noFill/>
          </a:ln>
          <a:effectLst/>
        </p:spPr>
        <p:txBody>
          <a:bodyPr rtlCol="0" anchor="ctr"/>
          <a:lstStyle/>
          <a:p>
            <a:pPr algn="ctr"/>
          </a:p>
        </p:txBody>
      </p:sp>
      <p:pic>
        <p:nvPicPr>
          <p:cNvPr id="36" name="Picture 35" descr="database-FFFFFF.png"/>
          <p:cNvPicPr>
            <a:picLocks noChangeAspect="1"/>
          </p:cNvPicPr>
          <p:nvPr/>
        </p:nvPicPr>
        <p:blipFill>
          <a:blip r:embed="rId8"/>
          <a:stretch>
            <a:fillRect/>
          </a:stretch>
        </p:blipFill>
        <p:spPr>
          <a:xfrm>
            <a:off x="1041400" y="4686300"/>
            <a:ext cx="152400" cy="152400"/>
          </a:xfrm>
          <a:prstGeom prst="rect">
            <a:avLst/>
          </a:prstGeom>
        </p:spPr>
      </p:pic>
      <p:sp>
        <p:nvSpPr>
          <p:cNvPr id="37" name="TextBox 36"/>
          <p:cNvSpPr txBox="1"/>
          <p:nvPr/>
        </p:nvSpPr>
        <p:spPr>
          <a:xfrm>
            <a:off x="1371600" y="46101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Resumable at scale</a:t>
            </a:r>
          </a:p>
        </p:txBody>
      </p:sp>
      <p:sp>
        <p:nvSpPr>
          <p:cNvPr id="38" name="TextBox 37"/>
          <p:cNvSpPr txBox="1"/>
          <p:nvPr/>
        </p:nvSpPr>
        <p:spPr>
          <a:xfrm>
            <a:off x="965200" y="49911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Postgres is the record; each company commits as it finishes.</a:t>
            </a:r>
          </a:p>
        </p:txBody>
      </p:sp>
      <p:sp>
        <p:nvSpPr>
          <p:cNvPr id="39" name="Rounded Rectangle 38"/>
          <p:cNvSpPr/>
          <p:nvPr/>
        </p:nvSpPr>
        <p:spPr>
          <a:xfrm>
            <a:off x="4385733" y="44577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4538133" y="4610100"/>
            <a:ext cx="304800" cy="304800"/>
          </a:xfrm>
          <a:prstGeom prst="ellipse">
            <a:avLst/>
          </a:prstGeom>
          <a:solidFill>
            <a:srgbClr val="2563EB"/>
          </a:solidFill>
          <a:ln>
            <a:noFill/>
          </a:ln>
          <a:effectLst/>
        </p:spPr>
        <p:txBody>
          <a:bodyPr rtlCol="0" anchor="ctr"/>
          <a:lstStyle/>
          <a:p>
            <a:pPr algn="ctr"/>
          </a:p>
        </p:txBody>
      </p:sp>
      <p:pic>
        <p:nvPicPr>
          <p:cNvPr id="41" name="Picture 40" descr="bell-ring-FFFFFF.png"/>
          <p:cNvPicPr>
            <a:picLocks noChangeAspect="1"/>
          </p:cNvPicPr>
          <p:nvPr/>
        </p:nvPicPr>
        <p:blipFill>
          <a:blip r:embed="rId9"/>
          <a:stretch>
            <a:fillRect/>
          </a:stretch>
        </p:blipFill>
        <p:spPr>
          <a:xfrm>
            <a:off x="4614333" y="4686300"/>
            <a:ext cx="152400" cy="152400"/>
          </a:xfrm>
          <a:prstGeom prst="rect">
            <a:avLst/>
          </a:prstGeom>
        </p:spPr>
      </p:pic>
      <p:sp>
        <p:nvSpPr>
          <p:cNvPr id="42" name="TextBox 41"/>
          <p:cNvSpPr txBox="1"/>
          <p:nvPr/>
        </p:nvSpPr>
        <p:spPr>
          <a:xfrm>
            <a:off x="4944533" y="46101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One signal colour</a:t>
            </a:r>
          </a:p>
        </p:txBody>
      </p:sp>
      <p:sp>
        <p:nvSpPr>
          <p:cNvPr id="43" name="TextBox 42"/>
          <p:cNvSpPr txBox="1"/>
          <p:nvPr/>
        </p:nvSpPr>
        <p:spPr>
          <a:xfrm>
            <a:off x="4538133" y="49911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screen lights up only where a person must act.</a:t>
            </a:r>
          </a:p>
        </p:txBody>
      </p:sp>
      <p:sp>
        <p:nvSpPr>
          <p:cNvPr id="44" name="Rounded Rectangle 43"/>
          <p:cNvSpPr/>
          <p:nvPr/>
        </p:nvSpPr>
        <p:spPr>
          <a:xfrm>
            <a:off x="7958667" y="44577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45" name="Oval 44"/>
          <p:cNvSpPr/>
          <p:nvPr/>
        </p:nvSpPr>
        <p:spPr>
          <a:xfrm>
            <a:off x="8111067" y="4610100"/>
            <a:ext cx="304800" cy="304800"/>
          </a:xfrm>
          <a:prstGeom prst="ellipse">
            <a:avLst/>
          </a:prstGeom>
          <a:solidFill>
            <a:srgbClr val="0F172A"/>
          </a:solidFill>
          <a:ln>
            <a:noFill/>
          </a:ln>
          <a:effectLst/>
        </p:spPr>
        <p:txBody>
          <a:bodyPr rtlCol="0" anchor="ctr"/>
          <a:lstStyle/>
          <a:p>
            <a:pPr algn="ctr"/>
          </a:p>
        </p:txBody>
      </p:sp>
      <p:pic>
        <p:nvPicPr>
          <p:cNvPr id="46" name="Picture 45" descr="workflow-FFFFFF.png"/>
          <p:cNvPicPr>
            <a:picLocks noChangeAspect="1"/>
          </p:cNvPicPr>
          <p:nvPr/>
        </p:nvPicPr>
        <p:blipFill>
          <a:blip r:embed="rId10"/>
          <a:stretch>
            <a:fillRect/>
          </a:stretch>
        </p:blipFill>
        <p:spPr>
          <a:xfrm>
            <a:off x="8187267" y="4686300"/>
            <a:ext cx="152400" cy="152400"/>
          </a:xfrm>
          <a:prstGeom prst="rect">
            <a:avLst/>
          </a:prstGeom>
        </p:spPr>
      </p:pic>
      <p:sp>
        <p:nvSpPr>
          <p:cNvPr id="47" name="TextBox 46"/>
          <p:cNvSpPr txBox="1"/>
          <p:nvPr/>
        </p:nvSpPr>
        <p:spPr>
          <a:xfrm>
            <a:off x="8517467" y="46101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Processes, not pages</a:t>
            </a:r>
          </a:p>
        </p:txBody>
      </p:sp>
      <p:sp>
        <p:nvSpPr>
          <p:cNvPr id="48" name="TextBox 47"/>
          <p:cNvSpPr txBox="1"/>
          <p:nvPr/>
        </p:nvSpPr>
        <p:spPr>
          <a:xfrm>
            <a:off x="8111067" y="49911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Each step names its handoff; manual handoffs show as gaps.</a:t>
            </a:r>
          </a:p>
        </p:txBody>
      </p:sp>
      <p:sp>
        <p:nvSpPr>
          <p:cNvPr id="49" name="TextBox 48"/>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50" name="TextBox 49"/>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THE AGENTS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Robots that propose, code that checks</a:t>
            </a:r>
          </a:p>
        </p:txBody>
      </p:sp>
      <p:sp>
        <p:nvSpPr>
          <p:cNvPr id="4" name="Rounded Rectangle 3"/>
          <p:cNvSpPr/>
          <p:nvPr/>
        </p:nvSpPr>
        <p:spPr>
          <a:xfrm>
            <a:off x="812800" y="185420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5" name="Picture 4" descr="fig-robot-scan-text.png"/>
          <p:cNvPicPr>
            <a:picLocks noChangeAspect="1"/>
          </p:cNvPicPr>
          <p:nvPr/>
        </p:nvPicPr>
        <p:blipFill>
          <a:blip r:embed="rId2"/>
          <a:stretch>
            <a:fillRect/>
          </a:stretch>
        </p:blipFill>
        <p:spPr>
          <a:xfrm>
            <a:off x="965200" y="1981200"/>
            <a:ext cx="558800" cy="558800"/>
          </a:xfrm>
          <a:prstGeom prst="rect">
            <a:avLst/>
          </a:prstGeom>
        </p:spPr>
      </p:pic>
      <p:sp>
        <p:nvSpPr>
          <p:cNvPr id="6" name="TextBox 5"/>
          <p:cNvSpPr txBox="1"/>
          <p:nvPr/>
        </p:nvSpPr>
        <p:spPr>
          <a:xfrm>
            <a:off x="1625600" y="198120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Read and extract</a:t>
            </a:r>
          </a:p>
          <a:p>
            <a:pPr>
              <a:lnSpc>
                <a:spcPct val="108333"/>
              </a:lnSpc>
              <a:spcAft>
                <a:spcPts val="100"/>
              </a:spcAft>
            </a:pPr>
            <a:r>
              <a:rPr sz="1200" b="0">
                <a:solidFill>
                  <a:srgbClr val="475569"/>
                </a:solidFill>
                <a:latin typeface="IBM Plex Sans"/>
              </a:rPr>
              <a:t>Field extractor</a:t>
            </a:r>
          </a:p>
          <a:p>
            <a:pPr>
              <a:lnSpc>
                <a:spcPct val="108333"/>
              </a:lnSpc>
              <a:spcAft>
                <a:spcPts val="100"/>
              </a:spcAft>
            </a:pPr>
            <a:r>
              <a:rPr sz="1200" b="0">
                <a:solidFill>
                  <a:srgbClr val="475569"/>
                </a:solidFill>
                <a:latin typeface="IBM Plex Sans"/>
              </a:rPr>
              <a:t>Proxy proposal reader</a:t>
            </a:r>
          </a:p>
          <a:p>
            <a:pPr>
              <a:lnSpc>
                <a:spcPct val="108333"/>
              </a:lnSpc>
              <a:spcAft>
                <a:spcPts val="100"/>
              </a:spcAft>
            </a:pPr>
            <a:r>
              <a:rPr sz="1200" b="0">
                <a:solidFill>
                  <a:srgbClr val="475569"/>
                </a:solidFill>
                <a:latin typeface="IBM Plex Sans"/>
              </a:rPr>
              <a:t>Plan and barrier facts</a:t>
            </a:r>
          </a:p>
          <a:p>
            <a:pPr>
              <a:lnSpc>
                <a:spcPct val="108333"/>
              </a:lnSpc>
              <a:spcAft>
                <a:spcPts val="100"/>
              </a:spcAft>
            </a:pPr>
            <a:r>
              <a:rPr sz="1200" b="0">
                <a:solidFill>
                  <a:srgbClr val="475569"/>
                </a:solidFill>
                <a:latin typeface="IBM Plex Sans"/>
              </a:rPr>
              <a:t>RFP question finder</a:t>
            </a:r>
          </a:p>
        </p:txBody>
      </p:sp>
      <p:sp>
        <p:nvSpPr>
          <p:cNvPr id="7" name="Rounded Rectangle 6"/>
          <p:cNvSpPr/>
          <p:nvPr/>
        </p:nvSpPr>
        <p:spPr>
          <a:xfrm>
            <a:off x="4385733" y="185420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8" name="Picture 7" descr="fig-robot-scan-eye.png"/>
          <p:cNvPicPr>
            <a:picLocks noChangeAspect="1"/>
          </p:cNvPicPr>
          <p:nvPr/>
        </p:nvPicPr>
        <p:blipFill>
          <a:blip r:embed="rId3"/>
          <a:stretch>
            <a:fillRect/>
          </a:stretch>
        </p:blipFill>
        <p:spPr>
          <a:xfrm>
            <a:off x="4538133" y="1981200"/>
            <a:ext cx="558800" cy="558800"/>
          </a:xfrm>
          <a:prstGeom prst="rect">
            <a:avLst/>
          </a:prstGeom>
        </p:spPr>
      </p:pic>
      <p:sp>
        <p:nvSpPr>
          <p:cNvPr id="9" name="TextBox 8"/>
          <p:cNvSpPr txBox="1"/>
          <p:nvPr/>
        </p:nvSpPr>
        <p:spPr>
          <a:xfrm>
            <a:off x="5198533" y="198120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Check and judge</a:t>
            </a:r>
          </a:p>
          <a:p>
            <a:pPr>
              <a:lnSpc>
                <a:spcPct val="108333"/>
              </a:lnSpc>
              <a:spcAft>
                <a:spcPts val="100"/>
              </a:spcAft>
            </a:pPr>
            <a:r>
              <a:rPr sz="1200" b="0">
                <a:solidFill>
                  <a:srgbClr val="475569"/>
                </a:solidFill>
                <a:latin typeface="IBM Plex Sans"/>
              </a:rPr>
              <a:t>Blind verifier</a:t>
            </a:r>
          </a:p>
          <a:p>
            <a:pPr>
              <a:lnSpc>
                <a:spcPct val="108333"/>
              </a:lnSpc>
              <a:spcAft>
                <a:spcPts val="100"/>
              </a:spcAft>
            </a:pPr>
            <a:r>
              <a:rPr sz="1200" b="0">
                <a:solidFill>
                  <a:srgbClr val="475569"/>
                </a:solidFill>
                <a:latin typeface="IBM Plex Sans"/>
              </a:rPr>
              <a:t>Adjudicator</a:t>
            </a:r>
          </a:p>
          <a:p>
            <a:pPr>
              <a:lnSpc>
                <a:spcPct val="108333"/>
              </a:lnSpc>
              <a:spcAft>
                <a:spcPts val="100"/>
              </a:spcAft>
            </a:pPr>
            <a:r>
              <a:rPr sz="1200" b="0">
                <a:solidFill>
                  <a:srgbClr val="475569"/>
                </a:solidFill>
                <a:latin typeface="IBM Plex Sans"/>
              </a:rPr>
              <a:t>Page-image check</a:t>
            </a:r>
          </a:p>
          <a:p>
            <a:pPr>
              <a:lnSpc>
                <a:spcPct val="108333"/>
              </a:lnSpc>
              <a:spcAft>
                <a:spcPts val="100"/>
              </a:spcAft>
            </a:pPr>
            <a:r>
              <a:rPr sz="1200" b="0">
                <a:solidFill>
                  <a:srgbClr val="475569"/>
                </a:solidFill>
                <a:latin typeface="IBM Plex Sans"/>
              </a:rPr>
              <a:t>Theme debate trio</a:t>
            </a:r>
          </a:p>
        </p:txBody>
      </p:sp>
      <p:sp>
        <p:nvSpPr>
          <p:cNvPr id="10" name="Rounded Rectangle 9"/>
          <p:cNvSpPr/>
          <p:nvPr/>
        </p:nvSpPr>
        <p:spPr>
          <a:xfrm>
            <a:off x="7958667" y="185420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11" name="Picture 10" descr="fig-robot-tags.png"/>
          <p:cNvPicPr>
            <a:picLocks noChangeAspect="1"/>
          </p:cNvPicPr>
          <p:nvPr/>
        </p:nvPicPr>
        <p:blipFill>
          <a:blip r:embed="rId4"/>
          <a:stretch>
            <a:fillRect/>
          </a:stretch>
        </p:blipFill>
        <p:spPr>
          <a:xfrm>
            <a:off x="8111067" y="1981200"/>
            <a:ext cx="558800" cy="558800"/>
          </a:xfrm>
          <a:prstGeom prst="rect">
            <a:avLst/>
          </a:prstGeom>
        </p:spPr>
      </p:pic>
      <p:sp>
        <p:nvSpPr>
          <p:cNvPr id="12" name="TextBox 11"/>
          <p:cNvSpPr txBox="1"/>
          <p:nvPr/>
        </p:nvSpPr>
        <p:spPr>
          <a:xfrm>
            <a:off x="8771467" y="198120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Classify and map</a:t>
            </a:r>
          </a:p>
          <a:p>
            <a:pPr>
              <a:lnSpc>
                <a:spcPct val="108333"/>
              </a:lnSpc>
              <a:spcAft>
                <a:spcPts val="100"/>
              </a:spcAft>
            </a:pPr>
            <a:r>
              <a:rPr sz="1200" b="0">
                <a:solidFill>
                  <a:srgbClr val="475569"/>
                </a:solidFill>
                <a:latin typeface="IBM Plex Sans"/>
              </a:rPr>
              <a:t>Identity resolver</a:t>
            </a:r>
          </a:p>
          <a:p>
            <a:pPr>
              <a:lnSpc>
                <a:spcPct val="108333"/>
              </a:lnSpc>
              <a:spcAft>
                <a:spcPts val="100"/>
              </a:spcAft>
            </a:pPr>
            <a:r>
              <a:rPr sz="1200" b="0">
                <a:solidFill>
                  <a:srgbClr val="475569"/>
                </a:solidFill>
                <a:latin typeface="IBM Plex Sans"/>
              </a:rPr>
              <a:t>Vote policy judgment</a:t>
            </a:r>
          </a:p>
          <a:p>
            <a:pPr>
              <a:lnSpc>
                <a:spcPct val="108333"/>
              </a:lnSpc>
              <a:spcAft>
                <a:spcPts val="100"/>
              </a:spcAft>
            </a:pPr>
            <a:r>
              <a:rPr sz="1200" b="0">
                <a:solidFill>
                  <a:srgbClr val="475569"/>
                </a:solidFill>
                <a:latin typeface="IBM Plex Sans"/>
              </a:rPr>
              <a:t>News risk classifier</a:t>
            </a:r>
          </a:p>
          <a:p>
            <a:pPr>
              <a:lnSpc>
                <a:spcPct val="108333"/>
              </a:lnSpc>
              <a:spcAft>
                <a:spcPts val="100"/>
              </a:spcAft>
            </a:pPr>
            <a:r>
              <a:rPr sz="1200" b="0">
                <a:solidFill>
                  <a:srgbClr val="475569"/>
                </a:solidFill>
                <a:latin typeface="IBM Plex Sans"/>
              </a:rPr>
              <a:t>Sector mappers</a:t>
            </a:r>
          </a:p>
        </p:txBody>
      </p:sp>
      <p:sp>
        <p:nvSpPr>
          <p:cNvPr id="13" name="Rounded Rectangle 12"/>
          <p:cNvSpPr/>
          <p:nvPr/>
        </p:nvSpPr>
        <p:spPr>
          <a:xfrm>
            <a:off x="812800" y="344805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14" name="Picture 13" descr="fig-robot-pen-line.png"/>
          <p:cNvPicPr>
            <a:picLocks noChangeAspect="1"/>
          </p:cNvPicPr>
          <p:nvPr/>
        </p:nvPicPr>
        <p:blipFill>
          <a:blip r:embed="rId5"/>
          <a:stretch>
            <a:fillRect/>
          </a:stretch>
        </p:blipFill>
        <p:spPr>
          <a:xfrm>
            <a:off x="965200" y="3575050"/>
            <a:ext cx="558800" cy="558800"/>
          </a:xfrm>
          <a:prstGeom prst="rect">
            <a:avLst/>
          </a:prstGeom>
        </p:spPr>
      </p:pic>
      <p:sp>
        <p:nvSpPr>
          <p:cNvPr id="15" name="TextBox 14"/>
          <p:cNvSpPr txBox="1"/>
          <p:nvPr/>
        </p:nvSpPr>
        <p:spPr>
          <a:xfrm>
            <a:off x="1625600" y="357505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Draft and write</a:t>
            </a:r>
          </a:p>
          <a:p>
            <a:pPr>
              <a:lnSpc>
                <a:spcPct val="108333"/>
              </a:lnSpc>
              <a:spcAft>
                <a:spcPts val="100"/>
              </a:spcAft>
            </a:pPr>
            <a:r>
              <a:rPr sz="1200" b="0">
                <a:solidFill>
                  <a:srgbClr val="475569"/>
                </a:solidFill>
                <a:latin typeface="IBM Plex Sans"/>
              </a:rPr>
              <a:t>Engagement letters</a:t>
            </a:r>
          </a:p>
          <a:p>
            <a:pPr>
              <a:lnSpc>
                <a:spcPct val="108333"/>
              </a:lnSpc>
              <a:spcAft>
                <a:spcPts val="100"/>
              </a:spcAft>
            </a:pPr>
            <a:r>
              <a:rPr sz="1200" b="0">
                <a:solidFill>
                  <a:srgbClr val="475569"/>
                </a:solidFill>
                <a:latin typeface="IBM Plex Sans"/>
              </a:rPr>
              <a:t>Brief and research note</a:t>
            </a:r>
          </a:p>
          <a:p>
            <a:pPr>
              <a:lnSpc>
                <a:spcPct val="108333"/>
              </a:lnSpc>
              <a:spcAft>
                <a:spcPts val="100"/>
              </a:spcAft>
            </a:pPr>
            <a:r>
              <a:rPr sz="1200" b="0">
                <a:solidFill>
                  <a:srgbClr val="475569"/>
                </a:solidFill>
                <a:latin typeface="IBM Plex Sans"/>
              </a:rPr>
              <a:t>Deck storyline</a:t>
            </a:r>
          </a:p>
          <a:p>
            <a:pPr>
              <a:lnSpc>
                <a:spcPct val="108333"/>
              </a:lnSpc>
              <a:spcAft>
                <a:spcPts val="100"/>
              </a:spcAft>
            </a:pPr>
            <a:r>
              <a:rPr sz="1200" b="0">
                <a:solidFill>
                  <a:srgbClr val="475569"/>
                </a:solidFill>
                <a:latin typeface="IBM Plex Sans"/>
              </a:rPr>
              <a:t>RFP answer drafter</a:t>
            </a:r>
          </a:p>
        </p:txBody>
      </p:sp>
      <p:sp>
        <p:nvSpPr>
          <p:cNvPr id="16" name="Rounded Rectangle 15"/>
          <p:cNvSpPr/>
          <p:nvPr/>
        </p:nvSpPr>
        <p:spPr>
          <a:xfrm>
            <a:off x="4385733" y="344805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17" name="Picture 16" descr="fig-robot-message-circle-question.png"/>
          <p:cNvPicPr>
            <a:picLocks noChangeAspect="1"/>
          </p:cNvPicPr>
          <p:nvPr/>
        </p:nvPicPr>
        <p:blipFill>
          <a:blip r:embed="rId6"/>
          <a:stretch>
            <a:fillRect/>
          </a:stretch>
        </p:blipFill>
        <p:spPr>
          <a:xfrm>
            <a:off x="4538133" y="3575050"/>
            <a:ext cx="558800" cy="558800"/>
          </a:xfrm>
          <a:prstGeom prst="rect">
            <a:avLst/>
          </a:prstGeom>
        </p:spPr>
      </p:pic>
      <p:sp>
        <p:nvSpPr>
          <p:cNvPr id="18" name="TextBox 17"/>
          <p:cNvSpPr txBox="1"/>
          <p:nvPr/>
        </p:nvSpPr>
        <p:spPr>
          <a:xfrm>
            <a:off x="5198533" y="357505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Ask and plan</a:t>
            </a:r>
          </a:p>
          <a:p>
            <a:pPr>
              <a:lnSpc>
                <a:spcPct val="108333"/>
              </a:lnSpc>
              <a:spcAft>
                <a:spcPts val="100"/>
              </a:spcAft>
            </a:pPr>
            <a:r>
              <a:rPr sz="1200" b="0">
                <a:solidFill>
                  <a:srgbClr val="475569"/>
                </a:solidFill>
                <a:latin typeface="IBM Plex Sans"/>
              </a:rPr>
              <a:t>Ask ARP router</a:t>
            </a:r>
          </a:p>
          <a:p>
            <a:pPr>
              <a:lnSpc>
                <a:spcPct val="108333"/>
              </a:lnSpc>
              <a:spcAft>
                <a:spcPts val="100"/>
              </a:spcAft>
            </a:pPr>
            <a:r>
              <a:rPr sz="1200" b="0">
                <a:solidFill>
                  <a:srgbClr val="475569"/>
                </a:solidFill>
                <a:latin typeface="IBM Plex Sans"/>
              </a:rPr>
              <a:t>Portfolio Q&amp;A</a:t>
            </a:r>
          </a:p>
          <a:p>
            <a:pPr>
              <a:lnSpc>
                <a:spcPct val="108333"/>
              </a:lnSpc>
              <a:spcAft>
                <a:spcPts val="100"/>
              </a:spcAft>
            </a:pPr>
            <a:r>
              <a:rPr sz="1200" b="0">
                <a:solidFill>
                  <a:srgbClr val="475569"/>
                </a:solidFill>
                <a:latin typeface="IBM Plex Sans"/>
              </a:rPr>
              <a:t>Smart Search</a:t>
            </a:r>
          </a:p>
          <a:p>
            <a:pPr>
              <a:lnSpc>
                <a:spcPct val="108333"/>
              </a:lnSpc>
              <a:spcAft>
                <a:spcPts val="100"/>
              </a:spcAft>
            </a:pPr>
            <a:r>
              <a:rPr sz="1200" b="0">
                <a:solidFill>
                  <a:srgbClr val="475569"/>
                </a:solidFill>
                <a:latin typeface="IBM Plex Sans"/>
              </a:rPr>
              <a:t>BI chart planner</a:t>
            </a:r>
          </a:p>
        </p:txBody>
      </p:sp>
      <p:sp>
        <p:nvSpPr>
          <p:cNvPr id="19" name="Rounded Rectangle 18"/>
          <p:cNvSpPr/>
          <p:nvPr/>
        </p:nvSpPr>
        <p:spPr>
          <a:xfrm>
            <a:off x="7958667" y="344805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20" name="Picture 19" descr="fig-robot-clock.png"/>
          <p:cNvPicPr>
            <a:picLocks noChangeAspect="1"/>
          </p:cNvPicPr>
          <p:nvPr/>
        </p:nvPicPr>
        <p:blipFill>
          <a:blip r:embed="rId7"/>
          <a:stretch>
            <a:fillRect/>
          </a:stretch>
        </p:blipFill>
        <p:spPr>
          <a:xfrm>
            <a:off x="8111067" y="3575050"/>
            <a:ext cx="558800" cy="558800"/>
          </a:xfrm>
          <a:prstGeom prst="rect">
            <a:avLst/>
          </a:prstGeom>
        </p:spPr>
      </p:pic>
      <p:sp>
        <p:nvSpPr>
          <p:cNvPr id="21" name="TextBox 20"/>
          <p:cNvSpPr txBox="1"/>
          <p:nvPr/>
        </p:nvSpPr>
        <p:spPr>
          <a:xfrm>
            <a:off x="8771467" y="357505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Standing agents</a:t>
            </a:r>
          </a:p>
          <a:p>
            <a:pPr>
              <a:lnSpc>
                <a:spcPct val="108333"/>
              </a:lnSpc>
              <a:spcAft>
                <a:spcPts val="100"/>
              </a:spcAft>
            </a:pPr>
            <a:r>
              <a:rPr sz="1200" b="0">
                <a:solidFill>
                  <a:srgbClr val="475569"/>
                </a:solidFill>
                <a:latin typeface="IBM Plex Sans"/>
              </a:rPr>
              <a:t>Taxonomy Researcher</a:t>
            </a:r>
          </a:p>
          <a:p>
            <a:pPr>
              <a:lnSpc>
                <a:spcPct val="108333"/>
              </a:lnSpc>
              <a:spcAft>
                <a:spcPts val="100"/>
              </a:spcAft>
            </a:pPr>
            <a:r>
              <a:rPr sz="1200" b="0">
                <a:solidFill>
                  <a:srgbClr val="475569"/>
                </a:solidFill>
                <a:latin typeface="IBM Plex Sans"/>
              </a:rPr>
              <a:t>Theme scans</a:t>
            </a:r>
          </a:p>
          <a:p>
            <a:pPr>
              <a:lnSpc>
                <a:spcPct val="108333"/>
              </a:lnSpc>
              <a:spcAft>
                <a:spcPts val="100"/>
              </a:spcAft>
            </a:pPr>
            <a:r>
              <a:rPr sz="1200" b="0">
                <a:solidFill>
                  <a:srgbClr val="475569"/>
                </a:solidFill>
                <a:latin typeface="IBM Plex Sans"/>
              </a:rPr>
              <a:t>Report runs</a:t>
            </a:r>
          </a:p>
          <a:p>
            <a:pPr>
              <a:lnSpc>
                <a:spcPct val="108333"/>
              </a:lnSpc>
              <a:spcAft>
                <a:spcPts val="100"/>
              </a:spcAft>
            </a:pPr>
            <a:r>
              <a:rPr sz="1200" b="0">
                <a:solidFill>
                  <a:srgbClr val="475569"/>
                </a:solidFill>
                <a:latin typeface="IBM Plex Sans"/>
              </a:rPr>
              <a:t>Calibration Agent</a:t>
            </a:r>
          </a:p>
        </p:txBody>
      </p:sp>
      <p:sp>
        <p:nvSpPr>
          <p:cNvPr id="22" name="Rounded Rectangle 21"/>
          <p:cNvSpPr/>
          <p:nvPr/>
        </p:nvSpPr>
        <p:spPr>
          <a:xfrm>
            <a:off x="812800" y="5041900"/>
            <a:ext cx="10566400" cy="730250"/>
          </a:xfrm>
          <a:prstGeom prst="roundRect">
            <a:avLst>
              <a:gd name="adj" fmla="val 13913"/>
            </a:avLst>
          </a:prstGeom>
          <a:solidFill>
            <a:srgbClr val="F1F5F9"/>
          </a:solidFill>
          <a:ln>
            <a:noFill/>
          </a:ln>
          <a:effectLst/>
        </p:spPr>
        <p:txBody>
          <a:bodyPr rtlCol="0" anchor="ctr"/>
          <a:lstStyle/>
          <a:p>
            <a:pPr algn="ctr"/>
          </a:p>
        </p:txBody>
      </p:sp>
      <p:pic>
        <p:nvPicPr>
          <p:cNvPr id="23" name="Picture 22" descr="fig-machine-cog.png"/>
          <p:cNvPicPr>
            <a:picLocks noChangeAspect="1"/>
          </p:cNvPicPr>
          <p:nvPr/>
        </p:nvPicPr>
        <p:blipFill>
          <a:blip r:embed="rId8"/>
          <a:stretch>
            <a:fillRect/>
          </a:stretch>
        </p:blipFill>
        <p:spPr>
          <a:xfrm>
            <a:off x="965200" y="5168900"/>
            <a:ext cx="457200" cy="457200"/>
          </a:xfrm>
          <a:prstGeom prst="rect">
            <a:avLst/>
          </a:prstGeom>
        </p:spPr>
      </p:pic>
      <p:sp>
        <p:nvSpPr>
          <p:cNvPr id="24" name="TextBox 23"/>
          <p:cNvSpPr txBox="1"/>
          <p:nvPr/>
        </p:nvSpPr>
        <p:spPr>
          <a:xfrm>
            <a:off x="1549400" y="5168900"/>
            <a:ext cx="9677400" cy="476250"/>
          </a:xfrm>
          <a:prstGeom prst="rect">
            <a:avLst/>
          </a:prstGeom>
          <a:noFill/>
        </p:spPr>
        <p:txBody>
          <a:bodyPr wrap="square" lIns="0" rIns="0" tIns="0" bIns="0" anchor="ctr">
            <a:spAutoFit/>
          </a:bodyPr>
          <a:lstStyle/>
          <a:p>
            <a:pPr>
              <a:lnSpc>
                <a:spcPct val="108333"/>
              </a:lnSpc>
              <a:spcAft>
                <a:spcPts val="200"/>
              </a:spcAft>
            </a:pPr>
            <a:r>
              <a:rPr sz="1200" b="1">
                <a:solidFill>
                  <a:srgbClr val="0F172A"/>
                </a:solidFill>
                <a:latin typeface="IBM Plex Sans"/>
              </a:rPr>
              <a:t>No model, by design</a:t>
            </a:r>
          </a:p>
          <a:p>
            <a:pPr>
              <a:lnSpc>
                <a:spcPct val="116667"/>
              </a:lnSpc>
              <a:spcAft>
                <a:spcPts val="0"/>
              </a:spcAft>
            </a:pPr>
            <a:r>
              <a:rPr sz="1200" b="0">
                <a:solidFill>
                  <a:srgbClr val="475569"/>
                </a:solidFill>
                <a:latin typeface="IBM Plex Sans"/>
              </a:rPr>
              <a:t>Tracking, reporting, house voting rules, the policy graph, Decision Studio and the index engine are plain code.</a:t>
            </a:r>
          </a:p>
        </p:txBody>
      </p:sp>
      <p:sp>
        <p:nvSpPr>
          <p:cNvPr id="25" name="TextBox 2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6" name="TextBox 2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PART 1</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0F172A"/>
                </a:solidFill>
                <a:latin typeface="IBM Plex Sans"/>
              </a:rPr>
              <a:t>Find and extract</a:t>
            </a:r>
          </a:p>
        </p:txBody>
      </p:sp>
      <p:sp>
        <p:nvSpPr>
          <p:cNvPr id="4" name="TextBox 3"/>
          <p:cNvSpPr txBox="1"/>
          <p:nvPr/>
        </p:nvSpPr>
        <p:spPr>
          <a:xfrm>
            <a:off x="812800" y="21272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Build the universe, find the documents and pull cited figures out of them, for up to about 4,000 companies per run.</a:t>
            </a:r>
          </a:p>
        </p:txBody>
      </p:sp>
      <p:sp>
        <p:nvSpPr>
          <p:cNvPr id="5" name="Rectangle 4"/>
          <p:cNvSpPr/>
          <p:nvPr/>
        </p:nvSpPr>
        <p:spPr>
          <a:xfrm>
            <a:off x="812800" y="3517900"/>
            <a:ext cx="5080000" cy="6350"/>
          </a:xfrm>
          <a:prstGeom prst="rect">
            <a:avLst/>
          </a:prstGeom>
          <a:solidFill>
            <a:srgbClr val="E2E8F0"/>
          </a:solidFill>
          <a:ln>
            <a:noFill/>
          </a:ln>
          <a:effectLst/>
        </p:spPr>
        <p:txBody>
          <a:bodyPr rtlCol="0" anchor="ctr"/>
          <a:lstStyle/>
          <a:p>
            <a:pPr algn="ctr"/>
          </a:p>
        </p:txBody>
      </p:sp>
      <p:sp>
        <p:nvSpPr>
          <p:cNvPr id="6" name="TextBox 5"/>
          <p:cNvSpPr txBox="1"/>
          <p:nvPr/>
        </p:nvSpPr>
        <p:spPr>
          <a:xfrm>
            <a:off x="8128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01</a:t>
            </a:r>
          </a:p>
        </p:txBody>
      </p:sp>
      <p:sp>
        <p:nvSpPr>
          <p:cNvPr id="7" name="TextBox 6"/>
          <p:cNvSpPr txBox="1"/>
          <p:nvPr/>
        </p:nvSpPr>
        <p:spPr>
          <a:xfrm>
            <a:off x="12700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Argus</a:t>
            </a:r>
          </a:p>
          <a:p>
            <a:pPr>
              <a:lnSpc>
                <a:spcPct val="108333"/>
              </a:lnSpc>
              <a:spcAft>
                <a:spcPts val="0"/>
              </a:spcAft>
            </a:pPr>
            <a:r>
              <a:rPr sz="1200" b="0">
                <a:solidFill>
                  <a:srgbClr val="475569"/>
                </a:solidFill>
                <a:latin typeface="IBM Plex Sans"/>
              </a:rPr>
              <a:t>The extract-and-score flow</a:t>
            </a:r>
          </a:p>
        </p:txBody>
      </p:sp>
      <p:sp>
        <p:nvSpPr>
          <p:cNvPr id="8" name="Rectangle 7"/>
          <p:cNvSpPr/>
          <p:nvPr/>
        </p:nvSpPr>
        <p:spPr>
          <a:xfrm>
            <a:off x="812800" y="4051300"/>
            <a:ext cx="5080000" cy="6350"/>
          </a:xfrm>
          <a:prstGeom prst="rect">
            <a:avLst/>
          </a:prstGeom>
          <a:solidFill>
            <a:srgbClr val="E2E8F0"/>
          </a:solidFill>
          <a:ln>
            <a:noFill/>
          </a:ln>
          <a:effectLst/>
        </p:spPr>
        <p:txBody>
          <a:bodyPr rtlCol="0" anchor="ctr"/>
          <a:lstStyle/>
          <a:p>
            <a:pPr algn="ctr"/>
          </a:p>
        </p:txBody>
      </p:sp>
      <p:sp>
        <p:nvSpPr>
          <p:cNvPr id="9" name="TextBox 8"/>
          <p:cNvSpPr txBox="1"/>
          <p:nvPr/>
        </p:nvSpPr>
        <p:spPr>
          <a:xfrm>
            <a:off x="8128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02</a:t>
            </a:r>
          </a:p>
        </p:txBody>
      </p:sp>
      <p:sp>
        <p:nvSpPr>
          <p:cNvPr id="10" name="TextBox 9"/>
          <p:cNvSpPr txBox="1"/>
          <p:nvPr/>
        </p:nvSpPr>
        <p:spPr>
          <a:xfrm>
            <a:off x="12700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Identity</a:t>
            </a:r>
          </a:p>
          <a:p>
            <a:pPr>
              <a:lnSpc>
                <a:spcPct val="108333"/>
              </a:lnSpc>
              <a:spcAft>
                <a:spcPts val="0"/>
              </a:spcAft>
            </a:pPr>
            <a:r>
              <a:rPr sz="1200" b="0">
                <a:solidFill>
                  <a:srgbClr val="475569"/>
                </a:solidFill>
                <a:latin typeface="IBM Plex Sans"/>
              </a:rPr>
              <a:t>Which company is this?</a:t>
            </a:r>
          </a:p>
        </p:txBody>
      </p:sp>
      <p:sp>
        <p:nvSpPr>
          <p:cNvPr id="11" name="Rectangle 10"/>
          <p:cNvSpPr/>
          <p:nvPr/>
        </p:nvSpPr>
        <p:spPr>
          <a:xfrm>
            <a:off x="812800" y="4584700"/>
            <a:ext cx="5080000" cy="6350"/>
          </a:xfrm>
          <a:prstGeom prst="rect">
            <a:avLst/>
          </a:prstGeom>
          <a:solidFill>
            <a:srgbClr val="E2E8F0"/>
          </a:solidFill>
          <a:ln>
            <a:noFill/>
          </a:ln>
          <a:effectLst/>
        </p:spPr>
        <p:txBody>
          <a:bodyPr rtlCol="0" anchor="ctr"/>
          <a:lstStyle/>
          <a:p>
            <a:pPr algn="ctr"/>
          </a:p>
        </p:txBody>
      </p:sp>
      <p:sp>
        <p:nvSpPr>
          <p:cNvPr id="12" name="TextBox 11"/>
          <p:cNvSpPr txBox="1"/>
          <p:nvPr/>
        </p:nvSpPr>
        <p:spPr>
          <a:xfrm>
            <a:off x="8128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03</a:t>
            </a:r>
          </a:p>
        </p:txBody>
      </p:sp>
      <p:sp>
        <p:nvSpPr>
          <p:cNvPr id="13" name="TextBox 12"/>
          <p:cNvSpPr txBox="1"/>
          <p:nvPr/>
        </p:nvSpPr>
        <p:spPr>
          <a:xfrm>
            <a:off x="12700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Documents</a:t>
            </a:r>
          </a:p>
          <a:p>
            <a:pPr>
              <a:lnSpc>
                <a:spcPct val="108333"/>
              </a:lnSpc>
              <a:spcAft>
                <a:spcPts val="0"/>
              </a:spcAft>
            </a:pPr>
            <a:r>
              <a:rPr sz="1200" b="0">
                <a:solidFill>
                  <a:srgbClr val="475569"/>
                </a:solidFill>
                <a:latin typeface="IBM Plex Sans"/>
              </a:rPr>
              <a:t>Finding the reports</a:t>
            </a:r>
          </a:p>
        </p:txBody>
      </p:sp>
      <p:sp>
        <p:nvSpPr>
          <p:cNvPr id="14" name="Rectangle 13"/>
          <p:cNvSpPr/>
          <p:nvPr/>
        </p:nvSpPr>
        <p:spPr>
          <a:xfrm>
            <a:off x="812800" y="5118100"/>
            <a:ext cx="5080000" cy="6350"/>
          </a:xfrm>
          <a:prstGeom prst="rect">
            <a:avLst/>
          </a:prstGeom>
          <a:solidFill>
            <a:srgbClr val="E2E8F0"/>
          </a:solidFill>
          <a:ln>
            <a:noFill/>
          </a:ln>
          <a:effectLst/>
        </p:spPr>
        <p:txBody>
          <a:bodyPr rtlCol="0" anchor="ctr"/>
          <a:lstStyle/>
          <a:p>
            <a:pPr algn="ctr"/>
          </a:p>
        </p:txBody>
      </p:sp>
      <p:sp>
        <p:nvSpPr>
          <p:cNvPr id="15" name="TextBox 14"/>
          <p:cNvSpPr txBox="1"/>
          <p:nvPr/>
        </p:nvSpPr>
        <p:spPr>
          <a:xfrm>
            <a:off x="8128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04</a:t>
            </a:r>
          </a:p>
        </p:txBody>
      </p:sp>
      <p:sp>
        <p:nvSpPr>
          <p:cNvPr id="16" name="TextBox 15"/>
          <p:cNvSpPr txBox="1"/>
          <p:nvPr/>
        </p:nvSpPr>
        <p:spPr>
          <a:xfrm>
            <a:off x="12700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Data-point extraction</a:t>
            </a:r>
          </a:p>
          <a:p>
            <a:pPr>
              <a:lnSpc>
                <a:spcPct val="108333"/>
              </a:lnSpc>
              <a:spcAft>
                <a:spcPts val="0"/>
              </a:spcAft>
            </a:pPr>
            <a:r>
              <a:rPr sz="1200" b="0">
                <a:solidFill>
                  <a:srgbClr val="475569"/>
                </a:solidFill>
                <a:latin typeface="IBM Plex Sans"/>
              </a:rPr>
              <a:t>Cited figures and verdicts</a:t>
            </a:r>
          </a:p>
        </p:txBody>
      </p:sp>
      <p:sp>
        <p:nvSpPr>
          <p:cNvPr id="17" name="Rectangle 16"/>
          <p:cNvSpPr/>
          <p:nvPr/>
        </p:nvSpPr>
        <p:spPr>
          <a:xfrm>
            <a:off x="812800" y="5651500"/>
            <a:ext cx="5080000" cy="6350"/>
          </a:xfrm>
          <a:prstGeom prst="rect">
            <a:avLst/>
          </a:prstGeom>
          <a:solidFill>
            <a:srgbClr val="E2E8F0"/>
          </a:solidFill>
          <a:ln>
            <a:noFill/>
          </a:ln>
          <a:effectLst/>
        </p:spPr>
        <p:txBody>
          <a:bodyPr rtlCol="0" anchor="ctr"/>
          <a:lstStyle/>
          <a:p>
            <a:pPr algn="ctr"/>
          </a:p>
        </p:txBody>
      </p:sp>
      <p:sp>
        <p:nvSpPr>
          <p:cNvPr id="18" name="TextBox 17"/>
          <p:cNvSpPr txBox="1"/>
          <p:nvPr/>
        </p:nvSpPr>
        <p:spPr>
          <a:xfrm>
            <a:off x="812800" y="5124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05</a:t>
            </a:r>
          </a:p>
        </p:txBody>
      </p:sp>
      <p:sp>
        <p:nvSpPr>
          <p:cNvPr id="19" name="TextBox 18"/>
          <p:cNvSpPr txBox="1"/>
          <p:nvPr/>
        </p:nvSpPr>
        <p:spPr>
          <a:xfrm>
            <a:off x="1270000" y="5124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Financials and XBRL</a:t>
            </a:r>
          </a:p>
          <a:p>
            <a:pPr>
              <a:lnSpc>
                <a:spcPct val="108333"/>
              </a:lnSpc>
              <a:spcAft>
                <a:spcPts val="0"/>
              </a:spcAft>
            </a:pPr>
            <a:r>
              <a:rPr sz="1200" b="0">
                <a:solidFill>
                  <a:srgbClr val="475569"/>
                </a:solidFill>
                <a:latin typeface="IBM Plex Sans"/>
              </a:rPr>
              <a:t>Segments, capex, R&amp;D, filed facts</a:t>
            </a:r>
          </a:p>
        </p:txBody>
      </p:sp>
      <p:sp>
        <p:nvSpPr>
          <p:cNvPr id="20" name="Rectangle 19"/>
          <p:cNvSpPr/>
          <p:nvPr/>
        </p:nvSpPr>
        <p:spPr>
          <a:xfrm>
            <a:off x="6299200" y="3517900"/>
            <a:ext cx="5080000" cy="6350"/>
          </a:xfrm>
          <a:prstGeom prst="rect">
            <a:avLst/>
          </a:prstGeom>
          <a:solidFill>
            <a:srgbClr val="E2E8F0"/>
          </a:solidFill>
          <a:ln>
            <a:noFill/>
          </a:ln>
          <a:effectLst/>
        </p:spPr>
        <p:txBody>
          <a:bodyPr rtlCol="0" anchor="ctr"/>
          <a:lstStyle/>
          <a:p>
            <a:pPr algn="ctr"/>
          </a:p>
        </p:txBody>
      </p:sp>
      <p:sp>
        <p:nvSpPr>
          <p:cNvPr id="21" name="TextBox 20"/>
          <p:cNvSpPr txBox="1"/>
          <p:nvPr/>
        </p:nvSpPr>
        <p:spPr>
          <a:xfrm>
            <a:off x="62992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06</a:t>
            </a:r>
          </a:p>
        </p:txBody>
      </p:sp>
      <p:sp>
        <p:nvSpPr>
          <p:cNvPr id="22" name="TextBox 21"/>
          <p:cNvSpPr txBox="1"/>
          <p:nvPr/>
        </p:nvSpPr>
        <p:spPr>
          <a:xfrm>
            <a:off x="67564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Thematic universe</a:t>
            </a:r>
          </a:p>
          <a:p>
            <a:pPr>
              <a:lnSpc>
                <a:spcPct val="108333"/>
              </a:lnSpc>
              <a:spcAft>
                <a:spcPts val="0"/>
              </a:spcAft>
            </a:pPr>
            <a:r>
              <a:rPr sz="1200" b="0">
                <a:solidFill>
                  <a:srgbClr val="475569"/>
                </a:solidFill>
                <a:latin typeface="IBM Plex Sans"/>
              </a:rPr>
              <a:t>From a theme to its companies</a:t>
            </a:r>
          </a:p>
        </p:txBody>
      </p:sp>
      <p:sp>
        <p:nvSpPr>
          <p:cNvPr id="23" name="Rectangle 22"/>
          <p:cNvSpPr/>
          <p:nvPr/>
        </p:nvSpPr>
        <p:spPr>
          <a:xfrm>
            <a:off x="6299200" y="4051300"/>
            <a:ext cx="5080000" cy="6350"/>
          </a:xfrm>
          <a:prstGeom prst="rect">
            <a:avLst/>
          </a:prstGeom>
          <a:solidFill>
            <a:srgbClr val="E2E8F0"/>
          </a:solidFill>
          <a:ln>
            <a:noFill/>
          </a:ln>
          <a:effectLst/>
        </p:spPr>
        <p:txBody>
          <a:bodyPr rtlCol="0" anchor="ctr"/>
          <a:lstStyle/>
          <a:p>
            <a:pPr algn="ctr"/>
          </a:p>
        </p:txBody>
      </p:sp>
      <p:sp>
        <p:nvSpPr>
          <p:cNvPr id="24" name="TextBox 23"/>
          <p:cNvSpPr txBox="1"/>
          <p:nvPr/>
        </p:nvSpPr>
        <p:spPr>
          <a:xfrm>
            <a:off x="62992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07</a:t>
            </a:r>
          </a:p>
        </p:txBody>
      </p:sp>
      <p:sp>
        <p:nvSpPr>
          <p:cNvPr id="25" name="TextBox 24"/>
          <p:cNvSpPr txBox="1"/>
          <p:nvPr/>
        </p:nvSpPr>
        <p:spPr>
          <a:xfrm>
            <a:off x="67564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Theme dossier</a:t>
            </a:r>
          </a:p>
          <a:p>
            <a:pPr>
              <a:lnSpc>
                <a:spcPct val="108333"/>
              </a:lnSpc>
              <a:spcAft>
                <a:spcPts val="0"/>
              </a:spcAft>
            </a:pPr>
            <a:r>
              <a:rPr sz="1200" b="0">
                <a:solidFill>
                  <a:srgbClr val="475569"/>
                </a:solidFill>
                <a:latin typeface="IBM Plex Sans"/>
              </a:rPr>
              <a:t>Spot, define and research a theme</a:t>
            </a:r>
          </a:p>
        </p:txBody>
      </p:sp>
      <p:sp>
        <p:nvSpPr>
          <p:cNvPr id="26" name="Rectangle 25"/>
          <p:cNvSpPr/>
          <p:nvPr/>
        </p:nvSpPr>
        <p:spPr>
          <a:xfrm>
            <a:off x="6299200" y="4584700"/>
            <a:ext cx="5080000" cy="6350"/>
          </a:xfrm>
          <a:prstGeom prst="rect">
            <a:avLst/>
          </a:prstGeom>
          <a:solidFill>
            <a:srgbClr val="E2E8F0"/>
          </a:solidFill>
          <a:ln>
            <a:noFill/>
          </a:ln>
          <a:effectLst/>
        </p:spPr>
        <p:txBody>
          <a:bodyPr rtlCol="0" anchor="ctr"/>
          <a:lstStyle/>
          <a:p>
            <a:pPr algn="ctr"/>
          </a:p>
        </p:txBody>
      </p:sp>
      <p:sp>
        <p:nvSpPr>
          <p:cNvPr id="27" name="TextBox 26"/>
          <p:cNvSpPr txBox="1"/>
          <p:nvPr/>
        </p:nvSpPr>
        <p:spPr>
          <a:xfrm>
            <a:off x="62992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08</a:t>
            </a:r>
          </a:p>
        </p:txBody>
      </p:sp>
      <p:sp>
        <p:nvSpPr>
          <p:cNvPr id="28" name="TextBox 27"/>
          <p:cNvSpPr txBox="1"/>
          <p:nvPr/>
        </p:nvSpPr>
        <p:spPr>
          <a:xfrm>
            <a:off x="67564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Transition plans</a:t>
            </a:r>
          </a:p>
          <a:p>
            <a:pPr>
              <a:lnSpc>
                <a:spcPct val="108333"/>
              </a:lnSpc>
              <a:spcAft>
                <a:spcPts val="0"/>
              </a:spcAft>
            </a:pPr>
            <a:r>
              <a:rPr sz="1200" b="0">
                <a:solidFill>
                  <a:srgbClr val="475569"/>
                </a:solidFill>
                <a:latin typeface="IBM Plex Sans"/>
              </a:rPr>
              <a:t>Walk versus talk, then alignment</a:t>
            </a:r>
          </a:p>
        </p:txBody>
      </p:sp>
      <p:sp>
        <p:nvSpPr>
          <p:cNvPr id="29" name="Rectangle 28"/>
          <p:cNvSpPr/>
          <p:nvPr/>
        </p:nvSpPr>
        <p:spPr>
          <a:xfrm>
            <a:off x="6299200" y="5118100"/>
            <a:ext cx="5080000" cy="6350"/>
          </a:xfrm>
          <a:prstGeom prst="rect">
            <a:avLst/>
          </a:prstGeom>
          <a:solidFill>
            <a:srgbClr val="E2E8F0"/>
          </a:solidFill>
          <a:ln>
            <a:noFill/>
          </a:ln>
          <a:effectLst/>
        </p:spPr>
        <p:txBody>
          <a:bodyPr rtlCol="0" anchor="ctr"/>
          <a:lstStyle/>
          <a:p>
            <a:pPr algn="ctr"/>
          </a:p>
        </p:txBody>
      </p:sp>
      <p:sp>
        <p:nvSpPr>
          <p:cNvPr id="30" name="TextBox 29"/>
          <p:cNvSpPr txBox="1"/>
          <p:nvPr/>
        </p:nvSpPr>
        <p:spPr>
          <a:xfrm>
            <a:off x="62992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09</a:t>
            </a:r>
          </a:p>
        </p:txBody>
      </p:sp>
      <p:sp>
        <p:nvSpPr>
          <p:cNvPr id="31" name="TextBox 30"/>
          <p:cNvSpPr txBox="1"/>
          <p:nvPr/>
        </p:nvSpPr>
        <p:spPr>
          <a:xfrm>
            <a:off x="67564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Transition barriers</a:t>
            </a:r>
          </a:p>
          <a:p>
            <a:pPr>
              <a:lnSpc>
                <a:spcPct val="108333"/>
              </a:lnSpc>
              <a:spcAft>
                <a:spcPts val="0"/>
              </a:spcAft>
            </a:pPr>
            <a:r>
              <a:rPr sz="1200" b="0">
                <a:solidFill>
                  <a:srgbClr val="475569"/>
                </a:solidFill>
                <a:latin typeface="IBM Plex Sans"/>
              </a:rPr>
              <a:t>Is decarbonisation feasible here?</a:t>
            </a:r>
          </a:p>
        </p:txBody>
      </p:sp>
      <p:sp>
        <p:nvSpPr>
          <p:cNvPr id="32" name="Rectangle 31"/>
          <p:cNvSpPr/>
          <p:nvPr/>
        </p:nvSpPr>
        <p:spPr>
          <a:xfrm>
            <a:off x="6299200" y="5651500"/>
            <a:ext cx="5080000" cy="6350"/>
          </a:xfrm>
          <a:prstGeom prst="rect">
            <a:avLst/>
          </a:prstGeom>
          <a:solidFill>
            <a:srgbClr val="E2E8F0"/>
          </a:solidFill>
          <a:ln>
            <a:noFill/>
          </a:ln>
          <a:effectLst/>
        </p:spPr>
        <p:txBody>
          <a:bodyPr rtlCol="0" anchor="ctr"/>
          <a:lstStyle/>
          <a:p>
            <a:pPr algn="ctr"/>
          </a:p>
        </p:txBody>
      </p:sp>
      <p:sp>
        <p:nvSpPr>
          <p:cNvPr id="33" name="TextBox 32"/>
          <p:cNvSpPr txBox="1"/>
          <p:nvPr/>
        </p:nvSpPr>
        <p:spPr>
          <a:xfrm>
            <a:off x="6299200" y="5124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10</a:t>
            </a:r>
          </a:p>
        </p:txBody>
      </p:sp>
      <p:sp>
        <p:nvSpPr>
          <p:cNvPr id="34" name="TextBox 33"/>
          <p:cNvSpPr txBox="1"/>
          <p:nvPr/>
        </p:nvSpPr>
        <p:spPr>
          <a:xfrm>
            <a:off x="6756400" y="5124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Value chain</a:t>
            </a:r>
          </a:p>
          <a:p>
            <a:pPr>
              <a:lnSpc>
                <a:spcPct val="108333"/>
              </a:lnSpc>
              <a:spcAft>
                <a:spcPts val="0"/>
              </a:spcAft>
            </a:pPr>
            <a:r>
              <a:rPr sz="1200" b="0">
                <a:solidFill>
                  <a:srgbClr val="475569"/>
                </a:solidFill>
                <a:latin typeface="IBM Plex Sans"/>
              </a:rPr>
              <a:t>Exposure through input-output tables</a:t>
            </a:r>
          </a:p>
        </p:txBody>
      </p:sp>
      <p:sp>
        <p:nvSpPr>
          <p:cNvPr id="35" name="TextBox 3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01</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Argus: extract and score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Bring a universe; get every figure cited, reviewed and, if wanted, tiered by a ratified template.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lob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a:t>
            </a:r>
          </a:p>
          <a:p>
            <a:pPr algn="ctr">
              <a:lnSpc>
                <a:spcPct val="112500"/>
              </a:lnSpc>
              <a:spcAft>
                <a:spcPts val="0"/>
              </a:spcAft>
            </a:pPr>
            <a:r>
              <a:rPr sz="1200" b="0">
                <a:solidFill>
                  <a:srgbClr val="475569"/>
                </a:solidFill>
                <a:latin typeface="IBM Plex Sans"/>
              </a:rPr>
              <a:t>Uploaded or saved, mapped through the security master</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building-2.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Companies</a:t>
            </a:r>
          </a:p>
          <a:p>
            <a:pPr algn="ctr">
              <a:lnSpc>
                <a:spcPct val="112500"/>
              </a:lnSpc>
              <a:spcAft>
                <a:spcPts val="0"/>
              </a:spcAft>
            </a:pPr>
            <a:r>
              <a:rPr sz="1200" b="0">
                <a:solidFill>
                  <a:srgbClr val="475569"/>
                </a:solidFill>
                <a:latin typeface="IBM Plex Sans"/>
              </a:rPr>
              <a:t>One internal id each; LEI, ISIN, CIK matched exactly</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file-text.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Documents</a:t>
            </a:r>
          </a:p>
          <a:p>
            <a:pPr algn="ctr">
              <a:lnSpc>
                <a:spcPct val="112500"/>
              </a:lnSpc>
              <a:spcAft>
                <a:spcPts val="0"/>
              </a:spcAft>
            </a:pPr>
            <a:r>
              <a:rPr sz="1200" b="0">
                <a:solidFill>
                  <a:srgbClr val="475569"/>
                </a:solidFill>
                <a:latin typeface="IBM Plex Sans"/>
              </a:rPr>
              <a:t>Upload, import folder, SEC or ESEF filings, web crawl</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n-text.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Schema fields; verifier on a different model</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user-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Accept, override or reject in the queue</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trophy-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Score</a:t>
            </a:r>
          </a:p>
          <a:p>
            <a:pPr algn="ctr">
              <a:lnSpc>
                <a:spcPct val="112500"/>
              </a:lnSpc>
              <a:spcAft>
                <a:spcPts val="0"/>
              </a:spcAft>
            </a:pPr>
            <a:r>
              <a:rPr sz="1200" b="0">
                <a:solidFill>
                  <a:srgbClr val="475569"/>
                </a:solidFill>
                <a:latin typeface="IBM Plex Sans"/>
              </a:rPr>
              <a:t>Decision Studio tiers from a ratified template</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activity-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STATUS</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start page and step 1 are live. Later steps hand over to the Extraction screens for now.</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gauge-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RUN MODES</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Cheap, normal or max: more evidence and stricter review thresholds as the mode rises.</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Nothing is matched by name; an unmatched security is fixed in the security master.</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21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02</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Identity: which company is this?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Identifiers first, search only when they run out, and one model call only where no lookup settles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rows-3-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 row</a:t>
            </a:r>
          </a:p>
          <a:p>
            <a:pPr algn="ctr">
              <a:lnSpc>
                <a:spcPct val="112500"/>
              </a:lnSpc>
              <a:spcAft>
                <a:spcPts val="0"/>
              </a:spcAft>
            </a:pPr>
            <a:r>
              <a:rPr sz="1200" b="0">
                <a:solidFill>
                  <a:srgbClr val="475569"/>
                </a:solidFill>
                <a:latin typeface="IBM Plex Sans"/>
              </a:rPr>
              <a:t>Name, maybe a ticker, LEI, ISIN or CIK</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key-round.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Security master</a:t>
            </a:r>
          </a:p>
          <a:p>
            <a:pPr algn="ctr">
              <a:lnSpc>
                <a:spcPct val="112500"/>
              </a:lnSpc>
              <a:spcAft>
                <a:spcPts val="0"/>
              </a:spcAft>
            </a:pPr>
            <a:r>
              <a:rPr sz="1200" b="0">
                <a:solidFill>
                  <a:srgbClr val="475569"/>
                </a:solidFill>
                <a:latin typeface="IBM Plex Sans"/>
              </a:rPr>
              <a:t>Exact LEI, ISIN or CIK to one internal issuer</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search.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Lookups</a:t>
            </a:r>
          </a:p>
          <a:p>
            <a:pPr algn="ctr">
              <a:lnSpc>
                <a:spcPct val="112500"/>
              </a:lnSpc>
              <a:spcAft>
                <a:spcPts val="0"/>
              </a:spcAft>
            </a:pPr>
            <a:r>
              <a:rPr sz="1200" b="0">
                <a:solidFill>
                  <a:srgbClr val="475569"/>
                </a:solidFill>
                <a:latin typeface="IBM Plex Sans"/>
              </a:rPr>
              <a:t>GLEIF fills the LEI from an ISIN; EDGAR by CIK</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l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Adjudicate</a:t>
            </a:r>
          </a:p>
          <a:p>
            <a:pPr algn="ctr">
              <a:lnSpc>
                <a:spcPct val="112500"/>
              </a:lnSpc>
              <a:spcAft>
                <a:spcPts val="0"/>
              </a:spcAft>
            </a:pPr>
            <a:r>
              <a:rPr sz="1200" b="0">
                <a:solidFill>
                  <a:srgbClr val="475569"/>
                </a:solidFill>
                <a:latin typeface="IBM Plex Sans"/>
              </a:rPr>
              <a:t>One call over EDGAR and GLEIF candidates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shield-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Check in code</a:t>
            </a:r>
          </a:p>
          <a:p>
            <a:pPr algn="ctr">
              <a:lnSpc>
                <a:spcPct val="112500"/>
              </a:lnSpc>
              <a:spcAft>
                <a:spcPts val="0"/>
              </a:spcAft>
            </a:pPr>
            <a:r>
              <a:rPr sz="1200" b="0">
                <a:solidFill>
                  <a:srgbClr val="475569"/>
                </a:solidFill>
                <a:latin typeface="IBM Plex Sans"/>
              </a:rPr>
              <a:t>Website and CIK must match the gathered signals</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circle-check-big-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Verdict</a:t>
            </a:r>
          </a:p>
          <a:p>
            <a:pPr algn="ctr">
              <a:lnSpc>
                <a:spcPct val="112500"/>
              </a:lnSpc>
              <a:spcAft>
                <a:spcPts val="0"/>
              </a:spcAft>
            </a:pPr>
            <a:r>
              <a:rPr sz="1200" b="0">
                <a:solidFill>
                  <a:srgbClr val="475569"/>
                </a:solidFill>
                <a:latin typeface="IBM Plex Sans"/>
              </a:rPr>
              <a:t>Resolved, or sent to review</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phone-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ONE CALL</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Which company it is rarely has two sides, so no debate. Most rows never reach a model.</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globe-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WEBSITES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homepage found by search is scored before crawling; aggregators and other companies' sites are rejected.</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Identifiers are copied verbatim, never composed; a non-US ticker never gets a US CIK.</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22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03</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Documents: finding the reports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latest annual and sustainability report per company, taking the most reliable route first.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uilding-2-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Company</a:t>
            </a:r>
          </a:p>
          <a:p>
            <a:pPr algn="ctr">
              <a:lnSpc>
                <a:spcPct val="112500"/>
              </a:lnSpc>
              <a:spcAft>
                <a:spcPts val="0"/>
              </a:spcAft>
            </a:pPr>
            <a:r>
              <a:rPr sz="1200" b="0">
                <a:solidFill>
                  <a:srgbClr val="475569"/>
                </a:solidFill>
                <a:latin typeface="IBM Plex Sans"/>
              </a:rPr>
              <a:t>Resolved identity and website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landmark.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ESEF first</a:t>
            </a:r>
          </a:p>
          <a:p>
            <a:pPr algn="ctr">
              <a:lnSpc>
                <a:spcPct val="112500"/>
              </a:lnSpc>
              <a:spcAft>
                <a:spcPts val="0"/>
              </a:spcAft>
            </a:pPr>
            <a:r>
              <a:rPr sz="1200" b="0">
                <a:solidFill>
                  <a:srgbClr val="475569"/>
                </a:solidFill>
                <a:latin typeface="IBM Plex Sans"/>
              </a:rPr>
              <a:t>The latest annual filing on filings.xbrl.org</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file-search.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PDF search</a:t>
            </a:r>
          </a:p>
          <a:p>
            <a:pPr algn="ctr">
              <a:lnSpc>
                <a:spcPct val="112500"/>
              </a:lnSpc>
              <a:spcAft>
                <a:spcPts val="0"/>
              </a:spcAft>
            </a:pPr>
            <a:r>
              <a:rPr sz="1200" b="0">
                <a:solidFill>
                  <a:srgbClr val="475569"/>
                </a:solidFill>
                <a:latin typeface="IBM Plex Sans"/>
              </a:rPr>
              <a:t>A direct search for the report PDF</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glob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Site crawl</a:t>
            </a:r>
          </a:p>
          <a:p>
            <a:pPr algn="ctr">
              <a:lnSpc>
                <a:spcPct val="112500"/>
              </a:lnSpc>
              <a:spcAft>
                <a:spcPts val="0"/>
              </a:spcAft>
            </a:pPr>
            <a:r>
              <a:rPr sz="1200" b="0">
                <a:solidFill>
                  <a:srgbClr val="475569"/>
                </a:solidFill>
                <a:latin typeface="IBM Plex Sans"/>
              </a:rPr>
              <a:t>Same domain, robots.txt, depth caps, sitemap seeds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arrow-down-wide-narrow.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Rank and check</a:t>
            </a:r>
          </a:p>
          <a:p>
            <a:pPr algn="ctr">
              <a:lnSpc>
                <a:spcPct val="112500"/>
              </a:lnSpc>
              <a:spcAft>
                <a:spcPts val="0"/>
              </a:spcAft>
            </a:pPr>
            <a:r>
              <a:rPr sz="1200" b="0">
                <a:solidFill>
                  <a:srgbClr val="475569"/>
                </a:solidFill>
                <a:latin typeface="IBM Plex Sans"/>
              </a:rPr>
              <a:t>Best two; each PDF must name the company</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archive-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Document store</a:t>
            </a:r>
          </a:p>
          <a:p>
            <a:pPr algn="ctr">
              <a:lnSpc>
                <a:spcPct val="112500"/>
              </a:lnSpc>
              <a:spcAft>
                <a:spcPts val="0"/>
              </a:spcAft>
            </a:pPr>
            <a:r>
              <a:rPr sz="1200" b="0">
                <a:solidFill>
                  <a:srgbClr val="475569"/>
                </a:solidFill>
                <a:latin typeface="IBM Plex Sans"/>
              </a:rPr>
              <a:t>Only new or changed files, by content hash</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list-ordered-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THIS ORDER</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Half the sites tested block cloud servers; filings and search still reach the report.</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refresh-cw-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CHANGE DETECTION</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Stored ETag and Last-Modified are sent back; the same bytes at a new URL are not announced as new.</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request passes the SSRF guard. An unreachable site is a status for review.</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23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04</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Data-point extraction: one engine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Metrics and yes/no criteria run on one schema-driven engine. A new schema is a preset, not a pipeline.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Schema + reports</a:t>
            </a:r>
          </a:p>
          <a:p>
            <a:pPr algn="ctr">
              <a:lnSpc>
                <a:spcPct val="112500"/>
              </a:lnSpc>
              <a:spcAft>
                <a:spcPts val="0"/>
              </a:spcAft>
            </a:pPr>
            <a:r>
              <a:rPr sz="1200" b="0">
                <a:solidFill>
                  <a:srgbClr val="475569"/>
                </a:solidFill>
                <a:latin typeface="IBM Plex Sans"/>
              </a:rPr>
              <a:t>Fields with meaning, unit, edge cases, keywords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text-search.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evidence</a:t>
            </a:r>
          </a:p>
          <a:p>
            <a:pPr algn="ctr">
              <a:lnSpc>
                <a:spcPct val="112500"/>
              </a:lnSpc>
              <a:spcAft>
                <a:spcPts val="0"/>
              </a:spcAft>
            </a:pPr>
            <a:r>
              <a:rPr sz="1200" b="0">
                <a:solidFill>
                  <a:srgbClr val="475569"/>
                </a:solidFill>
                <a:latin typeface="IBM Plex Sans"/>
              </a:rPr>
              <a:t>BM25 + embeddings, optional rerank</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scan-text.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Schema-forced output, retry when invalid</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n-ey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Verify</a:t>
            </a:r>
          </a:p>
          <a:p>
            <a:pPr algn="ctr">
              <a:lnSpc>
                <a:spcPct val="112500"/>
              </a:lnSpc>
              <a:spcAft>
                <a:spcPts val="0"/>
              </a:spcAft>
            </a:pPr>
            <a:r>
              <a:rPr sz="1200" b="0">
                <a:solidFill>
                  <a:srgbClr val="475569"/>
                </a:solidFill>
                <a:latin typeface="IBM Plex Sans"/>
              </a:rPr>
              <a:t>A blind second extraction on a different model</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quote.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Ground + check</a:t>
            </a:r>
          </a:p>
          <a:p>
            <a:pPr algn="ctr">
              <a:lnSpc>
                <a:spcPct val="112500"/>
              </a:lnSpc>
              <a:spcAft>
                <a:spcPts val="0"/>
              </a:spcAft>
            </a:pPr>
            <a:r>
              <a:rPr sz="1200" b="0">
                <a:solidFill>
                  <a:srgbClr val="475569"/>
                </a:solidFill>
                <a:latin typeface="IBM Plex Sans"/>
              </a:rPr>
              <a:t>Quote found in the source; number, unit, period</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pic>
        <p:nvPicPr>
          <p:cNvPr id="26" name="Picture 25" descr="fig-person-user-check.png"/>
          <p:cNvPicPr>
            <a:picLocks noChangeAspect="1"/>
          </p:cNvPicPr>
          <p:nvPr/>
        </p:nvPicPr>
        <p:blipFill>
          <a:blip r:embed="rId8"/>
          <a:stretch>
            <a:fillRect/>
          </a:stretch>
        </p:blipFill>
        <p:spPr>
          <a:xfrm>
            <a:off x="10219267" y="2101850"/>
            <a:ext cx="558800" cy="558800"/>
          </a:xfrm>
          <a:prstGeom prst="rect">
            <a:avLst/>
          </a:prstGeom>
        </p:spPr>
      </p:pic>
      <p:sp>
        <p:nvSpPr>
          <p:cNvPr id="27" name="TextBox 26"/>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Whatever is not auto-accepted, span boxed on the page</a:t>
            </a:r>
          </a:p>
        </p:txBody>
      </p:sp>
      <p:sp>
        <p:nvSpPr>
          <p:cNvPr id="28" name="Rounded Rectangle 27"/>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29" name="Oval 28"/>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0" name="Picture 29" descr="circle-check-big-0F172A.png"/>
          <p:cNvPicPr>
            <a:picLocks noChangeAspect="1"/>
          </p:cNvPicPr>
          <p:nvPr/>
        </p:nvPicPr>
        <p:blipFill>
          <a:blip r:embed="rId9"/>
          <a:stretch>
            <a:fillRect/>
          </a:stretch>
        </p:blipFill>
        <p:spPr>
          <a:xfrm>
            <a:off x="1041400" y="4635500"/>
            <a:ext cx="152400" cy="152400"/>
          </a:xfrm>
          <a:prstGeom prst="rect">
            <a:avLst/>
          </a:prstGeom>
        </p:spPr>
      </p:pic>
      <p:sp>
        <p:nvSpPr>
          <p:cNvPr id="31" name="TextBox 30"/>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AUTO-ACCEPT ONLY IF</a:t>
            </a:r>
          </a:p>
        </p:txBody>
      </p:sp>
      <p:sp>
        <p:nvSpPr>
          <p:cNvPr id="32" name="TextBox 31"/>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quote is grounded, the number is in it, the checks pass and the verifier agrees.</a:t>
            </a:r>
          </a:p>
        </p:txBody>
      </p:sp>
      <p:sp>
        <p:nvSpPr>
          <p:cNvPr id="33" name="Rounded Rectangle 32"/>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5" name="Picture 34" descr="search-x-0F172A.png"/>
          <p:cNvPicPr>
            <a:picLocks noChangeAspect="1"/>
          </p:cNvPicPr>
          <p:nvPr/>
        </p:nvPicPr>
        <p:blipFill>
          <a:blip r:embed="rId10"/>
          <a:stretch>
            <a:fillRect/>
          </a:stretch>
        </p:blipFill>
        <p:spPr>
          <a:xfrm>
            <a:off x="4614333" y="4635500"/>
            <a:ext cx="152400" cy="152400"/>
          </a:xfrm>
          <a:prstGeom prst="rect">
            <a:avLst/>
          </a:prstGeom>
        </p:spPr>
      </p:pic>
      <p:sp>
        <p:nvSpPr>
          <p:cNvPr id="36" name="TextBox 35"/>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NOT FOUND IS AN ANSWER</a:t>
            </a:r>
          </a:p>
        </p:txBody>
      </p:sp>
      <p:sp>
        <p:nvSpPr>
          <p:cNvPr id="37" name="TextBox 36"/>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evidence ends in an explicit 'not found': never a silent NA, never a guess.</a:t>
            </a:r>
          </a:p>
        </p:txBody>
      </p:sp>
      <p:sp>
        <p:nvSpPr>
          <p:cNvPr id="38" name="Rounded Rectangle 37"/>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0" name="Picture 39"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1" name="TextBox 40"/>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2" name="TextBox 41"/>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Schema rules flag contradictions without changing the answer. A golden set gates prompt changes.</a:t>
            </a:r>
          </a:p>
        </p:txBody>
      </p:sp>
      <p:sp>
        <p:nvSpPr>
          <p:cNvPr id="43" name="TextBox 4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4" name="TextBox 4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24 / 40</a:t>
            </a:r>
          </a:p>
        </p:txBody>
      </p:sp>
      <p:sp>
        <p:nvSpPr>
          <p:cNvPr id="45" name="Oval 44"/>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6" name="TextBox 45"/>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7" name="Oval 46"/>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8" name="TextBox 47"/>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49" name="Oval 48"/>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0" name="TextBox 49"/>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05</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Financials and XBRL facts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Segments, capex and R&amp;D in one verified pass; filed XBRL facts kept as filed, for SEC and EU ESEF filers.</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uilding-2-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Company</a:t>
            </a:r>
          </a:p>
          <a:p>
            <a:pPr algn="ctr">
              <a:lnSpc>
                <a:spcPct val="112500"/>
              </a:lnSpc>
              <a:spcAft>
                <a:spcPts val="0"/>
              </a:spcAft>
            </a:pPr>
            <a:r>
              <a:rPr sz="1200" b="0">
                <a:solidFill>
                  <a:srgbClr val="475569"/>
                </a:solidFill>
                <a:latin typeface="IBM Plex Sans"/>
              </a:rPr>
              <a:t>CIK or LEI, routed to the SEC or ESEF</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file-spreadsheet.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Filed facts</a:t>
            </a:r>
          </a:p>
          <a:p>
            <a:pPr algn="ctr">
              <a:lnSpc>
                <a:spcPct val="112500"/>
              </a:lnSpc>
              <a:spcAft>
                <a:spcPts val="0"/>
              </a:spcAft>
            </a:pPr>
            <a:r>
              <a:rPr sz="1200" b="0">
                <a:solidFill>
                  <a:srgbClr val="475569"/>
                </a:solidFill>
                <a:latin typeface="IBM Plex Sans"/>
              </a:rPr>
              <a:t>SEC companyfacts or ESEF xBRL-JSON, as filed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layers.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Combined pass</a:t>
            </a:r>
          </a:p>
          <a:p>
            <a:pPr algn="ctr">
              <a:lnSpc>
                <a:spcPct val="112500"/>
              </a:lnSpc>
              <a:spcAft>
                <a:spcPts val="0"/>
              </a:spcAft>
            </a:pPr>
            <a:r>
              <a:rPr sz="1200" b="0">
                <a:solidFill>
                  <a:srgbClr val="475569"/>
                </a:solidFill>
                <a:latin typeface="IBM Plex Sans"/>
              </a:rPr>
              <a:t>Segments, capex, R&amp;D; extractor and verifier</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layers.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XBRL overlay</a:t>
            </a:r>
          </a:p>
          <a:p>
            <a:pPr algn="ctr">
              <a:lnSpc>
                <a:spcPct val="112500"/>
              </a:lnSpc>
              <a:spcAft>
                <a:spcPts val="0"/>
              </a:spcAft>
            </a:pPr>
            <a:r>
              <a:rPr sz="1200" b="0">
                <a:solidFill>
                  <a:srgbClr val="475569"/>
                </a:solidFill>
                <a:latin typeface="IBM Plex Sans"/>
              </a:rPr>
              <a:t>Tagged totals replace a read of the prose</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shield-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Verify a run</a:t>
            </a:r>
          </a:p>
          <a:p>
            <a:pPr algn="ctr">
              <a:lnSpc>
                <a:spcPct val="112500"/>
              </a:lnSpc>
              <a:spcAft>
                <a:spcPts val="0"/>
              </a:spcAft>
            </a:pPr>
            <a:r>
              <a:rPr sz="1200" b="0">
                <a:solidFill>
                  <a:srgbClr val="475569"/>
                </a:solidFill>
                <a:latin typeface="IBM Plex Sans"/>
              </a:rPr>
              <a:t>Extracted values against the tagged values</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notebook-pen-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Record</a:t>
            </a:r>
          </a:p>
          <a:p>
            <a:pPr algn="ctr">
              <a:lnSpc>
                <a:spcPct val="112500"/>
              </a:lnSpc>
              <a:spcAft>
                <a:spcPts val="0"/>
              </a:spcAft>
            </a:pPr>
            <a:r>
              <a:rPr sz="1200" b="0">
                <a:solidFill>
                  <a:srgbClr val="475569"/>
                </a:solidFill>
                <a:latin typeface="IBM Plex Sans"/>
              </a:rPr>
              <a:t>Per-section review flags, citations, provenance</a:t>
            </a:r>
          </a:p>
        </p:txBody>
      </p:sp>
      <p:sp>
        <p:nvSpPr>
          <p:cNvPr id="29" name="Rounded Rectangle 28"/>
          <p:cNvSpPr/>
          <p:nvPr/>
        </p:nvSpPr>
        <p:spPr>
          <a:xfrm>
            <a:off x="812800"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combine-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COMBINED</a:t>
            </a:r>
          </a:p>
        </p:txBody>
      </p:sp>
      <p:sp>
        <p:nvSpPr>
          <p:cNvPr id="33" name="TextBox 32"/>
          <p:cNvSpPr txBox="1"/>
          <p:nvPr/>
        </p:nvSpPr>
        <p:spPr>
          <a:xfrm>
            <a:off x="965200"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Three things almost always wanted together: one fetch and one evidence step instead of three.</a:t>
            </a:r>
          </a:p>
        </p:txBody>
      </p:sp>
      <p:sp>
        <p:nvSpPr>
          <p:cNvPr id="34" name="Rounded Rectangle 33"/>
          <p:cNvSpPr/>
          <p:nvPr/>
        </p:nvSpPr>
        <p:spPr>
          <a:xfrm>
            <a:off x="4385733"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file-spreadsheet-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XBRL FACTS</a:t>
            </a:r>
          </a:p>
        </p:txBody>
      </p:sp>
      <p:sp>
        <p:nvSpPr>
          <p:cNvPr id="38" name="TextBox 37"/>
          <p:cNvSpPr txBox="1"/>
          <p:nvPr/>
        </p:nvSpPr>
        <p:spPr>
          <a:xfrm>
            <a:off x="4538133"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tagged fact across us-gaap, ifrs-full, dei and esrs; no filing means no_source.</a:t>
            </a:r>
          </a:p>
        </p:txBody>
      </p:sp>
      <p:sp>
        <p:nvSpPr>
          <p:cNvPr id="39" name="Rounded Rectangle 38"/>
          <p:cNvSpPr/>
          <p:nvPr/>
        </p:nvSpPr>
        <p:spPr>
          <a:xfrm>
            <a:off x="7958667"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undisclosed figure stays null, never derived from a total. XBRL replaces the number, not the narrative.</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25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06</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Thematic universe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ratified taxonomy of activities, then a cascade that settles each company and activity cheaply.</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lightbulb-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Theme</a:t>
            </a:r>
          </a:p>
          <a:p>
            <a:pPr algn="ctr">
              <a:lnSpc>
                <a:spcPct val="112500"/>
              </a:lnSpc>
              <a:spcAft>
                <a:spcPts val="0"/>
              </a:spcAft>
            </a:pPr>
            <a:r>
              <a:rPr sz="1200" b="0">
                <a:solidFill>
                  <a:srgbClr val="475569"/>
                </a:solidFill>
                <a:latin typeface="IBM Plex Sans"/>
              </a:rPr>
              <a:t>A macro theme or a promoted candidate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person-network.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Taxonomy</a:t>
            </a:r>
          </a:p>
          <a:p>
            <a:pPr algn="ctr">
              <a:lnSpc>
                <a:spcPct val="112500"/>
              </a:lnSpc>
              <a:spcAft>
                <a:spcPts val="0"/>
              </a:spcAft>
            </a:pPr>
            <a:r>
              <a:rPr sz="1200" b="0">
                <a:solidFill>
                  <a:srgbClr val="475569"/>
                </a:solidFill>
                <a:latin typeface="IBM Plex Sans"/>
              </a:rPr>
              <a:t>Versioned activities, ratified by a person</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table.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Catalogue</a:t>
            </a:r>
          </a:p>
          <a:p>
            <a:pPr algn="ctr">
              <a:lnSpc>
                <a:spcPct val="112500"/>
              </a:lnSpc>
              <a:spcAft>
                <a:spcPts val="0"/>
              </a:spcAft>
            </a:pPr>
            <a:r>
              <a:rPr sz="1200" b="0">
                <a:solidFill>
                  <a:srgbClr val="475569"/>
                </a:solidFill>
                <a:latin typeface="IBM Plex Sans"/>
              </a:rPr>
              <a:t>A confirmed revenue mapping; arithmetic only</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n-text.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Extraction</a:t>
            </a:r>
          </a:p>
          <a:p>
            <a:pPr algn="ctr">
              <a:lnSpc>
                <a:spcPct val="112500"/>
              </a:lnSpc>
              <a:spcAft>
                <a:spcPts val="0"/>
              </a:spcAft>
            </a:pPr>
            <a:r>
              <a:rPr sz="1200" b="0">
                <a:solidFill>
                  <a:srgbClr val="475569"/>
                </a:solidFill>
                <a:latin typeface="IBM Plex Sans"/>
              </a:rPr>
              <a:t>Generated schema: revenue, capex, opex, R&amp;D %</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robot-messages-square.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Debate</a:t>
            </a:r>
          </a:p>
          <a:p>
            <a:pPr algn="ctr">
              <a:lnSpc>
                <a:spcPct val="112500"/>
              </a:lnSpc>
              <a:spcAft>
                <a:spcPts val="0"/>
              </a:spcAft>
            </a:pPr>
            <a:r>
              <a:rPr sz="1200" b="0">
                <a:solidFill>
                  <a:srgbClr val="475569"/>
                </a:solidFill>
                <a:latin typeface="IBM Plex Sans"/>
              </a:rPr>
              <a:t>Advocate, Opposing, Adjudicator, as a last resort</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gauge-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Exposure</a:t>
            </a:r>
          </a:p>
          <a:p>
            <a:pPr algn="ctr">
              <a:lnSpc>
                <a:spcPct val="112500"/>
              </a:lnSpc>
              <a:spcAft>
                <a:spcPts val="0"/>
              </a:spcAft>
            </a:pPr>
            <a:r>
              <a:rPr sz="1200" b="0">
                <a:solidFill>
                  <a:srgbClr val="475569"/>
                </a:solidFill>
                <a:latin typeface="IBM Plex Sans"/>
              </a:rPr>
              <a:t>Pure play, significant, minor or none</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lock-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GATE</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theme run is refused unless its taxonomy version is ratified and its generated schema released.</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layers-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EXPOSURE LAYERS</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Layer 1 is the company's own revenue share; layer 2 is revenue from exposed customers up the chain.</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disclosed number is never second-guessed by a categorical judgment on the same question.</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26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07</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Theme dossier: one record per theme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Spot, define, research and find companies. Each step's state is read from the work itself.</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radar-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Spot</a:t>
            </a:r>
          </a:p>
          <a:p>
            <a:pPr algn="ctr">
              <a:lnSpc>
                <a:spcPct val="112500"/>
              </a:lnSpc>
              <a:spcAft>
                <a:spcPts val="0"/>
              </a:spcAft>
            </a:pPr>
            <a:r>
              <a:rPr sz="1200" b="0">
                <a:solidFill>
                  <a:srgbClr val="475569"/>
                </a:solidFill>
                <a:latin typeface="IBM Plex Sans"/>
              </a:rPr>
              <a:t>Candidates from EDGAR, GDELT and regulatory RSS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newspaper.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Context brief</a:t>
            </a:r>
          </a:p>
          <a:p>
            <a:pPr algn="ctr">
              <a:lnSpc>
                <a:spcPct val="112500"/>
              </a:lnSpc>
              <a:spcAft>
                <a:spcPts val="0"/>
              </a:spcAft>
            </a:pPr>
            <a:r>
              <a:rPr sz="1200" b="0">
                <a:solidFill>
                  <a:srgbClr val="475569"/>
                </a:solidFill>
                <a:latin typeface="IBM Plex Sans"/>
              </a:rPr>
              <a:t>Why now and early evidence; uncited lines dropped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person-user-check.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Define</a:t>
            </a:r>
          </a:p>
          <a:p>
            <a:pPr algn="ctr">
              <a:lnSpc>
                <a:spcPct val="112500"/>
              </a:lnSpc>
              <a:spcAft>
                <a:spcPts val="0"/>
              </a:spcAft>
            </a:pPr>
            <a:r>
              <a:rPr sz="1200" b="0">
                <a:solidFill>
                  <a:srgbClr val="475569"/>
                </a:solidFill>
                <a:latin typeface="IBM Plex Sans"/>
              </a:rPr>
              <a:t>A ratified taxonomy version</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person-list-checks.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Source plan</a:t>
            </a:r>
          </a:p>
          <a:p>
            <a:pPr algn="ctr">
              <a:lnSpc>
                <a:spcPct val="112500"/>
              </a:lnSpc>
              <a:spcAft>
                <a:spcPts val="0"/>
              </a:spcAft>
            </a:pPr>
            <a:r>
              <a:rPr sz="1200" b="0">
                <a:solidFill>
                  <a:srgbClr val="475569"/>
                </a:solidFill>
                <a:latin typeface="IBM Plex Sans"/>
              </a:rPr>
              <a:t>Up to 12 authoritative sources, approved</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robot-notebook-text.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Research note</a:t>
            </a:r>
          </a:p>
          <a:p>
            <a:pPr algn="ctr">
              <a:lnSpc>
                <a:spcPct val="112500"/>
              </a:lnSpc>
              <a:spcAft>
                <a:spcPts val="0"/>
              </a:spcAft>
            </a:pPr>
            <a:r>
              <a:rPr sz="1200" b="0">
                <a:solidFill>
                  <a:srgbClr val="475569"/>
                </a:solidFill>
                <a:latin typeface="IBM Plex Sans"/>
              </a:rPr>
              <a:t>Five sections, a grounded quote per statement</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building-2-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Companies</a:t>
            </a:r>
          </a:p>
          <a:p>
            <a:pPr algn="ctr">
              <a:lnSpc>
                <a:spcPct val="112500"/>
              </a:lnSpc>
              <a:spcAft>
                <a:spcPts val="0"/>
              </a:spcAft>
            </a:pPr>
            <a:r>
              <a:rPr sz="1200" b="0">
                <a:solidFill>
                  <a:srgbClr val="475569"/>
                </a:solidFill>
                <a:latin typeface="IBM Plex Sans"/>
              </a:rPr>
              <a:t>The exposed universe, reviewed</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lock-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PROMOTION GATE</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Candidates are promoted on corporate action, not mention counts. Promote is the brief's only sign-off.</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user-check-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APPROVALS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owner approves the source plan, then the note; the note uses approved sources only.</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arrow-right-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NEXT</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Step 5, position and standards, is specified: position, standard, data point, StewardIQ flag.</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27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08</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plans: walk versus talk</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64 indicators on the shared engine, then plan actions and capex checked in code.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Plan documents</a:t>
            </a:r>
          </a:p>
          <a:p>
            <a:pPr algn="ctr">
              <a:lnSpc>
                <a:spcPct val="112500"/>
              </a:lnSpc>
              <a:spcAft>
                <a:spcPts val="0"/>
              </a:spcAft>
            </a:pPr>
            <a:r>
              <a:rPr sz="1200" b="0">
                <a:solidFill>
                  <a:srgbClr val="475569"/>
                </a:solidFill>
                <a:latin typeface="IBM Plex Sans"/>
              </a:rPr>
              <a:t>Transition plan, sustainability report</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list-checks.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64 indicators</a:t>
            </a:r>
          </a:p>
          <a:p>
            <a:pPr algn="ctr">
              <a:lnSpc>
                <a:spcPct val="112500"/>
              </a:lnSpc>
              <a:spcAft>
                <a:spcPts val="0"/>
              </a:spcAft>
            </a:pPr>
            <a:r>
              <a:rPr sz="1200" b="0">
                <a:solidFill>
                  <a:srgbClr val="475569"/>
                </a:solidFill>
                <a:latin typeface="IBM Plex Sans"/>
              </a:rPr>
              <a:t>One yes/no field each, Colesanti Senni et al.</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list-todo.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Plan as a list</a:t>
            </a:r>
          </a:p>
          <a:p>
            <a:pPr algn="ctr">
              <a:lnSpc>
                <a:spcPct val="112500"/>
              </a:lnSpc>
              <a:spcAft>
                <a:spcPts val="0"/>
              </a:spcAft>
            </a:pPr>
            <a:r>
              <a:rPr sz="1200" b="0">
                <a:solidFill>
                  <a:srgbClr val="475569"/>
                </a:solidFill>
                <a:latin typeface="IBM Plex Sans"/>
              </a:rPr>
              <a:t>Actions, assumed prices, targets, phase-outs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factory.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Capex and actions</a:t>
            </a:r>
          </a:p>
          <a:p>
            <a:pPr algn="ctr">
              <a:lnSpc>
                <a:spcPct val="112500"/>
              </a:lnSpc>
              <a:spcAft>
                <a:spcPts val="0"/>
              </a:spcAft>
            </a:pPr>
            <a:r>
              <a:rPr sz="1200" b="0">
                <a:solidFill>
                  <a:srgbClr val="475569"/>
                </a:solidFill>
                <a:latin typeface="IBM Plex Sans"/>
              </a:rPr>
              <a:t>Capex vs benchmark, actions vs barriers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target.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Delivery checks</a:t>
            </a:r>
          </a:p>
          <a:p>
            <a:pPr algn="ctr">
              <a:lnSpc>
                <a:spcPct val="112500"/>
              </a:lnSpc>
              <a:spcAft>
                <a:spcPts val="0"/>
              </a:spcAft>
            </a:pPr>
            <a:r>
              <a:rPr sz="1200" b="0">
                <a:solidFill>
                  <a:srgbClr val="475569"/>
                </a:solidFill>
                <a:latin typeface="IBM Plex Sans"/>
              </a:rPr>
              <a:t>Targets, abatement, phase-outs, carbon price</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flag-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Flags and KPIs</a:t>
            </a:r>
          </a:p>
          <a:p>
            <a:pPr algn="ctr">
              <a:lnSpc>
                <a:spcPct val="112500"/>
              </a:lnSpc>
              <a:spcAft>
                <a:spcPts val="0"/>
              </a:spcAft>
            </a:pPr>
            <a:r>
              <a:rPr sz="1200" b="0">
                <a:solidFill>
                  <a:srgbClr val="475569"/>
                </a:solidFill>
                <a:latin typeface="IBM Plex Sans"/>
              </a:rPr>
              <a:t>5 flags and 9 KPIs, never one score</a:t>
            </a:r>
          </a:p>
        </p:txBody>
      </p:sp>
      <p:sp>
        <p:nvSpPr>
          <p:cNvPr id="29" name="Rounded Rectangle 28"/>
          <p:cNvSpPr/>
          <p:nvPr/>
        </p:nvSpPr>
        <p:spPr>
          <a:xfrm>
            <a:off x="812800"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65650"/>
            <a:ext cx="304800" cy="304800"/>
          </a:xfrm>
          <a:prstGeom prst="ellipse">
            <a:avLst/>
          </a:prstGeom>
          <a:solidFill>
            <a:srgbClr val="F1F5F9"/>
          </a:solidFill>
          <a:ln>
            <a:noFill/>
          </a:ln>
          <a:effectLst/>
        </p:spPr>
        <p:txBody>
          <a:bodyPr rtlCol="0" anchor="ctr"/>
          <a:lstStyle/>
          <a:p>
            <a:pPr algn="ctr"/>
          </a:p>
        </p:txBody>
      </p:sp>
      <p:pic>
        <p:nvPicPr>
          <p:cNvPr id="31" name="Picture 30" descr="triangle-alert-0F172A.png"/>
          <p:cNvPicPr>
            <a:picLocks noChangeAspect="1"/>
          </p:cNvPicPr>
          <p:nvPr/>
        </p:nvPicPr>
        <p:blipFill>
          <a:blip r:embed="rId9"/>
          <a:stretch>
            <a:fillRect/>
          </a:stretch>
        </p:blipFill>
        <p:spPr>
          <a:xfrm>
            <a:off x="1041400" y="4641850"/>
            <a:ext cx="152400" cy="152400"/>
          </a:xfrm>
          <a:prstGeom prst="rect">
            <a:avLst/>
          </a:prstGeom>
        </p:spPr>
      </p:pic>
      <p:sp>
        <p:nvSpPr>
          <p:cNvPr id="32" name="TextBox 31"/>
          <p:cNvSpPr txBox="1"/>
          <p:nvPr/>
        </p:nvSpPr>
        <p:spPr>
          <a:xfrm>
            <a:off x="1371600"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CONTRADICTIONS</a:t>
            </a:r>
          </a:p>
        </p:txBody>
      </p:sp>
      <p:sp>
        <p:nvSpPr>
          <p:cNvPr id="33" name="TextBox 32"/>
          <p:cNvSpPr txBox="1"/>
          <p:nvPr/>
        </p:nvSpPr>
        <p:spPr>
          <a:xfrm>
            <a:off x="965200"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Ten child and parent rules send a YES that contradicts its parent indicator to review.</a:t>
            </a:r>
          </a:p>
        </p:txBody>
      </p:sp>
      <p:sp>
        <p:nvSpPr>
          <p:cNvPr id="34" name="Rounded Rectangle 33"/>
          <p:cNvSpPr/>
          <p:nvPr/>
        </p:nvSpPr>
        <p:spPr>
          <a:xfrm>
            <a:off x="4385733"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65650"/>
            <a:ext cx="304800" cy="304800"/>
          </a:xfrm>
          <a:prstGeom prst="ellipse">
            <a:avLst/>
          </a:prstGeom>
          <a:solidFill>
            <a:srgbClr val="F1F5F9"/>
          </a:solidFill>
          <a:ln>
            <a:noFill/>
          </a:ln>
          <a:effectLst/>
        </p:spPr>
        <p:txBody>
          <a:bodyPr rtlCol="0" anchor="ctr"/>
          <a:lstStyle/>
          <a:p>
            <a:pPr algn="ctr"/>
          </a:p>
        </p:txBody>
      </p:sp>
      <p:pic>
        <p:nvPicPr>
          <p:cNvPr id="36" name="Picture 35" descr="ruler-0F172A.png"/>
          <p:cNvPicPr>
            <a:picLocks noChangeAspect="1"/>
          </p:cNvPicPr>
          <p:nvPr/>
        </p:nvPicPr>
        <p:blipFill>
          <a:blip r:embed="rId10"/>
          <a:stretch>
            <a:fillRect/>
          </a:stretch>
        </p:blipFill>
        <p:spPr>
          <a:xfrm>
            <a:off x="4614333" y="4641850"/>
            <a:ext cx="152400" cy="152400"/>
          </a:xfrm>
          <a:prstGeom prst="rect">
            <a:avLst/>
          </a:prstGeom>
        </p:spPr>
      </p:pic>
      <p:sp>
        <p:nvSpPr>
          <p:cNvPr id="37" name="TextBox 36"/>
          <p:cNvSpPr txBox="1"/>
          <p:nvPr/>
        </p:nvSpPr>
        <p:spPr>
          <a:xfrm>
            <a:off x="4944533"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BENCHMARKS</a:t>
            </a:r>
          </a:p>
        </p:txBody>
      </p:sp>
      <p:sp>
        <p:nvSpPr>
          <p:cNvPr id="38" name="TextBox 37"/>
          <p:cNvSpPr txBox="1"/>
          <p:nvPr/>
        </p:nvSpPr>
        <p:spPr>
          <a:xfrm>
            <a:off x="4538133"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Nine sectors and 29 levers. Benchmarks change only by a pull request the owner signs.</a:t>
            </a:r>
          </a:p>
        </p:txBody>
      </p:sp>
      <p:sp>
        <p:nvSpPr>
          <p:cNvPr id="39" name="Rounded Rectangle 38"/>
          <p:cNvSpPr/>
          <p:nvPr/>
        </p:nvSpPr>
        <p:spPr>
          <a:xfrm>
            <a:off x="7958667"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656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41850"/>
            <a:ext cx="152400" cy="152400"/>
          </a:xfrm>
          <a:prstGeom prst="rect">
            <a:avLst/>
          </a:prstGeom>
        </p:spPr>
      </p:pic>
      <p:sp>
        <p:nvSpPr>
          <p:cNvPr id="42" name="TextBox 41"/>
          <p:cNvSpPr txBox="1"/>
          <p:nvPr/>
        </p:nvSpPr>
        <p:spPr>
          <a:xfrm>
            <a:off x="8517467"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Alignment arithmetic is decimal code, no model. An approver releases a preset before real runs.</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28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09</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barriers: is it feasible here?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9 hard-to-abate sectors, 35 criteria, each rated for the EU, the US and China: a 105-cell matrix.</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ook-marked-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Rule book</a:t>
            </a:r>
          </a:p>
          <a:p>
            <a:pPr algn="ctr">
              <a:lnSpc>
                <a:spcPct val="112500"/>
              </a:lnSpc>
              <a:spcAft>
                <a:spcPts val="0"/>
              </a:spcAft>
            </a:pPr>
            <a:r>
              <a:rPr sz="1200" b="0">
                <a:solidFill>
                  <a:srgbClr val="475569"/>
                </a:solidFill>
                <a:latin typeface="IBM Plex Sans"/>
              </a:rPr>
              <a:t>Facts needed, H/M/L conditions, thresholds; signed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download.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Fetch sources</a:t>
            </a:r>
          </a:p>
          <a:p>
            <a:pPr algn="ctr">
              <a:lnSpc>
                <a:spcPct val="112500"/>
              </a:lnSpc>
              <a:spcAft>
                <a:spcPts val="0"/>
              </a:spcAft>
            </a:pPr>
            <a:r>
              <a:rPr sz="1200" b="0">
                <a:solidFill>
                  <a:srgbClr val="475569"/>
                </a:solidFill>
                <a:latin typeface="IBM Plex Sans"/>
              </a:rPr>
              <a:t>Through the SSRF guard, stored in Postgres</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scan-text.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 facts</a:t>
            </a:r>
          </a:p>
          <a:p>
            <a:pPr algn="ctr">
              <a:lnSpc>
                <a:spcPct val="112500"/>
              </a:lnSpc>
              <a:spcAft>
                <a:spcPts val="0"/>
              </a:spcAft>
            </a:pPr>
            <a:r>
              <a:rPr sz="1200" b="0">
                <a:solidFill>
                  <a:srgbClr val="475569"/>
                </a:solidFill>
                <a:latin typeface="IBM Plex Sans"/>
              </a:rPr>
              <a:t>Value, unit and quote checked in code</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cog.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Rules engine</a:t>
            </a:r>
          </a:p>
          <a:p>
            <a:pPr algn="ctr">
              <a:lnSpc>
                <a:spcPct val="112500"/>
              </a:lnSpc>
              <a:spcAft>
                <a:spcPts val="0"/>
              </a:spcAft>
            </a:pPr>
            <a:r>
              <a:rPr sz="1200" b="0">
                <a:solidFill>
                  <a:srgbClr val="475569"/>
                </a:solidFill>
                <a:latin typeface="IBM Plex Sans"/>
              </a:rPr>
              <a:t>Three-valued rules derive H, M or L</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badge-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Ratify</a:t>
            </a:r>
          </a:p>
          <a:p>
            <a:pPr algn="ctr">
              <a:lnSpc>
                <a:spcPct val="112500"/>
              </a:lnSpc>
              <a:spcAft>
                <a:spcPts val="0"/>
              </a:spcAft>
            </a:pPr>
            <a:r>
              <a:rPr sz="1200" b="0">
                <a:solidFill>
                  <a:srgbClr val="475569"/>
                </a:solidFill>
                <a:latin typeface="IBM Plex Sans"/>
              </a:rPr>
              <a:t>A named person accepts or rejects each cell</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grid-2x2-check-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Rated cell</a:t>
            </a:r>
          </a:p>
          <a:p>
            <a:pPr algn="ctr">
              <a:lnSpc>
                <a:spcPct val="112500"/>
              </a:lnSpc>
              <a:spcAft>
                <a:spcPts val="0"/>
              </a:spcAft>
            </a:pPr>
            <a:r>
              <a:rPr sz="1200" b="0">
                <a:solidFill>
                  <a:srgbClr val="475569"/>
                </a:solidFill>
                <a:latin typeface="IBM Plex Sans"/>
              </a:rPr>
              <a:t>Rating, confidence, evidence, last verified</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refresh-cw-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REFRESH</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EUR-Lex refresh proposes changes and never applies them. It is off by default.</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clock-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STALENESS</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cell's evidence goes stale after 548 days. 94 sources sit in the registry.</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When sources conflict, the review item carries both versions and proposes no rating.</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29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10</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Value chain: exposure never disclosed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Input-output tables trace supply-chain exposure; the propagation itself has no model in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rid-3x3-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IO tables</a:t>
            </a:r>
          </a:p>
          <a:p>
            <a:pPr algn="ctr">
              <a:lnSpc>
                <a:spcPct val="112500"/>
              </a:lnSpc>
              <a:spcAft>
                <a:spcPts val="0"/>
              </a:spcAft>
            </a:pPr>
            <a:r>
              <a:rPr sz="1200" b="0">
                <a:solidFill>
                  <a:srgbClr val="475569"/>
                </a:solidFill>
                <a:latin typeface="IBM Plex Sans"/>
              </a:rPr>
              <a:t>OECD ICIO 2025 and EXIOBASE 3</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sigma.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Leontief inverse</a:t>
            </a:r>
          </a:p>
          <a:p>
            <a:pPr algn="ctr">
              <a:lnSpc>
                <a:spcPct val="112500"/>
              </a:lnSpc>
              <a:spcAft>
                <a:spcPts val="0"/>
              </a:spcAft>
            </a:pPr>
            <a:r>
              <a:rPr sz="1200" b="0">
                <a:solidFill>
                  <a:srgbClr val="475569"/>
                </a:solidFill>
                <a:latin typeface="IBM Plex Sans"/>
              </a:rPr>
              <a:t>A = Z ÷ x, then L = (I − A)⁻¹, cached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map.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Map sectors</a:t>
            </a:r>
          </a:p>
          <a:p>
            <a:pPr algn="ctr">
              <a:lnSpc>
                <a:spcPct val="112500"/>
              </a:lnSpc>
              <a:spcAft>
                <a:spcPts val="0"/>
              </a:spcAft>
            </a:pPr>
            <a:r>
              <a:rPr sz="1200" b="0">
                <a:solidFill>
                  <a:srgbClr val="475569"/>
                </a:solidFill>
                <a:latin typeface="IBM Plex Sans"/>
              </a:rPr>
              <a:t>A theme's core sectors; a company's code if missing</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gaug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Exposure</a:t>
            </a:r>
          </a:p>
          <a:p>
            <a:pPr algn="ctr">
              <a:lnSpc>
                <a:spcPct val="112500"/>
              </a:lnSpc>
              <a:spcAft>
                <a:spcPts val="0"/>
              </a:spcAft>
            </a:pPr>
            <a:r>
              <a:rPr sz="1200" b="0">
                <a:solidFill>
                  <a:srgbClr val="475569"/>
                </a:solidFill>
                <a:latin typeface="IBM Plex Sans"/>
              </a:rPr>
              <a:t>Upstream, downstream, end market, GHG, region</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flag.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 flag</a:t>
            </a:r>
          </a:p>
          <a:p>
            <a:pPr algn="ctr">
              <a:lnSpc>
                <a:spcPct val="112500"/>
              </a:lnSpc>
              <a:spcAft>
                <a:spcPts val="0"/>
              </a:spcAft>
            </a:pPr>
            <a:r>
              <a:rPr sz="1200" b="0">
                <a:solidFill>
                  <a:srgbClr val="475569"/>
                </a:solidFill>
                <a:latin typeface="IBM Plex Sans"/>
              </a:rPr>
              <a:t>A silent company at 0.3 or more is queued</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network-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Explorer</a:t>
            </a:r>
          </a:p>
          <a:p>
            <a:pPr algn="ctr">
              <a:lnSpc>
                <a:spcPct val="112500"/>
              </a:lnSpc>
              <a:spcAft>
                <a:spcPts val="0"/>
              </a:spcAft>
            </a:pPr>
            <a:r>
              <a:rPr sz="1200" b="0">
                <a:solidFill>
                  <a:srgbClr val="475569"/>
                </a:solidFill>
                <a:latin typeface="IBM Plex Sans"/>
              </a:rPr>
              <a:t>7,987 nodes: node, upstream tree, footprint</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network-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VALUE CHAIN EXPLORER</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EXIOBASE 3.11.2 for 2022: 163 sectors in 49 regions, with CO₂e, energy and jobs. Read-only.</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split-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KEPT SEPARATE</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Structural exposure is its own field, never blended into the verdict from disclosures.</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sector code the loaded tables do not contain is rejected, never coerced.</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30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PART 2</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0F172A"/>
                </a:solidFill>
                <a:latin typeface="IBM Plex Sans"/>
              </a:rPr>
              <a:t>Analyse and decide</a:t>
            </a:r>
          </a:p>
        </p:txBody>
      </p:sp>
      <p:sp>
        <p:nvSpPr>
          <p:cNvPr id="4" name="TextBox 3"/>
          <p:cNvSpPr txBox="1"/>
          <p:nvPr/>
        </p:nvSpPr>
        <p:spPr>
          <a:xfrm>
            <a:off x="812800" y="21272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Turn cited figures into monitored portfolios, scored decisions, indices, votes and client answers, with code doing the arithmetic.</a:t>
            </a:r>
          </a:p>
        </p:txBody>
      </p:sp>
      <p:sp>
        <p:nvSpPr>
          <p:cNvPr id="5" name="Rectangle 4"/>
          <p:cNvSpPr/>
          <p:nvPr/>
        </p:nvSpPr>
        <p:spPr>
          <a:xfrm>
            <a:off x="812800" y="3517900"/>
            <a:ext cx="5080000" cy="6350"/>
          </a:xfrm>
          <a:prstGeom prst="rect">
            <a:avLst/>
          </a:prstGeom>
          <a:solidFill>
            <a:srgbClr val="E2E8F0"/>
          </a:solidFill>
          <a:ln>
            <a:noFill/>
          </a:ln>
          <a:effectLst/>
        </p:spPr>
        <p:txBody>
          <a:bodyPr rtlCol="0" anchor="ctr"/>
          <a:lstStyle/>
          <a:p>
            <a:pPr algn="ctr"/>
          </a:p>
        </p:txBody>
      </p:sp>
      <p:sp>
        <p:nvSpPr>
          <p:cNvPr id="6" name="TextBox 5"/>
          <p:cNvSpPr txBox="1"/>
          <p:nvPr/>
        </p:nvSpPr>
        <p:spPr>
          <a:xfrm>
            <a:off x="8128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11</a:t>
            </a:r>
          </a:p>
        </p:txBody>
      </p:sp>
      <p:sp>
        <p:nvSpPr>
          <p:cNvPr id="7" name="TextBox 6"/>
          <p:cNvSpPr txBox="1"/>
          <p:nvPr/>
        </p:nvSpPr>
        <p:spPr>
          <a:xfrm>
            <a:off x="12700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Portfolio and climate</a:t>
            </a:r>
          </a:p>
          <a:p>
            <a:pPr>
              <a:lnSpc>
                <a:spcPct val="108333"/>
              </a:lnSpc>
              <a:spcAft>
                <a:spcPts val="0"/>
              </a:spcAft>
            </a:pPr>
            <a:r>
              <a:rPr sz="1200" b="0">
                <a:solidFill>
                  <a:srgbClr val="475569"/>
                </a:solidFill>
                <a:latin typeface="IBM Plex Sans"/>
              </a:rPr>
              <a:t>Holdings, alerts, WACI, financed emissions</a:t>
            </a:r>
          </a:p>
        </p:txBody>
      </p:sp>
      <p:sp>
        <p:nvSpPr>
          <p:cNvPr id="8" name="Rectangle 7"/>
          <p:cNvSpPr/>
          <p:nvPr/>
        </p:nvSpPr>
        <p:spPr>
          <a:xfrm>
            <a:off x="812800" y="4051300"/>
            <a:ext cx="5080000" cy="6350"/>
          </a:xfrm>
          <a:prstGeom prst="rect">
            <a:avLst/>
          </a:prstGeom>
          <a:solidFill>
            <a:srgbClr val="E2E8F0"/>
          </a:solidFill>
          <a:ln>
            <a:noFill/>
          </a:ln>
          <a:effectLst/>
        </p:spPr>
        <p:txBody>
          <a:bodyPr rtlCol="0" anchor="ctr"/>
          <a:lstStyle/>
          <a:p>
            <a:pPr algn="ctr"/>
          </a:p>
        </p:txBody>
      </p:sp>
      <p:sp>
        <p:nvSpPr>
          <p:cNvPr id="9" name="TextBox 8"/>
          <p:cNvSpPr txBox="1"/>
          <p:nvPr/>
        </p:nvSpPr>
        <p:spPr>
          <a:xfrm>
            <a:off x="8128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12</a:t>
            </a:r>
          </a:p>
        </p:txBody>
      </p:sp>
      <p:sp>
        <p:nvSpPr>
          <p:cNvPr id="10" name="TextBox 9"/>
          <p:cNvSpPr txBox="1"/>
          <p:nvPr/>
        </p:nvSpPr>
        <p:spPr>
          <a:xfrm>
            <a:off x="12700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Decision Studio</a:t>
            </a:r>
          </a:p>
          <a:p>
            <a:pPr>
              <a:lnSpc>
                <a:spcPct val="108333"/>
              </a:lnSpc>
              <a:spcAft>
                <a:spcPts val="0"/>
              </a:spcAft>
            </a:pPr>
            <a:r>
              <a:rPr sz="1200" b="0">
                <a:solidFill>
                  <a:srgbClr val="475569"/>
                </a:solidFill>
                <a:latin typeface="IBM Plex Sans"/>
              </a:rPr>
              <a:t>Scored, ranked and tiered decisions</a:t>
            </a:r>
          </a:p>
        </p:txBody>
      </p:sp>
      <p:sp>
        <p:nvSpPr>
          <p:cNvPr id="11" name="Rectangle 10"/>
          <p:cNvSpPr/>
          <p:nvPr/>
        </p:nvSpPr>
        <p:spPr>
          <a:xfrm>
            <a:off x="812800" y="4584700"/>
            <a:ext cx="5080000" cy="6350"/>
          </a:xfrm>
          <a:prstGeom prst="rect">
            <a:avLst/>
          </a:prstGeom>
          <a:solidFill>
            <a:srgbClr val="E2E8F0"/>
          </a:solidFill>
          <a:ln>
            <a:noFill/>
          </a:ln>
          <a:effectLst/>
        </p:spPr>
        <p:txBody>
          <a:bodyPr rtlCol="0" anchor="ctr"/>
          <a:lstStyle/>
          <a:p>
            <a:pPr algn="ctr"/>
          </a:p>
        </p:txBody>
      </p:sp>
      <p:sp>
        <p:nvSpPr>
          <p:cNvPr id="12" name="TextBox 11"/>
          <p:cNvSpPr txBox="1"/>
          <p:nvPr/>
        </p:nvSpPr>
        <p:spPr>
          <a:xfrm>
            <a:off x="8128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13</a:t>
            </a:r>
          </a:p>
        </p:txBody>
      </p:sp>
      <p:sp>
        <p:nvSpPr>
          <p:cNvPr id="13" name="TextBox 12"/>
          <p:cNvSpPr txBox="1"/>
          <p:nvPr/>
        </p:nvSpPr>
        <p:spPr>
          <a:xfrm>
            <a:off x="12700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Index construction</a:t>
            </a:r>
          </a:p>
          <a:p>
            <a:pPr>
              <a:lnSpc>
                <a:spcPct val="108333"/>
              </a:lnSpc>
              <a:spcAft>
                <a:spcPts val="0"/>
              </a:spcAft>
            </a:pPr>
            <a:r>
              <a:rPr sz="1200" b="0">
                <a:solidFill>
                  <a:srgbClr val="475569"/>
                </a:solidFill>
                <a:latin typeface="IBM Plex Sans"/>
              </a:rPr>
              <a:t>Rule-based index methodologies</a:t>
            </a:r>
          </a:p>
        </p:txBody>
      </p:sp>
      <p:sp>
        <p:nvSpPr>
          <p:cNvPr id="14" name="Rectangle 13"/>
          <p:cNvSpPr/>
          <p:nvPr/>
        </p:nvSpPr>
        <p:spPr>
          <a:xfrm>
            <a:off x="812800" y="5118100"/>
            <a:ext cx="5080000" cy="6350"/>
          </a:xfrm>
          <a:prstGeom prst="rect">
            <a:avLst/>
          </a:prstGeom>
          <a:solidFill>
            <a:srgbClr val="E2E8F0"/>
          </a:solidFill>
          <a:ln>
            <a:noFill/>
          </a:ln>
          <a:effectLst/>
        </p:spPr>
        <p:txBody>
          <a:bodyPr rtlCol="0" anchor="ctr"/>
          <a:lstStyle/>
          <a:p>
            <a:pPr algn="ctr"/>
          </a:p>
        </p:txBody>
      </p:sp>
      <p:sp>
        <p:nvSpPr>
          <p:cNvPr id="15" name="TextBox 14"/>
          <p:cNvSpPr txBox="1"/>
          <p:nvPr/>
        </p:nvSpPr>
        <p:spPr>
          <a:xfrm>
            <a:off x="8128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14</a:t>
            </a:r>
          </a:p>
        </p:txBody>
      </p:sp>
      <p:sp>
        <p:nvSpPr>
          <p:cNvPr id="16" name="TextBox 15"/>
          <p:cNvSpPr txBox="1"/>
          <p:nvPr/>
        </p:nvSpPr>
        <p:spPr>
          <a:xfrm>
            <a:off x="12700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Strategy and signals</a:t>
            </a:r>
          </a:p>
          <a:p>
            <a:pPr>
              <a:lnSpc>
                <a:spcPct val="108333"/>
              </a:lnSpc>
              <a:spcAft>
                <a:spcPts val="0"/>
              </a:spcAft>
            </a:pPr>
            <a:r>
              <a:rPr sz="1200" b="0">
                <a:solidFill>
                  <a:srgbClr val="475569"/>
                </a:solidFill>
                <a:latin typeface="IBM Plex Sans"/>
              </a:rPr>
              <a:t>Backtests and honest signal tests</a:t>
            </a:r>
          </a:p>
        </p:txBody>
      </p:sp>
      <p:sp>
        <p:nvSpPr>
          <p:cNvPr id="17" name="Rectangle 16"/>
          <p:cNvSpPr/>
          <p:nvPr/>
        </p:nvSpPr>
        <p:spPr>
          <a:xfrm>
            <a:off x="6299200" y="3517900"/>
            <a:ext cx="5080000" cy="6350"/>
          </a:xfrm>
          <a:prstGeom prst="rect">
            <a:avLst/>
          </a:prstGeom>
          <a:solidFill>
            <a:srgbClr val="E2E8F0"/>
          </a:solidFill>
          <a:ln>
            <a:noFill/>
          </a:ln>
          <a:effectLst/>
        </p:spPr>
        <p:txBody>
          <a:bodyPr rtlCol="0" anchor="ctr"/>
          <a:lstStyle/>
          <a:p>
            <a:pPr algn="ctr"/>
          </a:p>
        </p:txBody>
      </p:sp>
      <p:sp>
        <p:nvSpPr>
          <p:cNvPr id="18" name="TextBox 17"/>
          <p:cNvSpPr txBox="1"/>
          <p:nvPr/>
        </p:nvSpPr>
        <p:spPr>
          <a:xfrm>
            <a:off x="62992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15</a:t>
            </a:r>
          </a:p>
        </p:txBody>
      </p:sp>
      <p:sp>
        <p:nvSpPr>
          <p:cNvPr id="19" name="TextBox 18"/>
          <p:cNvSpPr txBox="1"/>
          <p:nvPr/>
        </p:nvSpPr>
        <p:spPr>
          <a:xfrm>
            <a:off x="67564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Engagement</a:t>
            </a:r>
          </a:p>
          <a:p>
            <a:pPr>
              <a:lnSpc>
                <a:spcPct val="108333"/>
              </a:lnSpc>
              <a:spcAft>
                <a:spcPts val="0"/>
              </a:spcAft>
            </a:pPr>
            <a:r>
              <a:rPr sz="1200" b="0">
                <a:solidFill>
                  <a:srgbClr val="475569"/>
                </a:solidFill>
                <a:latin typeface="IBM Plex Sans"/>
              </a:rPr>
              <a:t>One record per company, people at every gate</a:t>
            </a:r>
          </a:p>
        </p:txBody>
      </p:sp>
      <p:sp>
        <p:nvSpPr>
          <p:cNvPr id="20" name="Rectangle 19"/>
          <p:cNvSpPr/>
          <p:nvPr/>
        </p:nvSpPr>
        <p:spPr>
          <a:xfrm>
            <a:off x="6299200" y="4051300"/>
            <a:ext cx="5080000" cy="6350"/>
          </a:xfrm>
          <a:prstGeom prst="rect">
            <a:avLst/>
          </a:prstGeom>
          <a:solidFill>
            <a:srgbClr val="E2E8F0"/>
          </a:solidFill>
          <a:ln>
            <a:noFill/>
          </a:ln>
          <a:effectLst/>
        </p:spPr>
        <p:txBody>
          <a:bodyPr rtlCol="0" anchor="ctr"/>
          <a:lstStyle/>
          <a:p>
            <a:pPr algn="ctr"/>
          </a:p>
        </p:txBody>
      </p:sp>
      <p:sp>
        <p:nvSpPr>
          <p:cNvPr id="21" name="TextBox 20"/>
          <p:cNvSpPr txBox="1"/>
          <p:nvPr/>
        </p:nvSpPr>
        <p:spPr>
          <a:xfrm>
            <a:off x="62992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16</a:t>
            </a:r>
          </a:p>
        </p:txBody>
      </p:sp>
      <p:sp>
        <p:nvSpPr>
          <p:cNvPr id="22" name="TextBox 21"/>
          <p:cNvSpPr txBox="1"/>
          <p:nvPr/>
        </p:nvSpPr>
        <p:spPr>
          <a:xfrm>
            <a:off x="67564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Proxy voting</a:t>
            </a:r>
          </a:p>
          <a:p>
            <a:pPr>
              <a:lnSpc>
                <a:spcPct val="108333"/>
              </a:lnSpc>
              <a:spcAft>
                <a:spcPts val="0"/>
              </a:spcAft>
            </a:pPr>
            <a:r>
              <a:rPr sz="1200" b="0">
                <a:solidFill>
                  <a:srgbClr val="475569"/>
                </a:solidFill>
                <a:latin typeface="IBM Plex Sans"/>
              </a:rPr>
              <a:t>Rules before judgment, people before a vote</a:t>
            </a:r>
          </a:p>
        </p:txBody>
      </p:sp>
      <p:sp>
        <p:nvSpPr>
          <p:cNvPr id="23" name="Rectangle 22"/>
          <p:cNvSpPr/>
          <p:nvPr/>
        </p:nvSpPr>
        <p:spPr>
          <a:xfrm>
            <a:off x="6299200" y="4584700"/>
            <a:ext cx="5080000" cy="6350"/>
          </a:xfrm>
          <a:prstGeom prst="rect">
            <a:avLst/>
          </a:prstGeom>
          <a:solidFill>
            <a:srgbClr val="E2E8F0"/>
          </a:solidFill>
          <a:ln>
            <a:noFill/>
          </a:ln>
          <a:effectLst/>
        </p:spPr>
        <p:txBody>
          <a:bodyPr rtlCol="0" anchor="ctr"/>
          <a:lstStyle/>
          <a:p>
            <a:pPr algn="ctr"/>
          </a:p>
        </p:txBody>
      </p:sp>
      <p:sp>
        <p:nvSpPr>
          <p:cNvPr id="24" name="TextBox 23"/>
          <p:cNvSpPr txBox="1"/>
          <p:nvPr/>
        </p:nvSpPr>
        <p:spPr>
          <a:xfrm>
            <a:off x="62992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17</a:t>
            </a:r>
          </a:p>
        </p:txBody>
      </p:sp>
      <p:sp>
        <p:nvSpPr>
          <p:cNvPr id="25" name="TextBox 24"/>
          <p:cNvSpPr txBox="1"/>
          <p:nvPr/>
        </p:nvSpPr>
        <p:spPr>
          <a:xfrm>
            <a:off x="67564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RFP answers</a:t>
            </a:r>
          </a:p>
          <a:p>
            <a:pPr>
              <a:lnSpc>
                <a:spcPct val="108333"/>
              </a:lnSpc>
              <a:spcAft>
                <a:spcPts val="0"/>
              </a:spcAft>
            </a:pPr>
            <a:r>
              <a:rPr sz="1200" b="0">
                <a:solidFill>
                  <a:srgbClr val="475569"/>
                </a:solidFill>
                <a:latin typeface="IBM Plex Sans"/>
              </a:rPr>
              <a:t>Questionnaires from approved answers</a:t>
            </a:r>
          </a:p>
        </p:txBody>
      </p:sp>
      <p:sp>
        <p:nvSpPr>
          <p:cNvPr id="26" name="Rectangle 25"/>
          <p:cNvSpPr/>
          <p:nvPr/>
        </p:nvSpPr>
        <p:spPr>
          <a:xfrm>
            <a:off x="6299200" y="5118100"/>
            <a:ext cx="5080000" cy="6350"/>
          </a:xfrm>
          <a:prstGeom prst="rect">
            <a:avLst/>
          </a:prstGeom>
          <a:solidFill>
            <a:srgbClr val="E2E8F0"/>
          </a:solidFill>
          <a:ln>
            <a:noFill/>
          </a:ln>
          <a:effectLst/>
        </p:spPr>
        <p:txBody>
          <a:bodyPr rtlCol="0" anchor="ctr"/>
          <a:lstStyle/>
          <a:p>
            <a:pPr algn="ctr"/>
          </a:p>
        </p:txBody>
      </p:sp>
      <p:sp>
        <p:nvSpPr>
          <p:cNvPr id="27" name="TextBox 26"/>
          <p:cNvSpPr txBox="1"/>
          <p:nvPr/>
        </p:nvSpPr>
        <p:spPr>
          <a:xfrm>
            <a:off x="62992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18</a:t>
            </a:r>
          </a:p>
        </p:txBody>
      </p:sp>
      <p:sp>
        <p:nvSpPr>
          <p:cNvPr id="28" name="TextBox 27"/>
          <p:cNvSpPr txBox="1"/>
          <p:nvPr/>
        </p:nvSpPr>
        <p:spPr>
          <a:xfrm>
            <a:off x="67564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Reporting</a:t>
            </a:r>
          </a:p>
          <a:p>
            <a:pPr>
              <a:lnSpc>
                <a:spcPct val="108333"/>
              </a:lnSpc>
              <a:spcAft>
                <a:spcPts val="0"/>
              </a:spcAft>
            </a:pPr>
            <a:r>
              <a:rPr sz="1200" b="0">
                <a:solidFill>
                  <a:srgbClr val="475569"/>
                </a:solidFill>
                <a:latin typeface="IBM Plex Sans"/>
              </a:rPr>
              <a:t>Reports, house decks, dashboards</a:t>
            </a:r>
          </a:p>
        </p:txBody>
      </p:sp>
      <p:sp>
        <p:nvSpPr>
          <p:cNvPr id="29" name="TextBox 28"/>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0" name="TextBox 29"/>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11</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Portfolio risk and climate analytics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Holdings joined to company research. Every risk number is computed, and the query is shown beside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riefcas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Holdings intake</a:t>
            </a:r>
          </a:p>
          <a:p>
            <a:pPr algn="ctr">
              <a:lnSpc>
                <a:spcPct val="112500"/>
              </a:lnSpc>
              <a:spcAft>
                <a:spcPts val="0"/>
              </a:spcAft>
            </a:pPr>
            <a:r>
              <a:rPr sz="1200" b="0">
                <a:solidFill>
                  <a:srgbClr val="475569"/>
                </a:solidFill>
                <a:latin typeface="IBM Plex Sans"/>
              </a:rPr>
              <a:t>Monthly, mapped by ISIN via the security master</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list-ordered.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Data cascade</a:t>
            </a:r>
          </a:p>
          <a:p>
            <a:pPr algn="ctr">
              <a:lnSpc>
                <a:spcPct val="112500"/>
              </a:lnSpc>
              <a:spcAft>
                <a:spcPts val="0"/>
              </a:spcAft>
            </a:pPr>
            <a:r>
              <a:rPr sz="1200" b="0">
                <a:solidFill>
                  <a:srgbClr val="475569"/>
                </a:solidFill>
                <a:latin typeface="IBM Plex Sans"/>
              </a:rPr>
              <a:t>Extraction, exposure, catalogue, else missing</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sigma.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Aggregate</a:t>
            </a:r>
          </a:p>
          <a:p>
            <a:pPr algn="ctr">
              <a:lnSpc>
                <a:spcPct val="112500"/>
              </a:lnSpc>
              <a:spcAft>
                <a:spcPts val="0"/>
              </a:spcAft>
            </a:pPr>
            <a:r>
              <a:rPr sz="1200" b="0">
                <a:solidFill>
                  <a:srgbClr val="475569"/>
                </a:solidFill>
                <a:latin typeface="IBM Plex Sans"/>
              </a:rPr>
              <a:t>Group, weight, sum by any dimension</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bell-ring.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Monitoring</a:t>
            </a:r>
          </a:p>
          <a:p>
            <a:pPr algn="ctr">
              <a:lnSpc>
                <a:spcPct val="112500"/>
              </a:lnSpc>
              <a:spcAft>
                <a:spcPts val="0"/>
              </a:spcAft>
            </a:pPr>
            <a:r>
              <a:rPr sz="1200" b="0">
                <a:solidFill>
                  <a:srgbClr val="475569"/>
                </a:solidFill>
                <a:latin typeface="IBM Plex Sans"/>
              </a:rPr>
              <a:t>Monthly alerts and stewardship triggers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robot-message-circle-question.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Ask</a:t>
            </a:r>
          </a:p>
          <a:p>
            <a:pPr algn="ctr">
              <a:lnSpc>
                <a:spcPct val="112500"/>
              </a:lnSpc>
              <a:spcAft>
                <a:spcPts val="0"/>
              </a:spcAft>
            </a:pPr>
            <a:r>
              <a:rPr sz="1200" b="0">
                <a:solidFill>
                  <a:srgbClr val="475569"/>
                </a:solidFill>
                <a:latin typeface="IBM Plex Sans"/>
              </a:rPr>
              <a:t>The model drafts the query; the engine computes</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layout-dashboard-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Dashboards</a:t>
            </a:r>
          </a:p>
          <a:p>
            <a:pPr algn="ctr">
              <a:lnSpc>
                <a:spcPct val="112500"/>
              </a:lnSpc>
              <a:spcAft>
                <a:spcPts val="0"/>
              </a:spcAft>
            </a:pPr>
            <a:r>
              <a:rPr sz="1200" b="0">
                <a:solidFill>
                  <a:srgbClr val="475569"/>
                </a:solidFill>
                <a:latin typeface="IBM Plex Sans"/>
              </a:rPr>
              <a:t>Superset: exposure, WACI, financed emissions</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leaf-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CLIMATE</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WACI and PCAF-style financed emissions, with coverage shown beside every figure.</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octagon-x-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BLOCKED, NOT GUESSED</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Monitoring runs only when the month's holdings and ESG loads are good. A re-run adds nothing twice.</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model inside an aggregate. Missing data counts against coverage, never imputed.</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32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12</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Decision Studio: scored, ranked, tiered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Any per-entity table becomes a decision about companies, sectors, themes or strategies. Zero model calls.</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tabl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Table</a:t>
            </a:r>
          </a:p>
          <a:p>
            <a:pPr algn="ctr">
              <a:lnSpc>
                <a:spcPct val="112500"/>
              </a:lnSpc>
              <a:spcAft>
                <a:spcPts val="0"/>
              </a:spcAft>
            </a:pPr>
            <a:r>
              <a:rPr sz="1200" b="0">
                <a:solidFill>
                  <a:srgbClr val="475569"/>
                </a:solidFill>
                <a:latin typeface="IBM Plex Sans"/>
              </a:rPr>
              <a:t>From an ARP run or an upload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table-properties.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Profile</a:t>
            </a:r>
          </a:p>
          <a:p>
            <a:pPr algn="ctr">
              <a:lnSpc>
                <a:spcPct val="112500"/>
              </a:lnSpc>
              <a:spcAft>
                <a:spcPts val="0"/>
              </a:spcAft>
            </a:pPr>
            <a:r>
              <a:rPr sz="1200" b="0">
                <a:solidFill>
                  <a:srgbClr val="475569"/>
                </a:solidFill>
                <a:latin typeface="IBM Plex Sans"/>
              </a:rPr>
              <a:t>Direction inferred, flagged where it is a guess</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group.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Normalise, group</a:t>
            </a:r>
          </a:p>
          <a:p>
            <a:pPr algn="ctr">
              <a:lnSpc>
                <a:spcPct val="112500"/>
              </a:lnSpc>
              <a:spcAft>
                <a:spcPts val="0"/>
              </a:spcAft>
            </a:pPr>
            <a:r>
              <a:rPr sz="1200" b="0">
                <a:solidFill>
                  <a:srgbClr val="475569"/>
                </a:solidFill>
                <a:latin typeface="IBM Plex Sans"/>
              </a:rPr>
              <a:t>Peer cohorts; correlated criteria grouped</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filter.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Gates, then score</a:t>
            </a:r>
          </a:p>
          <a:p>
            <a:pPr algn="ctr">
              <a:lnSpc>
                <a:spcPct val="112500"/>
              </a:lnSpc>
              <a:spcAft>
                <a:spcPts val="0"/>
              </a:spcAft>
            </a:pPr>
            <a:r>
              <a:rPr sz="1200" b="0">
                <a:solidFill>
                  <a:srgbClr val="475569"/>
                </a:solidFill>
                <a:latin typeface="IBM Plex Sans"/>
              </a:rPr>
              <a:t>Hard gates resolve before the average</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chart-bar.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Tiers, stability</a:t>
            </a:r>
          </a:p>
          <a:p>
            <a:pPr algn="ctr">
              <a:lnSpc>
                <a:spcPct val="112500"/>
              </a:lnSpc>
              <a:spcAft>
                <a:spcPts val="0"/>
              </a:spcAft>
            </a:pPr>
            <a:r>
              <a:rPr sz="1200" b="0">
                <a:solidFill>
                  <a:srgbClr val="475569"/>
                </a:solidFill>
                <a:latin typeface="IBM Plex Sans"/>
              </a:rPr>
              <a:t>Decision tree; rank range over four specs</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pic>
        <p:nvPicPr>
          <p:cNvPr id="26" name="Picture 25" descr="fig-person-badge-check.png"/>
          <p:cNvPicPr>
            <a:picLocks noChangeAspect="1"/>
          </p:cNvPicPr>
          <p:nvPr/>
        </p:nvPicPr>
        <p:blipFill>
          <a:blip r:embed="rId8"/>
          <a:stretch>
            <a:fillRect/>
          </a:stretch>
        </p:blipFill>
        <p:spPr>
          <a:xfrm>
            <a:off x="10219267" y="2101850"/>
            <a:ext cx="558800" cy="558800"/>
          </a:xfrm>
          <a:prstGeom prst="rect">
            <a:avLst/>
          </a:prstGeom>
        </p:spPr>
      </p:pic>
      <p:sp>
        <p:nvSpPr>
          <p:cNvPr id="27" name="TextBox 26"/>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Ratify framework</a:t>
            </a:r>
          </a:p>
          <a:p>
            <a:pPr algn="ctr">
              <a:lnSpc>
                <a:spcPct val="112500"/>
              </a:lnSpc>
              <a:spcAft>
                <a:spcPts val="0"/>
              </a:spcAft>
            </a:pPr>
            <a:r>
              <a:rPr sz="1200" b="0">
                <a:solidFill>
                  <a:srgbClr val="475569"/>
                </a:solidFill>
                <a:latin typeface="IBM Plex Sans"/>
              </a:rPr>
              <a:t>Versioned; applied unchanged next quarter</a:t>
            </a:r>
          </a:p>
        </p:txBody>
      </p:sp>
      <p:sp>
        <p:nvSpPr>
          <p:cNvPr id="28" name="Rounded Rectangle 27"/>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29" name="Oval 28"/>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0" name="Picture 29" descr="group-0F172A.png"/>
          <p:cNvPicPr>
            <a:picLocks noChangeAspect="1"/>
          </p:cNvPicPr>
          <p:nvPr/>
        </p:nvPicPr>
        <p:blipFill>
          <a:blip r:embed="rId9"/>
          <a:stretch>
            <a:fillRect/>
          </a:stretch>
        </p:blipFill>
        <p:spPr>
          <a:xfrm>
            <a:off x="1041400" y="4635500"/>
            <a:ext cx="152400" cy="152400"/>
          </a:xfrm>
          <a:prstGeom prst="rect">
            <a:avLst/>
          </a:prstGeom>
        </p:spPr>
      </p:pic>
      <p:sp>
        <p:nvSpPr>
          <p:cNvPr id="31" name="TextBox 30"/>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GROUP CRITERIA</a:t>
            </a:r>
          </a:p>
        </p:txBody>
      </p:sp>
      <p:sp>
        <p:nvSpPr>
          <p:cNvPr id="32" name="TextBox 31"/>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One theme measured seven ways does not earn seven times the weight.</a:t>
            </a:r>
          </a:p>
        </p:txBody>
      </p:sp>
      <p:sp>
        <p:nvSpPr>
          <p:cNvPr id="33" name="Rounded Rectangle 32"/>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5" name="Picture 34" descr="history-0F172A.png"/>
          <p:cNvPicPr>
            <a:picLocks noChangeAspect="1"/>
          </p:cNvPicPr>
          <p:nvPr/>
        </p:nvPicPr>
        <p:blipFill>
          <a:blip r:embed="rId10"/>
          <a:stretch>
            <a:fillRect/>
          </a:stretch>
        </p:blipFill>
        <p:spPr>
          <a:xfrm>
            <a:off x="4614333" y="4635500"/>
            <a:ext cx="152400" cy="152400"/>
          </a:xfrm>
          <a:prstGeom prst="rect">
            <a:avLst/>
          </a:prstGeom>
        </p:spPr>
      </p:pic>
      <p:sp>
        <p:nvSpPr>
          <p:cNvPr id="36" name="TextBox 35"/>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AUDIT</a:t>
            </a:r>
          </a:p>
        </p:txBody>
      </p:sp>
      <p:sp>
        <p:nvSpPr>
          <p:cNvPr id="37" name="TextBox 36"/>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audit log separates what the data proposed from what a person changed.</a:t>
            </a:r>
          </a:p>
        </p:txBody>
      </p:sp>
      <p:sp>
        <p:nvSpPr>
          <p:cNvPr id="38" name="Rounded Rectangle 37"/>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0" name="Picture 39" descr="monitor-0F172A.png"/>
          <p:cNvPicPr>
            <a:picLocks noChangeAspect="1"/>
          </p:cNvPicPr>
          <p:nvPr/>
        </p:nvPicPr>
        <p:blipFill>
          <a:blip r:embed="rId11"/>
          <a:stretch>
            <a:fillRect/>
          </a:stretch>
        </p:blipFill>
        <p:spPr>
          <a:xfrm>
            <a:off x="8187267" y="4635500"/>
            <a:ext cx="152400" cy="152400"/>
          </a:xfrm>
          <a:prstGeom prst="rect">
            <a:avLst/>
          </a:prstGeom>
        </p:spPr>
      </p:pic>
      <p:sp>
        <p:nvSpPr>
          <p:cNvPr id="41" name="TextBox 40"/>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SURFACES</a:t>
            </a:r>
          </a:p>
        </p:txBody>
      </p:sp>
      <p:sp>
        <p:nvSpPr>
          <p:cNvPr id="42" name="TextBox 41"/>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Eight tabs in the app; the same engine in the API and CLI.</a:t>
            </a:r>
          </a:p>
        </p:txBody>
      </p:sp>
      <p:sp>
        <p:nvSpPr>
          <p:cNvPr id="43" name="TextBox 4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4" name="TextBox 4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33 / 40</a:t>
            </a:r>
          </a:p>
        </p:txBody>
      </p:sp>
      <p:sp>
        <p:nvSpPr>
          <p:cNvPr id="45" name="Oval 44"/>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6" name="TextBox 45"/>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7" name="Oval 46"/>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8" name="TextBox 47"/>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49" name="Oval 48"/>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0" name="TextBox 49"/>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13</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Index construction</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Compose named rules into a methodology. Every stage leaves a trace a committee can review.</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lob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a:t>
            </a:r>
          </a:p>
          <a:p>
            <a:pPr algn="ctr">
              <a:lnSpc>
                <a:spcPct val="112500"/>
              </a:lnSpc>
              <a:spcAft>
                <a:spcPts val="0"/>
              </a:spcAft>
            </a:pPr>
            <a:r>
              <a:rPr sz="1200" b="0">
                <a:solidFill>
                  <a:srgbClr val="475569"/>
                </a:solidFill>
                <a:latin typeface="IBM Plex Sans"/>
              </a:rPr>
              <a:t>Price, FX, shares, free float, sector, metrics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filter.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Screens</a:t>
            </a:r>
          </a:p>
          <a:p>
            <a:pPr algn="ctr">
              <a:lnSpc>
                <a:spcPct val="112500"/>
              </a:lnSpc>
              <a:spcAft>
                <a:spcPts val="0"/>
              </a:spcAft>
            </a:pPr>
            <a:r>
              <a:rPr sz="1200" b="0">
                <a:solidFill>
                  <a:srgbClr val="475569"/>
                </a:solidFill>
                <a:latin typeface="IBM Plex Sans"/>
              </a:rPr>
              <a:t>Ordered exclusions</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sliders-horizontal.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weight</a:t>
            </a:r>
          </a:p>
          <a:p>
            <a:pPr algn="ctr">
              <a:lnSpc>
                <a:spcPct val="112500"/>
              </a:lnSpc>
              <a:spcAft>
                <a:spcPts val="0"/>
              </a:spcAft>
            </a:pPr>
            <a:r>
              <a:rPr sz="1200" b="0">
                <a:solidFill>
                  <a:srgbClr val="475569"/>
                </a:solidFill>
                <a:latin typeface="IBM Plex Sans"/>
              </a:rPr>
              <a:t>Coverage target with buffers, or top-N; tilts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chart-pi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Cap</a:t>
            </a:r>
          </a:p>
          <a:p>
            <a:pPr algn="ctr">
              <a:lnSpc>
                <a:spcPct val="112500"/>
              </a:lnSpc>
              <a:spcAft>
                <a:spcPts val="0"/>
              </a:spcAft>
            </a:pPr>
            <a:r>
              <a:rPr sz="1200" b="0">
                <a:solidFill>
                  <a:srgbClr val="475569"/>
                </a:solidFill>
                <a:latin typeface="IBM Plex Sans"/>
              </a:rPr>
              <a:t>Single name, group, UCITS 5/10/40</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trending-down.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Trajectory</a:t>
            </a:r>
          </a:p>
          <a:p>
            <a:pPr algn="ctr">
              <a:lnSpc>
                <a:spcPct val="112500"/>
              </a:lnSpc>
              <a:spcAft>
                <a:spcPts val="0"/>
              </a:spcAft>
            </a:pPr>
            <a:r>
              <a:rPr sz="1200" b="0">
                <a:solidFill>
                  <a:srgbClr val="475569"/>
                </a:solidFill>
                <a:latin typeface="IBM Plex Sans"/>
              </a:rPr>
              <a:t>EU PAB or CTB decarbonisation path</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user-check-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Constituents, divisor, turnover, stage trace</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calendar-clock-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CALIBRATIONS</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Versioned and effective-dated: a review uses the version in force on its review date.</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calculator-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SOLVERS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Optional convex or mixed-integer solvers; every constraint is re-checked in Python.</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model calls in the numbers. A thematic score enters only as a frozen, dated snapshot.</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34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14</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Strategy replication and signals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Reduce a paper to an executable spec, backtest it out of sample, and test text signals without look-ahead.</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Paper</a:t>
            </a:r>
          </a:p>
          <a:p>
            <a:pPr algn="ctr">
              <a:lnSpc>
                <a:spcPct val="112500"/>
              </a:lnSpc>
              <a:spcAft>
                <a:spcPts val="0"/>
              </a:spcAft>
            </a:pPr>
            <a:r>
              <a:rPr sz="1200" b="0">
                <a:solidFill>
                  <a:srgbClr val="475569"/>
                </a:solidFill>
                <a:latin typeface="IBM Plex Sans"/>
              </a:rPr>
              <a:t>Found by literature discovery, or uploaded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scroll-text.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Strategy spec</a:t>
            </a:r>
          </a:p>
          <a:p>
            <a:pPr algn="ctr">
              <a:lnSpc>
                <a:spcPct val="112500"/>
              </a:lnSpc>
              <a:spcAft>
                <a:spcPts val="0"/>
              </a:spcAft>
            </a:pPr>
            <a:r>
              <a:rPr sz="1200" b="0">
                <a:solidFill>
                  <a:srgbClr val="475569"/>
                </a:solidFill>
                <a:latin typeface="IBM Plex Sans"/>
              </a:rPr>
              <a:t>Extracted, verified and grounded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chart-line.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Backtest</a:t>
            </a:r>
          </a:p>
          <a:p>
            <a:pPr algn="ctr">
              <a:lnSpc>
                <a:spcPct val="112500"/>
              </a:lnSpc>
              <a:spcAft>
                <a:spcPts val="0"/>
              </a:spcAft>
            </a:pPr>
            <a:r>
              <a:rPr sz="1200" b="0">
                <a:solidFill>
                  <a:srgbClr val="475569"/>
                </a:solidFill>
                <a:latin typeface="IBM Plex Sans"/>
              </a:rPr>
              <a:t>In-sample and out-of-sample windows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flask-conical.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Rigor checks</a:t>
            </a:r>
          </a:p>
          <a:p>
            <a:pPr algn="ctr">
              <a:lnSpc>
                <a:spcPct val="112500"/>
              </a:lnSpc>
              <a:spcAft>
                <a:spcPts val="0"/>
              </a:spcAft>
            </a:pPr>
            <a:r>
              <a:rPr sz="1200" b="0">
                <a:solidFill>
                  <a:srgbClr val="475569"/>
                </a:solidFill>
                <a:latin typeface="IBM Plex Sans"/>
              </a:rPr>
              <a:t>Deflated Sharpe, PBO by purged CSCV, regimes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user-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Graduate or shelve</a:t>
            </a:r>
          </a:p>
          <a:p>
            <a:pPr algn="ctr">
              <a:lnSpc>
                <a:spcPct val="112500"/>
              </a:lnSpc>
              <a:spcAft>
                <a:spcPts val="0"/>
              </a:spcAft>
            </a:pPr>
            <a:r>
              <a:rPr sz="1200" b="0">
                <a:solidFill>
                  <a:srgbClr val="475569"/>
                </a:solidFill>
                <a:latin typeface="IBM Plex Sans"/>
              </a:rPr>
              <a:t>A person records the decision</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send-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Hand over</a:t>
            </a:r>
          </a:p>
          <a:p>
            <a:pPr algn="ctr">
              <a:lnSpc>
                <a:spcPct val="112500"/>
              </a:lnSpc>
              <a:spcAft>
                <a:spcPts val="0"/>
              </a:spcAft>
            </a:pPr>
            <a:r>
              <a:rPr sz="1200" b="0">
                <a:solidFill>
                  <a:srgbClr val="475569"/>
                </a:solidFill>
                <a:latin typeface="IBM Plex Sans"/>
              </a:rPr>
              <a:t>To Decision Studio and index construction</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flask-conical-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SIGNALS WORKBENCH</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Point-in-time text store, training-cutoff checks, rank-IC and an experiment registry.</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monitor-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IN THE APP</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Only model-free methods run in the app; LLM, FinBERT and embedding recipes run from the CLI.</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preview is unregistered and is not evidence. Every stage is stored with the run.</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35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15</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Engagement: on the record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One record per company, a state machine rather than a chatbot, and a person at every outside contact.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ell-ring-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Triggers</a:t>
            </a:r>
          </a:p>
          <a:p>
            <a:pPr algn="ctr">
              <a:lnSpc>
                <a:spcPct val="112500"/>
              </a:lnSpc>
              <a:spcAft>
                <a:spcPts val="0"/>
              </a:spcAft>
            </a:pPr>
            <a:r>
              <a:rPr sz="1200" b="0">
                <a:solidFill>
                  <a:srgbClr val="475569"/>
                </a:solidFill>
                <a:latin typeface="IBM Plex Sans"/>
              </a:rPr>
              <a:t>Controversies, monitoring alerts, 45-day stall sweep</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workflow.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Next action</a:t>
            </a:r>
          </a:p>
          <a:p>
            <a:pPr algn="ctr">
              <a:lnSpc>
                <a:spcPct val="112500"/>
              </a:lnSpc>
              <a:spcAft>
                <a:spcPts val="0"/>
              </a:spcAft>
            </a:pPr>
            <a:r>
              <a:rPr sz="1200" b="0">
                <a:solidFill>
                  <a:srgbClr val="475569"/>
                </a:solidFill>
                <a:latin typeface="IBM Plex Sans"/>
              </a:rPr>
              <a:t>A pure function over one issue</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book-open-text.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Research dossier</a:t>
            </a:r>
          </a:p>
          <a:p>
            <a:pPr algn="ctr">
              <a:lnSpc>
                <a:spcPct val="112500"/>
              </a:lnSpc>
              <a:spcAft>
                <a:spcPts val="0"/>
              </a:spcAft>
            </a:pPr>
            <a:r>
              <a:rPr sz="1200" b="0">
                <a:solidFill>
                  <a:srgbClr val="475569"/>
                </a:solidFill>
                <a:latin typeface="IBM Plex Sans"/>
              </a:rPr>
              <a:t>Grounded in the company's own disclosures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pen-lin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Draft</a:t>
            </a:r>
          </a:p>
          <a:p>
            <a:pPr algn="ctr">
              <a:lnSpc>
                <a:spcPct val="112500"/>
              </a:lnSpc>
              <a:spcAft>
                <a:spcPts val="0"/>
              </a:spcAft>
            </a:pPr>
            <a:r>
              <a:rPr sz="1200" b="0">
                <a:solidFill>
                  <a:srgbClr val="475569"/>
                </a:solidFill>
                <a:latin typeface="IBM Plex Sans"/>
              </a:rPr>
              <a:t>Letter, talking points, meeting summary</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user-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Validate</a:t>
            </a:r>
          </a:p>
          <a:p>
            <a:pPr algn="ctr">
              <a:lnSpc>
                <a:spcPct val="112500"/>
              </a:lnSpc>
              <a:spcAft>
                <a:spcPts val="0"/>
              </a:spcAft>
            </a:pPr>
            <a:r>
              <a:rPr sz="1200" b="0">
                <a:solidFill>
                  <a:srgbClr val="475569"/>
                </a:solidFill>
                <a:latin typeface="IBM Plex Sans"/>
              </a:rPr>
              <a:t>Notes validated; escalation decided by name</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notebook-pen-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Record</a:t>
            </a:r>
          </a:p>
          <a:p>
            <a:pPr algn="ctr">
              <a:lnSpc>
                <a:spcPct val="112500"/>
              </a:lnSpc>
              <a:spcAft>
                <a:spcPts val="0"/>
              </a:spcAft>
            </a:pPr>
            <a:r>
              <a:rPr sz="1200" b="0">
                <a:solidFill>
                  <a:srgbClr val="475569"/>
                </a:solidFill>
                <a:latin typeface="IBM Plex Sans"/>
              </a:rPr>
              <a:t>Six milestone stages, append-only audit</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trending-up-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ESCALATION</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seven-step ladder from private engagement to a public statement. The orchestrator never escalates.</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mail-x-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NOTHING IS SENT</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system logs outreach; a person sends it.</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activity-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STATUS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Steward Workflow covers the target operating model in part; each metric shows live, sample or not built.</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36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16</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Proxy voting: rules before judgment</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recommendation is never a vote. Every proposal gets a human decision before anything is cast.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Proxy statement</a:t>
            </a:r>
          </a:p>
          <a:p>
            <a:pPr algn="ctr">
              <a:lnSpc>
                <a:spcPct val="112500"/>
              </a:lnSpc>
              <a:spcAft>
                <a:spcPts val="0"/>
              </a:spcAft>
            </a:pPr>
            <a:r>
              <a:rPr sz="1200" b="0">
                <a:solidFill>
                  <a:srgbClr val="475569"/>
                </a:solidFill>
                <a:latin typeface="IBM Plex Sans"/>
              </a:rPr>
              <a:t>DEF 14A from the document registry</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scan-text.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Proposals</a:t>
            </a:r>
          </a:p>
          <a:p>
            <a:pPr algn="ctr">
              <a:lnSpc>
                <a:spcPct val="112500"/>
              </a:lnSpc>
              <a:spcAft>
                <a:spcPts val="0"/>
              </a:spcAft>
            </a:pPr>
            <a:r>
              <a:rPr sz="1200" b="0">
                <a:solidFill>
                  <a:srgbClr val="475569"/>
                </a:solidFill>
                <a:latin typeface="IBM Plex Sans"/>
              </a:rPr>
              <a:t>One extraction pass, citations grounded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book-open.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House rules</a:t>
            </a:r>
          </a:p>
          <a:p>
            <a:pPr algn="ctr">
              <a:lnSpc>
                <a:spcPct val="112500"/>
              </a:lnSpc>
              <a:spcAft>
                <a:spcPts val="0"/>
              </a:spcAft>
            </a:pPr>
            <a:r>
              <a:rPr sz="1200" b="0">
                <a:solidFill>
                  <a:srgbClr val="475569"/>
                </a:solidFill>
                <a:latin typeface="IBM Plex Sans"/>
              </a:rPr>
              <a:t>Ordered predicates on disclosed figures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l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Judgment</a:t>
            </a:r>
          </a:p>
          <a:p>
            <a:pPr algn="ctr">
              <a:lnSpc>
                <a:spcPct val="112500"/>
              </a:lnSpc>
              <a:spcAft>
                <a:spcPts val="0"/>
              </a:spcAft>
            </a:pPr>
            <a:r>
              <a:rPr sz="1200" b="0">
                <a:solidFill>
                  <a:srgbClr val="475569"/>
                </a:solidFill>
                <a:latin typeface="IBM Plex Sans"/>
              </a:rPr>
              <a:t>Only when no rule fires; cited rationale</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git-compare.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Cross-check</a:t>
            </a:r>
          </a:p>
          <a:p>
            <a:pPr algn="ctr">
              <a:lnSpc>
                <a:spcPct val="112500"/>
              </a:lnSpc>
              <a:spcAft>
                <a:spcPts val="0"/>
              </a:spcAft>
            </a:pPr>
            <a:r>
              <a:rPr sz="1200" b="0">
                <a:solidFill>
                  <a:srgbClr val="475569"/>
                </a:solidFill>
                <a:latin typeface="IBM Plex Sans"/>
              </a:rPr>
              <a:t>Against the engagement record</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pic>
        <p:nvPicPr>
          <p:cNvPr id="26" name="Picture 25" descr="fig-person-user-check.png"/>
          <p:cNvPicPr>
            <a:picLocks noChangeAspect="1"/>
          </p:cNvPicPr>
          <p:nvPr/>
        </p:nvPicPr>
        <p:blipFill>
          <a:blip r:embed="rId8"/>
          <a:stretch>
            <a:fillRect/>
          </a:stretch>
        </p:blipFill>
        <p:spPr>
          <a:xfrm>
            <a:off x="10219267" y="2101850"/>
            <a:ext cx="558800" cy="558800"/>
          </a:xfrm>
          <a:prstGeom prst="rect">
            <a:avLst/>
          </a:prstGeom>
        </p:spPr>
      </p:pic>
      <p:sp>
        <p:nvSpPr>
          <p:cNvPr id="27" name="TextBox 26"/>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Decide</a:t>
            </a:r>
          </a:p>
          <a:p>
            <a:pPr algn="ctr">
              <a:lnSpc>
                <a:spcPct val="112500"/>
              </a:lnSpc>
              <a:spcAft>
                <a:spcPts val="0"/>
              </a:spcAft>
            </a:pPr>
            <a:r>
              <a:rPr sz="1200" b="0">
                <a:solidFill>
                  <a:srgbClr val="475569"/>
                </a:solidFill>
                <a:latin typeface="IBM Plex Sans"/>
              </a:rPr>
              <a:t>Every proposal; a co-signer when flagged</a:t>
            </a:r>
          </a:p>
        </p:txBody>
      </p:sp>
      <p:sp>
        <p:nvSpPr>
          <p:cNvPr id="28" name="Rounded Rectangle 27"/>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29" name="Oval 28"/>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0" name="Picture 29" descr="lock-0F172A.png"/>
          <p:cNvPicPr>
            <a:picLocks noChangeAspect="1"/>
          </p:cNvPicPr>
          <p:nvPr/>
        </p:nvPicPr>
        <p:blipFill>
          <a:blip r:embed="rId9"/>
          <a:stretch>
            <a:fillRect/>
          </a:stretch>
        </p:blipFill>
        <p:spPr>
          <a:xfrm>
            <a:off x="1041400" y="4413250"/>
            <a:ext cx="152400" cy="152400"/>
          </a:xfrm>
          <a:prstGeom prst="rect">
            <a:avLst/>
          </a:prstGeom>
        </p:spPr>
      </p:pic>
      <p:sp>
        <p:nvSpPr>
          <p:cNvPr id="31" name="TextBox 30"/>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THE GATE</a:t>
            </a:r>
          </a:p>
        </p:txBody>
      </p:sp>
      <p:sp>
        <p:nvSpPr>
          <p:cNvPr id="32" name="TextBox 31"/>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refuses without a human decision, and refuses a flagged vote without a different co-signer.</a:t>
            </a:r>
          </a:p>
        </p:txBody>
      </p:sp>
      <p:sp>
        <p:nvSpPr>
          <p:cNvPr id="33" name="Rounded Rectangle 32"/>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5" name="Picture 34" descr="send-0F172A.png"/>
          <p:cNvPicPr>
            <a:picLocks noChangeAspect="1"/>
          </p:cNvPicPr>
          <p:nvPr/>
        </p:nvPicPr>
        <p:blipFill>
          <a:blip r:embed="rId10"/>
          <a:stretch>
            <a:fillRect/>
          </a:stretch>
        </p:blipFill>
        <p:spPr>
          <a:xfrm>
            <a:off x="4614333" y="4413250"/>
            <a:ext cx="152400" cy="152400"/>
          </a:xfrm>
          <a:prstGeom prst="rect">
            <a:avLst/>
          </a:prstGeom>
        </p:spPr>
      </p:pic>
      <p:sp>
        <p:nvSpPr>
          <p:cNvPr id="36" name="TextBox 35"/>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CASTING TODAY</a:t>
            </a:r>
          </a:p>
        </p:txBody>
      </p:sp>
      <p:sp>
        <p:nvSpPr>
          <p:cNvPr id="37" name="TextBox 36"/>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writes an instruction file; no voting platform is connected.</a:t>
            </a:r>
          </a:p>
        </p:txBody>
      </p:sp>
      <p:sp>
        <p:nvSpPr>
          <p:cNvPr id="38" name="Rounded Rectangle 37"/>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0" name="Picture 39"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1" name="TextBox 40"/>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2" name="TextBox 41"/>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is idempotent and checkpointed, so a re-run never votes twice.</a:t>
            </a:r>
          </a:p>
        </p:txBody>
      </p:sp>
      <p:sp>
        <p:nvSpPr>
          <p:cNvPr id="43" name="TextBox 4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4" name="TextBox 4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37 / 40</a:t>
            </a:r>
          </a:p>
        </p:txBody>
      </p:sp>
      <p:sp>
        <p:nvSpPr>
          <p:cNvPr id="45" name="Oval 44"/>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6" name="TextBox 45"/>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7" name="Oval 46"/>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8" name="TextBox 47"/>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49" name="Oval 48"/>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0" name="TextBox 49"/>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17</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RFP answers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Fill an investor's questionnaire from the house's own approved answers, and return it in their file.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library-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Answer library</a:t>
            </a:r>
          </a:p>
          <a:p>
            <a:pPr algn="ctr">
              <a:lnSpc>
                <a:spcPct val="112500"/>
              </a:lnSpc>
              <a:spcAft>
                <a:spcPts val="0"/>
              </a:spcAft>
            </a:pPr>
            <a:r>
              <a:rPr sz="1200" b="0">
                <a:solidFill>
                  <a:srgbClr val="475569"/>
                </a:solidFill>
                <a:latin typeface="IBM Plex Sans"/>
              </a:rPr>
              <a:t>Past Word and Excel responses, verbatim</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file-search.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Find questions</a:t>
            </a:r>
          </a:p>
          <a:p>
            <a:pPr algn="ctr">
              <a:lnSpc>
                <a:spcPct val="112500"/>
              </a:lnSpc>
              <a:spcAft>
                <a:spcPts val="0"/>
              </a:spcAft>
            </a:pPr>
            <a:r>
              <a:rPr sz="1200" b="0">
                <a:solidFill>
                  <a:srgbClr val="475569"/>
                </a:solidFill>
                <a:latin typeface="IBM Plex Sans"/>
              </a:rPr>
              <a:t>Kept only where code can locate them</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pen-line.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Auto-fill</a:t>
            </a:r>
          </a:p>
          <a:p>
            <a:pPr algn="ctr">
              <a:lnSpc>
                <a:spcPct val="112500"/>
              </a:lnSpc>
              <a:spcAft>
                <a:spcPts val="0"/>
              </a:spcAft>
            </a:pPr>
            <a:r>
              <a:rPr sz="1200" b="0">
                <a:solidFill>
                  <a:srgbClr val="475569"/>
                </a:solidFill>
                <a:latin typeface="IBM Plex Sans"/>
              </a:rPr>
              <a:t>Drafts from the top 8 library entries only</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shield-check.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Check</a:t>
            </a:r>
          </a:p>
          <a:p>
            <a:pPr algn="ctr">
              <a:lnSpc>
                <a:spcPct val="112500"/>
              </a:lnSpc>
              <a:spcAft>
                <a:spcPts val="0"/>
              </a:spcAft>
            </a:pPr>
            <a:r>
              <a:rPr sz="1200" b="0">
                <a:solidFill>
                  <a:srgbClr val="475569"/>
                </a:solidFill>
                <a:latin typeface="IBM Plex Sans"/>
              </a:rPr>
              <a:t>Quotes grounded; numbers must appear in a source</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users.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Four-eyes</a:t>
            </a:r>
          </a:p>
          <a:p>
            <a:pPr algn="ctr">
              <a:lnSpc>
                <a:spcPct val="112500"/>
              </a:lnSpc>
              <a:spcAft>
                <a:spcPts val="0"/>
              </a:spcAft>
            </a:pPr>
            <a:r>
              <a:rPr sz="1200" b="0">
                <a:solidFill>
                  <a:srgbClr val="475569"/>
                </a:solidFill>
                <a:latin typeface="IBM Plex Sans"/>
              </a:rPr>
              <a:t>Approver is not the last editor</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file-output-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Export</a:t>
            </a:r>
          </a:p>
          <a:p>
            <a:pPr algn="ctr">
              <a:lnSpc>
                <a:spcPct val="112500"/>
              </a:lnSpc>
              <a:spcAft>
                <a:spcPts val="0"/>
              </a:spcAft>
            </a:pPr>
            <a:r>
              <a:rPr sz="1200" b="0">
                <a:solidFill>
                  <a:srgbClr val="475569"/>
                </a:solidFill>
                <a:latin typeface="IBM Plex Sans"/>
              </a:rPr>
              <a:t>Approved answers in the investor's own file</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library-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LIBRARY</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Approved answers go back into the library with a review-by date 12 months out.</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flag-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FLAGS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flag, such as 'check figure' or 'stale source', must be confirmed by the approver.</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draft with an unsupported number is discarded. Library edits are approver-only.</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38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18</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Reports, house decks and dashboards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model plans the story; renderers and Superset produce every page and every number.</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databas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Stored outputs</a:t>
            </a:r>
          </a:p>
          <a:p>
            <a:pPr algn="ctr">
              <a:lnSpc>
                <a:spcPct val="112500"/>
              </a:lnSpc>
              <a:spcAft>
                <a:spcPts val="0"/>
              </a:spcAft>
            </a:pPr>
            <a:r>
              <a:rPr sz="1200" b="0">
                <a:solidFill>
                  <a:srgbClr val="475569"/>
                </a:solidFill>
                <a:latin typeface="IBM Plex Sans"/>
              </a:rPr>
              <a:t>Runs and decisions from the catalogue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presentation.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Storyline</a:t>
            </a:r>
          </a:p>
          <a:p>
            <a:pPr algn="ctr">
              <a:lnSpc>
                <a:spcPct val="112500"/>
              </a:lnSpc>
              <a:spcAft>
                <a:spcPts val="0"/>
              </a:spcAft>
            </a:pPr>
            <a:r>
              <a:rPr sz="1200" b="0">
                <a:solidFill>
                  <a:srgbClr val="475569"/>
                </a:solidFill>
                <a:latin typeface="IBM Plex Sans"/>
              </a:rPr>
              <a:t>A drafted plan of slides</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person-user-check.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Approve</a:t>
            </a:r>
          </a:p>
          <a:p>
            <a:pPr algn="ctr">
              <a:lnSpc>
                <a:spcPct val="112500"/>
              </a:lnSpc>
              <a:spcAft>
                <a:spcPts val="0"/>
              </a:spcAft>
            </a:pPr>
            <a:r>
              <a:rPr sz="1200" b="0">
                <a:solidFill>
                  <a:srgbClr val="475569"/>
                </a:solidFill>
                <a:latin typeface="IBM Plex Sans"/>
              </a:rPr>
              <a:t>Edit or accept the storyline</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wand-sparkles.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Fill and check</a:t>
            </a:r>
          </a:p>
          <a:p>
            <a:pPr algn="ctr">
              <a:lnSpc>
                <a:spcPct val="112500"/>
              </a:lnSpc>
              <a:spcAft>
                <a:spcPts val="0"/>
              </a:spcAft>
            </a:pPr>
            <a:r>
              <a:rPr sz="1200" b="0">
                <a:solidFill>
                  <a:srgbClr val="475569"/>
                </a:solidFill>
                <a:latin typeface="IBM Plex Sans"/>
              </a:rPr>
              <a:t>Each slide filled, linted, fitted, checked</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file-output.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Render</a:t>
            </a:r>
          </a:p>
          <a:p>
            <a:pPr algn="ctr">
              <a:lnSpc>
                <a:spcPct val="112500"/>
              </a:lnSpc>
              <a:spcAft>
                <a:spcPts val="0"/>
              </a:spcAft>
            </a:pPr>
            <a:r>
              <a:rPr sz="1200" b="0">
                <a:solidFill>
                  <a:srgbClr val="475569"/>
                </a:solidFill>
                <a:latin typeface="IBM Plex Sans"/>
              </a:rPr>
              <a:t>PPTX, PDF and DOCX in the house style</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presentation-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Deck or report</a:t>
            </a:r>
          </a:p>
          <a:p>
            <a:pPr algn="ctr">
              <a:lnSpc>
                <a:spcPct val="112500"/>
              </a:lnSpc>
              <a:spcAft>
                <a:spcPts val="0"/>
              </a:spcAft>
            </a:pPr>
            <a:r>
              <a:rPr sz="1200" b="0">
                <a:solidFill>
                  <a:srgbClr val="475569"/>
                </a:solidFill>
                <a:latin typeface="IBM Plex Sans"/>
              </a:rPr>
              <a:t>Re-runnable on fresh pipeline data</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layout-dashboard-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SUPERSET BI</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Describe a dashboard in words: the plan comes from a closed catalogue, code compiles it, Superset computes.</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layout-template-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TEMPLATES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ingested .pptx template's layouts, colours and fonts are reused.</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BI commentary is checked figure by figure. The model never writes SQL or sees a number.</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39 / 40</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CONTROLS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Why the numbers hold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three principles from the opening slide, and what enforces each one in the code.</a:t>
            </a:r>
          </a:p>
        </p:txBody>
      </p:sp>
      <p:sp>
        <p:nvSpPr>
          <p:cNvPr id="5" name="Rounded Rectangle 4"/>
          <p:cNvSpPr/>
          <p:nvPr/>
        </p:nvSpPr>
        <p:spPr>
          <a:xfrm>
            <a:off x="812800"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254250"/>
            <a:ext cx="304800" cy="304800"/>
          </a:xfrm>
          <a:prstGeom prst="ellipse">
            <a:avLst/>
          </a:prstGeom>
          <a:solidFill>
            <a:srgbClr val="0F172A"/>
          </a:solidFill>
          <a:ln>
            <a:noFill/>
          </a:ln>
          <a:effectLst/>
        </p:spPr>
        <p:txBody>
          <a:bodyPr rtlCol="0" anchor="ctr"/>
          <a:lstStyle/>
          <a:p>
            <a:pPr algn="ctr"/>
          </a:p>
        </p:txBody>
      </p:sp>
      <p:pic>
        <p:nvPicPr>
          <p:cNvPr id="7" name="Picture 6" descr="code-FFFFFF.png"/>
          <p:cNvPicPr>
            <a:picLocks noChangeAspect="1"/>
          </p:cNvPicPr>
          <p:nvPr/>
        </p:nvPicPr>
        <p:blipFill>
          <a:blip r:embed="rId2"/>
          <a:stretch>
            <a:fillRect/>
          </a:stretch>
        </p:blipFill>
        <p:spPr>
          <a:xfrm>
            <a:off x="1041400" y="2330450"/>
            <a:ext cx="152400" cy="152400"/>
          </a:xfrm>
          <a:prstGeom prst="rect">
            <a:avLst/>
          </a:prstGeom>
        </p:spPr>
      </p:pic>
      <p:sp>
        <p:nvSpPr>
          <p:cNvPr id="8" name="TextBox 7"/>
          <p:cNvSpPr txBox="1"/>
          <p:nvPr/>
        </p:nvSpPr>
        <p:spPr>
          <a:xfrm>
            <a:off x="1371600"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The LLM plans, code computes</a:t>
            </a:r>
          </a:p>
        </p:txBody>
      </p:sp>
      <p:sp>
        <p:nvSpPr>
          <p:cNvPr id="9" name="TextBox 8"/>
          <p:cNvSpPr txBox="1"/>
          <p:nvPr/>
        </p:nvSpPr>
        <p:spPr>
          <a:xfrm>
            <a:off x="965200"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Aggregates, scores, index weights, backtests and alignment checks are plain code.</a:t>
            </a:r>
          </a:p>
          <a:p>
            <a:pPr>
              <a:lnSpc>
                <a:spcPct val="116667"/>
              </a:lnSpc>
              <a:spcAft>
                <a:spcPts val="0"/>
              </a:spcAft>
            </a:pPr>
            <a:r>
              <a:rPr sz="1200" b="0">
                <a:solidFill>
                  <a:srgbClr val="0F172A"/>
                </a:solidFill>
                <a:latin typeface="IBM Plex Sans"/>
              </a:rPr>
              <a:t>Ask ARP routes questions; it never sees rows.</a:t>
            </a:r>
          </a:p>
        </p:txBody>
      </p:sp>
      <p:sp>
        <p:nvSpPr>
          <p:cNvPr id="10" name="Rounded Rectangle 9"/>
          <p:cNvSpPr/>
          <p:nvPr/>
        </p:nvSpPr>
        <p:spPr>
          <a:xfrm>
            <a:off x="4385733"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11" name="Oval 10"/>
          <p:cNvSpPr/>
          <p:nvPr/>
        </p:nvSpPr>
        <p:spPr>
          <a:xfrm>
            <a:off x="4538133" y="2254250"/>
            <a:ext cx="304800" cy="304800"/>
          </a:xfrm>
          <a:prstGeom prst="ellipse">
            <a:avLst/>
          </a:prstGeom>
          <a:solidFill>
            <a:srgbClr val="16A34A"/>
          </a:solidFill>
          <a:ln>
            <a:noFill/>
          </a:ln>
          <a:effectLst/>
        </p:spPr>
        <p:txBody>
          <a:bodyPr rtlCol="0" anchor="ctr"/>
          <a:lstStyle/>
          <a:p>
            <a:pPr algn="ctr"/>
          </a:p>
        </p:txBody>
      </p:sp>
      <p:pic>
        <p:nvPicPr>
          <p:cNvPr id="12" name="Picture 11" descr="badge-check-FFFFFF.png"/>
          <p:cNvPicPr>
            <a:picLocks noChangeAspect="1"/>
          </p:cNvPicPr>
          <p:nvPr/>
        </p:nvPicPr>
        <p:blipFill>
          <a:blip r:embed="rId3"/>
          <a:stretch>
            <a:fillRect/>
          </a:stretch>
        </p:blipFill>
        <p:spPr>
          <a:xfrm>
            <a:off x="4614333" y="2330450"/>
            <a:ext cx="152400" cy="152400"/>
          </a:xfrm>
          <a:prstGeom prst="rect">
            <a:avLst/>
          </a:prstGeom>
        </p:spPr>
      </p:pic>
      <p:sp>
        <p:nvSpPr>
          <p:cNvPr id="13" name="TextBox 12"/>
          <p:cNvSpPr txBox="1"/>
          <p:nvPr/>
        </p:nvSpPr>
        <p:spPr>
          <a:xfrm>
            <a:off x="4944533"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Every citation is checked</a:t>
            </a:r>
          </a:p>
        </p:txBody>
      </p:sp>
      <p:sp>
        <p:nvSpPr>
          <p:cNvPr id="14" name="TextBox 13"/>
          <p:cNvSpPr txBox="1"/>
          <p:nvPr/>
        </p:nvSpPr>
        <p:spPr>
          <a:xfrm>
            <a:off x="4538133"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Quotes are re-matched in code; the verifier runs on a different model.</a:t>
            </a:r>
          </a:p>
          <a:p>
            <a:pPr>
              <a:lnSpc>
                <a:spcPct val="116667"/>
              </a:lnSpc>
              <a:spcAft>
                <a:spcPts val="0"/>
              </a:spcAft>
            </a:pPr>
            <a:r>
              <a:rPr sz="1200" b="0">
                <a:solidFill>
                  <a:srgbClr val="0F172A"/>
                </a:solidFill>
                <a:latin typeface="IBM Plex Sans"/>
              </a:rPr>
              <a:t>A golden set replays the pipeline before changes ship.</a:t>
            </a:r>
          </a:p>
        </p:txBody>
      </p:sp>
      <p:sp>
        <p:nvSpPr>
          <p:cNvPr id="15" name="Rounded Rectangle 14"/>
          <p:cNvSpPr/>
          <p:nvPr/>
        </p:nvSpPr>
        <p:spPr>
          <a:xfrm>
            <a:off x="7958667"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8111067" y="2254250"/>
            <a:ext cx="304800" cy="304800"/>
          </a:xfrm>
          <a:prstGeom prst="ellipse">
            <a:avLst/>
          </a:prstGeom>
          <a:solidFill>
            <a:srgbClr val="2563EB"/>
          </a:solidFill>
          <a:ln>
            <a:noFill/>
          </a:ln>
          <a:effectLst/>
        </p:spPr>
        <p:txBody>
          <a:bodyPr rtlCol="0" anchor="ctr"/>
          <a:lstStyle/>
          <a:p>
            <a:pPr algn="ctr"/>
          </a:p>
        </p:txBody>
      </p:sp>
      <p:pic>
        <p:nvPicPr>
          <p:cNvPr id="17" name="Picture 16" descr="users-FFFFFF.png"/>
          <p:cNvPicPr>
            <a:picLocks noChangeAspect="1"/>
          </p:cNvPicPr>
          <p:nvPr/>
        </p:nvPicPr>
        <p:blipFill>
          <a:blip r:embed="rId4"/>
          <a:stretch>
            <a:fillRect/>
          </a:stretch>
        </p:blipFill>
        <p:spPr>
          <a:xfrm>
            <a:off x="8187267" y="2330450"/>
            <a:ext cx="152400" cy="152400"/>
          </a:xfrm>
          <a:prstGeom prst="rect">
            <a:avLst/>
          </a:prstGeom>
        </p:spPr>
      </p:pic>
      <p:sp>
        <p:nvSpPr>
          <p:cNvPr id="18" name="TextBox 17"/>
          <p:cNvSpPr txBox="1"/>
          <p:nvPr/>
        </p:nvSpPr>
        <p:spPr>
          <a:xfrm>
            <a:off x="8517467"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Agents propose, people ratify</a:t>
            </a:r>
          </a:p>
        </p:txBody>
      </p:sp>
      <p:sp>
        <p:nvSpPr>
          <p:cNvPr id="19" name="TextBox 18"/>
          <p:cNvSpPr txBox="1"/>
          <p:nvPr/>
        </p:nvSpPr>
        <p:spPr>
          <a:xfrm>
            <a:off x="8111067"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Review queue, four-eyes approval, signed rule books and benchmarks.</a:t>
            </a:r>
          </a:p>
          <a:p>
            <a:pPr>
              <a:lnSpc>
                <a:spcPct val="116667"/>
              </a:lnSpc>
              <a:spcAft>
                <a:spcPts val="0"/>
              </a:spcAft>
            </a:pPr>
            <a:r>
              <a:rPr sz="1200" b="0">
                <a:solidFill>
                  <a:srgbClr val="0F172A"/>
                </a:solidFill>
                <a:latin typeface="IBM Plex Sans"/>
              </a:rPr>
              <a:t>Only an approver publishes; facts read as of a date.</a:t>
            </a:r>
          </a:p>
        </p:txBody>
      </p:sp>
      <p:sp>
        <p:nvSpPr>
          <p:cNvPr id="20" name="Rounded Rectangle 19"/>
          <p:cNvSpPr/>
          <p:nvPr/>
        </p:nvSpPr>
        <p:spPr>
          <a:xfrm>
            <a:off x="812800"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1" name="Oval 20"/>
          <p:cNvSpPr/>
          <p:nvPr/>
        </p:nvSpPr>
        <p:spPr>
          <a:xfrm>
            <a:off x="965200" y="4533900"/>
            <a:ext cx="304800" cy="304800"/>
          </a:xfrm>
          <a:prstGeom prst="ellipse">
            <a:avLst/>
          </a:prstGeom>
          <a:solidFill>
            <a:srgbClr val="0F172A"/>
          </a:solidFill>
          <a:ln>
            <a:noFill/>
          </a:ln>
          <a:effectLst/>
        </p:spPr>
        <p:txBody>
          <a:bodyPr rtlCol="0" anchor="ctr"/>
          <a:lstStyle/>
          <a:p>
            <a:pPr algn="ctr"/>
          </a:p>
        </p:txBody>
      </p:sp>
      <p:pic>
        <p:nvPicPr>
          <p:cNvPr id="22" name="Picture 21" descr="rotate-ccw-FFFFFF.png"/>
          <p:cNvPicPr>
            <a:picLocks noChangeAspect="1"/>
          </p:cNvPicPr>
          <p:nvPr/>
        </p:nvPicPr>
        <p:blipFill>
          <a:blip r:embed="rId5"/>
          <a:stretch>
            <a:fillRect/>
          </a:stretch>
        </p:blipFill>
        <p:spPr>
          <a:xfrm>
            <a:off x="1041400" y="4610100"/>
            <a:ext cx="152400" cy="152400"/>
          </a:xfrm>
          <a:prstGeom prst="rect">
            <a:avLst/>
          </a:prstGeom>
        </p:spPr>
      </p:pic>
      <p:sp>
        <p:nvSpPr>
          <p:cNvPr id="23" name="TextBox 22"/>
          <p:cNvSpPr txBox="1"/>
          <p:nvPr/>
        </p:nvSpPr>
        <p:spPr>
          <a:xfrm>
            <a:off x="1371600"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Resumable runs</a:t>
            </a:r>
          </a:p>
        </p:txBody>
      </p:sp>
      <p:sp>
        <p:nvSpPr>
          <p:cNvPr id="24" name="TextBox 23"/>
          <p:cNvSpPr txBox="1"/>
          <p:nvPr/>
        </p:nvSpPr>
        <p:spPr>
          <a:xfrm>
            <a:off x="965200"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Each company commits as it finishes; a resume skips what is stored.</a:t>
            </a:r>
          </a:p>
        </p:txBody>
      </p:sp>
      <p:sp>
        <p:nvSpPr>
          <p:cNvPr id="25" name="Rounded Rectangle 24"/>
          <p:cNvSpPr/>
          <p:nvPr/>
        </p:nvSpPr>
        <p:spPr>
          <a:xfrm>
            <a:off x="4385733"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6" name="Oval 25"/>
          <p:cNvSpPr/>
          <p:nvPr/>
        </p:nvSpPr>
        <p:spPr>
          <a:xfrm>
            <a:off x="4538133" y="4533900"/>
            <a:ext cx="304800" cy="304800"/>
          </a:xfrm>
          <a:prstGeom prst="ellipse">
            <a:avLst/>
          </a:prstGeom>
          <a:solidFill>
            <a:srgbClr val="0F172A"/>
          </a:solidFill>
          <a:ln>
            <a:noFill/>
          </a:ln>
          <a:effectLst/>
        </p:spPr>
        <p:txBody>
          <a:bodyPr rtlCol="0" anchor="ctr"/>
          <a:lstStyle/>
          <a:p>
            <a:pPr algn="ctr"/>
          </a:p>
        </p:txBody>
      </p:sp>
      <p:pic>
        <p:nvPicPr>
          <p:cNvPr id="27" name="Picture 26" descr="gauge-FFFFFF.png"/>
          <p:cNvPicPr>
            <a:picLocks noChangeAspect="1"/>
          </p:cNvPicPr>
          <p:nvPr/>
        </p:nvPicPr>
        <p:blipFill>
          <a:blip r:embed="rId6"/>
          <a:stretch>
            <a:fillRect/>
          </a:stretch>
        </p:blipFill>
        <p:spPr>
          <a:xfrm>
            <a:off x="4614333" y="4610100"/>
            <a:ext cx="152400" cy="152400"/>
          </a:xfrm>
          <a:prstGeom prst="rect">
            <a:avLst/>
          </a:prstGeom>
        </p:spPr>
      </p:pic>
      <p:sp>
        <p:nvSpPr>
          <p:cNvPr id="28" name="TextBox 27"/>
          <p:cNvSpPr txBox="1"/>
          <p:nvPr/>
        </p:nvSpPr>
        <p:spPr>
          <a:xfrm>
            <a:off x="4944533"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Batch and run modes</a:t>
            </a:r>
          </a:p>
        </p:txBody>
      </p:sp>
      <p:sp>
        <p:nvSpPr>
          <p:cNvPr id="29" name="TextBox 28"/>
          <p:cNvSpPr txBox="1"/>
          <p:nvPr/>
        </p:nvSpPr>
        <p:spPr>
          <a:xfrm>
            <a:off x="4538133"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Batch mode halves background model cost; cheap, normal or max.</a:t>
            </a:r>
          </a:p>
        </p:txBody>
      </p:sp>
      <p:sp>
        <p:nvSpPr>
          <p:cNvPr id="30" name="Rounded Rectangle 29"/>
          <p:cNvSpPr/>
          <p:nvPr/>
        </p:nvSpPr>
        <p:spPr>
          <a:xfrm>
            <a:off x="7958667"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31" name="Oval 30"/>
          <p:cNvSpPr/>
          <p:nvPr/>
        </p:nvSpPr>
        <p:spPr>
          <a:xfrm>
            <a:off x="8111067" y="4533900"/>
            <a:ext cx="304800" cy="304800"/>
          </a:xfrm>
          <a:prstGeom prst="ellipse">
            <a:avLst/>
          </a:prstGeom>
          <a:solidFill>
            <a:srgbClr val="0F172A"/>
          </a:solidFill>
          <a:ln>
            <a:noFill/>
          </a:ln>
          <a:effectLst/>
        </p:spPr>
        <p:txBody>
          <a:bodyPr rtlCol="0" anchor="ctr"/>
          <a:lstStyle/>
          <a:p>
            <a:pPr algn="ctr"/>
          </a:p>
        </p:txBody>
      </p:sp>
      <p:pic>
        <p:nvPicPr>
          <p:cNvPr id="32" name="Picture 31" descr="factory-FFFFFF.png"/>
          <p:cNvPicPr>
            <a:picLocks noChangeAspect="1"/>
          </p:cNvPicPr>
          <p:nvPr/>
        </p:nvPicPr>
        <p:blipFill>
          <a:blip r:embed="rId7"/>
          <a:stretch>
            <a:fillRect/>
          </a:stretch>
        </p:blipFill>
        <p:spPr>
          <a:xfrm>
            <a:off x="8187267" y="4610100"/>
            <a:ext cx="152400" cy="152400"/>
          </a:xfrm>
          <a:prstGeom prst="rect">
            <a:avLst/>
          </a:prstGeom>
        </p:spPr>
      </p:pic>
      <p:sp>
        <p:nvSpPr>
          <p:cNvPr id="33" name="TextBox 32"/>
          <p:cNvSpPr txBox="1"/>
          <p:nvPr/>
        </p:nvSpPr>
        <p:spPr>
          <a:xfrm>
            <a:off x="8517467"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Software factory</a:t>
            </a:r>
          </a:p>
        </p:txBody>
      </p:sp>
      <p:sp>
        <p:nvSpPr>
          <p:cNvPr id="34" name="TextBox 33"/>
          <p:cNvSpPr txBox="1"/>
          <p:nvPr/>
        </p:nvSpPr>
        <p:spPr>
          <a:xfrm>
            <a:off x="8111067"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Acceptance tables, hidden tests, mutation checks, a main guard.</a:t>
            </a:r>
          </a:p>
        </p:txBody>
      </p:sp>
      <p:sp>
        <p:nvSpPr>
          <p:cNvPr id="35" name="TextBox 3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