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row: what ARP can do. Find and extract builds the company universe and pulls cited figures out of disclosures, up to about 4,000 companies per run. Analyse and decide turns those figures into portfolio and climate analytics, scored decisions, indices, backtests and reports.</a:t>
            </a:r>
          </a:p>
          <a:p/>
          <a:p>
            <a:r>
              <a:t>Bottom row: why the output is defensible. First, the LLM only plans, drafts and proposes; every number is computed by deterministic code. Second, every citation is re-checked by code against the original document, and a verifier on a different model checks the extractor. Third, nothing counts until a named person ratifies it: review queues, four-eyes approval, versioned and effective-dated frameworks.</a:t>
            </a:r>
          </a:p>
          <a:p/>
          <a:p>
            <a:r>
              <a:t>Footer: the engine underneath. Postgres is the system of record, every run is checkpointed and resumable, per-company flows are LangGraph state graphs, and the API, CLI and UI all call the same pipelines.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is organised around how the team works, not around functions. Five workspaces mirror the business: Argus for cited data extraction and scoring, Transition Intelligence for monthly holdings monitoring and climate review, the R&amp;D Lab for themes, strategies and indices, StewardIQ for engagement, proxy voting and client reporting, and Data Hub for feeds and the security master. A process is a path through existing screens; the workspace page holds the order, the handoffs and the live status of each step.</a:t>
            </a:r>
          </a:p>
          <a:p/>
          <a:p>
            <a:r>
              <a:t>Across all of them: Needs you lists everything waiting on a person, oldest first. Ask ARP (Ctrl or Cmd J) answers plain-language questions through read-only tools. Output holds reports and the output catalogue, which shows what has already used each stored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issue: figures typed in from annual reports, or bought as vendor scores, come without a page reference. Nobody can check them quickly, and doing it by hand does not scale to thousands of companies.</a:t>
            </a:r>
          </a:p>
          <a:p/>
          <a:p>
            <a:r>
              <a:t>Argus answers with cited extraction: every value carries its quote and page, a verifier on a different model re-reads it, and anything uncertain goes to a person. XBRL facts are stored as the company filed them.</a:t>
            </a:r>
          </a:p>
          <a:p/>
          <a:p>
            <a:r>
              <a:t>Opportunities, as proposals: stewardship can quote the company's own disclosure in letters and vote rationales; product teams can define fund eligibility as a ratified Decision Studio template; and on data licences, figures from public reports and filings can be used to check a licensed vendor field, which the climate validation already does for emissions.</a:t>
            </a:r>
          </a:p>
          <a:p/>
          <a:p>
            <a:r>
              <a:t>Opportunities are proposals for discussion, not built features unless the slide says so.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issue: holdings, ESG data and climate research live in different places. A breach or a controversy is noticed late, and the annual climate review is assembled by hand each time.</a:t>
            </a:r>
          </a:p>
          <a:p/>
          <a:p>
            <a:r>
              <a:t>Transition Intelligence runs monthly monitoring, which is blocked rather than guessed when the month's holdings or ESG loads are not good, and a climate transition review: risk monitoring, transition barriers, transition plan, Decision Studio, selection for engagement, reports.</a:t>
            </a:r>
          </a:p>
          <a:p/>
          <a:p>
            <a:r>
              <a:t>Opportunities, as proposals: alerts become stewardship triggers with owners; climate-labelled products get holding-level and sector-level evidence; and because every provider source is tagged internal_only or redistributable, licence limits are enforced in code: internal-only facts can be shown internally but never published.</a:t>
            </a:r>
          </a:p>
          <a:p/>
          <a:p>
            <a:r>
              <a:t>Opportunities are proposals for discussion, not built features unless the slide says so.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issue: a new theme or strategy usually starts in a spreadsheet. The boundary of the theme moves with each analyst, backtests are fitted to the past, and once a product launches it is hard to show which evidence it rests on.</a:t>
            </a:r>
          </a:p>
          <a:p/>
          <a:p>
            <a:r>
              <a:t>The R&amp;D Lab connects emerging themes, the taxonomy library, the thematic universe, Decision Studio and index construction, and strategy replication with out-of-sample tests and overfitting checks.</a:t>
            </a:r>
          </a:p>
          <a:p/>
          <a:p>
            <a:r>
              <a:t>Opportunities, as proposals: the theme dossier's planned step 5 links a product's position to stewardship flags; index products can be composed from presets and stay reproducible because calibrations are effective-dated; and house methodologies and taxonomies are the firm's own work, while some reference data, such as GICS below sector level, needs a licence.</a:t>
            </a:r>
          </a:p>
          <a:p/>
          <a:p>
            <a:r>
              <a:t>Opportunities are proposals for discussion, not built features unless the slide says so.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issue: stewardship work is scattered across emails, notes and spreadsheets. It is hard to show who owns an issue, what a company committed to, and why a vote went the way it did.</a:t>
            </a:r>
          </a:p>
          <a:p/>
          <a:p>
            <a:r>
              <a:t>StewardIQ keeps one engagement record per company with milestone stages and an escalation ladder, runs proxy voting with house rules before any model judgment and a person deciding every proposal, and produces client reports.</a:t>
            </a:r>
          </a:p>
          <a:p/>
          <a:p>
            <a:r>
              <a:t>Opportunities, as proposals: votes and engagements reinforce each other on one record; client reporting already separates house activity from where a client policy differed, which can support client-specific mandates; the client-overlay operating model is a target design and only partly built. On licences, proxy statements come from EDGAR, while vote data from an external provider would carry that provider's terms.</a:t>
            </a:r>
          </a:p>
          <a:p/>
          <a:p>
            <a:r>
              <a:t>Opportunities are proposals for discussion, not built features unless the slide says so.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issue: every tool tends to map securities to issuers in its own way, and a feed that stopped loading is only noticed when a number looks wrong.</a:t>
            </a:r>
          </a:p>
          <a:p/>
          <a:p>
            <a:r>
              <a:t>Data Hub holds the security master, the golden source for issuer identity, loaded only by approvers and matched exactly by LEI, ISIN or CIK, never by name. Feeds shows each input's data date and whether it is behind; Issues lists every open data problem, blocking first; Outputs is the catalogue of stored results with what has used them.</a:t>
            </a:r>
          </a:p>
          <a:p/>
          <a:p>
            <a:r>
              <a:t>Opportunities, as proposals: stewardship evidence and holdings point at the same issuer; product teams can trace which inputs a product uses; and the licence tag on each provider source makes reuse limits visible up front.</a:t>
            </a:r>
          </a:p>
          <a:p/>
          <a:p>
            <a:r>
              <a:t>Opportunities are proposals for discussion, not built features unless the slide says so.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Interfaces: the React UI, the FastAPI backend and the Typer CLI call the same pipeline functions; the CLI is the headless path for large batches. Superset serves dashboards from read-only bi views.</a:t>
            </a:r>
          </a:p>
          <a:p/>
          <a:p>
            <a:r>
              <a:t>Orchestration: every run type is checkpointed in Postgres. Each company's result commits in one transaction as it finishes, so a resume skips what is stored; cancel is cooperative. Background runs can use the Batch API at about half the model cost.</a:t>
            </a:r>
          </a:p>
          <a:p/>
          <a:p>
            <a:r>
              <a:t>Pipelines: each per-company multi-step flow is an explicit LangGraph state graph; batch fan-out stays outside the graphs. New data points are added as extraction presets, not new pipelines.</a:t>
            </a:r>
          </a:p>
          <a:p/>
          <a:p>
            <a:r>
              <a:t>Shared services: one narrow LLM interface with schema-forced output, a validation-retry loop and a response cache, now with Claude and Gemini models; run modes cheap, normal and max always pair an extractor with a verifier on a different model. LlamaIndex BM25 plus local embeddings select evidence; grounding re-verifies every citation independently.</a:t>
            </a:r>
          </a:p>
          <a:p/>
          <a:p>
            <a:r>
              <a:t>Storage and compute: Postgres with pgvector is required. Facts move through an insert-only ledger and are published by an approver, then read as of a date. PDF parsing, reranking and embeddings can run on Cloud Run GPUs and fall back to local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covers everything that turns a list of companies into cited, reviewed facts: who the company is, where its reports are, what they say, and how a theme, a transition plan or a value chain connects to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Argus is the process most people start with. The universe page maps every company through the security master by exact identifier and shows what ARP already holds for it: identity, documents, extraction runs and XBRL files. It starts no run itself.</a:t>
            </a:r>
          </a:p>
          <a:p/>
          <a:p>
            <a:r>
              <a:t>The simplified Argus flow has a start page with a live process view, everyone's runs and what is waiting for you, and draft flows saved on the server. Step 1, Companies, is built; documents, schema, extract and results still hand over to the existing Extraction screens until the next slices land.</a:t>
            </a:r>
          </a:p>
          <a:p/>
          <a:p>
            <a:r>
              <a:t>Run modes choose the model pair, the number of evidence passages and the review threshold. The extractor and the verifier are always different models.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security master is the golden source for issuer identity: exact matching only, nothing by name, and nothing assigned by hand. Where the master does not know the company, identifier lookups come first: GLEIF fills a missing LEI from the ISIN, EDGAR resolves by CIK.</a:t>
            </a:r>
          </a:p>
          <a:p/>
          <a:p>
            <a:r>
              <a:t>Only the rows no lookup settles reach the one adjudication call, which picks from real EDGAR and GLEIF candidates. Its answer is then checked in code against those signals, so an invented website or CIK cannot survive. Uncertain and unresolved are routing decisions to the review queue, not a softened resolved.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returns each company's latest annual report and sustainability report. A live test in October found reports for only 2 of 10 large European companies, because many sites block cloud servers and report pages carry hundreds of PDFs, often on other hosts.</a:t>
            </a:r>
          </a:p>
          <a:p/>
          <a:p>
            <a:r>
              <a:t>So the order is: an ESEF filing first, then a direct search for the PDF, then a crawl that seeds from the sitemap and ranks the best two candidates. A downloaded PDF that does not name the company goes to review. Manual uploads and crawler downloads land in the same document store.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Precision comes first: a wrong value that goes out unreviewed is the worst outcome, and 'needs review' is an acceptable answer. Metrics (a number with unit, scale and period) and criteria (a yes/no verdict against a written criterion) now share one engine, so every schema gets the same guarantees.</a:t>
            </a:r>
          </a:p>
          <a:p/>
          <a:p>
            <a:r>
              <a:t>A value is auto-accepted only when its quote is grounded in the passages the model saw, the number appears in that quote and passes the unit, scale and period checks, and a blind second extraction on a different model agrees. Values that fail text grounding get a page-image check, and reviewers see the cited span boxed on the PDF page.</a:t>
            </a:r>
          </a:p>
          <a:p/>
          <a:p>
            <a:r>
              <a:t>Schema rules are small typed conditions; an agent suggests them for drafted schemas and the owner accepts them. A failing rule only flags the value. The golden set replays the real pipeline before a prompt or model change ships, and runs in CI.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Company financials pull business segments, total capex and R&amp;D in a single combined pass per company, each figure with a grounded description of what it funds. Where a company files XBRL, the tagged totals resolve capex and R&amp;D ahead of the model.</a:t>
            </a:r>
          </a:p>
          <a:p/>
          <a:p>
            <a:r>
              <a:t>XBRL Facts is a separate function. It downloads each company's SEC companyfacts and latest 10-K, or for EU companies the latest ESEF annual report from filings.xbrl.org, routed by country, ISIN prefix or identifiers. It extracts every tagged fact and can verify an extraction run against the filer's own tagged values; a run that copied XBRL is refused.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Taxonomy Library holds reusable, versioned theme definitions: industry-anchored, authority-source, empirical, news and transcript mining, or ETF holdings, plus compare and merge and NACE, NAICS, SIC and GICS crosswalks. A person ratifies a version before it is used.</a:t>
            </a:r>
          </a:p>
          <a:p/>
          <a:p>
            <a:r>
              <a:t>Each company and activity goes down a cascade: a confirmed revenue or capex catalogue mapping resolves by arithmetic; otherwise grounded extraction with the schema generated from the ratified taxonomy (revenue, capex, opex and R&amp;D shares); only if both are empty, the Advocate, Opposing and Adjudicator debate. All paths band the same way, so a verdict means the same thing whichever path produced it.</a:t>
            </a:r>
          </a:p>
          <a:p/>
          <a:p>
            <a:r>
              <a:t>Exposure layers add value-chain exposure: layer 1 own revenue share, layer 2 revenue from exposed customers one or two hops up, decayed per hop. Layer 3 has no data source yet.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Emerging Themes Scanner finds candidates bottom-up from EDGAR full-text search, GDELT and regulatory RSS, with cluster lineage across periods and an action-score gate: corporate action, not mention counts.</a:t>
            </a:r>
          </a:p>
          <a:p/>
          <a:p>
            <a:r>
              <a:t>The dossier keeps one record per theme. It stores links and decisions only; each step's state is derived when it is read. The context brief computes every count in code; one model call writes the wording and any sentence that cites no evidence is dropped. The research note: the model proposes sources from intergovernmental bodies, official statistics, central banks and regulators, and academia; the owner approves the plan; the note is written only from those sources and approved again.</a:t>
            </a:r>
          </a:p>
          <a:p/>
          <a:p>
            <a:r>
              <a:t>Step 5 is specified but not built: research item, position paragraph, standard, data point, and a StewardIQ flag.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walk-versus-talk assessment replicates Colesanti Senni, Schimanski, Bingler, Ni and Leippold (2024): 64 fixed indicators across target, governance, strategy and tracking. Since 21 October it runs as the transition_plan_indicators preset on the shared extraction engine; the dedicated pipeline was retired, old runs stay readable, and Decision Studio columns are unchanged.</a:t>
            </a:r>
          </a:p>
          <a:p/>
          <a:p>
            <a:r>
              <a:t>Transition plan alignment then reads the plan as a list of actions and checks it in code: low-carbon capex share against the sector benchmark, each action against the barrier criteria that limit it in its region, delivery against targets and phase-outs, five ACT consistency flags and nine sector delivery KPIs. Each flag is raised, clear or not checked; they are never combined into one score. The result shows in the Transition section of the company page.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barrier assessment answers a question upstream of every company judgment: how feasible is decarbonisation in this sector and region at all. H means more feasible. Each cell carries a rating, a confidence tier, its evidence, sources and the date it was last verified; today 24 H, 49 M and 32 L.</a:t>
            </a:r>
          </a:p>
          <a:p/>
          <a:p>
            <a:r>
              <a:t>The owner-signed rule book (version 2) lists the facts each criterion needs and the conditions for H, M and L. Facts are extracted from fetched sources with the model, then checked in code; a three-valued rules engine derives the rating, and a named person ratifies it. The EUR-Lex refresh finds unchanged evidence, drift or rating-change candidates and only ever proposes.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indirect exposure tier is a structural, quantitative read on supply-chain exposure for companies whose own disclosures stay silent. ICIO 2025 gives 50 industries; EXIOBASE 3 adds 163 sectors mapped onto them, with emissions and an electricity split.</a:t>
            </a:r>
          </a:p>
          <a:p/>
          <a:p>
            <a:r>
              <a:t>The only model calls are classification around the maths: choosing a theme's core sectors, and a company's industry code when the universe file does not supply one. Above the threshold, a company with no direct evidence is queued for review instead of dropped.</a:t>
            </a:r>
          </a:p>
          <a:p/>
          <a:p>
            <a:r>
              <a:t>The R&amp;D Lab's Value Chain Explorer browses the full EXIOBASE table, 7,987 nodes, with a node page, an upstream tree and footprints for CO2e, energy and jobs. It has no model in it by design.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covers what happens to the facts: monitoring and climate analytics, scoring and tiering, index construction, strategy research, stewardship and client work. Everywhere in this part the model may plan, draft or route; it never produces a number.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Holdings arrive monthly and are mapped to issuers through the security master; an unmatched security is listed in Data Hub and fixed there. For each issuer, values come from a cascade: what extraction already read from the company's own report, an exposure result, a supplied catalogue row, or missing, reported against coverage.</a:t>
            </a:r>
          </a:p>
          <a:p/>
          <a:p>
            <a:r>
              <a:t>The monthly monitoring run raises portfolio alerts, then stewardship triggers. It is blocked unless that month's holdings and ESG loads are good. Ask the Portfolio lets the model draft a query spec; the engine returns the number with the spec beside it. Dashboards are Superset, embedded in the app, including a provisioned exposure dashboard with fund, sector and country filters.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Studio has two separate entry points: derivation looks at the data and proposes rules; application takes rules and produces decisions. A ratified framework can therefore be applied to next quarter's snapshot unchanged, which is the only way period-on-period movement means anything. Applying a framework never changes it.</a:t>
            </a:r>
          </a:p>
          <a:p/>
          <a:p>
            <a:r>
              <a:t>Criteria are normalised within peer cohorts, correlated criteria are grouped, direction is inferred and flagged where it is a guess, a sufficiency gate precedes scoring and hard gates resolve before the average. Every entity carries its rank range across four specifications. Scoring templates connect it to Argus, so extraction results can be tiered directly.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methodology is composed from named rules: ordered screens, one selection rule (best-in-class to a coverage target with hysteresis buffers, an absolute threshold, or top-N), a weighting scheme, bounded tilts, a deterministic capping waterfall and the path-dependent EU Paris-aligned or climate-transition benchmark trajectory. Presets expand into ordinary editable rules.</a:t>
            </a:r>
          </a:p>
          <a:p/>
          <a:p>
            <a:r>
              <a:t>Each stage appends a trace line with counts in and out and the names dropped; that trace is both the committee's funnel and the audit trail. The optional optimiser can project, minimise tracking error or maximise score under a budget, but a solver's own 'optimal' is never taken as proof.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Strategy replication reduces a strategy paper to an executable spec, then backtests it deterministically in and out of sample, with the deflated Sharpe ratio, the probability of backtest overfitting via purged and embargoed combinatorial cross-validation, and regime stratification.</a:t>
            </a:r>
          </a:p>
          <a:p/>
          <a:p>
            <a:r>
              <a:t>The Signals workbench in the R&amp;D Lab tests whether text and market data predict returns honestly: a point-in-time text store, a map of model training cutoffs to catch look-ahead, rank information coefficients and an experiment registry. Two experiments can be compared, and a person records graduate or shelve.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Engagement keeps one record per company: identified, contacted, dialogue opened, response received, commitment made, commitment verified. The controller decides what should happen next as a pure function; it never calls an agent itself, so a scheduler can be added without touching the rules.</a:t>
            </a:r>
          </a:p>
          <a:p/>
          <a:p>
            <a:r>
              <a:t>The research agent drafts a grounded dossier that a person checks before drafting. Only a validated meeting summary writes commitments, and it needs validated_by. Escalation needs decided_by, and no code path sends anything to a company. The stall sweep runs on demand from the CLI or API, with 45 days as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Proxy voting extracts each ballot's proposals in one grounded pass, applies the house rules first (ordered, deterministic predicates on the disclosed figures, for example voting against an auditor when non-audit fees exceed half the audit fee), and asks the model for a cited judgment only when no rule fires.</a:t>
            </a:r>
          </a:p>
          <a:p/>
          <a:p>
            <a:r>
              <a:t>A cross-check against the engagement record flags a vote that contradicts an escalation. Every proposal is reviewed, with no confidence threshold that skips one. The gate is in the casting code itself, so an unauthorised vote cannot reach a platform integration whatever upstream code does.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RFP answers starts from a library of past responses, imported as question and answer pairs stored verbatim. For an incoming questionnaire the model finds the questions, and code keeps only those it can locate in the file. Drafts are built only from the eight best-matching library entries; every quote is grounded and every number must appear in a cited entry or the question, otherwise the draft is discarded.</a:t>
            </a:r>
          </a:p>
          <a:p/>
          <a:p>
            <a:r>
              <a:t>Analysts edit, assign or leave questions blank. An approver who is not the question's last editor approves each answer and confirms every flag. The export writes the approved answers into a copy of the investor's original file and reports how many remain unapproved.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model call drafts a report plan; deterministic renderers emit PPTX, DOCX and PDF. House decks draft a storyline for a person to approve, then fill, lint, fit and visually check each slide in the app's own design system, and can be re-run on fresh data.</a:t>
            </a:r>
          </a:p>
          <a:p/>
          <a:p>
            <a:r>
              <a:t>The Superset BI designer turns a description into an unpublished dashboard draft. A closed catalogue of datasets and metrics bounds the plan, a validator rejects anything outside it, and Superset reads only the bi views over Postgres, so company facts are the reviewed ones. A person publishes.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principles are enforced by the shape of the code, not by policy. No model sits inside an aggregate, score, index weight or backtest. Every citation is re-verified against the source in code, and an independent verifier on a different model checks each extraction. Agents propose and people ratify: review queues, four-eyes approval for RFP answers and flagged votes, owner-signed rule books and benchmarks, and approver-only publishing into an insert-only fact ledger read as of a date.</a:t>
            </a:r>
          </a:p>
          <a:p/>
          <a:p>
            <a:r>
              <a:t>Standing agents, the Taxonomy Researcher and the Calibration Agent, run on a schedule and only propose changes for review.</a:t>
            </a:r>
          </a:p>
          <a:p/>
          <a:p>
            <a:r>
              <a:t>Underneath: runs are checkpointed per company and resumable, background runs can use the Batch API at about half the model cost, and every change goes through the software factory: specs with acceptance tables, hidden holdout tests, mutation checks, a golden set for model changes, and a main guard that proposes a revert when main goes 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 Id="rId11" Type="http://schemas.openxmlformats.org/officeDocument/2006/relationships/image" Target="../media/image32.png"/><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2.png"/><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4.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32.png"/><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24.png"/><Relationship Id="rId4" Type="http://schemas.openxmlformats.org/officeDocument/2006/relationships/image" Target="../media/image48.png"/><Relationship Id="rId5" Type="http://schemas.openxmlformats.org/officeDocument/2006/relationships/image" Target="../media/image27.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28.png"/><Relationship Id="rId9" Type="http://schemas.openxmlformats.org/officeDocument/2006/relationships/image" Target="../media/image51.png"/><Relationship Id="rId10" Type="http://schemas.openxmlformats.org/officeDocument/2006/relationships/image" Target="../media/image52.png"/><Relationship Id="rId11" Type="http://schemas.openxmlformats.org/officeDocument/2006/relationships/image" Target="../media/image32.png"/><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4.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35.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32.png"/><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24.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27.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32.png"/><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24.png"/><Relationship Id="rId4" Type="http://schemas.openxmlformats.org/officeDocument/2006/relationships/image" Target="../media/image66.png"/><Relationship Id="rId5" Type="http://schemas.openxmlformats.org/officeDocument/2006/relationships/image" Target="../media/image28.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39.png"/><Relationship Id="rId9" Type="http://schemas.openxmlformats.org/officeDocument/2006/relationships/image" Target="../media/image63.png"/><Relationship Id="rId10" Type="http://schemas.openxmlformats.org/officeDocument/2006/relationships/image" Target="../media/image69.png"/><Relationship Id="rId11" Type="http://schemas.openxmlformats.org/officeDocument/2006/relationships/image" Target="../media/image70.png"/><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24.png"/><Relationship Id="rId4" Type="http://schemas.openxmlformats.org/officeDocument/2006/relationships/image" Target="../media/image67.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image" Target="../media/image76.png"/><Relationship Id="rId11" Type="http://schemas.openxmlformats.org/officeDocument/2006/relationships/image" Target="../media/image32.png"/><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24.png"/><Relationship Id="rId4" Type="http://schemas.openxmlformats.org/officeDocument/2006/relationships/image" Target="../media/image78.png"/><Relationship Id="rId5" Type="http://schemas.openxmlformats.org/officeDocument/2006/relationships/image" Target="../media/image27.png"/><Relationship Id="rId6" Type="http://schemas.openxmlformats.org/officeDocument/2006/relationships/image" Target="../media/image79.png"/><Relationship Id="rId7" Type="http://schemas.openxmlformats.org/officeDocument/2006/relationships/image" Target="../media/image4.png"/><Relationship Id="rId8" Type="http://schemas.openxmlformats.org/officeDocument/2006/relationships/image" Target="../media/image80.png"/><Relationship Id="rId9" Type="http://schemas.openxmlformats.org/officeDocument/2006/relationships/image" Target="../media/image46.png"/><Relationship Id="rId10" Type="http://schemas.openxmlformats.org/officeDocument/2006/relationships/image" Target="../media/image81.png"/><Relationship Id="rId11" Type="http://schemas.openxmlformats.org/officeDocument/2006/relationships/image" Target="../media/image32.png"/><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24.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image" Target="../media/image88.png"/><Relationship Id="rId10" Type="http://schemas.openxmlformats.org/officeDocument/2006/relationships/image" Target="../media/image89.png"/><Relationship Id="rId11" Type="http://schemas.openxmlformats.org/officeDocument/2006/relationships/image" Target="../media/image32.png"/><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24.png"/><Relationship Id="rId4" Type="http://schemas.openxmlformats.org/officeDocument/2006/relationships/image" Target="../media/image91.png"/><Relationship Id="rId5" Type="http://schemas.openxmlformats.org/officeDocument/2006/relationships/image" Target="../media/image83.png"/><Relationship Id="rId6" Type="http://schemas.openxmlformats.org/officeDocument/2006/relationships/image" Target="../media/image92.png"/><Relationship Id="rId7" Type="http://schemas.openxmlformats.org/officeDocument/2006/relationships/image" Target="../media/image12.png"/><Relationship Id="rId8" Type="http://schemas.openxmlformats.org/officeDocument/2006/relationships/image" Target="../media/image93.png"/><Relationship Id="rId9" Type="http://schemas.openxmlformats.org/officeDocument/2006/relationships/image" Target="../media/image94.png"/><Relationship Id="rId10" Type="http://schemas.openxmlformats.org/officeDocument/2006/relationships/image" Target="../media/image95.png"/><Relationship Id="rId11" Type="http://schemas.openxmlformats.org/officeDocument/2006/relationships/image" Target="../media/image32.pn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image" Target="../media/image24.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4.png"/><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8.pn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99.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image" Target="../media/image106.png"/><Relationship Id="rId9" Type="http://schemas.openxmlformats.org/officeDocument/2006/relationships/image" Target="../media/image107.png"/><Relationship Id="rId10" Type="http://schemas.openxmlformats.org/officeDocument/2006/relationships/image" Target="../media/image108.png"/><Relationship Id="rId11" Type="http://schemas.openxmlformats.org/officeDocument/2006/relationships/image" Target="../media/image32.pn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24.pn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8.png"/><Relationship Id="rId7" Type="http://schemas.openxmlformats.org/officeDocument/2006/relationships/image" Target="../media/image28.png"/><Relationship Id="rId8" Type="http://schemas.openxmlformats.org/officeDocument/2006/relationships/image" Target="../media/image111.png"/><Relationship Id="rId9" Type="http://schemas.openxmlformats.org/officeDocument/2006/relationships/image" Target="../media/image112.png"/><Relationship Id="rId10" Type="http://schemas.openxmlformats.org/officeDocument/2006/relationships/image" Target="../media/image18.png"/><Relationship Id="rId11" Type="http://schemas.openxmlformats.org/officeDocument/2006/relationships/image" Target="../media/image32.pn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 Id="rId3" Type="http://schemas.openxmlformats.org/officeDocument/2006/relationships/image" Target="../media/image24.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28.png"/><Relationship Id="rId8" Type="http://schemas.openxmlformats.org/officeDocument/2006/relationships/image" Target="../media/image55.png"/><Relationship Id="rId9" Type="http://schemas.openxmlformats.org/officeDocument/2006/relationships/image" Target="../media/image117.png"/><Relationship Id="rId10" Type="http://schemas.openxmlformats.org/officeDocument/2006/relationships/image" Target="../media/image118.png"/><Relationship Id="rId11" Type="http://schemas.openxmlformats.org/officeDocument/2006/relationships/image" Target="../media/image30.pn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24.png"/><Relationship Id="rId4" Type="http://schemas.openxmlformats.org/officeDocument/2006/relationships/image" Target="../media/image27.png"/><Relationship Id="rId5" Type="http://schemas.openxmlformats.org/officeDocument/2006/relationships/image" Target="../media/image119.png"/><Relationship Id="rId6" Type="http://schemas.openxmlformats.org/officeDocument/2006/relationships/image" Target="../media/image34.png"/><Relationship Id="rId7" Type="http://schemas.openxmlformats.org/officeDocument/2006/relationships/image" Target="../media/image120.png"/><Relationship Id="rId8" Type="http://schemas.openxmlformats.org/officeDocument/2006/relationships/image" Target="../media/image28.png"/><Relationship Id="rId9" Type="http://schemas.openxmlformats.org/officeDocument/2006/relationships/image" Target="../media/image63.png"/><Relationship Id="rId10" Type="http://schemas.openxmlformats.org/officeDocument/2006/relationships/image" Target="../media/image121.png"/><Relationship Id="rId11" Type="http://schemas.openxmlformats.org/officeDocument/2006/relationships/image" Target="../media/image32.pn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 Id="rId3" Type="http://schemas.openxmlformats.org/officeDocument/2006/relationships/image" Target="../media/image24.png"/><Relationship Id="rId4" Type="http://schemas.openxmlformats.org/officeDocument/2006/relationships/image" Target="../media/image41.png"/><Relationship Id="rId5" Type="http://schemas.openxmlformats.org/officeDocument/2006/relationships/image" Target="../media/image116.png"/><Relationship Id="rId6" Type="http://schemas.openxmlformats.org/officeDocument/2006/relationships/image" Target="../media/image35.png"/><Relationship Id="rId7" Type="http://schemas.openxmlformats.org/officeDocument/2006/relationships/image" Target="../media/image5.png"/><Relationship Id="rId8" Type="http://schemas.openxmlformats.org/officeDocument/2006/relationships/image" Target="../media/image123.png"/><Relationship Id="rId9" Type="http://schemas.openxmlformats.org/officeDocument/2006/relationships/image" Target="../media/image124.png"/><Relationship Id="rId10" Type="http://schemas.openxmlformats.org/officeDocument/2006/relationships/image" Target="../media/image125.png"/><Relationship Id="rId11" Type="http://schemas.openxmlformats.org/officeDocument/2006/relationships/image" Target="../media/image32.pn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 Id="rId3" Type="http://schemas.openxmlformats.org/officeDocument/2006/relationships/image" Target="../media/image24.png"/><Relationship Id="rId4" Type="http://schemas.openxmlformats.org/officeDocument/2006/relationships/image" Target="../media/image13.png"/><Relationship Id="rId5" Type="http://schemas.openxmlformats.org/officeDocument/2006/relationships/image" Target="../media/image28.png"/><Relationship Id="rId6" Type="http://schemas.openxmlformats.org/officeDocument/2006/relationships/image" Target="../media/image127.png"/><Relationship Id="rId7" Type="http://schemas.openxmlformats.org/officeDocument/2006/relationships/image" Target="../media/image128.png"/><Relationship Id="rId8" Type="http://schemas.openxmlformats.org/officeDocument/2006/relationships/image" Target="../media/image129.png"/><Relationship Id="rId9" Type="http://schemas.openxmlformats.org/officeDocument/2006/relationships/image" Target="../media/image130.png"/><Relationship Id="rId10" Type="http://schemas.openxmlformats.org/officeDocument/2006/relationships/image" Target="../media/image131.png"/><Relationship Id="rId11" Type="http://schemas.openxmlformats.org/officeDocument/2006/relationships/image" Target="../media/image32.pn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32.png"/><Relationship Id="rId6" Type="http://schemas.openxmlformats.org/officeDocument/2006/relationships/image" Target="../media/image85.png"/><Relationship Id="rId7" Type="http://schemas.openxmlformats.org/officeDocument/2006/relationships/image" Target="../media/image72.png"/><Relationship Id="rId8"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AGENTIC RESEARCH PIPELINE</a:t>
            </a:r>
          </a:p>
        </p:txBody>
      </p:sp>
      <p:sp>
        <p:nvSpPr>
          <p:cNvPr id="3" name="TextBox 2"/>
          <p:cNvSpPr txBox="1"/>
          <p:nvPr/>
        </p:nvSpPr>
        <p:spPr>
          <a:xfrm>
            <a:off x="812800" y="1136650"/>
            <a:ext cx="10566400" cy="508000"/>
          </a:xfrm>
          <a:prstGeom prst="rect">
            <a:avLst/>
          </a:prstGeom>
          <a:noFill/>
        </p:spPr>
        <p:txBody>
          <a:bodyPr wrap="square" lIns="0" rIns="0" tIns="0" bIns="0" anchor="t">
            <a:spAutoFit/>
          </a:bodyPr>
          <a:lstStyle/>
          <a:p>
            <a:pPr>
              <a:lnSpc>
                <a:spcPct val="91667"/>
              </a:lnSpc>
              <a:spcAft>
                <a:spcPts val="0"/>
              </a:spcAft>
            </a:pPr>
            <a:r>
              <a:rPr sz="3600" b="1">
                <a:solidFill>
                  <a:srgbClr val="0F172A"/>
                </a:solidFill>
                <a:latin typeface="IBM Plex Sans"/>
              </a:rPr>
              <a:t>Research at scale, every number traceable</a:t>
            </a:r>
          </a:p>
        </p:txBody>
      </p:sp>
      <p:sp>
        <p:nvSpPr>
          <p:cNvPr id="4" name="TextBox 3"/>
          <p:cNvSpPr txBox="1"/>
          <p:nvPr/>
        </p:nvSpPr>
        <p:spPr>
          <a:xfrm>
            <a:off x="812800" y="192405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WHAT IT DOES</a:t>
            </a:r>
          </a:p>
        </p:txBody>
      </p:sp>
      <p:sp>
        <p:nvSpPr>
          <p:cNvPr id="5" name="Rounded Rectangle 4"/>
          <p:cNvSpPr/>
          <p:nvPr/>
        </p:nvSpPr>
        <p:spPr>
          <a:xfrm>
            <a:off x="812800" y="2222500"/>
            <a:ext cx="5207000" cy="1612900"/>
          </a:xfrm>
          <a:prstGeom prst="roundRect">
            <a:avLst>
              <a:gd name="adj" fmla="val 6299"/>
            </a:avLst>
          </a:prstGeom>
          <a:solidFill>
            <a:srgbClr val="FFFFFF"/>
          </a:solidFill>
          <a:ln w="9525">
            <a:solidFill>
              <a:srgbClr val="E2E8F0"/>
            </a:solidFill>
          </a:ln>
          <a:effectLst/>
        </p:spPr>
        <p:txBody>
          <a:bodyPr rtlCol="0" anchor="ctr"/>
          <a:lstStyle/>
          <a:p>
            <a:pPr algn="ctr"/>
          </a:p>
        </p:txBody>
      </p:sp>
      <p:sp>
        <p:nvSpPr>
          <p:cNvPr id="6" name="Oval 5"/>
          <p:cNvSpPr/>
          <p:nvPr/>
        </p:nvSpPr>
        <p:spPr>
          <a:xfrm>
            <a:off x="965200" y="2374900"/>
            <a:ext cx="304800" cy="304800"/>
          </a:xfrm>
          <a:prstGeom prst="ellipse">
            <a:avLst/>
          </a:prstGeom>
          <a:solidFill>
            <a:srgbClr val="0F172A"/>
          </a:solidFill>
          <a:ln>
            <a:noFill/>
          </a:ln>
          <a:effectLst/>
        </p:spPr>
        <p:txBody>
          <a:bodyPr rtlCol="0" anchor="ctr"/>
          <a:lstStyle/>
          <a:p>
            <a:pPr algn="ctr"/>
          </a:p>
        </p:txBody>
      </p:sp>
      <p:pic>
        <p:nvPicPr>
          <p:cNvPr id="7" name="Picture 6" descr="search-FFFFFF.png"/>
          <p:cNvPicPr>
            <a:picLocks noChangeAspect="1"/>
          </p:cNvPicPr>
          <p:nvPr/>
        </p:nvPicPr>
        <p:blipFill>
          <a:blip r:embed="rId2"/>
          <a:stretch>
            <a:fillRect/>
          </a:stretch>
        </p:blipFill>
        <p:spPr>
          <a:xfrm>
            <a:off x="1041400" y="2451100"/>
            <a:ext cx="152400" cy="152400"/>
          </a:xfrm>
          <a:prstGeom prst="rect">
            <a:avLst/>
          </a:prstGeom>
        </p:spPr>
      </p:pic>
      <p:sp>
        <p:nvSpPr>
          <p:cNvPr id="8" name="TextBox 7"/>
          <p:cNvSpPr txBox="1"/>
          <p:nvPr/>
        </p:nvSpPr>
        <p:spPr>
          <a:xfrm>
            <a:off x="1371600" y="2374900"/>
            <a:ext cx="4495800" cy="304800"/>
          </a:xfrm>
          <a:prstGeom prst="rect">
            <a:avLst/>
          </a:prstGeom>
          <a:noFill/>
        </p:spPr>
        <p:txBody>
          <a:bodyPr wrap="square" lIns="0" rIns="0" tIns="0" bIns="0" anchor="ctr">
            <a:spAutoFit/>
          </a:bodyPr>
          <a:lstStyle/>
          <a:p>
            <a:pPr>
              <a:lnSpc>
                <a:spcPct val="100000"/>
              </a:lnSpc>
              <a:spcAft>
                <a:spcPts val="0"/>
              </a:spcAft>
            </a:pPr>
            <a:r>
              <a:rPr sz="1500" b="1">
                <a:solidFill>
                  <a:srgbClr val="0F172A"/>
                </a:solidFill>
                <a:latin typeface="IBM Plex Sans"/>
              </a:rPr>
              <a:t>Find and extract</a:t>
            </a:r>
          </a:p>
        </p:txBody>
      </p:sp>
      <p:sp>
        <p:nvSpPr>
          <p:cNvPr id="9" name="TextBox 8"/>
          <p:cNvSpPr txBox="1"/>
          <p:nvPr/>
        </p:nvSpPr>
        <p:spPr>
          <a:xfrm>
            <a:off x="965200" y="2755900"/>
            <a:ext cx="4902200"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Thematic universes, document discovery and identity resolution. Schema-defined figures, XBRL facts, transition plans and barriers, for ~4,000 companies per run.</a:t>
            </a:r>
          </a:p>
        </p:txBody>
      </p:sp>
      <p:sp>
        <p:nvSpPr>
          <p:cNvPr id="10" name="Rounded Rectangle 9"/>
          <p:cNvSpPr/>
          <p:nvPr/>
        </p:nvSpPr>
        <p:spPr>
          <a:xfrm>
            <a:off x="6172200" y="2222500"/>
            <a:ext cx="5207000" cy="1612900"/>
          </a:xfrm>
          <a:prstGeom prst="roundRect">
            <a:avLst>
              <a:gd name="adj" fmla="val 6299"/>
            </a:avLst>
          </a:prstGeom>
          <a:solidFill>
            <a:srgbClr val="FFFFFF"/>
          </a:solidFill>
          <a:ln w="9525">
            <a:solidFill>
              <a:srgbClr val="E2E8F0"/>
            </a:solidFill>
          </a:ln>
          <a:effectLst/>
        </p:spPr>
        <p:txBody>
          <a:bodyPr rtlCol="0" anchor="ctr"/>
          <a:lstStyle/>
          <a:p>
            <a:pPr algn="ctr"/>
          </a:p>
        </p:txBody>
      </p:sp>
      <p:sp>
        <p:nvSpPr>
          <p:cNvPr id="11" name="Oval 10"/>
          <p:cNvSpPr/>
          <p:nvPr/>
        </p:nvSpPr>
        <p:spPr>
          <a:xfrm>
            <a:off x="6324600" y="2374900"/>
            <a:ext cx="304800" cy="304800"/>
          </a:xfrm>
          <a:prstGeom prst="ellipse">
            <a:avLst/>
          </a:prstGeom>
          <a:solidFill>
            <a:srgbClr val="0F172A"/>
          </a:solidFill>
          <a:ln>
            <a:noFill/>
          </a:ln>
          <a:effectLst/>
        </p:spPr>
        <p:txBody>
          <a:bodyPr rtlCol="0" anchor="ctr"/>
          <a:lstStyle/>
          <a:p>
            <a:pPr algn="ctr"/>
          </a:p>
        </p:txBody>
      </p:sp>
      <p:pic>
        <p:nvPicPr>
          <p:cNvPr id="12" name="Picture 11" descr="chart-column-FFFFFF.png"/>
          <p:cNvPicPr>
            <a:picLocks noChangeAspect="1"/>
          </p:cNvPicPr>
          <p:nvPr/>
        </p:nvPicPr>
        <p:blipFill>
          <a:blip r:embed="rId3"/>
          <a:stretch>
            <a:fillRect/>
          </a:stretch>
        </p:blipFill>
        <p:spPr>
          <a:xfrm>
            <a:off x="6400800" y="2451100"/>
            <a:ext cx="152400" cy="152400"/>
          </a:xfrm>
          <a:prstGeom prst="rect">
            <a:avLst/>
          </a:prstGeom>
        </p:spPr>
      </p:pic>
      <p:sp>
        <p:nvSpPr>
          <p:cNvPr id="13" name="TextBox 12"/>
          <p:cNvSpPr txBox="1"/>
          <p:nvPr/>
        </p:nvSpPr>
        <p:spPr>
          <a:xfrm>
            <a:off x="6731000" y="2374900"/>
            <a:ext cx="4495800" cy="304800"/>
          </a:xfrm>
          <a:prstGeom prst="rect">
            <a:avLst/>
          </a:prstGeom>
          <a:noFill/>
        </p:spPr>
        <p:txBody>
          <a:bodyPr wrap="square" lIns="0" rIns="0" tIns="0" bIns="0" anchor="ctr">
            <a:spAutoFit/>
          </a:bodyPr>
          <a:lstStyle/>
          <a:p>
            <a:pPr>
              <a:lnSpc>
                <a:spcPct val="100000"/>
              </a:lnSpc>
              <a:spcAft>
                <a:spcPts val="0"/>
              </a:spcAft>
            </a:pPr>
            <a:r>
              <a:rPr sz="1500" b="1">
                <a:solidFill>
                  <a:srgbClr val="0F172A"/>
                </a:solidFill>
                <a:latin typeface="IBM Plex Sans"/>
              </a:rPr>
              <a:t>Analyse and decide</a:t>
            </a:r>
          </a:p>
        </p:txBody>
      </p:sp>
      <p:sp>
        <p:nvSpPr>
          <p:cNvPr id="14" name="TextBox 13"/>
          <p:cNvSpPr txBox="1"/>
          <p:nvPr/>
        </p:nvSpPr>
        <p:spPr>
          <a:xfrm>
            <a:off x="6324600" y="2755900"/>
            <a:ext cx="4902200"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Portfolio and climate analytics (WACI, financed emissions), Decision Studio scoring and tiering, equity index construction, strategy backtests, reports, decks and dashboards.</a:t>
            </a:r>
          </a:p>
        </p:txBody>
      </p:sp>
      <p:sp>
        <p:nvSpPr>
          <p:cNvPr id="15" name="TextBox 14"/>
          <p:cNvSpPr txBox="1"/>
          <p:nvPr/>
        </p:nvSpPr>
        <p:spPr>
          <a:xfrm>
            <a:off x="812800" y="40386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WHAT MAKES IT POSSIBLE</a:t>
            </a:r>
          </a:p>
        </p:txBody>
      </p:sp>
      <p:sp>
        <p:nvSpPr>
          <p:cNvPr id="16" name="Rounded Rectangle 15"/>
          <p:cNvSpPr/>
          <p:nvPr/>
        </p:nvSpPr>
        <p:spPr>
          <a:xfrm>
            <a:off x="812800" y="4337050"/>
            <a:ext cx="3420533" cy="1612900"/>
          </a:xfrm>
          <a:prstGeom prst="roundRect">
            <a:avLst>
              <a:gd name="adj" fmla="val 6299"/>
            </a:avLst>
          </a:prstGeom>
          <a:solidFill>
            <a:srgbClr val="FFFFFF"/>
          </a:solidFill>
          <a:ln w="9525">
            <a:solidFill>
              <a:srgbClr val="E2E8F0"/>
            </a:solidFill>
          </a:ln>
          <a:effectLst/>
        </p:spPr>
        <p:txBody>
          <a:bodyPr rtlCol="0" anchor="ctr"/>
          <a:lstStyle/>
          <a:p>
            <a:pPr algn="ctr"/>
          </a:p>
        </p:txBody>
      </p:sp>
      <p:sp>
        <p:nvSpPr>
          <p:cNvPr id="17" name="Oval 16"/>
          <p:cNvSpPr/>
          <p:nvPr/>
        </p:nvSpPr>
        <p:spPr>
          <a:xfrm>
            <a:off x="965200" y="4489450"/>
            <a:ext cx="304800" cy="304800"/>
          </a:xfrm>
          <a:prstGeom prst="ellipse">
            <a:avLst/>
          </a:prstGeom>
          <a:solidFill>
            <a:srgbClr val="16A34A"/>
          </a:solidFill>
          <a:ln>
            <a:noFill/>
          </a:ln>
          <a:effectLst/>
        </p:spPr>
        <p:txBody>
          <a:bodyPr rtlCol="0" anchor="ctr"/>
          <a:lstStyle/>
          <a:p>
            <a:pPr algn="ctr"/>
          </a:p>
        </p:txBody>
      </p:sp>
      <p:pic>
        <p:nvPicPr>
          <p:cNvPr id="18" name="Picture 17" descr="code-FFFFFF.png"/>
          <p:cNvPicPr>
            <a:picLocks noChangeAspect="1"/>
          </p:cNvPicPr>
          <p:nvPr/>
        </p:nvPicPr>
        <p:blipFill>
          <a:blip r:embed="rId4"/>
          <a:stretch>
            <a:fillRect/>
          </a:stretch>
        </p:blipFill>
        <p:spPr>
          <a:xfrm>
            <a:off x="1041400" y="4565650"/>
            <a:ext cx="152400" cy="152400"/>
          </a:xfrm>
          <a:prstGeom prst="rect">
            <a:avLst/>
          </a:prstGeom>
        </p:spPr>
      </p:pic>
      <p:sp>
        <p:nvSpPr>
          <p:cNvPr id="19" name="TextBox 18"/>
          <p:cNvSpPr txBox="1"/>
          <p:nvPr/>
        </p:nvSpPr>
        <p:spPr>
          <a:xfrm>
            <a:off x="1371600" y="4489450"/>
            <a:ext cx="2709333" cy="304800"/>
          </a:xfrm>
          <a:prstGeom prst="rect">
            <a:avLst/>
          </a:prstGeom>
          <a:noFill/>
        </p:spPr>
        <p:txBody>
          <a:bodyPr wrap="square" lIns="0" rIns="0" tIns="0" bIns="0" anchor="ctr">
            <a:spAutoFit/>
          </a:bodyPr>
          <a:lstStyle/>
          <a:p>
            <a:pPr>
              <a:lnSpc>
                <a:spcPct val="100000"/>
              </a:lnSpc>
              <a:spcAft>
                <a:spcPts val="0"/>
              </a:spcAft>
            </a:pPr>
            <a:r>
              <a:rPr sz="1500" b="1">
                <a:solidFill>
                  <a:srgbClr val="0F172A"/>
                </a:solidFill>
                <a:latin typeface="IBM Plex Sans"/>
              </a:rPr>
              <a:t>The LLM plans, code computes</a:t>
            </a:r>
          </a:p>
        </p:txBody>
      </p:sp>
      <p:sp>
        <p:nvSpPr>
          <p:cNvPr id="20" name="TextBox 19"/>
          <p:cNvSpPr txBox="1"/>
          <p:nvPr/>
        </p:nvSpPr>
        <p:spPr>
          <a:xfrm>
            <a:off x="965200" y="4870450"/>
            <a:ext cx="3115733"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Models draft, verify and propose. Numbers, scoring, index weights and backtests are plain deterministic code.</a:t>
            </a:r>
          </a:p>
        </p:txBody>
      </p:sp>
      <p:sp>
        <p:nvSpPr>
          <p:cNvPr id="21" name="Rounded Rectangle 20"/>
          <p:cNvSpPr/>
          <p:nvPr/>
        </p:nvSpPr>
        <p:spPr>
          <a:xfrm>
            <a:off x="4385733" y="4337050"/>
            <a:ext cx="3420533" cy="1612900"/>
          </a:xfrm>
          <a:prstGeom prst="roundRect">
            <a:avLst>
              <a:gd name="adj" fmla="val 6299"/>
            </a:avLst>
          </a:prstGeom>
          <a:solidFill>
            <a:srgbClr val="FFFFFF"/>
          </a:solidFill>
          <a:ln w="9525">
            <a:solidFill>
              <a:srgbClr val="E2E8F0"/>
            </a:solidFill>
          </a:ln>
          <a:effectLst/>
        </p:spPr>
        <p:txBody>
          <a:bodyPr rtlCol="0" anchor="ctr"/>
          <a:lstStyle/>
          <a:p>
            <a:pPr algn="ctr"/>
          </a:p>
        </p:txBody>
      </p:sp>
      <p:sp>
        <p:nvSpPr>
          <p:cNvPr id="22" name="Oval 21"/>
          <p:cNvSpPr/>
          <p:nvPr/>
        </p:nvSpPr>
        <p:spPr>
          <a:xfrm>
            <a:off x="4538133" y="4489450"/>
            <a:ext cx="304800" cy="304800"/>
          </a:xfrm>
          <a:prstGeom prst="ellipse">
            <a:avLst/>
          </a:prstGeom>
          <a:solidFill>
            <a:srgbClr val="16A34A"/>
          </a:solidFill>
          <a:ln>
            <a:noFill/>
          </a:ln>
          <a:effectLst/>
        </p:spPr>
        <p:txBody>
          <a:bodyPr rtlCol="0" anchor="ctr"/>
          <a:lstStyle/>
          <a:p>
            <a:pPr algn="ctr"/>
          </a:p>
        </p:txBody>
      </p:sp>
      <p:pic>
        <p:nvPicPr>
          <p:cNvPr id="23" name="Picture 22" descr="badge-check-FFFFFF.png"/>
          <p:cNvPicPr>
            <a:picLocks noChangeAspect="1"/>
          </p:cNvPicPr>
          <p:nvPr/>
        </p:nvPicPr>
        <p:blipFill>
          <a:blip r:embed="rId5"/>
          <a:stretch>
            <a:fillRect/>
          </a:stretch>
        </p:blipFill>
        <p:spPr>
          <a:xfrm>
            <a:off x="4614333" y="4565650"/>
            <a:ext cx="152400" cy="152400"/>
          </a:xfrm>
          <a:prstGeom prst="rect">
            <a:avLst/>
          </a:prstGeom>
        </p:spPr>
      </p:pic>
      <p:sp>
        <p:nvSpPr>
          <p:cNvPr id="24" name="TextBox 23"/>
          <p:cNvSpPr txBox="1"/>
          <p:nvPr/>
        </p:nvSpPr>
        <p:spPr>
          <a:xfrm>
            <a:off x="4944533" y="4489450"/>
            <a:ext cx="2709333" cy="304800"/>
          </a:xfrm>
          <a:prstGeom prst="rect">
            <a:avLst/>
          </a:prstGeom>
          <a:noFill/>
        </p:spPr>
        <p:txBody>
          <a:bodyPr wrap="square" lIns="0" rIns="0" tIns="0" bIns="0" anchor="ctr">
            <a:spAutoFit/>
          </a:bodyPr>
          <a:lstStyle/>
          <a:p>
            <a:pPr>
              <a:lnSpc>
                <a:spcPct val="100000"/>
              </a:lnSpc>
              <a:spcAft>
                <a:spcPts val="0"/>
              </a:spcAft>
            </a:pPr>
            <a:r>
              <a:rPr sz="1500" b="1">
                <a:solidFill>
                  <a:srgbClr val="0F172A"/>
                </a:solidFill>
                <a:latin typeface="IBM Plex Sans"/>
              </a:rPr>
              <a:t>Every citation is checked</a:t>
            </a:r>
          </a:p>
        </p:txBody>
      </p:sp>
      <p:sp>
        <p:nvSpPr>
          <p:cNvPr id="25" name="TextBox 24"/>
          <p:cNvSpPr txBox="1"/>
          <p:nvPr/>
        </p:nvSpPr>
        <p:spPr>
          <a:xfrm>
            <a:off x="4538133" y="4870450"/>
            <a:ext cx="3115733"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Each quote is re-verified in code against the source document. An independent verifier runs on a different model.</a:t>
            </a:r>
          </a:p>
        </p:txBody>
      </p:sp>
      <p:sp>
        <p:nvSpPr>
          <p:cNvPr id="26" name="Rounded Rectangle 25"/>
          <p:cNvSpPr/>
          <p:nvPr/>
        </p:nvSpPr>
        <p:spPr>
          <a:xfrm>
            <a:off x="7958667" y="4337050"/>
            <a:ext cx="3420533" cy="1612900"/>
          </a:xfrm>
          <a:prstGeom prst="roundRect">
            <a:avLst>
              <a:gd name="adj" fmla="val 6299"/>
            </a:avLst>
          </a:prstGeom>
          <a:solidFill>
            <a:srgbClr val="FFFFFF"/>
          </a:solidFill>
          <a:ln w="9525">
            <a:solidFill>
              <a:srgbClr val="E2E8F0"/>
            </a:solidFill>
          </a:ln>
          <a:effectLst/>
        </p:spPr>
        <p:txBody>
          <a:bodyPr rtlCol="0" anchor="ctr"/>
          <a:lstStyle/>
          <a:p>
            <a:pPr algn="ctr"/>
          </a:p>
        </p:txBody>
      </p:sp>
      <p:sp>
        <p:nvSpPr>
          <p:cNvPr id="27" name="Oval 26"/>
          <p:cNvSpPr/>
          <p:nvPr/>
        </p:nvSpPr>
        <p:spPr>
          <a:xfrm>
            <a:off x="8111067" y="4489450"/>
            <a:ext cx="304800" cy="304800"/>
          </a:xfrm>
          <a:prstGeom prst="ellipse">
            <a:avLst/>
          </a:prstGeom>
          <a:solidFill>
            <a:srgbClr val="2563EB"/>
          </a:solidFill>
          <a:ln>
            <a:noFill/>
          </a:ln>
          <a:effectLst/>
        </p:spPr>
        <p:txBody>
          <a:bodyPr rtlCol="0" anchor="ctr"/>
          <a:lstStyle/>
          <a:p>
            <a:pPr algn="ctr"/>
          </a:p>
        </p:txBody>
      </p:sp>
      <p:pic>
        <p:nvPicPr>
          <p:cNvPr id="28" name="Picture 27" descr="users-FFFFFF.png"/>
          <p:cNvPicPr>
            <a:picLocks noChangeAspect="1"/>
          </p:cNvPicPr>
          <p:nvPr/>
        </p:nvPicPr>
        <p:blipFill>
          <a:blip r:embed="rId6"/>
          <a:stretch>
            <a:fillRect/>
          </a:stretch>
        </p:blipFill>
        <p:spPr>
          <a:xfrm>
            <a:off x="8187267" y="4565650"/>
            <a:ext cx="152400" cy="152400"/>
          </a:xfrm>
          <a:prstGeom prst="rect">
            <a:avLst/>
          </a:prstGeom>
        </p:spPr>
      </p:pic>
      <p:sp>
        <p:nvSpPr>
          <p:cNvPr id="29" name="TextBox 28"/>
          <p:cNvSpPr txBox="1"/>
          <p:nvPr/>
        </p:nvSpPr>
        <p:spPr>
          <a:xfrm>
            <a:off x="8517467" y="4489450"/>
            <a:ext cx="2709333" cy="304800"/>
          </a:xfrm>
          <a:prstGeom prst="rect">
            <a:avLst/>
          </a:prstGeom>
          <a:noFill/>
        </p:spPr>
        <p:txBody>
          <a:bodyPr wrap="square" lIns="0" rIns="0" tIns="0" bIns="0" anchor="ctr">
            <a:spAutoFit/>
          </a:bodyPr>
          <a:lstStyle/>
          <a:p>
            <a:pPr>
              <a:lnSpc>
                <a:spcPct val="100000"/>
              </a:lnSpc>
              <a:spcAft>
                <a:spcPts val="0"/>
              </a:spcAft>
            </a:pPr>
            <a:r>
              <a:rPr sz="1500" b="1">
                <a:solidFill>
                  <a:srgbClr val="0F172A"/>
                </a:solidFill>
                <a:latin typeface="IBM Plex Sans"/>
              </a:rPr>
              <a:t>Agents propose, people ratify</a:t>
            </a:r>
          </a:p>
        </p:txBody>
      </p:sp>
      <p:sp>
        <p:nvSpPr>
          <p:cNvPr id="30" name="TextBox 29"/>
          <p:cNvSpPr txBox="1"/>
          <p:nvPr/>
        </p:nvSpPr>
        <p:spPr>
          <a:xfrm>
            <a:off x="8111067" y="4870450"/>
            <a:ext cx="3115733"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Review queues, four-eyes approval, versioned frameworks. Nothing flagged reaches an export until a named person approves.</a:t>
            </a:r>
          </a:p>
        </p:txBody>
      </p:sp>
      <p:sp>
        <p:nvSpPr>
          <p:cNvPr id="31" name="TextBox 30"/>
          <p:cNvSpPr txBox="1"/>
          <p:nvPr/>
        </p:nvSpPr>
        <p:spPr>
          <a:xfrm>
            <a:off x="812800" y="6254750"/>
            <a:ext cx="11176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BUILT ON</a:t>
            </a:r>
          </a:p>
        </p:txBody>
      </p:sp>
      <p:sp>
        <p:nvSpPr>
          <p:cNvPr id="32" name="TextBox 31"/>
          <p:cNvSpPr txBox="1"/>
          <p:nvPr/>
        </p:nvSpPr>
        <p:spPr>
          <a:xfrm>
            <a:off x="2082800" y="6254750"/>
            <a:ext cx="9296400" cy="39370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Sans"/>
              </a:rPr>
              <a:t>Postgres system of record · resumable batch runs · LangGraph per-company flows · one LLM interface · API, CLI and UI on the same pipelines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THE APP</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One app, five workspaces</a:t>
            </a:r>
          </a:p>
        </p:txBody>
      </p:sp>
      <p:sp>
        <p:nvSpPr>
          <p:cNvPr id="4" name="Rounded Rectangle 3"/>
          <p:cNvSpPr/>
          <p:nvPr/>
        </p:nvSpPr>
        <p:spPr>
          <a:xfrm>
            <a:off x="812800" y="1854200"/>
            <a:ext cx="1991360" cy="2165350"/>
          </a:xfrm>
          <a:prstGeom prst="roundRect">
            <a:avLst>
              <a:gd name="adj" fmla="val 5102"/>
            </a:avLst>
          </a:prstGeom>
          <a:solidFill>
            <a:srgbClr val="FFFFFF"/>
          </a:solidFill>
          <a:ln w="9525">
            <a:solidFill>
              <a:srgbClr val="E2E8F0"/>
            </a:solidFill>
          </a:ln>
          <a:effectLst/>
        </p:spPr>
        <p:txBody>
          <a:bodyPr rtlCol="0" anchor="ctr"/>
          <a:lstStyle/>
          <a:p>
            <a:pPr algn="ctr"/>
          </a:p>
        </p:txBody>
      </p:sp>
      <p:sp>
        <p:nvSpPr>
          <p:cNvPr id="5" name="Oval 4"/>
          <p:cNvSpPr/>
          <p:nvPr/>
        </p:nvSpPr>
        <p:spPr>
          <a:xfrm>
            <a:off x="965200" y="2006600"/>
            <a:ext cx="304800" cy="304800"/>
          </a:xfrm>
          <a:prstGeom prst="ellipse">
            <a:avLst/>
          </a:prstGeom>
          <a:solidFill>
            <a:srgbClr val="0F172A"/>
          </a:solidFill>
          <a:ln>
            <a:noFill/>
          </a:ln>
          <a:effectLst/>
        </p:spPr>
        <p:txBody>
          <a:bodyPr rtlCol="0" anchor="ctr"/>
          <a:lstStyle/>
          <a:p>
            <a:pPr algn="ctr"/>
          </a:p>
        </p:txBody>
      </p:sp>
      <p:pic>
        <p:nvPicPr>
          <p:cNvPr id="6" name="Picture 5" descr="scan-search-FFFFFF.png"/>
          <p:cNvPicPr>
            <a:picLocks noChangeAspect="1"/>
          </p:cNvPicPr>
          <p:nvPr/>
        </p:nvPicPr>
        <p:blipFill>
          <a:blip r:embed="rId2"/>
          <a:stretch>
            <a:fillRect/>
          </a:stretch>
        </p:blipFill>
        <p:spPr>
          <a:xfrm>
            <a:off x="1041400" y="2082800"/>
            <a:ext cx="152400" cy="152400"/>
          </a:xfrm>
          <a:prstGeom prst="rect">
            <a:avLst/>
          </a:prstGeom>
        </p:spPr>
      </p:pic>
      <p:sp>
        <p:nvSpPr>
          <p:cNvPr id="7" name="TextBox 6"/>
          <p:cNvSpPr txBox="1"/>
          <p:nvPr/>
        </p:nvSpPr>
        <p:spPr>
          <a:xfrm>
            <a:off x="965200" y="2400300"/>
            <a:ext cx="1686560" cy="463550"/>
          </a:xfrm>
          <a:prstGeom prst="rect">
            <a:avLst/>
          </a:prstGeom>
          <a:noFill/>
        </p:spPr>
        <p:txBody>
          <a:bodyPr wrap="square" lIns="0" rIns="0" tIns="0" bIns="0" anchor="t">
            <a:spAutoFit/>
          </a:bodyPr>
          <a:lstStyle/>
          <a:p>
            <a:pPr>
              <a:lnSpc>
                <a:spcPct val="100000"/>
              </a:lnSpc>
              <a:spcAft>
                <a:spcPts val="0"/>
              </a:spcAft>
            </a:pPr>
            <a:r>
              <a:rPr sz="1400" b="1">
                <a:solidFill>
                  <a:srgbClr val="0F172A"/>
                </a:solidFill>
                <a:latin typeface="IBM Plex Sans"/>
              </a:rPr>
              <a:t>Argus</a:t>
            </a:r>
          </a:p>
        </p:txBody>
      </p:sp>
      <p:sp>
        <p:nvSpPr>
          <p:cNvPr id="8" name="TextBox 7"/>
          <p:cNvSpPr txBox="1"/>
          <p:nvPr/>
        </p:nvSpPr>
        <p:spPr>
          <a:xfrm>
            <a:off x="965200" y="2940050"/>
            <a:ext cx="1686560"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Extract cited data points and score them with ratified templates.</a:t>
            </a:r>
          </a:p>
        </p:txBody>
      </p:sp>
      <p:sp>
        <p:nvSpPr>
          <p:cNvPr id="9" name="Rounded Rectangle 8"/>
          <p:cNvSpPr/>
          <p:nvPr/>
        </p:nvSpPr>
        <p:spPr>
          <a:xfrm>
            <a:off x="2956560" y="1854200"/>
            <a:ext cx="1991360" cy="2165350"/>
          </a:xfrm>
          <a:prstGeom prst="roundRect">
            <a:avLst>
              <a:gd name="adj" fmla="val 5102"/>
            </a:avLst>
          </a:prstGeom>
          <a:solidFill>
            <a:srgbClr val="FFFFFF"/>
          </a:solidFill>
          <a:ln w="9525">
            <a:solidFill>
              <a:srgbClr val="E2E8F0"/>
            </a:solidFill>
          </a:ln>
          <a:effectLst/>
        </p:spPr>
        <p:txBody>
          <a:bodyPr rtlCol="0" anchor="ctr"/>
          <a:lstStyle/>
          <a:p>
            <a:pPr algn="ctr"/>
          </a:p>
        </p:txBody>
      </p:sp>
      <p:sp>
        <p:nvSpPr>
          <p:cNvPr id="10" name="Oval 9"/>
          <p:cNvSpPr/>
          <p:nvPr/>
        </p:nvSpPr>
        <p:spPr>
          <a:xfrm>
            <a:off x="3108960" y="2006600"/>
            <a:ext cx="304800" cy="304800"/>
          </a:xfrm>
          <a:prstGeom prst="ellipse">
            <a:avLst/>
          </a:prstGeom>
          <a:solidFill>
            <a:srgbClr val="0F172A"/>
          </a:solidFill>
          <a:ln>
            <a:noFill/>
          </a:ln>
          <a:effectLst/>
        </p:spPr>
        <p:txBody>
          <a:bodyPr rtlCol="0" anchor="ctr"/>
          <a:lstStyle/>
          <a:p>
            <a:pPr algn="ctr"/>
          </a:p>
        </p:txBody>
      </p:sp>
      <p:pic>
        <p:nvPicPr>
          <p:cNvPr id="11" name="Picture 10" descr="leaf-FFFFFF.png"/>
          <p:cNvPicPr>
            <a:picLocks noChangeAspect="1"/>
          </p:cNvPicPr>
          <p:nvPr/>
        </p:nvPicPr>
        <p:blipFill>
          <a:blip r:embed="rId3"/>
          <a:stretch>
            <a:fillRect/>
          </a:stretch>
        </p:blipFill>
        <p:spPr>
          <a:xfrm>
            <a:off x="3185160" y="2082800"/>
            <a:ext cx="152400" cy="152400"/>
          </a:xfrm>
          <a:prstGeom prst="rect">
            <a:avLst/>
          </a:prstGeom>
        </p:spPr>
      </p:pic>
      <p:sp>
        <p:nvSpPr>
          <p:cNvPr id="12" name="TextBox 11"/>
          <p:cNvSpPr txBox="1"/>
          <p:nvPr/>
        </p:nvSpPr>
        <p:spPr>
          <a:xfrm>
            <a:off x="3108960" y="2400300"/>
            <a:ext cx="1686560" cy="463550"/>
          </a:xfrm>
          <a:prstGeom prst="rect">
            <a:avLst/>
          </a:prstGeom>
          <a:noFill/>
        </p:spPr>
        <p:txBody>
          <a:bodyPr wrap="square" lIns="0" rIns="0" tIns="0" bIns="0" anchor="t">
            <a:spAutoFit/>
          </a:bodyPr>
          <a:lstStyle/>
          <a:p>
            <a:pPr>
              <a:lnSpc>
                <a:spcPct val="100000"/>
              </a:lnSpc>
              <a:spcAft>
                <a:spcPts val="0"/>
              </a:spcAft>
            </a:pPr>
            <a:r>
              <a:rPr sz="1400" b="1">
                <a:solidFill>
                  <a:srgbClr val="0F172A"/>
                </a:solidFill>
                <a:latin typeface="IBM Plex Sans"/>
              </a:rPr>
              <a:t>Transition Intelligence</a:t>
            </a:r>
          </a:p>
        </p:txBody>
      </p:sp>
      <p:sp>
        <p:nvSpPr>
          <p:cNvPr id="13" name="TextBox 12"/>
          <p:cNvSpPr txBox="1"/>
          <p:nvPr/>
        </p:nvSpPr>
        <p:spPr>
          <a:xfrm>
            <a:off x="3108960" y="2940050"/>
            <a:ext cx="1686560"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Monitor holdings; assess climate and transition risk.</a:t>
            </a:r>
          </a:p>
        </p:txBody>
      </p:sp>
      <p:sp>
        <p:nvSpPr>
          <p:cNvPr id="14" name="Rounded Rectangle 13"/>
          <p:cNvSpPr/>
          <p:nvPr/>
        </p:nvSpPr>
        <p:spPr>
          <a:xfrm>
            <a:off x="5100320" y="1854200"/>
            <a:ext cx="1991360" cy="2165350"/>
          </a:xfrm>
          <a:prstGeom prst="roundRect">
            <a:avLst>
              <a:gd name="adj" fmla="val 5102"/>
            </a:avLst>
          </a:prstGeom>
          <a:solidFill>
            <a:srgbClr val="FFFFFF"/>
          </a:solidFill>
          <a:ln w="9525">
            <a:solidFill>
              <a:srgbClr val="E2E8F0"/>
            </a:solidFill>
          </a:ln>
          <a:effectLst/>
        </p:spPr>
        <p:txBody>
          <a:bodyPr rtlCol="0" anchor="ctr"/>
          <a:lstStyle/>
          <a:p>
            <a:pPr algn="ctr"/>
          </a:p>
        </p:txBody>
      </p:sp>
      <p:sp>
        <p:nvSpPr>
          <p:cNvPr id="15" name="Oval 14"/>
          <p:cNvSpPr/>
          <p:nvPr/>
        </p:nvSpPr>
        <p:spPr>
          <a:xfrm>
            <a:off x="5252720" y="2006600"/>
            <a:ext cx="304800" cy="304800"/>
          </a:xfrm>
          <a:prstGeom prst="ellipse">
            <a:avLst/>
          </a:prstGeom>
          <a:solidFill>
            <a:srgbClr val="0F172A"/>
          </a:solidFill>
          <a:ln>
            <a:noFill/>
          </a:ln>
          <a:effectLst/>
        </p:spPr>
        <p:txBody>
          <a:bodyPr rtlCol="0" anchor="ctr"/>
          <a:lstStyle/>
          <a:p>
            <a:pPr algn="ctr"/>
          </a:p>
        </p:txBody>
      </p:sp>
      <p:pic>
        <p:nvPicPr>
          <p:cNvPr id="16" name="Picture 15" descr="flask-conical-FFFFFF.png"/>
          <p:cNvPicPr>
            <a:picLocks noChangeAspect="1"/>
          </p:cNvPicPr>
          <p:nvPr/>
        </p:nvPicPr>
        <p:blipFill>
          <a:blip r:embed="rId4"/>
          <a:stretch>
            <a:fillRect/>
          </a:stretch>
        </p:blipFill>
        <p:spPr>
          <a:xfrm>
            <a:off x="5328920" y="2082800"/>
            <a:ext cx="152400" cy="152400"/>
          </a:xfrm>
          <a:prstGeom prst="rect">
            <a:avLst/>
          </a:prstGeom>
        </p:spPr>
      </p:pic>
      <p:sp>
        <p:nvSpPr>
          <p:cNvPr id="17" name="TextBox 16"/>
          <p:cNvSpPr txBox="1"/>
          <p:nvPr/>
        </p:nvSpPr>
        <p:spPr>
          <a:xfrm>
            <a:off x="5252720" y="2400300"/>
            <a:ext cx="1686560" cy="463550"/>
          </a:xfrm>
          <a:prstGeom prst="rect">
            <a:avLst/>
          </a:prstGeom>
          <a:noFill/>
        </p:spPr>
        <p:txBody>
          <a:bodyPr wrap="square" lIns="0" rIns="0" tIns="0" bIns="0" anchor="t">
            <a:spAutoFit/>
          </a:bodyPr>
          <a:lstStyle/>
          <a:p>
            <a:pPr>
              <a:lnSpc>
                <a:spcPct val="100000"/>
              </a:lnSpc>
              <a:spcAft>
                <a:spcPts val="0"/>
              </a:spcAft>
            </a:pPr>
            <a:r>
              <a:rPr sz="1400" b="1">
                <a:solidFill>
                  <a:srgbClr val="0F172A"/>
                </a:solidFill>
                <a:latin typeface="IBM Plex Sans"/>
              </a:rPr>
              <a:t>R&amp;D Lab</a:t>
            </a:r>
          </a:p>
        </p:txBody>
      </p:sp>
      <p:sp>
        <p:nvSpPr>
          <p:cNvPr id="18" name="TextBox 17"/>
          <p:cNvSpPr txBox="1"/>
          <p:nvPr/>
        </p:nvSpPr>
        <p:spPr>
          <a:xfrm>
            <a:off x="5252720" y="2940050"/>
            <a:ext cx="1686560"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Themes and strategies, scored and built into indices.</a:t>
            </a:r>
          </a:p>
        </p:txBody>
      </p:sp>
      <p:sp>
        <p:nvSpPr>
          <p:cNvPr id="19" name="Rounded Rectangle 18"/>
          <p:cNvSpPr/>
          <p:nvPr/>
        </p:nvSpPr>
        <p:spPr>
          <a:xfrm>
            <a:off x="7244080" y="1854200"/>
            <a:ext cx="1991360" cy="2165350"/>
          </a:xfrm>
          <a:prstGeom prst="roundRect">
            <a:avLst>
              <a:gd name="adj" fmla="val 5102"/>
            </a:avLst>
          </a:prstGeom>
          <a:solidFill>
            <a:srgbClr val="FFFFFF"/>
          </a:solidFill>
          <a:ln w="9525">
            <a:solidFill>
              <a:srgbClr val="E2E8F0"/>
            </a:solidFill>
          </a:ln>
          <a:effectLst/>
        </p:spPr>
        <p:txBody>
          <a:bodyPr rtlCol="0" anchor="ctr"/>
          <a:lstStyle/>
          <a:p>
            <a:pPr algn="ctr"/>
          </a:p>
        </p:txBody>
      </p:sp>
      <p:sp>
        <p:nvSpPr>
          <p:cNvPr id="20" name="Oval 19"/>
          <p:cNvSpPr/>
          <p:nvPr/>
        </p:nvSpPr>
        <p:spPr>
          <a:xfrm>
            <a:off x="7396480" y="2006600"/>
            <a:ext cx="304800" cy="304800"/>
          </a:xfrm>
          <a:prstGeom prst="ellipse">
            <a:avLst/>
          </a:prstGeom>
          <a:solidFill>
            <a:srgbClr val="0F172A"/>
          </a:solidFill>
          <a:ln>
            <a:noFill/>
          </a:ln>
          <a:effectLst/>
        </p:spPr>
        <p:txBody>
          <a:bodyPr rtlCol="0" anchor="ctr"/>
          <a:lstStyle/>
          <a:p>
            <a:pPr algn="ctr"/>
          </a:p>
        </p:txBody>
      </p:sp>
      <p:pic>
        <p:nvPicPr>
          <p:cNvPr id="21" name="Picture 20" descr="handshake-FFFFFF.png"/>
          <p:cNvPicPr>
            <a:picLocks noChangeAspect="1"/>
          </p:cNvPicPr>
          <p:nvPr/>
        </p:nvPicPr>
        <p:blipFill>
          <a:blip r:embed="rId5"/>
          <a:stretch>
            <a:fillRect/>
          </a:stretch>
        </p:blipFill>
        <p:spPr>
          <a:xfrm>
            <a:off x="7472680" y="2082800"/>
            <a:ext cx="152400" cy="152400"/>
          </a:xfrm>
          <a:prstGeom prst="rect">
            <a:avLst/>
          </a:prstGeom>
        </p:spPr>
      </p:pic>
      <p:sp>
        <p:nvSpPr>
          <p:cNvPr id="22" name="TextBox 21"/>
          <p:cNvSpPr txBox="1"/>
          <p:nvPr/>
        </p:nvSpPr>
        <p:spPr>
          <a:xfrm>
            <a:off x="7396480" y="2400300"/>
            <a:ext cx="1686560" cy="463550"/>
          </a:xfrm>
          <a:prstGeom prst="rect">
            <a:avLst/>
          </a:prstGeom>
          <a:noFill/>
        </p:spPr>
        <p:txBody>
          <a:bodyPr wrap="square" lIns="0" rIns="0" tIns="0" bIns="0" anchor="t">
            <a:spAutoFit/>
          </a:bodyPr>
          <a:lstStyle/>
          <a:p>
            <a:pPr>
              <a:lnSpc>
                <a:spcPct val="100000"/>
              </a:lnSpc>
              <a:spcAft>
                <a:spcPts val="0"/>
              </a:spcAft>
            </a:pPr>
            <a:r>
              <a:rPr sz="1400" b="1">
                <a:solidFill>
                  <a:srgbClr val="0F172A"/>
                </a:solidFill>
                <a:latin typeface="IBM Plex Sans"/>
              </a:rPr>
              <a:t>StewardIQ</a:t>
            </a:r>
          </a:p>
        </p:txBody>
      </p:sp>
      <p:sp>
        <p:nvSpPr>
          <p:cNvPr id="23" name="TextBox 22"/>
          <p:cNvSpPr txBox="1"/>
          <p:nvPr/>
        </p:nvSpPr>
        <p:spPr>
          <a:xfrm>
            <a:off x="7396480" y="2940050"/>
            <a:ext cx="1686560"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Engage, vote, escalate and report to clients.</a:t>
            </a:r>
          </a:p>
        </p:txBody>
      </p:sp>
      <p:sp>
        <p:nvSpPr>
          <p:cNvPr id="24" name="Rounded Rectangle 23"/>
          <p:cNvSpPr/>
          <p:nvPr/>
        </p:nvSpPr>
        <p:spPr>
          <a:xfrm>
            <a:off x="9387840" y="1854200"/>
            <a:ext cx="1991360" cy="2165350"/>
          </a:xfrm>
          <a:prstGeom prst="roundRect">
            <a:avLst>
              <a:gd name="adj" fmla="val 5102"/>
            </a:avLst>
          </a:prstGeom>
          <a:solidFill>
            <a:srgbClr val="FFFFFF"/>
          </a:solidFill>
          <a:ln w="9525">
            <a:solidFill>
              <a:srgbClr val="E2E8F0"/>
            </a:solidFill>
          </a:ln>
          <a:effectLst/>
        </p:spPr>
        <p:txBody>
          <a:bodyPr rtlCol="0" anchor="ctr"/>
          <a:lstStyle/>
          <a:p>
            <a:pPr algn="ctr"/>
          </a:p>
        </p:txBody>
      </p:sp>
      <p:sp>
        <p:nvSpPr>
          <p:cNvPr id="25" name="Oval 24"/>
          <p:cNvSpPr/>
          <p:nvPr/>
        </p:nvSpPr>
        <p:spPr>
          <a:xfrm>
            <a:off x="9540240" y="2006600"/>
            <a:ext cx="304800" cy="304800"/>
          </a:xfrm>
          <a:prstGeom prst="ellipse">
            <a:avLst/>
          </a:prstGeom>
          <a:solidFill>
            <a:srgbClr val="0F172A"/>
          </a:solidFill>
          <a:ln>
            <a:noFill/>
          </a:ln>
          <a:effectLst/>
        </p:spPr>
        <p:txBody>
          <a:bodyPr rtlCol="0" anchor="ctr"/>
          <a:lstStyle/>
          <a:p>
            <a:pPr algn="ctr"/>
          </a:p>
        </p:txBody>
      </p:sp>
      <p:pic>
        <p:nvPicPr>
          <p:cNvPr id="26" name="Picture 25" descr="database-FFFFFF.png"/>
          <p:cNvPicPr>
            <a:picLocks noChangeAspect="1"/>
          </p:cNvPicPr>
          <p:nvPr/>
        </p:nvPicPr>
        <p:blipFill>
          <a:blip r:embed="rId6"/>
          <a:stretch>
            <a:fillRect/>
          </a:stretch>
        </p:blipFill>
        <p:spPr>
          <a:xfrm>
            <a:off x="9616440" y="2082800"/>
            <a:ext cx="152400" cy="152400"/>
          </a:xfrm>
          <a:prstGeom prst="rect">
            <a:avLst/>
          </a:prstGeom>
        </p:spPr>
      </p:pic>
      <p:sp>
        <p:nvSpPr>
          <p:cNvPr id="27" name="TextBox 26"/>
          <p:cNvSpPr txBox="1"/>
          <p:nvPr/>
        </p:nvSpPr>
        <p:spPr>
          <a:xfrm>
            <a:off x="9540240" y="2400300"/>
            <a:ext cx="1686560" cy="463550"/>
          </a:xfrm>
          <a:prstGeom prst="rect">
            <a:avLst/>
          </a:prstGeom>
          <a:noFill/>
        </p:spPr>
        <p:txBody>
          <a:bodyPr wrap="square" lIns="0" rIns="0" tIns="0" bIns="0" anchor="t">
            <a:spAutoFit/>
          </a:bodyPr>
          <a:lstStyle/>
          <a:p>
            <a:pPr>
              <a:lnSpc>
                <a:spcPct val="100000"/>
              </a:lnSpc>
              <a:spcAft>
                <a:spcPts val="0"/>
              </a:spcAft>
            </a:pPr>
            <a:r>
              <a:rPr sz="1400" b="1">
                <a:solidFill>
                  <a:srgbClr val="0F172A"/>
                </a:solidFill>
                <a:latin typeface="IBM Plex Sans"/>
              </a:rPr>
              <a:t>Data Hub</a:t>
            </a:r>
          </a:p>
        </p:txBody>
      </p:sp>
      <p:sp>
        <p:nvSpPr>
          <p:cNvPr id="28" name="TextBox 27"/>
          <p:cNvSpPr txBox="1"/>
          <p:nvPr/>
        </p:nvSpPr>
        <p:spPr>
          <a:xfrm>
            <a:off x="9540240" y="2940050"/>
            <a:ext cx="1686560"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Feeds, stored data, the security master.</a:t>
            </a:r>
          </a:p>
        </p:txBody>
      </p:sp>
      <p:sp>
        <p:nvSpPr>
          <p:cNvPr id="29" name="Rounded Rectangle 28"/>
          <p:cNvSpPr/>
          <p:nvPr/>
        </p:nvSpPr>
        <p:spPr>
          <a:xfrm>
            <a:off x="812800" y="41719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0" name="Oval 29"/>
          <p:cNvSpPr/>
          <p:nvPr/>
        </p:nvSpPr>
        <p:spPr>
          <a:xfrm>
            <a:off x="965200" y="4324350"/>
            <a:ext cx="304800" cy="304800"/>
          </a:xfrm>
          <a:prstGeom prst="ellipse">
            <a:avLst/>
          </a:prstGeom>
          <a:solidFill>
            <a:srgbClr val="2563EB"/>
          </a:solidFill>
          <a:ln>
            <a:noFill/>
          </a:ln>
          <a:effectLst/>
        </p:spPr>
        <p:txBody>
          <a:bodyPr rtlCol="0" anchor="ctr"/>
          <a:lstStyle/>
          <a:p>
            <a:pPr algn="ctr"/>
          </a:p>
        </p:txBody>
      </p:sp>
      <p:pic>
        <p:nvPicPr>
          <p:cNvPr id="31" name="Picture 30" descr="inbox-FFFFFF.png"/>
          <p:cNvPicPr>
            <a:picLocks noChangeAspect="1"/>
          </p:cNvPicPr>
          <p:nvPr/>
        </p:nvPicPr>
        <p:blipFill>
          <a:blip r:embed="rId7"/>
          <a:stretch>
            <a:fillRect/>
          </a:stretch>
        </p:blipFill>
        <p:spPr>
          <a:xfrm>
            <a:off x="1041400" y="4400550"/>
            <a:ext cx="152400" cy="152400"/>
          </a:xfrm>
          <a:prstGeom prst="rect">
            <a:avLst/>
          </a:prstGeom>
        </p:spPr>
      </p:pic>
      <p:sp>
        <p:nvSpPr>
          <p:cNvPr id="32" name="TextBox 31"/>
          <p:cNvSpPr txBox="1"/>
          <p:nvPr/>
        </p:nvSpPr>
        <p:spPr>
          <a:xfrm>
            <a:off x="1371600" y="4324350"/>
            <a:ext cx="2709333" cy="304800"/>
          </a:xfrm>
          <a:prstGeom prst="rect">
            <a:avLst/>
          </a:prstGeom>
          <a:noFill/>
        </p:spPr>
        <p:txBody>
          <a:bodyPr wrap="square" lIns="0" rIns="0" tIns="0" bIns="0" anchor="ctr">
            <a:spAutoFit/>
          </a:bodyPr>
          <a:lstStyle/>
          <a:p>
            <a:pPr>
              <a:lnSpc>
                <a:spcPct val="100000"/>
              </a:lnSpc>
              <a:spcAft>
                <a:spcPts val="0"/>
              </a:spcAft>
            </a:pPr>
            <a:r>
              <a:rPr sz="1400" b="1">
                <a:solidFill>
                  <a:srgbClr val="0F172A"/>
                </a:solidFill>
                <a:latin typeface="IBM Plex Sans"/>
              </a:rPr>
              <a:t>Needs you: one inbox</a:t>
            </a:r>
          </a:p>
        </p:txBody>
      </p:sp>
      <p:sp>
        <p:nvSpPr>
          <p:cNvPr id="33" name="TextBox 32"/>
          <p:cNvSpPr txBox="1"/>
          <p:nvPr/>
        </p:nvSpPr>
        <p:spPr>
          <a:xfrm>
            <a:off x="965200" y="47053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Items to review, ballots to decide and blocking data issues, oldest first.</a:t>
            </a:r>
          </a:p>
        </p:txBody>
      </p:sp>
      <p:sp>
        <p:nvSpPr>
          <p:cNvPr id="34" name="Rounded Rectangle 33"/>
          <p:cNvSpPr/>
          <p:nvPr/>
        </p:nvSpPr>
        <p:spPr>
          <a:xfrm>
            <a:off x="4385733" y="41719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5" name="Oval 34"/>
          <p:cNvSpPr/>
          <p:nvPr/>
        </p:nvSpPr>
        <p:spPr>
          <a:xfrm>
            <a:off x="4538133" y="4324350"/>
            <a:ext cx="304800" cy="304800"/>
          </a:xfrm>
          <a:prstGeom prst="ellipse">
            <a:avLst/>
          </a:prstGeom>
          <a:solidFill>
            <a:srgbClr val="16A34A"/>
          </a:solidFill>
          <a:ln>
            <a:noFill/>
          </a:ln>
          <a:effectLst/>
        </p:spPr>
        <p:txBody>
          <a:bodyPr rtlCol="0" anchor="ctr"/>
          <a:lstStyle/>
          <a:p>
            <a:pPr algn="ctr"/>
          </a:p>
        </p:txBody>
      </p:sp>
      <p:pic>
        <p:nvPicPr>
          <p:cNvPr id="36" name="Picture 35" descr="message-circle-question-FFFFFF.png"/>
          <p:cNvPicPr>
            <a:picLocks noChangeAspect="1"/>
          </p:cNvPicPr>
          <p:nvPr/>
        </p:nvPicPr>
        <p:blipFill>
          <a:blip r:embed="rId8"/>
          <a:stretch>
            <a:fillRect/>
          </a:stretch>
        </p:blipFill>
        <p:spPr>
          <a:xfrm>
            <a:off x="4614333" y="4400550"/>
            <a:ext cx="152400" cy="152400"/>
          </a:xfrm>
          <a:prstGeom prst="rect">
            <a:avLst/>
          </a:prstGeom>
        </p:spPr>
      </p:pic>
      <p:sp>
        <p:nvSpPr>
          <p:cNvPr id="37" name="TextBox 36"/>
          <p:cNvSpPr txBox="1"/>
          <p:nvPr/>
        </p:nvSpPr>
        <p:spPr>
          <a:xfrm>
            <a:off x="4944533" y="4324350"/>
            <a:ext cx="2709333" cy="304800"/>
          </a:xfrm>
          <a:prstGeom prst="rect">
            <a:avLst/>
          </a:prstGeom>
          <a:noFill/>
        </p:spPr>
        <p:txBody>
          <a:bodyPr wrap="square" lIns="0" rIns="0" tIns="0" bIns="0" anchor="ctr">
            <a:spAutoFit/>
          </a:bodyPr>
          <a:lstStyle/>
          <a:p>
            <a:pPr>
              <a:lnSpc>
                <a:spcPct val="100000"/>
              </a:lnSpc>
              <a:spcAft>
                <a:spcPts val="0"/>
              </a:spcAft>
            </a:pPr>
            <a:r>
              <a:rPr sz="1400" b="1">
                <a:solidFill>
                  <a:srgbClr val="0F172A"/>
                </a:solidFill>
                <a:latin typeface="IBM Plex Sans"/>
              </a:rPr>
              <a:t>Ask ARP: plain questions</a:t>
            </a:r>
          </a:p>
        </p:txBody>
      </p:sp>
      <p:sp>
        <p:nvSpPr>
          <p:cNvPr id="38" name="TextBox 37"/>
          <p:cNvSpPr txBox="1"/>
          <p:nvPr/>
        </p:nvSpPr>
        <p:spPr>
          <a:xfrm>
            <a:off x="4538133" y="47053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The model routes each question to a read-only tool; code computes every figure.</a:t>
            </a:r>
          </a:p>
        </p:txBody>
      </p:sp>
      <p:sp>
        <p:nvSpPr>
          <p:cNvPr id="39" name="Rounded Rectangle 38"/>
          <p:cNvSpPr/>
          <p:nvPr/>
        </p:nvSpPr>
        <p:spPr>
          <a:xfrm>
            <a:off x="7958667" y="41719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0" name="Oval 39"/>
          <p:cNvSpPr/>
          <p:nvPr/>
        </p:nvSpPr>
        <p:spPr>
          <a:xfrm>
            <a:off x="8111067" y="4324350"/>
            <a:ext cx="304800" cy="304800"/>
          </a:xfrm>
          <a:prstGeom prst="ellipse">
            <a:avLst/>
          </a:prstGeom>
          <a:solidFill>
            <a:srgbClr val="0F172A"/>
          </a:solidFill>
          <a:ln>
            <a:noFill/>
          </a:ln>
          <a:effectLst/>
        </p:spPr>
        <p:txBody>
          <a:bodyPr rtlCol="0" anchor="ctr"/>
          <a:lstStyle/>
          <a:p>
            <a:pPr algn="ctr"/>
          </a:p>
        </p:txBody>
      </p:sp>
      <p:pic>
        <p:nvPicPr>
          <p:cNvPr id="41" name="Picture 40" descr="presentation-FFFFFF.png"/>
          <p:cNvPicPr>
            <a:picLocks noChangeAspect="1"/>
          </p:cNvPicPr>
          <p:nvPr/>
        </p:nvPicPr>
        <p:blipFill>
          <a:blip r:embed="rId9"/>
          <a:stretch>
            <a:fillRect/>
          </a:stretch>
        </p:blipFill>
        <p:spPr>
          <a:xfrm>
            <a:off x="8187267" y="4400550"/>
            <a:ext cx="152400" cy="152400"/>
          </a:xfrm>
          <a:prstGeom prst="rect">
            <a:avLst/>
          </a:prstGeom>
        </p:spPr>
      </p:pic>
      <p:sp>
        <p:nvSpPr>
          <p:cNvPr id="42" name="TextBox 41"/>
          <p:cNvSpPr txBox="1"/>
          <p:nvPr/>
        </p:nvSpPr>
        <p:spPr>
          <a:xfrm>
            <a:off x="8517467" y="4324350"/>
            <a:ext cx="2709333" cy="304800"/>
          </a:xfrm>
          <a:prstGeom prst="rect">
            <a:avLst/>
          </a:prstGeom>
          <a:noFill/>
        </p:spPr>
        <p:txBody>
          <a:bodyPr wrap="square" lIns="0" rIns="0" tIns="0" bIns="0" anchor="ctr">
            <a:spAutoFit/>
          </a:bodyPr>
          <a:lstStyle/>
          <a:p>
            <a:pPr>
              <a:lnSpc>
                <a:spcPct val="100000"/>
              </a:lnSpc>
              <a:spcAft>
                <a:spcPts val="0"/>
              </a:spcAft>
            </a:pPr>
            <a:r>
              <a:rPr sz="1400" b="1">
                <a:solidFill>
                  <a:srgbClr val="0F172A"/>
                </a:solidFill>
                <a:latin typeface="IBM Plex Sans"/>
              </a:rPr>
              <a:t>Output: reports, catalogue</a:t>
            </a:r>
          </a:p>
        </p:txBody>
      </p:sp>
      <p:sp>
        <p:nvSpPr>
          <p:cNvPr id="43" name="TextBox 42"/>
          <p:cNvSpPr txBox="1"/>
          <p:nvPr/>
        </p:nvSpPr>
        <p:spPr>
          <a:xfrm>
            <a:off x="8111067" y="47053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Every stored result in one catalogue, with what has already used it.</a:t>
            </a:r>
          </a:p>
        </p:txBody>
      </p:sp>
      <p:sp>
        <p:nvSpPr>
          <p:cNvPr id="44" name="TextBox 43"/>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5" name="TextBox 44"/>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02 / 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WORKSPACE · ARGUS</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Argus: cited data, not copied figures</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Processes: Extract and score · XBRL facts</a:t>
            </a:r>
          </a:p>
        </p:txBody>
      </p:sp>
      <p:sp>
        <p:nvSpPr>
          <p:cNvPr id="5" name="Rounded Rectangle 4"/>
          <p:cNvSpPr/>
          <p:nvPr/>
        </p:nvSpPr>
        <p:spPr>
          <a:xfrm>
            <a:off x="812800" y="2101850"/>
            <a:ext cx="3810000" cy="3511550"/>
          </a:xfrm>
          <a:prstGeom prst="roundRect">
            <a:avLst>
              <a:gd name="adj" fmla="val 2893"/>
            </a:avLst>
          </a:prstGeom>
          <a:solidFill>
            <a:srgbClr val="0F172A"/>
          </a:solidFill>
          <a:ln>
            <a:noFill/>
          </a:ln>
          <a:effectLst/>
        </p:spPr>
        <p:txBody>
          <a:bodyPr rtlCol="0" anchor="ctr"/>
          <a:lstStyle/>
          <a:p>
            <a:pPr algn="ctr"/>
          </a:p>
        </p:txBody>
      </p:sp>
      <p:sp>
        <p:nvSpPr>
          <p:cNvPr id="6" name="Oval 5"/>
          <p:cNvSpPr/>
          <p:nvPr/>
        </p:nvSpPr>
        <p:spPr>
          <a:xfrm>
            <a:off x="1016000" y="2305050"/>
            <a:ext cx="304800" cy="304800"/>
          </a:xfrm>
          <a:prstGeom prst="ellipse">
            <a:avLst/>
          </a:prstGeom>
          <a:solidFill>
            <a:srgbClr val="334155"/>
          </a:solidFill>
          <a:ln>
            <a:noFill/>
          </a:ln>
          <a:effectLst/>
        </p:spPr>
        <p:txBody>
          <a:bodyPr rtlCol="0" anchor="ctr"/>
          <a:lstStyle/>
          <a:p>
            <a:pPr algn="ctr"/>
          </a:p>
        </p:txBody>
      </p:sp>
      <p:pic>
        <p:nvPicPr>
          <p:cNvPr id="7" name="Picture 6" descr="circle-alert-F8FAFC.png"/>
          <p:cNvPicPr>
            <a:picLocks noChangeAspect="1"/>
          </p:cNvPicPr>
          <p:nvPr/>
        </p:nvPicPr>
        <p:blipFill>
          <a:blip r:embed="rId2"/>
          <a:stretch>
            <a:fillRect/>
          </a:stretch>
        </p:blipFill>
        <p:spPr>
          <a:xfrm>
            <a:off x="1092200" y="2381250"/>
            <a:ext cx="152400" cy="152400"/>
          </a:xfrm>
          <a:prstGeom prst="rect">
            <a:avLst/>
          </a:prstGeom>
        </p:spPr>
      </p:pic>
      <p:sp>
        <p:nvSpPr>
          <p:cNvPr id="8" name="TextBox 7"/>
          <p:cNvSpPr txBox="1"/>
          <p:nvPr/>
        </p:nvSpPr>
        <p:spPr>
          <a:xfrm>
            <a:off x="1422400" y="2305050"/>
            <a:ext cx="2997200" cy="304800"/>
          </a:xfrm>
          <a:prstGeom prst="rect">
            <a:avLst/>
          </a:prstGeom>
          <a:noFill/>
        </p:spPr>
        <p:txBody>
          <a:bodyPr wrap="square" lIns="0" rIns="0" tIns="0" bIns="0" anchor="ctr">
            <a:spAutoFit/>
          </a:bodyPr>
          <a:lstStyle/>
          <a:p>
            <a:pPr>
              <a:lnSpc>
                <a:spcPct val="108333"/>
              </a:lnSpc>
              <a:spcAft>
                <a:spcPts val="0"/>
              </a:spcAft>
            </a:pPr>
            <a:r>
              <a:rPr sz="1200" b="0">
                <a:solidFill>
                  <a:srgbClr val="94A3B8"/>
                </a:solidFill>
                <a:latin typeface="IBM Plex Mono"/>
              </a:rPr>
              <a:t>THE ISSUE</a:t>
            </a:r>
          </a:p>
        </p:txBody>
      </p:sp>
      <p:sp>
        <p:nvSpPr>
          <p:cNvPr id="9" name="TextBox 8"/>
          <p:cNvSpPr txBox="1"/>
          <p:nvPr/>
        </p:nvSpPr>
        <p:spPr>
          <a:xfrm>
            <a:off x="1016000" y="2711450"/>
            <a:ext cx="3403600" cy="1079500"/>
          </a:xfrm>
          <a:prstGeom prst="rect">
            <a:avLst/>
          </a:prstGeom>
          <a:noFill/>
        </p:spPr>
        <p:txBody>
          <a:bodyPr wrap="square" lIns="0" rIns="0" tIns="0" bIns="0" anchor="t">
            <a:spAutoFit/>
          </a:bodyPr>
          <a:lstStyle/>
          <a:p>
            <a:pPr>
              <a:lnSpc>
                <a:spcPct val="116667"/>
              </a:lnSpc>
              <a:spcAft>
                <a:spcPts val="0"/>
              </a:spcAft>
            </a:pPr>
            <a:r>
              <a:rPr sz="1400" b="0">
                <a:solidFill>
                  <a:srgbClr val="F8FAFC"/>
                </a:solidFill>
                <a:latin typeface="IBM Plex Sans"/>
              </a:rPr>
              <a:t>Company figures are copied from reports by hand or bought as vendor scores: no page reference, hard to check, slow at scale.</a:t>
            </a:r>
          </a:p>
        </p:txBody>
      </p:sp>
      <p:sp>
        <p:nvSpPr>
          <p:cNvPr id="10" name="Rectangle 9"/>
          <p:cNvSpPr/>
          <p:nvPr/>
        </p:nvSpPr>
        <p:spPr>
          <a:xfrm>
            <a:off x="1016000" y="3943350"/>
            <a:ext cx="3403600" cy="6350"/>
          </a:xfrm>
          <a:prstGeom prst="rect">
            <a:avLst/>
          </a:prstGeom>
          <a:solidFill>
            <a:srgbClr val="334155"/>
          </a:solidFill>
          <a:ln>
            <a:noFill/>
          </a:ln>
          <a:effectLst/>
        </p:spPr>
        <p:txBody>
          <a:bodyPr rtlCol="0" anchor="ctr"/>
          <a:lstStyle/>
          <a:p>
            <a:pPr algn="ctr"/>
          </a:p>
        </p:txBody>
      </p:sp>
      <p:sp>
        <p:nvSpPr>
          <p:cNvPr id="11" name="Oval 10"/>
          <p:cNvSpPr/>
          <p:nvPr/>
        </p:nvSpPr>
        <p:spPr>
          <a:xfrm>
            <a:off x="1016000" y="4102100"/>
            <a:ext cx="304800" cy="304800"/>
          </a:xfrm>
          <a:prstGeom prst="ellipse">
            <a:avLst/>
          </a:prstGeom>
          <a:solidFill>
            <a:srgbClr val="16A34A"/>
          </a:solidFill>
          <a:ln>
            <a:noFill/>
          </a:ln>
          <a:effectLst/>
        </p:spPr>
        <p:txBody>
          <a:bodyPr rtlCol="0" anchor="ctr"/>
          <a:lstStyle/>
          <a:p>
            <a:pPr algn="ctr"/>
          </a:p>
        </p:txBody>
      </p:sp>
      <p:pic>
        <p:nvPicPr>
          <p:cNvPr id="12" name="Picture 11" descr="circle-check-big-FFFFFF.png"/>
          <p:cNvPicPr>
            <a:picLocks noChangeAspect="1"/>
          </p:cNvPicPr>
          <p:nvPr/>
        </p:nvPicPr>
        <p:blipFill>
          <a:blip r:embed="rId3"/>
          <a:stretch>
            <a:fillRect/>
          </a:stretch>
        </p:blipFill>
        <p:spPr>
          <a:xfrm>
            <a:off x="1092200" y="4178300"/>
            <a:ext cx="152400" cy="152400"/>
          </a:xfrm>
          <a:prstGeom prst="rect">
            <a:avLst/>
          </a:prstGeom>
        </p:spPr>
      </p:pic>
      <p:sp>
        <p:nvSpPr>
          <p:cNvPr id="13" name="TextBox 12"/>
          <p:cNvSpPr txBox="1"/>
          <p:nvPr/>
        </p:nvSpPr>
        <p:spPr>
          <a:xfrm>
            <a:off x="1422400" y="4102100"/>
            <a:ext cx="2997200" cy="304800"/>
          </a:xfrm>
          <a:prstGeom prst="rect">
            <a:avLst/>
          </a:prstGeom>
          <a:noFill/>
        </p:spPr>
        <p:txBody>
          <a:bodyPr wrap="square" lIns="0" rIns="0" tIns="0" bIns="0" anchor="ctr">
            <a:spAutoFit/>
          </a:bodyPr>
          <a:lstStyle/>
          <a:p>
            <a:pPr>
              <a:lnSpc>
                <a:spcPct val="108333"/>
              </a:lnSpc>
              <a:spcAft>
                <a:spcPts val="0"/>
              </a:spcAft>
            </a:pPr>
            <a:r>
              <a:rPr sz="1200" b="0">
                <a:solidFill>
                  <a:srgbClr val="22C55E"/>
                </a:solidFill>
                <a:latin typeface="IBM Plex Mono"/>
              </a:rPr>
              <a:t>WHAT IT DELIVERS</a:t>
            </a:r>
          </a:p>
        </p:txBody>
      </p:sp>
      <p:sp>
        <p:nvSpPr>
          <p:cNvPr id="14" name="TextBox 13"/>
          <p:cNvSpPr txBox="1"/>
          <p:nvPr/>
        </p:nvSpPr>
        <p:spPr>
          <a:xfrm>
            <a:off x="1016000" y="4483100"/>
            <a:ext cx="3403600" cy="927100"/>
          </a:xfrm>
          <a:prstGeom prst="rect">
            <a:avLst/>
          </a:prstGeom>
          <a:noFill/>
        </p:spPr>
        <p:txBody>
          <a:bodyPr wrap="square" lIns="0" rIns="0" tIns="0" bIns="0" anchor="t">
            <a:spAutoFit/>
          </a:bodyPr>
          <a:lstStyle/>
          <a:p>
            <a:pPr>
              <a:lnSpc>
                <a:spcPct val="116667"/>
              </a:lnSpc>
              <a:spcAft>
                <a:spcPts val="0"/>
              </a:spcAft>
            </a:pPr>
            <a:r>
              <a:rPr sz="1200" b="0">
                <a:solidFill>
                  <a:srgbClr val="94A3B8"/>
                </a:solidFill>
                <a:latin typeface="IBM Plex Sans"/>
              </a:rPr>
              <a:t>Every figure cited to its page, checked by a second model and reviewed by a person, for up to about 4,000 companies per run.</a:t>
            </a:r>
          </a:p>
        </p:txBody>
      </p:sp>
      <p:sp>
        <p:nvSpPr>
          <p:cNvPr id="15" name="Rounded Rectangle 14"/>
          <p:cNvSpPr/>
          <p:nvPr/>
        </p:nvSpPr>
        <p:spPr>
          <a:xfrm>
            <a:off x="4775200" y="2101850"/>
            <a:ext cx="6604000" cy="1102783"/>
          </a:xfrm>
          <a:prstGeom prst="roundRect">
            <a:avLst>
              <a:gd name="adj" fmla="val 9213"/>
            </a:avLst>
          </a:prstGeom>
          <a:solidFill>
            <a:srgbClr val="FFFFFF"/>
          </a:solidFill>
          <a:ln w="9525">
            <a:solidFill>
              <a:srgbClr val="E2E8F0"/>
            </a:solidFill>
          </a:ln>
          <a:effectLst/>
        </p:spPr>
        <p:txBody>
          <a:bodyPr rtlCol="0" anchor="ctr"/>
          <a:lstStyle/>
          <a:p>
            <a:pPr algn="ctr"/>
          </a:p>
        </p:txBody>
      </p:sp>
      <p:sp>
        <p:nvSpPr>
          <p:cNvPr id="16" name="Oval 15"/>
          <p:cNvSpPr/>
          <p:nvPr/>
        </p:nvSpPr>
        <p:spPr>
          <a:xfrm>
            <a:off x="4927600" y="2500842"/>
            <a:ext cx="304800" cy="304800"/>
          </a:xfrm>
          <a:prstGeom prst="ellipse">
            <a:avLst/>
          </a:prstGeom>
          <a:solidFill>
            <a:srgbClr val="2563EB"/>
          </a:solidFill>
          <a:ln>
            <a:noFill/>
          </a:ln>
          <a:effectLst/>
        </p:spPr>
        <p:txBody>
          <a:bodyPr rtlCol="0" anchor="ctr"/>
          <a:lstStyle/>
          <a:p>
            <a:pPr algn="ctr"/>
          </a:p>
        </p:txBody>
      </p:sp>
      <p:pic>
        <p:nvPicPr>
          <p:cNvPr id="17" name="Picture 16" descr="handshake-FFFFFF.png"/>
          <p:cNvPicPr>
            <a:picLocks noChangeAspect="1"/>
          </p:cNvPicPr>
          <p:nvPr/>
        </p:nvPicPr>
        <p:blipFill>
          <a:blip r:embed="rId4"/>
          <a:stretch>
            <a:fillRect/>
          </a:stretch>
        </p:blipFill>
        <p:spPr>
          <a:xfrm>
            <a:off x="5003800" y="2577042"/>
            <a:ext cx="152400" cy="152400"/>
          </a:xfrm>
          <a:prstGeom prst="rect">
            <a:avLst/>
          </a:prstGeom>
        </p:spPr>
      </p:pic>
      <p:sp>
        <p:nvSpPr>
          <p:cNvPr id="18" name="TextBox 17"/>
          <p:cNvSpPr txBox="1"/>
          <p:nvPr/>
        </p:nvSpPr>
        <p:spPr>
          <a:xfrm>
            <a:off x="5359400" y="2254250"/>
            <a:ext cx="5867400" cy="797983"/>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STEWARDSHIP</a:t>
            </a:r>
          </a:p>
          <a:p>
            <a:pPr>
              <a:lnSpc>
                <a:spcPct val="116667"/>
              </a:lnSpc>
              <a:spcAft>
                <a:spcPts val="0"/>
              </a:spcAft>
            </a:pPr>
            <a:r>
              <a:rPr sz="1200" b="0">
                <a:solidFill>
                  <a:srgbClr val="475569"/>
                </a:solidFill>
                <a:latin typeface="IBM Plex Sans"/>
              </a:rPr>
              <a:t>Letters and vote rationales can quote the company's own report, page by page, so an engagement ask holds up when challenged.</a:t>
            </a:r>
          </a:p>
        </p:txBody>
      </p:sp>
      <p:sp>
        <p:nvSpPr>
          <p:cNvPr id="19" name="Rounded Rectangle 18"/>
          <p:cNvSpPr/>
          <p:nvPr/>
        </p:nvSpPr>
        <p:spPr>
          <a:xfrm>
            <a:off x="4775200" y="3306233"/>
            <a:ext cx="6604000" cy="1102783"/>
          </a:xfrm>
          <a:prstGeom prst="roundRect">
            <a:avLst>
              <a:gd name="adj" fmla="val 9213"/>
            </a:avLst>
          </a:prstGeom>
          <a:solidFill>
            <a:srgbClr val="FFFFFF"/>
          </a:solidFill>
          <a:ln w="9525">
            <a:solidFill>
              <a:srgbClr val="E2E8F0"/>
            </a:solidFill>
          </a:ln>
          <a:effectLst/>
        </p:spPr>
        <p:txBody>
          <a:bodyPr rtlCol="0" anchor="ctr"/>
          <a:lstStyle/>
          <a:p>
            <a:pPr algn="ctr"/>
          </a:p>
        </p:txBody>
      </p:sp>
      <p:sp>
        <p:nvSpPr>
          <p:cNvPr id="20" name="Oval 19"/>
          <p:cNvSpPr/>
          <p:nvPr/>
        </p:nvSpPr>
        <p:spPr>
          <a:xfrm>
            <a:off x="4927600" y="3705225"/>
            <a:ext cx="304800" cy="304800"/>
          </a:xfrm>
          <a:prstGeom prst="ellipse">
            <a:avLst/>
          </a:prstGeom>
          <a:solidFill>
            <a:srgbClr val="16A34A"/>
          </a:solidFill>
          <a:ln>
            <a:noFill/>
          </a:ln>
          <a:effectLst/>
        </p:spPr>
        <p:txBody>
          <a:bodyPr rtlCol="0" anchor="ctr"/>
          <a:lstStyle/>
          <a:p>
            <a:pPr algn="ctr"/>
          </a:p>
        </p:txBody>
      </p:sp>
      <p:pic>
        <p:nvPicPr>
          <p:cNvPr id="21" name="Picture 20" descr="package-FFFFFF.png"/>
          <p:cNvPicPr>
            <a:picLocks noChangeAspect="1"/>
          </p:cNvPicPr>
          <p:nvPr/>
        </p:nvPicPr>
        <p:blipFill>
          <a:blip r:embed="rId5"/>
          <a:stretch>
            <a:fillRect/>
          </a:stretch>
        </p:blipFill>
        <p:spPr>
          <a:xfrm>
            <a:off x="5003800" y="3781425"/>
            <a:ext cx="152400" cy="152400"/>
          </a:xfrm>
          <a:prstGeom prst="rect">
            <a:avLst/>
          </a:prstGeom>
        </p:spPr>
      </p:pic>
      <p:sp>
        <p:nvSpPr>
          <p:cNvPr id="22" name="TextBox 21"/>
          <p:cNvSpPr txBox="1"/>
          <p:nvPr/>
        </p:nvSpPr>
        <p:spPr>
          <a:xfrm>
            <a:off x="5359400" y="3458633"/>
            <a:ext cx="5867400" cy="797983"/>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PRODUCT DESIGN</a:t>
            </a:r>
          </a:p>
          <a:p>
            <a:pPr>
              <a:lnSpc>
                <a:spcPct val="116667"/>
              </a:lnSpc>
              <a:spcAft>
                <a:spcPts val="0"/>
              </a:spcAft>
            </a:pPr>
            <a:r>
              <a:rPr sz="1200" b="0">
                <a:solidFill>
                  <a:srgbClr val="475569"/>
                </a:solidFill>
                <a:latin typeface="IBM Plex Sans"/>
              </a:rPr>
              <a:t>Ratified Decision Studio templates turn extracted figures into tiers: eligibility rules for a fund, versioned and re-run on new data.</a:t>
            </a:r>
          </a:p>
        </p:txBody>
      </p:sp>
      <p:sp>
        <p:nvSpPr>
          <p:cNvPr id="23" name="Rounded Rectangle 22"/>
          <p:cNvSpPr/>
          <p:nvPr/>
        </p:nvSpPr>
        <p:spPr>
          <a:xfrm>
            <a:off x="4775200" y="4510617"/>
            <a:ext cx="6604000" cy="1102783"/>
          </a:xfrm>
          <a:prstGeom prst="roundRect">
            <a:avLst>
              <a:gd name="adj" fmla="val 9213"/>
            </a:avLst>
          </a:prstGeom>
          <a:solidFill>
            <a:srgbClr val="FFFFFF"/>
          </a:solidFill>
          <a:ln w="9525">
            <a:solidFill>
              <a:srgbClr val="E2E8F0"/>
            </a:solidFill>
          </a:ln>
          <a:effectLst/>
        </p:spPr>
        <p:txBody>
          <a:bodyPr rtlCol="0" anchor="ctr"/>
          <a:lstStyle/>
          <a:p>
            <a:pPr algn="ctr"/>
          </a:p>
        </p:txBody>
      </p:sp>
      <p:sp>
        <p:nvSpPr>
          <p:cNvPr id="24" name="Oval 23"/>
          <p:cNvSpPr/>
          <p:nvPr/>
        </p:nvSpPr>
        <p:spPr>
          <a:xfrm>
            <a:off x="4927600" y="4909608"/>
            <a:ext cx="304800" cy="304800"/>
          </a:xfrm>
          <a:prstGeom prst="ellipse">
            <a:avLst/>
          </a:prstGeom>
          <a:solidFill>
            <a:srgbClr val="0F172A"/>
          </a:solidFill>
          <a:ln>
            <a:noFill/>
          </a:ln>
          <a:effectLst/>
        </p:spPr>
        <p:txBody>
          <a:bodyPr rtlCol="0" anchor="ctr"/>
          <a:lstStyle/>
          <a:p>
            <a:pPr algn="ctr"/>
          </a:p>
        </p:txBody>
      </p:sp>
      <p:pic>
        <p:nvPicPr>
          <p:cNvPr id="25" name="Picture 24" descr="key-round-FFFFFF.png"/>
          <p:cNvPicPr>
            <a:picLocks noChangeAspect="1"/>
          </p:cNvPicPr>
          <p:nvPr/>
        </p:nvPicPr>
        <p:blipFill>
          <a:blip r:embed="rId6"/>
          <a:stretch>
            <a:fillRect/>
          </a:stretch>
        </p:blipFill>
        <p:spPr>
          <a:xfrm>
            <a:off x="5003800" y="4985808"/>
            <a:ext cx="152400" cy="152400"/>
          </a:xfrm>
          <a:prstGeom prst="rect">
            <a:avLst/>
          </a:prstGeom>
        </p:spPr>
      </p:pic>
      <p:sp>
        <p:nvSpPr>
          <p:cNvPr id="26" name="TextBox 25"/>
          <p:cNvSpPr txBox="1"/>
          <p:nvPr/>
        </p:nvSpPr>
        <p:spPr>
          <a:xfrm>
            <a:off x="5359400" y="4663017"/>
            <a:ext cx="5867400" cy="797983"/>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DATA LICENCE</a:t>
            </a:r>
          </a:p>
          <a:p>
            <a:pPr>
              <a:lnSpc>
                <a:spcPct val="116667"/>
              </a:lnSpc>
              <a:spcAft>
                <a:spcPts val="0"/>
              </a:spcAft>
            </a:pPr>
            <a:r>
              <a:rPr sz="1200" b="0">
                <a:solidFill>
                  <a:srgbClr val="475569"/>
                </a:solidFill>
                <a:latin typeface="IBM Plex Sans"/>
              </a:rPr>
              <a:t>Figures come from public reports and XBRL as filed. A licensed vendor field can be checked against the company's own report.</a:t>
            </a:r>
          </a:p>
        </p:txBody>
      </p:sp>
      <p:sp>
        <p:nvSpPr>
          <p:cNvPr id="27" name="TextBox 26"/>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28" name="TextBox 27"/>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03 / 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WORKSPACE · TRANSITION INTELLIGENCE</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Transition Intelligence: risk seen monthly</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Processes: Monthly monitoring · Climate transition review</a:t>
            </a:r>
          </a:p>
        </p:txBody>
      </p:sp>
      <p:sp>
        <p:nvSpPr>
          <p:cNvPr id="5" name="Rounded Rectangle 4"/>
          <p:cNvSpPr/>
          <p:nvPr/>
        </p:nvSpPr>
        <p:spPr>
          <a:xfrm>
            <a:off x="812800" y="2101850"/>
            <a:ext cx="3810000" cy="3727450"/>
          </a:xfrm>
          <a:prstGeom prst="roundRect">
            <a:avLst>
              <a:gd name="adj" fmla="val 2725"/>
            </a:avLst>
          </a:prstGeom>
          <a:solidFill>
            <a:srgbClr val="0F172A"/>
          </a:solidFill>
          <a:ln>
            <a:noFill/>
          </a:ln>
          <a:effectLst/>
        </p:spPr>
        <p:txBody>
          <a:bodyPr rtlCol="0" anchor="ctr"/>
          <a:lstStyle/>
          <a:p>
            <a:pPr algn="ctr"/>
          </a:p>
        </p:txBody>
      </p:sp>
      <p:sp>
        <p:nvSpPr>
          <p:cNvPr id="6" name="Oval 5"/>
          <p:cNvSpPr/>
          <p:nvPr/>
        </p:nvSpPr>
        <p:spPr>
          <a:xfrm>
            <a:off x="1016000" y="2305050"/>
            <a:ext cx="304800" cy="304800"/>
          </a:xfrm>
          <a:prstGeom prst="ellipse">
            <a:avLst/>
          </a:prstGeom>
          <a:solidFill>
            <a:srgbClr val="334155"/>
          </a:solidFill>
          <a:ln>
            <a:noFill/>
          </a:ln>
          <a:effectLst/>
        </p:spPr>
        <p:txBody>
          <a:bodyPr rtlCol="0" anchor="ctr"/>
          <a:lstStyle/>
          <a:p>
            <a:pPr algn="ctr"/>
          </a:p>
        </p:txBody>
      </p:sp>
      <p:pic>
        <p:nvPicPr>
          <p:cNvPr id="7" name="Picture 6" descr="circle-alert-F8FAFC.png"/>
          <p:cNvPicPr>
            <a:picLocks noChangeAspect="1"/>
          </p:cNvPicPr>
          <p:nvPr/>
        </p:nvPicPr>
        <p:blipFill>
          <a:blip r:embed="rId2"/>
          <a:stretch>
            <a:fillRect/>
          </a:stretch>
        </p:blipFill>
        <p:spPr>
          <a:xfrm>
            <a:off x="1092200" y="2381250"/>
            <a:ext cx="152400" cy="152400"/>
          </a:xfrm>
          <a:prstGeom prst="rect">
            <a:avLst/>
          </a:prstGeom>
        </p:spPr>
      </p:pic>
      <p:sp>
        <p:nvSpPr>
          <p:cNvPr id="8" name="TextBox 7"/>
          <p:cNvSpPr txBox="1"/>
          <p:nvPr/>
        </p:nvSpPr>
        <p:spPr>
          <a:xfrm>
            <a:off x="1422400" y="2305050"/>
            <a:ext cx="2997200" cy="304800"/>
          </a:xfrm>
          <a:prstGeom prst="rect">
            <a:avLst/>
          </a:prstGeom>
          <a:noFill/>
        </p:spPr>
        <p:txBody>
          <a:bodyPr wrap="square" lIns="0" rIns="0" tIns="0" bIns="0" anchor="ctr">
            <a:spAutoFit/>
          </a:bodyPr>
          <a:lstStyle/>
          <a:p>
            <a:pPr>
              <a:lnSpc>
                <a:spcPct val="108333"/>
              </a:lnSpc>
              <a:spcAft>
                <a:spcPts val="0"/>
              </a:spcAft>
            </a:pPr>
            <a:r>
              <a:rPr sz="1200" b="0">
                <a:solidFill>
                  <a:srgbClr val="94A3B8"/>
                </a:solidFill>
                <a:latin typeface="IBM Plex Mono"/>
              </a:rPr>
              <a:t>THE ISSUE</a:t>
            </a:r>
          </a:p>
        </p:txBody>
      </p:sp>
      <p:sp>
        <p:nvSpPr>
          <p:cNvPr id="9" name="TextBox 8"/>
          <p:cNvSpPr txBox="1"/>
          <p:nvPr/>
        </p:nvSpPr>
        <p:spPr>
          <a:xfrm>
            <a:off x="1016000" y="2711450"/>
            <a:ext cx="3403600" cy="1079500"/>
          </a:xfrm>
          <a:prstGeom prst="rect">
            <a:avLst/>
          </a:prstGeom>
          <a:noFill/>
        </p:spPr>
        <p:txBody>
          <a:bodyPr wrap="square" lIns="0" rIns="0" tIns="0" bIns="0" anchor="t">
            <a:spAutoFit/>
          </a:bodyPr>
          <a:lstStyle/>
          <a:p>
            <a:pPr>
              <a:lnSpc>
                <a:spcPct val="116667"/>
              </a:lnSpc>
              <a:spcAft>
                <a:spcPts val="0"/>
              </a:spcAft>
            </a:pPr>
            <a:r>
              <a:rPr sz="1400" b="0">
                <a:solidFill>
                  <a:srgbClr val="F8FAFC"/>
                </a:solidFill>
                <a:latin typeface="IBM Plex Sans"/>
              </a:rPr>
              <a:t>Holdings, ESG feeds and climate research sit apart, so a breach surfaces late and the annual climate review is rebuilt by hand.</a:t>
            </a:r>
          </a:p>
        </p:txBody>
      </p:sp>
      <p:sp>
        <p:nvSpPr>
          <p:cNvPr id="10" name="Rectangle 9"/>
          <p:cNvSpPr/>
          <p:nvPr/>
        </p:nvSpPr>
        <p:spPr>
          <a:xfrm>
            <a:off x="1016000" y="3943350"/>
            <a:ext cx="3403600" cy="6350"/>
          </a:xfrm>
          <a:prstGeom prst="rect">
            <a:avLst/>
          </a:prstGeom>
          <a:solidFill>
            <a:srgbClr val="334155"/>
          </a:solidFill>
          <a:ln>
            <a:noFill/>
          </a:ln>
          <a:effectLst/>
        </p:spPr>
        <p:txBody>
          <a:bodyPr rtlCol="0" anchor="ctr"/>
          <a:lstStyle/>
          <a:p>
            <a:pPr algn="ctr"/>
          </a:p>
        </p:txBody>
      </p:sp>
      <p:sp>
        <p:nvSpPr>
          <p:cNvPr id="11" name="Oval 10"/>
          <p:cNvSpPr/>
          <p:nvPr/>
        </p:nvSpPr>
        <p:spPr>
          <a:xfrm>
            <a:off x="1016000" y="4102100"/>
            <a:ext cx="304800" cy="304800"/>
          </a:xfrm>
          <a:prstGeom prst="ellipse">
            <a:avLst/>
          </a:prstGeom>
          <a:solidFill>
            <a:srgbClr val="16A34A"/>
          </a:solidFill>
          <a:ln>
            <a:noFill/>
          </a:ln>
          <a:effectLst/>
        </p:spPr>
        <p:txBody>
          <a:bodyPr rtlCol="0" anchor="ctr"/>
          <a:lstStyle/>
          <a:p>
            <a:pPr algn="ctr"/>
          </a:p>
        </p:txBody>
      </p:sp>
      <p:pic>
        <p:nvPicPr>
          <p:cNvPr id="12" name="Picture 11" descr="circle-check-big-FFFFFF.png"/>
          <p:cNvPicPr>
            <a:picLocks noChangeAspect="1"/>
          </p:cNvPicPr>
          <p:nvPr/>
        </p:nvPicPr>
        <p:blipFill>
          <a:blip r:embed="rId3"/>
          <a:stretch>
            <a:fillRect/>
          </a:stretch>
        </p:blipFill>
        <p:spPr>
          <a:xfrm>
            <a:off x="1092200" y="4178300"/>
            <a:ext cx="152400" cy="152400"/>
          </a:xfrm>
          <a:prstGeom prst="rect">
            <a:avLst/>
          </a:prstGeom>
        </p:spPr>
      </p:pic>
      <p:sp>
        <p:nvSpPr>
          <p:cNvPr id="13" name="TextBox 12"/>
          <p:cNvSpPr txBox="1"/>
          <p:nvPr/>
        </p:nvSpPr>
        <p:spPr>
          <a:xfrm>
            <a:off x="1422400" y="4102100"/>
            <a:ext cx="2997200" cy="304800"/>
          </a:xfrm>
          <a:prstGeom prst="rect">
            <a:avLst/>
          </a:prstGeom>
          <a:noFill/>
        </p:spPr>
        <p:txBody>
          <a:bodyPr wrap="square" lIns="0" rIns="0" tIns="0" bIns="0" anchor="ctr">
            <a:spAutoFit/>
          </a:bodyPr>
          <a:lstStyle/>
          <a:p>
            <a:pPr>
              <a:lnSpc>
                <a:spcPct val="108333"/>
              </a:lnSpc>
              <a:spcAft>
                <a:spcPts val="0"/>
              </a:spcAft>
            </a:pPr>
            <a:r>
              <a:rPr sz="1200" b="0">
                <a:solidFill>
                  <a:srgbClr val="22C55E"/>
                </a:solidFill>
                <a:latin typeface="IBM Plex Mono"/>
              </a:rPr>
              <a:t>WHAT IT DELIVERS</a:t>
            </a:r>
          </a:p>
        </p:txBody>
      </p:sp>
      <p:sp>
        <p:nvSpPr>
          <p:cNvPr id="14" name="TextBox 13"/>
          <p:cNvSpPr txBox="1"/>
          <p:nvPr/>
        </p:nvSpPr>
        <p:spPr>
          <a:xfrm>
            <a:off x="1016000" y="4483100"/>
            <a:ext cx="3403600" cy="927100"/>
          </a:xfrm>
          <a:prstGeom prst="rect">
            <a:avLst/>
          </a:prstGeom>
          <a:noFill/>
        </p:spPr>
        <p:txBody>
          <a:bodyPr wrap="square" lIns="0" rIns="0" tIns="0" bIns="0" anchor="t">
            <a:spAutoFit/>
          </a:bodyPr>
          <a:lstStyle/>
          <a:p>
            <a:pPr>
              <a:lnSpc>
                <a:spcPct val="116667"/>
              </a:lnSpc>
              <a:spcAft>
                <a:spcPts val="0"/>
              </a:spcAft>
            </a:pPr>
            <a:r>
              <a:rPr sz="1200" b="0">
                <a:solidFill>
                  <a:srgbClr val="94A3B8"/>
                </a:solidFill>
                <a:latin typeface="IBM Plex Sans"/>
              </a:rPr>
              <a:t>A monthly run that turns every breach and controversy on a holding into an owned alert, and a climate review that ends in a tiered list of issuers.</a:t>
            </a:r>
          </a:p>
        </p:txBody>
      </p:sp>
      <p:sp>
        <p:nvSpPr>
          <p:cNvPr id="15" name="Rounded Rectangle 14"/>
          <p:cNvSpPr/>
          <p:nvPr/>
        </p:nvSpPr>
        <p:spPr>
          <a:xfrm>
            <a:off x="4775200" y="2101850"/>
            <a:ext cx="6604000" cy="1174750"/>
          </a:xfrm>
          <a:prstGeom prst="roundRect">
            <a:avLst>
              <a:gd name="adj" fmla="val 8648"/>
            </a:avLst>
          </a:prstGeom>
          <a:solidFill>
            <a:srgbClr val="FFFFFF"/>
          </a:solidFill>
          <a:ln w="9525">
            <a:solidFill>
              <a:srgbClr val="E2E8F0"/>
            </a:solidFill>
          </a:ln>
          <a:effectLst/>
        </p:spPr>
        <p:txBody>
          <a:bodyPr rtlCol="0" anchor="ctr"/>
          <a:lstStyle/>
          <a:p>
            <a:pPr algn="ctr"/>
          </a:p>
        </p:txBody>
      </p:sp>
      <p:sp>
        <p:nvSpPr>
          <p:cNvPr id="16" name="Oval 15"/>
          <p:cNvSpPr/>
          <p:nvPr/>
        </p:nvSpPr>
        <p:spPr>
          <a:xfrm>
            <a:off x="4927600" y="2536825"/>
            <a:ext cx="304800" cy="304800"/>
          </a:xfrm>
          <a:prstGeom prst="ellipse">
            <a:avLst/>
          </a:prstGeom>
          <a:solidFill>
            <a:srgbClr val="2563EB"/>
          </a:solidFill>
          <a:ln>
            <a:noFill/>
          </a:ln>
          <a:effectLst/>
        </p:spPr>
        <p:txBody>
          <a:bodyPr rtlCol="0" anchor="ctr"/>
          <a:lstStyle/>
          <a:p>
            <a:pPr algn="ctr"/>
          </a:p>
        </p:txBody>
      </p:sp>
      <p:pic>
        <p:nvPicPr>
          <p:cNvPr id="17" name="Picture 16" descr="handshake-FFFFFF.png"/>
          <p:cNvPicPr>
            <a:picLocks noChangeAspect="1"/>
          </p:cNvPicPr>
          <p:nvPr/>
        </p:nvPicPr>
        <p:blipFill>
          <a:blip r:embed="rId4"/>
          <a:stretch>
            <a:fillRect/>
          </a:stretch>
        </p:blipFill>
        <p:spPr>
          <a:xfrm>
            <a:off x="5003800" y="2613025"/>
            <a:ext cx="152400" cy="152400"/>
          </a:xfrm>
          <a:prstGeom prst="rect">
            <a:avLst/>
          </a:prstGeom>
        </p:spPr>
      </p:pic>
      <p:sp>
        <p:nvSpPr>
          <p:cNvPr id="18" name="TextBox 17"/>
          <p:cNvSpPr txBox="1"/>
          <p:nvPr/>
        </p:nvSpPr>
        <p:spPr>
          <a:xfrm>
            <a:off x="5359400" y="2254250"/>
            <a:ext cx="5867400" cy="869950"/>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STEWARDSHIP</a:t>
            </a:r>
          </a:p>
          <a:p>
            <a:pPr>
              <a:lnSpc>
                <a:spcPct val="116667"/>
              </a:lnSpc>
              <a:spcAft>
                <a:spcPts val="0"/>
              </a:spcAft>
            </a:pPr>
            <a:r>
              <a:rPr sz="1200" b="0">
                <a:solidFill>
                  <a:srgbClr val="475569"/>
                </a:solidFill>
                <a:latin typeface="IBM Plex Sans"/>
              </a:rPr>
              <a:t>Each alert becomes a stewardship trigger with an owner; the climate review hands StewardIQ the issuers to engage, with a walk-versus-talk verdict.</a:t>
            </a:r>
          </a:p>
        </p:txBody>
      </p:sp>
      <p:sp>
        <p:nvSpPr>
          <p:cNvPr id="19" name="Rounded Rectangle 18"/>
          <p:cNvSpPr/>
          <p:nvPr/>
        </p:nvSpPr>
        <p:spPr>
          <a:xfrm>
            <a:off x="4775200" y="3378200"/>
            <a:ext cx="6604000" cy="1174750"/>
          </a:xfrm>
          <a:prstGeom prst="roundRect">
            <a:avLst>
              <a:gd name="adj" fmla="val 8648"/>
            </a:avLst>
          </a:prstGeom>
          <a:solidFill>
            <a:srgbClr val="FFFFFF"/>
          </a:solidFill>
          <a:ln w="9525">
            <a:solidFill>
              <a:srgbClr val="E2E8F0"/>
            </a:solidFill>
          </a:ln>
          <a:effectLst/>
        </p:spPr>
        <p:txBody>
          <a:bodyPr rtlCol="0" anchor="ctr"/>
          <a:lstStyle/>
          <a:p>
            <a:pPr algn="ctr"/>
          </a:p>
        </p:txBody>
      </p:sp>
      <p:sp>
        <p:nvSpPr>
          <p:cNvPr id="20" name="Oval 19"/>
          <p:cNvSpPr/>
          <p:nvPr/>
        </p:nvSpPr>
        <p:spPr>
          <a:xfrm>
            <a:off x="4927600" y="3813175"/>
            <a:ext cx="304800" cy="304800"/>
          </a:xfrm>
          <a:prstGeom prst="ellipse">
            <a:avLst/>
          </a:prstGeom>
          <a:solidFill>
            <a:srgbClr val="16A34A"/>
          </a:solidFill>
          <a:ln>
            <a:noFill/>
          </a:ln>
          <a:effectLst/>
        </p:spPr>
        <p:txBody>
          <a:bodyPr rtlCol="0" anchor="ctr"/>
          <a:lstStyle/>
          <a:p>
            <a:pPr algn="ctr"/>
          </a:p>
        </p:txBody>
      </p:sp>
      <p:pic>
        <p:nvPicPr>
          <p:cNvPr id="21" name="Picture 20" descr="package-FFFFFF.png"/>
          <p:cNvPicPr>
            <a:picLocks noChangeAspect="1"/>
          </p:cNvPicPr>
          <p:nvPr/>
        </p:nvPicPr>
        <p:blipFill>
          <a:blip r:embed="rId5"/>
          <a:stretch>
            <a:fillRect/>
          </a:stretch>
        </p:blipFill>
        <p:spPr>
          <a:xfrm>
            <a:off x="5003800" y="3889375"/>
            <a:ext cx="152400" cy="152400"/>
          </a:xfrm>
          <a:prstGeom prst="rect">
            <a:avLst/>
          </a:prstGeom>
        </p:spPr>
      </p:pic>
      <p:sp>
        <p:nvSpPr>
          <p:cNvPr id="22" name="TextBox 21"/>
          <p:cNvSpPr txBox="1"/>
          <p:nvPr/>
        </p:nvSpPr>
        <p:spPr>
          <a:xfrm>
            <a:off x="5359400" y="3530600"/>
            <a:ext cx="5867400" cy="869950"/>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PRODUCT DESIGN</a:t>
            </a:r>
          </a:p>
          <a:p>
            <a:pPr>
              <a:lnSpc>
                <a:spcPct val="116667"/>
              </a:lnSpc>
              <a:spcAft>
                <a:spcPts val="0"/>
              </a:spcAft>
            </a:pPr>
            <a:r>
              <a:rPr sz="1200" b="0">
                <a:solidFill>
                  <a:srgbClr val="475569"/>
                </a:solidFill>
                <a:latin typeface="IBM Plex Sans"/>
              </a:rPr>
              <a:t>WACI, financed emissions, plan alignment and the sector barrier matrix give a climate-labelled product evidence for every holding and sector.</a:t>
            </a:r>
          </a:p>
        </p:txBody>
      </p:sp>
      <p:sp>
        <p:nvSpPr>
          <p:cNvPr id="23" name="Rounded Rectangle 22"/>
          <p:cNvSpPr/>
          <p:nvPr/>
        </p:nvSpPr>
        <p:spPr>
          <a:xfrm>
            <a:off x="4775200" y="4654550"/>
            <a:ext cx="6604000" cy="1174750"/>
          </a:xfrm>
          <a:prstGeom prst="roundRect">
            <a:avLst>
              <a:gd name="adj" fmla="val 8648"/>
            </a:avLst>
          </a:prstGeom>
          <a:solidFill>
            <a:srgbClr val="FFFFFF"/>
          </a:solidFill>
          <a:ln w="9525">
            <a:solidFill>
              <a:srgbClr val="E2E8F0"/>
            </a:solidFill>
          </a:ln>
          <a:effectLst/>
        </p:spPr>
        <p:txBody>
          <a:bodyPr rtlCol="0" anchor="ctr"/>
          <a:lstStyle/>
          <a:p>
            <a:pPr algn="ctr"/>
          </a:p>
        </p:txBody>
      </p:sp>
      <p:sp>
        <p:nvSpPr>
          <p:cNvPr id="24" name="Oval 23"/>
          <p:cNvSpPr/>
          <p:nvPr/>
        </p:nvSpPr>
        <p:spPr>
          <a:xfrm>
            <a:off x="4927600" y="5089525"/>
            <a:ext cx="304800" cy="304800"/>
          </a:xfrm>
          <a:prstGeom prst="ellipse">
            <a:avLst/>
          </a:prstGeom>
          <a:solidFill>
            <a:srgbClr val="0F172A"/>
          </a:solidFill>
          <a:ln>
            <a:noFill/>
          </a:ln>
          <a:effectLst/>
        </p:spPr>
        <p:txBody>
          <a:bodyPr rtlCol="0" anchor="ctr"/>
          <a:lstStyle/>
          <a:p>
            <a:pPr algn="ctr"/>
          </a:p>
        </p:txBody>
      </p:sp>
      <p:pic>
        <p:nvPicPr>
          <p:cNvPr id="25" name="Picture 24" descr="key-round-FFFFFF.png"/>
          <p:cNvPicPr>
            <a:picLocks noChangeAspect="1"/>
          </p:cNvPicPr>
          <p:nvPr/>
        </p:nvPicPr>
        <p:blipFill>
          <a:blip r:embed="rId6"/>
          <a:stretch>
            <a:fillRect/>
          </a:stretch>
        </p:blipFill>
        <p:spPr>
          <a:xfrm>
            <a:off x="5003800" y="5165725"/>
            <a:ext cx="152400" cy="152400"/>
          </a:xfrm>
          <a:prstGeom prst="rect">
            <a:avLst/>
          </a:prstGeom>
        </p:spPr>
      </p:pic>
      <p:sp>
        <p:nvSpPr>
          <p:cNvPr id="26" name="TextBox 25"/>
          <p:cNvSpPr txBox="1"/>
          <p:nvPr/>
        </p:nvSpPr>
        <p:spPr>
          <a:xfrm>
            <a:off x="5359400" y="4806950"/>
            <a:ext cx="5867400" cy="869950"/>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DATA LICENCE</a:t>
            </a:r>
          </a:p>
          <a:p>
            <a:pPr>
              <a:lnSpc>
                <a:spcPct val="116667"/>
              </a:lnSpc>
              <a:spcAft>
                <a:spcPts val="0"/>
              </a:spcAft>
            </a:pPr>
            <a:r>
              <a:rPr sz="1200" b="0">
                <a:solidFill>
                  <a:srgbClr val="475569"/>
                </a:solidFill>
                <a:latin typeface="IBM Plex Sans"/>
              </a:rPr>
              <a:t>Each provider feed carries a licence tag: internal-only facts stay in internal dashboards and the publish path refuses them.</a:t>
            </a:r>
          </a:p>
        </p:txBody>
      </p:sp>
      <p:sp>
        <p:nvSpPr>
          <p:cNvPr id="27" name="TextBox 26"/>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28" name="TextBox 27"/>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04 / 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WORKSPACE · R&amp;D LAB</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R&amp;D Lab: from idea to index</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Processes: Launch a thematic product · Research a strategy</a:t>
            </a:r>
          </a:p>
        </p:txBody>
      </p:sp>
      <p:sp>
        <p:nvSpPr>
          <p:cNvPr id="5" name="Rounded Rectangle 4"/>
          <p:cNvSpPr/>
          <p:nvPr/>
        </p:nvSpPr>
        <p:spPr>
          <a:xfrm>
            <a:off x="812800" y="2101850"/>
            <a:ext cx="3810000" cy="3276600"/>
          </a:xfrm>
          <a:prstGeom prst="roundRect">
            <a:avLst>
              <a:gd name="adj" fmla="val 3100"/>
            </a:avLst>
          </a:prstGeom>
          <a:solidFill>
            <a:srgbClr val="0F172A"/>
          </a:solidFill>
          <a:ln>
            <a:noFill/>
          </a:ln>
          <a:effectLst/>
        </p:spPr>
        <p:txBody>
          <a:bodyPr rtlCol="0" anchor="ctr"/>
          <a:lstStyle/>
          <a:p>
            <a:pPr algn="ctr"/>
          </a:p>
        </p:txBody>
      </p:sp>
      <p:sp>
        <p:nvSpPr>
          <p:cNvPr id="6" name="Oval 5"/>
          <p:cNvSpPr/>
          <p:nvPr/>
        </p:nvSpPr>
        <p:spPr>
          <a:xfrm>
            <a:off x="1016000" y="2305050"/>
            <a:ext cx="304800" cy="304800"/>
          </a:xfrm>
          <a:prstGeom prst="ellipse">
            <a:avLst/>
          </a:prstGeom>
          <a:solidFill>
            <a:srgbClr val="334155"/>
          </a:solidFill>
          <a:ln>
            <a:noFill/>
          </a:ln>
          <a:effectLst/>
        </p:spPr>
        <p:txBody>
          <a:bodyPr rtlCol="0" anchor="ctr"/>
          <a:lstStyle/>
          <a:p>
            <a:pPr algn="ctr"/>
          </a:p>
        </p:txBody>
      </p:sp>
      <p:pic>
        <p:nvPicPr>
          <p:cNvPr id="7" name="Picture 6" descr="circle-alert-F8FAFC.png"/>
          <p:cNvPicPr>
            <a:picLocks noChangeAspect="1"/>
          </p:cNvPicPr>
          <p:nvPr/>
        </p:nvPicPr>
        <p:blipFill>
          <a:blip r:embed="rId2"/>
          <a:stretch>
            <a:fillRect/>
          </a:stretch>
        </p:blipFill>
        <p:spPr>
          <a:xfrm>
            <a:off x="1092200" y="2381250"/>
            <a:ext cx="152400" cy="152400"/>
          </a:xfrm>
          <a:prstGeom prst="rect">
            <a:avLst/>
          </a:prstGeom>
        </p:spPr>
      </p:pic>
      <p:sp>
        <p:nvSpPr>
          <p:cNvPr id="8" name="TextBox 7"/>
          <p:cNvSpPr txBox="1"/>
          <p:nvPr/>
        </p:nvSpPr>
        <p:spPr>
          <a:xfrm>
            <a:off x="1422400" y="2305050"/>
            <a:ext cx="2997200" cy="304800"/>
          </a:xfrm>
          <a:prstGeom prst="rect">
            <a:avLst/>
          </a:prstGeom>
          <a:noFill/>
        </p:spPr>
        <p:txBody>
          <a:bodyPr wrap="square" lIns="0" rIns="0" tIns="0" bIns="0" anchor="ctr">
            <a:spAutoFit/>
          </a:bodyPr>
          <a:lstStyle/>
          <a:p>
            <a:pPr>
              <a:lnSpc>
                <a:spcPct val="108333"/>
              </a:lnSpc>
              <a:spcAft>
                <a:spcPts val="0"/>
              </a:spcAft>
            </a:pPr>
            <a:r>
              <a:rPr sz="1200" b="0">
                <a:solidFill>
                  <a:srgbClr val="94A3B8"/>
                </a:solidFill>
                <a:latin typeface="IBM Plex Mono"/>
              </a:rPr>
              <a:t>THE ISSUE</a:t>
            </a:r>
          </a:p>
        </p:txBody>
      </p:sp>
      <p:sp>
        <p:nvSpPr>
          <p:cNvPr id="9" name="TextBox 8"/>
          <p:cNvSpPr txBox="1"/>
          <p:nvPr/>
        </p:nvSpPr>
        <p:spPr>
          <a:xfrm>
            <a:off x="1016000" y="2711450"/>
            <a:ext cx="3403600" cy="1079500"/>
          </a:xfrm>
          <a:prstGeom prst="rect">
            <a:avLst/>
          </a:prstGeom>
          <a:noFill/>
        </p:spPr>
        <p:txBody>
          <a:bodyPr wrap="square" lIns="0" rIns="0" tIns="0" bIns="0" anchor="t">
            <a:spAutoFit/>
          </a:bodyPr>
          <a:lstStyle/>
          <a:p>
            <a:pPr>
              <a:lnSpc>
                <a:spcPct val="116667"/>
              </a:lnSpc>
              <a:spcAft>
                <a:spcPts val="0"/>
              </a:spcAft>
            </a:pPr>
            <a:r>
              <a:rPr sz="1400" b="0">
                <a:solidFill>
                  <a:srgbClr val="F8FAFC"/>
                </a:solidFill>
                <a:latin typeface="IBM Plex Sans"/>
              </a:rPr>
              <a:t>Themes and strategies live in spreadsheets: boundaries drift, backtests overfit, and a product is hard to trace to its evidence.</a:t>
            </a:r>
          </a:p>
        </p:txBody>
      </p:sp>
      <p:sp>
        <p:nvSpPr>
          <p:cNvPr id="10" name="Rectangle 9"/>
          <p:cNvSpPr/>
          <p:nvPr/>
        </p:nvSpPr>
        <p:spPr>
          <a:xfrm>
            <a:off x="1016000" y="3943350"/>
            <a:ext cx="3403600" cy="6350"/>
          </a:xfrm>
          <a:prstGeom prst="rect">
            <a:avLst/>
          </a:prstGeom>
          <a:solidFill>
            <a:srgbClr val="334155"/>
          </a:solidFill>
          <a:ln>
            <a:noFill/>
          </a:ln>
          <a:effectLst/>
        </p:spPr>
        <p:txBody>
          <a:bodyPr rtlCol="0" anchor="ctr"/>
          <a:lstStyle/>
          <a:p>
            <a:pPr algn="ctr"/>
          </a:p>
        </p:txBody>
      </p:sp>
      <p:sp>
        <p:nvSpPr>
          <p:cNvPr id="11" name="Oval 10"/>
          <p:cNvSpPr/>
          <p:nvPr/>
        </p:nvSpPr>
        <p:spPr>
          <a:xfrm>
            <a:off x="1016000" y="4102100"/>
            <a:ext cx="304800" cy="304800"/>
          </a:xfrm>
          <a:prstGeom prst="ellipse">
            <a:avLst/>
          </a:prstGeom>
          <a:solidFill>
            <a:srgbClr val="16A34A"/>
          </a:solidFill>
          <a:ln>
            <a:noFill/>
          </a:ln>
          <a:effectLst/>
        </p:spPr>
        <p:txBody>
          <a:bodyPr rtlCol="0" anchor="ctr"/>
          <a:lstStyle/>
          <a:p>
            <a:pPr algn="ctr"/>
          </a:p>
        </p:txBody>
      </p:sp>
      <p:pic>
        <p:nvPicPr>
          <p:cNvPr id="12" name="Picture 11" descr="circle-check-big-FFFFFF.png"/>
          <p:cNvPicPr>
            <a:picLocks noChangeAspect="1"/>
          </p:cNvPicPr>
          <p:nvPr/>
        </p:nvPicPr>
        <p:blipFill>
          <a:blip r:embed="rId3"/>
          <a:stretch>
            <a:fillRect/>
          </a:stretch>
        </p:blipFill>
        <p:spPr>
          <a:xfrm>
            <a:off x="1092200" y="4178300"/>
            <a:ext cx="152400" cy="152400"/>
          </a:xfrm>
          <a:prstGeom prst="rect">
            <a:avLst/>
          </a:prstGeom>
        </p:spPr>
      </p:pic>
      <p:sp>
        <p:nvSpPr>
          <p:cNvPr id="13" name="TextBox 12"/>
          <p:cNvSpPr txBox="1"/>
          <p:nvPr/>
        </p:nvSpPr>
        <p:spPr>
          <a:xfrm>
            <a:off x="1422400" y="4102100"/>
            <a:ext cx="2997200" cy="304800"/>
          </a:xfrm>
          <a:prstGeom prst="rect">
            <a:avLst/>
          </a:prstGeom>
          <a:noFill/>
        </p:spPr>
        <p:txBody>
          <a:bodyPr wrap="square" lIns="0" rIns="0" tIns="0" bIns="0" anchor="ctr">
            <a:spAutoFit/>
          </a:bodyPr>
          <a:lstStyle/>
          <a:p>
            <a:pPr>
              <a:lnSpc>
                <a:spcPct val="108333"/>
              </a:lnSpc>
              <a:spcAft>
                <a:spcPts val="0"/>
              </a:spcAft>
            </a:pPr>
            <a:r>
              <a:rPr sz="1200" b="0">
                <a:solidFill>
                  <a:srgbClr val="22C55E"/>
                </a:solidFill>
                <a:latin typeface="IBM Plex Mono"/>
              </a:rPr>
              <a:t>WHAT IT DELIVERS</a:t>
            </a:r>
          </a:p>
        </p:txBody>
      </p:sp>
      <p:sp>
        <p:nvSpPr>
          <p:cNvPr id="14" name="TextBox 13"/>
          <p:cNvSpPr txBox="1"/>
          <p:nvPr/>
        </p:nvSpPr>
        <p:spPr>
          <a:xfrm>
            <a:off x="1016000" y="4483100"/>
            <a:ext cx="3403600" cy="692150"/>
          </a:xfrm>
          <a:prstGeom prst="rect">
            <a:avLst/>
          </a:prstGeom>
          <a:noFill/>
        </p:spPr>
        <p:txBody>
          <a:bodyPr wrap="square" lIns="0" rIns="0" tIns="0" bIns="0" anchor="t">
            <a:spAutoFit/>
          </a:bodyPr>
          <a:lstStyle/>
          <a:p>
            <a:pPr>
              <a:lnSpc>
                <a:spcPct val="116667"/>
              </a:lnSpc>
              <a:spcAft>
                <a:spcPts val="0"/>
              </a:spcAft>
            </a:pPr>
            <a:r>
              <a:rPr sz="1200" b="0">
                <a:solidFill>
                  <a:srgbClr val="94A3B8"/>
                </a:solidFill>
                <a:latin typeface="IBM Plex Sans"/>
              </a:rPr>
              <a:t>A ratified theme, a reviewed universe and a dated index calibration; strategies tested out of sample first.</a:t>
            </a:r>
          </a:p>
        </p:txBody>
      </p:sp>
      <p:sp>
        <p:nvSpPr>
          <p:cNvPr id="15" name="Rounded Rectangle 14"/>
          <p:cNvSpPr/>
          <p:nvPr/>
        </p:nvSpPr>
        <p:spPr>
          <a:xfrm>
            <a:off x="4775200" y="2101850"/>
            <a:ext cx="6604000" cy="1024467"/>
          </a:xfrm>
          <a:prstGeom prst="roundRect">
            <a:avLst>
              <a:gd name="adj" fmla="val 9917"/>
            </a:avLst>
          </a:prstGeom>
          <a:solidFill>
            <a:srgbClr val="FFFFFF"/>
          </a:solidFill>
          <a:ln w="9525">
            <a:solidFill>
              <a:srgbClr val="E2E8F0"/>
            </a:solidFill>
          </a:ln>
          <a:effectLst/>
        </p:spPr>
        <p:txBody>
          <a:bodyPr rtlCol="0" anchor="ctr"/>
          <a:lstStyle/>
          <a:p>
            <a:pPr algn="ctr"/>
          </a:p>
        </p:txBody>
      </p:sp>
      <p:sp>
        <p:nvSpPr>
          <p:cNvPr id="16" name="Oval 15"/>
          <p:cNvSpPr/>
          <p:nvPr/>
        </p:nvSpPr>
        <p:spPr>
          <a:xfrm>
            <a:off x="4927600" y="2461683"/>
            <a:ext cx="304800" cy="304800"/>
          </a:xfrm>
          <a:prstGeom prst="ellipse">
            <a:avLst/>
          </a:prstGeom>
          <a:solidFill>
            <a:srgbClr val="2563EB"/>
          </a:solidFill>
          <a:ln>
            <a:noFill/>
          </a:ln>
          <a:effectLst/>
        </p:spPr>
        <p:txBody>
          <a:bodyPr rtlCol="0" anchor="ctr"/>
          <a:lstStyle/>
          <a:p>
            <a:pPr algn="ctr"/>
          </a:p>
        </p:txBody>
      </p:sp>
      <p:pic>
        <p:nvPicPr>
          <p:cNvPr id="17" name="Picture 16" descr="handshake-FFFFFF.png"/>
          <p:cNvPicPr>
            <a:picLocks noChangeAspect="1"/>
          </p:cNvPicPr>
          <p:nvPr/>
        </p:nvPicPr>
        <p:blipFill>
          <a:blip r:embed="rId4"/>
          <a:stretch>
            <a:fillRect/>
          </a:stretch>
        </p:blipFill>
        <p:spPr>
          <a:xfrm>
            <a:off x="5003800" y="2537883"/>
            <a:ext cx="152400" cy="152400"/>
          </a:xfrm>
          <a:prstGeom prst="rect">
            <a:avLst/>
          </a:prstGeom>
        </p:spPr>
      </p:pic>
      <p:sp>
        <p:nvSpPr>
          <p:cNvPr id="18" name="TextBox 17"/>
          <p:cNvSpPr txBox="1"/>
          <p:nvPr/>
        </p:nvSpPr>
        <p:spPr>
          <a:xfrm>
            <a:off x="5359400" y="2254250"/>
            <a:ext cx="5867400" cy="719667"/>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STEWARDSHIP</a:t>
            </a:r>
          </a:p>
          <a:p>
            <a:pPr>
              <a:lnSpc>
                <a:spcPct val="116667"/>
              </a:lnSpc>
              <a:spcAft>
                <a:spcPts val="0"/>
              </a:spcAft>
            </a:pPr>
            <a:r>
              <a:rPr sz="1200" b="0">
                <a:solidFill>
                  <a:srgbClr val="475569"/>
                </a:solidFill>
                <a:latin typeface="IBM Plex Sans"/>
              </a:rPr>
              <a:t>A theme's position and standards (specified, not built) become StewardIQ flags: the product thesis turns into engagement asks.</a:t>
            </a:r>
          </a:p>
        </p:txBody>
      </p:sp>
      <p:sp>
        <p:nvSpPr>
          <p:cNvPr id="19" name="Rounded Rectangle 18"/>
          <p:cNvSpPr/>
          <p:nvPr/>
        </p:nvSpPr>
        <p:spPr>
          <a:xfrm>
            <a:off x="4775200" y="3227917"/>
            <a:ext cx="6604000" cy="1024467"/>
          </a:xfrm>
          <a:prstGeom prst="roundRect">
            <a:avLst>
              <a:gd name="adj" fmla="val 9917"/>
            </a:avLst>
          </a:prstGeom>
          <a:solidFill>
            <a:srgbClr val="FFFFFF"/>
          </a:solidFill>
          <a:ln w="9525">
            <a:solidFill>
              <a:srgbClr val="E2E8F0"/>
            </a:solidFill>
          </a:ln>
          <a:effectLst/>
        </p:spPr>
        <p:txBody>
          <a:bodyPr rtlCol="0" anchor="ctr"/>
          <a:lstStyle/>
          <a:p>
            <a:pPr algn="ctr"/>
          </a:p>
        </p:txBody>
      </p:sp>
      <p:sp>
        <p:nvSpPr>
          <p:cNvPr id="20" name="Oval 19"/>
          <p:cNvSpPr/>
          <p:nvPr/>
        </p:nvSpPr>
        <p:spPr>
          <a:xfrm>
            <a:off x="4927600" y="3587750"/>
            <a:ext cx="304800" cy="304800"/>
          </a:xfrm>
          <a:prstGeom prst="ellipse">
            <a:avLst/>
          </a:prstGeom>
          <a:solidFill>
            <a:srgbClr val="16A34A"/>
          </a:solidFill>
          <a:ln>
            <a:noFill/>
          </a:ln>
          <a:effectLst/>
        </p:spPr>
        <p:txBody>
          <a:bodyPr rtlCol="0" anchor="ctr"/>
          <a:lstStyle/>
          <a:p>
            <a:pPr algn="ctr"/>
          </a:p>
        </p:txBody>
      </p:sp>
      <p:pic>
        <p:nvPicPr>
          <p:cNvPr id="21" name="Picture 20" descr="package-FFFFFF.png"/>
          <p:cNvPicPr>
            <a:picLocks noChangeAspect="1"/>
          </p:cNvPicPr>
          <p:nvPr/>
        </p:nvPicPr>
        <p:blipFill>
          <a:blip r:embed="rId5"/>
          <a:stretch>
            <a:fillRect/>
          </a:stretch>
        </p:blipFill>
        <p:spPr>
          <a:xfrm>
            <a:off x="5003800" y="3663950"/>
            <a:ext cx="152400" cy="152400"/>
          </a:xfrm>
          <a:prstGeom prst="rect">
            <a:avLst/>
          </a:prstGeom>
        </p:spPr>
      </p:pic>
      <p:sp>
        <p:nvSpPr>
          <p:cNvPr id="22" name="TextBox 21"/>
          <p:cNvSpPr txBox="1"/>
          <p:nvPr/>
        </p:nvSpPr>
        <p:spPr>
          <a:xfrm>
            <a:off x="5359400" y="3380317"/>
            <a:ext cx="5867400" cy="719667"/>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PRODUCT DESIGN</a:t>
            </a:r>
          </a:p>
          <a:p>
            <a:pPr>
              <a:lnSpc>
                <a:spcPct val="116667"/>
              </a:lnSpc>
              <a:spcAft>
                <a:spcPts val="0"/>
              </a:spcAft>
            </a:pPr>
            <a:r>
              <a:rPr sz="1200" b="0">
                <a:solidFill>
                  <a:srgbClr val="475569"/>
                </a:solidFill>
                <a:latin typeface="IBM Plex Sans"/>
              </a:rPr>
              <a:t>PAB, CTB, best-in-class and thematic presets compose an index; dated calibrations keep past reviews reproducible.</a:t>
            </a:r>
          </a:p>
        </p:txBody>
      </p:sp>
      <p:sp>
        <p:nvSpPr>
          <p:cNvPr id="23" name="Rounded Rectangle 22"/>
          <p:cNvSpPr/>
          <p:nvPr/>
        </p:nvSpPr>
        <p:spPr>
          <a:xfrm>
            <a:off x="4775200" y="4353983"/>
            <a:ext cx="6604000" cy="1024467"/>
          </a:xfrm>
          <a:prstGeom prst="roundRect">
            <a:avLst>
              <a:gd name="adj" fmla="val 9917"/>
            </a:avLst>
          </a:prstGeom>
          <a:solidFill>
            <a:srgbClr val="FFFFFF"/>
          </a:solidFill>
          <a:ln w="9525">
            <a:solidFill>
              <a:srgbClr val="E2E8F0"/>
            </a:solidFill>
          </a:ln>
          <a:effectLst/>
        </p:spPr>
        <p:txBody>
          <a:bodyPr rtlCol="0" anchor="ctr"/>
          <a:lstStyle/>
          <a:p>
            <a:pPr algn="ctr"/>
          </a:p>
        </p:txBody>
      </p:sp>
      <p:sp>
        <p:nvSpPr>
          <p:cNvPr id="24" name="Oval 23"/>
          <p:cNvSpPr/>
          <p:nvPr/>
        </p:nvSpPr>
        <p:spPr>
          <a:xfrm>
            <a:off x="4927600" y="4713817"/>
            <a:ext cx="304800" cy="304800"/>
          </a:xfrm>
          <a:prstGeom prst="ellipse">
            <a:avLst/>
          </a:prstGeom>
          <a:solidFill>
            <a:srgbClr val="0F172A"/>
          </a:solidFill>
          <a:ln>
            <a:noFill/>
          </a:ln>
          <a:effectLst/>
        </p:spPr>
        <p:txBody>
          <a:bodyPr rtlCol="0" anchor="ctr"/>
          <a:lstStyle/>
          <a:p>
            <a:pPr algn="ctr"/>
          </a:p>
        </p:txBody>
      </p:sp>
      <p:pic>
        <p:nvPicPr>
          <p:cNvPr id="25" name="Picture 24" descr="key-round-FFFFFF.png"/>
          <p:cNvPicPr>
            <a:picLocks noChangeAspect="1"/>
          </p:cNvPicPr>
          <p:nvPr/>
        </p:nvPicPr>
        <p:blipFill>
          <a:blip r:embed="rId6"/>
          <a:stretch>
            <a:fillRect/>
          </a:stretch>
        </p:blipFill>
        <p:spPr>
          <a:xfrm>
            <a:off x="5003800" y="4790017"/>
            <a:ext cx="152400" cy="152400"/>
          </a:xfrm>
          <a:prstGeom prst="rect">
            <a:avLst/>
          </a:prstGeom>
        </p:spPr>
      </p:pic>
      <p:sp>
        <p:nvSpPr>
          <p:cNvPr id="26" name="TextBox 25"/>
          <p:cNvSpPr txBox="1"/>
          <p:nvPr/>
        </p:nvSpPr>
        <p:spPr>
          <a:xfrm>
            <a:off x="5359400" y="4506383"/>
            <a:ext cx="5867400" cy="719667"/>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DATA LICENCE</a:t>
            </a:r>
          </a:p>
          <a:p>
            <a:pPr>
              <a:lnSpc>
                <a:spcPct val="116667"/>
              </a:lnSpc>
              <a:spcAft>
                <a:spcPts val="0"/>
              </a:spcAft>
            </a:pPr>
            <a:r>
              <a:rPr sz="1200" b="0">
                <a:solidFill>
                  <a:srgbClr val="475569"/>
                </a:solidFill>
                <a:latin typeface="IBM Plex Sans"/>
              </a:rPr>
              <a:t>Methodologies and taxonomies are house IP. GICS below sector level needs an MSCI/S&amp;P licence; IO data is OECD and EXIOBASE.</a:t>
            </a:r>
          </a:p>
        </p:txBody>
      </p:sp>
      <p:sp>
        <p:nvSpPr>
          <p:cNvPr id="27" name="TextBox 26"/>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28" name="TextBox 27"/>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05 / 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WORKSPACE · STEWARDIQ</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StewardIQ: engagement on the record</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Processes: Engage and escalate · Proxy season · Client reporting</a:t>
            </a:r>
          </a:p>
        </p:txBody>
      </p:sp>
      <p:sp>
        <p:nvSpPr>
          <p:cNvPr id="5" name="Rounded Rectangle 4"/>
          <p:cNvSpPr/>
          <p:nvPr/>
        </p:nvSpPr>
        <p:spPr>
          <a:xfrm>
            <a:off x="812800" y="2101850"/>
            <a:ext cx="3810000" cy="3511550"/>
          </a:xfrm>
          <a:prstGeom prst="roundRect">
            <a:avLst>
              <a:gd name="adj" fmla="val 2893"/>
            </a:avLst>
          </a:prstGeom>
          <a:solidFill>
            <a:srgbClr val="0F172A"/>
          </a:solidFill>
          <a:ln>
            <a:noFill/>
          </a:ln>
          <a:effectLst/>
        </p:spPr>
        <p:txBody>
          <a:bodyPr rtlCol="0" anchor="ctr"/>
          <a:lstStyle/>
          <a:p>
            <a:pPr algn="ctr"/>
          </a:p>
        </p:txBody>
      </p:sp>
      <p:sp>
        <p:nvSpPr>
          <p:cNvPr id="6" name="Oval 5"/>
          <p:cNvSpPr/>
          <p:nvPr/>
        </p:nvSpPr>
        <p:spPr>
          <a:xfrm>
            <a:off x="1016000" y="2305050"/>
            <a:ext cx="304800" cy="304800"/>
          </a:xfrm>
          <a:prstGeom prst="ellipse">
            <a:avLst/>
          </a:prstGeom>
          <a:solidFill>
            <a:srgbClr val="334155"/>
          </a:solidFill>
          <a:ln>
            <a:noFill/>
          </a:ln>
          <a:effectLst/>
        </p:spPr>
        <p:txBody>
          <a:bodyPr rtlCol="0" anchor="ctr"/>
          <a:lstStyle/>
          <a:p>
            <a:pPr algn="ctr"/>
          </a:p>
        </p:txBody>
      </p:sp>
      <p:pic>
        <p:nvPicPr>
          <p:cNvPr id="7" name="Picture 6" descr="circle-alert-F8FAFC.png"/>
          <p:cNvPicPr>
            <a:picLocks noChangeAspect="1"/>
          </p:cNvPicPr>
          <p:nvPr/>
        </p:nvPicPr>
        <p:blipFill>
          <a:blip r:embed="rId2"/>
          <a:stretch>
            <a:fillRect/>
          </a:stretch>
        </p:blipFill>
        <p:spPr>
          <a:xfrm>
            <a:off x="1092200" y="2381250"/>
            <a:ext cx="152400" cy="152400"/>
          </a:xfrm>
          <a:prstGeom prst="rect">
            <a:avLst/>
          </a:prstGeom>
        </p:spPr>
      </p:pic>
      <p:sp>
        <p:nvSpPr>
          <p:cNvPr id="8" name="TextBox 7"/>
          <p:cNvSpPr txBox="1"/>
          <p:nvPr/>
        </p:nvSpPr>
        <p:spPr>
          <a:xfrm>
            <a:off x="1422400" y="2305050"/>
            <a:ext cx="2997200" cy="304800"/>
          </a:xfrm>
          <a:prstGeom prst="rect">
            <a:avLst/>
          </a:prstGeom>
          <a:noFill/>
        </p:spPr>
        <p:txBody>
          <a:bodyPr wrap="square" lIns="0" rIns="0" tIns="0" bIns="0" anchor="ctr">
            <a:spAutoFit/>
          </a:bodyPr>
          <a:lstStyle/>
          <a:p>
            <a:pPr>
              <a:lnSpc>
                <a:spcPct val="108333"/>
              </a:lnSpc>
              <a:spcAft>
                <a:spcPts val="0"/>
              </a:spcAft>
            </a:pPr>
            <a:r>
              <a:rPr sz="1200" b="0">
                <a:solidFill>
                  <a:srgbClr val="94A3B8"/>
                </a:solidFill>
                <a:latin typeface="IBM Plex Mono"/>
              </a:rPr>
              <a:t>THE ISSUE</a:t>
            </a:r>
          </a:p>
        </p:txBody>
      </p:sp>
      <p:sp>
        <p:nvSpPr>
          <p:cNvPr id="9" name="TextBox 8"/>
          <p:cNvSpPr txBox="1"/>
          <p:nvPr/>
        </p:nvSpPr>
        <p:spPr>
          <a:xfrm>
            <a:off x="1016000" y="2711450"/>
            <a:ext cx="3403600" cy="1079500"/>
          </a:xfrm>
          <a:prstGeom prst="rect">
            <a:avLst/>
          </a:prstGeom>
          <a:noFill/>
        </p:spPr>
        <p:txBody>
          <a:bodyPr wrap="square" lIns="0" rIns="0" tIns="0" bIns="0" anchor="t">
            <a:spAutoFit/>
          </a:bodyPr>
          <a:lstStyle/>
          <a:p>
            <a:pPr>
              <a:lnSpc>
                <a:spcPct val="116667"/>
              </a:lnSpc>
              <a:spcAft>
                <a:spcPts val="0"/>
              </a:spcAft>
            </a:pPr>
            <a:r>
              <a:rPr sz="1400" b="0">
                <a:solidFill>
                  <a:srgbClr val="F8FAFC"/>
                </a:solidFill>
                <a:latin typeface="IBM Plex Sans"/>
              </a:rPr>
              <a:t>Engagement notes, votes and escalations sit in email and spreadsheets: no clear owner, promise or reason for a vote.</a:t>
            </a:r>
          </a:p>
        </p:txBody>
      </p:sp>
      <p:sp>
        <p:nvSpPr>
          <p:cNvPr id="10" name="Rectangle 9"/>
          <p:cNvSpPr/>
          <p:nvPr/>
        </p:nvSpPr>
        <p:spPr>
          <a:xfrm>
            <a:off x="1016000" y="3943350"/>
            <a:ext cx="3403600" cy="6350"/>
          </a:xfrm>
          <a:prstGeom prst="rect">
            <a:avLst/>
          </a:prstGeom>
          <a:solidFill>
            <a:srgbClr val="334155"/>
          </a:solidFill>
          <a:ln>
            <a:noFill/>
          </a:ln>
          <a:effectLst/>
        </p:spPr>
        <p:txBody>
          <a:bodyPr rtlCol="0" anchor="ctr"/>
          <a:lstStyle/>
          <a:p>
            <a:pPr algn="ctr"/>
          </a:p>
        </p:txBody>
      </p:sp>
      <p:sp>
        <p:nvSpPr>
          <p:cNvPr id="11" name="Oval 10"/>
          <p:cNvSpPr/>
          <p:nvPr/>
        </p:nvSpPr>
        <p:spPr>
          <a:xfrm>
            <a:off x="1016000" y="4102100"/>
            <a:ext cx="304800" cy="304800"/>
          </a:xfrm>
          <a:prstGeom prst="ellipse">
            <a:avLst/>
          </a:prstGeom>
          <a:solidFill>
            <a:srgbClr val="16A34A"/>
          </a:solidFill>
          <a:ln>
            <a:noFill/>
          </a:ln>
          <a:effectLst/>
        </p:spPr>
        <p:txBody>
          <a:bodyPr rtlCol="0" anchor="ctr"/>
          <a:lstStyle/>
          <a:p>
            <a:pPr algn="ctr"/>
          </a:p>
        </p:txBody>
      </p:sp>
      <p:pic>
        <p:nvPicPr>
          <p:cNvPr id="12" name="Picture 11" descr="circle-check-big-FFFFFF.png"/>
          <p:cNvPicPr>
            <a:picLocks noChangeAspect="1"/>
          </p:cNvPicPr>
          <p:nvPr/>
        </p:nvPicPr>
        <p:blipFill>
          <a:blip r:embed="rId3"/>
          <a:stretch>
            <a:fillRect/>
          </a:stretch>
        </p:blipFill>
        <p:spPr>
          <a:xfrm>
            <a:off x="1092200" y="4178300"/>
            <a:ext cx="152400" cy="152400"/>
          </a:xfrm>
          <a:prstGeom prst="rect">
            <a:avLst/>
          </a:prstGeom>
        </p:spPr>
      </p:pic>
      <p:sp>
        <p:nvSpPr>
          <p:cNvPr id="13" name="TextBox 12"/>
          <p:cNvSpPr txBox="1"/>
          <p:nvPr/>
        </p:nvSpPr>
        <p:spPr>
          <a:xfrm>
            <a:off x="1422400" y="4102100"/>
            <a:ext cx="2997200" cy="304800"/>
          </a:xfrm>
          <a:prstGeom prst="rect">
            <a:avLst/>
          </a:prstGeom>
          <a:noFill/>
        </p:spPr>
        <p:txBody>
          <a:bodyPr wrap="square" lIns="0" rIns="0" tIns="0" bIns="0" anchor="ctr">
            <a:spAutoFit/>
          </a:bodyPr>
          <a:lstStyle/>
          <a:p>
            <a:pPr>
              <a:lnSpc>
                <a:spcPct val="108333"/>
              </a:lnSpc>
              <a:spcAft>
                <a:spcPts val="0"/>
              </a:spcAft>
            </a:pPr>
            <a:r>
              <a:rPr sz="1200" b="0">
                <a:solidFill>
                  <a:srgbClr val="22C55E"/>
                </a:solidFill>
                <a:latin typeface="IBM Plex Mono"/>
              </a:rPr>
              <a:t>WHAT IT DELIVERS</a:t>
            </a:r>
          </a:p>
        </p:txBody>
      </p:sp>
      <p:sp>
        <p:nvSpPr>
          <p:cNvPr id="14" name="TextBox 13"/>
          <p:cNvSpPr txBox="1"/>
          <p:nvPr/>
        </p:nvSpPr>
        <p:spPr>
          <a:xfrm>
            <a:off x="1016000" y="4483100"/>
            <a:ext cx="3403600" cy="927100"/>
          </a:xfrm>
          <a:prstGeom prst="rect">
            <a:avLst/>
          </a:prstGeom>
          <a:noFill/>
        </p:spPr>
        <p:txBody>
          <a:bodyPr wrap="square" lIns="0" rIns="0" tIns="0" bIns="0" anchor="t">
            <a:spAutoFit/>
          </a:bodyPr>
          <a:lstStyle/>
          <a:p>
            <a:pPr>
              <a:lnSpc>
                <a:spcPct val="116667"/>
              </a:lnSpc>
              <a:spcAft>
                <a:spcPts val="0"/>
              </a:spcAft>
            </a:pPr>
            <a:r>
              <a:rPr sz="1200" b="0">
                <a:solidFill>
                  <a:srgbClr val="94A3B8"/>
                </a:solidFill>
                <a:latin typeface="IBM Plex Sans"/>
              </a:rPr>
              <a:t>One record per company, a seven-step escalation ladder, votes cross-checked against open engagements, and a person deciding every step.</a:t>
            </a:r>
          </a:p>
        </p:txBody>
      </p:sp>
      <p:sp>
        <p:nvSpPr>
          <p:cNvPr id="15" name="Rounded Rectangle 14"/>
          <p:cNvSpPr/>
          <p:nvPr/>
        </p:nvSpPr>
        <p:spPr>
          <a:xfrm>
            <a:off x="4775200" y="2101850"/>
            <a:ext cx="6604000" cy="1102783"/>
          </a:xfrm>
          <a:prstGeom prst="roundRect">
            <a:avLst>
              <a:gd name="adj" fmla="val 9213"/>
            </a:avLst>
          </a:prstGeom>
          <a:solidFill>
            <a:srgbClr val="FFFFFF"/>
          </a:solidFill>
          <a:ln w="9525">
            <a:solidFill>
              <a:srgbClr val="E2E8F0"/>
            </a:solidFill>
          </a:ln>
          <a:effectLst/>
        </p:spPr>
        <p:txBody>
          <a:bodyPr rtlCol="0" anchor="ctr"/>
          <a:lstStyle/>
          <a:p>
            <a:pPr algn="ctr"/>
          </a:p>
        </p:txBody>
      </p:sp>
      <p:sp>
        <p:nvSpPr>
          <p:cNvPr id="16" name="Oval 15"/>
          <p:cNvSpPr/>
          <p:nvPr/>
        </p:nvSpPr>
        <p:spPr>
          <a:xfrm>
            <a:off x="4927600" y="2500842"/>
            <a:ext cx="304800" cy="304800"/>
          </a:xfrm>
          <a:prstGeom prst="ellipse">
            <a:avLst/>
          </a:prstGeom>
          <a:solidFill>
            <a:srgbClr val="2563EB"/>
          </a:solidFill>
          <a:ln>
            <a:noFill/>
          </a:ln>
          <a:effectLst/>
        </p:spPr>
        <p:txBody>
          <a:bodyPr rtlCol="0" anchor="ctr"/>
          <a:lstStyle/>
          <a:p>
            <a:pPr algn="ctr"/>
          </a:p>
        </p:txBody>
      </p:sp>
      <p:pic>
        <p:nvPicPr>
          <p:cNvPr id="17" name="Picture 16" descr="handshake-FFFFFF.png"/>
          <p:cNvPicPr>
            <a:picLocks noChangeAspect="1"/>
          </p:cNvPicPr>
          <p:nvPr/>
        </p:nvPicPr>
        <p:blipFill>
          <a:blip r:embed="rId4"/>
          <a:stretch>
            <a:fillRect/>
          </a:stretch>
        </p:blipFill>
        <p:spPr>
          <a:xfrm>
            <a:off x="5003800" y="2577042"/>
            <a:ext cx="152400" cy="152400"/>
          </a:xfrm>
          <a:prstGeom prst="rect">
            <a:avLst/>
          </a:prstGeom>
        </p:spPr>
      </p:pic>
      <p:sp>
        <p:nvSpPr>
          <p:cNvPr id="18" name="TextBox 17"/>
          <p:cNvSpPr txBox="1"/>
          <p:nvPr/>
        </p:nvSpPr>
        <p:spPr>
          <a:xfrm>
            <a:off x="5359400" y="2254250"/>
            <a:ext cx="5867400" cy="797983"/>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STEWARDSHIP</a:t>
            </a:r>
          </a:p>
          <a:p>
            <a:pPr>
              <a:lnSpc>
                <a:spcPct val="116667"/>
              </a:lnSpc>
              <a:spcAft>
                <a:spcPts val="0"/>
              </a:spcAft>
            </a:pPr>
            <a:r>
              <a:rPr sz="1200" b="0">
                <a:solidFill>
                  <a:srgbClr val="475569"/>
                </a:solidFill>
                <a:latin typeface="IBM Plex Sans"/>
              </a:rPr>
              <a:t>Votes, engagements and escalations share one record, so a vote against management can follow from a stalled engagement, documented.</a:t>
            </a:r>
          </a:p>
        </p:txBody>
      </p:sp>
      <p:sp>
        <p:nvSpPr>
          <p:cNvPr id="19" name="Rounded Rectangle 18"/>
          <p:cNvSpPr/>
          <p:nvPr/>
        </p:nvSpPr>
        <p:spPr>
          <a:xfrm>
            <a:off x="4775200" y="3306233"/>
            <a:ext cx="6604000" cy="1102783"/>
          </a:xfrm>
          <a:prstGeom prst="roundRect">
            <a:avLst>
              <a:gd name="adj" fmla="val 9213"/>
            </a:avLst>
          </a:prstGeom>
          <a:solidFill>
            <a:srgbClr val="FFFFFF"/>
          </a:solidFill>
          <a:ln w="9525">
            <a:solidFill>
              <a:srgbClr val="E2E8F0"/>
            </a:solidFill>
          </a:ln>
          <a:effectLst/>
        </p:spPr>
        <p:txBody>
          <a:bodyPr rtlCol="0" anchor="ctr"/>
          <a:lstStyle/>
          <a:p>
            <a:pPr algn="ctr"/>
          </a:p>
        </p:txBody>
      </p:sp>
      <p:sp>
        <p:nvSpPr>
          <p:cNvPr id="20" name="Oval 19"/>
          <p:cNvSpPr/>
          <p:nvPr/>
        </p:nvSpPr>
        <p:spPr>
          <a:xfrm>
            <a:off x="4927600" y="3705225"/>
            <a:ext cx="304800" cy="304800"/>
          </a:xfrm>
          <a:prstGeom prst="ellipse">
            <a:avLst/>
          </a:prstGeom>
          <a:solidFill>
            <a:srgbClr val="16A34A"/>
          </a:solidFill>
          <a:ln>
            <a:noFill/>
          </a:ln>
          <a:effectLst/>
        </p:spPr>
        <p:txBody>
          <a:bodyPr rtlCol="0" anchor="ctr"/>
          <a:lstStyle/>
          <a:p>
            <a:pPr algn="ctr"/>
          </a:p>
        </p:txBody>
      </p:sp>
      <p:pic>
        <p:nvPicPr>
          <p:cNvPr id="21" name="Picture 20" descr="package-FFFFFF.png"/>
          <p:cNvPicPr>
            <a:picLocks noChangeAspect="1"/>
          </p:cNvPicPr>
          <p:nvPr/>
        </p:nvPicPr>
        <p:blipFill>
          <a:blip r:embed="rId5"/>
          <a:stretch>
            <a:fillRect/>
          </a:stretch>
        </p:blipFill>
        <p:spPr>
          <a:xfrm>
            <a:off x="5003800" y="3781425"/>
            <a:ext cx="152400" cy="152400"/>
          </a:xfrm>
          <a:prstGeom prst="rect">
            <a:avLst/>
          </a:prstGeom>
        </p:spPr>
      </p:pic>
      <p:sp>
        <p:nvSpPr>
          <p:cNvPr id="22" name="TextBox 21"/>
          <p:cNvSpPr txBox="1"/>
          <p:nvPr/>
        </p:nvSpPr>
        <p:spPr>
          <a:xfrm>
            <a:off x="5359400" y="3458633"/>
            <a:ext cx="5867400" cy="797983"/>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PRODUCT DESIGN</a:t>
            </a:r>
          </a:p>
          <a:p>
            <a:pPr>
              <a:lnSpc>
                <a:spcPct val="116667"/>
              </a:lnSpc>
              <a:spcAft>
                <a:spcPts val="0"/>
              </a:spcAft>
            </a:pPr>
            <a:r>
              <a:rPr sz="1200" b="0">
                <a:solidFill>
                  <a:srgbClr val="475569"/>
                </a:solidFill>
                <a:latin typeface="IBM Plex Sans"/>
              </a:rPr>
              <a:t>Client reporting is designed to show house activity plus where a client's policy differed: a basis for client-specific mandates.</a:t>
            </a:r>
          </a:p>
        </p:txBody>
      </p:sp>
      <p:sp>
        <p:nvSpPr>
          <p:cNvPr id="23" name="Rounded Rectangle 22"/>
          <p:cNvSpPr/>
          <p:nvPr/>
        </p:nvSpPr>
        <p:spPr>
          <a:xfrm>
            <a:off x="4775200" y="4510617"/>
            <a:ext cx="6604000" cy="1102783"/>
          </a:xfrm>
          <a:prstGeom prst="roundRect">
            <a:avLst>
              <a:gd name="adj" fmla="val 9213"/>
            </a:avLst>
          </a:prstGeom>
          <a:solidFill>
            <a:srgbClr val="FFFFFF"/>
          </a:solidFill>
          <a:ln w="9525">
            <a:solidFill>
              <a:srgbClr val="E2E8F0"/>
            </a:solidFill>
          </a:ln>
          <a:effectLst/>
        </p:spPr>
        <p:txBody>
          <a:bodyPr rtlCol="0" anchor="ctr"/>
          <a:lstStyle/>
          <a:p>
            <a:pPr algn="ctr"/>
          </a:p>
        </p:txBody>
      </p:sp>
      <p:sp>
        <p:nvSpPr>
          <p:cNvPr id="24" name="Oval 23"/>
          <p:cNvSpPr/>
          <p:nvPr/>
        </p:nvSpPr>
        <p:spPr>
          <a:xfrm>
            <a:off x="4927600" y="4909608"/>
            <a:ext cx="304800" cy="304800"/>
          </a:xfrm>
          <a:prstGeom prst="ellipse">
            <a:avLst/>
          </a:prstGeom>
          <a:solidFill>
            <a:srgbClr val="0F172A"/>
          </a:solidFill>
          <a:ln>
            <a:noFill/>
          </a:ln>
          <a:effectLst/>
        </p:spPr>
        <p:txBody>
          <a:bodyPr rtlCol="0" anchor="ctr"/>
          <a:lstStyle/>
          <a:p>
            <a:pPr algn="ctr"/>
          </a:p>
        </p:txBody>
      </p:sp>
      <p:pic>
        <p:nvPicPr>
          <p:cNvPr id="25" name="Picture 24" descr="key-round-FFFFFF.png"/>
          <p:cNvPicPr>
            <a:picLocks noChangeAspect="1"/>
          </p:cNvPicPr>
          <p:nvPr/>
        </p:nvPicPr>
        <p:blipFill>
          <a:blip r:embed="rId6"/>
          <a:stretch>
            <a:fillRect/>
          </a:stretch>
        </p:blipFill>
        <p:spPr>
          <a:xfrm>
            <a:off x="5003800" y="4985808"/>
            <a:ext cx="152400" cy="152400"/>
          </a:xfrm>
          <a:prstGeom prst="rect">
            <a:avLst/>
          </a:prstGeom>
        </p:spPr>
      </p:pic>
      <p:sp>
        <p:nvSpPr>
          <p:cNvPr id="26" name="TextBox 25"/>
          <p:cNvSpPr txBox="1"/>
          <p:nvPr/>
        </p:nvSpPr>
        <p:spPr>
          <a:xfrm>
            <a:off x="5359400" y="4663017"/>
            <a:ext cx="5867400" cy="797983"/>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DATA LICENCE</a:t>
            </a:r>
          </a:p>
          <a:p>
            <a:pPr>
              <a:lnSpc>
                <a:spcPct val="116667"/>
              </a:lnSpc>
              <a:spcAft>
                <a:spcPts val="0"/>
              </a:spcAft>
            </a:pPr>
            <a:r>
              <a:rPr sz="1200" b="0">
                <a:solidFill>
                  <a:srgbClr val="475569"/>
                </a:solidFill>
                <a:latin typeface="IBM Plex Sans"/>
              </a:rPr>
              <a:t>Proxy statements come free from SEC EDGAR and the engagement record is house data. Vote data from a provider brings its own licence terms.</a:t>
            </a:r>
          </a:p>
        </p:txBody>
      </p:sp>
      <p:sp>
        <p:nvSpPr>
          <p:cNvPr id="27" name="TextBox 26"/>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28" name="TextBox 27"/>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06 / 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WORKSPACE · DATA HUB</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Data Hub: one source of truth for inputs</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Processes: Map securities to issuers</a:t>
            </a:r>
          </a:p>
        </p:txBody>
      </p:sp>
      <p:sp>
        <p:nvSpPr>
          <p:cNvPr id="5" name="Rounded Rectangle 4"/>
          <p:cNvSpPr/>
          <p:nvPr/>
        </p:nvSpPr>
        <p:spPr>
          <a:xfrm>
            <a:off x="812800" y="2101850"/>
            <a:ext cx="3810000" cy="3511550"/>
          </a:xfrm>
          <a:prstGeom prst="roundRect">
            <a:avLst>
              <a:gd name="adj" fmla="val 2893"/>
            </a:avLst>
          </a:prstGeom>
          <a:solidFill>
            <a:srgbClr val="0F172A"/>
          </a:solidFill>
          <a:ln>
            <a:noFill/>
          </a:ln>
          <a:effectLst/>
        </p:spPr>
        <p:txBody>
          <a:bodyPr rtlCol="0" anchor="ctr"/>
          <a:lstStyle/>
          <a:p>
            <a:pPr algn="ctr"/>
          </a:p>
        </p:txBody>
      </p:sp>
      <p:sp>
        <p:nvSpPr>
          <p:cNvPr id="6" name="Oval 5"/>
          <p:cNvSpPr/>
          <p:nvPr/>
        </p:nvSpPr>
        <p:spPr>
          <a:xfrm>
            <a:off x="1016000" y="2305050"/>
            <a:ext cx="304800" cy="304800"/>
          </a:xfrm>
          <a:prstGeom prst="ellipse">
            <a:avLst/>
          </a:prstGeom>
          <a:solidFill>
            <a:srgbClr val="334155"/>
          </a:solidFill>
          <a:ln>
            <a:noFill/>
          </a:ln>
          <a:effectLst/>
        </p:spPr>
        <p:txBody>
          <a:bodyPr rtlCol="0" anchor="ctr"/>
          <a:lstStyle/>
          <a:p>
            <a:pPr algn="ctr"/>
          </a:p>
        </p:txBody>
      </p:sp>
      <p:pic>
        <p:nvPicPr>
          <p:cNvPr id="7" name="Picture 6" descr="circle-alert-F8FAFC.png"/>
          <p:cNvPicPr>
            <a:picLocks noChangeAspect="1"/>
          </p:cNvPicPr>
          <p:nvPr/>
        </p:nvPicPr>
        <p:blipFill>
          <a:blip r:embed="rId2"/>
          <a:stretch>
            <a:fillRect/>
          </a:stretch>
        </p:blipFill>
        <p:spPr>
          <a:xfrm>
            <a:off x="1092200" y="2381250"/>
            <a:ext cx="152400" cy="152400"/>
          </a:xfrm>
          <a:prstGeom prst="rect">
            <a:avLst/>
          </a:prstGeom>
        </p:spPr>
      </p:pic>
      <p:sp>
        <p:nvSpPr>
          <p:cNvPr id="8" name="TextBox 7"/>
          <p:cNvSpPr txBox="1"/>
          <p:nvPr/>
        </p:nvSpPr>
        <p:spPr>
          <a:xfrm>
            <a:off x="1422400" y="2305050"/>
            <a:ext cx="2997200" cy="304800"/>
          </a:xfrm>
          <a:prstGeom prst="rect">
            <a:avLst/>
          </a:prstGeom>
          <a:noFill/>
        </p:spPr>
        <p:txBody>
          <a:bodyPr wrap="square" lIns="0" rIns="0" tIns="0" bIns="0" anchor="ctr">
            <a:spAutoFit/>
          </a:bodyPr>
          <a:lstStyle/>
          <a:p>
            <a:pPr>
              <a:lnSpc>
                <a:spcPct val="108333"/>
              </a:lnSpc>
              <a:spcAft>
                <a:spcPts val="0"/>
              </a:spcAft>
            </a:pPr>
            <a:r>
              <a:rPr sz="1200" b="0">
                <a:solidFill>
                  <a:srgbClr val="94A3B8"/>
                </a:solidFill>
                <a:latin typeface="IBM Plex Mono"/>
              </a:rPr>
              <a:t>THE ISSUE</a:t>
            </a:r>
          </a:p>
        </p:txBody>
      </p:sp>
      <p:sp>
        <p:nvSpPr>
          <p:cNvPr id="9" name="TextBox 8"/>
          <p:cNvSpPr txBox="1"/>
          <p:nvPr/>
        </p:nvSpPr>
        <p:spPr>
          <a:xfrm>
            <a:off x="1016000" y="2711450"/>
            <a:ext cx="3403600" cy="1079500"/>
          </a:xfrm>
          <a:prstGeom prst="rect">
            <a:avLst/>
          </a:prstGeom>
          <a:noFill/>
        </p:spPr>
        <p:txBody>
          <a:bodyPr wrap="square" lIns="0" rIns="0" tIns="0" bIns="0" anchor="t">
            <a:spAutoFit/>
          </a:bodyPr>
          <a:lstStyle/>
          <a:p>
            <a:pPr>
              <a:lnSpc>
                <a:spcPct val="116667"/>
              </a:lnSpc>
              <a:spcAft>
                <a:spcPts val="0"/>
              </a:spcAft>
            </a:pPr>
            <a:r>
              <a:rPr sz="1400" b="0">
                <a:solidFill>
                  <a:srgbClr val="F8FAFC"/>
                </a:solidFill>
                <a:latin typeface="IBM Plex Sans"/>
              </a:rPr>
              <a:t>Each tool maps securities to issuers its own way, and a stale or failed feed goes unnoticed until a number is wrong.</a:t>
            </a:r>
          </a:p>
        </p:txBody>
      </p:sp>
      <p:sp>
        <p:nvSpPr>
          <p:cNvPr id="10" name="Rectangle 9"/>
          <p:cNvSpPr/>
          <p:nvPr/>
        </p:nvSpPr>
        <p:spPr>
          <a:xfrm>
            <a:off x="1016000" y="3943350"/>
            <a:ext cx="3403600" cy="6350"/>
          </a:xfrm>
          <a:prstGeom prst="rect">
            <a:avLst/>
          </a:prstGeom>
          <a:solidFill>
            <a:srgbClr val="334155"/>
          </a:solidFill>
          <a:ln>
            <a:noFill/>
          </a:ln>
          <a:effectLst/>
        </p:spPr>
        <p:txBody>
          <a:bodyPr rtlCol="0" anchor="ctr"/>
          <a:lstStyle/>
          <a:p>
            <a:pPr algn="ctr"/>
          </a:p>
        </p:txBody>
      </p:sp>
      <p:sp>
        <p:nvSpPr>
          <p:cNvPr id="11" name="Oval 10"/>
          <p:cNvSpPr/>
          <p:nvPr/>
        </p:nvSpPr>
        <p:spPr>
          <a:xfrm>
            <a:off x="1016000" y="4102100"/>
            <a:ext cx="304800" cy="304800"/>
          </a:xfrm>
          <a:prstGeom prst="ellipse">
            <a:avLst/>
          </a:prstGeom>
          <a:solidFill>
            <a:srgbClr val="16A34A"/>
          </a:solidFill>
          <a:ln>
            <a:noFill/>
          </a:ln>
          <a:effectLst/>
        </p:spPr>
        <p:txBody>
          <a:bodyPr rtlCol="0" anchor="ctr"/>
          <a:lstStyle/>
          <a:p>
            <a:pPr algn="ctr"/>
          </a:p>
        </p:txBody>
      </p:sp>
      <p:pic>
        <p:nvPicPr>
          <p:cNvPr id="12" name="Picture 11" descr="circle-check-big-FFFFFF.png"/>
          <p:cNvPicPr>
            <a:picLocks noChangeAspect="1"/>
          </p:cNvPicPr>
          <p:nvPr/>
        </p:nvPicPr>
        <p:blipFill>
          <a:blip r:embed="rId3"/>
          <a:stretch>
            <a:fillRect/>
          </a:stretch>
        </p:blipFill>
        <p:spPr>
          <a:xfrm>
            <a:off x="1092200" y="4178300"/>
            <a:ext cx="152400" cy="152400"/>
          </a:xfrm>
          <a:prstGeom prst="rect">
            <a:avLst/>
          </a:prstGeom>
        </p:spPr>
      </p:pic>
      <p:sp>
        <p:nvSpPr>
          <p:cNvPr id="13" name="TextBox 12"/>
          <p:cNvSpPr txBox="1"/>
          <p:nvPr/>
        </p:nvSpPr>
        <p:spPr>
          <a:xfrm>
            <a:off x="1422400" y="4102100"/>
            <a:ext cx="2997200" cy="304800"/>
          </a:xfrm>
          <a:prstGeom prst="rect">
            <a:avLst/>
          </a:prstGeom>
          <a:noFill/>
        </p:spPr>
        <p:txBody>
          <a:bodyPr wrap="square" lIns="0" rIns="0" tIns="0" bIns="0" anchor="ctr">
            <a:spAutoFit/>
          </a:bodyPr>
          <a:lstStyle/>
          <a:p>
            <a:pPr>
              <a:lnSpc>
                <a:spcPct val="108333"/>
              </a:lnSpc>
              <a:spcAft>
                <a:spcPts val="0"/>
              </a:spcAft>
            </a:pPr>
            <a:r>
              <a:rPr sz="1200" b="0">
                <a:solidFill>
                  <a:srgbClr val="22C55E"/>
                </a:solidFill>
                <a:latin typeface="IBM Plex Mono"/>
              </a:rPr>
              <a:t>WHAT IT DELIVERS</a:t>
            </a:r>
          </a:p>
        </p:txBody>
      </p:sp>
      <p:sp>
        <p:nvSpPr>
          <p:cNvPr id="14" name="TextBox 13"/>
          <p:cNvSpPr txBox="1"/>
          <p:nvPr/>
        </p:nvSpPr>
        <p:spPr>
          <a:xfrm>
            <a:off x="1016000" y="4483100"/>
            <a:ext cx="3403600" cy="927100"/>
          </a:xfrm>
          <a:prstGeom prst="rect">
            <a:avLst/>
          </a:prstGeom>
          <a:noFill/>
        </p:spPr>
        <p:txBody>
          <a:bodyPr wrap="square" lIns="0" rIns="0" tIns="0" bIns="0" anchor="t">
            <a:spAutoFit/>
          </a:bodyPr>
          <a:lstStyle/>
          <a:p>
            <a:pPr>
              <a:lnSpc>
                <a:spcPct val="116667"/>
              </a:lnSpc>
              <a:spcAft>
                <a:spcPts val="0"/>
              </a:spcAft>
            </a:pPr>
            <a:r>
              <a:rPr sz="1200" b="0">
                <a:solidFill>
                  <a:srgbClr val="94A3B8"/>
                </a:solidFill>
                <a:latin typeface="IBM Plex Sans"/>
              </a:rPr>
              <a:t>One security master that maps every held security to exactly one issuer, a feed list that shows what is behind, and one list of open data issues.</a:t>
            </a:r>
          </a:p>
        </p:txBody>
      </p:sp>
      <p:sp>
        <p:nvSpPr>
          <p:cNvPr id="15" name="Rounded Rectangle 14"/>
          <p:cNvSpPr/>
          <p:nvPr/>
        </p:nvSpPr>
        <p:spPr>
          <a:xfrm>
            <a:off x="4775200" y="2101850"/>
            <a:ext cx="6604000" cy="1102783"/>
          </a:xfrm>
          <a:prstGeom prst="roundRect">
            <a:avLst>
              <a:gd name="adj" fmla="val 9213"/>
            </a:avLst>
          </a:prstGeom>
          <a:solidFill>
            <a:srgbClr val="FFFFFF"/>
          </a:solidFill>
          <a:ln w="9525">
            <a:solidFill>
              <a:srgbClr val="E2E8F0"/>
            </a:solidFill>
          </a:ln>
          <a:effectLst/>
        </p:spPr>
        <p:txBody>
          <a:bodyPr rtlCol="0" anchor="ctr"/>
          <a:lstStyle/>
          <a:p>
            <a:pPr algn="ctr"/>
          </a:p>
        </p:txBody>
      </p:sp>
      <p:sp>
        <p:nvSpPr>
          <p:cNvPr id="16" name="Oval 15"/>
          <p:cNvSpPr/>
          <p:nvPr/>
        </p:nvSpPr>
        <p:spPr>
          <a:xfrm>
            <a:off x="4927600" y="2500842"/>
            <a:ext cx="304800" cy="304800"/>
          </a:xfrm>
          <a:prstGeom prst="ellipse">
            <a:avLst/>
          </a:prstGeom>
          <a:solidFill>
            <a:srgbClr val="2563EB"/>
          </a:solidFill>
          <a:ln>
            <a:noFill/>
          </a:ln>
          <a:effectLst/>
        </p:spPr>
        <p:txBody>
          <a:bodyPr rtlCol="0" anchor="ctr"/>
          <a:lstStyle/>
          <a:p>
            <a:pPr algn="ctr"/>
          </a:p>
        </p:txBody>
      </p:sp>
      <p:pic>
        <p:nvPicPr>
          <p:cNvPr id="17" name="Picture 16" descr="handshake-FFFFFF.png"/>
          <p:cNvPicPr>
            <a:picLocks noChangeAspect="1"/>
          </p:cNvPicPr>
          <p:nvPr/>
        </p:nvPicPr>
        <p:blipFill>
          <a:blip r:embed="rId4"/>
          <a:stretch>
            <a:fillRect/>
          </a:stretch>
        </p:blipFill>
        <p:spPr>
          <a:xfrm>
            <a:off x="5003800" y="2577042"/>
            <a:ext cx="152400" cy="152400"/>
          </a:xfrm>
          <a:prstGeom prst="rect">
            <a:avLst/>
          </a:prstGeom>
        </p:spPr>
      </p:pic>
      <p:sp>
        <p:nvSpPr>
          <p:cNvPr id="18" name="TextBox 17"/>
          <p:cNvSpPr txBox="1"/>
          <p:nvPr/>
        </p:nvSpPr>
        <p:spPr>
          <a:xfrm>
            <a:off x="5359400" y="2254250"/>
            <a:ext cx="5867400" cy="797983"/>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STEWARDSHIP</a:t>
            </a:r>
          </a:p>
          <a:p>
            <a:pPr>
              <a:lnSpc>
                <a:spcPct val="116667"/>
              </a:lnSpc>
              <a:spcAft>
                <a:spcPts val="0"/>
              </a:spcAft>
            </a:pPr>
            <a:r>
              <a:rPr sz="1200" b="0">
                <a:solidFill>
                  <a:srgbClr val="475569"/>
                </a:solidFill>
                <a:latin typeface="IBM Plex Sans"/>
              </a:rPr>
              <a:t>Holdings, news and alerts reach the same issuer through one master, so an engagement and its evidence point to the same company.</a:t>
            </a:r>
          </a:p>
        </p:txBody>
      </p:sp>
      <p:sp>
        <p:nvSpPr>
          <p:cNvPr id="19" name="Rounded Rectangle 18"/>
          <p:cNvSpPr/>
          <p:nvPr/>
        </p:nvSpPr>
        <p:spPr>
          <a:xfrm>
            <a:off x="4775200" y="3306233"/>
            <a:ext cx="6604000" cy="1102783"/>
          </a:xfrm>
          <a:prstGeom prst="roundRect">
            <a:avLst>
              <a:gd name="adj" fmla="val 9213"/>
            </a:avLst>
          </a:prstGeom>
          <a:solidFill>
            <a:srgbClr val="FFFFFF"/>
          </a:solidFill>
          <a:ln w="9525">
            <a:solidFill>
              <a:srgbClr val="E2E8F0"/>
            </a:solidFill>
          </a:ln>
          <a:effectLst/>
        </p:spPr>
        <p:txBody>
          <a:bodyPr rtlCol="0" anchor="ctr"/>
          <a:lstStyle/>
          <a:p>
            <a:pPr algn="ctr"/>
          </a:p>
        </p:txBody>
      </p:sp>
      <p:sp>
        <p:nvSpPr>
          <p:cNvPr id="20" name="Oval 19"/>
          <p:cNvSpPr/>
          <p:nvPr/>
        </p:nvSpPr>
        <p:spPr>
          <a:xfrm>
            <a:off x="4927600" y="3705225"/>
            <a:ext cx="304800" cy="304800"/>
          </a:xfrm>
          <a:prstGeom prst="ellipse">
            <a:avLst/>
          </a:prstGeom>
          <a:solidFill>
            <a:srgbClr val="16A34A"/>
          </a:solidFill>
          <a:ln>
            <a:noFill/>
          </a:ln>
          <a:effectLst/>
        </p:spPr>
        <p:txBody>
          <a:bodyPr rtlCol="0" anchor="ctr"/>
          <a:lstStyle/>
          <a:p>
            <a:pPr algn="ctr"/>
          </a:p>
        </p:txBody>
      </p:sp>
      <p:pic>
        <p:nvPicPr>
          <p:cNvPr id="21" name="Picture 20" descr="package-FFFFFF.png"/>
          <p:cNvPicPr>
            <a:picLocks noChangeAspect="1"/>
          </p:cNvPicPr>
          <p:nvPr/>
        </p:nvPicPr>
        <p:blipFill>
          <a:blip r:embed="rId5"/>
          <a:stretch>
            <a:fillRect/>
          </a:stretch>
        </p:blipFill>
        <p:spPr>
          <a:xfrm>
            <a:off x="5003800" y="3781425"/>
            <a:ext cx="152400" cy="152400"/>
          </a:xfrm>
          <a:prstGeom prst="rect">
            <a:avLst/>
          </a:prstGeom>
        </p:spPr>
      </p:pic>
      <p:sp>
        <p:nvSpPr>
          <p:cNvPr id="22" name="TextBox 21"/>
          <p:cNvSpPr txBox="1"/>
          <p:nvPr/>
        </p:nvSpPr>
        <p:spPr>
          <a:xfrm>
            <a:off x="5359400" y="3458633"/>
            <a:ext cx="5867400" cy="797983"/>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PRODUCT DESIGN</a:t>
            </a:r>
          </a:p>
          <a:p>
            <a:pPr>
              <a:lnSpc>
                <a:spcPct val="116667"/>
              </a:lnSpc>
              <a:spcAft>
                <a:spcPts val="0"/>
              </a:spcAft>
            </a:pPr>
            <a:r>
              <a:rPr sz="1200" b="0">
                <a:solidFill>
                  <a:srgbClr val="475569"/>
                </a:solidFill>
                <a:latin typeface="IBM Plex Sans"/>
              </a:rPr>
              <a:t>The output catalogue shows which universes, runs, scores and calibrations each product uses, so its inputs can be traced and reused.</a:t>
            </a:r>
          </a:p>
        </p:txBody>
      </p:sp>
      <p:sp>
        <p:nvSpPr>
          <p:cNvPr id="23" name="Rounded Rectangle 22"/>
          <p:cNvSpPr/>
          <p:nvPr/>
        </p:nvSpPr>
        <p:spPr>
          <a:xfrm>
            <a:off x="4775200" y="4510617"/>
            <a:ext cx="6604000" cy="1102783"/>
          </a:xfrm>
          <a:prstGeom prst="roundRect">
            <a:avLst>
              <a:gd name="adj" fmla="val 9213"/>
            </a:avLst>
          </a:prstGeom>
          <a:solidFill>
            <a:srgbClr val="FFFFFF"/>
          </a:solidFill>
          <a:ln w="9525">
            <a:solidFill>
              <a:srgbClr val="E2E8F0"/>
            </a:solidFill>
          </a:ln>
          <a:effectLst/>
        </p:spPr>
        <p:txBody>
          <a:bodyPr rtlCol="0" anchor="ctr"/>
          <a:lstStyle/>
          <a:p>
            <a:pPr algn="ctr"/>
          </a:p>
        </p:txBody>
      </p:sp>
      <p:sp>
        <p:nvSpPr>
          <p:cNvPr id="24" name="Oval 23"/>
          <p:cNvSpPr/>
          <p:nvPr/>
        </p:nvSpPr>
        <p:spPr>
          <a:xfrm>
            <a:off x="4927600" y="4909608"/>
            <a:ext cx="304800" cy="304800"/>
          </a:xfrm>
          <a:prstGeom prst="ellipse">
            <a:avLst/>
          </a:prstGeom>
          <a:solidFill>
            <a:srgbClr val="0F172A"/>
          </a:solidFill>
          <a:ln>
            <a:noFill/>
          </a:ln>
          <a:effectLst/>
        </p:spPr>
        <p:txBody>
          <a:bodyPr rtlCol="0" anchor="ctr"/>
          <a:lstStyle/>
          <a:p>
            <a:pPr algn="ctr"/>
          </a:p>
        </p:txBody>
      </p:sp>
      <p:pic>
        <p:nvPicPr>
          <p:cNvPr id="25" name="Picture 24" descr="key-round-FFFFFF.png"/>
          <p:cNvPicPr>
            <a:picLocks noChangeAspect="1"/>
          </p:cNvPicPr>
          <p:nvPr/>
        </p:nvPicPr>
        <p:blipFill>
          <a:blip r:embed="rId6"/>
          <a:stretch>
            <a:fillRect/>
          </a:stretch>
        </p:blipFill>
        <p:spPr>
          <a:xfrm>
            <a:off x="5003800" y="4985808"/>
            <a:ext cx="152400" cy="152400"/>
          </a:xfrm>
          <a:prstGeom prst="rect">
            <a:avLst/>
          </a:prstGeom>
        </p:spPr>
      </p:pic>
      <p:sp>
        <p:nvSpPr>
          <p:cNvPr id="26" name="TextBox 25"/>
          <p:cNvSpPr txBox="1"/>
          <p:nvPr/>
        </p:nvSpPr>
        <p:spPr>
          <a:xfrm>
            <a:off x="5359400" y="4663017"/>
            <a:ext cx="5867400" cy="797983"/>
          </a:xfrm>
          <a:prstGeom prst="rect">
            <a:avLst/>
          </a:prstGeom>
          <a:noFill/>
        </p:spPr>
        <p:txBody>
          <a:bodyPr wrap="square" lIns="0" rIns="0" tIns="0" bIns="0" anchor="ctr">
            <a:spAutoFit/>
          </a:bodyPr>
          <a:lstStyle/>
          <a:p>
            <a:pPr>
              <a:lnSpc>
                <a:spcPct val="108333"/>
              </a:lnSpc>
              <a:spcAft>
                <a:spcPts val="300"/>
              </a:spcAft>
            </a:pPr>
            <a:r>
              <a:rPr sz="1200" b="0">
                <a:solidFill>
                  <a:srgbClr val="0F172A"/>
                </a:solidFill>
                <a:latin typeface="IBM Plex Mono"/>
              </a:rPr>
              <a:t>DATA LICENCE</a:t>
            </a:r>
          </a:p>
          <a:p>
            <a:pPr>
              <a:lnSpc>
                <a:spcPct val="116667"/>
              </a:lnSpc>
              <a:spcAft>
                <a:spcPts val="0"/>
              </a:spcAft>
            </a:pPr>
            <a:r>
              <a:rPr sz="1200" b="0">
                <a:solidFill>
                  <a:srgbClr val="475569"/>
                </a:solidFill>
                <a:latin typeface="IBM Plex Sans"/>
              </a:rPr>
              <a:t>Every provider source is tagged internal-only or redistributable, so the licence limits on each dataset are visible before reuse.</a:t>
            </a:r>
          </a:p>
        </p:txBody>
      </p:sp>
      <p:sp>
        <p:nvSpPr>
          <p:cNvPr id="27" name="TextBox 26"/>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28" name="TextBox 27"/>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07 /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SYSTEM ARCHITECTURE</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Five layers under every function</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Every function runs on the same orchestration and shared services, with Postgres as the system of record.</a:t>
            </a:r>
          </a:p>
        </p:txBody>
      </p:sp>
      <p:sp>
        <p:nvSpPr>
          <p:cNvPr id="5" name="Rounded Rectangle 4"/>
          <p:cNvSpPr/>
          <p:nvPr/>
        </p:nvSpPr>
        <p:spPr>
          <a:xfrm>
            <a:off x="812800" y="2101850"/>
            <a:ext cx="10566400" cy="596900"/>
          </a:xfrm>
          <a:prstGeom prst="roundRect">
            <a:avLst>
              <a:gd name="adj" fmla="val 17021"/>
            </a:avLst>
          </a:prstGeom>
          <a:solidFill>
            <a:srgbClr val="FFFFFF"/>
          </a:solidFill>
          <a:ln w="9525">
            <a:solidFill>
              <a:srgbClr val="E2E8F0"/>
            </a:solidFill>
          </a:ln>
          <a:effectLst/>
        </p:spPr>
        <p:txBody>
          <a:bodyPr rtlCol="0" anchor="ctr"/>
          <a:lstStyle/>
          <a:p>
            <a:pPr algn="ctr"/>
          </a:p>
        </p:txBody>
      </p:sp>
      <p:sp>
        <p:nvSpPr>
          <p:cNvPr id="6" name="Oval 5"/>
          <p:cNvSpPr/>
          <p:nvPr/>
        </p:nvSpPr>
        <p:spPr>
          <a:xfrm>
            <a:off x="965200" y="2247900"/>
            <a:ext cx="304800" cy="304800"/>
          </a:xfrm>
          <a:prstGeom prst="ellipse">
            <a:avLst/>
          </a:prstGeom>
          <a:solidFill>
            <a:srgbClr val="F1F5F9"/>
          </a:solidFill>
          <a:ln>
            <a:noFill/>
          </a:ln>
          <a:effectLst/>
        </p:spPr>
        <p:txBody>
          <a:bodyPr rtlCol="0" anchor="ctr"/>
          <a:lstStyle/>
          <a:p>
            <a:pPr algn="ctr"/>
          </a:p>
        </p:txBody>
      </p:sp>
      <p:pic>
        <p:nvPicPr>
          <p:cNvPr id="7" name="Picture 6" descr="monitor-0F172A.png"/>
          <p:cNvPicPr>
            <a:picLocks noChangeAspect="1"/>
          </p:cNvPicPr>
          <p:nvPr/>
        </p:nvPicPr>
        <p:blipFill>
          <a:blip r:embed="rId2"/>
          <a:stretch>
            <a:fillRect/>
          </a:stretch>
        </p:blipFill>
        <p:spPr>
          <a:xfrm>
            <a:off x="1041400" y="2324100"/>
            <a:ext cx="152400" cy="152400"/>
          </a:xfrm>
          <a:prstGeom prst="rect">
            <a:avLst/>
          </a:prstGeom>
        </p:spPr>
      </p:pic>
      <p:sp>
        <p:nvSpPr>
          <p:cNvPr id="8" name="TextBox 7"/>
          <p:cNvSpPr txBox="1"/>
          <p:nvPr/>
        </p:nvSpPr>
        <p:spPr>
          <a:xfrm>
            <a:off x="1397000" y="2101850"/>
            <a:ext cx="1905000" cy="596900"/>
          </a:xfrm>
          <a:prstGeom prst="rect">
            <a:avLst/>
          </a:prstGeom>
          <a:noFill/>
        </p:spPr>
        <p:txBody>
          <a:bodyPr wrap="square" lIns="0" rIns="0" tIns="0" bIns="0" anchor="ctr">
            <a:spAutoFit/>
          </a:bodyPr>
          <a:lstStyle/>
          <a:p>
            <a:pPr>
              <a:lnSpc>
                <a:spcPct val="108333"/>
              </a:lnSpc>
              <a:spcAft>
                <a:spcPts val="200"/>
              </a:spcAft>
            </a:pPr>
            <a:r>
              <a:rPr sz="1200" b="0">
                <a:solidFill>
                  <a:srgbClr val="0F172A"/>
                </a:solidFill>
                <a:latin typeface="IBM Plex Mono"/>
              </a:rPr>
              <a:t>INTERFACES</a:t>
            </a:r>
          </a:p>
          <a:p>
            <a:pPr>
              <a:lnSpc>
                <a:spcPct val="108333"/>
              </a:lnSpc>
              <a:spcAft>
                <a:spcPts val="0"/>
              </a:spcAft>
            </a:pPr>
            <a:r>
              <a:rPr sz="1200" b="0">
                <a:solidFill>
                  <a:srgbClr val="475569"/>
                </a:solidFill>
                <a:latin typeface="IBM Plex Sans"/>
              </a:rPr>
              <a:t>who drives it</a:t>
            </a:r>
          </a:p>
        </p:txBody>
      </p:sp>
      <p:sp>
        <p:nvSpPr>
          <p:cNvPr id="9" name="Rounded Rectangle 8"/>
          <p:cNvSpPr/>
          <p:nvPr/>
        </p:nvSpPr>
        <p:spPr>
          <a:xfrm>
            <a:off x="3505200" y="2251075"/>
            <a:ext cx="885952" cy="298450"/>
          </a:xfrm>
          <a:prstGeom prst="roundRect">
            <a:avLst>
              <a:gd name="adj" fmla="val 25531"/>
            </a:avLst>
          </a:prstGeom>
          <a:solidFill>
            <a:srgbClr val="F1F5F9"/>
          </a:solidFill>
          <a:ln>
            <a:noFill/>
          </a:ln>
          <a:effectLst/>
        </p:spPr>
        <p:txBody>
          <a:bodyPr rtlCol="0" anchor="ctr"/>
          <a:lstStyle/>
          <a:p>
            <a:pPr algn="ctr"/>
          </a:p>
        </p:txBody>
      </p:sp>
      <p:sp>
        <p:nvSpPr>
          <p:cNvPr id="10" name="TextBox 9"/>
          <p:cNvSpPr txBox="1"/>
          <p:nvPr/>
        </p:nvSpPr>
        <p:spPr>
          <a:xfrm>
            <a:off x="3505200" y="2251075"/>
            <a:ext cx="885952"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React UI</a:t>
            </a:r>
          </a:p>
        </p:txBody>
      </p:sp>
      <p:sp>
        <p:nvSpPr>
          <p:cNvPr id="11" name="Rounded Rectangle 10"/>
          <p:cNvSpPr/>
          <p:nvPr/>
        </p:nvSpPr>
        <p:spPr>
          <a:xfrm>
            <a:off x="4467352" y="2251075"/>
            <a:ext cx="800608" cy="298450"/>
          </a:xfrm>
          <a:prstGeom prst="roundRect">
            <a:avLst>
              <a:gd name="adj" fmla="val 25531"/>
            </a:avLst>
          </a:prstGeom>
          <a:solidFill>
            <a:srgbClr val="F1F5F9"/>
          </a:solidFill>
          <a:ln>
            <a:noFill/>
          </a:ln>
          <a:effectLst/>
        </p:spPr>
        <p:txBody>
          <a:bodyPr rtlCol="0" anchor="ctr"/>
          <a:lstStyle/>
          <a:p>
            <a:pPr algn="ctr"/>
          </a:p>
        </p:txBody>
      </p:sp>
      <p:sp>
        <p:nvSpPr>
          <p:cNvPr id="12" name="TextBox 11"/>
          <p:cNvSpPr txBox="1"/>
          <p:nvPr/>
        </p:nvSpPr>
        <p:spPr>
          <a:xfrm>
            <a:off x="4467352" y="2251075"/>
            <a:ext cx="800608"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FastAPI</a:t>
            </a:r>
          </a:p>
        </p:txBody>
      </p:sp>
      <p:sp>
        <p:nvSpPr>
          <p:cNvPr id="13" name="Rounded Rectangle 12"/>
          <p:cNvSpPr/>
          <p:nvPr/>
        </p:nvSpPr>
        <p:spPr>
          <a:xfrm>
            <a:off x="5344160" y="2251075"/>
            <a:ext cx="971296" cy="298450"/>
          </a:xfrm>
          <a:prstGeom prst="roundRect">
            <a:avLst>
              <a:gd name="adj" fmla="val 25531"/>
            </a:avLst>
          </a:prstGeom>
          <a:solidFill>
            <a:srgbClr val="F1F5F9"/>
          </a:solidFill>
          <a:ln>
            <a:noFill/>
          </a:ln>
          <a:effectLst/>
        </p:spPr>
        <p:txBody>
          <a:bodyPr rtlCol="0" anchor="ctr"/>
          <a:lstStyle/>
          <a:p>
            <a:pPr algn="ctr"/>
          </a:p>
        </p:txBody>
      </p:sp>
      <p:sp>
        <p:nvSpPr>
          <p:cNvPr id="14" name="TextBox 13"/>
          <p:cNvSpPr txBox="1"/>
          <p:nvPr/>
        </p:nvSpPr>
        <p:spPr>
          <a:xfrm>
            <a:off x="5344160" y="2251075"/>
            <a:ext cx="971296"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Typer CLI</a:t>
            </a:r>
          </a:p>
        </p:txBody>
      </p:sp>
      <p:sp>
        <p:nvSpPr>
          <p:cNvPr id="15" name="Rounded Rectangle 14"/>
          <p:cNvSpPr/>
          <p:nvPr/>
        </p:nvSpPr>
        <p:spPr>
          <a:xfrm>
            <a:off x="6391656" y="2251075"/>
            <a:ext cx="1312672" cy="298450"/>
          </a:xfrm>
          <a:prstGeom prst="roundRect">
            <a:avLst>
              <a:gd name="adj" fmla="val 25531"/>
            </a:avLst>
          </a:prstGeom>
          <a:solidFill>
            <a:srgbClr val="F1F5F9"/>
          </a:solidFill>
          <a:ln>
            <a:noFill/>
          </a:ln>
          <a:effectLst/>
        </p:spPr>
        <p:txBody>
          <a:bodyPr rtlCol="0" anchor="ctr"/>
          <a:lstStyle/>
          <a:p>
            <a:pPr algn="ctr"/>
          </a:p>
        </p:txBody>
      </p:sp>
      <p:sp>
        <p:nvSpPr>
          <p:cNvPr id="16" name="TextBox 15"/>
          <p:cNvSpPr txBox="1"/>
          <p:nvPr/>
        </p:nvSpPr>
        <p:spPr>
          <a:xfrm>
            <a:off x="6391656" y="2251075"/>
            <a:ext cx="1312672"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Ask ARP panel</a:t>
            </a:r>
          </a:p>
        </p:txBody>
      </p:sp>
      <p:sp>
        <p:nvSpPr>
          <p:cNvPr id="17" name="Rounded Rectangle 16"/>
          <p:cNvSpPr/>
          <p:nvPr/>
        </p:nvSpPr>
        <p:spPr>
          <a:xfrm>
            <a:off x="7780528" y="2251075"/>
            <a:ext cx="885952" cy="298450"/>
          </a:xfrm>
          <a:prstGeom prst="roundRect">
            <a:avLst>
              <a:gd name="adj" fmla="val 25531"/>
            </a:avLst>
          </a:prstGeom>
          <a:solidFill>
            <a:srgbClr val="F1F5F9"/>
          </a:solidFill>
          <a:ln>
            <a:noFill/>
          </a:ln>
          <a:effectLst/>
        </p:spPr>
        <p:txBody>
          <a:bodyPr rtlCol="0" anchor="ctr"/>
          <a:lstStyle/>
          <a:p>
            <a:pPr algn="ctr"/>
          </a:p>
        </p:txBody>
      </p:sp>
      <p:sp>
        <p:nvSpPr>
          <p:cNvPr id="18" name="TextBox 17"/>
          <p:cNvSpPr txBox="1"/>
          <p:nvPr/>
        </p:nvSpPr>
        <p:spPr>
          <a:xfrm>
            <a:off x="7780528" y="2251075"/>
            <a:ext cx="885952"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Superset</a:t>
            </a:r>
          </a:p>
        </p:txBody>
      </p:sp>
      <p:sp>
        <p:nvSpPr>
          <p:cNvPr id="19" name="Rounded Rectangle 18"/>
          <p:cNvSpPr/>
          <p:nvPr/>
        </p:nvSpPr>
        <p:spPr>
          <a:xfrm>
            <a:off x="812800" y="2787650"/>
            <a:ext cx="10566400" cy="596900"/>
          </a:xfrm>
          <a:prstGeom prst="roundRect">
            <a:avLst>
              <a:gd name="adj" fmla="val 17021"/>
            </a:avLst>
          </a:prstGeom>
          <a:solidFill>
            <a:srgbClr val="FFFFFF"/>
          </a:solidFill>
          <a:ln w="9525">
            <a:solidFill>
              <a:srgbClr val="E2E8F0"/>
            </a:solidFill>
          </a:ln>
          <a:effectLst/>
        </p:spPr>
        <p:txBody>
          <a:bodyPr rtlCol="0" anchor="ctr"/>
          <a:lstStyle/>
          <a:p>
            <a:pPr algn="ctr"/>
          </a:p>
        </p:txBody>
      </p:sp>
      <p:sp>
        <p:nvSpPr>
          <p:cNvPr id="20" name="Oval 19"/>
          <p:cNvSpPr/>
          <p:nvPr/>
        </p:nvSpPr>
        <p:spPr>
          <a:xfrm>
            <a:off x="965200" y="2933700"/>
            <a:ext cx="304800" cy="304800"/>
          </a:xfrm>
          <a:prstGeom prst="ellipse">
            <a:avLst/>
          </a:prstGeom>
          <a:solidFill>
            <a:srgbClr val="F1F5F9"/>
          </a:solidFill>
          <a:ln>
            <a:noFill/>
          </a:ln>
          <a:effectLst/>
        </p:spPr>
        <p:txBody>
          <a:bodyPr rtlCol="0" anchor="ctr"/>
          <a:lstStyle/>
          <a:p>
            <a:pPr algn="ctr"/>
          </a:p>
        </p:txBody>
      </p:sp>
      <p:pic>
        <p:nvPicPr>
          <p:cNvPr id="21" name="Picture 20" descr="workflow-0F172A.png"/>
          <p:cNvPicPr>
            <a:picLocks noChangeAspect="1"/>
          </p:cNvPicPr>
          <p:nvPr/>
        </p:nvPicPr>
        <p:blipFill>
          <a:blip r:embed="rId3"/>
          <a:stretch>
            <a:fillRect/>
          </a:stretch>
        </p:blipFill>
        <p:spPr>
          <a:xfrm>
            <a:off x="1041400" y="3009900"/>
            <a:ext cx="152400" cy="152400"/>
          </a:xfrm>
          <a:prstGeom prst="rect">
            <a:avLst/>
          </a:prstGeom>
        </p:spPr>
      </p:pic>
      <p:sp>
        <p:nvSpPr>
          <p:cNvPr id="22" name="TextBox 21"/>
          <p:cNvSpPr txBox="1"/>
          <p:nvPr/>
        </p:nvSpPr>
        <p:spPr>
          <a:xfrm>
            <a:off x="1397000" y="2787650"/>
            <a:ext cx="1905000" cy="596900"/>
          </a:xfrm>
          <a:prstGeom prst="rect">
            <a:avLst/>
          </a:prstGeom>
          <a:noFill/>
        </p:spPr>
        <p:txBody>
          <a:bodyPr wrap="square" lIns="0" rIns="0" tIns="0" bIns="0" anchor="ctr">
            <a:spAutoFit/>
          </a:bodyPr>
          <a:lstStyle/>
          <a:p>
            <a:pPr>
              <a:lnSpc>
                <a:spcPct val="108333"/>
              </a:lnSpc>
              <a:spcAft>
                <a:spcPts val="200"/>
              </a:spcAft>
            </a:pPr>
            <a:r>
              <a:rPr sz="1200" b="0">
                <a:solidFill>
                  <a:srgbClr val="0F172A"/>
                </a:solidFill>
                <a:latin typeface="IBM Plex Mono"/>
              </a:rPr>
              <a:t>ORCHESTRATION</a:t>
            </a:r>
          </a:p>
          <a:p>
            <a:pPr>
              <a:lnSpc>
                <a:spcPct val="108333"/>
              </a:lnSpc>
              <a:spcAft>
                <a:spcPts val="0"/>
              </a:spcAft>
            </a:pPr>
            <a:r>
              <a:rPr sz="1200" b="0">
                <a:solidFill>
                  <a:srgbClr val="475569"/>
                </a:solidFill>
                <a:latin typeface="IBM Plex Sans"/>
              </a:rPr>
              <a:t>how a run behaves</a:t>
            </a:r>
          </a:p>
        </p:txBody>
      </p:sp>
      <p:sp>
        <p:nvSpPr>
          <p:cNvPr id="23" name="Rounded Rectangle 22"/>
          <p:cNvSpPr/>
          <p:nvPr/>
        </p:nvSpPr>
        <p:spPr>
          <a:xfrm>
            <a:off x="3505200" y="2936875"/>
            <a:ext cx="1739392" cy="298450"/>
          </a:xfrm>
          <a:prstGeom prst="roundRect">
            <a:avLst>
              <a:gd name="adj" fmla="val 25531"/>
            </a:avLst>
          </a:prstGeom>
          <a:solidFill>
            <a:srgbClr val="F1F5F9"/>
          </a:solidFill>
          <a:ln>
            <a:noFill/>
          </a:ln>
          <a:effectLst/>
        </p:spPr>
        <p:txBody>
          <a:bodyPr rtlCol="0" anchor="ctr"/>
          <a:lstStyle/>
          <a:p>
            <a:pPr algn="ctr"/>
          </a:p>
        </p:txBody>
      </p:sp>
      <p:sp>
        <p:nvSpPr>
          <p:cNvPr id="24" name="TextBox 23"/>
          <p:cNvSpPr txBox="1"/>
          <p:nvPr/>
        </p:nvSpPr>
        <p:spPr>
          <a:xfrm>
            <a:off x="3505200" y="2936875"/>
            <a:ext cx="1739392"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Postgres run store</a:t>
            </a:r>
          </a:p>
        </p:txBody>
      </p:sp>
      <p:sp>
        <p:nvSpPr>
          <p:cNvPr id="25" name="Rounded Rectangle 24"/>
          <p:cNvSpPr/>
          <p:nvPr/>
        </p:nvSpPr>
        <p:spPr>
          <a:xfrm>
            <a:off x="5320792" y="2936875"/>
            <a:ext cx="1141984" cy="298450"/>
          </a:xfrm>
          <a:prstGeom prst="roundRect">
            <a:avLst>
              <a:gd name="adj" fmla="val 25531"/>
            </a:avLst>
          </a:prstGeom>
          <a:solidFill>
            <a:srgbClr val="F1F5F9"/>
          </a:solidFill>
          <a:ln>
            <a:noFill/>
          </a:ln>
          <a:effectLst/>
        </p:spPr>
        <p:txBody>
          <a:bodyPr rtlCol="0" anchor="ctr"/>
          <a:lstStyle/>
          <a:p>
            <a:pPr algn="ctr"/>
          </a:p>
        </p:txBody>
      </p:sp>
      <p:sp>
        <p:nvSpPr>
          <p:cNvPr id="26" name="TextBox 25"/>
          <p:cNvSpPr txBox="1"/>
          <p:nvPr/>
        </p:nvSpPr>
        <p:spPr>
          <a:xfrm>
            <a:off x="5320792" y="2936875"/>
            <a:ext cx="1141984"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checkpoints</a:t>
            </a:r>
          </a:p>
        </p:txBody>
      </p:sp>
      <p:sp>
        <p:nvSpPr>
          <p:cNvPr id="27" name="Rounded Rectangle 26"/>
          <p:cNvSpPr/>
          <p:nvPr/>
        </p:nvSpPr>
        <p:spPr>
          <a:xfrm>
            <a:off x="6538976" y="2936875"/>
            <a:ext cx="1398016" cy="298450"/>
          </a:xfrm>
          <a:prstGeom prst="roundRect">
            <a:avLst>
              <a:gd name="adj" fmla="val 25531"/>
            </a:avLst>
          </a:prstGeom>
          <a:solidFill>
            <a:srgbClr val="F1F5F9"/>
          </a:solidFill>
          <a:ln>
            <a:noFill/>
          </a:ln>
          <a:effectLst/>
        </p:spPr>
        <p:txBody>
          <a:bodyPr rtlCol="0" anchor="ctr"/>
          <a:lstStyle/>
          <a:p>
            <a:pPr algn="ctr"/>
          </a:p>
        </p:txBody>
      </p:sp>
      <p:sp>
        <p:nvSpPr>
          <p:cNvPr id="28" name="TextBox 27"/>
          <p:cNvSpPr txBox="1"/>
          <p:nvPr/>
        </p:nvSpPr>
        <p:spPr>
          <a:xfrm>
            <a:off x="6538976" y="2936875"/>
            <a:ext cx="1398016"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resume, cancel</a:t>
            </a:r>
          </a:p>
        </p:txBody>
      </p:sp>
      <p:sp>
        <p:nvSpPr>
          <p:cNvPr id="29" name="Rounded Rectangle 28"/>
          <p:cNvSpPr/>
          <p:nvPr/>
        </p:nvSpPr>
        <p:spPr>
          <a:xfrm>
            <a:off x="8013192" y="2936875"/>
            <a:ext cx="971296" cy="298450"/>
          </a:xfrm>
          <a:prstGeom prst="roundRect">
            <a:avLst>
              <a:gd name="adj" fmla="val 25531"/>
            </a:avLst>
          </a:prstGeom>
          <a:solidFill>
            <a:srgbClr val="F1F5F9"/>
          </a:solidFill>
          <a:ln>
            <a:noFill/>
          </a:ln>
          <a:effectLst/>
        </p:spPr>
        <p:txBody>
          <a:bodyPr rtlCol="0" anchor="ctr"/>
          <a:lstStyle/>
          <a:p>
            <a:pPr algn="ctr"/>
          </a:p>
        </p:txBody>
      </p:sp>
      <p:sp>
        <p:nvSpPr>
          <p:cNvPr id="30" name="TextBox 29"/>
          <p:cNvSpPr txBox="1"/>
          <p:nvPr/>
        </p:nvSpPr>
        <p:spPr>
          <a:xfrm>
            <a:off x="8013192" y="2936875"/>
            <a:ext cx="971296"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Batch API</a:t>
            </a:r>
          </a:p>
        </p:txBody>
      </p:sp>
      <p:sp>
        <p:nvSpPr>
          <p:cNvPr id="31" name="Rounded Rectangle 30"/>
          <p:cNvSpPr/>
          <p:nvPr/>
        </p:nvSpPr>
        <p:spPr>
          <a:xfrm>
            <a:off x="9060688" y="2936875"/>
            <a:ext cx="1227328" cy="298450"/>
          </a:xfrm>
          <a:prstGeom prst="roundRect">
            <a:avLst>
              <a:gd name="adj" fmla="val 25531"/>
            </a:avLst>
          </a:prstGeom>
          <a:solidFill>
            <a:srgbClr val="F1F5F9"/>
          </a:solidFill>
          <a:ln>
            <a:noFill/>
          </a:ln>
          <a:effectLst/>
        </p:spPr>
        <p:txBody>
          <a:bodyPr rtlCol="0" anchor="ctr"/>
          <a:lstStyle/>
          <a:p>
            <a:pPr algn="ctr"/>
          </a:p>
        </p:txBody>
      </p:sp>
      <p:sp>
        <p:nvSpPr>
          <p:cNvPr id="32" name="TextBox 31"/>
          <p:cNvSpPr txBox="1"/>
          <p:nvPr/>
        </p:nvSpPr>
        <p:spPr>
          <a:xfrm>
            <a:off x="9060688" y="2936875"/>
            <a:ext cx="1227328"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review queue</a:t>
            </a:r>
          </a:p>
        </p:txBody>
      </p:sp>
      <p:sp>
        <p:nvSpPr>
          <p:cNvPr id="33" name="Rounded Rectangle 32"/>
          <p:cNvSpPr/>
          <p:nvPr/>
        </p:nvSpPr>
        <p:spPr>
          <a:xfrm>
            <a:off x="812800" y="3473450"/>
            <a:ext cx="10566400" cy="596900"/>
          </a:xfrm>
          <a:prstGeom prst="roundRect">
            <a:avLst>
              <a:gd name="adj" fmla="val 17021"/>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3619500"/>
            <a:ext cx="304800" cy="304800"/>
          </a:xfrm>
          <a:prstGeom prst="ellipse">
            <a:avLst/>
          </a:prstGeom>
          <a:solidFill>
            <a:srgbClr val="F1F5F9"/>
          </a:solidFill>
          <a:ln>
            <a:noFill/>
          </a:ln>
          <a:effectLst/>
        </p:spPr>
        <p:txBody>
          <a:bodyPr rtlCol="0" anchor="ctr"/>
          <a:lstStyle/>
          <a:p>
            <a:pPr algn="ctr"/>
          </a:p>
        </p:txBody>
      </p:sp>
      <p:pic>
        <p:nvPicPr>
          <p:cNvPr id="35" name="Picture 34" descr="git-branch-0F172A.png"/>
          <p:cNvPicPr>
            <a:picLocks noChangeAspect="1"/>
          </p:cNvPicPr>
          <p:nvPr/>
        </p:nvPicPr>
        <p:blipFill>
          <a:blip r:embed="rId4"/>
          <a:stretch>
            <a:fillRect/>
          </a:stretch>
        </p:blipFill>
        <p:spPr>
          <a:xfrm>
            <a:off x="1041400" y="3695700"/>
            <a:ext cx="152400" cy="152400"/>
          </a:xfrm>
          <a:prstGeom prst="rect">
            <a:avLst/>
          </a:prstGeom>
        </p:spPr>
      </p:pic>
      <p:sp>
        <p:nvSpPr>
          <p:cNvPr id="36" name="TextBox 35"/>
          <p:cNvSpPr txBox="1"/>
          <p:nvPr/>
        </p:nvSpPr>
        <p:spPr>
          <a:xfrm>
            <a:off x="1397000" y="3473450"/>
            <a:ext cx="1905000" cy="596900"/>
          </a:xfrm>
          <a:prstGeom prst="rect">
            <a:avLst/>
          </a:prstGeom>
          <a:noFill/>
        </p:spPr>
        <p:txBody>
          <a:bodyPr wrap="square" lIns="0" rIns="0" tIns="0" bIns="0" anchor="ctr">
            <a:spAutoFit/>
          </a:bodyPr>
          <a:lstStyle/>
          <a:p>
            <a:pPr>
              <a:lnSpc>
                <a:spcPct val="108333"/>
              </a:lnSpc>
              <a:spcAft>
                <a:spcPts val="200"/>
              </a:spcAft>
            </a:pPr>
            <a:r>
              <a:rPr sz="1200" b="0">
                <a:solidFill>
                  <a:srgbClr val="0F172A"/>
                </a:solidFill>
                <a:latin typeface="IBM Plex Mono"/>
              </a:rPr>
              <a:t>AGENT PIPELINES</a:t>
            </a:r>
          </a:p>
          <a:p>
            <a:pPr>
              <a:lnSpc>
                <a:spcPct val="108333"/>
              </a:lnSpc>
              <a:spcAft>
                <a:spcPts val="0"/>
              </a:spcAft>
            </a:pPr>
            <a:r>
              <a:rPr sz="1200" b="0">
                <a:solidFill>
                  <a:srgbClr val="475569"/>
                </a:solidFill>
                <a:latin typeface="IBM Plex Sans"/>
              </a:rPr>
              <a:t>per-company flows</a:t>
            </a:r>
          </a:p>
        </p:txBody>
      </p:sp>
      <p:sp>
        <p:nvSpPr>
          <p:cNvPr id="37" name="Rounded Rectangle 36"/>
          <p:cNvSpPr/>
          <p:nvPr/>
        </p:nvSpPr>
        <p:spPr>
          <a:xfrm>
            <a:off x="3505200" y="3622675"/>
            <a:ext cx="2080768" cy="298450"/>
          </a:xfrm>
          <a:prstGeom prst="roundRect">
            <a:avLst>
              <a:gd name="adj" fmla="val 25531"/>
            </a:avLst>
          </a:prstGeom>
          <a:solidFill>
            <a:srgbClr val="F1F5F9"/>
          </a:solidFill>
          <a:ln>
            <a:noFill/>
          </a:ln>
          <a:effectLst/>
        </p:spPr>
        <p:txBody>
          <a:bodyPr rtlCol="0" anchor="ctr"/>
          <a:lstStyle/>
          <a:p>
            <a:pPr algn="ctr"/>
          </a:p>
        </p:txBody>
      </p:sp>
      <p:sp>
        <p:nvSpPr>
          <p:cNvPr id="38" name="TextBox 37"/>
          <p:cNvSpPr txBox="1"/>
          <p:nvPr/>
        </p:nvSpPr>
        <p:spPr>
          <a:xfrm>
            <a:off x="3505200" y="3622675"/>
            <a:ext cx="2080768"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LangGraph state graphs</a:t>
            </a:r>
          </a:p>
        </p:txBody>
      </p:sp>
      <p:sp>
        <p:nvSpPr>
          <p:cNvPr id="39" name="Rounded Rectangle 38"/>
          <p:cNvSpPr/>
          <p:nvPr/>
        </p:nvSpPr>
        <p:spPr>
          <a:xfrm>
            <a:off x="5662168" y="3622675"/>
            <a:ext cx="1739392" cy="298450"/>
          </a:xfrm>
          <a:prstGeom prst="roundRect">
            <a:avLst>
              <a:gd name="adj" fmla="val 25531"/>
            </a:avLst>
          </a:prstGeom>
          <a:solidFill>
            <a:srgbClr val="F1F5F9"/>
          </a:solidFill>
          <a:ln>
            <a:noFill/>
          </a:ln>
          <a:effectLst/>
        </p:spPr>
        <p:txBody>
          <a:bodyPr rtlCol="0" anchor="ctr"/>
          <a:lstStyle/>
          <a:p>
            <a:pPr algn="ctr"/>
          </a:p>
        </p:txBody>
      </p:sp>
      <p:sp>
        <p:nvSpPr>
          <p:cNvPr id="40" name="TextBox 39"/>
          <p:cNvSpPr txBox="1"/>
          <p:nvPr/>
        </p:nvSpPr>
        <p:spPr>
          <a:xfrm>
            <a:off x="5662168" y="3622675"/>
            <a:ext cx="1739392"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extraction presets</a:t>
            </a:r>
          </a:p>
        </p:txBody>
      </p:sp>
      <p:sp>
        <p:nvSpPr>
          <p:cNvPr id="41" name="Rounded Rectangle 40"/>
          <p:cNvSpPr/>
          <p:nvPr/>
        </p:nvSpPr>
        <p:spPr>
          <a:xfrm>
            <a:off x="7477760" y="3622675"/>
            <a:ext cx="715264" cy="298450"/>
          </a:xfrm>
          <a:prstGeom prst="roundRect">
            <a:avLst>
              <a:gd name="adj" fmla="val 25531"/>
            </a:avLst>
          </a:prstGeom>
          <a:solidFill>
            <a:srgbClr val="F1F5F9"/>
          </a:solidFill>
          <a:ln>
            <a:noFill/>
          </a:ln>
          <a:effectLst/>
        </p:spPr>
        <p:txBody>
          <a:bodyPr rtlCol="0" anchor="ctr"/>
          <a:lstStyle/>
          <a:p>
            <a:pPr algn="ctr"/>
          </a:p>
        </p:txBody>
      </p:sp>
      <p:sp>
        <p:nvSpPr>
          <p:cNvPr id="42" name="TextBox 41"/>
          <p:cNvSpPr txBox="1"/>
          <p:nvPr/>
        </p:nvSpPr>
        <p:spPr>
          <a:xfrm>
            <a:off x="7477760" y="3622675"/>
            <a:ext cx="715264"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themes</a:t>
            </a:r>
          </a:p>
        </p:txBody>
      </p:sp>
      <p:sp>
        <p:nvSpPr>
          <p:cNvPr id="43" name="Rounded Rectangle 42"/>
          <p:cNvSpPr/>
          <p:nvPr/>
        </p:nvSpPr>
        <p:spPr>
          <a:xfrm>
            <a:off x="8269224" y="3622675"/>
            <a:ext cx="1056640" cy="298450"/>
          </a:xfrm>
          <a:prstGeom prst="roundRect">
            <a:avLst>
              <a:gd name="adj" fmla="val 25531"/>
            </a:avLst>
          </a:prstGeom>
          <a:solidFill>
            <a:srgbClr val="F1F5F9"/>
          </a:solidFill>
          <a:ln>
            <a:noFill/>
          </a:ln>
          <a:effectLst/>
        </p:spPr>
        <p:txBody>
          <a:bodyPr rtlCol="0" anchor="ctr"/>
          <a:lstStyle/>
          <a:p>
            <a:pPr algn="ctr"/>
          </a:p>
        </p:txBody>
      </p:sp>
      <p:sp>
        <p:nvSpPr>
          <p:cNvPr id="44" name="TextBox 43"/>
          <p:cNvSpPr txBox="1"/>
          <p:nvPr/>
        </p:nvSpPr>
        <p:spPr>
          <a:xfrm>
            <a:off x="8269224" y="3622675"/>
            <a:ext cx="1056640"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transition</a:t>
            </a:r>
          </a:p>
        </p:txBody>
      </p:sp>
      <p:sp>
        <p:nvSpPr>
          <p:cNvPr id="45" name="Rounded Rectangle 44"/>
          <p:cNvSpPr/>
          <p:nvPr/>
        </p:nvSpPr>
        <p:spPr>
          <a:xfrm>
            <a:off x="9402064" y="3622675"/>
            <a:ext cx="1141984" cy="298450"/>
          </a:xfrm>
          <a:prstGeom prst="roundRect">
            <a:avLst>
              <a:gd name="adj" fmla="val 25531"/>
            </a:avLst>
          </a:prstGeom>
          <a:solidFill>
            <a:srgbClr val="F1F5F9"/>
          </a:solidFill>
          <a:ln>
            <a:noFill/>
          </a:ln>
          <a:effectLst/>
        </p:spPr>
        <p:txBody>
          <a:bodyPr rtlCol="0" anchor="ctr"/>
          <a:lstStyle/>
          <a:p>
            <a:pPr algn="ctr"/>
          </a:p>
        </p:txBody>
      </p:sp>
      <p:sp>
        <p:nvSpPr>
          <p:cNvPr id="46" name="TextBox 45"/>
          <p:cNvSpPr txBox="1"/>
          <p:nvPr/>
        </p:nvSpPr>
        <p:spPr>
          <a:xfrm>
            <a:off x="9402064" y="3622675"/>
            <a:ext cx="1141984"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stewardship</a:t>
            </a:r>
          </a:p>
        </p:txBody>
      </p:sp>
      <p:sp>
        <p:nvSpPr>
          <p:cNvPr id="47" name="Rounded Rectangle 46"/>
          <p:cNvSpPr/>
          <p:nvPr/>
        </p:nvSpPr>
        <p:spPr>
          <a:xfrm>
            <a:off x="812800" y="4159250"/>
            <a:ext cx="10566400" cy="596900"/>
          </a:xfrm>
          <a:prstGeom prst="roundRect">
            <a:avLst>
              <a:gd name="adj" fmla="val 17021"/>
            </a:avLst>
          </a:prstGeom>
          <a:solidFill>
            <a:srgbClr val="FFFFFF"/>
          </a:solidFill>
          <a:ln w="9525">
            <a:solidFill>
              <a:srgbClr val="E2E8F0"/>
            </a:solidFill>
          </a:ln>
          <a:effectLst/>
        </p:spPr>
        <p:txBody>
          <a:bodyPr rtlCol="0" anchor="ctr"/>
          <a:lstStyle/>
          <a:p>
            <a:pPr algn="ctr"/>
          </a:p>
        </p:txBody>
      </p:sp>
      <p:sp>
        <p:nvSpPr>
          <p:cNvPr id="48" name="Oval 47"/>
          <p:cNvSpPr/>
          <p:nvPr/>
        </p:nvSpPr>
        <p:spPr>
          <a:xfrm>
            <a:off x="965200" y="4305300"/>
            <a:ext cx="304800" cy="304800"/>
          </a:xfrm>
          <a:prstGeom prst="ellipse">
            <a:avLst/>
          </a:prstGeom>
          <a:solidFill>
            <a:srgbClr val="F1F5F9"/>
          </a:solidFill>
          <a:ln>
            <a:noFill/>
          </a:ln>
          <a:effectLst/>
        </p:spPr>
        <p:txBody>
          <a:bodyPr rtlCol="0" anchor="ctr"/>
          <a:lstStyle/>
          <a:p>
            <a:pPr algn="ctr"/>
          </a:p>
        </p:txBody>
      </p:sp>
      <p:pic>
        <p:nvPicPr>
          <p:cNvPr id="49" name="Picture 48" descr="wrench-0F172A.png"/>
          <p:cNvPicPr>
            <a:picLocks noChangeAspect="1"/>
          </p:cNvPicPr>
          <p:nvPr/>
        </p:nvPicPr>
        <p:blipFill>
          <a:blip r:embed="rId5"/>
          <a:stretch>
            <a:fillRect/>
          </a:stretch>
        </p:blipFill>
        <p:spPr>
          <a:xfrm>
            <a:off x="1041400" y="4381500"/>
            <a:ext cx="152400" cy="152400"/>
          </a:xfrm>
          <a:prstGeom prst="rect">
            <a:avLst/>
          </a:prstGeom>
        </p:spPr>
      </p:pic>
      <p:sp>
        <p:nvSpPr>
          <p:cNvPr id="50" name="TextBox 49"/>
          <p:cNvSpPr txBox="1"/>
          <p:nvPr/>
        </p:nvSpPr>
        <p:spPr>
          <a:xfrm>
            <a:off x="1397000" y="4159250"/>
            <a:ext cx="1905000" cy="596900"/>
          </a:xfrm>
          <a:prstGeom prst="rect">
            <a:avLst/>
          </a:prstGeom>
          <a:noFill/>
        </p:spPr>
        <p:txBody>
          <a:bodyPr wrap="square" lIns="0" rIns="0" tIns="0" bIns="0" anchor="ctr">
            <a:spAutoFit/>
          </a:bodyPr>
          <a:lstStyle/>
          <a:p>
            <a:pPr>
              <a:lnSpc>
                <a:spcPct val="108333"/>
              </a:lnSpc>
              <a:spcAft>
                <a:spcPts val="200"/>
              </a:spcAft>
            </a:pPr>
            <a:r>
              <a:rPr sz="1200" b="0">
                <a:solidFill>
                  <a:srgbClr val="0F172A"/>
                </a:solidFill>
                <a:latin typeface="IBM Plex Mono"/>
              </a:rPr>
              <a:t>SHARED SERVICES</a:t>
            </a:r>
          </a:p>
          <a:p>
            <a:pPr>
              <a:lnSpc>
                <a:spcPct val="108333"/>
              </a:lnSpc>
              <a:spcAft>
                <a:spcPts val="0"/>
              </a:spcAft>
            </a:pPr>
            <a:r>
              <a:rPr sz="1200" b="0">
                <a:solidFill>
                  <a:srgbClr val="475569"/>
                </a:solidFill>
                <a:latin typeface="IBM Plex Sans"/>
              </a:rPr>
              <a:t>used by every pipeline</a:t>
            </a:r>
          </a:p>
        </p:txBody>
      </p:sp>
      <p:sp>
        <p:nvSpPr>
          <p:cNvPr id="51" name="Rounded Rectangle 50"/>
          <p:cNvSpPr/>
          <p:nvPr/>
        </p:nvSpPr>
        <p:spPr>
          <a:xfrm>
            <a:off x="3505200" y="4308475"/>
            <a:ext cx="1654048" cy="298450"/>
          </a:xfrm>
          <a:prstGeom prst="roundRect">
            <a:avLst>
              <a:gd name="adj" fmla="val 25531"/>
            </a:avLst>
          </a:prstGeom>
          <a:solidFill>
            <a:srgbClr val="F1F5F9"/>
          </a:solidFill>
          <a:ln>
            <a:noFill/>
          </a:ln>
          <a:effectLst/>
        </p:spPr>
        <p:txBody>
          <a:bodyPr rtlCol="0" anchor="ctr"/>
          <a:lstStyle/>
          <a:p>
            <a:pPr algn="ctr"/>
          </a:p>
        </p:txBody>
      </p:sp>
      <p:sp>
        <p:nvSpPr>
          <p:cNvPr id="52" name="TextBox 51"/>
          <p:cNvSpPr txBox="1"/>
          <p:nvPr/>
        </p:nvSpPr>
        <p:spPr>
          <a:xfrm>
            <a:off x="3505200" y="4308475"/>
            <a:ext cx="1654048"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one LLM interface</a:t>
            </a:r>
          </a:p>
        </p:txBody>
      </p:sp>
      <p:sp>
        <p:nvSpPr>
          <p:cNvPr id="53" name="Rounded Rectangle 52"/>
          <p:cNvSpPr/>
          <p:nvPr/>
        </p:nvSpPr>
        <p:spPr>
          <a:xfrm>
            <a:off x="5235448" y="4308475"/>
            <a:ext cx="1654048" cy="298450"/>
          </a:xfrm>
          <a:prstGeom prst="roundRect">
            <a:avLst>
              <a:gd name="adj" fmla="val 25531"/>
            </a:avLst>
          </a:prstGeom>
          <a:solidFill>
            <a:srgbClr val="F1F5F9"/>
          </a:solidFill>
          <a:ln>
            <a:noFill/>
          </a:ln>
          <a:effectLst/>
        </p:spPr>
        <p:txBody>
          <a:bodyPr rtlCol="0" anchor="ctr"/>
          <a:lstStyle/>
          <a:p>
            <a:pPr algn="ctr"/>
          </a:p>
        </p:txBody>
      </p:sp>
      <p:sp>
        <p:nvSpPr>
          <p:cNvPr id="54" name="TextBox 53"/>
          <p:cNvSpPr txBox="1"/>
          <p:nvPr/>
        </p:nvSpPr>
        <p:spPr>
          <a:xfrm>
            <a:off x="5235448" y="4308475"/>
            <a:ext cx="1654048"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Claude and Gemini</a:t>
            </a:r>
          </a:p>
        </p:txBody>
      </p:sp>
      <p:sp>
        <p:nvSpPr>
          <p:cNvPr id="55" name="Rounded Rectangle 54"/>
          <p:cNvSpPr/>
          <p:nvPr/>
        </p:nvSpPr>
        <p:spPr>
          <a:xfrm>
            <a:off x="6965696" y="4308475"/>
            <a:ext cx="1654048" cy="298450"/>
          </a:xfrm>
          <a:prstGeom prst="roundRect">
            <a:avLst>
              <a:gd name="adj" fmla="val 25531"/>
            </a:avLst>
          </a:prstGeom>
          <a:solidFill>
            <a:srgbClr val="F1F5F9"/>
          </a:solidFill>
          <a:ln>
            <a:noFill/>
          </a:ln>
          <a:effectLst/>
        </p:spPr>
        <p:txBody>
          <a:bodyPr rtlCol="0" anchor="ctr"/>
          <a:lstStyle/>
          <a:p>
            <a:pPr algn="ctr"/>
          </a:p>
        </p:txBody>
      </p:sp>
      <p:sp>
        <p:nvSpPr>
          <p:cNvPr id="56" name="TextBox 55"/>
          <p:cNvSpPr txBox="1"/>
          <p:nvPr/>
        </p:nvSpPr>
        <p:spPr>
          <a:xfrm>
            <a:off x="6965696" y="4308475"/>
            <a:ext cx="1654048"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BM25 + embeddings</a:t>
            </a:r>
          </a:p>
        </p:txBody>
      </p:sp>
      <p:sp>
        <p:nvSpPr>
          <p:cNvPr id="57" name="Rounded Rectangle 56"/>
          <p:cNvSpPr/>
          <p:nvPr/>
        </p:nvSpPr>
        <p:spPr>
          <a:xfrm>
            <a:off x="8695944" y="4308475"/>
            <a:ext cx="971296" cy="298450"/>
          </a:xfrm>
          <a:prstGeom prst="roundRect">
            <a:avLst>
              <a:gd name="adj" fmla="val 25531"/>
            </a:avLst>
          </a:prstGeom>
          <a:solidFill>
            <a:srgbClr val="F1F5F9"/>
          </a:solidFill>
          <a:ln>
            <a:noFill/>
          </a:ln>
          <a:effectLst/>
        </p:spPr>
        <p:txBody>
          <a:bodyPr rtlCol="0" anchor="ctr"/>
          <a:lstStyle/>
          <a:p>
            <a:pPr algn="ctr"/>
          </a:p>
        </p:txBody>
      </p:sp>
      <p:sp>
        <p:nvSpPr>
          <p:cNvPr id="58" name="TextBox 57"/>
          <p:cNvSpPr txBox="1"/>
          <p:nvPr/>
        </p:nvSpPr>
        <p:spPr>
          <a:xfrm>
            <a:off x="8695944" y="4308475"/>
            <a:ext cx="971296"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grounding</a:t>
            </a:r>
          </a:p>
        </p:txBody>
      </p:sp>
      <p:sp>
        <p:nvSpPr>
          <p:cNvPr id="59" name="Rounded Rectangle 58"/>
          <p:cNvSpPr/>
          <p:nvPr/>
        </p:nvSpPr>
        <p:spPr>
          <a:xfrm>
            <a:off x="9743440" y="4308475"/>
            <a:ext cx="1056640" cy="298450"/>
          </a:xfrm>
          <a:prstGeom prst="roundRect">
            <a:avLst>
              <a:gd name="adj" fmla="val 25531"/>
            </a:avLst>
          </a:prstGeom>
          <a:solidFill>
            <a:srgbClr val="F1F5F9"/>
          </a:solidFill>
          <a:ln>
            <a:noFill/>
          </a:ln>
          <a:effectLst/>
        </p:spPr>
        <p:txBody>
          <a:bodyPr rtlCol="0" anchor="ctr"/>
          <a:lstStyle/>
          <a:p>
            <a:pPr algn="ctr"/>
          </a:p>
        </p:txBody>
      </p:sp>
      <p:sp>
        <p:nvSpPr>
          <p:cNvPr id="60" name="TextBox 59"/>
          <p:cNvSpPr txBox="1"/>
          <p:nvPr/>
        </p:nvSpPr>
        <p:spPr>
          <a:xfrm>
            <a:off x="9743440" y="4308475"/>
            <a:ext cx="1056640"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SSRF guard</a:t>
            </a:r>
          </a:p>
        </p:txBody>
      </p:sp>
      <p:sp>
        <p:nvSpPr>
          <p:cNvPr id="61" name="Rounded Rectangle 60"/>
          <p:cNvSpPr/>
          <p:nvPr/>
        </p:nvSpPr>
        <p:spPr>
          <a:xfrm>
            <a:off x="812800" y="4845050"/>
            <a:ext cx="10566400" cy="596900"/>
          </a:xfrm>
          <a:prstGeom prst="roundRect">
            <a:avLst>
              <a:gd name="adj" fmla="val 17021"/>
            </a:avLst>
          </a:prstGeom>
          <a:solidFill>
            <a:srgbClr val="FFFFFF"/>
          </a:solidFill>
          <a:ln w="9525">
            <a:solidFill>
              <a:srgbClr val="E2E8F0"/>
            </a:solidFill>
          </a:ln>
          <a:effectLst/>
        </p:spPr>
        <p:txBody>
          <a:bodyPr rtlCol="0" anchor="ctr"/>
          <a:lstStyle/>
          <a:p>
            <a:pPr algn="ctr"/>
          </a:p>
        </p:txBody>
      </p:sp>
      <p:sp>
        <p:nvSpPr>
          <p:cNvPr id="62" name="Oval 61"/>
          <p:cNvSpPr/>
          <p:nvPr/>
        </p:nvSpPr>
        <p:spPr>
          <a:xfrm>
            <a:off x="965200" y="4991100"/>
            <a:ext cx="304800" cy="304800"/>
          </a:xfrm>
          <a:prstGeom prst="ellipse">
            <a:avLst/>
          </a:prstGeom>
          <a:solidFill>
            <a:srgbClr val="F1F5F9"/>
          </a:solidFill>
          <a:ln>
            <a:noFill/>
          </a:ln>
          <a:effectLst/>
        </p:spPr>
        <p:txBody>
          <a:bodyPr rtlCol="0" anchor="ctr"/>
          <a:lstStyle/>
          <a:p>
            <a:pPr algn="ctr"/>
          </a:p>
        </p:txBody>
      </p:sp>
      <p:pic>
        <p:nvPicPr>
          <p:cNvPr id="63" name="Picture 62" descr="database-0F172A.png"/>
          <p:cNvPicPr>
            <a:picLocks noChangeAspect="1"/>
          </p:cNvPicPr>
          <p:nvPr/>
        </p:nvPicPr>
        <p:blipFill>
          <a:blip r:embed="rId6"/>
          <a:stretch>
            <a:fillRect/>
          </a:stretch>
        </p:blipFill>
        <p:spPr>
          <a:xfrm>
            <a:off x="1041400" y="5067300"/>
            <a:ext cx="152400" cy="152400"/>
          </a:xfrm>
          <a:prstGeom prst="rect">
            <a:avLst/>
          </a:prstGeom>
        </p:spPr>
      </p:pic>
      <p:sp>
        <p:nvSpPr>
          <p:cNvPr id="64" name="TextBox 63"/>
          <p:cNvSpPr txBox="1"/>
          <p:nvPr/>
        </p:nvSpPr>
        <p:spPr>
          <a:xfrm>
            <a:off x="1397000" y="4845050"/>
            <a:ext cx="1905000" cy="596900"/>
          </a:xfrm>
          <a:prstGeom prst="rect">
            <a:avLst/>
          </a:prstGeom>
          <a:noFill/>
        </p:spPr>
        <p:txBody>
          <a:bodyPr wrap="square" lIns="0" rIns="0" tIns="0" bIns="0" anchor="ctr">
            <a:spAutoFit/>
          </a:bodyPr>
          <a:lstStyle/>
          <a:p>
            <a:pPr>
              <a:lnSpc>
                <a:spcPct val="108333"/>
              </a:lnSpc>
              <a:spcAft>
                <a:spcPts val="200"/>
              </a:spcAft>
            </a:pPr>
            <a:r>
              <a:rPr sz="1200" b="0">
                <a:solidFill>
                  <a:srgbClr val="0F172A"/>
                </a:solidFill>
                <a:latin typeface="IBM Plex Mono"/>
              </a:rPr>
              <a:t>STORAGE, COMPUTE</a:t>
            </a:r>
          </a:p>
          <a:p>
            <a:pPr>
              <a:lnSpc>
                <a:spcPct val="108333"/>
              </a:lnSpc>
              <a:spcAft>
                <a:spcPts val="0"/>
              </a:spcAft>
            </a:pPr>
            <a:r>
              <a:rPr sz="1200" b="0">
                <a:solidFill>
                  <a:srgbClr val="475569"/>
                </a:solidFill>
                <a:latin typeface="IBM Plex Sans"/>
              </a:rPr>
              <a:t>what persists</a:t>
            </a:r>
          </a:p>
        </p:txBody>
      </p:sp>
      <p:sp>
        <p:nvSpPr>
          <p:cNvPr id="65" name="Rounded Rectangle 64"/>
          <p:cNvSpPr/>
          <p:nvPr/>
        </p:nvSpPr>
        <p:spPr>
          <a:xfrm>
            <a:off x="3505200" y="4994275"/>
            <a:ext cx="1824736" cy="298450"/>
          </a:xfrm>
          <a:prstGeom prst="roundRect">
            <a:avLst>
              <a:gd name="adj" fmla="val 25531"/>
            </a:avLst>
          </a:prstGeom>
          <a:solidFill>
            <a:srgbClr val="F1F5F9"/>
          </a:solidFill>
          <a:ln>
            <a:noFill/>
          </a:ln>
          <a:effectLst/>
        </p:spPr>
        <p:txBody>
          <a:bodyPr rtlCol="0" anchor="ctr"/>
          <a:lstStyle/>
          <a:p>
            <a:pPr algn="ctr"/>
          </a:p>
        </p:txBody>
      </p:sp>
      <p:sp>
        <p:nvSpPr>
          <p:cNvPr id="66" name="TextBox 65"/>
          <p:cNvSpPr txBox="1"/>
          <p:nvPr/>
        </p:nvSpPr>
        <p:spPr>
          <a:xfrm>
            <a:off x="3505200" y="4994275"/>
            <a:ext cx="1824736"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Postgres + pgvector</a:t>
            </a:r>
          </a:p>
        </p:txBody>
      </p:sp>
      <p:sp>
        <p:nvSpPr>
          <p:cNvPr id="67" name="Rounded Rectangle 66"/>
          <p:cNvSpPr/>
          <p:nvPr/>
        </p:nvSpPr>
        <p:spPr>
          <a:xfrm>
            <a:off x="5406136" y="4994275"/>
            <a:ext cx="2251456" cy="298450"/>
          </a:xfrm>
          <a:prstGeom prst="roundRect">
            <a:avLst>
              <a:gd name="adj" fmla="val 25531"/>
            </a:avLst>
          </a:prstGeom>
          <a:solidFill>
            <a:srgbClr val="F1F5F9"/>
          </a:solidFill>
          <a:ln>
            <a:noFill/>
          </a:ln>
          <a:effectLst/>
        </p:spPr>
        <p:txBody>
          <a:bodyPr rtlCol="0" anchor="ctr"/>
          <a:lstStyle/>
          <a:p>
            <a:pPr algn="ctr"/>
          </a:p>
        </p:txBody>
      </p:sp>
      <p:sp>
        <p:nvSpPr>
          <p:cNvPr id="68" name="TextBox 67"/>
          <p:cNvSpPr txBox="1"/>
          <p:nvPr/>
        </p:nvSpPr>
        <p:spPr>
          <a:xfrm>
            <a:off x="5406136" y="4994275"/>
            <a:ext cx="2251456"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fact ledger, as-of reads</a:t>
            </a:r>
          </a:p>
        </p:txBody>
      </p:sp>
      <p:sp>
        <p:nvSpPr>
          <p:cNvPr id="69" name="Rounded Rectangle 68"/>
          <p:cNvSpPr/>
          <p:nvPr/>
        </p:nvSpPr>
        <p:spPr>
          <a:xfrm>
            <a:off x="7733792" y="4994275"/>
            <a:ext cx="1398016" cy="298450"/>
          </a:xfrm>
          <a:prstGeom prst="roundRect">
            <a:avLst>
              <a:gd name="adj" fmla="val 25531"/>
            </a:avLst>
          </a:prstGeom>
          <a:solidFill>
            <a:srgbClr val="F1F5F9"/>
          </a:solidFill>
          <a:ln>
            <a:noFill/>
          </a:ln>
          <a:effectLst/>
        </p:spPr>
        <p:txBody>
          <a:bodyPr rtlCol="0" anchor="ctr"/>
          <a:lstStyle/>
          <a:p>
            <a:pPr algn="ctr"/>
          </a:p>
        </p:txBody>
      </p:sp>
      <p:sp>
        <p:nvSpPr>
          <p:cNvPr id="70" name="TextBox 69"/>
          <p:cNvSpPr txBox="1"/>
          <p:nvPr/>
        </p:nvSpPr>
        <p:spPr>
          <a:xfrm>
            <a:off x="7733792" y="4994275"/>
            <a:ext cx="1398016"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document store</a:t>
            </a:r>
          </a:p>
        </p:txBody>
      </p:sp>
      <p:sp>
        <p:nvSpPr>
          <p:cNvPr id="71" name="Rounded Rectangle 70"/>
          <p:cNvSpPr/>
          <p:nvPr/>
        </p:nvSpPr>
        <p:spPr>
          <a:xfrm>
            <a:off x="9208008" y="4994275"/>
            <a:ext cx="1398016" cy="298450"/>
          </a:xfrm>
          <a:prstGeom prst="roundRect">
            <a:avLst>
              <a:gd name="adj" fmla="val 25531"/>
            </a:avLst>
          </a:prstGeom>
          <a:solidFill>
            <a:srgbClr val="F1F5F9"/>
          </a:solidFill>
          <a:ln>
            <a:noFill/>
          </a:ln>
          <a:effectLst/>
        </p:spPr>
        <p:txBody>
          <a:bodyPr rtlCol="0" anchor="ctr"/>
          <a:lstStyle/>
          <a:p>
            <a:pPr algn="ctr"/>
          </a:p>
        </p:txBody>
      </p:sp>
      <p:sp>
        <p:nvSpPr>
          <p:cNvPr id="72" name="TextBox 71"/>
          <p:cNvSpPr txBox="1"/>
          <p:nvPr/>
        </p:nvSpPr>
        <p:spPr>
          <a:xfrm>
            <a:off x="9208008" y="4994275"/>
            <a:ext cx="1398016" cy="298450"/>
          </a:xfrm>
          <a:prstGeom prst="rect">
            <a:avLst/>
          </a:prstGeom>
          <a:noFill/>
        </p:spPr>
        <p:txBody>
          <a:bodyPr wrap="square" lIns="0" rIns="0" tIns="0" bIns="0" anchor="ctr">
            <a:spAutoFit/>
          </a:bodyPr>
          <a:lstStyle/>
          <a:p>
            <a:pPr algn="ctr">
              <a:lnSpc>
                <a:spcPct val="108333"/>
              </a:lnSpc>
              <a:spcAft>
                <a:spcPts val="0"/>
              </a:spcAft>
            </a:pPr>
            <a:r>
              <a:rPr sz="1200" b="0">
                <a:solidFill>
                  <a:srgbClr val="0F172A"/>
                </a:solidFill>
                <a:latin typeface="IBM Plex Sans"/>
              </a:rPr>
              <a:t>Cloud Run GPUs</a:t>
            </a:r>
          </a:p>
        </p:txBody>
      </p:sp>
      <p:sp>
        <p:nvSpPr>
          <p:cNvPr id="73" name="TextBox 72"/>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74" name="TextBox 73"/>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08 / 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PART 1</a:t>
            </a:r>
          </a:p>
        </p:txBody>
      </p:sp>
      <p:sp>
        <p:nvSpPr>
          <p:cNvPr id="3" name="TextBox 2"/>
          <p:cNvSpPr txBox="1"/>
          <p:nvPr/>
        </p:nvSpPr>
        <p:spPr>
          <a:xfrm>
            <a:off x="812800" y="1162050"/>
            <a:ext cx="10566400" cy="838200"/>
          </a:xfrm>
          <a:prstGeom prst="rect">
            <a:avLst/>
          </a:prstGeom>
          <a:noFill/>
        </p:spPr>
        <p:txBody>
          <a:bodyPr wrap="square" lIns="0" rIns="0" tIns="0" bIns="0" anchor="t">
            <a:spAutoFit/>
          </a:bodyPr>
          <a:lstStyle/>
          <a:p>
            <a:pPr>
              <a:lnSpc>
                <a:spcPct val="91667"/>
              </a:lnSpc>
              <a:spcAft>
                <a:spcPts val="0"/>
              </a:spcAft>
            </a:pPr>
            <a:r>
              <a:rPr sz="5600" b="1">
                <a:solidFill>
                  <a:srgbClr val="0F172A"/>
                </a:solidFill>
                <a:latin typeface="IBM Plex Sans"/>
              </a:rPr>
              <a:t>Find and extract</a:t>
            </a:r>
          </a:p>
        </p:txBody>
      </p:sp>
      <p:sp>
        <p:nvSpPr>
          <p:cNvPr id="4" name="TextBox 3"/>
          <p:cNvSpPr txBox="1"/>
          <p:nvPr/>
        </p:nvSpPr>
        <p:spPr>
          <a:xfrm>
            <a:off x="812800" y="2127250"/>
            <a:ext cx="7620000" cy="50800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Build the universe, find the documents and pull cited figures out of them, for up to about 4,000 companies per run.</a:t>
            </a:r>
          </a:p>
        </p:txBody>
      </p:sp>
      <p:sp>
        <p:nvSpPr>
          <p:cNvPr id="5" name="Rectangle 4"/>
          <p:cNvSpPr/>
          <p:nvPr/>
        </p:nvSpPr>
        <p:spPr>
          <a:xfrm>
            <a:off x="812800" y="3517900"/>
            <a:ext cx="5080000" cy="6350"/>
          </a:xfrm>
          <a:prstGeom prst="rect">
            <a:avLst/>
          </a:prstGeom>
          <a:solidFill>
            <a:srgbClr val="E2E8F0"/>
          </a:solidFill>
          <a:ln>
            <a:noFill/>
          </a:ln>
          <a:effectLst/>
        </p:spPr>
        <p:txBody>
          <a:bodyPr rtlCol="0" anchor="ctr"/>
          <a:lstStyle/>
          <a:p>
            <a:pPr algn="ctr"/>
          </a:p>
        </p:txBody>
      </p:sp>
      <p:sp>
        <p:nvSpPr>
          <p:cNvPr id="6" name="TextBox 5"/>
          <p:cNvSpPr txBox="1"/>
          <p:nvPr/>
        </p:nvSpPr>
        <p:spPr>
          <a:xfrm>
            <a:off x="812800" y="29908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01</a:t>
            </a:r>
          </a:p>
        </p:txBody>
      </p:sp>
      <p:sp>
        <p:nvSpPr>
          <p:cNvPr id="7" name="TextBox 6"/>
          <p:cNvSpPr txBox="1"/>
          <p:nvPr/>
        </p:nvSpPr>
        <p:spPr>
          <a:xfrm>
            <a:off x="1270000" y="29908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Argus</a:t>
            </a:r>
          </a:p>
          <a:p>
            <a:pPr>
              <a:lnSpc>
                <a:spcPct val="108333"/>
              </a:lnSpc>
              <a:spcAft>
                <a:spcPts val="0"/>
              </a:spcAft>
            </a:pPr>
            <a:r>
              <a:rPr sz="1200" b="0">
                <a:solidFill>
                  <a:srgbClr val="475569"/>
                </a:solidFill>
                <a:latin typeface="IBM Plex Sans"/>
              </a:rPr>
              <a:t>The extract-and-score flow</a:t>
            </a:r>
          </a:p>
        </p:txBody>
      </p:sp>
      <p:sp>
        <p:nvSpPr>
          <p:cNvPr id="8" name="Rectangle 7"/>
          <p:cNvSpPr/>
          <p:nvPr/>
        </p:nvSpPr>
        <p:spPr>
          <a:xfrm>
            <a:off x="812800" y="4051300"/>
            <a:ext cx="5080000" cy="6350"/>
          </a:xfrm>
          <a:prstGeom prst="rect">
            <a:avLst/>
          </a:prstGeom>
          <a:solidFill>
            <a:srgbClr val="E2E8F0"/>
          </a:solidFill>
          <a:ln>
            <a:noFill/>
          </a:ln>
          <a:effectLst/>
        </p:spPr>
        <p:txBody>
          <a:bodyPr rtlCol="0" anchor="ctr"/>
          <a:lstStyle/>
          <a:p>
            <a:pPr algn="ctr"/>
          </a:p>
        </p:txBody>
      </p:sp>
      <p:sp>
        <p:nvSpPr>
          <p:cNvPr id="9" name="TextBox 8"/>
          <p:cNvSpPr txBox="1"/>
          <p:nvPr/>
        </p:nvSpPr>
        <p:spPr>
          <a:xfrm>
            <a:off x="812800" y="35242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02</a:t>
            </a:r>
          </a:p>
        </p:txBody>
      </p:sp>
      <p:sp>
        <p:nvSpPr>
          <p:cNvPr id="10" name="TextBox 9"/>
          <p:cNvSpPr txBox="1"/>
          <p:nvPr/>
        </p:nvSpPr>
        <p:spPr>
          <a:xfrm>
            <a:off x="1270000" y="35242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Identity</a:t>
            </a:r>
          </a:p>
          <a:p>
            <a:pPr>
              <a:lnSpc>
                <a:spcPct val="108333"/>
              </a:lnSpc>
              <a:spcAft>
                <a:spcPts val="0"/>
              </a:spcAft>
            </a:pPr>
            <a:r>
              <a:rPr sz="1200" b="0">
                <a:solidFill>
                  <a:srgbClr val="475569"/>
                </a:solidFill>
                <a:latin typeface="IBM Plex Sans"/>
              </a:rPr>
              <a:t>Which company is this?</a:t>
            </a:r>
          </a:p>
        </p:txBody>
      </p:sp>
      <p:sp>
        <p:nvSpPr>
          <p:cNvPr id="11" name="Rectangle 10"/>
          <p:cNvSpPr/>
          <p:nvPr/>
        </p:nvSpPr>
        <p:spPr>
          <a:xfrm>
            <a:off x="812800" y="4584700"/>
            <a:ext cx="5080000" cy="6350"/>
          </a:xfrm>
          <a:prstGeom prst="rect">
            <a:avLst/>
          </a:prstGeom>
          <a:solidFill>
            <a:srgbClr val="E2E8F0"/>
          </a:solidFill>
          <a:ln>
            <a:noFill/>
          </a:ln>
          <a:effectLst/>
        </p:spPr>
        <p:txBody>
          <a:bodyPr rtlCol="0" anchor="ctr"/>
          <a:lstStyle/>
          <a:p>
            <a:pPr algn="ctr"/>
          </a:p>
        </p:txBody>
      </p:sp>
      <p:sp>
        <p:nvSpPr>
          <p:cNvPr id="12" name="TextBox 11"/>
          <p:cNvSpPr txBox="1"/>
          <p:nvPr/>
        </p:nvSpPr>
        <p:spPr>
          <a:xfrm>
            <a:off x="812800" y="40576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03</a:t>
            </a:r>
          </a:p>
        </p:txBody>
      </p:sp>
      <p:sp>
        <p:nvSpPr>
          <p:cNvPr id="13" name="TextBox 12"/>
          <p:cNvSpPr txBox="1"/>
          <p:nvPr/>
        </p:nvSpPr>
        <p:spPr>
          <a:xfrm>
            <a:off x="1270000" y="40576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Documents</a:t>
            </a:r>
          </a:p>
          <a:p>
            <a:pPr>
              <a:lnSpc>
                <a:spcPct val="108333"/>
              </a:lnSpc>
              <a:spcAft>
                <a:spcPts val="0"/>
              </a:spcAft>
            </a:pPr>
            <a:r>
              <a:rPr sz="1200" b="0">
                <a:solidFill>
                  <a:srgbClr val="475569"/>
                </a:solidFill>
                <a:latin typeface="IBM Plex Sans"/>
              </a:rPr>
              <a:t>Finding the reports</a:t>
            </a:r>
          </a:p>
        </p:txBody>
      </p:sp>
      <p:sp>
        <p:nvSpPr>
          <p:cNvPr id="14" name="Rectangle 13"/>
          <p:cNvSpPr/>
          <p:nvPr/>
        </p:nvSpPr>
        <p:spPr>
          <a:xfrm>
            <a:off x="812800" y="5118100"/>
            <a:ext cx="5080000" cy="6350"/>
          </a:xfrm>
          <a:prstGeom prst="rect">
            <a:avLst/>
          </a:prstGeom>
          <a:solidFill>
            <a:srgbClr val="E2E8F0"/>
          </a:solidFill>
          <a:ln>
            <a:noFill/>
          </a:ln>
          <a:effectLst/>
        </p:spPr>
        <p:txBody>
          <a:bodyPr rtlCol="0" anchor="ctr"/>
          <a:lstStyle/>
          <a:p>
            <a:pPr algn="ctr"/>
          </a:p>
        </p:txBody>
      </p:sp>
      <p:sp>
        <p:nvSpPr>
          <p:cNvPr id="15" name="TextBox 14"/>
          <p:cNvSpPr txBox="1"/>
          <p:nvPr/>
        </p:nvSpPr>
        <p:spPr>
          <a:xfrm>
            <a:off x="812800" y="45910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04</a:t>
            </a:r>
          </a:p>
        </p:txBody>
      </p:sp>
      <p:sp>
        <p:nvSpPr>
          <p:cNvPr id="16" name="TextBox 15"/>
          <p:cNvSpPr txBox="1"/>
          <p:nvPr/>
        </p:nvSpPr>
        <p:spPr>
          <a:xfrm>
            <a:off x="1270000" y="45910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Data-point extraction</a:t>
            </a:r>
          </a:p>
          <a:p>
            <a:pPr>
              <a:lnSpc>
                <a:spcPct val="108333"/>
              </a:lnSpc>
              <a:spcAft>
                <a:spcPts val="0"/>
              </a:spcAft>
            </a:pPr>
            <a:r>
              <a:rPr sz="1200" b="0">
                <a:solidFill>
                  <a:srgbClr val="475569"/>
                </a:solidFill>
                <a:latin typeface="IBM Plex Sans"/>
              </a:rPr>
              <a:t>Cited figures and verdicts</a:t>
            </a:r>
          </a:p>
        </p:txBody>
      </p:sp>
      <p:sp>
        <p:nvSpPr>
          <p:cNvPr id="17" name="Rectangle 16"/>
          <p:cNvSpPr/>
          <p:nvPr/>
        </p:nvSpPr>
        <p:spPr>
          <a:xfrm>
            <a:off x="812800" y="5651500"/>
            <a:ext cx="5080000" cy="6350"/>
          </a:xfrm>
          <a:prstGeom prst="rect">
            <a:avLst/>
          </a:prstGeom>
          <a:solidFill>
            <a:srgbClr val="E2E8F0"/>
          </a:solidFill>
          <a:ln>
            <a:noFill/>
          </a:ln>
          <a:effectLst/>
        </p:spPr>
        <p:txBody>
          <a:bodyPr rtlCol="0" anchor="ctr"/>
          <a:lstStyle/>
          <a:p>
            <a:pPr algn="ctr"/>
          </a:p>
        </p:txBody>
      </p:sp>
      <p:sp>
        <p:nvSpPr>
          <p:cNvPr id="18" name="TextBox 17"/>
          <p:cNvSpPr txBox="1"/>
          <p:nvPr/>
        </p:nvSpPr>
        <p:spPr>
          <a:xfrm>
            <a:off x="812800" y="51244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05</a:t>
            </a:r>
          </a:p>
        </p:txBody>
      </p:sp>
      <p:sp>
        <p:nvSpPr>
          <p:cNvPr id="19" name="TextBox 18"/>
          <p:cNvSpPr txBox="1"/>
          <p:nvPr/>
        </p:nvSpPr>
        <p:spPr>
          <a:xfrm>
            <a:off x="1270000" y="51244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Financials and XBRL</a:t>
            </a:r>
          </a:p>
          <a:p>
            <a:pPr>
              <a:lnSpc>
                <a:spcPct val="108333"/>
              </a:lnSpc>
              <a:spcAft>
                <a:spcPts val="0"/>
              </a:spcAft>
            </a:pPr>
            <a:r>
              <a:rPr sz="1200" b="0">
                <a:solidFill>
                  <a:srgbClr val="475569"/>
                </a:solidFill>
                <a:latin typeface="IBM Plex Sans"/>
              </a:rPr>
              <a:t>Segments, capex, R&amp;D, filed facts</a:t>
            </a:r>
          </a:p>
        </p:txBody>
      </p:sp>
      <p:sp>
        <p:nvSpPr>
          <p:cNvPr id="20" name="Rectangle 19"/>
          <p:cNvSpPr/>
          <p:nvPr/>
        </p:nvSpPr>
        <p:spPr>
          <a:xfrm>
            <a:off x="6299200" y="3517900"/>
            <a:ext cx="5080000" cy="6350"/>
          </a:xfrm>
          <a:prstGeom prst="rect">
            <a:avLst/>
          </a:prstGeom>
          <a:solidFill>
            <a:srgbClr val="E2E8F0"/>
          </a:solidFill>
          <a:ln>
            <a:noFill/>
          </a:ln>
          <a:effectLst/>
        </p:spPr>
        <p:txBody>
          <a:bodyPr rtlCol="0" anchor="ctr"/>
          <a:lstStyle/>
          <a:p>
            <a:pPr algn="ctr"/>
          </a:p>
        </p:txBody>
      </p:sp>
      <p:sp>
        <p:nvSpPr>
          <p:cNvPr id="21" name="TextBox 20"/>
          <p:cNvSpPr txBox="1"/>
          <p:nvPr/>
        </p:nvSpPr>
        <p:spPr>
          <a:xfrm>
            <a:off x="6299200" y="29908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06</a:t>
            </a:r>
          </a:p>
        </p:txBody>
      </p:sp>
      <p:sp>
        <p:nvSpPr>
          <p:cNvPr id="22" name="TextBox 21"/>
          <p:cNvSpPr txBox="1"/>
          <p:nvPr/>
        </p:nvSpPr>
        <p:spPr>
          <a:xfrm>
            <a:off x="6756400" y="29908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Thematic universe</a:t>
            </a:r>
          </a:p>
          <a:p>
            <a:pPr>
              <a:lnSpc>
                <a:spcPct val="108333"/>
              </a:lnSpc>
              <a:spcAft>
                <a:spcPts val="0"/>
              </a:spcAft>
            </a:pPr>
            <a:r>
              <a:rPr sz="1200" b="0">
                <a:solidFill>
                  <a:srgbClr val="475569"/>
                </a:solidFill>
                <a:latin typeface="IBM Plex Sans"/>
              </a:rPr>
              <a:t>From a theme to its companies</a:t>
            </a:r>
          </a:p>
        </p:txBody>
      </p:sp>
      <p:sp>
        <p:nvSpPr>
          <p:cNvPr id="23" name="Rectangle 22"/>
          <p:cNvSpPr/>
          <p:nvPr/>
        </p:nvSpPr>
        <p:spPr>
          <a:xfrm>
            <a:off x="6299200" y="4051300"/>
            <a:ext cx="5080000" cy="6350"/>
          </a:xfrm>
          <a:prstGeom prst="rect">
            <a:avLst/>
          </a:prstGeom>
          <a:solidFill>
            <a:srgbClr val="E2E8F0"/>
          </a:solidFill>
          <a:ln>
            <a:noFill/>
          </a:ln>
          <a:effectLst/>
        </p:spPr>
        <p:txBody>
          <a:bodyPr rtlCol="0" anchor="ctr"/>
          <a:lstStyle/>
          <a:p>
            <a:pPr algn="ctr"/>
          </a:p>
        </p:txBody>
      </p:sp>
      <p:sp>
        <p:nvSpPr>
          <p:cNvPr id="24" name="TextBox 23"/>
          <p:cNvSpPr txBox="1"/>
          <p:nvPr/>
        </p:nvSpPr>
        <p:spPr>
          <a:xfrm>
            <a:off x="6299200" y="35242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07</a:t>
            </a:r>
          </a:p>
        </p:txBody>
      </p:sp>
      <p:sp>
        <p:nvSpPr>
          <p:cNvPr id="25" name="TextBox 24"/>
          <p:cNvSpPr txBox="1"/>
          <p:nvPr/>
        </p:nvSpPr>
        <p:spPr>
          <a:xfrm>
            <a:off x="6756400" y="35242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Theme dossier</a:t>
            </a:r>
          </a:p>
          <a:p>
            <a:pPr>
              <a:lnSpc>
                <a:spcPct val="108333"/>
              </a:lnSpc>
              <a:spcAft>
                <a:spcPts val="0"/>
              </a:spcAft>
            </a:pPr>
            <a:r>
              <a:rPr sz="1200" b="0">
                <a:solidFill>
                  <a:srgbClr val="475569"/>
                </a:solidFill>
                <a:latin typeface="IBM Plex Sans"/>
              </a:rPr>
              <a:t>Spot, define and research a theme</a:t>
            </a:r>
          </a:p>
        </p:txBody>
      </p:sp>
      <p:sp>
        <p:nvSpPr>
          <p:cNvPr id="26" name="Rectangle 25"/>
          <p:cNvSpPr/>
          <p:nvPr/>
        </p:nvSpPr>
        <p:spPr>
          <a:xfrm>
            <a:off x="6299200" y="4584700"/>
            <a:ext cx="5080000" cy="6350"/>
          </a:xfrm>
          <a:prstGeom prst="rect">
            <a:avLst/>
          </a:prstGeom>
          <a:solidFill>
            <a:srgbClr val="E2E8F0"/>
          </a:solidFill>
          <a:ln>
            <a:noFill/>
          </a:ln>
          <a:effectLst/>
        </p:spPr>
        <p:txBody>
          <a:bodyPr rtlCol="0" anchor="ctr"/>
          <a:lstStyle/>
          <a:p>
            <a:pPr algn="ctr"/>
          </a:p>
        </p:txBody>
      </p:sp>
      <p:sp>
        <p:nvSpPr>
          <p:cNvPr id="27" name="TextBox 26"/>
          <p:cNvSpPr txBox="1"/>
          <p:nvPr/>
        </p:nvSpPr>
        <p:spPr>
          <a:xfrm>
            <a:off x="6299200" y="40576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08</a:t>
            </a:r>
          </a:p>
        </p:txBody>
      </p:sp>
      <p:sp>
        <p:nvSpPr>
          <p:cNvPr id="28" name="TextBox 27"/>
          <p:cNvSpPr txBox="1"/>
          <p:nvPr/>
        </p:nvSpPr>
        <p:spPr>
          <a:xfrm>
            <a:off x="6756400" y="40576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Transition plans</a:t>
            </a:r>
          </a:p>
          <a:p>
            <a:pPr>
              <a:lnSpc>
                <a:spcPct val="108333"/>
              </a:lnSpc>
              <a:spcAft>
                <a:spcPts val="0"/>
              </a:spcAft>
            </a:pPr>
            <a:r>
              <a:rPr sz="1200" b="0">
                <a:solidFill>
                  <a:srgbClr val="475569"/>
                </a:solidFill>
                <a:latin typeface="IBM Plex Sans"/>
              </a:rPr>
              <a:t>Walk versus talk, then alignment</a:t>
            </a:r>
          </a:p>
        </p:txBody>
      </p:sp>
      <p:sp>
        <p:nvSpPr>
          <p:cNvPr id="29" name="Rectangle 28"/>
          <p:cNvSpPr/>
          <p:nvPr/>
        </p:nvSpPr>
        <p:spPr>
          <a:xfrm>
            <a:off x="6299200" y="5118100"/>
            <a:ext cx="5080000" cy="6350"/>
          </a:xfrm>
          <a:prstGeom prst="rect">
            <a:avLst/>
          </a:prstGeom>
          <a:solidFill>
            <a:srgbClr val="E2E8F0"/>
          </a:solidFill>
          <a:ln>
            <a:noFill/>
          </a:ln>
          <a:effectLst/>
        </p:spPr>
        <p:txBody>
          <a:bodyPr rtlCol="0" anchor="ctr"/>
          <a:lstStyle/>
          <a:p>
            <a:pPr algn="ctr"/>
          </a:p>
        </p:txBody>
      </p:sp>
      <p:sp>
        <p:nvSpPr>
          <p:cNvPr id="30" name="TextBox 29"/>
          <p:cNvSpPr txBox="1"/>
          <p:nvPr/>
        </p:nvSpPr>
        <p:spPr>
          <a:xfrm>
            <a:off x="6299200" y="45910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09</a:t>
            </a:r>
          </a:p>
        </p:txBody>
      </p:sp>
      <p:sp>
        <p:nvSpPr>
          <p:cNvPr id="31" name="TextBox 30"/>
          <p:cNvSpPr txBox="1"/>
          <p:nvPr/>
        </p:nvSpPr>
        <p:spPr>
          <a:xfrm>
            <a:off x="6756400" y="45910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Transition barriers</a:t>
            </a:r>
          </a:p>
          <a:p>
            <a:pPr>
              <a:lnSpc>
                <a:spcPct val="108333"/>
              </a:lnSpc>
              <a:spcAft>
                <a:spcPts val="0"/>
              </a:spcAft>
            </a:pPr>
            <a:r>
              <a:rPr sz="1200" b="0">
                <a:solidFill>
                  <a:srgbClr val="475569"/>
                </a:solidFill>
                <a:latin typeface="IBM Plex Sans"/>
              </a:rPr>
              <a:t>Is decarbonisation feasible here?</a:t>
            </a:r>
          </a:p>
        </p:txBody>
      </p:sp>
      <p:sp>
        <p:nvSpPr>
          <p:cNvPr id="32" name="Rectangle 31"/>
          <p:cNvSpPr/>
          <p:nvPr/>
        </p:nvSpPr>
        <p:spPr>
          <a:xfrm>
            <a:off x="6299200" y="5651500"/>
            <a:ext cx="5080000" cy="6350"/>
          </a:xfrm>
          <a:prstGeom prst="rect">
            <a:avLst/>
          </a:prstGeom>
          <a:solidFill>
            <a:srgbClr val="E2E8F0"/>
          </a:solidFill>
          <a:ln>
            <a:noFill/>
          </a:ln>
          <a:effectLst/>
        </p:spPr>
        <p:txBody>
          <a:bodyPr rtlCol="0" anchor="ctr"/>
          <a:lstStyle/>
          <a:p>
            <a:pPr algn="ctr"/>
          </a:p>
        </p:txBody>
      </p:sp>
      <p:sp>
        <p:nvSpPr>
          <p:cNvPr id="33" name="TextBox 32"/>
          <p:cNvSpPr txBox="1"/>
          <p:nvPr/>
        </p:nvSpPr>
        <p:spPr>
          <a:xfrm>
            <a:off x="6299200" y="51244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10</a:t>
            </a:r>
          </a:p>
        </p:txBody>
      </p:sp>
      <p:sp>
        <p:nvSpPr>
          <p:cNvPr id="34" name="TextBox 33"/>
          <p:cNvSpPr txBox="1"/>
          <p:nvPr/>
        </p:nvSpPr>
        <p:spPr>
          <a:xfrm>
            <a:off x="6756400" y="51244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Value chain</a:t>
            </a:r>
          </a:p>
          <a:p>
            <a:pPr>
              <a:lnSpc>
                <a:spcPct val="108333"/>
              </a:lnSpc>
              <a:spcAft>
                <a:spcPts val="0"/>
              </a:spcAft>
            </a:pPr>
            <a:r>
              <a:rPr sz="1200" b="0">
                <a:solidFill>
                  <a:srgbClr val="475569"/>
                </a:solidFill>
                <a:latin typeface="IBM Plex Sans"/>
              </a:rPr>
              <a:t>Exposure through input-output tables</a:t>
            </a:r>
          </a:p>
        </p:txBody>
      </p:sp>
      <p:sp>
        <p:nvSpPr>
          <p:cNvPr id="35" name="TextBox 34"/>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36" name="TextBox 35"/>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09 / 29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FIND AND EXTRACT · 01</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Argus: extract and score</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Bring a universe; get every figure cited, reviewed and, if wanted, tiered by a ratified template.</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globe-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Universe</a:t>
            </a:r>
          </a:p>
          <a:p>
            <a:pPr algn="ctr">
              <a:lnSpc>
                <a:spcPct val="112500"/>
              </a:lnSpc>
              <a:spcAft>
                <a:spcPts val="0"/>
              </a:spcAft>
            </a:pPr>
            <a:r>
              <a:rPr sz="1200" b="0">
                <a:solidFill>
                  <a:srgbClr val="475569"/>
                </a:solidFill>
                <a:latin typeface="IBM Plex Sans"/>
              </a:rPr>
              <a:t>Uploaded or saved, mapped through the security master</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0F172A"/>
          </a:solidFill>
          <a:ln>
            <a:noFill/>
          </a:ln>
          <a:effectLst/>
        </p:spPr>
        <p:txBody>
          <a:bodyPr rtlCol="0" anchor="ctr"/>
          <a:lstStyle/>
          <a:p>
            <a:pPr algn="ctr"/>
          </a:p>
        </p:txBody>
      </p:sp>
      <p:pic>
        <p:nvPicPr>
          <p:cNvPr id="11" name="Picture 10" descr="building-2-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Companies</a:t>
            </a:r>
          </a:p>
          <a:p>
            <a:pPr algn="ctr">
              <a:lnSpc>
                <a:spcPct val="112500"/>
              </a:lnSpc>
              <a:spcAft>
                <a:spcPts val="0"/>
              </a:spcAft>
            </a:pPr>
            <a:r>
              <a:rPr sz="1200" b="0">
                <a:solidFill>
                  <a:srgbClr val="475569"/>
                </a:solidFill>
                <a:latin typeface="IBM Plex Sans"/>
              </a:rPr>
              <a:t>One internal id each; LEI, ISIN, CIK matched exactly</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0F172A"/>
          </a:solidFill>
          <a:ln>
            <a:noFill/>
          </a:ln>
          <a:effectLst/>
        </p:spPr>
        <p:txBody>
          <a:bodyPr rtlCol="0" anchor="ctr"/>
          <a:lstStyle/>
          <a:p>
            <a:pPr algn="ctr"/>
          </a:p>
        </p:txBody>
      </p:sp>
      <p:pic>
        <p:nvPicPr>
          <p:cNvPr id="16" name="Picture 15" descr="file-text-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Documents</a:t>
            </a:r>
          </a:p>
          <a:p>
            <a:pPr algn="ctr">
              <a:lnSpc>
                <a:spcPct val="112500"/>
              </a:lnSpc>
              <a:spcAft>
                <a:spcPts val="0"/>
              </a:spcAft>
            </a:pPr>
            <a:r>
              <a:rPr sz="1200" b="0">
                <a:solidFill>
                  <a:srgbClr val="475569"/>
                </a:solidFill>
                <a:latin typeface="IBM Plex Sans"/>
              </a:rPr>
              <a:t>Upload, import folder, SEC or ESEF filings, web crawl</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16A34A"/>
          </a:solidFill>
          <a:ln>
            <a:noFill/>
          </a:ln>
          <a:effectLst/>
        </p:spPr>
        <p:txBody>
          <a:bodyPr rtlCol="0" anchor="ctr"/>
          <a:lstStyle/>
          <a:p>
            <a:pPr algn="ctr"/>
          </a:p>
        </p:txBody>
      </p:sp>
      <p:pic>
        <p:nvPicPr>
          <p:cNvPr id="21" name="Picture 20" descr="scan-text-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Extract</a:t>
            </a:r>
          </a:p>
          <a:p>
            <a:pPr algn="ctr">
              <a:lnSpc>
                <a:spcPct val="112500"/>
              </a:lnSpc>
              <a:spcAft>
                <a:spcPts val="0"/>
              </a:spcAft>
            </a:pPr>
            <a:r>
              <a:rPr sz="1200" b="0">
                <a:solidFill>
                  <a:srgbClr val="475569"/>
                </a:solidFill>
                <a:latin typeface="IBM Plex Sans"/>
              </a:rPr>
              <a:t>Schema fields; verifier on a different model</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2563EB"/>
          </a:solidFill>
          <a:ln>
            <a:noFill/>
          </a:ln>
          <a:effectLst/>
        </p:spPr>
        <p:txBody>
          <a:bodyPr rtlCol="0" anchor="ctr"/>
          <a:lstStyle/>
          <a:p>
            <a:pPr algn="ctr"/>
          </a:p>
        </p:txBody>
      </p:sp>
      <p:pic>
        <p:nvPicPr>
          <p:cNvPr id="26" name="Picture 25" descr="user-check-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Review</a:t>
            </a:r>
          </a:p>
          <a:p>
            <a:pPr algn="ctr">
              <a:lnSpc>
                <a:spcPct val="112500"/>
              </a:lnSpc>
              <a:spcAft>
                <a:spcPts val="0"/>
              </a:spcAft>
            </a:pPr>
            <a:r>
              <a:rPr sz="1200" b="0">
                <a:solidFill>
                  <a:srgbClr val="475569"/>
                </a:solidFill>
                <a:latin typeface="IBM Plex Sans"/>
              </a:rPr>
              <a:t>Accept, override or reject in the queue</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trophy-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Score</a:t>
            </a:r>
          </a:p>
          <a:p>
            <a:pPr algn="ctr">
              <a:lnSpc>
                <a:spcPct val="112500"/>
              </a:lnSpc>
              <a:spcAft>
                <a:spcPts val="0"/>
              </a:spcAft>
            </a:pPr>
            <a:r>
              <a:rPr sz="1200" b="0">
                <a:solidFill>
                  <a:srgbClr val="475569"/>
                </a:solidFill>
                <a:latin typeface="IBM Plex Sans"/>
              </a:rPr>
              <a:t>Decision Studio tiers from a ratified template</a:t>
            </a:r>
          </a:p>
        </p:txBody>
      </p:sp>
      <p:sp>
        <p:nvSpPr>
          <p:cNvPr id="33" name="Rounded Rectangle 32"/>
          <p:cNvSpPr/>
          <p:nvPr/>
        </p:nvSpPr>
        <p:spPr>
          <a:xfrm>
            <a:off x="812800"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559300"/>
            <a:ext cx="304800" cy="304800"/>
          </a:xfrm>
          <a:prstGeom prst="ellipse">
            <a:avLst/>
          </a:prstGeom>
          <a:solidFill>
            <a:srgbClr val="F1F5F9"/>
          </a:solidFill>
          <a:ln>
            <a:noFill/>
          </a:ln>
          <a:effectLst/>
        </p:spPr>
        <p:txBody>
          <a:bodyPr rtlCol="0" anchor="ctr"/>
          <a:lstStyle/>
          <a:p>
            <a:pPr algn="ctr"/>
          </a:p>
        </p:txBody>
      </p:sp>
      <p:pic>
        <p:nvPicPr>
          <p:cNvPr id="35" name="Picture 34" descr="activity-0F172A.png"/>
          <p:cNvPicPr>
            <a:picLocks noChangeAspect="1"/>
          </p:cNvPicPr>
          <p:nvPr/>
        </p:nvPicPr>
        <p:blipFill>
          <a:blip r:embed="rId9"/>
          <a:stretch>
            <a:fillRect/>
          </a:stretch>
        </p:blipFill>
        <p:spPr>
          <a:xfrm>
            <a:off x="1041400" y="4635500"/>
            <a:ext cx="152400" cy="152400"/>
          </a:xfrm>
          <a:prstGeom prst="rect">
            <a:avLst/>
          </a:prstGeom>
        </p:spPr>
      </p:pic>
      <p:sp>
        <p:nvSpPr>
          <p:cNvPr id="36" name="TextBox 35"/>
          <p:cNvSpPr txBox="1"/>
          <p:nvPr/>
        </p:nvSpPr>
        <p:spPr>
          <a:xfrm>
            <a:off x="1371600"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STATUS</a:t>
            </a:r>
          </a:p>
        </p:txBody>
      </p:sp>
      <p:sp>
        <p:nvSpPr>
          <p:cNvPr id="37" name="TextBox 36"/>
          <p:cNvSpPr txBox="1"/>
          <p:nvPr/>
        </p:nvSpPr>
        <p:spPr>
          <a:xfrm>
            <a:off x="965200"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The start page and step 1 are live. Later steps hand over to the Extraction screens for now.</a:t>
            </a:r>
          </a:p>
        </p:txBody>
      </p:sp>
      <p:sp>
        <p:nvSpPr>
          <p:cNvPr id="38" name="Rounded Rectangle 37"/>
          <p:cNvSpPr/>
          <p:nvPr/>
        </p:nvSpPr>
        <p:spPr>
          <a:xfrm>
            <a:off x="4385733"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559300"/>
            <a:ext cx="304800" cy="304800"/>
          </a:xfrm>
          <a:prstGeom prst="ellipse">
            <a:avLst/>
          </a:prstGeom>
          <a:solidFill>
            <a:srgbClr val="F1F5F9"/>
          </a:solidFill>
          <a:ln>
            <a:noFill/>
          </a:ln>
          <a:effectLst/>
        </p:spPr>
        <p:txBody>
          <a:bodyPr rtlCol="0" anchor="ctr"/>
          <a:lstStyle/>
          <a:p>
            <a:pPr algn="ctr"/>
          </a:p>
        </p:txBody>
      </p:sp>
      <p:pic>
        <p:nvPicPr>
          <p:cNvPr id="40" name="Picture 39" descr="gauge-0F172A.png"/>
          <p:cNvPicPr>
            <a:picLocks noChangeAspect="1"/>
          </p:cNvPicPr>
          <p:nvPr/>
        </p:nvPicPr>
        <p:blipFill>
          <a:blip r:embed="rId10"/>
          <a:stretch>
            <a:fillRect/>
          </a:stretch>
        </p:blipFill>
        <p:spPr>
          <a:xfrm>
            <a:off x="4614333" y="4635500"/>
            <a:ext cx="152400" cy="152400"/>
          </a:xfrm>
          <a:prstGeom prst="rect">
            <a:avLst/>
          </a:prstGeom>
        </p:spPr>
      </p:pic>
      <p:sp>
        <p:nvSpPr>
          <p:cNvPr id="41" name="TextBox 40"/>
          <p:cNvSpPr txBox="1"/>
          <p:nvPr/>
        </p:nvSpPr>
        <p:spPr>
          <a:xfrm>
            <a:off x="4944533"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RUN MODES</a:t>
            </a:r>
          </a:p>
        </p:txBody>
      </p:sp>
      <p:sp>
        <p:nvSpPr>
          <p:cNvPr id="42" name="TextBox 41"/>
          <p:cNvSpPr txBox="1"/>
          <p:nvPr/>
        </p:nvSpPr>
        <p:spPr>
          <a:xfrm>
            <a:off x="4538133"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Cheap, normal or max: more evidence and stricter review thresholds as the mode rises.</a:t>
            </a:r>
          </a:p>
        </p:txBody>
      </p:sp>
      <p:sp>
        <p:nvSpPr>
          <p:cNvPr id="43" name="Rounded Rectangle 42"/>
          <p:cNvSpPr/>
          <p:nvPr/>
        </p:nvSpPr>
        <p:spPr>
          <a:xfrm>
            <a:off x="7958667"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55930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635500"/>
            <a:ext cx="152400" cy="152400"/>
          </a:xfrm>
          <a:prstGeom prst="rect">
            <a:avLst/>
          </a:prstGeom>
        </p:spPr>
      </p:pic>
      <p:sp>
        <p:nvSpPr>
          <p:cNvPr id="46" name="TextBox 45"/>
          <p:cNvSpPr txBox="1"/>
          <p:nvPr/>
        </p:nvSpPr>
        <p:spPr>
          <a:xfrm>
            <a:off x="8517467"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Nothing is matched by name; an unmatched security is fixed in the security master.</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10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FIND AND EXTRACT · 02</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Identity: which company is this?</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Identifiers first, search only when they run out, and one model call only where no lookup settles it.</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rows-3-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Universe row</a:t>
            </a:r>
          </a:p>
          <a:p>
            <a:pPr algn="ctr">
              <a:lnSpc>
                <a:spcPct val="112500"/>
              </a:lnSpc>
              <a:spcAft>
                <a:spcPts val="0"/>
              </a:spcAft>
            </a:pPr>
            <a:r>
              <a:rPr sz="1200" b="0">
                <a:solidFill>
                  <a:srgbClr val="475569"/>
                </a:solidFill>
                <a:latin typeface="IBM Plex Sans"/>
              </a:rPr>
              <a:t>Name, maybe a ticker, LEI, ISIN or CIK</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0F172A"/>
          </a:solidFill>
          <a:ln>
            <a:noFill/>
          </a:ln>
          <a:effectLst/>
        </p:spPr>
        <p:txBody>
          <a:bodyPr rtlCol="0" anchor="ctr"/>
          <a:lstStyle/>
          <a:p>
            <a:pPr algn="ctr"/>
          </a:p>
        </p:txBody>
      </p:sp>
      <p:pic>
        <p:nvPicPr>
          <p:cNvPr id="11" name="Picture 10" descr="key-round-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Security master</a:t>
            </a:r>
          </a:p>
          <a:p>
            <a:pPr algn="ctr">
              <a:lnSpc>
                <a:spcPct val="112500"/>
              </a:lnSpc>
              <a:spcAft>
                <a:spcPts val="0"/>
              </a:spcAft>
            </a:pPr>
            <a:r>
              <a:rPr sz="1200" b="0">
                <a:solidFill>
                  <a:srgbClr val="475569"/>
                </a:solidFill>
                <a:latin typeface="IBM Plex Sans"/>
              </a:rPr>
              <a:t>Exact LEI, ISIN or CIK to one internal issuer</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0F172A"/>
          </a:solidFill>
          <a:ln>
            <a:noFill/>
          </a:ln>
          <a:effectLst/>
        </p:spPr>
        <p:txBody>
          <a:bodyPr rtlCol="0" anchor="ctr"/>
          <a:lstStyle/>
          <a:p>
            <a:pPr algn="ctr"/>
          </a:p>
        </p:txBody>
      </p:sp>
      <p:pic>
        <p:nvPicPr>
          <p:cNvPr id="16" name="Picture 15" descr="search-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Lookups</a:t>
            </a:r>
          </a:p>
          <a:p>
            <a:pPr algn="ctr">
              <a:lnSpc>
                <a:spcPct val="112500"/>
              </a:lnSpc>
              <a:spcAft>
                <a:spcPts val="0"/>
              </a:spcAft>
            </a:pPr>
            <a:r>
              <a:rPr sz="1200" b="0">
                <a:solidFill>
                  <a:srgbClr val="475569"/>
                </a:solidFill>
                <a:latin typeface="IBM Plex Sans"/>
              </a:rPr>
              <a:t>GLEIF fills the LEI from an ISIN; EDGAR by CIK</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16A34A"/>
          </a:solidFill>
          <a:ln>
            <a:noFill/>
          </a:ln>
          <a:effectLst/>
        </p:spPr>
        <p:txBody>
          <a:bodyPr rtlCol="0" anchor="ctr"/>
          <a:lstStyle/>
          <a:p>
            <a:pPr algn="ctr"/>
          </a:p>
        </p:txBody>
      </p:sp>
      <p:pic>
        <p:nvPicPr>
          <p:cNvPr id="21" name="Picture 20" descr="scale-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Adjudicate</a:t>
            </a:r>
          </a:p>
          <a:p>
            <a:pPr algn="ctr">
              <a:lnSpc>
                <a:spcPct val="112500"/>
              </a:lnSpc>
              <a:spcAft>
                <a:spcPts val="0"/>
              </a:spcAft>
            </a:pPr>
            <a:r>
              <a:rPr sz="1200" b="0">
                <a:solidFill>
                  <a:srgbClr val="475569"/>
                </a:solidFill>
                <a:latin typeface="IBM Plex Sans"/>
              </a:rPr>
              <a:t>One call over EDGAR and GLEIF candidates</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0F172A"/>
          </a:solidFill>
          <a:ln>
            <a:noFill/>
          </a:ln>
          <a:effectLst/>
        </p:spPr>
        <p:txBody>
          <a:bodyPr rtlCol="0" anchor="ctr"/>
          <a:lstStyle/>
          <a:p>
            <a:pPr algn="ctr"/>
          </a:p>
        </p:txBody>
      </p:sp>
      <p:pic>
        <p:nvPicPr>
          <p:cNvPr id="26" name="Picture 25" descr="shield-check-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Check in code</a:t>
            </a:r>
          </a:p>
          <a:p>
            <a:pPr algn="ctr">
              <a:lnSpc>
                <a:spcPct val="112500"/>
              </a:lnSpc>
              <a:spcAft>
                <a:spcPts val="0"/>
              </a:spcAft>
            </a:pPr>
            <a:r>
              <a:rPr sz="1200" b="0">
                <a:solidFill>
                  <a:srgbClr val="475569"/>
                </a:solidFill>
                <a:latin typeface="IBM Plex Sans"/>
              </a:rPr>
              <a:t>Website and CIK must match the gathered signals</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circle-check-big-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Verdict</a:t>
            </a:r>
          </a:p>
          <a:p>
            <a:pPr algn="ctr">
              <a:lnSpc>
                <a:spcPct val="112500"/>
              </a:lnSpc>
              <a:spcAft>
                <a:spcPts val="0"/>
              </a:spcAft>
            </a:pPr>
            <a:r>
              <a:rPr sz="1200" b="0">
                <a:solidFill>
                  <a:srgbClr val="475569"/>
                </a:solidFill>
                <a:latin typeface="IBM Plex Sans"/>
              </a:rPr>
              <a:t>Resolved, or sent to review</a:t>
            </a:r>
          </a:p>
        </p:txBody>
      </p:sp>
      <p:sp>
        <p:nvSpPr>
          <p:cNvPr id="33" name="Rounded Rectangle 32"/>
          <p:cNvSpPr/>
          <p:nvPr/>
        </p:nvSpPr>
        <p:spPr>
          <a:xfrm>
            <a:off x="812800"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337050"/>
            <a:ext cx="304800" cy="304800"/>
          </a:xfrm>
          <a:prstGeom prst="ellipse">
            <a:avLst/>
          </a:prstGeom>
          <a:solidFill>
            <a:srgbClr val="F1F5F9"/>
          </a:solidFill>
          <a:ln>
            <a:noFill/>
          </a:ln>
          <a:effectLst/>
        </p:spPr>
        <p:txBody>
          <a:bodyPr rtlCol="0" anchor="ctr"/>
          <a:lstStyle/>
          <a:p>
            <a:pPr algn="ctr"/>
          </a:p>
        </p:txBody>
      </p:sp>
      <p:pic>
        <p:nvPicPr>
          <p:cNvPr id="35" name="Picture 34" descr="phone-0F172A.png"/>
          <p:cNvPicPr>
            <a:picLocks noChangeAspect="1"/>
          </p:cNvPicPr>
          <p:nvPr/>
        </p:nvPicPr>
        <p:blipFill>
          <a:blip r:embed="rId9"/>
          <a:stretch>
            <a:fillRect/>
          </a:stretch>
        </p:blipFill>
        <p:spPr>
          <a:xfrm>
            <a:off x="1041400" y="4413250"/>
            <a:ext cx="152400" cy="152400"/>
          </a:xfrm>
          <a:prstGeom prst="rect">
            <a:avLst/>
          </a:prstGeom>
        </p:spPr>
      </p:pic>
      <p:sp>
        <p:nvSpPr>
          <p:cNvPr id="36" name="TextBox 35"/>
          <p:cNvSpPr txBox="1"/>
          <p:nvPr/>
        </p:nvSpPr>
        <p:spPr>
          <a:xfrm>
            <a:off x="1371600"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WHY ONE CALL</a:t>
            </a:r>
          </a:p>
        </p:txBody>
      </p:sp>
      <p:sp>
        <p:nvSpPr>
          <p:cNvPr id="37" name="TextBox 36"/>
          <p:cNvSpPr txBox="1"/>
          <p:nvPr/>
        </p:nvSpPr>
        <p:spPr>
          <a:xfrm>
            <a:off x="965200"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Which company it is rarely has two sides, so no debate. Most rows never reach a model.</a:t>
            </a:r>
          </a:p>
        </p:txBody>
      </p:sp>
      <p:sp>
        <p:nvSpPr>
          <p:cNvPr id="38" name="Rounded Rectangle 37"/>
          <p:cNvSpPr/>
          <p:nvPr/>
        </p:nvSpPr>
        <p:spPr>
          <a:xfrm>
            <a:off x="4385733"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337050"/>
            <a:ext cx="304800" cy="304800"/>
          </a:xfrm>
          <a:prstGeom prst="ellipse">
            <a:avLst/>
          </a:prstGeom>
          <a:solidFill>
            <a:srgbClr val="F1F5F9"/>
          </a:solidFill>
          <a:ln>
            <a:noFill/>
          </a:ln>
          <a:effectLst/>
        </p:spPr>
        <p:txBody>
          <a:bodyPr rtlCol="0" anchor="ctr"/>
          <a:lstStyle/>
          <a:p>
            <a:pPr algn="ctr"/>
          </a:p>
        </p:txBody>
      </p:sp>
      <p:pic>
        <p:nvPicPr>
          <p:cNvPr id="40" name="Picture 39" descr="globe-0F172A.png"/>
          <p:cNvPicPr>
            <a:picLocks noChangeAspect="1"/>
          </p:cNvPicPr>
          <p:nvPr/>
        </p:nvPicPr>
        <p:blipFill>
          <a:blip r:embed="rId10"/>
          <a:stretch>
            <a:fillRect/>
          </a:stretch>
        </p:blipFill>
        <p:spPr>
          <a:xfrm>
            <a:off x="4614333" y="4413250"/>
            <a:ext cx="152400" cy="152400"/>
          </a:xfrm>
          <a:prstGeom prst="rect">
            <a:avLst/>
          </a:prstGeom>
        </p:spPr>
      </p:pic>
      <p:sp>
        <p:nvSpPr>
          <p:cNvPr id="41" name="TextBox 40"/>
          <p:cNvSpPr txBox="1"/>
          <p:nvPr/>
        </p:nvSpPr>
        <p:spPr>
          <a:xfrm>
            <a:off x="4944533"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WEBSITES</a:t>
            </a:r>
          </a:p>
        </p:txBody>
      </p:sp>
      <p:sp>
        <p:nvSpPr>
          <p:cNvPr id="42" name="TextBox 41"/>
          <p:cNvSpPr txBox="1"/>
          <p:nvPr/>
        </p:nvSpPr>
        <p:spPr>
          <a:xfrm>
            <a:off x="4538133"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 homepage found by search is scored before crawling; aggregators and other companies' sites are rejected.</a:t>
            </a:r>
          </a:p>
        </p:txBody>
      </p:sp>
      <p:sp>
        <p:nvSpPr>
          <p:cNvPr id="43" name="Rounded Rectangle 42"/>
          <p:cNvSpPr/>
          <p:nvPr/>
        </p:nvSpPr>
        <p:spPr>
          <a:xfrm>
            <a:off x="7958667"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33705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413250"/>
            <a:ext cx="152400" cy="152400"/>
          </a:xfrm>
          <a:prstGeom prst="rect">
            <a:avLst/>
          </a:prstGeom>
        </p:spPr>
      </p:pic>
      <p:sp>
        <p:nvSpPr>
          <p:cNvPr id="46" name="TextBox 45"/>
          <p:cNvSpPr txBox="1"/>
          <p:nvPr/>
        </p:nvSpPr>
        <p:spPr>
          <a:xfrm>
            <a:off x="8517467"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Identifiers are copied verbatim, never composed; a non-US ticker never gets a US CIK.</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11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FIND AND EXTRACT · 03</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Documents: finding the reports</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The latest annual and sustainability report per company, taking the most reliable route first.</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building-2-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Company</a:t>
            </a:r>
          </a:p>
          <a:p>
            <a:pPr algn="ctr">
              <a:lnSpc>
                <a:spcPct val="112500"/>
              </a:lnSpc>
              <a:spcAft>
                <a:spcPts val="0"/>
              </a:spcAft>
            </a:pPr>
            <a:r>
              <a:rPr sz="1200" b="0">
                <a:solidFill>
                  <a:srgbClr val="475569"/>
                </a:solidFill>
                <a:latin typeface="IBM Plex Sans"/>
              </a:rPr>
              <a:t>Resolved identity and website</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0F172A"/>
          </a:solidFill>
          <a:ln>
            <a:noFill/>
          </a:ln>
          <a:effectLst/>
        </p:spPr>
        <p:txBody>
          <a:bodyPr rtlCol="0" anchor="ctr"/>
          <a:lstStyle/>
          <a:p>
            <a:pPr algn="ctr"/>
          </a:p>
        </p:txBody>
      </p:sp>
      <p:pic>
        <p:nvPicPr>
          <p:cNvPr id="11" name="Picture 10" descr="landmark-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ESEF first</a:t>
            </a:r>
          </a:p>
          <a:p>
            <a:pPr algn="ctr">
              <a:lnSpc>
                <a:spcPct val="112500"/>
              </a:lnSpc>
              <a:spcAft>
                <a:spcPts val="0"/>
              </a:spcAft>
            </a:pPr>
            <a:r>
              <a:rPr sz="1200" b="0">
                <a:solidFill>
                  <a:srgbClr val="475569"/>
                </a:solidFill>
                <a:latin typeface="IBM Plex Sans"/>
              </a:rPr>
              <a:t>The latest annual filing on filings.xbrl.org</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0F172A"/>
          </a:solidFill>
          <a:ln>
            <a:noFill/>
          </a:ln>
          <a:effectLst/>
        </p:spPr>
        <p:txBody>
          <a:bodyPr rtlCol="0" anchor="ctr"/>
          <a:lstStyle/>
          <a:p>
            <a:pPr algn="ctr"/>
          </a:p>
        </p:txBody>
      </p:sp>
      <p:pic>
        <p:nvPicPr>
          <p:cNvPr id="16" name="Picture 15" descr="file-search-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PDF search</a:t>
            </a:r>
          </a:p>
          <a:p>
            <a:pPr algn="ctr">
              <a:lnSpc>
                <a:spcPct val="112500"/>
              </a:lnSpc>
              <a:spcAft>
                <a:spcPts val="0"/>
              </a:spcAft>
            </a:pPr>
            <a:r>
              <a:rPr sz="1200" b="0">
                <a:solidFill>
                  <a:srgbClr val="475569"/>
                </a:solidFill>
                <a:latin typeface="IBM Plex Sans"/>
              </a:rPr>
              <a:t>A direct search for the report PDF</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0F172A"/>
          </a:solidFill>
          <a:ln>
            <a:noFill/>
          </a:ln>
          <a:effectLst/>
        </p:spPr>
        <p:txBody>
          <a:bodyPr rtlCol="0" anchor="ctr"/>
          <a:lstStyle/>
          <a:p>
            <a:pPr algn="ctr"/>
          </a:p>
        </p:txBody>
      </p:sp>
      <p:pic>
        <p:nvPicPr>
          <p:cNvPr id="21" name="Picture 20" descr="globe-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Site crawl</a:t>
            </a:r>
          </a:p>
          <a:p>
            <a:pPr algn="ctr">
              <a:lnSpc>
                <a:spcPct val="112500"/>
              </a:lnSpc>
              <a:spcAft>
                <a:spcPts val="0"/>
              </a:spcAft>
            </a:pPr>
            <a:r>
              <a:rPr sz="1200" b="0">
                <a:solidFill>
                  <a:srgbClr val="475569"/>
                </a:solidFill>
                <a:latin typeface="IBM Plex Sans"/>
              </a:rPr>
              <a:t>Same domain, robots.txt, depth caps, sitemap seeds</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0F172A"/>
          </a:solidFill>
          <a:ln>
            <a:noFill/>
          </a:ln>
          <a:effectLst/>
        </p:spPr>
        <p:txBody>
          <a:bodyPr rtlCol="0" anchor="ctr"/>
          <a:lstStyle/>
          <a:p>
            <a:pPr algn="ctr"/>
          </a:p>
        </p:txBody>
      </p:sp>
      <p:pic>
        <p:nvPicPr>
          <p:cNvPr id="26" name="Picture 25" descr="arrow-down-wide-narrow-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Rank and check</a:t>
            </a:r>
          </a:p>
          <a:p>
            <a:pPr algn="ctr">
              <a:lnSpc>
                <a:spcPct val="112500"/>
              </a:lnSpc>
              <a:spcAft>
                <a:spcPts val="0"/>
              </a:spcAft>
            </a:pPr>
            <a:r>
              <a:rPr sz="1200" b="0">
                <a:solidFill>
                  <a:srgbClr val="475569"/>
                </a:solidFill>
                <a:latin typeface="IBM Plex Sans"/>
              </a:rPr>
              <a:t>Best two; each PDF must name the company</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archive-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Document store</a:t>
            </a:r>
          </a:p>
          <a:p>
            <a:pPr algn="ctr">
              <a:lnSpc>
                <a:spcPct val="112500"/>
              </a:lnSpc>
              <a:spcAft>
                <a:spcPts val="0"/>
              </a:spcAft>
            </a:pPr>
            <a:r>
              <a:rPr sz="1200" b="0">
                <a:solidFill>
                  <a:srgbClr val="475569"/>
                </a:solidFill>
                <a:latin typeface="IBM Plex Sans"/>
              </a:rPr>
              <a:t>Only new or changed files, by content hash</a:t>
            </a:r>
          </a:p>
        </p:txBody>
      </p:sp>
      <p:sp>
        <p:nvSpPr>
          <p:cNvPr id="33" name="Rounded Rectangle 32"/>
          <p:cNvSpPr/>
          <p:nvPr/>
        </p:nvSpPr>
        <p:spPr>
          <a:xfrm>
            <a:off x="812800"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559300"/>
            <a:ext cx="304800" cy="304800"/>
          </a:xfrm>
          <a:prstGeom prst="ellipse">
            <a:avLst/>
          </a:prstGeom>
          <a:solidFill>
            <a:srgbClr val="F1F5F9"/>
          </a:solidFill>
          <a:ln>
            <a:noFill/>
          </a:ln>
          <a:effectLst/>
        </p:spPr>
        <p:txBody>
          <a:bodyPr rtlCol="0" anchor="ctr"/>
          <a:lstStyle/>
          <a:p>
            <a:pPr algn="ctr"/>
          </a:p>
        </p:txBody>
      </p:sp>
      <p:pic>
        <p:nvPicPr>
          <p:cNvPr id="35" name="Picture 34" descr="list-ordered-0F172A.png"/>
          <p:cNvPicPr>
            <a:picLocks noChangeAspect="1"/>
          </p:cNvPicPr>
          <p:nvPr/>
        </p:nvPicPr>
        <p:blipFill>
          <a:blip r:embed="rId9"/>
          <a:stretch>
            <a:fillRect/>
          </a:stretch>
        </p:blipFill>
        <p:spPr>
          <a:xfrm>
            <a:off x="1041400" y="4635500"/>
            <a:ext cx="152400" cy="152400"/>
          </a:xfrm>
          <a:prstGeom prst="rect">
            <a:avLst/>
          </a:prstGeom>
        </p:spPr>
      </p:pic>
      <p:sp>
        <p:nvSpPr>
          <p:cNvPr id="36" name="TextBox 35"/>
          <p:cNvSpPr txBox="1"/>
          <p:nvPr/>
        </p:nvSpPr>
        <p:spPr>
          <a:xfrm>
            <a:off x="1371600"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WHY THIS ORDER</a:t>
            </a:r>
          </a:p>
        </p:txBody>
      </p:sp>
      <p:sp>
        <p:nvSpPr>
          <p:cNvPr id="37" name="TextBox 36"/>
          <p:cNvSpPr txBox="1"/>
          <p:nvPr/>
        </p:nvSpPr>
        <p:spPr>
          <a:xfrm>
            <a:off x="965200"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Half the sites tested block cloud servers; filings and search still reach the report.</a:t>
            </a:r>
          </a:p>
        </p:txBody>
      </p:sp>
      <p:sp>
        <p:nvSpPr>
          <p:cNvPr id="38" name="Rounded Rectangle 37"/>
          <p:cNvSpPr/>
          <p:nvPr/>
        </p:nvSpPr>
        <p:spPr>
          <a:xfrm>
            <a:off x="4385733"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559300"/>
            <a:ext cx="304800" cy="304800"/>
          </a:xfrm>
          <a:prstGeom prst="ellipse">
            <a:avLst/>
          </a:prstGeom>
          <a:solidFill>
            <a:srgbClr val="F1F5F9"/>
          </a:solidFill>
          <a:ln>
            <a:noFill/>
          </a:ln>
          <a:effectLst/>
        </p:spPr>
        <p:txBody>
          <a:bodyPr rtlCol="0" anchor="ctr"/>
          <a:lstStyle/>
          <a:p>
            <a:pPr algn="ctr"/>
          </a:p>
        </p:txBody>
      </p:sp>
      <p:pic>
        <p:nvPicPr>
          <p:cNvPr id="40" name="Picture 39" descr="refresh-cw-0F172A.png"/>
          <p:cNvPicPr>
            <a:picLocks noChangeAspect="1"/>
          </p:cNvPicPr>
          <p:nvPr/>
        </p:nvPicPr>
        <p:blipFill>
          <a:blip r:embed="rId10"/>
          <a:stretch>
            <a:fillRect/>
          </a:stretch>
        </p:blipFill>
        <p:spPr>
          <a:xfrm>
            <a:off x="4614333" y="4635500"/>
            <a:ext cx="152400" cy="152400"/>
          </a:xfrm>
          <a:prstGeom prst="rect">
            <a:avLst/>
          </a:prstGeom>
        </p:spPr>
      </p:pic>
      <p:sp>
        <p:nvSpPr>
          <p:cNvPr id="41" name="TextBox 40"/>
          <p:cNvSpPr txBox="1"/>
          <p:nvPr/>
        </p:nvSpPr>
        <p:spPr>
          <a:xfrm>
            <a:off x="4944533"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CHANGE DETECTION</a:t>
            </a:r>
          </a:p>
        </p:txBody>
      </p:sp>
      <p:sp>
        <p:nvSpPr>
          <p:cNvPr id="42" name="TextBox 41"/>
          <p:cNvSpPr txBox="1"/>
          <p:nvPr/>
        </p:nvSpPr>
        <p:spPr>
          <a:xfrm>
            <a:off x="4538133"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Stored ETag and Last-Modified are sent back; the same bytes at a new URL are not announced as new.</a:t>
            </a:r>
          </a:p>
        </p:txBody>
      </p:sp>
      <p:sp>
        <p:nvSpPr>
          <p:cNvPr id="43" name="Rounded Rectangle 42"/>
          <p:cNvSpPr/>
          <p:nvPr/>
        </p:nvSpPr>
        <p:spPr>
          <a:xfrm>
            <a:off x="7958667"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55930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635500"/>
            <a:ext cx="152400" cy="152400"/>
          </a:xfrm>
          <a:prstGeom prst="rect">
            <a:avLst/>
          </a:prstGeom>
        </p:spPr>
      </p:pic>
      <p:sp>
        <p:nvSpPr>
          <p:cNvPr id="46" name="TextBox 45"/>
          <p:cNvSpPr txBox="1"/>
          <p:nvPr/>
        </p:nvSpPr>
        <p:spPr>
          <a:xfrm>
            <a:off x="8517467"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Every request passes the SSRF guard. An unreachable site is a status for review.</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12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FIND AND EXTRACT · 04</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Data-point extraction: one engine</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Metrics and yes/no criteria run on one schema-driven engine. A new schema is a preset, not a pipeline.</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file-text-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Schema + reports</a:t>
            </a:r>
          </a:p>
          <a:p>
            <a:pPr algn="ctr">
              <a:lnSpc>
                <a:spcPct val="112500"/>
              </a:lnSpc>
              <a:spcAft>
                <a:spcPts val="0"/>
              </a:spcAft>
            </a:pPr>
            <a:r>
              <a:rPr sz="1200" b="0">
                <a:solidFill>
                  <a:srgbClr val="475569"/>
                </a:solidFill>
                <a:latin typeface="IBM Plex Sans"/>
              </a:rPr>
              <a:t>Fields with meaning, unit, edge cases, keywords</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0F172A"/>
          </a:solidFill>
          <a:ln>
            <a:noFill/>
          </a:ln>
          <a:effectLst/>
        </p:spPr>
        <p:txBody>
          <a:bodyPr rtlCol="0" anchor="ctr"/>
          <a:lstStyle/>
          <a:p>
            <a:pPr algn="ctr"/>
          </a:p>
        </p:txBody>
      </p:sp>
      <p:pic>
        <p:nvPicPr>
          <p:cNvPr id="11" name="Picture 10" descr="text-search-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Select evidence</a:t>
            </a:r>
          </a:p>
          <a:p>
            <a:pPr algn="ctr">
              <a:lnSpc>
                <a:spcPct val="112500"/>
              </a:lnSpc>
              <a:spcAft>
                <a:spcPts val="0"/>
              </a:spcAft>
            </a:pPr>
            <a:r>
              <a:rPr sz="1200" b="0">
                <a:solidFill>
                  <a:srgbClr val="475569"/>
                </a:solidFill>
                <a:latin typeface="IBM Plex Sans"/>
              </a:rPr>
              <a:t>BM25 + embeddings, optional rerank</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16A34A"/>
          </a:solidFill>
          <a:ln>
            <a:noFill/>
          </a:ln>
          <a:effectLst/>
        </p:spPr>
        <p:txBody>
          <a:bodyPr rtlCol="0" anchor="ctr"/>
          <a:lstStyle/>
          <a:p>
            <a:pPr algn="ctr"/>
          </a:p>
        </p:txBody>
      </p:sp>
      <p:pic>
        <p:nvPicPr>
          <p:cNvPr id="16" name="Picture 15" descr="scan-text-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Extract</a:t>
            </a:r>
          </a:p>
          <a:p>
            <a:pPr algn="ctr">
              <a:lnSpc>
                <a:spcPct val="112500"/>
              </a:lnSpc>
              <a:spcAft>
                <a:spcPts val="0"/>
              </a:spcAft>
            </a:pPr>
            <a:r>
              <a:rPr sz="1200" b="0">
                <a:solidFill>
                  <a:srgbClr val="475569"/>
                </a:solidFill>
                <a:latin typeface="IBM Plex Sans"/>
              </a:rPr>
              <a:t>Schema-forced output, retry when invalid</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16A34A"/>
          </a:solidFill>
          <a:ln>
            <a:noFill/>
          </a:ln>
          <a:effectLst/>
        </p:spPr>
        <p:txBody>
          <a:bodyPr rtlCol="0" anchor="ctr"/>
          <a:lstStyle/>
          <a:p>
            <a:pPr algn="ctr"/>
          </a:p>
        </p:txBody>
      </p:sp>
      <p:pic>
        <p:nvPicPr>
          <p:cNvPr id="21" name="Picture 20" descr="scan-eye-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Verify</a:t>
            </a:r>
          </a:p>
          <a:p>
            <a:pPr algn="ctr">
              <a:lnSpc>
                <a:spcPct val="112500"/>
              </a:lnSpc>
              <a:spcAft>
                <a:spcPts val="0"/>
              </a:spcAft>
            </a:pPr>
            <a:r>
              <a:rPr sz="1200" b="0">
                <a:solidFill>
                  <a:srgbClr val="475569"/>
                </a:solidFill>
                <a:latin typeface="IBM Plex Sans"/>
              </a:rPr>
              <a:t>A blind second extraction on a different model</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0F172A"/>
          </a:solidFill>
          <a:ln>
            <a:noFill/>
          </a:ln>
          <a:effectLst/>
        </p:spPr>
        <p:txBody>
          <a:bodyPr rtlCol="0" anchor="ctr"/>
          <a:lstStyle/>
          <a:p>
            <a:pPr algn="ctr"/>
          </a:p>
        </p:txBody>
      </p:sp>
      <p:pic>
        <p:nvPicPr>
          <p:cNvPr id="26" name="Picture 25" descr="quote-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Ground + check</a:t>
            </a:r>
          </a:p>
          <a:p>
            <a:pPr algn="ctr">
              <a:lnSpc>
                <a:spcPct val="112500"/>
              </a:lnSpc>
              <a:spcAft>
                <a:spcPts val="0"/>
              </a:spcAft>
            </a:pPr>
            <a:r>
              <a:rPr sz="1200" b="0">
                <a:solidFill>
                  <a:srgbClr val="475569"/>
                </a:solidFill>
                <a:latin typeface="IBM Plex Sans"/>
              </a:rPr>
              <a:t>Quote found in the source; number, unit, period</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2563EB"/>
          </a:solidFill>
          <a:ln>
            <a:noFill/>
          </a:ln>
          <a:effectLst/>
        </p:spPr>
        <p:txBody>
          <a:bodyPr rtlCol="0" anchor="ctr"/>
          <a:lstStyle/>
          <a:p>
            <a:pPr algn="ctr"/>
          </a:p>
        </p:txBody>
      </p:sp>
      <p:pic>
        <p:nvPicPr>
          <p:cNvPr id="31" name="Picture 30" descr="user-check-FFFFFF.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Review</a:t>
            </a:r>
          </a:p>
          <a:p>
            <a:pPr algn="ctr">
              <a:lnSpc>
                <a:spcPct val="112500"/>
              </a:lnSpc>
              <a:spcAft>
                <a:spcPts val="0"/>
              </a:spcAft>
            </a:pPr>
            <a:r>
              <a:rPr sz="1200" b="0">
                <a:solidFill>
                  <a:srgbClr val="475569"/>
                </a:solidFill>
                <a:latin typeface="IBM Plex Sans"/>
              </a:rPr>
              <a:t>Whatever is not auto-accepted, span boxed on the page</a:t>
            </a:r>
          </a:p>
        </p:txBody>
      </p:sp>
      <p:sp>
        <p:nvSpPr>
          <p:cNvPr id="33" name="Rounded Rectangle 32"/>
          <p:cNvSpPr/>
          <p:nvPr/>
        </p:nvSpPr>
        <p:spPr>
          <a:xfrm>
            <a:off x="812800"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559300"/>
            <a:ext cx="304800" cy="304800"/>
          </a:xfrm>
          <a:prstGeom prst="ellipse">
            <a:avLst/>
          </a:prstGeom>
          <a:solidFill>
            <a:srgbClr val="F1F5F9"/>
          </a:solidFill>
          <a:ln>
            <a:noFill/>
          </a:ln>
          <a:effectLst/>
        </p:spPr>
        <p:txBody>
          <a:bodyPr rtlCol="0" anchor="ctr"/>
          <a:lstStyle/>
          <a:p>
            <a:pPr algn="ctr"/>
          </a:p>
        </p:txBody>
      </p:sp>
      <p:pic>
        <p:nvPicPr>
          <p:cNvPr id="35" name="Picture 34" descr="circle-check-big-0F172A.png"/>
          <p:cNvPicPr>
            <a:picLocks noChangeAspect="1"/>
          </p:cNvPicPr>
          <p:nvPr/>
        </p:nvPicPr>
        <p:blipFill>
          <a:blip r:embed="rId9"/>
          <a:stretch>
            <a:fillRect/>
          </a:stretch>
        </p:blipFill>
        <p:spPr>
          <a:xfrm>
            <a:off x="1041400" y="4635500"/>
            <a:ext cx="152400" cy="152400"/>
          </a:xfrm>
          <a:prstGeom prst="rect">
            <a:avLst/>
          </a:prstGeom>
        </p:spPr>
      </p:pic>
      <p:sp>
        <p:nvSpPr>
          <p:cNvPr id="36" name="TextBox 35"/>
          <p:cNvSpPr txBox="1"/>
          <p:nvPr/>
        </p:nvSpPr>
        <p:spPr>
          <a:xfrm>
            <a:off x="1371600"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AUTO-ACCEPT ONLY IF</a:t>
            </a:r>
          </a:p>
        </p:txBody>
      </p:sp>
      <p:sp>
        <p:nvSpPr>
          <p:cNvPr id="37" name="TextBox 36"/>
          <p:cNvSpPr txBox="1"/>
          <p:nvPr/>
        </p:nvSpPr>
        <p:spPr>
          <a:xfrm>
            <a:off x="965200"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The quote is grounded, the number is in it, the checks pass and the verifier agrees.</a:t>
            </a:r>
          </a:p>
        </p:txBody>
      </p:sp>
      <p:sp>
        <p:nvSpPr>
          <p:cNvPr id="38" name="Rounded Rectangle 37"/>
          <p:cNvSpPr/>
          <p:nvPr/>
        </p:nvSpPr>
        <p:spPr>
          <a:xfrm>
            <a:off x="4385733"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559300"/>
            <a:ext cx="304800" cy="304800"/>
          </a:xfrm>
          <a:prstGeom prst="ellipse">
            <a:avLst/>
          </a:prstGeom>
          <a:solidFill>
            <a:srgbClr val="F1F5F9"/>
          </a:solidFill>
          <a:ln>
            <a:noFill/>
          </a:ln>
          <a:effectLst/>
        </p:spPr>
        <p:txBody>
          <a:bodyPr rtlCol="0" anchor="ctr"/>
          <a:lstStyle/>
          <a:p>
            <a:pPr algn="ctr"/>
          </a:p>
        </p:txBody>
      </p:sp>
      <p:pic>
        <p:nvPicPr>
          <p:cNvPr id="40" name="Picture 39" descr="search-x-0F172A.png"/>
          <p:cNvPicPr>
            <a:picLocks noChangeAspect="1"/>
          </p:cNvPicPr>
          <p:nvPr/>
        </p:nvPicPr>
        <p:blipFill>
          <a:blip r:embed="rId10"/>
          <a:stretch>
            <a:fillRect/>
          </a:stretch>
        </p:blipFill>
        <p:spPr>
          <a:xfrm>
            <a:off x="4614333" y="4635500"/>
            <a:ext cx="152400" cy="152400"/>
          </a:xfrm>
          <a:prstGeom prst="rect">
            <a:avLst/>
          </a:prstGeom>
        </p:spPr>
      </p:pic>
      <p:sp>
        <p:nvSpPr>
          <p:cNvPr id="41" name="TextBox 40"/>
          <p:cNvSpPr txBox="1"/>
          <p:nvPr/>
        </p:nvSpPr>
        <p:spPr>
          <a:xfrm>
            <a:off x="4944533"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NOT FOUND IS AN ANSWER</a:t>
            </a:r>
          </a:p>
        </p:txBody>
      </p:sp>
      <p:sp>
        <p:nvSpPr>
          <p:cNvPr id="42" name="TextBox 41"/>
          <p:cNvSpPr txBox="1"/>
          <p:nvPr/>
        </p:nvSpPr>
        <p:spPr>
          <a:xfrm>
            <a:off x="4538133"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No evidence ends in an explicit 'not found': never a silent NA, never a guess.</a:t>
            </a:r>
          </a:p>
        </p:txBody>
      </p:sp>
      <p:sp>
        <p:nvSpPr>
          <p:cNvPr id="43" name="Rounded Rectangle 42"/>
          <p:cNvSpPr/>
          <p:nvPr/>
        </p:nvSpPr>
        <p:spPr>
          <a:xfrm>
            <a:off x="7958667"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55930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635500"/>
            <a:ext cx="152400" cy="152400"/>
          </a:xfrm>
          <a:prstGeom prst="rect">
            <a:avLst/>
          </a:prstGeom>
        </p:spPr>
      </p:pic>
      <p:sp>
        <p:nvSpPr>
          <p:cNvPr id="46" name="TextBox 45"/>
          <p:cNvSpPr txBox="1"/>
          <p:nvPr/>
        </p:nvSpPr>
        <p:spPr>
          <a:xfrm>
            <a:off x="8517467"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Schema rules flag contradictions without changing the answer. A golden set gates prompt changes.</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13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FIND AND EXTRACT · 05</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Financials and XBRL facts</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Segments, capex and R&amp;D in one verified pass; filed XBRL facts kept as filed, for SEC and EU ESEF filers.</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building-2-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Company</a:t>
            </a:r>
          </a:p>
          <a:p>
            <a:pPr algn="ctr">
              <a:lnSpc>
                <a:spcPct val="112500"/>
              </a:lnSpc>
              <a:spcAft>
                <a:spcPts val="0"/>
              </a:spcAft>
            </a:pPr>
            <a:r>
              <a:rPr sz="1200" b="0">
                <a:solidFill>
                  <a:srgbClr val="475569"/>
                </a:solidFill>
                <a:latin typeface="IBM Plex Sans"/>
              </a:rPr>
              <a:t>CIK or LEI, routed to the SEC or ESEF</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0F172A"/>
          </a:solidFill>
          <a:ln>
            <a:noFill/>
          </a:ln>
          <a:effectLst/>
        </p:spPr>
        <p:txBody>
          <a:bodyPr rtlCol="0" anchor="ctr"/>
          <a:lstStyle/>
          <a:p>
            <a:pPr algn="ctr"/>
          </a:p>
        </p:txBody>
      </p:sp>
      <p:pic>
        <p:nvPicPr>
          <p:cNvPr id="11" name="Picture 10" descr="file-spreadsheet-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Filed facts</a:t>
            </a:r>
          </a:p>
          <a:p>
            <a:pPr algn="ctr">
              <a:lnSpc>
                <a:spcPct val="112500"/>
              </a:lnSpc>
              <a:spcAft>
                <a:spcPts val="0"/>
              </a:spcAft>
            </a:pPr>
            <a:r>
              <a:rPr sz="1200" b="0">
                <a:solidFill>
                  <a:srgbClr val="475569"/>
                </a:solidFill>
                <a:latin typeface="IBM Plex Sans"/>
              </a:rPr>
              <a:t>SEC companyfacts or ESEF xBRL-JSON, as filed</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16A34A"/>
          </a:solidFill>
          <a:ln>
            <a:noFill/>
          </a:ln>
          <a:effectLst/>
        </p:spPr>
        <p:txBody>
          <a:bodyPr rtlCol="0" anchor="ctr"/>
          <a:lstStyle/>
          <a:p>
            <a:pPr algn="ctr"/>
          </a:p>
        </p:txBody>
      </p:sp>
      <p:pic>
        <p:nvPicPr>
          <p:cNvPr id="16" name="Picture 15" descr="layers-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Combined pass</a:t>
            </a:r>
          </a:p>
          <a:p>
            <a:pPr algn="ctr">
              <a:lnSpc>
                <a:spcPct val="112500"/>
              </a:lnSpc>
              <a:spcAft>
                <a:spcPts val="0"/>
              </a:spcAft>
            </a:pPr>
            <a:r>
              <a:rPr sz="1200" b="0">
                <a:solidFill>
                  <a:srgbClr val="475569"/>
                </a:solidFill>
                <a:latin typeface="IBM Plex Sans"/>
              </a:rPr>
              <a:t>Segments, capex, R&amp;D; extractor and verifier</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0F172A"/>
          </a:solidFill>
          <a:ln>
            <a:noFill/>
          </a:ln>
          <a:effectLst/>
        </p:spPr>
        <p:txBody>
          <a:bodyPr rtlCol="0" anchor="ctr"/>
          <a:lstStyle/>
          <a:p>
            <a:pPr algn="ctr"/>
          </a:p>
        </p:txBody>
      </p:sp>
      <p:pic>
        <p:nvPicPr>
          <p:cNvPr id="21" name="Picture 20" descr="layers-FFFFFF.png"/>
          <p:cNvPicPr>
            <a:picLocks noChangeAspect="1"/>
          </p:cNvPicPr>
          <p:nvPr/>
        </p:nvPicPr>
        <p:blipFill>
          <a:blip r:embed="rId5"/>
          <a:stretch>
            <a:fillRect/>
          </a:stretch>
        </p:blipFill>
        <p:spPr>
          <a:xfrm>
            <a:off x="6849533" y="2254250"/>
            <a:ext cx="254000" cy="254000"/>
          </a:xfrm>
          <a:prstGeom prst="rect">
            <a:avLst/>
          </a:prstGeom>
        </p:spPr>
      </p:pic>
      <p:sp>
        <p:nvSpPr>
          <p:cNvPr id="22" name="TextBox 21"/>
          <p:cNvSpPr txBox="1"/>
          <p:nvPr/>
        </p:nvSpPr>
        <p:spPr>
          <a:xfrm>
            <a:off x="61722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XBRL overlay</a:t>
            </a:r>
          </a:p>
          <a:p>
            <a:pPr algn="ctr">
              <a:lnSpc>
                <a:spcPct val="112500"/>
              </a:lnSpc>
              <a:spcAft>
                <a:spcPts val="0"/>
              </a:spcAft>
            </a:pPr>
            <a:r>
              <a:rPr sz="1200" b="0">
                <a:solidFill>
                  <a:srgbClr val="475569"/>
                </a:solidFill>
                <a:latin typeface="IBM Plex Sans"/>
              </a:rPr>
              <a:t>Tagged totals replace a read of the prose</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0F172A"/>
          </a:solidFill>
          <a:ln>
            <a:noFill/>
          </a:ln>
          <a:effectLst/>
        </p:spPr>
        <p:txBody>
          <a:bodyPr rtlCol="0" anchor="ctr"/>
          <a:lstStyle/>
          <a:p>
            <a:pPr algn="ctr"/>
          </a:p>
        </p:txBody>
      </p:sp>
      <p:pic>
        <p:nvPicPr>
          <p:cNvPr id="26" name="Picture 25" descr="shield-check-FFFFFF.png"/>
          <p:cNvPicPr>
            <a:picLocks noChangeAspect="1"/>
          </p:cNvPicPr>
          <p:nvPr/>
        </p:nvPicPr>
        <p:blipFill>
          <a:blip r:embed="rId6"/>
          <a:stretch>
            <a:fillRect/>
          </a:stretch>
        </p:blipFill>
        <p:spPr>
          <a:xfrm>
            <a:off x="8610600" y="2254250"/>
            <a:ext cx="254000" cy="254000"/>
          </a:xfrm>
          <a:prstGeom prst="rect">
            <a:avLst/>
          </a:prstGeom>
        </p:spPr>
      </p:pic>
      <p:sp>
        <p:nvSpPr>
          <p:cNvPr id="27" name="TextBox 26"/>
          <p:cNvSpPr txBox="1"/>
          <p:nvPr/>
        </p:nvSpPr>
        <p:spPr>
          <a:xfrm>
            <a:off x="79332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Verify a run</a:t>
            </a:r>
          </a:p>
          <a:p>
            <a:pPr algn="ctr">
              <a:lnSpc>
                <a:spcPct val="112500"/>
              </a:lnSpc>
              <a:spcAft>
                <a:spcPts val="0"/>
              </a:spcAft>
            </a:pPr>
            <a:r>
              <a:rPr sz="1200" b="0">
                <a:solidFill>
                  <a:srgbClr val="475569"/>
                </a:solidFill>
                <a:latin typeface="IBM Plex Sans"/>
              </a:rPr>
              <a:t>Extracted values against the tagged values</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notebook-pen-475569.png"/>
          <p:cNvPicPr>
            <a:picLocks noChangeAspect="1"/>
          </p:cNvPicPr>
          <p:nvPr/>
        </p:nvPicPr>
        <p:blipFill>
          <a:blip r:embed="rId7"/>
          <a:stretch>
            <a:fillRect/>
          </a:stretch>
        </p:blipFill>
        <p:spPr>
          <a:xfrm>
            <a:off x="10371667" y="2254250"/>
            <a:ext cx="254000" cy="254000"/>
          </a:xfrm>
          <a:prstGeom prst="rect">
            <a:avLst/>
          </a:prstGeom>
        </p:spPr>
      </p:pic>
      <p:sp>
        <p:nvSpPr>
          <p:cNvPr id="32" name="TextBox 31"/>
          <p:cNvSpPr txBox="1"/>
          <p:nvPr/>
        </p:nvSpPr>
        <p:spPr>
          <a:xfrm>
            <a:off x="96943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Record</a:t>
            </a:r>
          </a:p>
          <a:p>
            <a:pPr algn="ctr">
              <a:lnSpc>
                <a:spcPct val="112500"/>
              </a:lnSpc>
              <a:spcAft>
                <a:spcPts val="0"/>
              </a:spcAft>
            </a:pPr>
            <a:r>
              <a:rPr sz="1200" b="0">
                <a:solidFill>
                  <a:srgbClr val="475569"/>
                </a:solidFill>
                <a:latin typeface="IBM Plex Sans"/>
              </a:rPr>
              <a:t>Per-section review flags, citations, provenance</a:t>
            </a:r>
          </a:p>
        </p:txBody>
      </p:sp>
      <p:sp>
        <p:nvSpPr>
          <p:cNvPr id="33" name="Rounded Rectangle 32"/>
          <p:cNvSpPr/>
          <p:nvPr/>
        </p:nvSpPr>
        <p:spPr>
          <a:xfrm>
            <a:off x="812800" y="4184650"/>
            <a:ext cx="3420533" cy="1612900"/>
          </a:xfrm>
          <a:prstGeom prst="roundRect">
            <a:avLst>
              <a:gd name="adj" fmla="val 6299"/>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337050"/>
            <a:ext cx="304800" cy="304800"/>
          </a:xfrm>
          <a:prstGeom prst="ellipse">
            <a:avLst/>
          </a:prstGeom>
          <a:solidFill>
            <a:srgbClr val="F1F5F9"/>
          </a:solidFill>
          <a:ln>
            <a:noFill/>
          </a:ln>
          <a:effectLst/>
        </p:spPr>
        <p:txBody>
          <a:bodyPr rtlCol="0" anchor="ctr"/>
          <a:lstStyle/>
          <a:p>
            <a:pPr algn="ctr"/>
          </a:p>
        </p:txBody>
      </p:sp>
      <p:pic>
        <p:nvPicPr>
          <p:cNvPr id="35" name="Picture 34" descr="combine-0F172A.png"/>
          <p:cNvPicPr>
            <a:picLocks noChangeAspect="1"/>
          </p:cNvPicPr>
          <p:nvPr/>
        </p:nvPicPr>
        <p:blipFill>
          <a:blip r:embed="rId8"/>
          <a:stretch>
            <a:fillRect/>
          </a:stretch>
        </p:blipFill>
        <p:spPr>
          <a:xfrm>
            <a:off x="1041400" y="4413250"/>
            <a:ext cx="152400" cy="152400"/>
          </a:xfrm>
          <a:prstGeom prst="rect">
            <a:avLst/>
          </a:prstGeom>
        </p:spPr>
      </p:pic>
      <p:sp>
        <p:nvSpPr>
          <p:cNvPr id="36" name="TextBox 35"/>
          <p:cNvSpPr txBox="1"/>
          <p:nvPr/>
        </p:nvSpPr>
        <p:spPr>
          <a:xfrm>
            <a:off x="1371600"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WHY COMBINED</a:t>
            </a:r>
          </a:p>
        </p:txBody>
      </p:sp>
      <p:sp>
        <p:nvSpPr>
          <p:cNvPr id="37" name="TextBox 36"/>
          <p:cNvSpPr txBox="1"/>
          <p:nvPr/>
        </p:nvSpPr>
        <p:spPr>
          <a:xfrm>
            <a:off x="965200" y="4718050"/>
            <a:ext cx="3115733"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Three things almost always wanted together: one fetch and one evidence step instead of three.</a:t>
            </a:r>
          </a:p>
        </p:txBody>
      </p:sp>
      <p:sp>
        <p:nvSpPr>
          <p:cNvPr id="38" name="Rounded Rectangle 37"/>
          <p:cNvSpPr/>
          <p:nvPr/>
        </p:nvSpPr>
        <p:spPr>
          <a:xfrm>
            <a:off x="4385733" y="4184650"/>
            <a:ext cx="3420533" cy="1612900"/>
          </a:xfrm>
          <a:prstGeom prst="roundRect">
            <a:avLst>
              <a:gd name="adj" fmla="val 6299"/>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337050"/>
            <a:ext cx="304800" cy="304800"/>
          </a:xfrm>
          <a:prstGeom prst="ellipse">
            <a:avLst/>
          </a:prstGeom>
          <a:solidFill>
            <a:srgbClr val="F1F5F9"/>
          </a:solidFill>
          <a:ln>
            <a:noFill/>
          </a:ln>
          <a:effectLst/>
        </p:spPr>
        <p:txBody>
          <a:bodyPr rtlCol="0" anchor="ctr"/>
          <a:lstStyle/>
          <a:p>
            <a:pPr algn="ctr"/>
          </a:p>
        </p:txBody>
      </p:sp>
      <p:pic>
        <p:nvPicPr>
          <p:cNvPr id="40" name="Picture 39" descr="file-spreadsheet-0F172A.png"/>
          <p:cNvPicPr>
            <a:picLocks noChangeAspect="1"/>
          </p:cNvPicPr>
          <p:nvPr/>
        </p:nvPicPr>
        <p:blipFill>
          <a:blip r:embed="rId9"/>
          <a:stretch>
            <a:fillRect/>
          </a:stretch>
        </p:blipFill>
        <p:spPr>
          <a:xfrm>
            <a:off x="4614333" y="4413250"/>
            <a:ext cx="152400" cy="152400"/>
          </a:xfrm>
          <a:prstGeom prst="rect">
            <a:avLst/>
          </a:prstGeom>
        </p:spPr>
      </p:pic>
      <p:sp>
        <p:nvSpPr>
          <p:cNvPr id="41" name="TextBox 40"/>
          <p:cNvSpPr txBox="1"/>
          <p:nvPr/>
        </p:nvSpPr>
        <p:spPr>
          <a:xfrm>
            <a:off x="4944533"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XBRL FACTS</a:t>
            </a:r>
          </a:p>
        </p:txBody>
      </p:sp>
      <p:sp>
        <p:nvSpPr>
          <p:cNvPr id="42" name="TextBox 41"/>
          <p:cNvSpPr txBox="1"/>
          <p:nvPr/>
        </p:nvSpPr>
        <p:spPr>
          <a:xfrm>
            <a:off x="4538133" y="4718050"/>
            <a:ext cx="3115733"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Every tagged fact across us-gaap, ifrs-full, dei and esrs; no filing means no_source.</a:t>
            </a:r>
          </a:p>
        </p:txBody>
      </p:sp>
      <p:sp>
        <p:nvSpPr>
          <p:cNvPr id="43" name="Rounded Rectangle 42"/>
          <p:cNvSpPr/>
          <p:nvPr/>
        </p:nvSpPr>
        <p:spPr>
          <a:xfrm>
            <a:off x="7958667" y="4184650"/>
            <a:ext cx="3420533" cy="1612900"/>
          </a:xfrm>
          <a:prstGeom prst="roundRect">
            <a:avLst>
              <a:gd name="adj" fmla="val 6299"/>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33705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0"/>
          <a:stretch>
            <a:fillRect/>
          </a:stretch>
        </p:blipFill>
        <p:spPr>
          <a:xfrm>
            <a:off x="8187267" y="4413250"/>
            <a:ext cx="152400" cy="152400"/>
          </a:xfrm>
          <a:prstGeom prst="rect">
            <a:avLst/>
          </a:prstGeom>
        </p:spPr>
      </p:pic>
      <p:sp>
        <p:nvSpPr>
          <p:cNvPr id="46" name="TextBox 45"/>
          <p:cNvSpPr txBox="1"/>
          <p:nvPr/>
        </p:nvSpPr>
        <p:spPr>
          <a:xfrm>
            <a:off x="8517467"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718050"/>
            <a:ext cx="3115733" cy="92710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An undisclosed figure stays null, never derived from a total. XBRL replaces the number, not the narrative.</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14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FIND AND EXTRACT · 06</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Thematic universe</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A ratified taxonomy of activities, then a cascade that settles each company and activity cheaply.</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lightbulb-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Theme</a:t>
            </a:r>
          </a:p>
          <a:p>
            <a:pPr algn="ctr">
              <a:lnSpc>
                <a:spcPct val="112500"/>
              </a:lnSpc>
              <a:spcAft>
                <a:spcPts val="0"/>
              </a:spcAft>
            </a:pPr>
            <a:r>
              <a:rPr sz="1200" b="0">
                <a:solidFill>
                  <a:srgbClr val="475569"/>
                </a:solidFill>
                <a:latin typeface="IBM Plex Sans"/>
              </a:rPr>
              <a:t>A macro theme or a promoted candidate</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2563EB"/>
          </a:solidFill>
          <a:ln>
            <a:noFill/>
          </a:ln>
          <a:effectLst/>
        </p:spPr>
        <p:txBody>
          <a:bodyPr rtlCol="0" anchor="ctr"/>
          <a:lstStyle/>
          <a:p>
            <a:pPr algn="ctr"/>
          </a:p>
        </p:txBody>
      </p:sp>
      <p:pic>
        <p:nvPicPr>
          <p:cNvPr id="11" name="Picture 10" descr="network-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Taxonomy</a:t>
            </a:r>
          </a:p>
          <a:p>
            <a:pPr algn="ctr">
              <a:lnSpc>
                <a:spcPct val="112500"/>
              </a:lnSpc>
              <a:spcAft>
                <a:spcPts val="0"/>
              </a:spcAft>
            </a:pPr>
            <a:r>
              <a:rPr sz="1200" b="0">
                <a:solidFill>
                  <a:srgbClr val="475569"/>
                </a:solidFill>
                <a:latin typeface="IBM Plex Sans"/>
              </a:rPr>
              <a:t>Versioned activities, ratified by a person</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0F172A"/>
          </a:solidFill>
          <a:ln>
            <a:noFill/>
          </a:ln>
          <a:effectLst/>
        </p:spPr>
        <p:txBody>
          <a:bodyPr rtlCol="0" anchor="ctr"/>
          <a:lstStyle/>
          <a:p>
            <a:pPr algn="ctr"/>
          </a:p>
        </p:txBody>
      </p:sp>
      <p:pic>
        <p:nvPicPr>
          <p:cNvPr id="16" name="Picture 15" descr="table-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Catalogue</a:t>
            </a:r>
          </a:p>
          <a:p>
            <a:pPr algn="ctr">
              <a:lnSpc>
                <a:spcPct val="112500"/>
              </a:lnSpc>
              <a:spcAft>
                <a:spcPts val="0"/>
              </a:spcAft>
            </a:pPr>
            <a:r>
              <a:rPr sz="1200" b="0">
                <a:solidFill>
                  <a:srgbClr val="475569"/>
                </a:solidFill>
                <a:latin typeface="IBM Plex Sans"/>
              </a:rPr>
              <a:t>A confirmed revenue mapping; arithmetic only</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16A34A"/>
          </a:solidFill>
          <a:ln>
            <a:noFill/>
          </a:ln>
          <a:effectLst/>
        </p:spPr>
        <p:txBody>
          <a:bodyPr rtlCol="0" anchor="ctr"/>
          <a:lstStyle/>
          <a:p>
            <a:pPr algn="ctr"/>
          </a:p>
        </p:txBody>
      </p:sp>
      <p:pic>
        <p:nvPicPr>
          <p:cNvPr id="21" name="Picture 20" descr="scan-text-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Extraction</a:t>
            </a:r>
          </a:p>
          <a:p>
            <a:pPr algn="ctr">
              <a:lnSpc>
                <a:spcPct val="112500"/>
              </a:lnSpc>
              <a:spcAft>
                <a:spcPts val="0"/>
              </a:spcAft>
            </a:pPr>
            <a:r>
              <a:rPr sz="1200" b="0">
                <a:solidFill>
                  <a:srgbClr val="475569"/>
                </a:solidFill>
                <a:latin typeface="IBM Plex Sans"/>
              </a:rPr>
              <a:t>Generated schema: revenue, capex, opex, R&amp;D %</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16A34A"/>
          </a:solidFill>
          <a:ln>
            <a:noFill/>
          </a:ln>
          <a:effectLst/>
        </p:spPr>
        <p:txBody>
          <a:bodyPr rtlCol="0" anchor="ctr"/>
          <a:lstStyle/>
          <a:p>
            <a:pPr algn="ctr"/>
          </a:p>
        </p:txBody>
      </p:sp>
      <p:pic>
        <p:nvPicPr>
          <p:cNvPr id="26" name="Picture 25" descr="messages-square-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Debate</a:t>
            </a:r>
          </a:p>
          <a:p>
            <a:pPr algn="ctr">
              <a:lnSpc>
                <a:spcPct val="112500"/>
              </a:lnSpc>
              <a:spcAft>
                <a:spcPts val="0"/>
              </a:spcAft>
            </a:pPr>
            <a:r>
              <a:rPr sz="1200" b="0">
                <a:solidFill>
                  <a:srgbClr val="475569"/>
                </a:solidFill>
                <a:latin typeface="IBM Plex Sans"/>
              </a:rPr>
              <a:t>Advocate, Opposing, Adjudicator, as a last resort</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gauge-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Exposure</a:t>
            </a:r>
          </a:p>
          <a:p>
            <a:pPr algn="ctr">
              <a:lnSpc>
                <a:spcPct val="112500"/>
              </a:lnSpc>
              <a:spcAft>
                <a:spcPts val="0"/>
              </a:spcAft>
            </a:pPr>
            <a:r>
              <a:rPr sz="1200" b="0">
                <a:solidFill>
                  <a:srgbClr val="475569"/>
                </a:solidFill>
                <a:latin typeface="IBM Plex Sans"/>
              </a:rPr>
              <a:t>Pure play, significant, minor or none</a:t>
            </a:r>
          </a:p>
        </p:txBody>
      </p:sp>
      <p:sp>
        <p:nvSpPr>
          <p:cNvPr id="33" name="Rounded Rectangle 32"/>
          <p:cNvSpPr/>
          <p:nvPr/>
        </p:nvSpPr>
        <p:spPr>
          <a:xfrm>
            <a:off x="812800"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559300"/>
            <a:ext cx="304800" cy="304800"/>
          </a:xfrm>
          <a:prstGeom prst="ellipse">
            <a:avLst/>
          </a:prstGeom>
          <a:solidFill>
            <a:srgbClr val="F1F5F9"/>
          </a:solidFill>
          <a:ln>
            <a:noFill/>
          </a:ln>
          <a:effectLst/>
        </p:spPr>
        <p:txBody>
          <a:bodyPr rtlCol="0" anchor="ctr"/>
          <a:lstStyle/>
          <a:p>
            <a:pPr algn="ctr"/>
          </a:p>
        </p:txBody>
      </p:sp>
      <p:pic>
        <p:nvPicPr>
          <p:cNvPr id="35" name="Picture 34" descr="lock-0F172A.png"/>
          <p:cNvPicPr>
            <a:picLocks noChangeAspect="1"/>
          </p:cNvPicPr>
          <p:nvPr/>
        </p:nvPicPr>
        <p:blipFill>
          <a:blip r:embed="rId9"/>
          <a:stretch>
            <a:fillRect/>
          </a:stretch>
        </p:blipFill>
        <p:spPr>
          <a:xfrm>
            <a:off x="1041400" y="4635500"/>
            <a:ext cx="152400" cy="152400"/>
          </a:xfrm>
          <a:prstGeom prst="rect">
            <a:avLst/>
          </a:prstGeom>
        </p:spPr>
      </p:pic>
      <p:sp>
        <p:nvSpPr>
          <p:cNvPr id="36" name="TextBox 35"/>
          <p:cNvSpPr txBox="1"/>
          <p:nvPr/>
        </p:nvSpPr>
        <p:spPr>
          <a:xfrm>
            <a:off x="1371600"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GATE</a:t>
            </a:r>
          </a:p>
        </p:txBody>
      </p:sp>
      <p:sp>
        <p:nvSpPr>
          <p:cNvPr id="37" name="TextBox 36"/>
          <p:cNvSpPr txBox="1"/>
          <p:nvPr/>
        </p:nvSpPr>
        <p:spPr>
          <a:xfrm>
            <a:off x="965200"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 theme run is refused unless its taxonomy version is ratified and its generated schema released.</a:t>
            </a:r>
          </a:p>
        </p:txBody>
      </p:sp>
      <p:sp>
        <p:nvSpPr>
          <p:cNvPr id="38" name="Rounded Rectangle 37"/>
          <p:cNvSpPr/>
          <p:nvPr/>
        </p:nvSpPr>
        <p:spPr>
          <a:xfrm>
            <a:off x="4385733"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559300"/>
            <a:ext cx="304800" cy="304800"/>
          </a:xfrm>
          <a:prstGeom prst="ellipse">
            <a:avLst/>
          </a:prstGeom>
          <a:solidFill>
            <a:srgbClr val="F1F5F9"/>
          </a:solidFill>
          <a:ln>
            <a:noFill/>
          </a:ln>
          <a:effectLst/>
        </p:spPr>
        <p:txBody>
          <a:bodyPr rtlCol="0" anchor="ctr"/>
          <a:lstStyle/>
          <a:p>
            <a:pPr algn="ctr"/>
          </a:p>
        </p:txBody>
      </p:sp>
      <p:pic>
        <p:nvPicPr>
          <p:cNvPr id="40" name="Picture 39" descr="layers-0F172A.png"/>
          <p:cNvPicPr>
            <a:picLocks noChangeAspect="1"/>
          </p:cNvPicPr>
          <p:nvPr/>
        </p:nvPicPr>
        <p:blipFill>
          <a:blip r:embed="rId10"/>
          <a:stretch>
            <a:fillRect/>
          </a:stretch>
        </p:blipFill>
        <p:spPr>
          <a:xfrm>
            <a:off x="4614333" y="4635500"/>
            <a:ext cx="152400" cy="152400"/>
          </a:xfrm>
          <a:prstGeom prst="rect">
            <a:avLst/>
          </a:prstGeom>
        </p:spPr>
      </p:pic>
      <p:sp>
        <p:nvSpPr>
          <p:cNvPr id="41" name="TextBox 40"/>
          <p:cNvSpPr txBox="1"/>
          <p:nvPr/>
        </p:nvSpPr>
        <p:spPr>
          <a:xfrm>
            <a:off x="4944533"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EXPOSURE LAYERS</a:t>
            </a:r>
          </a:p>
        </p:txBody>
      </p:sp>
      <p:sp>
        <p:nvSpPr>
          <p:cNvPr id="42" name="TextBox 41"/>
          <p:cNvSpPr txBox="1"/>
          <p:nvPr/>
        </p:nvSpPr>
        <p:spPr>
          <a:xfrm>
            <a:off x="4538133"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Layer 1 is the company's own revenue share; layer 2 is revenue from exposed customers up the chain.</a:t>
            </a:r>
          </a:p>
        </p:txBody>
      </p:sp>
      <p:sp>
        <p:nvSpPr>
          <p:cNvPr id="43" name="Rounded Rectangle 42"/>
          <p:cNvSpPr/>
          <p:nvPr/>
        </p:nvSpPr>
        <p:spPr>
          <a:xfrm>
            <a:off x="7958667"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55930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635500"/>
            <a:ext cx="152400" cy="152400"/>
          </a:xfrm>
          <a:prstGeom prst="rect">
            <a:avLst/>
          </a:prstGeom>
        </p:spPr>
      </p:pic>
      <p:sp>
        <p:nvSpPr>
          <p:cNvPr id="46" name="TextBox 45"/>
          <p:cNvSpPr txBox="1"/>
          <p:nvPr/>
        </p:nvSpPr>
        <p:spPr>
          <a:xfrm>
            <a:off x="8517467"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 disclosed number is never second-guessed by a categorical judgment on the same question.</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15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FIND AND EXTRACT · 07</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Theme dossier: one record per theme</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Spot, define, research and find companies. Each step's state is read from the work itself.</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radar-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Spot</a:t>
            </a:r>
          </a:p>
          <a:p>
            <a:pPr algn="ctr">
              <a:lnSpc>
                <a:spcPct val="112500"/>
              </a:lnSpc>
              <a:spcAft>
                <a:spcPts val="0"/>
              </a:spcAft>
            </a:pPr>
            <a:r>
              <a:rPr sz="1200" b="0">
                <a:solidFill>
                  <a:srgbClr val="475569"/>
                </a:solidFill>
                <a:latin typeface="IBM Plex Sans"/>
              </a:rPr>
              <a:t>Candidates from EDGAR, GDELT and regulatory RSS</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16A34A"/>
          </a:solidFill>
          <a:ln>
            <a:noFill/>
          </a:ln>
          <a:effectLst/>
        </p:spPr>
        <p:txBody>
          <a:bodyPr rtlCol="0" anchor="ctr"/>
          <a:lstStyle/>
          <a:p>
            <a:pPr algn="ctr"/>
          </a:p>
        </p:txBody>
      </p:sp>
      <p:pic>
        <p:nvPicPr>
          <p:cNvPr id="11" name="Picture 10" descr="newspaper-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Context brief</a:t>
            </a:r>
          </a:p>
          <a:p>
            <a:pPr algn="ctr">
              <a:lnSpc>
                <a:spcPct val="112500"/>
              </a:lnSpc>
              <a:spcAft>
                <a:spcPts val="0"/>
              </a:spcAft>
            </a:pPr>
            <a:r>
              <a:rPr sz="1200" b="0">
                <a:solidFill>
                  <a:srgbClr val="475569"/>
                </a:solidFill>
                <a:latin typeface="IBM Plex Sans"/>
              </a:rPr>
              <a:t>Why now and early evidence; uncited lines dropped</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2563EB"/>
          </a:solidFill>
          <a:ln>
            <a:noFill/>
          </a:ln>
          <a:effectLst/>
        </p:spPr>
        <p:txBody>
          <a:bodyPr rtlCol="0" anchor="ctr"/>
          <a:lstStyle/>
          <a:p>
            <a:pPr algn="ctr"/>
          </a:p>
        </p:txBody>
      </p:sp>
      <p:pic>
        <p:nvPicPr>
          <p:cNvPr id="16" name="Picture 15" descr="user-check-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Define</a:t>
            </a:r>
          </a:p>
          <a:p>
            <a:pPr algn="ctr">
              <a:lnSpc>
                <a:spcPct val="112500"/>
              </a:lnSpc>
              <a:spcAft>
                <a:spcPts val="0"/>
              </a:spcAft>
            </a:pPr>
            <a:r>
              <a:rPr sz="1200" b="0">
                <a:solidFill>
                  <a:srgbClr val="475569"/>
                </a:solidFill>
                <a:latin typeface="IBM Plex Sans"/>
              </a:rPr>
              <a:t>A ratified taxonomy version</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2563EB"/>
          </a:solidFill>
          <a:ln>
            <a:noFill/>
          </a:ln>
          <a:effectLst/>
        </p:spPr>
        <p:txBody>
          <a:bodyPr rtlCol="0" anchor="ctr"/>
          <a:lstStyle/>
          <a:p>
            <a:pPr algn="ctr"/>
          </a:p>
        </p:txBody>
      </p:sp>
      <p:pic>
        <p:nvPicPr>
          <p:cNvPr id="21" name="Picture 20" descr="list-checks-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Source plan</a:t>
            </a:r>
          </a:p>
          <a:p>
            <a:pPr algn="ctr">
              <a:lnSpc>
                <a:spcPct val="112500"/>
              </a:lnSpc>
              <a:spcAft>
                <a:spcPts val="0"/>
              </a:spcAft>
            </a:pPr>
            <a:r>
              <a:rPr sz="1200" b="0">
                <a:solidFill>
                  <a:srgbClr val="475569"/>
                </a:solidFill>
                <a:latin typeface="IBM Plex Sans"/>
              </a:rPr>
              <a:t>Up to 12 authoritative sources, approved</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16A34A"/>
          </a:solidFill>
          <a:ln>
            <a:noFill/>
          </a:ln>
          <a:effectLst/>
        </p:spPr>
        <p:txBody>
          <a:bodyPr rtlCol="0" anchor="ctr"/>
          <a:lstStyle/>
          <a:p>
            <a:pPr algn="ctr"/>
          </a:p>
        </p:txBody>
      </p:sp>
      <p:pic>
        <p:nvPicPr>
          <p:cNvPr id="26" name="Picture 25" descr="notebook-text-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Research note</a:t>
            </a:r>
          </a:p>
          <a:p>
            <a:pPr algn="ctr">
              <a:lnSpc>
                <a:spcPct val="112500"/>
              </a:lnSpc>
              <a:spcAft>
                <a:spcPts val="0"/>
              </a:spcAft>
            </a:pPr>
            <a:r>
              <a:rPr sz="1200" b="0">
                <a:solidFill>
                  <a:srgbClr val="475569"/>
                </a:solidFill>
                <a:latin typeface="IBM Plex Sans"/>
              </a:rPr>
              <a:t>Five sections, a grounded quote per statement</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building-2-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Companies</a:t>
            </a:r>
          </a:p>
          <a:p>
            <a:pPr algn="ctr">
              <a:lnSpc>
                <a:spcPct val="112500"/>
              </a:lnSpc>
              <a:spcAft>
                <a:spcPts val="0"/>
              </a:spcAft>
            </a:pPr>
            <a:r>
              <a:rPr sz="1200" b="0">
                <a:solidFill>
                  <a:srgbClr val="475569"/>
                </a:solidFill>
                <a:latin typeface="IBM Plex Sans"/>
              </a:rPr>
              <a:t>The exposed universe, reviewed</a:t>
            </a:r>
          </a:p>
        </p:txBody>
      </p:sp>
      <p:sp>
        <p:nvSpPr>
          <p:cNvPr id="33" name="Rounded Rectangle 32"/>
          <p:cNvSpPr/>
          <p:nvPr/>
        </p:nvSpPr>
        <p:spPr>
          <a:xfrm>
            <a:off x="812800"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337050"/>
            <a:ext cx="304800" cy="304800"/>
          </a:xfrm>
          <a:prstGeom prst="ellipse">
            <a:avLst/>
          </a:prstGeom>
          <a:solidFill>
            <a:srgbClr val="F1F5F9"/>
          </a:solidFill>
          <a:ln>
            <a:noFill/>
          </a:ln>
          <a:effectLst/>
        </p:spPr>
        <p:txBody>
          <a:bodyPr rtlCol="0" anchor="ctr"/>
          <a:lstStyle/>
          <a:p>
            <a:pPr algn="ctr"/>
          </a:p>
        </p:txBody>
      </p:sp>
      <p:pic>
        <p:nvPicPr>
          <p:cNvPr id="35" name="Picture 34" descr="lock-0F172A.png"/>
          <p:cNvPicPr>
            <a:picLocks noChangeAspect="1"/>
          </p:cNvPicPr>
          <p:nvPr/>
        </p:nvPicPr>
        <p:blipFill>
          <a:blip r:embed="rId9"/>
          <a:stretch>
            <a:fillRect/>
          </a:stretch>
        </p:blipFill>
        <p:spPr>
          <a:xfrm>
            <a:off x="1041400" y="4413250"/>
            <a:ext cx="152400" cy="152400"/>
          </a:xfrm>
          <a:prstGeom prst="rect">
            <a:avLst/>
          </a:prstGeom>
        </p:spPr>
      </p:pic>
      <p:sp>
        <p:nvSpPr>
          <p:cNvPr id="36" name="TextBox 35"/>
          <p:cNvSpPr txBox="1"/>
          <p:nvPr/>
        </p:nvSpPr>
        <p:spPr>
          <a:xfrm>
            <a:off x="1371600"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PROMOTION GATE</a:t>
            </a:r>
          </a:p>
        </p:txBody>
      </p:sp>
      <p:sp>
        <p:nvSpPr>
          <p:cNvPr id="37" name="TextBox 36"/>
          <p:cNvSpPr txBox="1"/>
          <p:nvPr/>
        </p:nvSpPr>
        <p:spPr>
          <a:xfrm>
            <a:off x="965200"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Candidates are promoted on corporate action, not mention counts. Promote is the brief's only sign-off.</a:t>
            </a:r>
          </a:p>
        </p:txBody>
      </p:sp>
      <p:sp>
        <p:nvSpPr>
          <p:cNvPr id="38" name="Rounded Rectangle 37"/>
          <p:cNvSpPr/>
          <p:nvPr/>
        </p:nvSpPr>
        <p:spPr>
          <a:xfrm>
            <a:off x="4385733"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337050"/>
            <a:ext cx="304800" cy="304800"/>
          </a:xfrm>
          <a:prstGeom prst="ellipse">
            <a:avLst/>
          </a:prstGeom>
          <a:solidFill>
            <a:srgbClr val="F1F5F9"/>
          </a:solidFill>
          <a:ln>
            <a:noFill/>
          </a:ln>
          <a:effectLst/>
        </p:spPr>
        <p:txBody>
          <a:bodyPr rtlCol="0" anchor="ctr"/>
          <a:lstStyle/>
          <a:p>
            <a:pPr algn="ctr"/>
          </a:p>
        </p:txBody>
      </p:sp>
      <p:pic>
        <p:nvPicPr>
          <p:cNvPr id="40" name="Picture 39" descr="user-check-0F172A.png"/>
          <p:cNvPicPr>
            <a:picLocks noChangeAspect="1"/>
          </p:cNvPicPr>
          <p:nvPr/>
        </p:nvPicPr>
        <p:blipFill>
          <a:blip r:embed="rId10"/>
          <a:stretch>
            <a:fillRect/>
          </a:stretch>
        </p:blipFill>
        <p:spPr>
          <a:xfrm>
            <a:off x="4614333" y="4413250"/>
            <a:ext cx="152400" cy="152400"/>
          </a:xfrm>
          <a:prstGeom prst="rect">
            <a:avLst/>
          </a:prstGeom>
        </p:spPr>
      </p:pic>
      <p:sp>
        <p:nvSpPr>
          <p:cNvPr id="41" name="TextBox 40"/>
          <p:cNvSpPr txBox="1"/>
          <p:nvPr/>
        </p:nvSpPr>
        <p:spPr>
          <a:xfrm>
            <a:off x="4944533"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APPROVALS</a:t>
            </a:r>
          </a:p>
        </p:txBody>
      </p:sp>
      <p:sp>
        <p:nvSpPr>
          <p:cNvPr id="42" name="TextBox 41"/>
          <p:cNvSpPr txBox="1"/>
          <p:nvPr/>
        </p:nvSpPr>
        <p:spPr>
          <a:xfrm>
            <a:off x="4538133"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The owner approves the source plan, then the note; the note uses approved sources only.</a:t>
            </a:r>
          </a:p>
        </p:txBody>
      </p:sp>
      <p:sp>
        <p:nvSpPr>
          <p:cNvPr id="43" name="Rounded Rectangle 42"/>
          <p:cNvSpPr/>
          <p:nvPr/>
        </p:nvSpPr>
        <p:spPr>
          <a:xfrm>
            <a:off x="7958667"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337050"/>
            <a:ext cx="304800" cy="304800"/>
          </a:xfrm>
          <a:prstGeom prst="ellipse">
            <a:avLst/>
          </a:prstGeom>
          <a:solidFill>
            <a:srgbClr val="F1F5F9"/>
          </a:solidFill>
          <a:ln>
            <a:noFill/>
          </a:ln>
          <a:effectLst/>
        </p:spPr>
        <p:txBody>
          <a:bodyPr rtlCol="0" anchor="ctr"/>
          <a:lstStyle/>
          <a:p>
            <a:pPr algn="ctr"/>
          </a:p>
        </p:txBody>
      </p:sp>
      <p:pic>
        <p:nvPicPr>
          <p:cNvPr id="45" name="Picture 44" descr="arrow-right-0F172A.png"/>
          <p:cNvPicPr>
            <a:picLocks noChangeAspect="1"/>
          </p:cNvPicPr>
          <p:nvPr/>
        </p:nvPicPr>
        <p:blipFill>
          <a:blip r:embed="rId11"/>
          <a:stretch>
            <a:fillRect/>
          </a:stretch>
        </p:blipFill>
        <p:spPr>
          <a:xfrm>
            <a:off x="8187267" y="4413250"/>
            <a:ext cx="152400" cy="152400"/>
          </a:xfrm>
          <a:prstGeom prst="rect">
            <a:avLst/>
          </a:prstGeom>
        </p:spPr>
      </p:pic>
      <p:sp>
        <p:nvSpPr>
          <p:cNvPr id="46" name="TextBox 45"/>
          <p:cNvSpPr txBox="1"/>
          <p:nvPr/>
        </p:nvSpPr>
        <p:spPr>
          <a:xfrm>
            <a:off x="8517467"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NEXT</a:t>
            </a:r>
          </a:p>
        </p:txBody>
      </p:sp>
      <p:sp>
        <p:nvSpPr>
          <p:cNvPr id="47" name="TextBox 46"/>
          <p:cNvSpPr txBox="1"/>
          <p:nvPr/>
        </p:nvSpPr>
        <p:spPr>
          <a:xfrm>
            <a:off x="8111067"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Step 5, position and standards, is specified: position, standard, data point, StewardIQ flag.</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16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FIND AND EXTRACT · 08</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Transition plans: walk versus talk</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64 indicators on the shared engine, then plan actions and capex checked in code.</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file-text-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4224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Plan documents</a:t>
            </a:r>
          </a:p>
          <a:p>
            <a:pPr algn="ctr">
              <a:lnSpc>
                <a:spcPct val="112500"/>
              </a:lnSpc>
              <a:spcAft>
                <a:spcPts val="0"/>
              </a:spcAft>
            </a:pPr>
            <a:r>
              <a:rPr sz="1200" b="0">
                <a:solidFill>
                  <a:srgbClr val="475569"/>
                </a:solidFill>
                <a:latin typeface="IBM Plex Sans"/>
              </a:rPr>
              <a:t>Transition plan, sustainability report</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16A34A"/>
          </a:solidFill>
          <a:ln>
            <a:noFill/>
          </a:ln>
          <a:effectLst/>
        </p:spPr>
        <p:txBody>
          <a:bodyPr rtlCol="0" anchor="ctr"/>
          <a:lstStyle/>
          <a:p>
            <a:pPr algn="ctr"/>
          </a:p>
        </p:txBody>
      </p:sp>
      <p:pic>
        <p:nvPicPr>
          <p:cNvPr id="11" name="Picture 10" descr="list-checks-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4224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64 indicators</a:t>
            </a:r>
          </a:p>
          <a:p>
            <a:pPr algn="ctr">
              <a:lnSpc>
                <a:spcPct val="112500"/>
              </a:lnSpc>
              <a:spcAft>
                <a:spcPts val="0"/>
              </a:spcAft>
            </a:pPr>
            <a:r>
              <a:rPr sz="1200" b="0">
                <a:solidFill>
                  <a:srgbClr val="475569"/>
                </a:solidFill>
                <a:latin typeface="IBM Plex Sans"/>
              </a:rPr>
              <a:t>One yes/no field each, Colesanti Senni et al.</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16A34A"/>
          </a:solidFill>
          <a:ln>
            <a:noFill/>
          </a:ln>
          <a:effectLst/>
        </p:spPr>
        <p:txBody>
          <a:bodyPr rtlCol="0" anchor="ctr"/>
          <a:lstStyle/>
          <a:p>
            <a:pPr algn="ctr"/>
          </a:p>
        </p:txBody>
      </p:sp>
      <p:pic>
        <p:nvPicPr>
          <p:cNvPr id="16" name="Picture 15" descr="list-todo-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4224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Plan as a list</a:t>
            </a:r>
          </a:p>
          <a:p>
            <a:pPr algn="ctr">
              <a:lnSpc>
                <a:spcPct val="112500"/>
              </a:lnSpc>
              <a:spcAft>
                <a:spcPts val="0"/>
              </a:spcAft>
            </a:pPr>
            <a:r>
              <a:rPr sz="1200" b="0">
                <a:solidFill>
                  <a:srgbClr val="475569"/>
                </a:solidFill>
                <a:latin typeface="IBM Plex Sans"/>
              </a:rPr>
              <a:t>Actions, assumed prices, targets, phase-outs</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0F172A"/>
          </a:solidFill>
          <a:ln>
            <a:noFill/>
          </a:ln>
          <a:effectLst/>
        </p:spPr>
        <p:txBody>
          <a:bodyPr rtlCol="0" anchor="ctr"/>
          <a:lstStyle/>
          <a:p>
            <a:pPr algn="ctr"/>
          </a:p>
        </p:txBody>
      </p:sp>
      <p:pic>
        <p:nvPicPr>
          <p:cNvPr id="21" name="Picture 20" descr="factory-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4224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Capex and actions</a:t>
            </a:r>
          </a:p>
          <a:p>
            <a:pPr algn="ctr">
              <a:lnSpc>
                <a:spcPct val="112500"/>
              </a:lnSpc>
              <a:spcAft>
                <a:spcPts val="0"/>
              </a:spcAft>
            </a:pPr>
            <a:r>
              <a:rPr sz="1200" b="0">
                <a:solidFill>
                  <a:srgbClr val="475569"/>
                </a:solidFill>
                <a:latin typeface="IBM Plex Sans"/>
              </a:rPr>
              <a:t>Capex vs benchmark, actions vs barriers</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0F172A"/>
          </a:solidFill>
          <a:ln>
            <a:noFill/>
          </a:ln>
          <a:effectLst/>
        </p:spPr>
        <p:txBody>
          <a:bodyPr rtlCol="0" anchor="ctr"/>
          <a:lstStyle/>
          <a:p>
            <a:pPr algn="ctr"/>
          </a:p>
        </p:txBody>
      </p:sp>
      <p:pic>
        <p:nvPicPr>
          <p:cNvPr id="26" name="Picture 25" descr="target-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4224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Delivery checks</a:t>
            </a:r>
          </a:p>
          <a:p>
            <a:pPr algn="ctr">
              <a:lnSpc>
                <a:spcPct val="112500"/>
              </a:lnSpc>
              <a:spcAft>
                <a:spcPts val="0"/>
              </a:spcAft>
            </a:pPr>
            <a:r>
              <a:rPr sz="1200" b="0">
                <a:solidFill>
                  <a:srgbClr val="475569"/>
                </a:solidFill>
                <a:latin typeface="IBM Plex Sans"/>
              </a:rPr>
              <a:t>Targets, abatement, phase-outs, carbon price</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flag-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4224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Flags and KPIs</a:t>
            </a:r>
          </a:p>
          <a:p>
            <a:pPr algn="ctr">
              <a:lnSpc>
                <a:spcPct val="112500"/>
              </a:lnSpc>
              <a:spcAft>
                <a:spcPts val="0"/>
              </a:spcAft>
            </a:pPr>
            <a:r>
              <a:rPr sz="1200" b="0">
                <a:solidFill>
                  <a:srgbClr val="475569"/>
                </a:solidFill>
                <a:latin typeface="IBM Plex Sans"/>
              </a:rPr>
              <a:t>5 flags and 9 KPIs, never one score</a:t>
            </a:r>
          </a:p>
        </p:txBody>
      </p:sp>
      <p:sp>
        <p:nvSpPr>
          <p:cNvPr id="33" name="Rounded Rectangle 32"/>
          <p:cNvSpPr/>
          <p:nvPr/>
        </p:nvSpPr>
        <p:spPr>
          <a:xfrm>
            <a:off x="812800" y="44132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565650"/>
            <a:ext cx="304800" cy="304800"/>
          </a:xfrm>
          <a:prstGeom prst="ellipse">
            <a:avLst/>
          </a:prstGeom>
          <a:solidFill>
            <a:srgbClr val="F1F5F9"/>
          </a:solidFill>
          <a:ln>
            <a:noFill/>
          </a:ln>
          <a:effectLst/>
        </p:spPr>
        <p:txBody>
          <a:bodyPr rtlCol="0" anchor="ctr"/>
          <a:lstStyle/>
          <a:p>
            <a:pPr algn="ctr"/>
          </a:p>
        </p:txBody>
      </p:sp>
      <p:pic>
        <p:nvPicPr>
          <p:cNvPr id="35" name="Picture 34" descr="triangle-alert-0F172A.png"/>
          <p:cNvPicPr>
            <a:picLocks noChangeAspect="1"/>
          </p:cNvPicPr>
          <p:nvPr/>
        </p:nvPicPr>
        <p:blipFill>
          <a:blip r:embed="rId9"/>
          <a:stretch>
            <a:fillRect/>
          </a:stretch>
        </p:blipFill>
        <p:spPr>
          <a:xfrm>
            <a:off x="1041400" y="4641850"/>
            <a:ext cx="152400" cy="152400"/>
          </a:xfrm>
          <a:prstGeom prst="rect">
            <a:avLst/>
          </a:prstGeom>
        </p:spPr>
      </p:pic>
      <p:sp>
        <p:nvSpPr>
          <p:cNvPr id="36" name="TextBox 35"/>
          <p:cNvSpPr txBox="1"/>
          <p:nvPr/>
        </p:nvSpPr>
        <p:spPr>
          <a:xfrm>
            <a:off x="1371600" y="45656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CONTRADICTIONS</a:t>
            </a:r>
          </a:p>
        </p:txBody>
      </p:sp>
      <p:sp>
        <p:nvSpPr>
          <p:cNvPr id="37" name="TextBox 36"/>
          <p:cNvSpPr txBox="1"/>
          <p:nvPr/>
        </p:nvSpPr>
        <p:spPr>
          <a:xfrm>
            <a:off x="965200" y="49466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Ten child and parent rules send a YES that contradicts its parent indicator to review.</a:t>
            </a:r>
          </a:p>
        </p:txBody>
      </p:sp>
      <p:sp>
        <p:nvSpPr>
          <p:cNvPr id="38" name="Rounded Rectangle 37"/>
          <p:cNvSpPr/>
          <p:nvPr/>
        </p:nvSpPr>
        <p:spPr>
          <a:xfrm>
            <a:off x="4385733" y="44132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565650"/>
            <a:ext cx="304800" cy="304800"/>
          </a:xfrm>
          <a:prstGeom prst="ellipse">
            <a:avLst/>
          </a:prstGeom>
          <a:solidFill>
            <a:srgbClr val="F1F5F9"/>
          </a:solidFill>
          <a:ln>
            <a:noFill/>
          </a:ln>
          <a:effectLst/>
        </p:spPr>
        <p:txBody>
          <a:bodyPr rtlCol="0" anchor="ctr"/>
          <a:lstStyle/>
          <a:p>
            <a:pPr algn="ctr"/>
          </a:p>
        </p:txBody>
      </p:sp>
      <p:pic>
        <p:nvPicPr>
          <p:cNvPr id="40" name="Picture 39" descr="ruler-0F172A.png"/>
          <p:cNvPicPr>
            <a:picLocks noChangeAspect="1"/>
          </p:cNvPicPr>
          <p:nvPr/>
        </p:nvPicPr>
        <p:blipFill>
          <a:blip r:embed="rId10"/>
          <a:stretch>
            <a:fillRect/>
          </a:stretch>
        </p:blipFill>
        <p:spPr>
          <a:xfrm>
            <a:off x="4614333" y="4641850"/>
            <a:ext cx="152400" cy="152400"/>
          </a:xfrm>
          <a:prstGeom prst="rect">
            <a:avLst/>
          </a:prstGeom>
        </p:spPr>
      </p:pic>
      <p:sp>
        <p:nvSpPr>
          <p:cNvPr id="41" name="TextBox 40"/>
          <p:cNvSpPr txBox="1"/>
          <p:nvPr/>
        </p:nvSpPr>
        <p:spPr>
          <a:xfrm>
            <a:off x="4944533" y="45656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BENCHMARKS</a:t>
            </a:r>
          </a:p>
        </p:txBody>
      </p:sp>
      <p:sp>
        <p:nvSpPr>
          <p:cNvPr id="42" name="TextBox 41"/>
          <p:cNvSpPr txBox="1"/>
          <p:nvPr/>
        </p:nvSpPr>
        <p:spPr>
          <a:xfrm>
            <a:off x="4538133" y="49466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Nine sectors and 29 levers. Benchmarks change only by a pull request the owner signs.</a:t>
            </a:r>
          </a:p>
        </p:txBody>
      </p:sp>
      <p:sp>
        <p:nvSpPr>
          <p:cNvPr id="43" name="Rounded Rectangle 42"/>
          <p:cNvSpPr/>
          <p:nvPr/>
        </p:nvSpPr>
        <p:spPr>
          <a:xfrm>
            <a:off x="7958667" y="44132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56565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641850"/>
            <a:ext cx="152400" cy="152400"/>
          </a:xfrm>
          <a:prstGeom prst="rect">
            <a:avLst/>
          </a:prstGeom>
        </p:spPr>
      </p:pic>
      <p:sp>
        <p:nvSpPr>
          <p:cNvPr id="46" name="TextBox 45"/>
          <p:cNvSpPr txBox="1"/>
          <p:nvPr/>
        </p:nvSpPr>
        <p:spPr>
          <a:xfrm>
            <a:off x="8517467" y="45656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9466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Alignment arithmetic is decimal code, no model. An approver releases a preset before real runs.</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17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FIND AND EXTRACT · 09</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Transition barriers: is it feasible here?</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9 hard-to-abate sectors, 35 criteria, each rated for the EU, the US and China: a 105-cell matrix.</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book-marked-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Rule book</a:t>
            </a:r>
          </a:p>
          <a:p>
            <a:pPr algn="ctr">
              <a:lnSpc>
                <a:spcPct val="112500"/>
              </a:lnSpc>
              <a:spcAft>
                <a:spcPts val="0"/>
              </a:spcAft>
            </a:pPr>
            <a:r>
              <a:rPr sz="1200" b="0">
                <a:solidFill>
                  <a:srgbClr val="475569"/>
                </a:solidFill>
                <a:latin typeface="IBM Plex Sans"/>
              </a:rPr>
              <a:t>Facts needed, H/M/L conditions, thresholds; signed</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0F172A"/>
          </a:solidFill>
          <a:ln>
            <a:noFill/>
          </a:ln>
          <a:effectLst/>
        </p:spPr>
        <p:txBody>
          <a:bodyPr rtlCol="0" anchor="ctr"/>
          <a:lstStyle/>
          <a:p>
            <a:pPr algn="ctr"/>
          </a:p>
        </p:txBody>
      </p:sp>
      <p:pic>
        <p:nvPicPr>
          <p:cNvPr id="11" name="Picture 10" descr="download-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Fetch sources</a:t>
            </a:r>
          </a:p>
          <a:p>
            <a:pPr algn="ctr">
              <a:lnSpc>
                <a:spcPct val="112500"/>
              </a:lnSpc>
              <a:spcAft>
                <a:spcPts val="0"/>
              </a:spcAft>
            </a:pPr>
            <a:r>
              <a:rPr sz="1200" b="0">
                <a:solidFill>
                  <a:srgbClr val="475569"/>
                </a:solidFill>
                <a:latin typeface="IBM Plex Sans"/>
              </a:rPr>
              <a:t>Through the SSRF guard, stored in Postgres</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16A34A"/>
          </a:solidFill>
          <a:ln>
            <a:noFill/>
          </a:ln>
          <a:effectLst/>
        </p:spPr>
        <p:txBody>
          <a:bodyPr rtlCol="0" anchor="ctr"/>
          <a:lstStyle/>
          <a:p>
            <a:pPr algn="ctr"/>
          </a:p>
        </p:txBody>
      </p:sp>
      <p:pic>
        <p:nvPicPr>
          <p:cNvPr id="16" name="Picture 15" descr="scan-text-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Extract facts</a:t>
            </a:r>
          </a:p>
          <a:p>
            <a:pPr algn="ctr">
              <a:lnSpc>
                <a:spcPct val="112500"/>
              </a:lnSpc>
              <a:spcAft>
                <a:spcPts val="0"/>
              </a:spcAft>
            </a:pPr>
            <a:r>
              <a:rPr sz="1200" b="0">
                <a:solidFill>
                  <a:srgbClr val="475569"/>
                </a:solidFill>
                <a:latin typeface="IBM Plex Sans"/>
              </a:rPr>
              <a:t>Value, unit and quote checked in code</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0F172A"/>
          </a:solidFill>
          <a:ln>
            <a:noFill/>
          </a:ln>
          <a:effectLst/>
        </p:spPr>
        <p:txBody>
          <a:bodyPr rtlCol="0" anchor="ctr"/>
          <a:lstStyle/>
          <a:p>
            <a:pPr algn="ctr"/>
          </a:p>
        </p:txBody>
      </p:sp>
      <p:pic>
        <p:nvPicPr>
          <p:cNvPr id="21" name="Picture 20" descr="cog-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Rules engine</a:t>
            </a:r>
          </a:p>
          <a:p>
            <a:pPr algn="ctr">
              <a:lnSpc>
                <a:spcPct val="112500"/>
              </a:lnSpc>
              <a:spcAft>
                <a:spcPts val="0"/>
              </a:spcAft>
            </a:pPr>
            <a:r>
              <a:rPr sz="1200" b="0">
                <a:solidFill>
                  <a:srgbClr val="475569"/>
                </a:solidFill>
                <a:latin typeface="IBM Plex Sans"/>
              </a:rPr>
              <a:t>Three-valued rules derive H, M or L</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2563EB"/>
          </a:solidFill>
          <a:ln>
            <a:noFill/>
          </a:ln>
          <a:effectLst/>
        </p:spPr>
        <p:txBody>
          <a:bodyPr rtlCol="0" anchor="ctr"/>
          <a:lstStyle/>
          <a:p>
            <a:pPr algn="ctr"/>
          </a:p>
        </p:txBody>
      </p:sp>
      <p:pic>
        <p:nvPicPr>
          <p:cNvPr id="26" name="Picture 25" descr="badge-check-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Ratify</a:t>
            </a:r>
          </a:p>
          <a:p>
            <a:pPr algn="ctr">
              <a:lnSpc>
                <a:spcPct val="112500"/>
              </a:lnSpc>
              <a:spcAft>
                <a:spcPts val="0"/>
              </a:spcAft>
            </a:pPr>
            <a:r>
              <a:rPr sz="1200" b="0">
                <a:solidFill>
                  <a:srgbClr val="475569"/>
                </a:solidFill>
                <a:latin typeface="IBM Plex Sans"/>
              </a:rPr>
              <a:t>A named person accepts or rejects each cell</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grid-2x2-check-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Rated cell</a:t>
            </a:r>
          </a:p>
          <a:p>
            <a:pPr algn="ctr">
              <a:lnSpc>
                <a:spcPct val="112500"/>
              </a:lnSpc>
              <a:spcAft>
                <a:spcPts val="0"/>
              </a:spcAft>
            </a:pPr>
            <a:r>
              <a:rPr sz="1200" b="0">
                <a:solidFill>
                  <a:srgbClr val="475569"/>
                </a:solidFill>
                <a:latin typeface="IBM Plex Sans"/>
              </a:rPr>
              <a:t>Rating, confidence, evidence, last verified</a:t>
            </a:r>
          </a:p>
        </p:txBody>
      </p:sp>
      <p:sp>
        <p:nvSpPr>
          <p:cNvPr id="33" name="Rounded Rectangle 32"/>
          <p:cNvSpPr/>
          <p:nvPr/>
        </p:nvSpPr>
        <p:spPr>
          <a:xfrm>
            <a:off x="812800"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559300"/>
            <a:ext cx="304800" cy="304800"/>
          </a:xfrm>
          <a:prstGeom prst="ellipse">
            <a:avLst/>
          </a:prstGeom>
          <a:solidFill>
            <a:srgbClr val="F1F5F9"/>
          </a:solidFill>
          <a:ln>
            <a:noFill/>
          </a:ln>
          <a:effectLst/>
        </p:spPr>
        <p:txBody>
          <a:bodyPr rtlCol="0" anchor="ctr"/>
          <a:lstStyle/>
          <a:p>
            <a:pPr algn="ctr"/>
          </a:p>
        </p:txBody>
      </p:sp>
      <p:pic>
        <p:nvPicPr>
          <p:cNvPr id="35" name="Picture 34" descr="refresh-cw-0F172A.png"/>
          <p:cNvPicPr>
            <a:picLocks noChangeAspect="1"/>
          </p:cNvPicPr>
          <p:nvPr/>
        </p:nvPicPr>
        <p:blipFill>
          <a:blip r:embed="rId9"/>
          <a:stretch>
            <a:fillRect/>
          </a:stretch>
        </p:blipFill>
        <p:spPr>
          <a:xfrm>
            <a:off x="1041400" y="4635500"/>
            <a:ext cx="152400" cy="152400"/>
          </a:xfrm>
          <a:prstGeom prst="rect">
            <a:avLst/>
          </a:prstGeom>
        </p:spPr>
      </p:pic>
      <p:sp>
        <p:nvSpPr>
          <p:cNvPr id="36" name="TextBox 35"/>
          <p:cNvSpPr txBox="1"/>
          <p:nvPr/>
        </p:nvSpPr>
        <p:spPr>
          <a:xfrm>
            <a:off x="1371600"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REFRESH</a:t>
            </a:r>
          </a:p>
        </p:txBody>
      </p:sp>
      <p:sp>
        <p:nvSpPr>
          <p:cNvPr id="37" name="TextBox 36"/>
          <p:cNvSpPr txBox="1"/>
          <p:nvPr/>
        </p:nvSpPr>
        <p:spPr>
          <a:xfrm>
            <a:off x="965200"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An EUR-Lex refresh proposes changes and never applies them. It is off by default.</a:t>
            </a:r>
          </a:p>
        </p:txBody>
      </p:sp>
      <p:sp>
        <p:nvSpPr>
          <p:cNvPr id="38" name="Rounded Rectangle 37"/>
          <p:cNvSpPr/>
          <p:nvPr/>
        </p:nvSpPr>
        <p:spPr>
          <a:xfrm>
            <a:off x="4385733"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559300"/>
            <a:ext cx="304800" cy="304800"/>
          </a:xfrm>
          <a:prstGeom prst="ellipse">
            <a:avLst/>
          </a:prstGeom>
          <a:solidFill>
            <a:srgbClr val="F1F5F9"/>
          </a:solidFill>
          <a:ln>
            <a:noFill/>
          </a:ln>
          <a:effectLst/>
        </p:spPr>
        <p:txBody>
          <a:bodyPr rtlCol="0" anchor="ctr"/>
          <a:lstStyle/>
          <a:p>
            <a:pPr algn="ctr"/>
          </a:p>
        </p:txBody>
      </p:sp>
      <p:pic>
        <p:nvPicPr>
          <p:cNvPr id="40" name="Picture 39" descr="clock-0F172A.png"/>
          <p:cNvPicPr>
            <a:picLocks noChangeAspect="1"/>
          </p:cNvPicPr>
          <p:nvPr/>
        </p:nvPicPr>
        <p:blipFill>
          <a:blip r:embed="rId10"/>
          <a:stretch>
            <a:fillRect/>
          </a:stretch>
        </p:blipFill>
        <p:spPr>
          <a:xfrm>
            <a:off x="4614333" y="4635500"/>
            <a:ext cx="152400" cy="152400"/>
          </a:xfrm>
          <a:prstGeom prst="rect">
            <a:avLst/>
          </a:prstGeom>
        </p:spPr>
      </p:pic>
      <p:sp>
        <p:nvSpPr>
          <p:cNvPr id="41" name="TextBox 40"/>
          <p:cNvSpPr txBox="1"/>
          <p:nvPr/>
        </p:nvSpPr>
        <p:spPr>
          <a:xfrm>
            <a:off x="4944533"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STALENESS</a:t>
            </a:r>
          </a:p>
        </p:txBody>
      </p:sp>
      <p:sp>
        <p:nvSpPr>
          <p:cNvPr id="42" name="TextBox 41"/>
          <p:cNvSpPr txBox="1"/>
          <p:nvPr/>
        </p:nvSpPr>
        <p:spPr>
          <a:xfrm>
            <a:off x="4538133"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 cell's evidence goes stale after 548 days. 94 sources sit in the registry.</a:t>
            </a:r>
          </a:p>
        </p:txBody>
      </p:sp>
      <p:sp>
        <p:nvSpPr>
          <p:cNvPr id="43" name="Rounded Rectangle 42"/>
          <p:cNvSpPr/>
          <p:nvPr/>
        </p:nvSpPr>
        <p:spPr>
          <a:xfrm>
            <a:off x="7958667"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55930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635500"/>
            <a:ext cx="152400" cy="152400"/>
          </a:xfrm>
          <a:prstGeom prst="rect">
            <a:avLst/>
          </a:prstGeom>
        </p:spPr>
      </p:pic>
      <p:sp>
        <p:nvSpPr>
          <p:cNvPr id="46" name="TextBox 45"/>
          <p:cNvSpPr txBox="1"/>
          <p:nvPr/>
        </p:nvSpPr>
        <p:spPr>
          <a:xfrm>
            <a:off x="8517467"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When sources conflict, the review item carries both versions and proposes no rating.</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18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FIND AND EXTRACT · 10</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Value chain: exposure never disclosed</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Input-output tables trace supply-chain exposure; the propagation itself has no model in it.</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grid-3x3-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IO tables</a:t>
            </a:r>
          </a:p>
          <a:p>
            <a:pPr algn="ctr">
              <a:lnSpc>
                <a:spcPct val="112500"/>
              </a:lnSpc>
              <a:spcAft>
                <a:spcPts val="0"/>
              </a:spcAft>
            </a:pPr>
            <a:r>
              <a:rPr sz="1200" b="0">
                <a:solidFill>
                  <a:srgbClr val="475569"/>
                </a:solidFill>
                <a:latin typeface="IBM Plex Sans"/>
              </a:rPr>
              <a:t>OECD ICIO 2025 and EXIOBASE 3</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0F172A"/>
          </a:solidFill>
          <a:ln>
            <a:noFill/>
          </a:ln>
          <a:effectLst/>
        </p:spPr>
        <p:txBody>
          <a:bodyPr rtlCol="0" anchor="ctr"/>
          <a:lstStyle/>
          <a:p>
            <a:pPr algn="ctr"/>
          </a:p>
        </p:txBody>
      </p:sp>
      <p:pic>
        <p:nvPicPr>
          <p:cNvPr id="11" name="Picture 10" descr="sigma-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Leontief inverse</a:t>
            </a:r>
          </a:p>
          <a:p>
            <a:pPr algn="ctr">
              <a:lnSpc>
                <a:spcPct val="112500"/>
              </a:lnSpc>
              <a:spcAft>
                <a:spcPts val="0"/>
              </a:spcAft>
            </a:pPr>
            <a:r>
              <a:rPr sz="1200" b="0">
                <a:solidFill>
                  <a:srgbClr val="475569"/>
                </a:solidFill>
                <a:latin typeface="IBM Plex Sans"/>
              </a:rPr>
              <a:t>A = Z ÷ x, then L = (I − A)⁻¹, cached</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16A34A"/>
          </a:solidFill>
          <a:ln>
            <a:noFill/>
          </a:ln>
          <a:effectLst/>
        </p:spPr>
        <p:txBody>
          <a:bodyPr rtlCol="0" anchor="ctr"/>
          <a:lstStyle/>
          <a:p>
            <a:pPr algn="ctr"/>
          </a:p>
        </p:txBody>
      </p:sp>
      <p:pic>
        <p:nvPicPr>
          <p:cNvPr id="16" name="Picture 15" descr="map-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Map sectors</a:t>
            </a:r>
          </a:p>
          <a:p>
            <a:pPr algn="ctr">
              <a:lnSpc>
                <a:spcPct val="112500"/>
              </a:lnSpc>
              <a:spcAft>
                <a:spcPts val="0"/>
              </a:spcAft>
            </a:pPr>
            <a:r>
              <a:rPr sz="1200" b="0">
                <a:solidFill>
                  <a:srgbClr val="475569"/>
                </a:solidFill>
                <a:latin typeface="IBM Plex Sans"/>
              </a:rPr>
              <a:t>A theme's core sectors; a company's code if missing</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0F172A"/>
          </a:solidFill>
          <a:ln>
            <a:noFill/>
          </a:ln>
          <a:effectLst/>
        </p:spPr>
        <p:txBody>
          <a:bodyPr rtlCol="0" anchor="ctr"/>
          <a:lstStyle/>
          <a:p>
            <a:pPr algn="ctr"/>
          </a:p>
        </p:txBody>
      </p:sp>
      <p:pic>
        <p:nvPicPr>
          <p:cNvPr id="21" name="Picture 20" descr="gauge-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Exposure</a:t>
            </a:r>
          </a:p>
          <a:p>
            <a:pPr algn="ctr">
              <a:lnSpc>
                <a:spcPct val="112500"/>
              </a:lnSpc>
              <a:spcAft>
                <a:spcPts val="0"/>
              </a:spcAft>
            </a:pPr>
            <a:r>
              <a:rPr sz="1200" b="0">
                <a:solidFill>
                  <a:srgbClr val="475569"/>
                </a:solidFill>
                <a:latin typeface="IBM Plex Sans"/>
              </a:rPr>
              <a:t>Upstream, downstream, end market, GHG, region</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2563EB"/>
          </a:solidFill>
          <a:ln>
            <a:noFill/>
          </a:ln>
          <a:effectLst/>
        </p:spPr>
        <p:txBody>
          <a:bodyPr rtlCol="0" anchor="ctr"/>
          <a:lstStyle/>
          <a:p>
            <a:pPr algn="ctr"/>
          </a:p>
        </p:txBody>
      </p:sp>
      <p:pic>
        <p:nvPicPr>
          <p:cNvPr id="26" name="Picture 25" descr="flag-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Review flag</a:t>
            </a:r>
          </a:p>
          <a:p>
            <a:pPr algn="ctr">
              <a:lnSpc>
                <a:spcPct val="112500"/>
              </a:lnSpc>
              <a:spcAft>
                <a:spcPts val="0"/>
              </a:spcAft>
            </a:pPr>
            <a:r>
              <a:rPr sz="1200" b="0">
                <a:solidFill>
                  <a:srgbClr val="475569"/>
                </a:solidFill>
                <a:latin typeface="IBM Plex Sans"/>
              </a:rPr>
              <a:t>A silent company at 0.3 or more is queued</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network-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Explorer</a:t>
            </a:r>
          </a:p>
          <a:p>
            <a:pPr algn="ctr">
              <a:lnSpc>
                <a:spcPct val="112500"/>
              </a:lnSpc>
              <a:spcAft>
                <a:spcPts val="0"/>
              </a:spcAft>
            </a:pPr>
            <a:r>
              <a:rPr sz="1200" b="0">
                <a:solidFill>
                  <a:srgbClr val="475569"/>
                </a:solidFill>
                <a:latin typeface="IBM Plex Sans"/>
              </a:rPr>
              <a:t>7,987 nodes: node, upstream tree, footprint</a:t>
            </a:r>
          </a:p>
        </p:txBody>
      </p:sp>
      <p:sp>
        <p:nvSpPr>
          <p:cNvPr id="33" name="Rounded Rectangle 32"/>
          <p:cNvSpPr/>
          <p:nvPr/>
        </p:nvSpPr>
        <p:spPr>
          <a:xfrm>
            <a:off x="812800"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559300"/>
            <a:ext cx="304800" cy="304800"/>
          </a:xfrm>
          <a:prstGeom prst="ellipse">
            <a:avLst/>
          </a:prstGeom>
          <a:solidFill>
            <a:srgbClr val="F1F5F9"/>
          </a:solidFill>
          <a:ln>
            <a:noFill/>
          </a:ln>
          <a:effectLst/>
        </p:spPr>
        <p:txBody>
          <a:bodyPr rtlCol="0" anchor="ctr"/>
          <a:lstStyle/>
          <a:p>
            <a:pPr algn="ctr"/>
          </a:p>
        </p:txBody>
      </p:sp>
      <p:pic>
        <p:nvPicPr>
          <p:cNvPr id="35" name="Picture 34" descr="network-0F172A.png"/>
          <p:cNvPicPr>
            <a:picLocks noChangeAspect="1"/>
          </p:cNvPicPr>
          <p:nvPr/>
        </p:nvPicPr>
        <p:blipFill>
          <a:blip r:embed="rId9"/>
          <a:stretch>
            <a:fillRect/>
          </a:stretch>
        </p:blipFill>
        <p:spPr>
          <a:xfrm>
            <a:off x="1041400" y="4635500"/>
            <a:ext cx="152400" cy="152400"/>
          </a:xfrm>
          <a:prstGeom prst="rect">
            <a:avLst/>
          </a:prstGeom>
        </p:spPr>
      </p:pic>
      <p:sp>
        <p:nvSpPr>
          <p:cNvPr id="36" name="TextBox 35"/>
          <p:cNvSpPr txBox="1"/>
          <p:nvPr/>
        </p:nvSpPr>
        <p:spPr>
          <a:xfrm>
            <a:off x="1371600"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VALUE CHAIN EXPLORER</a:t>
            </a:r>
          </a:p>
        </p:txBody>
      </p:sp>
      <p:sp>
        <p:nvSpPr>
          <p:cNvPr id="37" name="TextBox 36"/>
          <p:cNvSpPr txBox="1"/>
          <p:nvPr/>
        </p:nvSpPr>
        <p:spPr>
          <a:xfrm>
            <a:off x="965200"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EXIOBASE 3.11.2 for 2022: 163 sectors in 49 regions, with CO₂e, energy and jobs. Read-only.</a:t>
            </a:r>
          </a:p>
        </p:txBody>
      </p:sp>
      <p:sp>
        <p:nvSpPr>
          <p:cNvPr id="38" name="Rounded Rectangle 37"/>
          <p:cNvSpPr/>
          <p:nvPr/>
        </p:nvSpPr>
        <p:spPr>
          <a:xfrm>
            <a:off x="4385733"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559300"/>
            <a:ext cx="304800" cy="304800"/>
          </a:xfrm>
          <a:prstGeom prst="ellipse">
            <a:avLst/>
          </a:prstGeom>
          <a:solidFill>
            <a:srgbClr val="F1F5F9"/>
          </a:solidFill>
          <a:ln>
            <a:noFill/>
          </a:ln>
          <a:effectLst/>
        </p:spPr>
        <p:txBody>
          <a:bodyPr rtlCol="0" anchor="ctr"/>
          <a:lstStyle/>
          <a:p>
            <a:pPr algn="ctr"/>
          </a:p>
        </p:txBody>
      </p:sp>
      <p:pic>
        <p:nvPicPr>
          <p:cNvPr id="40" name="Picture 39" descr="split-0F172A.png"/>
          <p:cNvPicPr>
            <a:picLocks noChangeAspect="1"/>
          </p:cNvPicPr>
          <p:nvPr/>
        </p:nvPicPr>
        <p:blipFill>
          <a:blip r:embed="rId10"/>
          <a:stretch>
            <a:fillRect/>
          </a:stretch>
        </p:blipFill>
        <p:spPr>
          <a:xfrm>
            <a:off x="4614333" y="4635500"/>
            <a:ext cx="152400" cy="152400"/>
          </a:xfrm>
          <a:prstGeom prst="rect">
            <a:avLst/>
          </a:prstGeom>
        </p:spPr>
      </p:pic>
      <p:sp>
        <p:nvSpPr>
          <p:cNvPr id="41" name="TextBox 40"/>
          <p:cNvSpPr txBox="1"/>
          <p:nvPr/>
        </p:nvSpPr>
        <p:spPr>
          <a:xfrm>
            <a:off x="4944533"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KEPT SEPARATE</a:t>
            </a:r>
          </a:p>
        </p:txBody>
      </p:sp>
      <p:sp>
        <p:nvSpPr>
          <p:cNvPr id="42" name="TextBox 41"/>
          <p:cNvSpPr txBox="1"/>
          <p:nvPr/>
        </p:nvSpPr>
        <p:spPr>
          <a:xfrm>
            <a:off x="4538133"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Structural exposure is its own field, never blended into the verdict from disclosures.</a:t>
            </a:r>
          </a:p>
        </p:txBody>
      </p:sp>
      <p:sp>
        <p:nvSpPr>
          <p:cNvPr id="43" name="Rounded Rectangle 42"/>
          <p:cNvSpPr/>
          <p:nvPr/>
        </p:nvSpPr>
        <p:spPr>
          <a:xfrm>
            <a:off x="7958667"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55930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635500"/>
            <a:ext cx="152400" cy="152400"/>
          </a:xfrm>
          <a:prstGeom prst="rect">
            <a:avLst/>
          </a:prstGeom>
        </p:spPr>
      </p:pic>
      <p:sp>
        <p:nvSpPr>
          <p:cNvPr id="46" name="TextBox 45"/>
          <p:cNvSpPr txBox="1"/>
          <p:nvPr/>
        </p:nvSpPr>
        <p:spPr>
          <a:xfrm>
            <a:off x="8517467"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 sector code the loaded tables do not contain is rejected, never coerced.</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19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PART 2</a:t>
            </a:r>
          </a:p>
        </p:txBody>
      </p:sp>
      <p:sp>
        <p:nvSpPr>
          <p:cNvPr id="3" name="TextBox 2"/>
          <p:cNvSpPr txBox="1"/>
          <p:nvPr/>
        </p:nvSpPr>
        <p:spPr>
          <a:xfrm>
            <a:off x="812800" y="1162050"/>
            <a:ext cx="10566400" cy="838200"/>
          </a:xfrm>
          <a:prstGeom prst="rect">
            <a:avLst/>
          </a:prstGeom>
          <a:noFill/>
        </p:spPr>
        <p:txBody>
          <a:bodyPr wrap="square" lIns="0" rIns="0" tIns="0" bIns="0" anchor="t">
            <a:spAutoFit/>
          </a:bodyPr>
          <a:lstStyle/>
          <a:p>
            <a:pPr>
              <a:lnSpc>
                <a:spcPct val="91667"/>
              </a:lnSpc>
              <a:spcAft>
                <a:spcPts val="0"/>
              </a:spcAft>
            </a:pPr>
            <a:r>
              <a:rPr sz="5600" b="1">
                <a:solidFill>
                  <a:srgbClr val="0F172A"/>
                </a:solidFill>
                <a:latin typeface="IBM Plex Sans"/>
              </a:rPr>
              <a:t>Analyse and decide</a:t>
            </a:r>
          </a:p>
        </p:txBody>
      </p:sp>
      <p:sp>
        <p:nvSpPr>
          <p:cNvPr id="4" name="TextBox 3"/>
          <p:cNvSpPr txBox="1"/>
          <p:nvPr/>
        </p:nvSpPr>
        <p:spPr>
          <a:xfrm>
            <a:off x="812800" y="2127250"/>
            <a:ext cx="7620000" cy="50800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Turn cited figures into monitored portfolios, scored decisions, indices, votes and client answers, with code doing the arithmetic.</a:t>
            </a:r>
          </a:p>
        </p:txBody>
      </p:sp>
      <p:sp>
        <p:nvSpPr>
          <p:cNvPr id="5" name="Rectangle 4"/>
          <p:cNvSpPr/>
          <p:nvPr/>
        </p:nvSpPr>
        <p:spPr>
          <a:xfrm>
            <a:off x="812800" y="3517900"/>
            <a:ext cx="5080000" cy="6350"/>
          </a:xfrm>
          <a:prstGeom prst="rect">
            <a:avLst/>
          </a:prstGeom>
          <a:solidFill>
            <a:srgbClr val="E2E8F0"/>
          </a:solidFill>
          <a:ln>
            <a:noFill/>
          </a:ln>
          <a:effectLst/>
        </p:spPr>
        <p:txBody>
          <a:bodyPr rtlCol="0" anchor="ctr"/>
          <a:lstStyle/>
          <a:p>
            <a:pPr algn="ctr"/>
          </a:p>
        </p:txBody>
      </p:sp>
      <p:sp>
        <p:nvSpPr>
          <p:cNvPr id="6" name="TextBox 5"/>
          <p:cNvSpPr txBox="1"/>
          <p:nvPr/>
        </p:nvSpPr>
        <p:spPr>
          <a:xfrm>
            <a:off x="812800" y="29908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11</a:t>
            </a:r>
          </a:p>
        </p:txBody>
      </p:sp>
      <p:sp>
        <p:nvSpPr>
          <p:cNvPr id="7" name="TextBox 6"/>
          <p:cNvSpPr txBox="1"/>
          <p:nvPr/>
        </p:nvSpPr>
        <p:spPr>
          <a:xfrm>
            <a:off x="1270000" y="29908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Portfolio and climate</a:t>
            </a:r>
          </a:p>
          <a:p>
            <a:pPr>
              <a:lnSpc>
                <a:spcPct val="108333"/>
              </a:lnSpc>
              <a:spcAft>
                <a:spcPts val="0"/>
              </a:spcAft>
            </a:pPr>
            <a:r>
              <a:rPr sz="1200" b="0">
                <a:solidFill>
                  <a:srgbClr val="475569"/>
                </a:solidFill>
                <a:latin typeface="IBM Plex Sans"/>
              </a:rPr>
              <a:t>Holdings, alerts, WACI, financed emissions</a:t>
            </a:r>
          </a:p>
        </p:txBody>
      </p:sp>
      <p:sp>
        <p:nvSpPr>
          <p:cNvPr id="8" name="Rectangle 7"/>
          <p:cNvSpPr/>
          <p:nvPr/>
        </p:nvSpPr>
        <p:spPr>
          <a:xfrm>
            <a:off x="812800" y="4051300"/>
            <a:ext cx="5080000" cy="6350"/>
          </a:xfrm>
          <a:prstGeom prst="rect">
            <a:avLst/>
          </a:prstGeom>
          <a:solidFill>
            <a:srgbClr val="E2E8F0"/>
          </a:solidFill>
          <a:ln>
            <a:noFill/>
          </a:ln>
          <a:effectLst/>
        </p:spPr>
        <p:txBody>
          <a:bodyPr rtlCol="0" anchor="ctr"/>
          <a:lstStyle/>
          <a:p>
            <a:pPr algn="ctr"/>
          </a:p>
        </p:txBody>
      </p:sp>
      <p:sp>
        <p:nvSpPr>
          <p:cNvPr id="9" name="TextBox 8"/>
          <p:cNvSpPr txBox="1"/>
          <p:nvPr/>
        </p:nvSpPr>
        <p:spPr>
          <a:xfrm>
            <a:off x="812800" y="35242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12</a:t>
            </a:r>
          </a:p>
        </p:txBody>
      </p:sp>
      <p:sp>
        <p:nvSpPr>
          <p:cNvPr id="10" name="TextBox 9"/>
          <p:cNvSpPr txBox="1"/>
          <p:nvPr/>
        </p:nvSpPr>
        <p:spPr>
          <a:xfrm>
            <a:off x="1270000" y="35242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Decision Studio</a:t>
            </a:r>
          </a:p>
          <a:p>
            <a:pPr>
              <a:lnSpc>
                <a:spcPct val="108333"/>
              </a:lnSpc>
              <a:spcAft>
                <a:spcPts val="0"/>
              </a:spcAft>
            </a:pPr>
            <a:r>
              <a:rPr sz="1200" b="0">
                <a:solidFill>
                  <a:srgbClr val="475569"/>
                </a:solidFill>
                <a:latin typeface="IBM Plex Sans"/>
              </a:rPr>
              <a:t>Scored, ranked and tiered decisions</a:t>
            </a:r>
          </a:p>
        </p:txBody>
      </p:sp>
      <p:sp>
        <p:nvSpPr>
          <p:cNvPr id="11" name="Rectangle 10"/>
          <p:cNvSpPr/>
          <p:nvPr/>
        </p:nvSpPr>
        <p:spPr>
          <a:xfrm>
            <a:off x="812800" y="4584700"/>
            <a:ext cx="5080000" cy="6350"/>
          </a:xfrm>
          <a:prstGeom prst="rect">
            <a:avLst/>
          </a:prstGeom>
          <a:solidFill>
            <a:srgbClr val="E2E8F0"/>
          </a:solidFill>
          <a:ln>
            <a:noFill/>
          </a:ln>
          <a:effectLst/>
        </p:spPr>
        <p:txBody>
          <a:bodyPr rtlCol="0" anchor="ctr"/>
          <a:lstStyle/>
          <a:p>
            <a:pPr algn="ctr"/>
          </a:p>
        </p:txBody>
      </p:sp>
      <p:sp>
        <p:nvSpPr>
          <p:cNvPr id="12" name="TextBox 11"/>
          <p:cNvSpPr txBox="1"/>
          <p:nvPr/>
        </p:nvSpPr>
        <p:spPr>
          <a:xfrm>
            <a:off x="812800" y="40576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13</a:t>
            </a:r>
          </a:p>
        </p:txBody>
      </p:sp>
      <p:sp>
        <p:nvSpPr>
          <p:cNvPr id="13" name="TextBox 12"/>
          <p:cNvSpPr txBox="1"/>
          <p:nvPr/>
        </p:nvSpPr>
        <p:spPr>
          <a:xfrm>
            <a:off x="1270000" y="40576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Index construction</a:t>
            </a:r>
          </a:p>
          <a:p>
            <a:pPr>
              <a:lnSpc>
                <a:spcPct val="108333"/>
              </a:lnSpc>
              <a:spcAft>
                <a:spcPts val="0"/>
              </a:spcAft>
            </a:pPr>
            <a:r>
              <a:rPr sz="1200" b="0">
                <a:solidFill>
                  <a:srgbClr val="475569"/>
                </a:solidFill>
                <a:latin typeface="IBM Plex Sans"/>
              </a:rPr>
              <a:t>Rule-based index methodologies</a:t>
            </a:r>
          </a:p>
        </p:txBody>
      </p:sp>
      <p:sp>
        <p:nvSpPr>
          <p:cNvPr id="14" name="Rectangle 13"/>
          <p:cNvSpPr/>
          <p:nvPr/>
        </p:nvSpPr>
        <p:spPr>
          <a:xfrm>
            <a:off x="812800" y="5118100"/>
            <a:ext cx="5080000" cy="6350"/>
          </a:xfrm>
          <a:prstGeom prst="rect">
            <a:avLst/>
          </a:prstGeom>
          <a:solidFill>
            <a:srgbClr val="E2E8F0"/>
          </a:solidFill>
          <a:ln>
            <a:noFill/>
          </a:ln>
          <a:effectLst/>
        </p:spPr>
        <p:txBody>
          <a:bodyPr rtlCol="0" anchor="ctr"/>
          <a:lstStyle/>
          <a:p>
            <a:pPr algn="ctr"/>
          </a:p>
        </p:txBody>
      </p:sp>
      <p:sp>
        <p:nvSpPr>
          <p:cNvPr id="15" name="TextBox 14"/>
          <p:cNvSpPr txBox="1"/>
          <p:nvPr/>
        </p:nvSpPr>
        <p:spPr>
          <a:xfrm>
            <a:off x="812800" y="45910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14</a:t>
            </a:r>
          </a:p>
        </p:txBody>
      </p:sp>
      <p:sp>
        <p:nvSpPr>
          <p:cNvPr id="16" name="TextBox 15"/>
          <p:cNvSpPr txBox="1"/>
          <p:nvPr/>
        </p:nvSpPr>
        <p:spPr>
          <a:xfrm>
            <a:off x="1270000" y="45910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Strategy and signals</a:t>
            </a:r>
          </a:p>
          <a:p>
            <a:pPr>
              <a:lnSpc>
                <a:spcPct val="108333"/>
              </a:lnSpc>
              <a:spcAft>
                <a:spcPts val="0"/>
              </a:spcAft>
            </a:pPr>
            <a:r>
              <a:rPr sz="1200" b="0">
                <a:solidFill>
                  <a:srgbClr val="475569"/>
                </a:solidFill>
                <a:latin typeface="IBM Plex Sans"/>
              </a:rPr>
              <a:t>Backtests and honest signal tests</a:t>
            </a:r>
          </a:p>
        </p:txBody>
      </p:sp>
      <p:sp>
        <p:nvSpPr>
          <p:cNvPr id="17" name="Rectangle 16"/>
          <p:cNvSpPr/>
          <p:nvPr/>
        </p:nvSpPr>
        <p:spPr>
          <a:xfrm>
            <a:off x="6299200" y="3517900"/>
            <a:ext cx="5080000" cy="6350"/>
          </a:xfrm>
          <a:prstGeom prst="rect">
            <a:avLst/>
          </a:prstGeom>
          <a:solidFill>
            <a:srgbClr val="E2E8F0"/>
          </a:solidFill>
          <a:ln>
            <a:noFill/>
          </a:ln>
          <a:effectLst/>
        </p:spPr>
        <p:txBody>
          <a:bodyPr rtlCol="0" anchor="ctr"/>
          <a:lstStyle/>
          <a:p>
            <a:pPr algn="ctr"/>
          </a:p>
        </p:txBody>
      </p:sp>
      <p:sp>
        <p:nvSpPr>
          <p:cNvPr id="18" name="TextBox 17"/>
          <p:cNvSpPr txBox="1"/>
          <p:nvPr/>
        </p:nvSpPr>
        <p:spPr>
          <a:xfrm>
            <a:off x="6299200" y="29908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15</a:t>
            </a:r>
          </a:p>
        </p:txBody>
      </p:sp>
      <p:sp>
        <p:nvSpPr>
          <p:cNvPr id="19" name="TextBox 18"/>
          <p:cNvSpPr txBox="1"/>
          <p:nvPr/>
        </p:nvSpPr>
        <p:spPr>
          <a:xfrm>
            <a:off x="6756400" y="29908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Engagement</a:t>
            </a:r>
          </a:p>
          <a:p>
            <a:pPr>
              <a:lnSpc>
                <a:spcPct val="108333"/>
              </a:lnSpc>
              <a:spcAft>
                <a:spcPts val="0"/>
              </a:spcAft>
            </a:pPr>
            <a:r>
              <a:rPr sz="1200" b="0">
                <a:solidFill>
                  <a:srgbClr val="475569"/>
                </a:solidFill>
                <a:latin typeface="IBM Plex Sans"/>
              </a:rPr>
              <a:t>One record per company, people at every gate</a:t>
            </a:r>
          </a:p>
        </p:txBody>
      </p:sp>
      <p:sp>
        <p:nvSpPr>
          <p:cNvPr id="20" name="Rectangle 19"/>
          <p:cNvSpPr/>
          <p:nvPr/>
        </p:nvSpPr>
        <p:spPr>
          <a:xfrm>
            <a:off x="6299200" y="4051300"/>
            <a:ext cx="5080000" cy="6350"/>
          </a:xfrm>
          <a:prstGeom prst="rect">
            <a:avLst/>
          </a:prstGeom>
          <a:solidFill>
            <a:srgbClr val="E2E8F0"/>
          </a:solidFill>
          <a:ln>
            <a:noFill/>
          </a:ln>
          <a:effectLst/>
        </p:spPr>
        <p:txBody>
          <a:bodyPr rtlCol="0" anchor="ctr"/>
          <a:lstStyle/>
          <a:p>
            <a:pPr algn="ctr"/>
          </a:p>
        </p:txBody>
      </p:sp>
      <p:sp>
        <p:nvSpPr>
          <p:cNvPr id="21" name="TextBox 20"/>
          <p:cNvSpPr txBox="1"/>
          <p:nvPr/>
        </p:nvSpPr>
        <p:spPr>
          <a:xfrm>
            <a:off x="6299200" y="35242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16</a:t>
            </a:r>
          </a:p>
        </p:txBody>
      </p:sp>
      <p:sp>
        <p:nvSpPr>
          <p:cNvPr id="22" name="TextBox 21"/>
          <p:cNvSpPr txBox="1"/>
          <p:nvPr/>
        </p:nvSpPr>
        <p:spPr>
          <a:xfrm>
            <a:off x="6756400" y="35242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Proxy voting</a:t>
            </a:r>
          </a:p>
          <a:p>
            <a:pPr>
              <a:lnSpc>
                <a:spcPct val="108333"/>
              </a:lnSpc>
              <a:spcAft>
                <a:spcPts val="0"/>
              </a:spcAft>
            </a:pPr>
            <a:r>
              <a:rPr sz="1200" b="0">
                <a:solidFill>
                  <a:srgbClr val="475569"/>
                </a:solidFill>
                <a:latin typeface="IBM Plex Sans"/>
              </a:rPr>
              <a:t>Rules before judgment, people before a vote</a:t>
            </a:r>
          </a:p>
        </p:txBody>
      </p:sp>
      <p:sp>
        <p:nvSpPr>
          <p:cNvPr id="23" name="Rectangle 22"/>
          <p:cNvSpPr/>
          <p:nvPr/>
        </p:nvSpPr>
        <p:spPr>
          <a:xfrm>
            <a:off x="6299200" y="4584700"/>
            <a:ext cx="5080000" cy="6350"/>
          </a:xfrm>
          <a:prstGeom prst="rect">
            <a:avLst/>
          </a:prstGeom>
          <a:solidFill>
            <a:srgbClr val="E2E8F0"/>
          </a:solidFill>
          <a:ln>
            <a:noFill/>
          </a:ln>
          <a:effectLst/>
        </p:spPr>
        <p:txBody>
          <a:bodyPr rtlCol="0" anchor="ctr"/>
          <a:lstStyle/>
          <a:p>
            <a:pPr algn="ctr"/>
          </a:p>
        </p:txBody>
      </p:sp>
      <p:sp>
        <p:nvSpPr>
          <p:cNvPr id="24" name="TextBox 23"/>
          <p:cNvSpPr txBox="1"/>
          <p:nvPr/>
        </p:nvSpPr>
        <p:spPr>
          <a:xfrm>
            <a:off x="6299200" y="40576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17</a:t>
            </a:r>
          </a:p>
        </p:txBody>
      </p:sp>
      <p:sp>
        <p:nvSpPr>
          <p:cNvPr id="25" name="TextBox 24"/>
          <p:cNvSpPr txBox="1"/>
          <p:nvPr/>
        </p:nvSpPr>
        <p:spPr>
          <a:xfrm>
            <a:off x="6756400" y="40576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RFP answers</a:t>
            </a:r>
          </a:p>
          <a:p>
            <a:pPr>
              <a:lnSpc>
                <a:spcPct val="108333"/>
              </a:lnSpc>
              <a:spcAft>
                <a:spcPts val="0"/>
              </a:spcAft>
            </a:pPr>
            <a:r>
              <a:rPr sz="1200" b="0">
                <a:solidFill>
                  <a:srgbClr val="475569"/>
                </a:solidFill>
                <a:latin typeface="IBM Plex Sans"/>
              </a:rPr>
              <a:t>Questionnaires from approved answers</a:t>
            </a:r>
          </a:p>
        </p:txBody>
      </p:sp>
      <p:sp>
        <p:nvSpPr>
          <p:cNvPr id="26" name="Rectangle 25"/>
          <p:cNvSpPr/>
          <p:nvPr/>
        </p:nvSpPr>
        <p:spPr>
          <a:xfrm>
            <a:off x="6299200" y="5118100"/>
            <a:ext cx="5080000" cy="6350"/>
          </a:xfrm>
          <a:prstGeom prst="rect">
            <a:avLst/>
          </a:prstGeom>
          <a:solidFill>
            <a:srgbClr val="E2E8F0"/>
          </a:solidFill>
          <a:ln>
            <a:noFill/>
          </a:ln>
          <a:effectLst/>
        </p:spPr>
        <p:txBody>
          <a:bodyPr rtlCol="0" anchor="ctr"/>
          <a:lstStyle/>
          <a:p>
            <a:pPr algn="ctr"/>
          </a:p>
        </p:txBody>
      </p:sp>
      <p:sp>
        <p:nvSpPr>
          <p:cNvPr id="27" name="TextBox 26"/>
          <p:cNvSpPr txBox="1"/>
          <p:nvPr/>
        </p:nvSpPr>
        <p:spPr>
          <a:xfrm>
            <a:off x="6299200" y="4591050"/>
            <a:ext cx="457200" cy="533400"/>
          </a:xfrm>
          <a:prstGeom prst="rect">
            <a:avLst/>
          </a:prstGeom>
          <a:noFill/>
        </p:spPr>
        <p:txBody>
          <a:bodyPr wrap="square" lIns="0" rIns="0" tIns="0" bIns="0" anchor="ctr">
            <a:spAutoFit/>
          </a:bodyPr>
          <a:lstStyle/>
          <a:p>
            <a:pPr>
              <a:lnSpc>
                <a:spcPct val="108333"/>
              </a:lnSpc>
              <a:spcAft>
                <a:spcPts val="0"/>
              </a:spcAft>
            </a:pPr>
            <a:r>
              <a:rPr sz="1200" b="0">
                <a:solidFill>
                  <a:srgbClr val="15803D"/>
                </a:solidFill>
                <a:latin typeface="IBM Plex Mono"/>
              </a:rPr>
              <a:t>18</a:t>
            </a:r>
          </a:p>
        </p:txBody>
      </p:sp>
      <p:sp>
        <p:nvSpPr>
          <p:cNvPr id="28" name="TextBox 27"/>
          <p:cNvSpPr txBox="1"/>
          <p:nvPr/>
        </p:nvSpPr>
        <p:spPr>
          <a:xfrm>
            <a:off x="6756400" y="4591050"/>
            <a:ext cx="4622800" cy="533400"/>
          </a:xfrm>
          <a:prstGeom prst="rect">
            <a:avLst/>
          </a:prstGeom>
          <a:noFill/>
        </p:spPr>
        <p:txBody>
          <a:bodyPr wrap="square" lIns="0" rIns="0" tIns="0" bIns="0" anchor="ctr">
            <a:spAutoFit/>
          </a:bodyPr>
          <a:lstStyle/>
          <a:p>
            <a:pPr>
              <a:lnSpc>
                <a:spcPct val="100000"/>
              </a:lnSpc>
              <a:spcAft>
                <a:spcPts val="100"/>
              </a:spcAft>
            </a:pPr>
            <a:r>
              <a:rPr sz="1400" b="1">
                <a:solidFill>
                  <a:srgbClr val="0F172A"/>
                </a:solidFill>
                <a:latin typeface="IBM Plex Sans"/>
              </a:rPr>
              <a:t>Reporting</a:t>
            </a:r>
          </a:p>
          <a:p>
            <a:pPr>
              <a:lnSpc>
                <a:spcPct val="108333"/>
              </a:lnSpc>
              <a:spcAft>
                <a:spcPts val="0"/>
              </a:spcAft>
            </a:pPr>
            <a:r>
              <a:rPr sz="1200" b="0">
                <a:solidFill>
                  <a:srgbClr val="475569"/>
                </a:solidFill>
                <a:latin typeface="IBM Plex Sans"/>
              </a:rPr>
              <a:t>Reports, house decks, dashboards</a:t>
            </a:r>
          </a:p>
        </p:txBody>
      </p:sp>
      <p:sp>
        <p:nvSpPr>
          <p:cNvPr id="29" name="TextBox 28"/>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30" name="TextBox 29"/>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20 / 29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ANALYSE AND DECIDE · 11</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Portfolio risk and climate analytics</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Holdings joined to company research. Every risk number is computed, and the query is shown beside it.</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briefcase-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Holdings intake</a:t>
            </a:r>
          </a:p>
          <a:p>
            <a:pPr algn="ctr">
              <a:lnSpc>
                <a:spcPct val="112500"/>
              </a:lnSpc>
              <a:spcAft>
                <a:spcPts val="0"/>
              </a:spcAft>
            </a:pPr>
            <a:r>
              <a:rPr sz="1200" b="0">
                <a:solidFill>
                  <a:srgbClr val="475569"/>
                </a:solidFill>
                <a:latin typeface="IBM Plex Sans"/>
              </a:rPr>
              <a:t>Monthly, mapped by ISIN via the security master</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0F172A"/>
          </a:solidFill>
          <a:ln>
            <a:noFill/>
          </a:ln>
          <a:effectLst/>
        </p:spPr>
        <p:txBody>
          <a:bodyPr rtlCol="0" anchor="ctr"/>
          <a:lstStyle/>
          <a:p>
            <a:pPr algn="ctr"/>
          </a:p>
        </p:txBody>
      </p:sp>
      <p:pic>
        <p:nvPicPr>
          <p:cNvPr id="11" name="Picture 10" descr="list-ordered-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Data cascade</a:t>
            </a:r>
          </a:p>
          <a:p>
            <a:pPr algn="ctr">
              <a:lnSpc>
                <a:spcPct val="112500"/>
              </a:lnSpc>
              <a:spcAft>
                <a:spcPts val="0"/>
              </a:spcAft>
            </a:pPr>
            <a:r>
              <a:rPr sz="1200" b="0">
                <a:solidFill>
                  <a:srgbClr val="475569"/>
                </a:solidFill>
                <a:latin typeface="IBM Plex Sans"/>
              </a:rPr>
              <a:t>Extraction, exposure, catalogue, else missing</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0F172A"/>
          </a:solidFill>
          <a:ln>
            <a:noFill/>
          </a:ln>
          <a:effectLst/>
        </p:spPr>
        <p:txBody>
          <a:bodyPr rtlCol="0" anchor="ctr"/>
          <a:lstStyle/>
          <a:p>
            <a:pPr algn="ctr"/>
          </a:p>
        </p:txBody>
      </p:sp>
      <p:pic>
        <p:nvPicPr>
          <p:cNvPr id="16" name="Picture 15" descr="sigma-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Aggregate</a:t>
            </a:r>
          </a:p>
          <a:p>
            <a:pPr algn="ctr">
              <a:lnSpc>
                <a:spcPct val="112500"/>
              </a:lnSpc>
              <a:spcAft>
                <a:spcPts val="0"/>
              </a:spcAft>
            </a:pPr>
            <a:r>
              <a:rPr sz="1200" b="0">
                <a:solidFill>
                  <a:srgbClr val="475569"/>
                </a:solidFill>
                <a:latin typeface="IBM Plex Sans"/>
              </a:rPr>
              <a:t>Group, weight, sum by any dimension</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0F172A"/>
          </a:solidFill>
          <a:ln>
            <a:noFill/>
          </a:ln>
          <a:effectLst/>
        </p:spPr>
        <p:txBody>
          <a:bodyPr rtlCol="0" anchor="ctr"/>
          <a:lstStyle/>
          <a:p>
            <a:pPr algn="ctr"/>
          </a:p>
        </p:txBody>
      </p:sp>
      <p:pic>
        <p:nvPicPr>
          <p:cNvPr id="21" name="Picture 20" descr="bell-ring-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Monitoring</a:t>
            </a:r>
          </a:p>
          <a:p>
            <a:pPr algn="ctr">
              <a:lnSpc>
                <a:spcPct val="112500"/>
              </a:lnSpc>
              <a:spcAft>
                <a:spcPts val="0"/>
              </a:spcAft>
            </a:pPr>
            <a:r>
              <a:rPr sz="1200" b="0">
                <a:solidFill>
                  <a:srgbClr val="475569"/>
                </a:solidFill>
                <a:latin typeface="IBM Plex Sans"/>
              </a:rPr>
              <a:t>Monthly alerts and stewardship triggers</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16A34A"/>
          </a:solidFill>
          <a:ln>
            <a:noFill/>
          </a:ln>
          <a:effectLst/>
        </p:spPr>
        <p:txBody>
          <a:bodyPr rtlCol="0" anchor="ctr"/>
          <a:lstStyle/>
          <a:p>
            <a:pPr algn="ctr"/>
          </a:p>
        </p:txBody>
      </p:sp>
      <p:pic>
        <p:nvPicPr>
          <p:cNvPr id="26" name="Picture 25" descr="message-circle-question-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Ask</a:t>
            </a:r>
          </a:p>
          <a:p>
            <a:pPr algn="ctr">
              <a:lnSpc>
                <a:spcPct val="112500"/>
              </a:lnSpc>
              <a:spcAft>
                <a:spcPts val="0"/>
              </a:spcAft>
            </a:pPr>
            <a:r>
              <a:rPr sz="1200" b="0">
                <a:solidFill>
                  <a:srgbClr val="475569"/>
                </a:solidFill>
                <a:latin typeface="IBM Plex Sans"/>
              </a:rPr>
              <a:t>The model drafts the query; the engine computes</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layout-dashboard-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Dashboards</a:t>
            </a:r>
          </a:p>
          <a:p>
            <a:pPr algn="ctr">
              <a:lnSpc>
                <a:spcPct val="112500"/>
              </a:lnSpc>
              <a:spcAft>
                <a:spcPts val="0"/>
              </a:spcAft>
            </a:pPr>
            <a:r>
              <a:rPr sz="1200" b="0">
                <a:solidFill>
                  <a:srgbClr val="475569"/>
                </a:solidFill>
                <a:latin typeface="IBM Plex Sans"/>
              </a:rPr>
              <a:t>Superset: exposure, WACI, financed emissions</a:t>
            </a:r>
          </a:p>
        </p:txBody>
      </p:sp>
      <p:sp>
        <p:nvSpPr>
          <p:cNvPr id="33" name="Rounded Rectangle 32"/>
          <p:cNvSpPr/>
          <p:nvPr/>
        </p:nvSpPr>
        <p:spPr>
          <a:xfrm>
            <a:off x="812800"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559300"/>
            <a:ext cx="304800" cy="304800"/>
          </a:xfrm>
          <a:prstGeom prst="ellipse">
            <a:avLst/>
          </a:prstGeom>
          <a:solidFill>
            <a:srgbClr val="F1F5F9"/>
          </a:solidFill>
          <a:ln>
            <a:noFill/>
          </a:ln>
          <a:effectLst/>
        </p:spPr>
        <p:txBody>
          <a:bodyPr rtlCol="0" anchor="ctr"/>
          <a:lstStyle/>
          <a:p>
            <a:pPr algn="ctr"/>
          </a:p>
        </p:txBody>
      </p:sp>
      <p:pic>
        <p:nvPicPr>
          <p:cNvPr id="35" name="Picture 34" descr="leaf-0F172A.png"/>
          <p:cNvPicPr>
            <a:picLocks noChangeAspect="1"/>
          </p:cNvPicPr>
          <p:nvPr/>
        </p:nvPicPr>
        <p:blipFill>
          <a:blip r:embed="rId9"/>
          <a:stretch>
            <a:fillRect/>
          </a:stretch>
        </p:blipFill>
        <p:spPr>
          <a:xfrm>
            <a:off x="1041400" y="4635500"/>
            <a:ext cx="152400" cy="152400"/>
          </a:xfrm>
          <a:prstGeom prst="rect">
            <a:avLst/>
          </a:prstGeom>
        </p:spPr>
      </p:pic>
      <p:sp>
        <p:nvSpPr>
          <p:cNvPr id="36" name="TextBox 35"/>
          <p:cNvSpPr txBox="1"/>
          <p:nvPr/>
        </p:nvSpPr>
        <p:spPr>
          <a:xfrm>
            <a:off x="1371600"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CLIMATE</a:t>
            </a:r>
          </a:p>
        </p:txBody>
      </p:sp>
      <p:sp>
        <p:nvSpPr>
          <p:cNvPr id="37" name="TextBox 36"/>
          <p:cNvSpPr txBox="1"/>
          <p:nvPr/>
        </p:nvSpPr>
        <p:spPr>
          <a:xfrm>
            <a:off x="965200"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WACI and PCAF-style financed emissions, with coverage shown beside every figure.</a:t>
            </a:r>
          </a:p>
        </p:txBody>
      </p:sp>
      <p:sp>
        <p:nvSpPr>
          <p:cNvPr id="38" name="Rounded Rectangle 37"/>
          <p:cNvSpPr/>
          <p:nvPr/>
        </p:nvSpPr>
        <p:spPr>
          <a:xfrm>
            <a:off x="4385733"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559300"/>
            <a:ext cx="304800" cy="304800"/>
          </a:xfrm>
          <a:prstGeom prst="ellipse">
            <a:avLst/>
          </a:prstGeom>
          <a:solidFill>
            <a:srgbClr val="F1F5F9"/>
          </a:solidFill>
          <a:ln>
            <a:noFill/>
          </a:ln>
          <a:effectLst/>
        </p:spPr>
        <p:txBody>
          <a:bodyPr rtlCol="0" anchor="ctr"/>
          <a:lstStyle/>
          <a:p>
            <a:pPr algn="ctr"/>
          </a:p>
        </p:txBody>
      </p:sp>
      <p:pic>
        <p:nvPicPr>
          <p:cNvPr id="40" name="Picture 39" descr="octagon-x-0F172A.png"/>
          <p:cNvPicPr>
            <a:picLocks noChangeAspect="1"/>
          </p:cNvPicPr>
          <p:nvPr/>
        </p:nvPicPr>
        <p:blipFill>
          <a:blip r:embed="rId10"/>
          <a:stretch>
            <a:fillRect/>
          </a:stretch>
        </p:blipFill>
        <p:spPr>
          <a:xfrm>
            <a:off x="4614333" y="4635500"/>
            <a:ext cx="152400" cy="152400"/>
          </a:xfrm>
          <a:prstGeom prst="rect">
            <a:avLst/>
          </a:prstGeom>
        </p:spPr>
      </p:pic>
      <p:sp>
        <p:nvSpPr>
          <p:cNvPr id="41" name="TextBox 40"/>
          <p:cNvSpPr txBox="1"/>
          <p:nvPr/>
        </p:nvSpPr>
        <p:spPr>
          <a:xfrm>
            <a:off x="4944533"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BLOCKED, NOT GUESSED</a:t>
            </a:r>
          </a:p>
        </p:txBody>
      </p:sp>
      <p:sp>
        <p:nvSpPr>
          <p:cNvPr id="42" name="TextBox 41"/>
          <p:cNvSpPr txBox="1"/>
          <p:nvPr/>
        </p:nvSpPr>
        <p:spPr>
          <a:xfrm>
            <a:off x="4538133"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Monitoring runs only when the month's holdings and ESG loads are good. A re-run adds nothing twice.</a:t>
            </a:r>
          </a:p>
        </p:txBody>
      </p:sp>
      <p:sp>
        <p:nvSpPr>
          <p:cNvPr id="43" name="Rounded Rectangle 42"/>
          <p:cNvSpPr/>
          <p:nvPr/>
        </p:nvSpPr>
        <p:spPr>
          <a:xfrm>
            <a:off x="7958667"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55930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635500"/>
            <a:ext cx="152400" cy="152400"/>
          </a:xfrm>
          <a:prstGeom prst="rect">
            <a:avLst/>
          </a:prstGeom>
        </p:spPr>
      </p:pic>
      <p:sp>
        <p:nvSpPr>
          <p:cNvPr id="46" name="TextBox 45"/>
          <p:cNvSpPr txBox="1"/>
          <p:nvPr/>
        </p:nvSpPr>
        <p:spPr>
          <a:xfrm>
            <a:off x="8517467"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No model inside an aggregate. Missing data counts against coverage, never imputed.</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21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ANALYSE AND DECIDE · 12</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Decision Studio: scored, ranked, tiered</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Any per-entity table becomes a decision about companies, sectors, themes or strategies. Zero model calls.</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table-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Table</a:t>
            </a:r>
          </a:p>
          <a:p>
            <a:pPr algn="ctr">
              <a:lnSpc>
                <a:spcPct val="112500"/>
              </a:lnSpc>
              <a:spcAft>
                <a:spcPts val="0"/>
              </a:spcAft>
            </a:pPr>
            <a:r>
              <a:rPr sz="1200" b="0">
                <a:solidFill>
                  <a:srgbClr val="475569"/>
                </a:solidFill>
                <a:latin typeface="IBM Plex Sans"/>
              </a:rPr>
              <a:t>From an ARP run or an upload</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0F172A"/>
          </a:solidFill>
          <a:ln>
            <a:noFill/>
          </a:ln>
          <a:effectLst/>
        </p:spPr>
        <p:txBody>
          <a:bodyPr rtlCol="0" anchor="ctr"/>
          <a:lstStyle/>
          <a:p>
            <a:pPr algn="ctr"/>
          </a:p>
        </p:txBody>
      </p:sp>
      <p:pic>
        <p:nvPicPr>
          <p:cNvPr id="11" name="Picture 10" descr="table-properties-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Profile</a:t>
            </a:r>
          </a:p>
          <a:p>
            <a:pPr algn="ctr">
              <a:lnSpc>
                <a:spcPct val="112500"/>
              </a:lnSpc>
              <a:spcAft>
                <a:spcPts val="0"/>
              </a:spcAft>
            </a:pPr>
            <a:r>
              <a:rPr sz="1200" b="0">
                <a:solidFill>
                  <a:srgbClr val="475569"/>
                </a:solidFill>
                <a:latin typeface="IBM Plex Sans"/>
              </a:rPr>
              <a:t>Direction inferred, flagged where it is a guess</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0F172A"/>
          </a:solidFill>
          <a:ln>
            <a:noFill/>
          </a:ln>
          <a:effectLst/>
        </p:spPr>
        <p:txBody>
          <a:bodyPr rtlCol="0" anchor="ctr"/>
          <a:lstStyle/>
          <a:p>
            <a:pPr algn="ctr"/>
          </a:p>
        </p:txBody>
      </p:sp>
      <p:pic>
        <p:nvPicPr>
          <p:cNvPr id="16" name="Picture 15" descr="group-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Normalise, group</a:t>
            </a:r>
          </a:p>
          <a:p>
            <a:pPr algn="ctr">
              <a:lnSpc>
                <a:spcPct val="112500"/>
              </a:lnSpc>
              <a:spcAft>
                <a:spcPts val="0"/>
              </a:spcAft>
            </a:pPr>
            <a:r>
              <a:rPr sz="1200" b="0">
                <a:solidFill>
                  <a:srgbClr val="475569"/>
                </a:solidFill>
                <a:latin typeface="IBM Plex Sans"/>
              </a:rPr>
              <a:t>Peer cohorts; correlated criteria grouped</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0F172A"/>
          </a:solidFill>
          <a:ln>
            <a:noFill/>
          </a:ln>
          <a:effectLst/>
        </p:spPr>
        <p:txBody>
          <a:bodyPr rtlCol="0" anchor="ctr"/>
          <a:lstStyle/>
          <a:p>
            <a:pPr algn="ctr"/>
          </a:p>
        </p:txBody>
      </p:sp>
      <p:pic>
        <p:nvPicPr>
          <p:cNvPr id="21" name="Picture 20" descr="filter-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Gates, then score</a:t>
            </a:r>
          </a:p>
          <a:p>
            <a:pPr algn="ctr">
              <a:lnSpc>
                <a:spcPct val="112500"/>
              </a:lnSpc>
              <a:spcAft>
                <a:spcPts val="0"/>
              </a:spcAft>
            </a:pPr>
            <a:r>
              <a:rPr sz="1200" b="0">
                <a:solidFill>
                  <a:srgbClr val="475569"/>
                </a:solidFill>
                <a:latin typeface="IBM Plex Sans"/>
              </a:rPr>
              <a:t>Hard gates resolve before the average</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0F172A"/>
          </a:solidFill>
          <a:ln>
            <a:noFill/>
          </a:ln>
          <a:effectLst/>
        </p:spPr>
        <p:txBody>
          <a:bodyPr rtlCol="0" anchor="ctr"/>
          <a:lstStyle/>
          <a:p>
            <a:pPr algn="ctr"/>
          </a:p>
        </p:txBody>
      </p:sp>
      <p:pic>
        <p:nvPicPr>
          <p:cNvPr id="26" name="Picture 25" descr="chart-bar-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Tiers, stability</a:t>
            </a:r>
          </a:p>
          <a:p>
            <a:pPr algn="ctr">
              <a:lnSpc>
                <a:spcPct val="112500"/>
              </a:lnSpc>
              <a:spcAft>
                <a:spcPts val="0"/>
              </a:spcAft>
            </a:pPr>
            <a:r>
              <a:rPr sz="1200" b="0">
                <a:solidFill>
                  <a:srgbClr val="475569"/>
                </a:solidFill>
                <a:latin typeface="IBM Plex Sans"/>
              </a:rPr>
              <a:t>Decision tree; rank range over four specs</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2563EB"/>
          </a:solidFill>
          <a:ln>
            <a:noFill/>
          </a:ln>
          <a:effectLst/>
        </p:spPr>
        <p:txBody>
          <a:bodyPr rtlCol="0" anchor="ctr"/>
          <a:lstStyle/>
          <a:p>
            <a:pPr algn="ctr"/>
          </a:p>
        </p:txBody>
      </p:sp>
      <p:pic>
        <p:nvPicPr>
          <p:cNvPr id="31" name="Picture 30" descr="badge-check-FFFFFF.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Ratify framework</a:t>
            </a:r>
          </a:p>
          <a:p>
            <a:pPr algn="ctr">
              <a:lnSpc>
                <a:spcPct val="112500"/>
              </a:lnSpc>
              <a:spcAft>
                <a:spcPts val="0"/>
              </a:spcAft>
            </a:pPr>
            <a:r>
              <a:rPr sz="1200" b="0">
                <a:solidFill>
                  <a:srgbClr val="475569"/>
                </a:solidFill>
                <a:latin typeface="IBM Plex Sans"/>
              </a:rPr>
              <a:t>Versioned; applied unchanged next quarter</a:t>
            </a:r>
          </a:p>
        </p:txBody>
      </p:sp>
      <p:sp>
        <p:nvSpPr>
          <p:cNvPr id="33" name="Rounded Rectangle 32"/>
          <p:cNvSpPr/>
          <p:nvPr/>
        </p:nvSpPr>
        <p:spPr>
          <a:xfrm>
            <a:off x="812800"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559300"/>
            <a:ext cx="304800" cy="304800"/>
          </a:xfrm>
          <a:prstGeom prst="ellipse">
            <a:avLst/>
          </a:prstGeom>
          <a:solidFill>
            <a:srgbClr val="F1F5F9"/>
          </a:solidFill>
          <a:ln>
            <a:noFill/>
          </a:ln>
          <a:effectLst/>
        </p:spPr>
        <p:txBody>
          <a:bodyPr rtlCol="0" anchor="ctr"/>
          <a:lstStyle/>
          <a:p>
            <a:pPr algn="ctr"/>
          </a:p>
        </p:txBody>
      </p:sp>
      <p:pic>
        <p:nvPicPr>
          <p:cNvPr id="35" name="Picture 34" descr="group-0F172A.png"/>
          <p:cNvPicPr>
            <a:picLocks noChangeAspect="1"/>
          </p:cNvPicPr>
          <p:nvPr/>
        </p:nvPicPr>
        <p:blipFill>
          <a:blip r:embed="rId9"/>
          <a:stretch>
            <a:fillRect/>
          </a:stretch>
        </p:blipFill>
        <p:spPr>
          <a:xfrm>
            <a:off x="1041400" y="4635500"/>
            <a:ext cx="152400" cy="152400"/>
          </a:xfrm>
          <a:prstGeom prst="rect">
            <a:avLst/>
          </a:prstGeom>
        </p:spPr>
      </p:pic>
      <p:sp>
        <p:nvSpPr>
          <p:cNvPr id="36" name="TextBox 35"/>
          <p:cNvSpPr txBox="1"/>
          <p:nvPr/>
        </p:nvSpPr>
        <p:spPr>
          <a:xfrm>
            <a:off x="1371600"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WHY GROUP CRITERIA</a:t>
            </a:r>
          </a:p>
        </p:txBody>
      </p:sp>
      <p:sp>
        <p:nvSpPr>
          <p:cNvPr id="37" name="TextBox 36"/>
          <p:cNvSpPr txBox="1"/>
          <p:nvPr/>
        </p:nvSpPr>
        <p:spPr>
          <a:xfrm>
            <a:off x="965200"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One theme measured seven ways does not earn seven times the weight.</a:t>
            </a:r>
          </a:p>
        </p:txBody>
      </p:sp>
      <p:sp>
        <p:nvSpPr>
          <p:cNvPr id="38" name="Rounded Rectangle 37"/>
          <p:cNvSpPr/>
          <p:nvPr/>
        </p:nvSpPr>
        <p:spPr>
          <a:xfrm>
            <a:off x="4385733"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559300"/>
            <a:ext cx="304800" cy="304800"/>
          </a:xfrm>
          <a:prstGeom prst="ellipse">
            <a:avLst/>
          </a:prstGeom>
          <a:solidFill>
            <a:srgbClr val="F1F5F9"/>
          </a:solidFill>
          <a:ln>
            <a:noFill/>
          </a:ln>
          <a:effectLst/>
        </p:spPr>
        <p:txBody>
          <a:bodyPr rtlCol="0" anchor="ctr"/>
          <a:lstStyle/>
          <a:p>
            <a:pPr algn="ctr"/>
          </a:p>
        </p:txBody>
      </p:sp>
      <p:pic>
        <p:nvPicPr>
          <p:cNvPr id="40" name="Picture 39" descr="history-0F172A.png"/>
          <p:cNvPicPr>
            <a:picLocks noChangeAspect="1"/>
          </p:cNvPicPr>
          <p:nvPr/>
        </p:nvPicPr>
        <p:blipFill>
          <a:blip r:embed="rId10"/>
          <a:stretch>
            <a:fillRect/>
          </a:stretch>
        </p:blipFill>
        <p:spPr>
          <a:xfrm>
            <a:off x="4614333" y="4635500"/>
            <a:ext cx="152400" cy="152400"/>
          </a:xfrm>
          <a:prstGeom prst="rect">
            <a:avLst/>
          </a:prstGeom>
        </p:spPr>
      </p:pic>
      <p:sp>
        <p:nvSpPr>
          <p:cNvPr id="41" name="TextBox 40"/>
          <p:cNvSpPr txBox="1"/>
          <p:nvPr/>
        </p:nvSpPr>
        <p:spPr>
          <a:xfrm>
            <a:off x="4944533"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AUDIT</a:t>
            </a:r>
          </a:p>
        </p:txBody>
      </p:sp>
      <p:sp>
        <p:nvSpPr>
          <p:cNvPr id="42" name="TextBox 41"/>
          <p:cNvSpPr txBox="1"/>
          <p:nvPr/>
        </p:nvSpPr>
        <p:spPr>
          <a:xfrm>
            <a:off x="4538133"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The audit log separates what the data proposed from what a person changed.</a:t>
            </a:r>
          </a:p>
        </p:txBody>
      </p:sp>
      <p:sp>
        <p:nvSpPr>
          <p:cNvPr id="43" name="Rounded Rectangle 42"/>
          <p:cNvSpPr/>
          <p:nvPr/>
        </p:nvSpPr>
        <p:spPr>
          <a:xfrm>
            <a:off x="7958667"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559300"/>
            <a:ext cx="304800" cy="304800"/>
          </a:xfrm>
          <a:prstGeom prst="ellipse">
            <a:avLst/>
          </a:prstGeom>
          <a:solidFill>
            <a:srgbClr val="F1F5F9"/>
          </a:solidFill>
          <a:ln>
            <a:noFill/>
          </a:ln>
          <a:effectLst/>
        </p:spPr>
        <p:txBody>
          <a:bodyPr rtlCol="0" anchor="ctr"/>
          <a:lstStyle/>
          <a:p>
            <a:pPr algn="ctr"/>
          </a:p>
        </p:txBody>
      </p:sp>
      <p:pic>
        <p:nvPicPr>
          <p:cNvPr id="45" name="Picture 44" descr="monitor-0F172A.png"/>
          <p:cNvPicPr>
            <a:picLocks noChangeAspect="1"/>
          </p:cNvPicPr>
          <p:nvPr/>
        </p:nvPicPr>
        <p:blipFill>
          <a:blip r:embed="rId11"/>
          <a:stretch>
            <a:fillRect/>
          </a:stretch>
        </p:blipFill>
        <p:spPr>
          <a:xfrm>
            <a:off x="8187267" y="4635500"/>
            <a:ext cx="152400" cy="152400"/>
          </a:xfrm>
          <a:prstGeom prst="rect">
            <a:avLst/>
          </a:prstGeom>
        </p:spPr>
      </p:pic>
      <p:sp>
        <p:nvSpPr>
          <p:cNvPr id="46" name="TextBox 45"/>
          <p:cNvSpPr txBox="1"/>
          <p:nvPr/>
        </p:nvSpPr>
        <p:spPr>
          <a:xfrm>
            <a:off x="8517467"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SURFACES</a:t>
            </a:r>
          </a:p>
        </p:txBody>
      </p:sp>
      <p:sp>
        <p:nvSpPr>
          <p:cNvPr id="47" name="TextBox 46"/>
          <p:cNvSpPr txBox="1"/>
          <p:nvPr/>
        </p:nvSpPr>
        <p:spPr>
          <a:xfrm>
            <a:off x="8111067"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Eight tabs in the app; the same engine in the API and CLI.</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22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ANALYSE AND DECIDE · 13</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Index construction</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Compose named rules into a methodology. Every stage leaves a trace a committee can review.</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globe-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Universe</a:t>
            </a:r>
          </a:p>
          <a:p>
            <a:pPr algn="ctr">
              <a:lnSpc>
                <a:spcPct val="112500"/>
              </a:lnSpc>
              <a:spcAft>
                <a:spcPts val="0"/>
              </a:spcAft>
            </a:pPr>
            <a:r>
              <a:rPr sz="1200" b="0">
                <a:solidFill>
                  <a:srgbClr val="475569"/>
                </a:solidFill>
                <a:latin typeface="IBM Plex Sans"/>
              </a:rPr>
              <a:t>Price, FX, shares, free float, sector, metrics</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0F172A"/>
          </a:solidFill>
          <a:ln>
            <a:noFill/>
          </a:ln>
          <a:effectLst/>
        </p:spPr>
        <p:txBody>
          <a:bodyPr rtlCol="0" anchor="ctr"/>
          <a:lstStyle/>
          <a:p>
            <a:pPr algn="ctr"/>
          </a:p>
        </p:txBody>
      </p:sp>
      <p:pic>
        <p:nvPicPr>
          <p:cNvPr id="11" name="Picture 10" descr="filter-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Screens</a:t>
            </a:r>
          </a:p>
          <a:p>
            <a:pPr algn="ctr">
              <a:lnSpc>
                <a:spcPct val="112500"/>
              </a:lnSpc>
              <a:spcAft>
                <a:spcPts val="0"/>
              </a:spcAft>
            </a:pPr>
            <a:r>
              <a:rPr sz="1200" b="0">
                <a:solidFill>
                  <a:srgbClr val="475569"/>
                </a:solidFill>
                <a:latin typeface="IBM Plex Sans"/>
              </a:rPr>
              <a:t>Ordered exclusions</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0F172A"/>
          </a:solidFill>
          <a:ln>
            <a:noFill/>
          </a:ln>
          <a:effectLst/>
        </p:spPr>
        <p:txBody>
          <a:bodyPr rtlCol="0" anchor="ctr"/>
          <a:lstStyle/>
          <a:p>
            <a:pPr algn="ctr"/>
          </a:p>
        </p:txBody>
      </p:sp>
      <p:pic>
        <p:nvPicPr>
          <p:cNvPr id="16" name="Picture 15" descr="sliders-horizontal-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Select, weight</a:t>
            </a:r>
          </a:p>
          <a:p>
            <a:pPr algn="ctr">
              <a:lnSpc>
                <a:spcPct val="112500"/>
              </a:lnSpc>
              <a:spcAft>
                <a:spcPts val="0"/>
              </a:spcAft>
            </a:pPr>
            <a:r>
              <a:rPr sz="1200" b="0">
                <a:solidFill>
                  <a:srgbClr val="475569"/>
                </a:solidFill>
                <a:latin typeface="IBM Plex Sans"/>
              </a:rPr>
              <a:t>Coverage target with buffers, or top-N; tilts</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0F172A"/>
          </a:solidFill>
          <a:ln>
            <a:noFill/>
          </a:ln>
          <a:effectLst/>
        </p:spPr>
        <p:txBody>
          <a:bodyPr rtlCol="0" anchor="ctr"/>
          <a:lstStyle/>
          <a:p>
            <a:pPr algn="ctr"/>
          </a:p>
        </p:txBody>
      </p:sp>
      <p:pic>
        <p:nvPicPr>
          <p:cNvPr id="21" name="Picture 20" descr="chart-pie-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Cap</a:t>
            </a:r>
          </a:p>
          <a:p>
            <a:pPr algn="ctr">
              <a:lnSpc>
                <a:spcPct val="112500"/>
              </a:lnSpc>
              <a:spcAft>
                <a:spcPts val="0"/>
              </a:spcAft>
            </a:pPr>
            <a:r>
              <a:rPr sz="1200" b="0">
                <a:solidFill>
                  <a:srgbClr val="475569"/>
                </a:solidFill>
                <a:latin typeface="IBM Plex Sans"/>
              </a:rPr>
              <a:t>Single name, group, UCITS 5/10/40</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0F172A"/>
          </a:solidFill>
          <a:ln>
            <a:noFill/>
          </a:ln>
          <a:effectLst/>
        </p:spPr>
        <p:txBody>
          <a:bodyPr rtlCol="0" anchor="ctr"/>
          <a:lstStyle/>
          <a:p>
            <a:pPr algn="ctr"/>
          </a:p>
        </p:txBody>
      </p:sp>
      <p:pic>
        <p:nvPicPr>
          <p:cNvPr id="26" name="Picture 25" descr="trending-down-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Trajectory</a:t>
            </a:r>
          </a:p>
          <a:p>
            <a:pPr algn="ctr">
              <a:lnSpc>
                <a:spcPct val="112500"/>
              </a:lnSpc>
              <a:spcAft>
                <a:spcPts val="0"/>
              </a:spcAft>
            </a:pPr>
            <a:r>
              <a:rPr sz="1200" b="0">
                <a:solidFill>
                  <a:srgbClr val="475569"/>
                </a:solidFill>
                <a:latin typeface="IBM Plex Sans"/>
              </a:rPr>
              <a:t>EU PAB or CTB decarbonisation path</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user-check-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Review</a:t>
            </a:r>
          </a:p>
          <a:p>
            <a:pPr algn="ctr">
              <a:lnSpc>
                <a:spcPct val="112500"/>
              </a:lnSpc>
              <a:spcAft>
                <a:spcPts val="0"/>
              </a:spcAft>
            </a:pPr>
            <a:r>
              <a:rPr sz="1200" b="0">
                <a:solidFill>
                  <a:srgbClr val="475569"/>
                </a:solidFill>
                <a:latin typeface="IBM Plex Sans"/>
              </a:rPr>
              <a:t>Constituents, divisor, turnover, stage trace</a:t>
            </a:r>
          </a:p>
        </p:txBody>
      </p:sp>
      <p:sp>
        <p:nvSpPr>
          <p:cNvPr id="33" name="Rounded Rectangle 32"/>
          <p:cNvSpPr/>
          <p:nvPr/>
        </p:nvSpPr>
        <p:spPr>
          <a:xfrm>
            <a:off x="812800"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337050"/>
            <a:ext cx="304800" cy="304800"/>
          </a:xfrm>
          <a:prstGeom prst="ellipse">
            <a:avLst/>
          </a:prstGeom>
          <a:solidFill>
            <a:srgbClr val="F1F5F9"/>
          </a:solidFill>
          <a:ln>
            <a:noFill/>
          </a:ln>
          <a:effectLst/>
        </p:spPr>
        <p:txBody>
          <a:bodyPr rtlCol="0" anchor="ctr"/>
          <a:lstStyle/>
          <a:p>
            <a:pPr algn="ctr"/>
          </a:p>
        </p:txBody>
      </p:sp>
      <p:pic>
        <p:nvPicPr>
          <p:cNvPr id="35" name="Picture 34" descr="calendar-clock-0F172A.png"/>
          <p:cNvPicPr>
            <a:picLocks noChangeAspect="1"/>
          </p:cNvPicPr>
          <p:nvPr/>
        </p:nvPicPr>
        <p:blipFill>
          <a:blip r:embed="rId9"/>
          <a:stretch>
            <a:fillRect/>
          </a:stretch>
        </p:blipFill>
        <p:spPr>
          <a:xfrm>
            <a:off x="1041400" y="4413250"/>
            <a:ext cx="152400" cy="152400"/>
          </a:xfrm>
          <a:prstGeom prst="rect">
            <a:avLst/>
          </a:prstGeom>
        </p:spPr>
      </p:pic>
      <p:sp>
        <p:nvSpPr>
          <p:cNvPr id="36" name="TextBox 35"/>
          <p:cNvSpPr txBox="1"/>
          <p:nvPr/>
        </p:nvSpPr>
        <p:spPr>
          <a:xfrm>
            <a:off x="1371600"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CALIBRATIONS</a:t>
            </a:r>
          </a:p>
        </p:txBody>
      </p:sp>
      <p:sp>
        <p:nvSpPr>
          <p:cNvPr id="37" name="TextBox 36"/>
          <p:cNvSpPr txBox="1"/>
          <p:nvPr/>
        </p:nvSpPr>
        <p:spPr>
          <a:xfrm>
            <a:off x="965200"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Versioned and effective-dated: a review uses the version in force on its review date.</a:t>
            </a:r>
          </a:p>
        </p:txBody>
      </p:sp>
      <p:sp>
        <p:nvSpPr>
          <p:cNvPr id="38" name="Rounded Rectangle 37"/>
          <p:cNvSpPr/>
          <p:nvPr/>
        </p:nvSpPr>
        <p:spPr>
          <a:xfrm>
            <a:off x="4385733"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337050"/>
            <a:ext cx="304800" cy="304800"/>
          </a:xfrm>
          <a:prstGeom prst="ellipse">
            <a:avLst/>
          </a:prstGeom>
          <a:solidFill>
            <a:srgbClr val="F1F5F9"/>
          </a:solidFill>
          <a:ln>
            <a:noFill/>
          </a:ln>
          <a:effectLst/>
        </p:spPr>
        <p:txBody>
          <a:bodyPr rtlCol="0" anchor="ctr"/>
          <a:lstStyle/>
          <a:p>
            <a:pPr algn="ctr"/>
          </a:p>
        </p:txBody>
      </p:sp>
      <p:pic>
        <p:nvPicPr>
          <p:cNvPr id="40" name="Picture 39" descr="calculator-0F172A.png"/>
          <p:cNvPicPr>
            <a:picLocks noChangeAspect="1"/>
          </p:cNvPicPr>
          <p:nvPr/>
        </p:nvPicPr>
        <p:blipFill>
          <a:blip r:embed="rId10"/>
          <a:stretch>
            <a:fillRect/>
          </a:stretch>
        </p:blipFill>
        <p:spPr>
          <a:xfrm>
            <a:off x="4614333" y="4413250"/>
            <a:ext cx="152400" cy="152400"/>
          </a:xfrm>
          <a:prstGeom prst="rect">
            <a:avLst/>
          </a:prstGeom>
        </p:spPr>
      </p:pic>
      <p:sp>
        <p:nvSpPr>
          <p:cNvPr id="41" name="TextBox 40"/>
          <p:cNvSpPr txBox="1"/>
          <p:nvPr/>
        </p:nvSpPr>
        <p:spPr>
          <a:xfrm>
            <a:off x="4944533"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SOLVERS</a:t>
            </a:r>
          </a:p>
        </p:txBody>
      </p:sp>
      <p:sp>
        <p:nvSpPr>
          <p:cNvPr id="42" name="TextBox 41"/>
          <p:cNvSpPr txBox="1"/>
          <p:nvPr/>
        </p:nvSpPr>
        <p:spPr>
          <a:xfrm>
            <a:off x="4538133"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Optional convex or mixed-integer solvers; every constraint is re-checked in Python.</a:t>
            </a:r>
          </a:p>
        </p:txBody>
      </p:sp>
      <p:sp>
        <p:nvSpPr>
          <p:cNvPr id="43" name="Rounded Rectangle 42"/>
          <p:cNvSpPr/>
          <p:nvPr/>
        </p:nvSpPr>
        <p:spPr>
          <a:xfrm>
            <a:off x="7958667"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33705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413250"/>
            <a:ext cx="152400" cy="152400"/>
          </a:xfrm>
          <a:prstGeom prst="rect">
            <a:avLst/>
          </a:prstGeom>
        </p:spPr>
      </p:pic>
      <p:sp>
        <p:nvSpPr>
          <p:cNvPr id="46" name="TextBox 45"/>
          <p:cNvSpPr txBox="1"/>
          <p:nvPr/>
        </p:nvSpPr>
        <p:spPr>
          <a:xfrm>
            <a:off x="8517467"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No model calls in the numbers. A thematic score enters only as a frozen, dated snapshot.</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23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ANALYSE AND DECIDE · 14</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Strategy replication and signals</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Reduce a paper to an executable spec, backtest it out of sample, and test text signals without look-ahead.</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file-text-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Paper</a:t>
            </a:r>
          </a:p>
          <a:p>
            <a:pPr algn="ctr">
              <a:lnSpc>
                <a:spcPct val="112500"/>
              </a:lnSpc>
              <a:spcAft>
                <a:spcPts val="0"/>
              </a:spcAft>
            </a:pPr>
            <a:r>
              <a:rPr sz="1200" b="0">
                <a:solidFill>
                  <a:srgbClr val="475569"/>
                </a:solidFill>
                <a:latin typeface="IBM Plex Sans"/>
              </a:rPr>
              <a:t>Found by literature discovery, or uploaded</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16A34A"/>
          </a:solidFill>
          <a:ln>
            <a:noFill/>
          </a:ln>
          <a:effectLst/>
        </p:spPr>
        <p:txBody>
          <a:bodyPr rtlCol="0" anchor="ctr"/>
          <a:lstStyle/>
          <a:p>
            <a:pPr algn="ctr"/>
          </a:p>
        </p:txBody>
      </p:sp>
      <p:pic>
        <p:nvPicPr>
          <p:cNvPr id="11" name="Picture 10" descr="scroll-text-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Strategy spec</a:t>
            </a:r>
          </a:p>
          <a:p>
            <a:pPr algn="ctr">
              <a:lnSpc>
                <a:spcPct val="112500"/>
              </a:lnSpc>
              <a:spcAft>
                <a:spcPts val="0"/>
              </a:spcAft>
            </a:pPr>
            <a:r>
              <a:rPr sz="1200" b="0">
                <a:solidFill>
                  <a:srgbClr val="475569"/>
                </a:solidFill>
                <a:latin typeface="IBM Plex Sans"/>
              </a:rPr>
              <a:t>Extracted, verified and grounded</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0F172A"/>
          </a:solidFill>
          <a:ln>
            <a:noFill/>
          </a:ln>
          <a:effectLst/>
        </p:spPr>
        <p:txBody>
          <a:bodyPr rtlCol="0" anchor="ctr"/>
          <a:lstStyle/>
          <a:p>
            <a:pPr algn="ctr"/>
          </a:p>
        </p:txBody>
      </p:sp>
      <p:pic>
        <p:nvPicPr>
          <p:cNvPr id="16" name="Picture 15" descr="chart-line-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Backtest</a:t>
            </a:r>
          </a:p>
          <a:p>
            <a:pPr algn="ctr">
              <a:lnSpc>
                <a:spcPct val="112500"/>
              </a:lnSpc>
              <a:spcAft>
                <a:spcPts val="0"/>
              </a:spcAft>
            </a:pPr>
            <a:r>
              <a:rPr sz="1200" b="0">
                <a:solidFill>
                  <a:srgbClr val="475569"/>
                </a:solidFill>
                <a:latin typeface="IBM Plex Sans"/>
              </a:rPr>
              <a:t>In-sample and out-of-sample windows</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0F172A"/>
          </a:solidFill>
          <a:ln>
            <a:noFill/>
          </a:ln>
          <a:effectLst/>
        </p:spPr>
        <p:txBody>
          <a:bodyPr rtlCol="0" anchor="ctr"/>
          <a:lstStyle/>
          <a:p>
            <a:pPr algn="ctr"/>
          </a:p>
        </p:txBody>
      </p:sp>
      <p:pic>
        <p:nvPicPr>
          <p:cNvPr id="21" name="Picture 20" descr="flask-conical-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Rigor checks</a:t>
            </a:r>
          </a:p>
          <a:p>
            <a:pPr algn="ctr">
              <a:lnSpc>
                <a:spcPct val="112500"/>
              </a:lnSpc>
              <a:spcAft>
                <a:spcPts val="0"/>
              </a:spcAft>
            </a:pPr>
            <a:r>
              <a:rPr sz="1200" b="0">
                <a:solidFill>
                  <a:srgbClr val="475569"/>
                </a:solidFill>
                <a:latin typeface="IBM Plex Sans"/>
              </a:rPr>
              <a:t>Deflated Sharpe, PBO by purged CSCV, regimes</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2563EB"/>
          </a:solidFill>
          <a:ln>
            <a:noFill/>
          </a:ln>
          <a:effectLst/>
        </p:spPr>
        <p:txBody>
          <a:bodyPr rtlCol="0" anchor="ctr"/>
          <a:lstStyle/>
          <a:p>
            <a:pPr algn="ctr"/>
          </a:p>
        </p:txBody>
      </p:sp>
      <p:pic>
        <p:nvPicPr>
          <p:cNvPr id="26" name="Picture 25" descr="user-check-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Graduate or shelve</a:t>
            </a:r>
          </a:p>
          <a:p>
            <a:pPr algn="ctr">
              <a:lnSpc>
                <a:spcPct val="112500"/>
              </a:lnSpc>
              <a:spcAft>
                <a:spcPts val="0"/>
              </a:spcAft>
            </a:pPr>
            <a:r>
              <a:rPr sz="1200" b="0">
                <a:solidFill>
                  <a:srgbClr val="475569"/>
                </a:solidFill>
                <a:latin typeface="IBM Plex Sans"/>
              </a:rPr>
              <a:t>A person records the decision</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send-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41605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Hand over</a:t>
            </a:r>
          </a:p>
          <a:p>
            <a:pPr algn="ctr">
              <a:lnSpc>
                <a:spcPct val="112500"/>
              </a:lnSpc>
              <a:spcAft>
                <a:spcPts val="0"/>
              </a:spcAft>
            </a:pPr>
            <a:r>
              <a:rPr sz="1200" b="0">
                <a:solidFill>
                  <a:srgbClr val="475569"/>
                </a:solidFill>
                <a:latin typeface="IBM Plex Sans"/>
              </a:rPr>
              <a:t>To Decision Studio and index construction</a:t>
            </a:r>
          </a:p>
        </p:txBody>
      </p:sp>
      <p:sp>
        <p:nvSpPr>
          <p:cNvPr id="33" name="Rounded Rectangle 32"/>
          <p:cNvSpPr/>
          <p:nvPr/>
        </p:nvSpPr>
        <p:spPr>
          <a:xfrm>
            <a:off x="812800"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559300"/>
            <a:ext cx="304800" cy="304800"/>
          </a:xfrm>
          <a:prstGeom prst="ellipse">
            <a:avLst/>
          </a:prstGeom>
          <a:solidFill>
            <a:srgbClr val="F1F5F9"/>
          </a:solidFill>
          <a:ln>
            <a:noFill/>
          </a:ln>
          <a:effectLst/>
        </p:spPr>
        <p:txBody>
          <a:bodyPr rtlCol="0" anchor="ctr"/>
          <a:lstStyle/>
          <a:p>
            <a:pPr algn="ctr"/>
          </a:p>
        </p:txBody>
      </p:sp>
      <p:pic>
        <p:nvPicPr>
          <p:cNvPr id="35" name="Picture 34" descr="flask-conical-0F172A.png"/>
          <p:cNvPicPr>
            <a:picLocks noChangeAspect="1"/>
          </p:cNvPicPr>
          <p:nvPr/>
        </p:nvPicPr>
        <p:blipFill>
          <a:blip r:embed="rId9"/>
          <a:stretch>
            <a:fillRect/>
          </a:stretch>
        </p:blipFill>
        <p:spPr>
          <a:xfrm>
            <a:off x="1041400" y="4635500"/>
            <a:ext cx="152400" cy="152400"/>
          </a:xfrm>
          <a:prstGeom prst="rect">
            <a:avLst/>
          </a:prstGeom>
        </p:spPr>
      </p:pic>
      <p:sp>
        <p:nvSpPr>
          <p:cNvPr id="36" name="TextBox 35"/>
          <p:cNvSpPr txBox="1"/>
          <p:nvPr/>
        </p:nvSpPr>
        <p:spPr>
          <a:xfrm>
            <a:off x="1371600"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SIGNALS WORKBENCH</a:t>
            </a:r>
          </a:p>
        </p:txBody>
      </p:sp>
      <p:sp>
        <p:nvSpPr>
          <p:cNvPr id="37" name="TextBox 36"/>
          <p:cNvSpPr txBox="1"/>
          <p:nvPr/>
        </p:nvSpPr>
        <p:spPr>
          <a:xfrm>
            <a:off x="965200"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Point-in-time text store, training-cutoff checks, rank-IC and an experiment registry.</a:t>
            </a:r>
          </a:p>
        </p:txBody>
      </p:sp>
      <p:sp>
        <p:nvSpPr>
          <p:cNvPr id="38" name="Rounded Rectangle 37"/>
          <p:cNvSpPr/>
          <p:nvPr/>
        </p:nvSpPr>
        <p:spPr>
          <a:xfrm>
            <a:off x="4385733"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559300"/>
            <a:ext cx="304800" cy="304800"/>
          </a:xfrm>
          <a:prstGeom prst="ellipse">
            <a:avLst/>
          </a:prstGeom>
          <a:solidFill>
            <a:srgbClr val="F1F5F9"/>
          </a:solidFill>
          <a:ln>
            <a:noFill/>
          </a:ln>
          <a:effectLst/>
        </p:spPr>
        <p:txBody>
          <a:bodyPr rtlCol="0" anchor="ctr"/>
          <a:lstStyle/>
          <a:p>
            <a:pPr algn="ctr"/>
          </a:p>
        </p:txBody>
      </p:sp>
      <p:pic>
        <p:nvPicPr>
          <p:cNvPr id="40" name="Picture 39" descr="monitor-0F172A.png"/>
          <p:cNvPicPr>
            <a:picLocks noChangeAspect="1"/>
          </p:cNvPicPr>
          <p:nvPr/>
        </p:nvPicPr>
        <p:blipFill>
          <a:blip r:embed="rId10"/>
          <a:stretch>
            <a:fillRect/>
          </a:stretch>
        </p:blipFill>
        <p:spPr>
          <a:xfrm>
            <a:off x="4614333" y="4635500"/>
            <a:ext cx="152400" cy="152400"/>
          </a:xfrm>
          <a:prstGeom prst="rect">
            <a:avLst/>
          </a:prstGeom>
        </p:spPr>
      </p:pic>
      <p:sp>
        <p:nvSpPr>
          <p:cNvPr id="41" name="TextBox 40"/>
          <p:cNvSpPr txBox="1"/>
          <p:nvPr/>
        </p:nvSpPr>
        <p:spPr>
          <a:xfrm>
            <a:off x="4944533"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IN THE APP</a:t>
            </a:r>
          </a:p>
        </p:txBody>
      </p:sp>
      <p:sp>
        <p:nvSpPr>
          <p:cNvPr id="42" name="TextBox 41"/>
          <p:cNvSpPr txBox="1"/>
          <p:nvPr/>
        </p:nvSpPr>
        <p:spPr>
          <a:xfrm>
            <a:off x="4538133"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Only model-free methods run in the app; LLM, FinBERT and embedding recipes run from the CLI.</a:t>
            </a:r>
          </a:p>
        </p:txBody>
      </p:sp>
      <p:sp>
        <p:nvSpPr>
          <p:cNvPr id="43" name="Rounded Rectangle 42"/>
          <p:cNvSpPr/>
          <p:nvPr/>
        </p:nvSpPr>
        <p:spPr>
          <a:xfrm>
            <a:off x="7958667" y="440690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55930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635500"/>
            <a:ext cx="152400" cy="152400"/>
          </a:xfrm>
          <a:prstGeom prst="rect">
            <a:avLst/>
          </a:prstGeom>
        </p:spPr>
      </p:pic>
      <p:sp>
        <p:nvSpPr>
          <p:cNvPr id="46" name="TextBox 45"/>
          <p:cNvSpPr txBox="1"/>
          <p:nvPr/>
        </p:nvSpPr>
        <p:spPr>
          <a:xfrm>
            <a:off x="8517467" y="455930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94030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 preview is unregistered and is not evidence. Every stage is stored with the run.</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24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ANALYSE AND DECIDE · 15</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Engagement: on the record</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One record per company, a state machine rather than a chatbot, and a person at every outside contact.</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bell-ring-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Triggers</a:t>
            </a:r>
          </a:p>
          <a:p>
            <a:pPr algn="ctr">
              <a:lnSpc>
                <a:spcPct val="112500"/>
              </a:lnSpc>
              <a:spcAft>
                <a:spcPts val="0"/>
              </a:spcAft>
            </a:pPr>
            <a:r>
              <a:rPr sz="1200" b="0">
                <a:solidFill>
                  <a:srgbClr val="475569"/>
                </a:solidFill>
                <a:latin typeface="IBM Plex Sans"/>
              </a:rPr>
              <a:t>Controversies, monitoring alerts, 45-day stall sweep</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0F172A"/>
          </a:solidFill>
          <a:ln>
            <a:noFill/>
          </a:ln>
          <a:effectLst/>
        </p:spPr>
        <p:txBody>
          <a:bodyPr rtlCol="0" anchor="ctr"/>
          <a:lstStyle/>
          <a:p>
            <a:pPr algn="ctr"/>
          </a:p>
        </p:txBody>
      </p:sp>
      <p:pic>
        <p:nvPicPr>
          <p:cNvPr id="11" name="Picture 10" descr="workflow-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Next action</a:t>
            </a:r>
          </a:p>
          <a:p>
            <a:pPr algn="ctr">
              <a:lnSpc>
                <a:spcPct val="112500"/>
              </a:lnSpc>
              <a:spcAft>
                <a:spcPts val="0"/>
              </a:spcAft>
            </a:pPr>
            <a:r>
              <a:rPr sz="1200" b="0">
                <a:solidFill>
                  <a:srgbClr val="475569"/>
                </a:solidFill>
                <a:latin typeface="IBM Plex Sans"/>
              </a:rPr>
              <a:t>A pure function over one issue</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16A34A"/>
          </a:solidFill>
          <a:ln>
            <a:noFill/>
          </a:ln>
          <a:effectLst/>
        </p:spPr>
        <p:txBody>
          <a:bodyPr rtlCol="0" anchor="ctr"/>
          <a:lstStyle/>
          <a:p>
            <a:pPr algn="ctr"/>
          </a:p>
        </p:txBody>
      </p:sp>
      <p:pic>
        <p:nvPicPr>
          <p:cNvPr id="16" name="Picture 15" descr="book-open-text-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Research dossier</a:t>
            </a:r>
          </a:p>
          <a:p>
            <a:pPr algn="ctr">
              <a:lnSpc>
                <a:spcPct val="112500"/>
              </a:lnSpc>
              <a:spcAft>
                <a:spcPts val="0"/>
              </a:spcAft>
            </a:pPr>
            <a:r>
              <a:rPr sz="1200" b="0">
                <a:solidFill>
                  <a:srgbClr val="475569"/>
                </a:solidFill>
                <a:latin typeface="IBM Plex Sans"/>
              </a:rPr>
              <a:t>Grounded in the company's own disclosures</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16A34A"/>
          </a:solidFill>
          <a:ln>
            <a:noFill/>
          </a:ln>
          <a:effectLst/>
        </p:spPr>
        <p:txBody>
          <a:bodyPr rtlCol="0" anchor="ctr"/>
          <a:lstStyle/>
          <a:p>
            <a:pPr algn="ctr"/>
          </a:p>
        </p:txBody>
      </p:sp>
      <p:pic>
        <p:nvPicPr>
          <p:cNvPr id="21" name="Picture 20" descr="pen-line-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Draft</a:t>
            </a:r>
          </a:p>
          <a:p>
            <a:pPr algn="ctr">
              <a:lnSpc>
                <a:spcPct val="112500"/>
              </a:lnSpc>
              <a:spcAft>
                <a:spcPts val="0"/>
              </a:spcAft>
            </a:pPr>
            <a:r>
              <a:rPr sz="1200" b="0">
                <a:solidFill>
                  <a:srgbClr val="475569"/>
                </a:solidFill>
                <a:latin typeface="IBM Plex Sans"/>
              </a:rPr>
              <a:t>Letter, talking points, meeting summary</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2563EB"/>
          </a:solidFill>
          <a:ln>
            <a:noFill/>
          </a:ln>
          <a:effectLst/>
        </p:spPr>
        <p:txBody>
          <a:bodyPr rtlCol="0" anchor="ctr"/>
          <a:lstStyle/>
          <a:p>
            <a:pPr algn="ctr"/>
          </a:p>
        </p:txBody>
      </p:sp>
      <p:pic>
        <p:nvPicPr>
          <p:cNvPr id="26" name="Picture 25" descr="user-check-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Validate</a:t>
            </a:r>
          </a:p>
          <a:p>
            <a:pPr algn="ctr">
              <a:lnSpc>
                <a:spcPct val="112500"/>
              </a:lnSpc>
              <a:spcAft>
                <a:spcPts val="0"/>
              </a:spcAft>
            </a:pPr>
            <a:r>
              <a:rPr sz="1200" b="0">
                <a:solidFill>
                  <a:srgbClr val="475569"/>
                </a:solidFill>
                <a:latin typeface="IBM Plex Sans"/>
              </a:rPr>
              <a:t>Notes validated; escalation decided by name</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notebook-pen-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Record</a:t>
            </a:r>
          </a:p>
          <a:p>
            <a:pPr algn="ctr">
              <a:lnSpc>
                <a:spcPct val="112500"/>
              </a:lnSpc>
              <a:spcAft>
                <a:spcPts val="0"/>
              </a:spcAft>
            </a:pPr>
            <a:r>
              <a:rPr sz="1200" b="0">
                <a:solidFill>
                  <a:srgbClr val="475569"/>
                </a:solidFill>
                <a:latin typeface="IBM Plex Sans"/>
              </a:rPr>
              <a:t>Six milestone stages, append-only audit</a:t>
            </a:r>
          </a:p>
        </p:txBody>
      </p:sp>
      <p:sp>
        <p:nvSpPr>
          <p:cNvPr id="33" name="Rounded Rectangle 32"/>
          <p:cNvSpPr/>
          <p:nvPr/>
        </p:nvSpPr>
        <p:spPr>
          <a:xfrm>
            <a:off x="812800"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337050"/>
            <a:ext cx="304800" cy="304800"/>
          </a:xfrm>
          <a:prstGeom prst="ellipse">
            <a:avLst/>
          </a:prstGeom>
          <a:solidFill>
            <a:srgbClr val="F1F5F9"/>
          </a:solidFill>
          <a:ln>
            <a:noFill/>
          </a:ln>
          <a:effectLst/>
        </p:spPr>
        <p:txBody>
          <a:bodyPr rtlCol="0" anchor="ctr"/>
          <a:lstStyle/>
          <a:p>
            <a:pPr algn="ctr"/>
          </a:p>
        </p:txBody>
      </p:sp>
      <p:pic>
        <p:nvPicPr>
          <p:cNvPr id="35" name="Picture 34" descr="trending-up-0F172A.png"/>
          <p:cNvPicPr>
            <a:picLocks noChangeAspect="1"/>
          </p:cNvPicPr>
          <p:nvPr/>
        </p:nvPicPr>
        <p:blipFill>
          <a:blip r:embed="rId9"/>
          <a:stretch>
            <a:fillRect/>
          </a:stretch>
        </p:blipFill>
        <p:spPr>
          <a:xfrm>
            <a:off x="1041400" y="4413250"/>
            <a:ext cx="152400" cy="152400"/>
          </a:xfrm>
          <a:prstGeom prst="rect">
            <a:avLst/>
          </a:prstGeom>
        </p:spPr>
      </p:pic>
      <p:sp>
        <p:nvSpPr>
          <p:cNvPr id="36" name="TextBox 35"/>
          <p:cNvSpPr txBox="1"/>
          <p:nvPr/>
        </p:nvSpPr>
        <p:spPr>
          <a:xfrm>
            <a:off x="1371600"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ESCALATION</a:t>
            </a:r>
          </a:p>
        </p:txBody>
      </p:sp>
      <p:sp>
        <p:nvSpPr>
          <p:cNvPr id="37" name="TextBox 36"/>
          <p:cNvSpPr txBox="1"/>
          <p:nvPr/>
        </p:nvSpPr>
        <p:spPr>
          <a:xfrm>
            <a:off x="965200"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 seven-step ladder from private engagement to a public statement. The orchestrator never escalates.</a:t>
            </a:r>
          </a:p>
        </p:txBody>
      </p:sp>
      <p:sp>
        <p:nvSpPr>
          <p:cNvPr id="38" name="Rounded Rectangle 37"/>
          <p:cNvSpPr/>
          <p:nvPr/>
        </p:nvSpPr>
        <p:spPr>
          <a:xfrm>
            <a:off x="4385733"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337050"/>
            <a:ext cx="304800" cy="304800"/>
          </a:xfrm>
          <a:prstGeom prst="ellipse">
            <a:avLst/>
          </a:prstGeom>
          <a:solidFill>
            <a:srgbClr val="F1F5F9"/>
          </a:solidFill>
          <a:ln>
            <a:noFill/>
          </a:ln>
          <a:effectLst/>
        </p:spPr>
        <p:txBody>
          <a:bodyPr rtlCol="0" anchor="ctr"/>
          <a:lstStyle/>
          <a:p>
            <a:pPr algn="ctr"/>
          </a:p>
        </p:txBody>
      </p:sp>
      <p:pic>
        <p:nvPicPr>
          <p:cNvPr id="40" name="Picture 39" descr="mail-x-0F172A.png"/>
          <p:cNvPicPr>
            <a:picLocks noChangeAspect="1"/>
          </p:cNvPicPr>
          <p:nvPr/>
        </p:nvPicPr>
        <p:blipFill>
          <a:blip r:embed="rId10"/>
          <a:stretch>
            <a:fillRect/>
          </a:stretch>
        </p:blipFill>
        <p:spPr>
          <a:xfrm>
            <a:off x="4614333" y="4413250"/>
            <a:ext cx="152400" cy="152400"/>
          </a:xfrm>
          <a:prstGeom prst="rect">
            <a:avLst/>
          </a:prstGeom>
        </p:spPr>
      </p:pic>
      <p:sp>
        <p:nvSpPr>
          <p:cNvPr id="41" name="TextBox 40"/>
          <p:cNvSpPr txBox="1"/>
          <p:nvPr/>
        </p:nvSpPr>
        <p:spPr>
          <a:xfrm>
            <a:off x="4944533"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NOTHING IS SENT</a:t>
            </a:r>
          </a:p>
        </p:txBody>
      </p:sp>
      <p:sp>
        <p:nvSpPr>
          <p:cNvPr id="42" name="TextBox 41"/>
          <p:cNvSpPr txBox="1"/>
          <p:nvPr/>
        </p:nvSpPr>
        <p:spPr>
          <a:xfrm>
            <a:off x="4538133"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The system logs outreach; a person sends it.</a:t>
            </a:r>
          </a:p>
        </p:txBody>
      </p:sp>
      <p:sp>
        <p:nvSpPr>
          <p:cNvPr id="43" name="Rounded Rectangle 42"/>
          <p:cNvSpPr/>
          <p:nvPr/>
        </p:nvSpPr>
        <p:spPr>
          <a:xfrm>
            <a:off x="7958667"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337050"/>
            <a:ext cx="304800" cy="304800"/>
          </a:xfrm>
          <a:prstGeom prst="ellipse">
            <a:avLst/>
          </a:prstGeom>
          <a:solidFill>
            <a:srgbClr val="F1F5F9"/>
          </a:solidFill>
          <a:ln>
            <a:noFill/>
          </a:ln>
          <a:effectLst/>
        </p:spPr>
        <p:txBody>
          <a:bodyPr rtlCol="0" anchor="ctr"/>
          <a:lstStyle/>
          <a:p>
            <a:pPr algn="ctr"/>
          </a:p>
        </p:txBody>
      </p:sp>
      <p:pic>
        <p:nvPicPr>
          <p:cNvPr id="45" name="Picture 44" descr="activity-0F172A.png"/>
          <p:cNvPicPr>
            <a:picLocks noChangeAspect="1"/>
          </p:cNvPicPr>
          <p:nvPr/>
        </p:nvPicPr>
        <p:blipFill>
          <a:blip r:embed="rId11"/>
          <a:stretch>
            <a:fillRect/>
          </a:stretch>
        </p:blipFill>
        <p:spPr>
          <a:xfrm>
            <a:off x="8187267" y="4413250"/>
            <a:ext cx="152400" cy="152400"/>
          </a:xfrm>
          <a:prstGeom prst="rect">
            <a:avLst/>
          </a:prstGeom>
        </p:spPr>
      </p:pic>
      <p:sp>
        <p:nvSpPr>
          <p:cNvPr id="46" name="TextBox 45"/>
          <p:cNvSpPr txBox="1"/>
          <p:nvPr/>
        </p:nvSpPr>
        <p:spPr>
          <a:xfrm>
            <a:off x="8517467"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STATUS</a:t>
            </a:r>
          </a:p>
        </p:txBody>
      </p:sp>
      <p:sp>
        <p:nvSpPr>
          <p:cNvPr id="47" name="TextBox 46"/>
          <p:cNvSpPr txBox="1"/>
          <p:nvPr/>
        </p:nvSpPr>
        <p:spPr>
          <a:xfrm>
            <a:off x="8111067"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Steward Workflow covers the target operating model in part; each metric shows live, sample or not built.</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25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ANALYSE AND DECIDE · 16</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Proxy voting: rules before judgment</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A recommendation is never a vote. Every proposal gets a human decision before anything is cast.</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file-text-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Proxy statement</a:t>
            </a:r>
          </a:p>
          <a:p>
            <a:pPr algn="ctr">
              <a:lnSpc>
                <a:spcPct val="112500"/>
              </a:lnSpc>
              <a:spcAft>
                <a:spcPts val="0"/>
              </a:spcAft>
            </a:pPr>
            <a:r>
              <a:rPr sz="1200" b="0">
                <a:solidFill>
                  <a:srgbClr val="475569"/>
                </a:solidFill>
                <a:latin typeface="IBM Plex Sans"/>
              </a:rPr>
              <a:t>DEF 14A from the document registry</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16A34A"/>
          </a:solidFill>
          <a:ln>
            <a:noFill/>
          </a:ln>
          <a:effectLst/>
        </p:spPr>
        <p:txBody>
          <a:bodyPr rtlCol="0" anchor="ctr"/>
          <a:lstStyle/>
          <a:p>
            <a:pPr algn="ctr"/>
          </a:p>
        </p:txBody>
      </p:sp>
      <p:pic>
        <p:nvPicPr>
          <p:cNvPr id="11" name="Picture 10" descr="scan-text-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Proposals</a:t>
            </a:r>
          </a:p>
          <a:p>
            <a:pPr algn="ctr">
              <a:lnSpc>
                <a:spcPct val="112500"/>
              </a:lnSpc>
              <a:spcAft>
                <a:spcPts val="0"/>
              </a:spcAft>
            </a:pPr>
            <a:r>
              <a:rPr sz="1200" b="0">
                <a:solidFill>
                  <a:srgbClr val="475569"/>
                </a:solidFill>
                <a:latin typeface="IBM Plex Sans"/>
              </a:rPr>
              <a:t>One extraction pass, citations grounded</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0F172A"/>
          </a:solidFill>
          <a:ln>
            <a:noFill/>
          </a:ln>
          <a:effectLst/>
        </p:spPr>
        <p:txBody>
          <a:bodyPr rtlCol="0" anchor="ctr"/>
          <a:lstStyle/>
          <a:p>
            <a:pPr algn="ctr"/>
          </a:p>
        </p:txBody>
      </p:sp>
      <p:pic>
        <p:nvPicPr>
          <p:cNvPr id="16" name="Picture 15" descr="book-open-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House rules</a:t>
            </a:r>
          </a:p>
          <a:p>
            <a:pPr algn="ctr">
              <a:lnSpc>
                <a:spcPct val="112500"/>
              </a:lnSpc>
              <a:spcAft>
                <a:spcPts val="0"/>
              </a:spcAft>
            </a:pPr>
            <a:r>
              <a:rPr sz="1200" b="0">
                <a:solidFill>
                  <a:srgbClr val="475569"/>
                </a:solidFill>
                <a:latin typeface="IBM Plex Sans"/>
              </a:rPr>
              <a:t>Ordered predicates on disclosed figures</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16A34A"/>
          </a:solidFill>
          <a:ln>
            <a:noFill/>
          </a:ln>
          <a:effectLst/>
        </p:spPr>
        <p:txBody>
          <a:bodyPr rtlCol="0" anchor="ctr"/>
          <a:lstStyle/>
          <a:p>
            <a:pPr algn="ctr"/>
          </a:p>
        </p:txBody>
      </p:sp>
      <p:pic>
        <p:nvPicPr>
          <p:cNvPr id="21" name="Picture 20" descr="scale-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Judgment</a:t>
            </a:r>
          </a:p>
          <a:p>
            <a:pPr algn="ctr">
              <a:lnSpc>
                <a:spcPct val="112500"/>
              </a:lnSpc>
              <a:spcAft>
                <a:spcPts val="0"/>
              </a:spcAft>
            </a:pPr>
            <a:r>
              <a:rPr sz="1200" b="0">
                <a:solidFill>
                  <a:srgbClr val="475569"/>
                </a:solidFill>
                <a:latin typeface="IBM Plex Sans"/>
              </a:rPr>
              <a:t>Only when no rule fires; cited rationale</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0F172A"/>
          </a:solidFill>
          <a:ln>
            <a:noFill/>
          </a:ln>
          <a:effectLst/>
        </p:spPr>
        <p:txBody>
          <a:bodyPr rtlCol="0" anchor="ctr"/>
          <a:lstStyle/>
          <a:p>
            <a:pPr algn="ctr"/>
          </a:p>
        </p:txBody>
      </p:sp>
      <p:pic>
        <p:nvPicPr>
          <p:cNvPr id="26" name="Picture 25" descr="git-compare-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Cross-check</a:t>
            </a:r>
          </a:p>
          <a:p>
            <a:pPr algn="ctr">
              <a:lnSpc>
                <a:spcPct val="112500"/>
              </a:lnSpc>
              <a:spcAft>
                <a:spcPts val="0"/>
              </a:spcAft>
            </a:pPr>
            <a:r>
              <a:rPr sz="1200" b="0">
                <a:solidFill>
                  <a:srgbClr val="475569"/>
                </a:solidFill>
                <a:latin typeface="IBM Plex Sans"/>
              </a:rPr>
              <a:t>Against the engagement record</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2563EB"/>
          </a:solidFill>
          <a:ln>
            <a:noFill/>
          </a:ln>
          <a:effectLst/>
        </p:spPr>
        <p:txBody>
          <a:bodyPr rtlCol="0" anchor="ctr"/>
          <a:lstStyle/>
          <a:p>
            <a:pPr algn="ctr"/>
          </a:p>
        </p:txBody>
      </p:sp>
      <p:pic>
        <p:nvPicPr>
          <p:cNvPr id="31" name="Picture 30" descr="user-check-FFFFFF.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Decide</a:t>
            </a:r>
          </a:p>
          <a:p>
            <a:pPr algn="ctr">
              <a:lnSpc>
                <a:spcPct val="112500"/>
              </a:lnSpc>
              <a:spcAft>
                <a:spcPts val="0"/>
              </a:spcAft>
            </a:pPr>
            <a:r>
              <a:rPr sz="1200" b="0">
                <a:solidFill>
                  <a:srgbClr val="475569"/>
                </a:solidFill>
                <a:latin typeface="IBM Plex Sans"/>
              </a:rPr>
              <a:t>Every proposal; a co-signer when flagged</a:t>
            </a:r>
          </a:p>
        </p:txBody>
      </p:sp>
      <p:sp>
        <p:nvSpPr>
          <p:cNvPr id="33" name="Rounded Rectangle 32"/>
          <p:cNvSpPr/>
          <p:nvPr/>
        </p:nvSpPr>
        <p:spPr>
          <a:xfrm>
            <a:off x="812800"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337050"/>
            <a:ext cx="304800" cy="304800"/>
          </a:xfrm>
          <a:prstGeom prst="ellipse">
            <a:avLst/>
          </a:prstGeom>
          <a:solidFill>
            <a:srgbClr val="F1F5F9"/>
          </a:solidFill>
          <a:ln>
            <a:noFill/>
          </a:ln>
          <a:effectLst/>
        </p:spPr>
        <p:txBody>
          <a:bodyPr rtlCol="0" anchor="ctr"/>
          <a:lstStyle/>
          <a:p>
            <a:pPr algn="ctr"/>
          </a:p>
        </p:txBody>
      </p:sp>
      <p:pic>
        <p:nvPicPr>
          <p:cNvPr id="35" name="Picture 34" descr="lock-0F172A.png"/>
          <p:cNvPicPr>
            <a:picLocks noChangeAspect="1"/>
          </p:cNvPicPr>
          <p:nvPr/>
        </p:nvPicPr>
        <p:blipFill>
          <a:blip r:embed="rId9"/>
          <a:stretch>
            <a:fillRect/>
          </a:stretch>
        </p:blipFill>
        <p:spPr>
          <a:xfrm>
            <a:off x="1041400" y="4413250"/>
            <a:ext cx="152400" cy="152400"/>
          </a:xfrm>
          <a:prstGeom prst="rect">
            <a:avLst/>
          </a:prstGeom>
        </p:spPr>
      </p:pic>
      <p:sp>
        <p:nvSpPr>
          <p:cNvPr id="36" name="TextBox 35"/>
          <p:cNvSpPr txBox="1"/>
          <p:nvPr/>
        </p:nvSpPr>
        <p:spPr>
          <a:xfrm>
            <a:off x="1371600"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THE GATE</a:t>
            </a:r>
          </a:p>
        </p:txBody>
      </p:sp>
      <p:sp>
        <p:nvSpPr>
          <p:cNvPr id="37" name="TextBox 36"/>
          <p:cNvSpPr txBox="1"/>
          <p:nvPr/>
        </p:nvSpPr>
        <p:spPr>
          <a:xfrm>
            <a:off x="965200"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Casting refuses without a human decision, and refuses a flagged vote without a different co-signer.</a:t>
            </a:r>
          </a:p>
        </p:txBody>
      </p:sp>
      <p:sp>
        <p:nvSpPr>
          <p:cNvPr id="38" name="Rounded Rectangle 37"/>
          <p:cNvSpPr/>
          <p:nvPr/>
        </p:nvSpPr>
        <p:spPr>
          <a:xfrm>
            <a:off x="4385733"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337050"/>
            <a:ext cx="304800" cy="304800"/>
          </a:xfrm>
          <a:prstGeom prst="ellipse">
            <a:avLst/>
          </a:prstGeom>
          <a:solidFill>
            <a:srgbClr val="F1F5F9"/>
          </a:solidFill>
          <a:ln>
            <a:noFill/>
          </a:ln>
          <a:effectLst/>
        </p:spPr>
        <p:txBody>
          <a:bodyPr rtlCol="0" anchor="ctr"/>
          <a:lstStyle/>
          <a:p>
            <a:pPr algn="ctr"/>
          </a:p>
        </p:txBody>
      </p:sp>
      <p:pic>
        <p:nvPicPr>
          <p:cNvPr id="40" name="Picture 39" descr="send-0F172A.png"/>
          <p:cNvPicPr>
            <a:picLocks noChangeAspect="1"/>
          </p:cNvPicPr>
          <p:nvPr/>
        </p:nvPicPr>
        <p:blipFill>
          <a:blip r:embed="rId10"/>
          <a:stretch>
            <a:fillRect/>
          </a:stretch>
        </p:blipFill>
        <p:spPr>
          <a:xfrm>
            <a:off x="4614333" y="4413250"/>
            <a:ext cx="152400" cy="152400"/>
          </a:xfrm>
          <a:prstGeom prst="rect">
            <a:avLst/>
          </a:prstGeom>
        </p:spPr>
      </p:pic>
      <p:sp>
        <p:nvSpPr>
          <p:cNvPr id="41" name="TextBox 40"/>
          <p:cNvSpPr txBox="1"/>
          <p:nvPr/>
        </p:nvSpPr>
        <p:spPr>
          <a:xfrm>
            <a:off x="4944533"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CASTING TODAY</a:t>
            </a:r>
          </a:p>
        </p:txBody>
      </p:sp>
      <p:sp>
        <p:nvSpPr>
          <p:cNvPr id="42" name="TextBox 41"/>
          <p:cNvSpPr txBox="1"/>
          <p:nvPr/>
        </p:nvSpPr>
        <p:spPr>
          <a:xfrm>
            <a:off x="4538133"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Casting writes an instruction file; no voting platform is connected.</a:t>
            </a:r>
          </a:p>
        </p:txBody>
      </p:sp>
      <p:sp>
        <p:nvSpPr>
          <p:cNvPr id="43" name="Rounded Rectangle 42"/>
          <p:cNvSpPr/>
          <p:nvPr/>
        </p:nvSpPr>
        <p:spPr>
          <a:xfrm>
            <a:off x="7958667"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33705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413250"/>
            <a:ext cx="152400" cy="152400"/>
          </a:xfrm>
          <a:prstGeom prst="rect">
            <a:avLst/>
          </a:prstGeom>
        </p:spPr>
      </p:pic>
      <p:sp>
        <p:nvSpPr>
          <p:cNvPr id="46" name="TextBox 45"/>
          <p:cNvSpPr txBox="1"/>
          <p:nvPr/>
        </p:nvSpPr>
        <p:spPr>
          <a:xfrm>
            <a:off x="8517467"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Casting is idempotent and checkpointed, so a re-run never votes twice.</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26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ANALYSE AND DECIDE · 17</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RFP answers</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Fill an investor's questionnaire from the house's own approved answers, and return it in their file.</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library-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Answer library</a:t>
            </a:r>
          </a:p>
          <a:p>
            <a:pPr algn="ctr">
              <a:lnSpc>
                <a:spcPct val="112500"/>
              </a:lnSpc>
              <a:spcAft>
                <a:spcPts val="0"/>
              </a:spcAft>
            </a:pPr>
            <a:r>
              <a:rPr sz="1200" b="0">
                <a:solidFill>
                  <a:srgbClr val="475569"/>
                </a:solidFill>
                <a:latin typeface="IBM Plex Sans"/>
              </a:rPr>
              <a:t>Past Word and Excel responses, verbatim</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16A34A"/>
          </a:solidFill>
          <a:ln>
            <a:noFill/>
          </a:ln>
          <a:effectLst/>
        </p:spPr>
        <p:txBody>
          <a:bodyPr rtlCol="0" anchor="ctr"/>
          <a:lstStyle/>
          <a:p>
            <a:pPr algn="ctr"/>
          </a:p>
        </p:txBody>
      </p:sp>
      <p:pic>
        <p:nvPicPr>
          <p:cNvPr id="11" name="Picture 10" descr="file-search-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Find questions</a:t>
            </a:r>
          </a:p>
          <a:p>
            <a:pPr algn="ctr">
              <a:lnSpc>
                <a:spcPct val="112500"/>
              </a:lnSpc>
              <a:spcAft>
                <a:spcPts val="0"/>
              </a:spcAft>
            </a:pPr>
            <a:r>
              <a:rPr sz="1200" b="0">
                <a:solidFill>
                  <a:srgbClr val="475569"/>
                </a:solidFill>
                <a:latin typeface="IBM Plex Sans"/>
              </a:rPr>
              <a:t>Kept only where code can locate them</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16A34A"/>
          </a:solidFill>
          <a:ln>
            <a:noFill/>
          </a:ln>
          <a:effectLst/>
        </p:spPr>
        <p:txBody>
          <a:bodyPr rtlCol="0" anchor="ctr"/>
          <a:lstStyle/>
          <a:p>
            <a:pPr algn="ctr"/>
          </a:p>
        </p:txBody>
      </p:sp>
      <p:pic>
        <p:nvPicPr>
          <p:cNvPr id="16" name="Picture 15" descr="pen-line-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Auto-fill</a:t>
            </a:r>
          </a:p>
          <a:p>
            <a:pPr algn="ctr">
              <a:lnSpc>
                <a:spcPct val="112500"/>
              </a:lnSpc>
              <a:spcAft>
                <a:spcPts val="0"/>
              </a:spcAft>
            </a:pPr>
            <a:r>
              <a:rPr sz="1200" b="0">
                <a:solidFill>
                  <a:srgbClr val="475569"/>
                </a:solidFill>
                <a:latin typeface="IBM Plex Sans"/>
              </a:rPr>
              <a:t>Drafts from the top 8 library entries only</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0F172A"/>
          </a:solidFill>
          <a:ln>
            <a:noFill/>
          </a:ln>
          <a:effectLst/>
        </p:spPr>
        <p:txBody>
          <a:bodyPr rtlCol="0" anchor="ctr"/>
          <a:lstStyle/>
          <a:p>
            <a:pPr algn="ctr"/>
          </a:p>
        </p:txBody>
      </p:sp>
      <p:pic>
        <p:nvPicPr>
          <p:cNvPr id="21" name="Picture 20" descr="shield-check-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Check</a:t>
            </a:r>
          </a:p>
          <a:p>
            <a:pPr algn="ctr">
              <a:lnSpc>
                <a:spcPct val="112500"/>
              </a:lnSpc>
              <a:spcAft>
                <a:spcPts val="0"/>
              </a:spcAft>
            </a:pPr>
            <a:r>
              <a:rPr sz="1200" b="0">
                <a:solidFill>
                  <a:srgbClr val="475569"/>
                </a:solidFill>
                <a:latin typeface="IBM Plex Sans"/>
              </a:rPr>
              <a:t>Quotes grounded; numbers must appear in a source</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2563EB"/>
          </a:solidFill>
          <a:ln>
            <a:noFill/>
          </a:ln>
          <a:effectLst/>
        </p:spPr>
        <p:txBody>
          <a:bodyPr rtlCol="0" anchor="ctr"/>
          <a:lstStyle/>
          <a:p>
            <a:pPr algn="ctr"/>
          </a:p>
        </p:txBody>
      </p:sp>
      <p:pic>
        <p:nvPicPr>
          <p:cNvPr id="26" name="Picture 25" descr="users-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Four-eyes</a:t>
            </a:r>
          </a:p>
          <a:p>
            <a:pPr algn="ctr">
              <a:lnSpc>
                <a:spcPct val="112500"/>
              </a:lnSpc>
              <a:spcAft>
                <a:spcPts val="0"/>
              </a:spcAft>
            </a:pPr>
            <a:r>
              <a:rPr sz="1200" b="0">
                <a:solidFill>
                  <a:srgbClr val="475569"/>
                </a:solidFill>
                <a:latin typeface="IBM Plex Sans"/>
              </a:rPr>
              <a:t>Approver is not the last editor</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file-output-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Export</a:t>
            </a:r>
          </a:p>
          <a:p>
            <a:pPr algn="ctr">
              <a:lnSpc>
                <a:spcPct val="112500"/>
              </a:lnSpc>
              <a:spcAft>
                <a:spcPts val="0"/>
              </a:spcAft>
            </a:pPr>
            <a:r>
              <a:rPr sz="1200" b="0">
                <a:solidFill>
                  <a:srgbClr val="475569"/>
                </a:solidFill>
                <a:latin typeface="IBM Plex Sans"/>
              </a:rPr>
              <a:t>Approved answers in the investor's own file</a:t>
            </a:r>
          </a:p>
        </p:txBody>
      </p:sp>
      <p:sp>
        <p:nvSpPr>
          <p:cNvPr id="33" name="Rounded Rectangle 32"/>
          <p:cNvSpPr/>
          <p:nvPr/>
        </p:nvSpPr>
        <p:spPr>
          <a:xfrm>
            <a:off x="812800"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337050"/>
            <a:ext cx="304800" cy="304800"/>
          </a:xfrm>
          <a:prstGeom prst="ellipse">
            <a:avLst/>
          </a:prstGeom>
          <a:solidFill>
            <a:srgbClr val="F1F5F9"/>
          </a:solidFill>
          <a:ln>
            <a:noFill/>
          </a:ln>
          <a:effectLst/>
        </p:spPr>
        <p:txBody>
          <a:bodyPr rtlCol="0" anchor="ctr"/>
          <a:lstStyle/>
          <a:p>
            <a:pPr algn="ctr"/>
          </a:p>
        </p:txBody>
      </p:sp>
      <p:pic>
        <p:nvPicPr>
          <p:cNvPr id="35" name="Picture 34" descr="library-0F172A.png"/>
          <p:cNvPicPr>
            <a:picLocks noChangeAspect="1"/>
          </p:cNvPicPr>
          <p:nvPr/>
        </p:nvPicPr>
        <p:blipFill>
          <a:blip r:embed="rId9"/>
          <a:stretch>
            <a:fillRect/>
          </a:stretch>
        </p:blipFill>
        <p:spPr>
          <a:xfrm>
            <a:off x="1041400" y="4413250"/>
            <a:ext cx="152400" cy="152400"/>
          </a:xfrm>
          <a:prstGeom prst="rect">
            <a:avLst/>
          </a:prstGeom>
        </p:spPr>
      </p:pic>
      <p:sp>
        <p:nvSpPr>
          <p:cNvPr id="36" name="TextBox 35"/>
          <p:cNvSpPr txBox="1"/>
          <p:nvPr/>
        </p:nvSpPr>
        <p:spPr>
          <a:xfrm>
            <a:off x="1371600"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LIBRARY</a:t>
            </a:r>
          </a:p>
        </p:txBody>
      </p:sp>
      <p:sp>
        <p:nvSpPr>
          <p:cNvPr id="37" name="TextBox 36"/>
          <p:cNvSpPr txBox="1"/>
          <p:nvPr/>
        </p:nvSpPr>
        <p:spPr>
          <a:xfrm>
            <a:off x="965200"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Approved answers go back into the library with a review-by date 12 months out.</a:t>
            </a:r>
          </a:p>
        </p:txBody>
      </p:sp>
      <p:sp>
        <p:nvSpPr>
          <p:cNvPr id="38" name="Rounded Rectangle 37"/>
          <p:cNvSpPr/>
          <p:nvPr/>
        </p:nvSpPr>
        <p:spPr>
          <a:xfrm>
            <a:off x="4385733"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337050"/>
            <a:ext cx="304800" cy="304800"/>
          </a:xfrm>
          <a:prstGeom prst="ellipse">
            <a:avLst/>
          </a:prstGeom>
          <a:solidFill>
            <a:srgbClr val="F1F5F9"/>
          </a:solidFill>
          <a:ln>
            <a:noFill/>
          </a:ln>
          <a:effectLst/>
        </p:spPr>
        <p:txBody>
          <a:bodyPr rtlCol="0" anchor="ctr"/>
          <a:lstStyle/>
          <a:p>
            <a:pPr algn="ctr"/>
          </a:p>
        </p:txBody>
      </p:sp>
      <p:pic>
        <p:nvPicPr>
          <p:cNvPr id="40" name="Picture 39" descr="flag-0F172A.png"/>
          <p:cNvPicPr>
            <a:picLocks noChangeAspect="1"/>
          </p:cNvPicPr>
          <p:nvPr/>
        </p:nvPicPr>
        <p:blipFill>
          <a:blip r:embed="rId10"/>
          <a:stretch>
            <a:fillRect/>
          </a:stretch>
        </p:blipFill>
        <p:spPr>
          <a:xfrm>
            <a:off x="4614333" y="4413250"/>
            <a:ext cx="152400" cy="152400"/>
          </a:xfrm>
          <a:prstGeom prst="rect">
            <a:avLst/>
          </a:prstGeom>
        </p:spPr>
      </p:pic>
      <p:sp>
        <p:nvSpPr>
          <p:cNvPr id="41" name="TextBox 40"/>
          <p:cNvSpPr txBox="1"/>
          <p:nvPr/>
        </p:nvSpPr>
        <p:spPr>
          <a:xfrm>
            <a:off x="4944533"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FLAGS</a:t>
            </a:r>
          </a:p>
        </p:txBody>
      </p:sp>
      <p:sp>
        <p:nvSpPr>
          <p:cNvPr id="42" name="TextBox 41"/>
          <p:cNvSpPr txBox="1"/>
          <p:nvPr/>
        </p:nvSpPr>
        <p:spPr>
          <a:xfrm>
            <a:off x="4538133"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Every flag, such as 'check figure' or 'stale source', must be confirmed by the approver.</a:t>
            </a:r>
          </a:p>
        </p:txBody>
      </p:sp>
      <p:sp>
        <p:nvSpPr>
          <p:cNvPr id="43" name="Rounded Rectangle 42"/>
          <p:cNvSpPr/>
          <p:nvPr/>
        </p:nvSpPr>
        <p:spPr>
          <a:xfrm>
            <a:off x="7958667"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33705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413250"/>
            <a:ext cx="152400" cy="152400"/>
          </a:xfrm>
          <a:prstGeom prst="rect">
            <a:avLst/>
          </a:prstGeom>
        </p:spPr>
      </p:pic>
      <p:sp>
        <p:nvSpPr>
          <p:cNvPr id="46" name="TextBox 45"/>
          <p:cNvSpPr txBox="1"/>
          <p:nvPr/>
        </p:nvSpPr>
        <p:spPr>
          <a:xfrm>
            <a:off x="8517467"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 draft with an unsupported number is discarded. Library edits are approver-only.</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27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ANALYSE AND DECIDE · 18</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Reports, house decks and dashboards</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The model plans the story; renderers and Superset produce every page and every number.</a:t>
            </a:r>
          </a:p>
        </p:txBody>
      </p:sp>
      <p:sp>
        <p:nvSpPr>
          <p:cNvPr id="5" name="Oval 4"/>
          <p:cNvSpPr/>
          <p:nvPr/>
        </p:nvSpPr>
        <p:spPr>
          <a:xfrm>
            <a:off x="1413933"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6" name="Picture 5" descr="database-475569.png"/>
          <p:cNvPicPr>
            <a:picLocks noChangeAspect="1"/>
          </p:cNvPicPr>
          <p:nvPr/>
        </p:nvPicPr>
        <p:blipFill>
          <a:blip r:embed="rId2"/>
          <a:stretch>
            <a:fillRect/>
          </a:stretch>
        </p:blipFill>
        <p:spPr>
          <a:xfrm>
            <a:off x="1566333" y="2254250"/>
            <a:ext cx="254000" cy="254000"/>
          </a:xfrm>
          <a:prstGeom prst="rect">
            <a:avLst/>
          </a:prstGeom>
        </p:spPr>
      </p:pic>
      <p:sp>
        <p:nvSpPr>
          <p:cNvPr id="7" name="TextBox 6"/>
          <p:cNvSpPr txBox="1"/>
          <p:nvPr/>
        </p:nvSpPr>
        <p:spPr>
          <a:xfrm>
            <a:off x="8890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INPUT</a:t>
            </a:r>
          </a:p>
          <a:p>
            <a:pPr algn="ctr">
              <a:lnSpc>
                <a:spcPct val="100000"/>
              </a:lnSpc>
              <a:spcAft>
                <a:spcPts val="300"/>
              </a:spcAft>
            </a:pPr>
            <a:r>
              <a:rPr sz="1400" b="1">
                <a:solidFill>
                  <a:srgbClr val="0F172A"/>
                </a:solidFill>
                <a:latin typeface="IBM Plex Sans"/>
              </a:rPr>
              <a:t>Stored outputs</a:t>
            </a:r>
          </a:p>
          <a:p>
            <a:pPr algn="ctr">
              <a:lnSpc>
                <a:spcPct val="112500"/>
              </a:lnSpc>
              <a:spcAft>
                <a:spcPts val="0"/>
              </a:spcAft>
            </a:pPr>
            <a:r>
              <a:rPr sz="1200" b="0">
                <a:solidFill>
                  <a:srgbClr val="475569"/>
                </a:solidFill>
                <a:latin typeface="IBM Plex Sans"/>
              </a:rPr>
              <a:t>Runs and decisions from the catalogue</a:t>
            </a:r>
          </a:p>
        </p:txBody>
      </p:sp>
      <p:sp>
        <p:nvSpPr>
          <p:cNvPr id="8" name="Rectangle 7"/>
          <p:cNvSpPr/>
          <p:nvPr/>
        </p:nvSpPr>
        <p:spPr>
          <a:xfrm>
            <a:off x="2099733" y="2374900"/>
            <a:ext cx="948267" cy="12700"/>
          </a:xfrm>
          <a:prstGeom prst="rect">
            <a:avLst/>
          </a:prstGeom>
          <a:solidFill>
            <a:srgbClr val="94A3B8"/>
          </a:solidFill>
          <a:ln>
            <a:noFill/>
          </a:ln>
          <a:effectLst/>
        </p:spPr>
        <p:txBody>
          <a:bodyPr rtlCol="0" anchor="ctr"/>
          <a:lstStyle/>
          <a:p>
            <a:pPr algn="ctr"/>
          </a:p>
        </p:txBody>
      </p:sp>
      <p:pic>
        <p:nvPicPr>
          <p:cNvPr id="9" name="Picture 8" descr="arrowhead.png"/>
          <p:cNvPicPr>
            <a:picLocks noChangeAspect="1"/>
          </p:cNvPicPr>
          <p:nvPr/>
        </p:nvPicPr>
        <p:blipFill>
          <a:blip r:embed="rId3"/>
          <a:stretch>
            <a:fillRect/>
          </a:stretch>
        </p:blipFill>
        <p:spPr>
          <a:xfrm>
            <a:off x="3048000" y="2330450"/>
            <a:ext cx="76200" cy="101600"/>
          </a:xfrm>
          <a:prstGeom prst="rect">
            <a:avLst/>
          </a:prstGeom>
        </p:spPr>
      </p:pic>
      <p:sp>
        <p:nvSpPr>
          <p:cNvPr id="10" name="Oval 9"/>
          <p:cNvSpPr/>
          <p:nvPr/>
        </p:nvSpPr>
        <p:spPr>
          <a:xfrm>
            <a:off x="3175000" y="2101850"/>
            <a:ext cx="558800" cy="558800"/>
          </a:xfrm>
          <a:prstGeom prst="ellipse">
            <a:avLst/>
          </a:prstGeom>
          <a:solidFill>
            <a:srgbClr val="16A34A"/>
          </a:solidFill>
          <a:ln>
            <a:noFill/>
          </a:ln>
          <a:effectLst/>
        </p:spPr>
        <p:txBody>
          <a:bodyPr rtlCol="0" anchor="ctr"/>
          <a:lstStyle/>
          <a:p>
            <a:pPr algn="ctr"/>
          </a:p>
        </p:txBody>
      </p:sp>
      <p:pic>
        <p:nvPicPr>
          <p:cNvPr id="11" name="Picture 10" descr="presentation-FFFFFF.png"/>
          <p:cNvPicPr>
            <a:picLocks noChangeAspect="1"/>
          </p:cNvPicPr>
          <p:nvPr/>
        </p:nvPicPr>
        <p:blipFill>
          <a:blip r:embed="rId4"/>
          <a:stretch>
            <a:fillRect/>
          </a:stretch>
        </p:blipFill>
        <p:spPr>
          <a:xfrm>
            <a:off x="3327400" y="2254250"/>
            <a:ext cx="254000" cy="254000"/>
          </a:xfrm>
          <a:prstGeom prst="rect">
            <a:avLst/>
          </a:prstGeom>
        </p:spPr>
      </p:pic>
      <p:sp>
        <p:nvSpPr>
          <p:cNvPr id="12" name="TextBox 11"/>
          <p:cNvSpPr txBox="1"/>
          <p:nvPr/>
        </p:nvSpPr>
        <p:spPr>
          <a:xfrm>
            <a:off x="26500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Storyline</a:t>
            </a:r>
          </a:p>
          <a:p>
            <a:pPr algn="ctr">
              <a:lnSpc>
                <a:spcPct val="112500"/>
              </a:lnSpc>
              <a:spcAft>
                <a:spcPts val="0"/>
              </a:spcAft>
            </a:pPr>
            <a:r>
              <a:rPr sz="1200" b="0">
                <a:solidFill>
                  <a:srgbClr val="475569"/>
                </a:solidFill>
                <a:latin typeface="IBM Plex Sans"/>
              </a:rPr>
              <a:t>A drafted plan of slides</a:t>
            </a:r>
          </a:p>
        </p:txBody>
      </p:sp>
      <p:sp>
        <p:nvSpPr>
          <p:cNvPr id="13" name="Rectangle 12"/>
          <p:cNvSpPr/>
          <p:nvPr/>
        </p:nvSpPr>
        <p:spPr>
          <a:xfrm>
            <a:off x="3860800" y="2374900"/>
            <a:ext cx="948267" cy="12700"/>
          </a:xfrm>
          <a:prstGeom prst="rect">
            <a:avLst/>
          </a:prstGeom>
          <a:solidFill>
            <a:srgbClr val="94A3B8"/>
          </a:solidFill>
          <a:ln>
            <a:noFill/>
          </a:ln>
          <a:effectLst/>
        </p:spPr>
        <p:txBody>
          <a:bodyPr rtlCol="0" anchor="ctr"/>
          <a:lstStyle/>
          <a:p>
            <a:pPr algn="ctr"/>
          </a:p>
        </p:txBody>
      </p:sp>
      <p:pic>
        <p:nvPicPr>
          <p:cNvPr id="14" name="Picture 13" descr="arrowhead.png"/>
          <p:cNvPicPr>
            <a:picLocks noChangeAspect="1"/>
          </p:cNvPicPr>
          <p:nvPr/>
        </p:nvPicPr>
        <p:blipFill>
          <a:blip r:embed="rId3"/>
          <a:stretch>
            <a:fillRect/>
          </a:stretch>
        </p:blipFill>
        <p:spPr>
          <a:xfrm>
            <a:off x="4809067" y="2330450"/>
            <a:ext cx="76200" cy="101600"/>
          </a:xfrm>
          <a:prstGeom prst="rect">
            <a:avLst/>
          </a:prstGeom>
        </p:spPr>
      </p:pic>
      <p:sp>
        <p:nvSpPr>
          <p:cNvPr id="15" name="Oval 14"/>
          <p:cNvSpPr/>
          <p:nvPr/>
        </p:nvSpPr>
        <p:spPr>
          <a:xfrm>
            <a:off x="4936067" y="2101850"/>
            <a:ext cx="558800" cy="558800"/>
          </a:xfrm>
          <a:prstGeom prst="ellipse">
            <a:avLst/>
          </a:prstGeom>
          <a:solidFill>
            <a:srgbClr val="2563EB"/>
          </a:solidFill>
          <a:ln>
            <a:noFill/>
          </a:ln>
          <a:effectLst/>
        </p:spPr>
        <p:txBody>
          <a:bodyPr rtlCol="0" anchor="ctr"/>
          <a:lstStyle/>
          <a:p>
            <a:pPr algn="ctr"/>
          </a:p>
        </p:txBody>
      </p:sp>
      <p:pic>
        <p:nvPicPr>
          <p:cNvPr id="16" name="Picture 15" descr="user-check-FFFFFF.png"/>
          <p:cNvPicPr>
            <a:picLocks noChangeAspect="1"/>
          </p:cNvPicPr>
          <p:nvPr/>
        </p:nvPicPr>
        <p:blipFill>
          <a:blip r:embed="rId5"/>
          <a:stretch>
            <a:fillRect/>
          </a:stretch>
        </p:blipFill>
        <p:spPr>
          <a:xfrm>
            <a:off x="5088467" y="2254250"/>
            <a:ext cx="254000" cy="254000"/>
          </a:xfrm>
          <a:prstGeom prst="rect">
            <a:avLst/>
          </a:prstGeom>
        </p:spPr>
      </p:pic>
      <p:sp>
        <p:nvSpPr>
          <p:cNvPr id="17" name="TextBox 16"/>
          <p:cNvSpPr txBox="1"/>
          <p:nvPr/>
        </p:nvSpPr>
        <p:spPr>
          <a:xfrm>
            <a:off x="44111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D4ED8"/>
                </a:solidFill>
                <a:latin typeface="IBM Plex Mono"/>
              </a:rPr>
              <a:t>PERSON</a:t>
            </a:r>
          </a:p>
          <a:p>
            <a:pPr algn="ctr">
              <a:lnSpc>
                <a:spcPct val="100000"/>
              </a:lnSpc>
              <a:spcAft>
                <a:spcPts val="300"/>
              </a:spcAft>
            </a:pPr>
            <a:r>
              <a:rPr sz="1400" b="1">
                <a:solidFill>
                  <a:srgbClr val="0F172A"/>
                </a:solidFill>
                <a:latin typeface="IBM Plex Sans"/>
              </a:rPr>
              <a:t>Approve</a:t>
            </a:r>
          </a:p>
          <a:p>
            <a:pPr algn="ctr">
              <a:lnSpc>
                <a:spcPct val="112500"/>
              </a:lnSpc>
              <a:spcAft>
                <a:spcPts val="0"/>
              </a:spcAft>
            </a:pPr>
            <a:r>
              <a:rPr sz="1200" b="0">
                <a:solidFill>
                  <a:srgbClr val="475569"/>
                </a:solidFill>
                <a:latin typeface="IBM Plex Sans"/>
              </a:rPr>
              <a:t>Edit or accept the storyline</a:t>
            </a:r>
          </a:p>
        </p:txBody>
      </p:sp>
      <p:sp>
        <p:nvSpPr>
          <p:cNvPr id="18" name="Rectangle 17"/>
          <p:cNvSpPr/>
          <p:nvPr/>
        </p:nvSpPr>
        <p:spPr>
          <a:xfrm>
            <a:off x="5621867" y="2374900"/>
            <a:ext cx="948267" cy="12700"/>
          </a:xfrm>
          <a:prstGeom prst="rect">
            <a:avLst/>
          </a:prstGeom>
          <a:solidFill>
            <a:srgbClr val="94A3B8"/>
          </a:solidFill>
          <a:ln>
            <a:noFill/>
          </a:ln>
          <a:effectLst/>
        </p:spPr>
        <p:txBody>
          <a:bodyPr rtlCol="0" anchor="ctr"/>
          <a:lstStyle/>
          <a:p>
            <a:pPr algn="ctr"/>
          </a:p>
        </p:txBody>
      </p:sp>
      <p:pic>
        <p:nvPicPr>
          <p:cNvPr id="19" name="Picture 18" descr="arrowhead.png"/>
          <p:cNvPicPr>
            <a:picLocks noChangeAspect="1"/>
          </p:cNvPicPr>
          <p:nvPr/>
        </p:nvPicPr>
        <p:blipFill>
          <a:blip r:embed="rId3"/>
          <a:stretch>
            <a:fillRect/>
          </a:stretch>
        </p:blipFill>
        <p:spPr>
          <a:xfrm>
            <a:off x="6570133" y="2330450"/>
            <a:ext cx="76200" cy="101600"/>
          </a:xfrm>
          <a:prstGeom prst="rect">
            <a:avLst/>
          </a:prstGeom>
        </p:spPr>
      </p:pic>
      <p:sp>
        <p:nvSpPr>
          <p:cNvPr id="20" name="Oval 19"/>
          <p:cNvSpPr/>
          <p:nvPr/>
        </p:nvSpPr>
        <p:spPr>
          <a:xfrm>
            <a:off x="6697133" y="2101850"/>
            <a:ext cx="558800" cy="558800"/>
          </a:xfrm>
          <a:prstGeom prst="ellipse">
            <a:avLst/>
          </a:prstGeom>
          <a:solidFill>
            <a:srgbClr val="16A34A"/>
          </a:solidFill>
          <a:ln>
            <a:noFill/>
          </a:ln>
          <a:effectLst/>
        </p:spPr>
        <p:txBody>
          <a:bodyPr rtlCol="0" anchor="ctr"/>
          <a:lstStyle/>
          <a:p>
            <a:pPr algn="ctr"/>
          </a:p>
        </p:txBody>
      </p:sp>
      <p:pic>
        <p:nvPicPr>
          <p:cNvPr id="21" name="Picture 20" descr="wand-sparkles-FFFFFF.png"/>
          <p:cNvPicPr>
            <a:picLocks noChangeAspect="1"/>
          </p:cNvPicPr>
          <p:nvPr/>
        </p:nvPicPr>
        <p:blipFill>
          <a:blip r:embed="rId6"/>
          <a:stretch>
            <a:fillRect/>
          </a:stretch>
        </p:blipFill>
        <p:spPr>
          <a:xfrm>
            <a:off x="6849533" y="2254250"/>
            <a:ext cx="254000" cy="254000"/>
          </a:xfrm>
          <a:prstGeom prst="rect">
            <a:avLst/>
          </a:prstGeom>
        </p:spPr>
      </p:pic>
      <p:sp>
        <p:nvSpPr>
          <p:cNvPr id="22" name="TextBox 21"/>
          <p:cNvSpPr txBox="1"/>
          <p:nvPr/>
        </p:nvSpPr>
        <p:spPr>
          <a:xfrm>
            <a:off x="6172200"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15803D"/>
                </a:solidFill>
                <a:latin typeface="IBM Plex Mono"/>
              </a:rPr>
              <a:t>LLM</a:t>
            </a:r>
          </a:p>
          <a:p>
            <a:pPr algn="ctr">
              <a:lnSpc>
                <a:spcPct val="100000"/>
              </a:lnSpc>
              <a:spcAft>
                <a:spcPts val="300"/>
              </a:spcAft>
            </a:pPr>
            <a:r>
              <a:rPr sz="1400" b="1">
                <a:solidFill>
                  <a:srgbClr val="0F172A"/>
                </a:solidFill>
                <a:latin typeface="IBM Plex Sans"/>
              </a:rPr>
              <a:t>Fill and check</a:t>
            </a:r>
          </a:p>
          <a:p>
            <a:pPr algn="ctr">
              <a:lnSpc>
                <a:spcPct val="112500"/>
              </a:lnSpc>
              <a:spcAft>
                <a:spcPts val="0"/>
              </a:spcAft>
            </a:pPr>
            <a:r>
              <a:rPr sz="1200" b="0">
                <a:solidFill>
                  <a:srgbClr val="475569"/>
                </a:solidFill>
                <a:latin typeface="IBM Plex Sans"/>
              </a:rPr>
              <a:t>Each slide filled, linted, fitted, checked</a:t>
            </a:r>
          </a:p>
        </p:txBody>
      </p:sp>
      <p:sp>
        <p:nvSpPr>
          <p:cNvPr id="23" name="Rectangle 22"/>
          <p:cNvSpPr/>
          <p:nvPr/>
        </p:nvSpPr>
        <p:spPr>
          <a:xfrm>
            <a:off x="7382933" y="2374900"/>
            <a:ext cx="948267" cy="12700"/>
          </a:xfrm>
          <a:prstGeom prst="rect">
            <a:avLst/>
          </a:prstGeom>
          <a:solidFill>
            <a:srgbClr val="94A3B8"/>
          </a:solidFill>
          <a:ln>
            <a:noFill/>
          </a:ln>
          <a:effectLst/>
        </p:spPr>
        <p:txBody>
          <a:bodyPr rtlCol="0" anchor="ctr"/>
          <a:lstStyle/>
          <a:p>
            <a:pPr algn="ctr"/>
          </a:p>
        </p:txBody>
      </p:sp>
      <p:pic>
        <p:nvPicPr>
          <p:cNvPr id="24" name="Picture 23" descr="arrowhead.png"/>
          <p:cNvPicPr>
            <a:picLocks noChangeAspect="1"/>
          </p:cNvPicPr>
          <p:nvPr/>
        </p:nvPicPr>
        <p:blipFill>
          <a:blip r:embed="rId3"/>
          <a:stretch>
            <a:fillRect/>
          </a:stretch>
        </p:blipFill>
        <p:spPr>
          <a:xfrm>
            <a:off x="8331200" y="2330450"/>
            <a:ext cx="76200" cy="101600"/>
          </a:xfrm>
          <a:prstGeom prst="rect">
            <a:avLst/>
          </a:prstGeom>
        </p:spPr>
      </p:pic>
      <p:sp>
        <p:nvSpPr>
          <p:cNvPr id="25" name="Oval 24"/>
          <p:cNvSpPr/>
          <p:nvPr/>
        </p:nvSpPr>
        <p:spPr>
          <a:xfrm>
            <a:off x="8458200" y="2101850"/>
            <a:ext cx="558800" cy="558800"/>
          </a:xfrm>
          <a:prstGeom prst="ellipse">
            <a:avLst/>
          </a:prstGeom>
          <a:solidFill>
            <a:srgbClr val="0F172A"/>
          </a:solidFill>
          <a:ln>
            <a:noFill/>
          </a:ln>
          <a:effectLst/>
        </p:spPr>
        <p:txBody>
          <a:bodyPr rtlCol="0" anchor="ctr"/>
          <a:lstStyle/>
          <a:p>
            <a:pPr algn="ctr"/>
          </a:p>
        </p:txBody>
      </p:sp>
      <p:pic>
        <p:nvPicPr>
          <p:cNvPr id="26" name="Picture 25" descr="file-output-FFFFFF.png"/>
          <p:cNvPicPr>
            <a:picLocks noChangeAspect="1"/>
          </p:cNvPicPr>
          <p:nvPr/>
        </p:nvPicPr>
        <p:blipFill>
          <a:blip r:embed="rId7"/>
          <a:stretch>
            <a:fillRect/>
          </a:stretch>
        </p:blipFill>
        <p:spPr>
          <a:xfrm>
            <a:off x="8610600" y="2254250"/>
            <a:ext cx="254000" cy="254000"/>
          </a:xfrm>
          <a:prstGeom prst="rect">
            <a:avLst/>
          </a:prstGeom>
        </p:spPr>
      </p:pic>
      <p:sp>
        <p:nvSpPr>
          <p:cNvPr id="27" name="TextBox 26"/>
          <p:cNvSpPr txBox="1"/>
          <p:nvPr/>
        </p:nvSpPr>
        <p:spPr>
          <a:xfrm>
            <a:off x="7933267"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0F172A"/>
                </a:solidFill>
                <a:latin typeface="IBM Plex Mono"/>
              </a:rPr>
              <a:t>CODE</a:t>
            </a:r>
          </a:p>
          <a:p>
            <a:pPr algn="ctr">
              <a:lnSpc>
                <a:spcPct val="100000"/>
              </a:lnSpc>
              <a:spcAft>
                <a:spcPts val="300"/>
              </a:spcAft>
            </a:pPr>
            <a:r>
              <a:rPr sz="1400" b="1">
                <a:solidFill>
                  <a:srgbClr val="0F172A"/>
                </a:solidFill>
                <a:latin typeface="IBM Plex Sans"/>
              </a:rPr>
              <a:t>Render</a:t>
            </a:r>
          </a:p>
          <a:p>
            <a:pPr algn="ctr">
              <a:lnSpc>
                <a:spcPct val="112500"/>
              </a:lnSpc>
              <a:spcAft>
                <a:spcPts val="0"/>
              </a:spcAft>
            </a:pPr>
            <a:r>
              <a:rPr sz="1200" b="0">
                <a:solidFill>
                  <a:srgbClr val="475569"/>
                </a:solidFill>
                <a:latin typeface="IBM Plex Sans"/>
              </a:rPr>
              <a:t>PPTX, PDF and DOCX in the house style</a:t>
            </a:r>
          </a:p>
        </p:txBody>
      </p:sp>
      <p:sp>
        <p:nvSpPr>
          <p:cNvPr id="28" name="Rectangle 27"/>
          <p:cNvSpPr/>
          <p:nvPr/>
        </p:nvSpPr>
        <p:spPr>
          <a:xfrm>
            <a:off x="9144000" y="2374900"/>
            <a:ext cx="948267" cy="12700"/>
          </a:xfrm>
          <a:prstGeom prst="rect">
            <a:avLst/>
          </a:prstGeom>
          <a:solidFill>
            <a:srgbClr val="94A3B8"/>
          </a:solidFill>
          <a:ln>
            <a:noFill/>
          </a:ln>
          <a:effectLst/>
        </p:spPr>
        <p:txBody>
          <a:bodyPr rtlCol="0" anchor="ctr"/>
          <a:lstStyle/>
          <a:p>
            <a:pPr algn="ctr"/>
          </a:p>
        </p:txBody>
      </p:sp>
      <p:pic>
        <p:nvPicPr>
          <p:cNvPr id="29" name="Picture 28" descr="arrowhead.png"/>
          <p:cNvPicPr>
            <a:picLocks noChangeAspect="1"/>
          </p:cNvPicPr>
          <p:nvPr/>
        </p:nvPicPr>
        <p:blipFill>
          <a:blip r:embed="rId3"/>
          <a:stretch>
            <a:fillRect/>
          </a:stretch>
        </p:blipFill>
        <p:spPr>
          <a:xfrm>
            <a:off x="10092267" y="2330450"/>
            <a:ext cx="76200" cy="101600"/>
          </a:xfrm>
          <a:prstGeom prst="rect">
            <a:avLst/>
          </a:prstGeom>
        </p:spPr>
      </p:pic>
      <p:sp>
        <p:nvSpPr>
          <p:cNvPr id="30" name="Oval 29"/>
          <p:cNvSpPr/>
          <p:nvPr/>
        </p:nvSpPr>
        <p:spPr>
          <a:xfrm>
            <a:off x="10219267" y="2101850"/>
            <a:ext cx="558800" cy="558800"/>
          </a:xfrm>
          <a:prstGeom prst="ellipse">
            <a:avLst/>
          </a:prstGeom>
          <a:solidFill>
            <a:srgbClr val="FFFFFF"/>
          </a:solidFill>
          <a:ln w="12700">
            <a:solidFill>
              <a:srgbClr val="94A3B8"/>
            </a:solidFill>
          </a:ln>
          <a:effectLst/>
        </p:spPr>
        <p:txBody>
          <a:bodyPr rtlCol="0" anchor="ctr"/>
          <a:lstStyle/>
          <a:p>
            <a:pPr algn="ctr"/>
          </a:p>
        </p:txBody>
      </p:sp>
      <p:pic>
        <p:nvPicPr>
          <p:cNvPr id="31" name="Picture 30" descr="presentation-475569.png"/>
          <p:cNvPicPr>
            <a:picLocks noChangeAspect="1"/>
          </p:cNvPicPr>
          <p:nvPr/>
        </p:nvPicPr>
        <p:blipFill>
          <a:blip r:embed="rId8"/>
          <a:stretch>
            <a:fillRect/>
          </a:stretch>
        </p:blipFill>
        <p:spPr>
          <a:xfrm>
            <a:off x="10371667" y="2254250"/>
            <a:ext cx="254000" cy="254000"/>
          </a:xfrm>
          <a:prstGeom prst="rect">
            <a:avLst/>
          </a:prstGeom>
        </p:spPr>
      </p:pic>
      <p:sp>
        <p:nvSpPr>
          <p:cNvPr id="32" name="TextBox 31"/>
          <p:cNvSpPr txBox="1"/>
          <p:nvPr/>
        </p:nvSpPr>
        <p:spPr>
          <a:xfrm>
            <a:off x="9694333" y="2762250"/>
            <a:ext cx="1608667" cy="1193800"/>
          </a:xfrm>
          <a:prstGeom prst="rect">
            <a:avLst/>
          </a:prstGeom>
          <a:noFill/>
        </p:spPr>
        <p:txBody>
          <a:bodyPr wrap="square" lIns="0" rIns="0" tIns="0" bIns="0" anchor="t">
            <a:spAutoFit/>
          </a:bodyPr>
          <a:lstStyle/>
          <a:p>
            <a:pPr algn="ctr">
              <a:lnSpc>
                <a:spcPct val="108333"/>
              </a:lnSpc>
              <a:spcAft>
                <a:spcPts val="300"/>
              </a:spcAft>
            </a:pPr>
            <a:r>
              <a:rPr sz="1200" b="0">
                <a:solidFill>
                  <a:srgbClr val="475569"/>
                </a:solidFill>
                <a:latin typeface="IBM Plex Mono"/>
              </a:rPr>
              <a:t>OUTPUT</a:t>
            </a:r>
          </a:p>
          <a:p>
            <a:pPr algn="ctr">
              <a:lnSpc>
                <a:spcPct val="100000"/>
              </a:lnSpc>
              <a:spcAft>
                <a:spcPts val="300"/>
              </a:spcAft>
            </a:pPr>
            <a:r>
              <a:rPr sz="1400" b="1">
                <a:solidFill>
                  <a:srgbClr val="0F172A"/>
                </a:solidFill>
                <a:latin typeface="IBM Plex Sans"/>
              </a:rPr>
              <a:t>Deck or report</a:t>
            </a:r>
          </a:p>
          <a:p>
            <a:pPr algn="ctr">
              <a:lnSpc>
                <a:spcPct val="112500"/>
              </a:lnSpc>
              <a:spcAft>
                <a:spcPts val="0"/>
              </a:spcAft>
            </a:pPr>
            <a:r>
              <a:rPr sz="1200" b="0">
                <a:solidFill>
                  <a:srgbClr val="475569"/>
                </a:solidFill>
                <a:latin typeface="IBM Plex Sans"/>
              </a:rPr>
              <a:t>Re-runnable on fresh pipeline data</a:t>
            </a:r>
          </a:p>
        </p:txBody>
      </p:sp>
      <p:sp>
        <p:nvSpPr>
          <p:cNvPr id="33" name="Rounded Rectangle 32"/>
          <p:cNvSpPr/>
          <p:nvPr/>
        </p:nvSpPr>
        <p:spPr>
          <a:xfrm>
            <a:off x="812800"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4" name="Oval 33"/>
          <p:cNvSpPr/>
          <p:nvPr/>
        </p:nvSpPr>
        <p:spPr>
          <a:xfrm>
            <a:off x="965200" y="4337050"/>
            <a:ext cx="304800" cy="304800"/>
          </a:xfrm>
          <a:prstGeom prst="ellipse">
            <a:avLst/>
          </a:prstGeom>
          <a:solidFill>
            <a:srgbClr val="F1F5F9"/>
          </a:solidFill>
          <a:ln>
            <a:noFill/>
          </a:ln>
          <a:effectLst/>
        </p:spPr>
        <p:txBody>
          <a:bodyPr rtlCol="0" anchor="ctr"/>
          <a:lstStyle/>
          <a:p>
            <a:pPr algn="ctr"/>
          </a:p>
        </p:txBody>
      </p:sp>
      <p:pic>
        <p:nvPicPr>
          <p:cNvPr id="35" name="Picture 34" descr="layout-dashboard-0F172A.png"/>
          <p:cNvPicPr>
            <a:picLocks noChangeAspect="1"/>
          </p:cNvPicPr>
          <p:nvPr/>
        </p:nvPicPr>
        <p:blipFill>
          <a:blip r:embed="rId9"/>
          <a:stretch>
            <a:fillRect/>
          </a:stretch>
        </p:blipFill>
        <p:spPr>
          <a:xfrm>
            <a:off x="1041400" y="4413250"/>
            <a:ext cx="152400" cy="152400"/>
          </a:xfrm>
          <a:prstGeom prst="rect">
            <a:avLst/>
          </a:prstGeom>
        </p:spPr>
      </p:pic>
      <p:sp>
        <p:nvSpPr>
          <p:cNvPr id="36" name="TextBox 35"/>
          <p:cNvSpPr txBox="1"/>
          <p:nvPr/>
        </p:nvSpPr>
        <p:spPr>
          <a:xfrm>
            <a:off x="1371600"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SUPERSET BI</a:t>
            </a:r>
          </a:p>
        </p:txBody>
      </p:sp>
      <p:sp>
        <p:nvSpPr>
          <p:cNvPr id="37" name="TextBox 36"/>
          <p:cNvSpPr txBox="1"/>
          <p:nvPr/>
        </p:nvSpPr>
        <p:spPr>
          <a:xfrm>
            <a:off x="965200"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Describe a dashboard in words: the plan comes from a closed catalogue, code compiles it, Superset computes.</a:t>
            </a:r>
          </a:p>
        </p:txBody>
      </p:sp>
      <p:sp>
        <p:nvSpPr>
          <p:cNvPr id="38" name="Rounded Rectangle 37"/>
          <p:cNvSpPr/>
          <p:nvPr/>
        </p:nvSpPr>
        <p:spPr>
          <a:xfrm>
            <a:off x="4385733"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39" name="Oval 38"/>
          <p:cNvSpPr/>
          <p:nvPr/>
        </p:nvSpPr>
        <p:spPr>
          <a:xfrm>
            <a:off x="4538133" y="4337050"/>
            <a:ext cx="304800" cy="304800"/>
          </a:xfrm>
          <a:prstGeom prst="ellipse">
            <a:avLst/>
          </a:prstGeom>
          <a:solidFill>
            <a:srgbClr val="F1F5F9"/>
          </a:solidFill>
          <a:ln>
            <a:noFill/>
          </a:ln>
          <a:effectLst/>
        </p:spPr>
        <p:txBody>
          <a:bodyPr rtlCol="0" anchor="ctr"/>
          <a:lstStyle/>
          <a:p>
            <a:pPr algn="ctr"/>
          </a:p>
        </p:txBody>
      </p:sp>
      <p:pic>
        <p:nvPicPr>
          <p:cNvPr id="40" name="Picture 39" descr="layout-template-0F172A.png"/>
          <p:cNvPicPr>
            <a:picLocks noChangeAspect="1"/>
          </p:cNvPicPr>
          <p:nvPr/>
        </p:nvPicPr>
        <p:blipFill>
          <a:blip r:embed="rId10"/>
          <a:stretch>
            <a:fillRect/>
          </a:stretch>
        </p:blipFill>
        <p:spPr>
          <a:xfrm>
            <a:off x="4614333" y="4413250"/>
            <a:ext cx="152400" cy="152400"/>
          </a:xfrm>
          <a:prstGeom prst="rect">
            <a:avLst/>
          </a:prstGeom>
        </p:spPr>
      </p:pic>
      <p:sp>
        <p:nvSpPr>
          <p:cNvPr id="41" name="TextBox 40"/>
          <p:cNvSpPr txBox="1"/>
          <p:nvPr/>
        </p:nvSpPr>
        <p:spPr>
          <a:xfrm>
            <a:off x="4944533"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TEMPLATES</a:t>
            </a:r>
          </a:p>
        </p:txBody>
      </p:sp>
      <p:sp>
        <p:nvSpPr>
          <p:cNvPr id="42" name="TextBox 41"/>
          <p:cNvSpPr txBox="1"/>
          <p:nvPr/>
        </p:nvSpPr>
        <p:spPr>
          <a:xfrm>
            <a:off x="4538133"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An ingested .pptx template's layouts, colours and fonts are reused.</a:t>
            </a:r>
          </a:p>
        </p:txBody>
      </p:sp>
      <p:sp>
        <p:nvSpPr>
          <p:cNvPr id="43" name="Rounded Rectangle 42"/>
          <p:cNvSpPr/>
          <p:nvPr/>
        </p:nvSpPr>
        <p:spPr>
          <a:xfrm>
            <a:off x="7958667" y="4184650"/>
            <a:ext cx="3420533" cy="1377950"/>
          </a:xfrm>
          <a:prstGeom prst="roundRect">
            <a:avLst>
              <a:gd name="adj" fmla="val 7373"/>
            </a:avLst>
          </a:prstGeom>
          <a:solidFill>
            <a:srgbClr val="FFFFFF"/>
          </a:solidFill>
          <a:ln w="9525">
            <a:solidFill>
              <a:srgbClr val="E2E8F0"/>
            </a:solidFill>
          </a:ln>
          <a:effectLst/>
        </p:spPr>
        <p:txBody>
          <a:bodyPr rtlCol="0" anchor="ctr"/>
          <a:lstStyle/>
          <a:p>
            <a:pPr algn="ctr"/>
          </a:p>
        </p:txBody>
      </p:sp>
      <p:sp>
        <p:nvSpPr>
          <p:cNvPr id="44" name="Oval 43"/>
          <p:cNvSpPr/>
          <p:nvPr/>
        </p:nvSpPr>
        <p:spPr>
          <a:xfrm>
            <a:off x="8111067" y="4337050"/>
            <a:ext cx="304800" cy="304800"/>
          </a:xfrm>
          <a:prstGeom prst="ellipse">
            <a:avLst/>
          </a:prstGeom>
          <a:solidFill>
            <a:srgbClr val="F1F5F9"/>
          </a:solidFill>
          <a:ln>
            <a:noFill/>
          </a:ln>
          <a:effectLst/>
        </p:spPr>
        <p:txBody>
          <a:bodyPr rtlCol="0" anchor="ctr"/>
          <a:lstStyle/>
          <a:p>
            <a:pPr algn="ctr"/>
          </a:p>
        </p:txBody>
      </p:sp>
      <p:pic>
        <p:nvPicPr>
          <p:cNvPr id="45" name="Picture 44" descr="shield-check-0F172A.png"/>
          <p:cNvPicPr>
            <a:picLocks noChangeAspect="1"/>
          </p:cNvPicPr>
          <p:nvPr/>
        </p:nvPicPr>
        <p:blipFill>
          <a:blip r:embed="rId11"/>
          <a:stretch>
            <a:fillRect/>
          </a:stretch>
        </p:blipFill>
        <p:spPr>
          <a:xfrm>
            <a:off x="8187267" y="4413250"/>
            <a:ext cx="152400" cy="152400"/>
          </a:xfrm>
          <a:prstGeom prst="rect">
            <a:avLst/>
          </a:prstGeom>
        </p:spPr>
      </p:pic>
      <p:sp>
        <p:nvSpPr>
          <p:cNvPr id="46" name="TextBox 45"/>
          <p:cNvSpPr txBox="1"/>
          <p:nvPr/>
        </p:nvSpPr>
        <p:spPr>
          <a:xfrm>
            <a:off x="8517467" y="4337050"/>
            <a:ext cx="2709333" cy="304800"/>
          </a:xfrm>
          <a:prstGeom prst="rect">
            <a:avLst/>
          </a:prstGeom>
          <a:noFill/>
        </p:spPr>
        <p:txBody>
          <a:bodyPr wrap="square" lIns="0" rIns="0" tIns="0" bIns="0" anchor="ctr">
            <a:spAutoFit/>
          </a:bodyPr>
          <a:lstStyle/>
          <a:p>
            <a:pPr>
              <a:lnSpc>
                <a:spcPct val="108333"/>
              </a:lnSpc>
              <a:spcAft>
                <a:spcPts val="0"/>
              </a:spcAft>
            </a:pPr>
            <a:r>
              <a:rPr sz="1200" b="0">
                <a:solidFill>
                  <a:srgbClr val="0F172A"/>
                </a:solidFill>
                <a:latin typeface="IBM Plex Mono"/>
              </a:rPr>
              <a:t>CONTROLS</a:t>
            </a:r>
          </a:p>
        </p:txBody>
      </p:sp>
      <p:sp>
        <p:nvSpPr>
          <p:cNvPr id="47" name="TextBox 46"/>
          <p:cNvSpPr txBox="1"/>
          <p:nvPr/>
        </p:nvSpPr>
        <p:spPr>
          <a:xfrm>
            <a:off x="8111067" y="4718050"/>
            <a:ext cx="3115733" cy="6921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BI commentary is checked figure by figure. The model never writes SQL or sees a number.</a:t>
            </a:r>
          </a:p>
        </p:txBody>
      </p:sp>
      <p:sp>
        <p:nvSpPr>
          <p:cNvPr id="48" name="TextBox 47"/>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49" name="TextBox 48"/>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28 / 29</a:t>
            </a:r>
          </a:p>
        </p:txBody>
      </p:sp>
      <p:sp>
        <p:nvSpPr>
          <p:cNvPr id="50" name="Oval 49"/>
          <p:cNvSpPr/>
          <p:nvPr/>
        </p:nvSpPr>
        <p:spPr>
          <a:xfrm>
            <a:off x="4826000" y="6305550"/>
            <a:ext cx="101600" cy="101600"/>
          </a:xfrm>
          <a:prstGeom prst="ellipse">
            <a:avLst/>
          </a:prstGeom>
          <a:solidFill>
            <a:srgbClr val="0F172A"/>
          </a:solidFill>
          <a:ln>
            <a:noFill/>
          </a:ln>
          <a:effectLst/>
        </p:spPr>
        <p:txBody>
          <a:bodyPr rtlCol="0" anchor="ctr"/>
          <a:lstStyle/>
          <a:p>
            <a:pPr algn="ctr"/>
          </a:p>
        </p:txBody>
      </p:sp>
      <p:sp>
        <p:nvSpPr>
          <p:cNvPr id="51" name="TextBox 50"/>
          <p:cNvSpPr txBox="1"/>
          <p:nvPr/>
        </p:nvSpPr>
        <p:spPr>
          <a:xfrm>
            <a:off x="4978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CODE</a:t>
            </a:r>
          </a:p>
        </p:txBody>
      </p:sp>
      <p:sp>
        <p:nvSpPr>
          <p:cNvPr id="52" name="Oval 51"/>
          <p:cNvSpPr/>
          <p:nvPr/>
        </p:nvSpPr>
        <p:spPr>
          <a:xfrm>
            <a:off x="5588000" y="6305550"/>
            <a:ext cx="101600" cy="101600"/>
          </a:xfrm>
          <a:prstGeom prst="ellipse">
            <a:avLst/>
          </a:prstGeom>
          <a:solidFill>
            <a:srgbClr val="16A34A"/>
          </a:solidFill>
          <a:ln>
            <a:noFill/>
          </a:ln>
          <a:effectLst/>
        </p:spPr>
        <p:txBody>
          <a:bodyPr rtlCol="0" anchor="ctr"/>
          <a:lstStyle/>
          <a:p>
            <a:pPr algn="ctr"/>
          </a:p>
        </p:txBody>
      </p:sp>
      <p:sp>
        <p:nvSpPr>
          <p:cNvPr id="53" name="TextBox 52"/>
          <p:cNvSpPr txBox="1"/>
          <p:nvPr/>
        </p:nvSpPr>
        <p:spPr>
          <a:xfrm>
            <a:off x="57404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LLM</a:t>
            </a:r>
          </a:p>
        </p:txBody>
      </p:sp>
      <p:sp>
        <p:nvSpPr>
          <p:cNvPr id="54" name="Oval 53"/>
          <p:cNvSpPr/>
          <p:nvPr/>
        </p:nvSpPr>
        <p:spPr>
          <a:xfrm>
            <a:off x="6248400" y="6305550"/>
            <a:ext cx="101600" cy="101600"/>
          </a:xfrm>
          <a:prstGeom prst="ellipse">
            <a:avLst/>
          </a:prstGeom>
          <a:solidFill>
            <a:srgbClr val="2563EB"/>
          </a:solidFill>
          <a:ln>
            <a:noFill/>
          </a:ln>
          <a:effectLst/>
        </p:spPr>
        <p:txBody>
          <a:bodyPr rtlCol="0" anchor="ctr"/>
          <a:lstStyle/>
          <a:p>
            <a:pPr algn="ctr"/>
          </a:p>
        </p:txBody>
      </p:sp>
      <p:sp>
        <p:nvSpPr>
          <p:cNvPr id="55" name="TextBox 54"/>
          <p:cNvSpPr txBox="1"/>
          <p:nvPr/>
        </p:nvSpPr>
        <p:spPr>
          <a:xfrm>
            <a:off x="6400800" y="6254750"/>
            <a:ext cx="889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PERSON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812800"/>
            <a:ext cx="10566400" cy="196850"/>
          </a:xfrm>
          <a:prstGeom prst="rect">
            <a:avLst/>
          </a:prstGeom>
          <a:noFill/>
        </p:spPr>
        <p:txBody>
          <a:bodyPr wrap="square" lIns="0" rIns="0" tIns="0" bIns="0" anchor="t">
            <a:spAutoFit/>
          </a:bodyPr>
          <a:lstStyle/>
          <a:p>
            <a:pPr>
              <a:lnSpc>
                <a:spcPct val="108333"/>
              </a:lnSpc>
              <a:spcAft>
                <a:spcPts val="0"/>
              </a:spcAft>
            </a:pPr>
            <a:r>
              <a:rPr sz="1200" b="0">
                <a:solidFill>
                  <a:srgbClr val="15803D"/>
                </a:solidFill>
                <a:latin typeface="IBM Plex Mono"/>
              </a:rPr>
              <a:t>CONTROLS</a:t>
            </a:r>
          </a:p>
        </p:txBody>
      </p:sp>
      <p:sp>
        <p:nvSpPr>
          <p:cNvPr id="3" name="TextBox 2"/>
          <p:cNvSpPr txBox="1"/>
          <p:nvPr/>
        </p:nvSpPr>
        <p:spPr>
          <a:xfrm>
            <a:off x="812800" y="1111250"/>
            <a:ext cx="10566400" cy="412750"/>
          </a:xfrm>
          <a:prstGeom prst="rect">
            <a:avLst/>
          </a:prstGeom>
          <a:noFill/>
        </p:spPr>
        <p:txBody>
          <a:bodyPr wrap="square" lIns="0" rIns="0" tIns="0" bIns="0" anchor="t">
            <a:spAutoFit/>
          </a:bodyPr>
          <a:lstStyle/>
          <a:p>
            <a:pPr>
              <a:lnSpc>
                <a:spcPct val="95833"/>
              </a:lnSpc>
              <a:spcAft>
                <a:spcPts val="0"/>
              </a:spcAft>
            </a:pPr>
            <a:r>
              <a:rPr sz="2800" b="1">
                <a:solidFill>
                  <a:srgbClr val="0F172A"/>
                </a:solidFill>
                <a:latin typeface="IBM Plex Sans"/>
              </a:rPr>
              <a:t>Why the numbers hold</a:t>
            </a:r>
          </a:p>
        </p:txBody>
      </p:sp>
      <p:sp>
        <p:nvSpPr>
          <p:cNvPr id="4" name="TextBox 3"/>
          <p:cNvSpPr txBox="1"/>
          <p:nvPr/>
        </p:nvSpPr>
        <p:spPr>
          <a:xfrm>
            <a:off x="812800" y="1625600"/>
            <a:ext cx="10566400" cy="247650"/>
          </a:xfrm>
          <a:prstGeom prst="rect">
            <a:avLst/>
          </a:prstGeom>
          <a:noFill/>
        </p:spPr>
        <p:txBody>
          <a:bodyPr wrap="square" lIns="0" rIns="0" tIns="0" bIns="0" anchor="t">
            <a:spAutoFit/>
          </a:bodyPr>
          <a:lstStyle/>
          <a:p>
            <a:pPr>
              <a:lnSpc>
                <a:spcPct val="116667"/>
              </a:lnSpc>
              <a:spcAft>
                <a:spcPts val="0"/>
              </a:spcAft>
            </a:pPr>
            <a:r>
              <a:rPr sz="1400" b="0">
                <a:solidFill>
                  <a:srgbClr val="475569"/>
                </a:solidFill>
                <a:latin typeface="IBM Plex Sans"/>
              </a:rPr>
              <a:t>The three principles from the opening slide, and what enforces each one in the code.</a:t>
            </a:r>
          </a:p>
        </p:txBody>
      </p:sp>
      <p:sp>
        <p:nvSpPr>
          <p:cNvPr id="5" name="Rounded Rectangle 4"/>
          <p:cNvSpPr/>
          <p:nvPr/>
        </p:nvSpPr>
        <p:spPr>
          <a:xfrm>
            <a:off x="812800" y="2101850"/>
            <a:ext cx="3420533" cy="2127250"/>
          </a:xfrm>
          <a:prstGeom prst="roundRect">
            <a:avLst>
              <a:gd name="adj" fmla="val 4776"/>
            </a:avLst>
          </a:prstGeom>
          <a:solidFill>
            <a:srgbClr val="FFFFFF"/>
          </a:solidFill>
          <a:ln w="9525">
            <a:solidFill>
              <a:srgbClr val="E2E8F0"/>
            </a:solidFill>
          </a:ln>
          <a:effectLst/>
        </p:spPr>
        <p:txBody>
          <a:bodyPr rtlCol="0" anchor="ctr"/>
          <a:lstStyle/>
          <a:p>
            <a:pPr algn="ctr"/>
          </a:p>
        </p:txBody>
      </p:sp>
      <p:sp>
        <p:nvSpPr>
          <p:cNvPr id="6" name="Oval 5"/>
          <p:cNvSpPr/>
          <p:nvPr/>
        </p:nvSpPr>
        <p:spPr>
          <a:xfrm>
            <a:off x="965200" y="2254250"/>
            <a:ext cx="304800" cy="304800"/>
          </a:xfrm>
          <a:prstGeom prst="ellipse">
            <a:avLst/>
          </a:prstGeom>
          <a:solidFill>
            <a:srgbClr val="0F172A"/>
          </a:solidFill>
          <a:ln>
            <a:noFill/>
          </a:ln>
          <a:effectLst/>
        </p:spPr>
        <p:txBody>
          <a:bodyPr rtlCol="0" anchor="ctr"/>
          <a:lstStyle/>
          <a:p>
            <a:pPr algn="ctr"/>
          </a:p>
        </p:txBody>
      </p:sp>
      <p:pic>
        <p:nvPicPr>
          <p:cNvPr id="7" name="Picture 6" descr="code-FFFFFF.png"/>
          <p:cNvPicPr>
            <a:picLocks noChangeAspect="1"/>
          </p:cNvPicPr>
          <p:nvPr/>
        </p:nvPicPr>
        <p:blipFill>
          <a:blip r:embed="rId2"/>
          <a:stretch>
            <a:fillRect/>
          </a:stretch>
        </p:blipFill>
        <p:spPr>
          <a:xfrm>
            <a:off x="1041400" y="2330450"/>
            <a:ext cx="152400" cy="152400"/>
          </a:xfrm>
          <a:prstGeom prst="rect">
            <a:avLst/>
          </a:prstGeom>
        </p:spPr>
      </p:pic>
      <p:sp>
        <p:nvSpPr>
          <p:cNvPr id="8" name="TextBox 7"/>
          <p:cNvSpPr txBox="1"/>
          <p:nvPr/>
        </p:nvSpPr>
        <p:spPr>
          <a:xfrm>
            <a:off x="1371600" y="2254250"/>
            <a:ext cx="2709333" cy="527050"/>
          </a:xfrm>
          <a:prstGeom prst="rect">
            <a:avLst/>
          </a:prstGeom>
          <a:noFill/>
        </p:spPr>
        <p:txBody>
          <a:bodyPr wrap="square" lIns="0" rIns="0" tIns="0" bIns="0" anchor="ctr">
            <a:spAutoFit/>
          </a:bodyPr>
          <a:lstStyle/>
          <a:p>
            <a:pPr>
              <a:lnSpc>
                <a:spcPct val="100000"/>
              </a:lnSpc>
              <a:spcAft>
                <a:spcPts val="0"/>
              </a:spcAft>
            </a:pPr>
            <a:r>
              <a:rPr sz="1600" b="1">
                <a:solidFill>
                  <a:srgbClr val="0F172A"/>
                </a:solidFill>
                <a:latin typeface="IBM Plex Sans"/>
              </a:rPr>
              <a:t>The LLM plans, code computes</a:t>
            </a:r>
          </a:p>
        </p:txBody>
      </p:sp>
      <p:sp>
        <p:nvSpPr>
          <p:cNvPr id="9" name="TextBox 8"/>
          <p:cNvSpPr txBox="1"/>
          <p:nvPr/>
        </p:nvSpPr>
        <p:spPr>
          <a:xfrm>
            <a:off x="965200" y="2857500"/>
            <a:ext cx="3115733" cy="1219200"/>
          </a:xfrm>
          <a:prstGeom prst="rect">
            <a:avLst/>
          </a:prstGeom>
          <a:noFill/>
        </p:spPr>
        <p:txBody>
          <a:bodyPr wrap="square" lIns="0" rIns="0" tIns="0" bIns="0" anchor="t">
            <a:spAutoFit/>
          </a:bodyPr>
          <a:lstStyle/>
          <a:p>
            <a:pPr>
              <a:lnSpc>
                <a:spcPct val="116667"/>
              </a:lnSpc>
              <a:spcAft>
                <a:spcPts val="500"/>
              </a:spcAft>
            </a:pPr>
            <a:r>
              <a:rPr sz="1200" b="0">
                <a:solidFill>
                  <a:srgbClr val="475569"/>
                </a:solidFill>
                <a:latin typeface="IBM Plex Sans"/>
              </a:rPr>
              <a:t>Aggregates, scores, index weights, backtests and alignment checks are plain code.</a:t>
            </a:r>
          </a:p>
          <a:p>
            <a:pPr>
              <a:lnSpc>
                <a:spcPct val="116667"/>
              </a:lnSpc>
              <a:spcAft>
                <a:spcPts val="0"/>
              </a:spcAft>
            </a:pPr>
            <a:r>
              <a:rPr sz="1200" b="0">
                <a:solidFill>
                  <a:srgbClr val="0F172A"/>
                </a:solidFill>
                <a:latin typeface="IBM Plex Sans"/>
              </a:rPr>
              <a:t>Ask ARP routes questions; it never sees rows.</a:t>
            </a:r>
          </a:p>
        </p:txBody>
      </p:sp>
      <p:sp>
        <p:nvSpPr>
          <p:cNvPr id="10" name="Rounded Rectangle 9"/>
          <p:cNvSpPr/>
          <p:nvPr/>
        </p:nvSpPr>
        <p:spPr>
          <a:xfrm>
            <a:off x="4385733" y="2101850"/>
            <a:ext cx="3420533" cy="2127250"/>
          </a:xfrm>
          <a:prstGeom prst="roundRect">
            <a:avLst>
              <a:gd name="adj" fmla="val 4776"/>
            </a:avLst>
          </a:prstGeom>
          <a:solidFill>
            <a:srgbClr val="FFFFFF"/>
          </a:solidFill>
          <a:ln w="9525">
            <a:solidFill>
              <a:srgbClr val="E2E8F0"/>
            </a:solidFill>
          </a:ln>
          <a:effectLst/>
        </p:spPr>
        <p:txBody>
          <a:bodyPr rtlCol="0" anchor="ctr"/>
          <a:lstStyle/>
          <a:p>
            <a:pPr algn="ctr"/>
          </a:p>
        </p:txBody>
      </p:sp>
      <p:sp>
        <p:nvSpPr>
          <p:cNvPr id="11" name="Oval 10"/>
          <p:cNvSpPr/>
          <p:nvPr/>
        </p:nvSpPr>
        <p:spPr>
          <a:xfrm>
            <a:off x="4538133" y="2254250"/>
            <a:ext cx="304800" cy="304800"/>
          </a:xfrm>
          <a:prstGeom prst="ellipse">
            <a:avLst/>
          </a:prstGeom>
          <a:solidFill>
            <a:srgbClr val="16A34A"/>
          </a:solidFill>
          <a:ln>
            <a:noFill/>
          </a:ln>
          <a:effectLst/>
        </p:spPr>
        <p:txBody>
          <a:bodyPr rtlCol="0" anchor="ctr"/>
          <a:lstStyle/>
          <a:p>
            <a:pPr algn="ctr"/>
          </a:p>
        </p:txBody>
      </p:sp>
      <p:pic>
        <p:nvPicPr>
          <p:cNvPr id="12" name="Picture 11" descr="badge-check-FFFFFF.png"/>
          <p:cNvPicPr>
            <a:picLocks noChangeAspect="1"/>
          </p:cNvPicPr>
          <p:nvPr/>
        </p:nvPicPr>
        <p:blipFill>
          <a:blip r:embed="rId3"/>
          <a:stretch>
            <a:fillRect/>
          </a:stretch>
        </p:blipFill>
        <p:spPr>
          <a:xfrm>
            <a:off x="4614333" y="2330450"/>
            <a:ext cx="152400" cy="152400"/>
          </a:xfrm>
          <a:prstGeom prst="rect">
            <a:avLst/>
          </a:prstGeom>
        </p:spPr>
      </p:pic>
      <p:sp>
        <p:nvSpPr>
          <p:cNvPr id="13" name="TextBox 12"/>
          <p:cNvSpPr txBox="1"/>
          <p:nvPr/>
        </p:nvSpPr>
        <p:spPr>
          <a:xfrm>
            <a:off x="4944533" y="2254250"/>
            <a:ext cx="2709333" cy="527050"/>
          </a:xfrm>
          <a:prstGeom prst="rect">
            <a:avLst/>
          </a:prstGeom>
          <a:noFill/>
        </p:spPr>
        <p:txBody>
          <a:bodyPr wrap="square" lIns="0" rIns="0" tIns="0" bIns="0" anchor="ctr">
            <a:spAutoFit/>
          </a:bodyPr>
          <a:lstStyle/>
          <a:p>
            <a:pPr>
              <a:lnSpc>
                <a:spcPct val="100000"/>
              </a:lnSpc>
              <a:spcAft>
                <a:spcPts val="0"/>
              </a:spcAft>
            </a:pPr>
            <a:r>
              <a:rPr sz="1600" b="1">
                <a:solidFill>
                  <a:srgbClr val="0F172A"/>
                </a:solidFill>
                <a:latin typeface="IBM Plex Sans"/>
              </a:rPr>
              <a:t>Every citation is checked</a:t>
            </a:r>
          </a:p>
        </p:txBody>
      </p:sp>
      <p:sp>
        <p:nvSpPr>
          <p:cNvPr id="14" name="TextBox 13"/>
          <p:cNvSpPr txBox="1"/>
          <p:nvPr/>
        </p:nvSpPr>
        <p:spPr>
          <a:xfrm>
            <a:off x="4538133" y="2857500"/>
            <a:ext cx="3115733" cy="1219200"/>
          </a:xfrm>
          <a:prstGeom prst="rect">
            <a:avLst/>
          </a:prstGeom>
          <a:noFill/>
        </p:spPr>
        <p:txBody>
          <a:bodyPr wrap="square" lIns="0" rIns="0" tIns="0" bIns="0" anchor="t">
            <a:spAutoFit/>
          </a:bodyPr>
          <a:lstStyle/>
          <a:p>
            <a:pPr>
              <a:lnSpc>
                <a:spcPct val="116667"/>
              </a:lnSpc>
              <a:spcAft>
                <a:spcPts val="500"/>
              </a:spcAft>
            </a:pPr>
            <a:r>
              <a:rPr sz="1200" b="0">
                <a:solidFill>
                  <a:srgbClr val="475569"/>
                </a:solidFill>
                <a:latin typeface="IBM Plex Sans"/>
              </a:rPr>
              <a:t>Quotes are re-matched in code; the verifier runs on a different model.</a:t>
            </a:r>
          </a:p>
          <a:p>
            <a:pPr>
              <a:lnSpc>
                <a:spcPct val="116667"/>
              </a:lnSpc>
              <a:spcAft>
                <a:spcPts val="0"/>
              </a:spcAft>
            </a:pPr>
            <a:r>
              <a:rPr sz="1200" b="0">
                <a:solidFill>
                  <a:srgbClr val="0F172A"/>
                </a:solidFill>
                <a:latin typeface="IBM Plex Sans"/>
              </a:rPr>
              <a:t>A golden set replays the pipeline before changes ship.</a:t>
            </a:r>
          </a:p>
        </p:txBody>
      </p:sp>
      <p:sp>
        <p:nvSpPr>
          <p:cNvPr id="15" name="Rounded Rectangle 14"/>
          <p:cNvSpPr/>
          <p:nvPr/>
        </p:nvSpPr>
        <p:spPr>
          <a:xfrm>
            <a:off x="7958667" y="2101850"/>
            <a:ext cx="3420533" cy="2127250"/>
          </a:xfrm>
          <a:prstGeom prst="roundRect">
            <a:avLst>
              <a:gd name="adj" fmla="val 4776"/>
            </a:avLst>
          </a:prstGeom>
          <a:solidFill>
            <a:srgbClr val="FFFFFF"/>
          </a:solidFill>
          <a:ln w="9525">
            <a:solidFill>
              <a:srgbClr val="E2E8F0"/>
            </a:solidFill>
          </a:ln>
          <a:effectLst/>
        </p:spPr>
        <p:txBody>
          <a:bodyPr rtlCol="0" anchor="ctr"/>
          <a:lstStyle/>
          <a:p>
            <a:pPr algn="ctr"/>
          </a:p>
        </p:txBody>
      </p:sp>
      <p:sp>
        <p:nvSpPr>
          <p:cNvPr id="16" name="Oval 15"/>
          <p:cNvSpPr/>
          <p:nvPr/>
        </p:nvSpPr>
        <p:spPr>
          <a:xfrm>
            <a:off x="8111067" y="2254250"/>
            <a:ext cx="304800" cy="304800"/>
          </a:xfrm>
          <a:prstGeom prst="ellipse">
            <a:avLst/>
          </a:prstGeom>
          <a:solidFill>
            <a:srgbClr val="2563EB"/>
          </a:solidFill>
          <a:ln>
            <a:noFill/>
          </a:ln>
          <a:effectLst/>
        </p:spPr>
        <p:txBody>
          <a:bodyPr rtlCol="0" anchor="ctr"/>
          <a:lstStyle/>
          <a:p>
            <a:pPr algn="ctr"/>
          </a:p>
        </p:txBody>
      </p:sp>
      <p:pic>
        <p:nvPicPr>
          <p:cNvPr id="17" name="Picture 16" descr="users-FFFFFF.png"/>
          <p:cNvPicPr>
            <a:picLocks noChangeAspect="1"/>
          </p:cNvPicPr>
          <p:nvPr/>
        </p:nvPicPr>
        <p:blipFill>
          <a:blip r:embed="rId4"/>
          <a:stretch>
            <a:fillRect/>
          </a:stretch>
        </p:blipFill>
        <p:spPr>
          <a:xfrm>
            <a:off x="8187267" y="2330450"/>
            <a:ext cx="152400" cy="152400"/>
          </a:xfrm>
          <a:prstGeom prst="rect">
            <a:avLst/>
          </a:prstGeom>
        </p:spPr>
      </p:pic>
      <p:sp>
        <p:nvSpPr>
          <p:cNvPr id="18" name="TextBox 17"/>
          <p:cNvSpPr txBox="1"/>
          <p:nvPr/>
        </p:nvSpPr>
        <p:spPr>
          <a:xfrm>
            <a:off x="8517467" y="2254250"/>
            <a:ext cx="2709333" cy="527050"/>
          </a:xfrm>
          <a:prstGeom prst="rect">
            <a:avLst/>
          </a:prstGeom>
          <a:noFill/>
        </p:spPr>
        <p:txBody>
          <a:bodyPr wrap="square" lIns="0" rIns="0" tIns="0" bIns="0" anchor="ctr">
            <a:spAutoFit/>
          </a:bodyPr>
          <a:lstStyle/>
          <a:p>
            <a:pPr>
              <a:lnSpc>
                <a:spcPct val="100000"/>
              </a:lnSpc>
              <a:spcAft>
                <a:spcPts val="0"/>
              </a:spcAft>
            </a:pPr>
            <a:r>
              <a:rPr sz="1600" b="1">
                <a:solidFill>
                  <a:srgbClr val="0F172A"/>
                </a:solidFill>
                <a:latin typeface="IBM Plex Sans"/>
              </a:rPr>
              <a:t>Agents propose, people ratify</a:t>
            </a:r>
          </a:p>
        </p:txBody>
      </p:sp>
      <p:sp>
        <p:nvSpPr>
          <p:cNvPr id="19" name="TextBox 18"/>
          <p:cNvSpPr txBox="1"/>
          <p:nvPr/>
        </p:nvSpPr>
        <p:spPr>
          <a:xfrm>
            <a:off x="8111067" y="2857500"/>
            <a:ext cx="3115733" cy="1219200"/>
          </a:xfrm>
          <a:prstGeom prst="rect">
            <a:avLst/>
          </a:prstGeom>
          <a:noFill/>
        </p:spPr>
        <p:txBody>
          <a:bodyPr wrap="square" lIns="0" rIns="0" tIns="0" bIns="0" anchor="t">
            <a:spAutoFit/>
          </a:bodyPr>
          <a:lstStyle/>
          <a:p>
            <a:pPr>
              <a:lnSpc>
                <a:spcPct val="116667"/>
              </a:lnSpc>
              <a:spcAft>
                <a:spcPts val="500"/>
              </a:spcAft>
            </a:pPr>
            <a:r>
              <a:rPr sz="1200" b="0">
                <a:solidFill>
                  <a:srgbClr val="475569"/>
                </a:solidFill>
                <a:latin typeface="IBM Plex Sans"/>
              </a:rPr>
              <a:t>Review queue, four-eyes approval, signed rule books and benchmarks.</a:t>
            </a:r>
          </a:p>
          <a:p>
            <a:pPr>
              <a:lnSpc>
                <a:spcPct val="116667"/>
              </a:lnSpc>
              <a:spcAft>
                <a:spcPts val="0"/>
              </a:spcAft>
            </a:pPr>
            <a:r>
              <a:rPr sz="1200" b="0">
                <a:solidFill>
                  <a:srgbClr val="0F172A"/>
                </a:solidFill>
                <a:latin typeface="IBM Plex Sans"/>
              </a:rPr>
              <a:t>Only an approver publishes; facts read as of a date.</a:t>
            </a:r>
          </a:p>
        </p:txBody>
      </p:sp>
      <p:sp>
        <p:nvSpPr>
          <p:cNvPr id="20" name="Rounded Rectangle 19"/>
          <p:cNvSpPr/>
          <p:nvPr/>
        </p:nvSpPr>
        <p:spPr>
          <a:xfrm>
            <a:off x="812800" y="4381500"/>
            <a:ext cx="3420533" cy="1149350"/>
          </a:xfrm>
          <a:prstGeom prst="roundRect">
            <a:avLst>
              <a:gd name="adj" fmla="val 8839"/>
            </a:avLst>
          </a:prstGeom>
          <a:solidFill>
            <a:srgbClr val="FFFFFF"/>
          </a:solidFill>
          <a:ln w="9525">
            <a:solidFill>
              <a:srgbClr val="E2E8F0"/>
            </a:solidFill>
          </a:ln>
          <a:effectLst/>
        </p:spPr>
        <p:txBody>
          <a:bodyPr rtlCol="0" anchor="ctr"/>
          <a:lstStyle/>
          <a:p>
            <a:pPr algn="ctr"/>
          </a:p>
        </p:txBody>
      </p:sp>
      <p:sp>
        <p:nvSpPr>
          <p:cNvPr id="21" name="Oval 20"/>
          <p:cNvSpPr/>
          <p:nvPr/>
        </p:nvSpPr>
        <p:spPr>
          <a:xfrm>
            <a:off x="965200" y="4533900"/>
            <a:ext cx="304800" cy="304800"/>
          </a:xfrm>
          <a:prstGeom prst="ellipse">
            <a:avLst/>
          </a:prstGeom>
          <a:solidFill>
            <a:srgbClr val="0F172A"/>
          </a:solidFill>
          <a:ln>
            <a:noFill/>
          </a:ln>
          <a:effectLst/>
        </p:spPr>
        <p:txBody>
          <a:bodyPr rtlCol="0" anchor="ctr"/>
          <a:lstStyle/>
          <a:p>
            <a:pPr algn="ctr"/>
          </a:p>
        </p:txBody>
      </p:sp>
      <p:pic>
        <p:nvPicPr>
          <p:cNvPr id="22" name="Picture 21" descr="rotate-ccw-FFFFFF.png"/>
          <p:cNvPicPr>
            <a:picLocks noChangeAspect="1"/>
          </p:cNvPicPr>
          <p:nvPr/>
        </p:nvPicPr>
        <p:blipFill>
          <a:blip r:embed="rId5"/>
          <a:stretch>
            <a:fillRect/>
          </a:stretch>
        </p:blipFill>
        <p:spPr>
          <a:xfrm>
            <a:off x="1041400" y="4610100"/>
            <a:ext cx="152400" cy="152400"/>
          </a:xfrm>
          <a:prstGeom prst="rect">
            <a:avLst/>
          </a:prstGeom>
        </p:spPr>
      </p:pic>
      <p:sp>
        <p:nvSpPr>
          <p:cNvPr id="23" name="TextBox 22"/>
          <p:cNvSpPr txBox="1"/>
          <p:nvPr/>
        </p:nvSpPr>
        <p:spPr>
          <a:xfrm>
            <a:off x="1371600" y="4533900"/>
            <a:ext cx="2709333" cy="304800"/>
          </a:xfrm>
          <a:prstGeom prst="rect">
            <a:avLst/>
          </a:prstGeom>
          <a:noFill/>
        </p:spPr>
        <p:txBody>
          <a:bodyPr wrap="square" lIns="0" rIns="0" tIns="0" bIns="0" anchor="ctr">
            <a:spAutoFit/>
          </a:bodyPr>
          <a:lstStyle/>
          <a:p>
            <a:pPr>
              <a:lnSpc>
                <a:spcPct val="100000"/>
              </a:lnSpc>
              <a:spcAft>
                <a:spcPts val="0"/>
              </a:spcAft>
            </a:pPr>
            <a:r>
              <a:rPr sz="1400" b="1">
                <a:solidFill>
                  <a:srgbClr val="0F172A"/>
                </a:solidFill>
                <a:latin typeface="IBM Plex Sans"/>
              </a:rPr>
              <a:t>Resumable runs</a:t>
            </a:r>
          </a:p>
        </p:txBody>
      </p:sp>
      <p:sp>
        <p:nvSpPr>
          <p:cNvPr id="24" name="TextBox 23"/>
          <p:cNvSpPr txBox="1"/>
          <p:nvPr/>
        </p:nvSpPr>
        <p:spPr>
          <a:xfrm>
            <a:off x="965200" y="4914900"/>
            <a:ext cx="3115733" cy="4635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Each company commits as it finishes; a resume skips what is stored.</a:t>
            </a:r>
          </a:p>
        </p:txBody>
      </p:sp>
      <p:sp>
        <p:nvSpPr>
          <p:cNvPr id="25" name="Rounded Rectangle 24"/>
          <p:cNvSpPr/>
          <p:nvPr/>
        </p:nvSpPr>
        <p:spPr>
          <a:xfrm>
            <a:off x="4385733" y="4381500"/>
            <a:ext cx="3420533" cy="1149350"/>
          </a:xfrm>
          <a:prstGeom prst="roundRect">
            <a:avLst>
              <a:gd name="adj" fmla="val 8839"/>
            </a:avLst>
          </a:prstGeom>
          <a:solidFill>
            <a:srgbClr val="FFFFFF"/>
          </a:solidFill>
          <a:ln w="9525">
            <a:solidFill>
              <a:srgbClr val="E2E8F0"/>
            </a:solidFill>
          </a:ln>
          <a:effectLst/>
        </p:spPr>
        <p:txBody>
          <a:bodyPr rtlCol="0" anchor="ctr"/>
          <a:lstStyle/>
          <a:p>
            <a:pPr algn="ctr"/>
          </a:p>
        </p:txBody>
      </p:sp>
      <p:sp>
        <p:nvSpPr>
          <p:cNvPr id="26" name="Oval 25"/>
          <p:cNvSpPr/>
          <p:nvPr/>
        </p:nvSpPr>
        <p:spPr>
          <a:xfrm>
            <a:off x="4538133" y="4533900"/>
            <a:ext cx="304800" cy="304800"/>
          </a:xfrm>
          <a:prstGeom prst="ellipse">
            <a:avLst/>
          </a:prstGeom>
          <a:solidFill>
            <a:srgbClr val="0F172A"/>
          </a:solidFill>
          <a:ln>
            <a:noFill/>
          </a:ln>
          <a:effectLst/>
        </p:spPr>
        <p:txBody>
          <a:bodyPr rtlCol="0" anchor="ctr"/>
          <a:lstStyle/>
          <a:p>
            <a:pPr algn="ctr"/>
          </a:p>
        </p:txBody>
      </p:sp>
      <p:pic>
        <p:nvPicPr>
          <p:cNvPr id="27" name="Picture 26" descr="gauge-FFFFFF.png"/>
          <p:cNvPicPr>
            <a:picLocks noChangeAspect="1"/>
          </p:cNvPicPr>
          <p:nvPr/>
        </p:nvPicPr>
        <p:blipFill>
          <a:blip r:embed="rId6"/>
          <a:stretch>
            <a:fillRect/>
          </a:stretch>
        </p:blipFill>
        <p:spPr>
          <a:xfrm>
            <a:off x="4614333" y="4610100"/>
            <a:ext cx="152400" cy="152400"/>
          </a:xfrm>
          <a:prstGeom prst="rect">
            <a:avLst/>
          </a:prstGeom>
        </p:spPr>
      </p:pic>
      <p:sp>
        <p:nvSpPr>
          <p:cNvPr id="28" name="TextBox 27"/>
          <p:cNvSpPr txBox="1"/>
          <p:nvPr/>
        </p:nvSpPr>
        <p:spPr>
          <a:xfrm>
            <a:off x="4944533" y="4533900"/>
            <a:ext cx="2709333" cy="304800"/>
          </a:xfrm>
          <a:prstGeom prst="rect">
            <a:avLst/>
          </a:prstGeom>
          <a:noFill/>
        </p:spPr>
        <p:txBody>
          <a:bodyPr wrap="square" lIns="0" rIns="0" tIns="0" bIns="0" anchor="ctr">
            <a:spAutoFit/>
          </a:bodyPr>
          <a:lstStyle/>
          <a:p>
            <a:pPr>
              <a:lnSpc>
                <a:spcPct val="100000"/>
              </a:lnSpc>
              <a:spcAft>
                <a:spcPts val="0"/>
              </a:spcAft>
            </a:pPr>
            <a:r>
              <a:rPr sz="1400" b="1">
                <a:solidFill>
                  <a:srgbClr val="0F172A"/>
                </a:solidFill>
                <a:latin typeface="IBM Plex Sans"/>
              </a:rPr>
              <a:t>Batch and run modes</a:t>
            </a:r>
          </a:p>
        </p:txBody>
      </p:sp>
      <p:sp>
        <p:nvSpPr>
          <p:cNvPr id="29" name="TextBox 28"/>
          <p:cNvSpPr txBox="1"/>
          <p:nvPr/>
        </p:nvSpPr>
        <p:spPr>
          <a:xfrm>
            <a:off x="4538133" y="4914900"/>
            <a:ext cx="3115733" cy="4635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Batch mode halves background model cost; cheap, normal or max.</a:t>
            </a:r>
          </a:p>
        </p:txBody>
      </p:sp>
      <p:sp>
        <p:nvSpPr>
          <p:cNvPr id="30" name="Rounded Rectangle 29"/>
          <p:cNvSpPr/>
          <p:nvPr/>
        </p:nvSpPr>
        <p:spPr>
          <a:xfrm>
            <a:off x="7958667" y="4381500"/>
            <a:ext cx="3420533" cy="1149350"/>
          </a:xfrm>
          <a:prstGeom prst="roundRect">
            <a:avLst>
              <a:gd name="adj" fmla="val 8839"/>
            </a:avLst>
          </a:prstGeom>
          <a:solidFill>
            <a:srgbClr val="FFFFFF"/>
          </a:solidFill>
          <a:ln w="9525">
            <a:solidFill>
              <a:srgbClr val="E2E8F0"/>
            </a:solidFill>
          </a:ln>
          <a:effectLst/>
        </p:spPr>
        <p:txBody>
          <a:bodyPr rtlCol="0" anchor="ctr"/>
          <a:lstStyle/>
          <a:p>
            <a:pPr algn="ctr"/>
          </a:p>
        </p:txBody>
      </p:sp>
      <p:sp>
        <p:nvSpPr>
          <p:cNvPr id="31" name="Oval 30"/>
          <p:cNvSpPr/>
          <p:nvPr/>
        </p:nvSpPr>
        <p:spPr>
          <a:xfrm>
            <a:off x="8111067" y="4533900"/>
            <a:ext cx="304800" cy="304800"/>
          </a:xfrm>
          <a:prstGeom prst="ellipse">
            <a:avLst/>
          </a:prstGeom>
          <a:solidFill>
            <a:srgbClr val="0F172A"/>
          </a:solidFill>
          <a:ln>
            <a:noFill/>
          </a:ln>
          <a:effectLst/>
        </p:spPr>
        <p:txBody>
          <a:bodyPr rtlCol="0" anchor="ctr"/>
          <a:lstStyle/>
          <a:p>
            <a:pPr algn="ctr"/>
          </a:p>
        </p:txBody>
      </p:sp>
      <p:pic>
        <p:nvPicPr>
          <p:cNvPr id="32" name="Picture 31" descr="factory-FFFFFF.png"/>
          <p:cNvPicPr>
            <a:picLocks noChangeAspect="1"/>
          </p:cNvPicPr>
          <p:nvPr/>
        </p:nvPicPr>
        <p:blipFill>
          <a:blip r:embed="rId7"/>
          <a:stretch>
            <a:fillRect/>
          </a:stretch>
        </p:blipFill>
        <p:spPr>
          <a:xfrm>
            <a:off x="8187267" y="4610100"/>
            <a:ext cx="152400" cy="152400"/>
          </a:xfrm>
          <a:prstGeom prst="rect">
            <a:avLst/>
          </a:prstGeom>
        </p:spPr>
      </p:pic>
      <p:sp>
        <p:nvSpPr>
          <p:cNvPr id="33" name="TextBox 32"/>
          <p:cNvSpPr txBox="1"/>
          <p:nvPr/>
        </p:nvSpPr>
        <p:spPr>
          <a:xfrm>
            <a:off x="8517467" y="4533900"/>
            <a:ext cx="2709333" cy="304800"/>
          </a:xfrm>
          <a:prstGeom prst="rect">
            <a:avLst/>
          </a:prstGeom>
          <a:noFill/>
        </p:spPr>
        <p:txBody>
          <a:bodyPr wrap="square" lIns="0" rIns="0" tIns="0" bIns="0" anchor="ctr">
            <a:spAutoFit/>
          </a:bodyPr>
          <a:lstStyle/>
          <a:p>
            <a:pPr>
              <a:lnSpc>
                <a:spcPct val="100000"/>
              </a:lnSpc>
              <a:spcAft>
                <a:spcPts val="0"/>
              </a:spcAft>
            </a:pPr>
            <a:r>
              <a:rPr sz="1400" b="1">
                <a:solidFill>
                  <a:srgbClr val="0F172A"/>
                </a:solidFill>
                <a:latin typeface="IBM Plex Sans"/>
              </a:rPr>
              <a:t>Software factory</a:t>
            </a:r>
          </a:p>
        </p:txBody>
      </p:sp>
      <p:sp>
        <p:nvSpPr>
          <p:cNvPr id="34" name="TextBox 33"/>
          <p:cNvSpPr txBox="1"/>
          <p:nvPr/>
        </p:nvSpPr>
        <p:spPr>
          <a:xfrm>
            <a:off x="8111067" y="4914900"/>
            <a:ext cx="3115733" cy="463550"/>
          </a:xfrm>
          <a:prstGeom prst="rect">
            <a:avLst/>
          </a:prstGeom>
          <a:noFill/>
        </p:spPr>
        <p:txBody>
          <a:bodyPr wrap="square" lIns="0" rIns="0" tIns="0" bIns="0" anchor="t">
            <a:spAutoFit/>
          </a:bodyPr>
          <a:lstStyle/>
          <a:p>
            <a:pPr>
              <a:lnSpc>
                <a:spcPct val="116667"/>
              </a:lnSpc>
              <a:spcAft>
                <a:spcPts val="0"/>
              </a:spcAft>
            </a:pPr>
            <a:r>
              <a:rPr sz="1200" b="0">
                <a:solidFill>
                  <a:srgbClr val="475569"/>
                </a:solidFill>
                <a:latin typeface="IBM Plex Sans"/>
              </a:rPr>
              <a:t>Acceptance tables, hidden tests, mutation checks, a main guard.</a:t>
            </a:r>
          </a:p>
        </p:txBody>
      </p:sp>
      <p:sp>
        <p:nvSpPr>
          <p:cNvPr id="35" name="TextBox 34"/>
          <p:cNvSpPr txBox="1"/>
          <p:nvPr/>
        </p:nvSpPr>
        <p:spPr>
          <a:xfrm>
            <a:off x="812800" y="6254750"/>
            <a:ext cx="3810000" cy="196850"/>
          </a:xfrm>
          <a:prstGeom prst="rect">
            <a:avLst/>
          </a:prstGeom>
          <a:noFill/>
        </p:spPr>
        <p:txBody>
          <a:bodyPr wrap="square" lIns="0" rIns="0" tIns="0" bIns="0" anchor="t">
            <a:spAutoFit/>
          </a:bodyPr>
          <a:lstStyle/>
          <a:p>
            <a:pPr>
              <a:lnSpc>
                <a:spcPct val="108333"/>
              </a:lnSpc>
              <a:spcAft>
                <a:spcPts val="0"/>
              </a:spcAft>
            </a:pPr>
            <a:r>
              <a:rPr sz="1200" b="0">
                <a:solidFill>
                  <a:srgbClr val="475569"/>
                </a:solidFill>
                <a:latin typeface="IBM Plex Mono"/>
              </a:rPr>
              <a:t>ARP · FUNCTIONS AND ARCHITECTURE</a:t>
            </a:r>
          </a:p>
        </p:txBody>
      </p:sp>
      <p:sp>
        <p:nvSpPr>
          <p:cNvPr id="36" name="TextBox 35"/>
          <p:cNvSpPr txBox="1"/>
          <p:nvPr/>
        </p:nvSpPr>
        <p:spPr>
          <a:xfrm>
            <a:off x="9474200" y="6254750"/>
            <a:ext cx="1905000" cy="196850"/>
          </a:xfrm>
          <a:prstGeom prst="rect">
            <a:avLst/>
          </a:prstGeom>
          <a:noFill/>
        </p:spPr>
        <p:txBody>
          <a:bodyPr wrap="square" lIns="0" rIns="0" tIns="0" bIns="0" anchor="t">
            <a:spAutoFit/>
          </a:bodyPr>
          <a:lstStyle/>
          <a:p>
            <a:pPr algn="r">
              <a:lnSpc>
                <a:spcPct val="108333"/>
              </a:lnSpc>
              <a:spcAft>
                <a:spcPts val="0"/>
              </a:spcAft>
            </a:pPr>
            <a:r>
              <a:rPr sz="1200" b="0">
                <a:solidFill>
                  <a:srgbClr val="475569"/>
                </a:solidFill>
                <a:latin typeface="IBM Plex Mono"/>
              </a:rPr>
              <a:t>29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