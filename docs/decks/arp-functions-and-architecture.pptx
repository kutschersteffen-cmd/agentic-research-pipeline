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system is one codebase, not ten tools. LangChain is the LLM client behind a single narrow interface every agent calls through; LangGraph models each pipeline's per-company flow as an explicit state graph; LlamaIndex backs chunking and the BM25 retriever. The colour key at the bottom holds for every diagram in this deck: blue is an input, cyan is a deterministic step with no model in it, violet is an LLM agent, amber is a mechanical gate, rose is a human decision, green is a stored artifact.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Function 1. Read the diagram left to right: whatever documents exist for a company, plus the schema that defines the data point, go into one engine; what comes out is a value that is either grounded and trusted, or routed to a human. The two precision controls that matter most are inside the hub: the verifier runs on a different model from the extractor, and the grounding check is code, not a second opinion.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process view. Two short circuits keep it affordable: no evidence costs nothing, and a structured fact (XBRL, or a catalogue row) is never re-litigated by a model. Everything that is uncertain has exactly one destination — the review queue — and every decision there is appended to a per-field audit trail rather than overwriting the value.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Function 2 has two halves and the diagram shows both: the taxonomy is how a theme gets a defensible boundary — seven derivation methods, versioned and ratified by a named person — and the debate is how a company is judged against it. The exposure ladder matters: collapsing thematic exposure to a boolean throws away what a portfolio manager actually needs.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cascade is the cost and precision story in one picture: structured data first, grounded extraction second, qualitative debate last. It mirrors how revenue-based thematic exposure is actually built by index providers. Note the banding on the right — whichever path resolved it, the output means the same 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Function 3 adds the second axis the rest of the system lacks — holdings — and joins it to company-level research. The engine in the middle is deliberately zero-LLM. Status: built against mock custodian, ESG-API and news connectors; EUR is the single reporting currency; a Postgres/pgvector backend is available for the holdings join.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mechanisms worth pausing on: the resolution cascade (a disclosed number always beats an inferred one, and missing is a reported state rather than a zero), and the climate cross-check, which runs as a background batch because the aggregation path must stay fast and model-free.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Function 4. The design point is the combined pass. Everything else is the extraction engine's machinery unchanged — grounded citations, an independent verifier on a different model, provenance, a review queue. The XBRL overlay is the same 'structured facts first' precedence the revenue cascade uses, and it is also where a structured vendor feed would plug in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ARP_XBRL_FACTS_ENABLED is on by default and needs no key. The overlay is deliberately narrow — only the scalar total is replaced, because that is the only part XBRL tags consistently across filers.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Function 5 is what keeps the rest of the system fed. The crawler is deliberately conservative — same domain, robots respected, bounded depth, every request passed through an SSRF guard — because it runs across thousands of companies. The search client is an interface: the default is a free no-key search, and a paid API drops in without touching the crawl logic.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Worth calling out in a demo: the distinction between 'homepage unreachable' and 'nothing found' is operational. One is a data-quality problem to fix in the universe file; the other is a real answer about the company.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Function 6 matters because every other function keys off company_id — a wrong identity silently corrupts document discovery, extraction and the portfolio join alike. The whole design is about not making the expensive call: supplying website and CIK in the universe CSV makes identity resolution free, which is why the README recommends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clearest example in the codebase of a LangGraph graph whose value is its conditional edges: two of the four nodes exist purely to leave early. The verification step after adjudication is the identity equivalent of the grounding check — there is no quote to match, so the returned identifiers are checked against the signals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Function 7 exists because the debate answers 'does this company's own disclosed activity fall in scope' and has nothing to say about a specialty-chemicals supplier three hops upstream of battery manufacturing. It is the same mathematics environmentally-extended input-output models use for Scope 3 accounting, applied to a thematic value chain instead of carbon.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cost shape is the point: the expensive part of an input-output tier would be per-company model work, and there is almost none — one classification per activity and one per company, both reusable across the whole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Function 8 is a replication, so fidelity matters more than improvement: the indicator wording, the persona, the greenwashing-scepticism guidance and the 200-word cap are verbatim from the paper's own reference implementation. 64 indicators per company makes this the most call-intensive function in the system, which is exactly why the retrieval step stays cheap and deterministic.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arp transition-plan indicators to show the actual indicator set before running an assessment — it makes the walk/talk distinction concrete for an audience.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Function 9. The controller is a pure function — decide_next_action — not a daemon: it maps an issue's stage to the next dispatch action and flags it for an escalation decision once it has been silent past the SLA, but it never calls an agent itself. Engagement and voting share one record store deliberately: how you voted on a company's say-on-pay resolution and what you told its IR team last quarter are the same conversation.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things to say out loud: there is no background daemon, because which stages run unattended versus get pulled by an analyst is a house workflow decision rather than an architectural one. And the LLM-free agents are LLM-free on purpose — a prompt bug can then never corrupt milestone state or a published figure.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Function 10 mirrors the revenue-exposure cascade: deterministic rules over a disclosed number first, a categorical model judgment only where nothing hard resolves it. The two shipped rules — auditor independence above a non-audit fee ratio, an extreme disclosed pay ratio — are illustrative, not house policy. What matters architecturally is that they are code evaluated against extracted figures, not prompt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precondition is the architectural point: casting is the only irreversible action in the system, so the refusal lives inside cast_vote rather than in the code that calls it. ManualInstructionBallotPlatform exercises the real contract today without transmitting anywhere, so swapping in a custodian or ISS/Glass-Lewis integration changes one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slideLayout" Target="../slideLayouts/slideLayout1.xml"/><Relationship Id="rId8"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png"/><Relationship Id="rId10" Type="http://schemas.openxmlformats.org/officeDocument/2006/relationships/image" Target="../media/image-2-10.png"/><Relationship Id="rId11" Type="http://schemas.openxmlformats.org/officeDocument/2006/relationships/image" Target="../media/image-2-11.png"/><Relationship Id="rId12" Type="http://schemas.openxmlformats.org/officeDocument/2006/relationships/image" Target="../media/image-2-12.png"/><Relationship Id="rId13" Type="http://schemas.openxmlformats.org/officeDocument/2006/relationships/image" Target="../media/image-2-13.png"/><Relationship Id="rId14" Type="http://schemas.openxmlformats.org/officeDocument/2006/relationships/image" Target="../media/image-2-14.png"/><Relationship Id="rId15" Type="http://schemas.openxmlformats.org/officeDocument/2006/relationships/slideLayout" Target="../slideLayouts/slideLayout1.xml"/><Relationship Id="rId1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image" Target="../media/image-3-9.png"/><Relationship Id="rId10" Type="http://schemas.openxmlformats.org/officeDocument/2006/relationships/slideLayout" Target="../slideLayouts/slideLayout1.xml"/><Relationship Id="rId11"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image" Target="../media/image-4-10.png"/><Relationship Id="rId11" Type="http://schemas.openxmlformats.org/officeDocument/2006/relationships/slideLayout" Target="../slideLayouts/slideLayout1.xml"/><Relationship Id="rId1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image" Target="../media/image-6-10.png"/><Relationship Id="rId11" Type="http://schemas.openxmlformats.org/officeDocument/2006/relationships/slideLayout" Target="../slideLayouts/slideLayout1.xml"/><Relationship Id="rId1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 Id="rId9" Type="http://schemas.openxmlformats.org/officeDocument/2006/relationships/image" Target="../media/image-7-9.png"/><Relationship Id="rId10" Type="http://schemas.openxmlformats.org/officeDocument/2006/relationships/image" Target="../media/image-7-10.png"/><Relationship Id="rId11" Type="http://schemas.openxmlformats.org/officeDocument/2006/relationships/slideLayout" Target="../slideLayouts/slideLayout1.xml"/><Relationship Id="rId1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image" Target="../media/image-8-9.png"/><Relationship Id="rId10" Type="http://schemas.openxmlformats.org/officeDocument/2006/relationships/image" Target="../media/image-8-10.png"/><Relationship Id="rId11" Type="http://schemas.openxmlformats.org/officeDocument/2006/relationships/slideLayout" Target="../slideLayouts/slideLayout1.xml"/><Relationship Id="rId1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slideLayout" Target="../slideLayouts/slideLayout1.xml"/><Relationship Id="rId1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9.png"/><Relationship Id="rId10" Type="http://schemas.openxmlformats.org/officeDocument/2006/relationships/image" Target="../media/image-10-10.png"/><Relationship Id="rId11" Type="http://schemas.openxmlformats.org/officeDocument/2006/relationships/image" Target="../media/image-10-11.png"/><Relationship Id="rId12" Type="http://schemas.openxmlformats.org/officeDocument/2006/relationships/image" Target="../media/image-10-12.png"/><Relationship Id="rId13" Type="http://schemas.openxmlformats.org/officeDocument/2006/relationships/image" Target="../media/image-10-13.png"/><Relationship Id="rId14" Type="http://schemas.openxmlformats.org/officeDocument/2006/relationships/image" Target="../media/image-10-14.png"/><Relationship Id="rId15" Type="http://schemas.openxmlformats.org/officeDocument/2006/relationships/slideLayout" Target="../slideLayouts/slideLayout1.xml"/><Relationship Id="rId1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1-9.png"/><Relationship Id="rId10" Type="http://schemas.openxmlformats.org/officeDocument/2006/relationships/image" Target="../media/image-11-10.png"/><Relationship Id="rId11" Type="http://schemas.openxmlformats.org/officeDocument/2006/relationships/image" Target="../media/image-11-11.png"/><Relationship Id="rId12" Type="http://schemas.openxmlformats.org/officeDocument/2006/relationships/slideLayout" Target="../slideLayouts/slideLayout1.xml"/><Relationship Id="rId1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image" Target="../media/image-13-7.png"/><Relationship Id="rId8" Type="http://schemas.openxmlformats.org/officeDocument/2006/relationships/image" Target="../media/image-13-8.png"/><Relationship Id="rId9" Type="http://schemas.openxmlformats.org/officeDocument/2006/relationships/image" Target="../media/image-13-9.png"/><Relationship Id="rId10" Type="http://schemas.openxmlformats.org/officeDocument/2006/relationships/slideLayout" Target="../slideLayouts/slideLayout1.xml"/><Relationship Id="rId11"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slideLayout" Target="../slideLayouts/slideLayout1.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image" Target="../media/image-15-8.png"/><Relationship Id="rId9" Type="http://schemas.openxmlformats.org/officeDocument/2006/relationships/image" Target="../media/image-15-9.png"/><Relationship Id="rId10" Type="http://schemas.openxmlformats.org/officeDocument/2006/relationships/slideLayout" Target="../slideLayouts/slideLayout1.xml"/><Relationship Id="rId11"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image" Target="../media/image-16-8.png"/><Relationship Id="rId9" Type="http://schemas.openxmlformats.org/officeDocument/2006/relationships/slideLayout" Target="../slideLayouts/slideLayout1.xml"/><Relationship Id="rId10"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image" Target="../media/image-17-7.png"/><Relationship Id="rId8" Type="http://schemas.openxmlformats.org/officeDocument/2006/relationships/image" Target="../media/image-17-8.png"/><Relationship Id="rId9" Type="http://schemas.openxmlformats.org/officeDocument/2006/relationships/image" Target="../media/image-17-9.png"/><Relationship Id="rId10" Type="http://schemas.openxmlformats.org/officeDocument/2006/relationships/image" Target="../media/image-17-10.png"/><Relationship Id="rId11" Type="http://schemas.openxmlformats.org/officeDocument/2006/relationships/slideLayout" Target="../slideLayouts/slideLayout1.xml"/><Relationship Id="rId1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slideLayout" Target="../slideLayouts/slideLayout1.xml"/><Relationship Id="rId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image" Target="../media/image-19-7.png"/><Relationship Id="rId8" Type="http://schemas.openxmlformats.org/officeDocument/2006/relationships/image" Target="../media/image-19-8.png"/><Relationship Id="rId9" Type="http://schemas.openxmlformats.org/officeDocument/2006/relationships/image" Target="../media/image-19-9.png"/><Relationship Id="rId10" Type="http://schemas.openxmlformats.org/officeDocument/2006/relationships/image" Target="../media/image-19-10.png"/><Relationship Id="rId11" Type="http://schemas.openxmlformats.org/officeDocument/2006/relationships/image" Target="../media/image-19-11.png"/><Relationship Id="rId12" Type="http://schemas.openxmlformats.org/officeDocument/2006/relationships/slideLayout" Target="../slideLayouts/slideLayout1.xml"/><Relationship Id="rId1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image" Target="../media/image-20-7.png"/><Relationship Id="rId8" Type="http://schemas.openxmlformats.org/officeDocument/2006/relationships/image" Target="../media/image-20-8.png"/><Relationship Id="rId9" Type="http://schemas.openxmlformats.org/officeDocument/2006/relationships/slideLayout" Target="../slideLayouts/slideLayout1.xml"/><Relationship Id="rId1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image" Target="../media/image-21-7.png"/><Relationship Id="rId8" Type="http://schemas.openxmlformats.org/officeDocument/2006/relationships/image" Target="../media/image-21-8.png"/><Relationship Id="rId9" Type="http://schemas.openxmlformats.org/officeDocument/2006/relationships/image" Target="../media/image-21-9.png"/><Relationship Id="rId10" Type="http://schemas.openxmlformats.org/officeDocument/2006/relationships/image" Target="../media/image-21-10.png"/><Relationship Id="rId11" Type="http://schemas.openxmlformats.org/officeDocument/2006/relationships/slideLayout" Target="../slideLayouts/slideLayout1.xml"/><Relationship Id="rId1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438912"/>
            <a:ext cx="10085832" cy="201168"/>
          </a:xfrm>
          <a:prstGeom prst="rect">
            <a:avLst/>
          </a:prstGeom>
          <a:noFill/>
          <a:ln/>
        </p:spPr>
        <p:txBody>
          <a:bodyPr wrap="square" lIns="0" tIns="0" rIns="0" bIns="0" rtlCol="0" anchor="ctr"/>
          <a:lstStyle/>
          <a:p>
            <a:pPr indent="0" marL="0">
              <a:buNone/>
            </a:pPr>
            <a:r>
              <a:rPr lang="en-US" sz="1050" b="1" spc="200" kern="0" dirty="0">
                <a:solidFill>
                  <a:srgbClr val="108494"/>
                </a:solidFill>
                <a:latin typeface="Calibri" pitchFamily="34" charset="0"/>
                <a:ea typeface="Calibri" pitchFamily="34" charset="-122"/>
                <a:cs typeface="Calibri" pitchFamily="34" charset="-120"/>
              </a:rPr>
              <a:t>SYSTEM ARCHITECTURE</a:t>
            </a:r>
            <a:endParaRPr lang="en-US" sz="1050" dirty="0"/>
          </a:p>
        </p:txBody>
      </p:sp>
      <p:sp>
        <p:nvSpPr>
          <p:cNvPr id="3" name="Text 1"/>
          <p:cNvSpPr txBox="1"/>
          <p:nvPr/>
        </p:nvSpPr>
        <p:spPr>
          <a:xfrm>
            <a:off x="594360" y="640080"/>
            <a:ext cx="10085832" cy="484632"/>
          </a:xfrm>
          <a:prstGeom prst="rect">
            <a:avLst/>
          </a:prstGeom>
          <a:noFill/>
          <a:ln/>
        </p:spPr>
        <p:txBody>
          <a:bodyPr wrap="square" lIns="0" tIns="0" rIns="0" bIns="0" rtlCol="0" anchor="ctr"/>
          <a:lstStyle/>
          <a:p>
            <a:pPr indent="0" marL="0">
              <a:buNone/>
            </a:pPr>
            <a:r>
              <a:rPr lang="en-US" sz="3000" b="1" dirty="0">
                <a:solidFill>
                  <a:srgbClr val="10243A"/>
                </a:solidFill>
                <a:latin typeface="Cambria" pitchFamily="34" charset="0"/>
                <a:ea typeface="Cambria" pitchFamily="34" charset="-122"/>
                <a:cs typeface="Cambria" pitchFamily="34" charset="-120"/>
              </a:rPr>
              <a:t>One pipeline, ten functions, five layers</a:t>
            </a:r>
            <a:endParaRPr lang="en-US" sz="3000" dirty="0"/>
          </a:p>
        </p:txBody>
      </p:sp>
      <p:sp>
        <p:nvSpPr>
          <p:cNvPr id="4" name="Text 2"/>
          <p:cNvSpPr txBox="1"/>
          <p:nvPr/>
        </p:nvSpPr>
        <p:spPr>
          <a:xfrm>
            <a:off x="594360" y="1143000"/>
            <a:ext cx="9994392" cy="274320"/>
          </a:xfrm>
          <a:prstGeom prst="rect">
            <a:avLst/>
          </a:prstGeom>
          <a:noFill/>
          <a:ln/>
        </p:spPr>
        <p:txBody>
          <a:bodyPr wrap="square" lIns="0" tIns="0" rIns="0" bIns="0" rtlCol="0" anchor="ctr"/>
          <a:lstStyle/>
          <a:p>
            <a:pPr indent="0" marL="0">
              <a:buNone/>
            </a:pPr>
            <a:r>
              <a:rPr lang="en-US" sz="1200" dirty="0">
                <a:solidFill>
                  <a:srgbClr val="58697A"/>
                </a:solidFill>
                <a:latin typeface="Calibri" pitchFamily="34" charset="0"/>
                <a:ea typeface="Calibri" pitchFamily="34" charset="-122"/>
                <a:cs typeface="Calibri" pitchFamily="34" charset="-120"/>
              </a:rPr>
              <a:t>Every function is an agent pipeline over the same orchestration layer, the same shared services and one file-based store.</a:t>
            </a:r>
            <a:endParaRPr lang="en-US" sz="1200" dirty="0"/>
          </a:p>
        </p:txBody>
      </p:sp>
      <p:sp>
        <p:nvSpPr>
          <p:cNvPr id="5" name="Shape 3"/>
          <p:cNvSpPr/>
          <p:nvPr/>
        </p:nvSpPr>
        <p:spPr>
          <a:xfrm>
            <a:off x="10881360" y="475488"/>
            <a:ext cx="713232" cy="713232"/>
          </a:xfrm>
          <a:prstGeom prst="roundRect">
            <a:avLst>
              <a:gd name="adj" fmla="val 20513"/>
            </a:avLst>
          </a:prstGeom>
          <a:solidFill>
            <a:srgbClr val="10243A"/>
          </a:solidFill>
          <a:ln/>
        </p:spPr>
      </p:sp>
      <p:pic>
        <p:nvPicPr>
          <p:cNvPr id="6" name="Image 0" descr="preencoded.png">    </p:cNvPr>
          <p:cNvPicPr>
            <a:picLocks noChangeAspect="1"/>
          </p:cNvPicPr>
          <p:nvPr/>
        </p:nvPicPr>
        <p:blipFill>
          <a:blip r:embed="rId1"/>
          <a:stretch>
            <a:fillRect/>
          </a:stretch>
        </p:blipFill>
        <p:spPr>
          <a:xfrm>
            <a:off x="11038271" y="632399"/>
            <a:ext cx="399410" cy="399410"/>
          </a:xfrm>
          <a:prstGeom prst="rect">
            <a:avLst/>
          </a:prstGeom>
        </p:spPr>
      </p:pic>
      <p:sp>
        <p:nvSpPr>
          <p:cNvPr id="7" name="Shape 4"/>
          <p:cNvSpPr/>
          <p:nvPr/>
        </p:nvSpPr>
        <p:spPr>
          <a:xfrm>
            <a:off x="594360" y="1481328"/>
            <a:ext cx="11000232" cy="749808"/>
          </a:xfrm>
          <a:prstGeom prst="roundRect">
            <a:avLst>
              <a:gd name="adj" fmla="val 12195"/>
            </a:avLst>
          </a:prstGeom>
          <a:solidFill>
            <a:srgbClr val="F8FAFC"/>
          </a:solidFill>
          <a:ln w="15875">
            <a:solidFill>
              <a:srgbClr val="AECBF2"/>
            </a:solidFill>
            <a:prstDash val="solid"/>
          </a:ln>
          <a:effectLst>
            <a:outerShdw sx="100000" sy="100000" kx="0" ky="0" algn="bl" rotWithShape="0" blurRad="101600" dist="19050" dir="5400000">
              <a:srgbClr val="9FB0C2">
                <a:alpha val="24000"/>
              </a:srgbClr>
            </a:outerShdw>
          </a:effectLst>
        </p:spPr>
      </p:sp>
      <p:sp>
        <p:nvSpPr>
          <p:cNvPr id="8" name="Shape 5"/>
          <p:cNvSpPr/>
          <p:nvPr/>
        </p:nvSpPr>
        <p:spPr>
          <a:xfrm>
            <a:off x="813816" y="1655064"/>
            <a:ext cx="402336" cy="402336"/>
          </a:xfrm>
          <a:prstGeom prst="roundRect">
            <a:avLst>
              <a:gd name="adj" fmla="val 27273"/>
            </a:avLst>
          </a:prstGeom>
          <a:solidFill>
            <a:srgbClr val="2F6FD0"/>
          </a:solidFill>
          <a:ln/>
        </p:spPr>
      </p:sp>
      <p:pic>
        <p:nvPicPr>
          <p:cNvPr id="9" name="Image 1" descr="preencoded.png">    </p:cNvPr>
          <p:cNvPicPr>
            <a:picLocks noChangeAspect="1"/>
          </p:cNvPicPr>
          <p:nvPr/>
        </p:nvPicPr>
        <p:blipFill>
          <a:blip r:embed="rId2"/>
          <a:stretch>
            <a:fillRect/>
          </a:stretch>
        </p:blipFill>
        <p:spPr>
          <a:xfrm>
            <a:off x="902330" y="1743578"/>
            <a:ext cx="225308" cy="225308"/>
          </a:xfrm>
          <a:prstGeom prst="rect">
            <a:avLst/>
          </a:prstGeom>
        </p:spPr>
      </p:pic>
      <p:sp>
        <p:nvSpPr>
          <p:cNvPr id="10" name="Text 6"/>
          <p:cNvSpPr txBox="1"/>
          <p:nvPr/>
        </p:nvSpPr>
        <p:spPr>
          <a:xfrm>
            <a:off x="1344168" y="1600200"/>
            <a:ext cx="1874520" cy="237744"/>
          </a:xfrm>
          <a:prstGeom prst="rect">
            <a:avLst/>
          </a:prstGeom>
          <a:noFill/>
          <a:ln/>
        </p:spPr>
        <p:txBody>
          <a:bodyPr wrap="square" lIns="0" tIns="0" rIns="0" bIns="0" rtlCol="0" anchor="ctr"/>
          <a:lstStyle/>
          <a:p>
            <a:pPr indent="0" marL="0">
              <a:buNone/>
            </a:pPr>
            <a:r>
              <a:rPr lang="en-US" sz="1250" b="1" dirty="0">
                <a:solidFill>
                  <a:srgbClr val="153A61"/>
                </a:solidFill>
                <a:latin typeface="Cambria" pitchFamily="34" charset="0"/>
                <a:ea typeface="Cambria" pitchFamily="34" charset="-122"/>
                <a:cs typeface="Cambria" pitchFamily="34" charset="-120"/>
              </a:rPr>
              <a:t>INTERFACES</a:t>
            </a:r>
            <a:endParaRPr lang="en-US" sz="1250" dirty="0"/>
          </a:p>
        </p:txBody>
      </p:sp>
      <p:sp>
        <p:nvSpPr>
          <p:cNvPr id="11" name="Text 7"/>
          <p:cNvSpPr txBox="1"/>
          <p:nvPr/>
        </p:nvSpPr>
        <p:spPr>
          <a:xfrm>
            <a:off x="1344168" y="1865376"/>
            <a:ext cx="1874520" cy="201168"/>
          </a:xfrm>
          <a:prstGeom prst="rect">
            <a:avLst/>
          </a:prstGeom>
          <a:noFill/>
          <a:ln/>
        </p:spPr>
        <p:txBody>
          <a:bodyPr wrap="square" lIns="0" tIns="0" rIns="0" bIns="0" rtlCol="0" anchor="ctr"/>
          <a:lstStyle/>
          <a:p>
            <a:pPr indent="0" marL="0">
              <a:buNone/>
            </a:pPr>
            <a:r>
              <a:rPr lang="en-US" sz="850" i="1" dirty="0">
                <a:solidFill>
                  <a:srgbClr val="58697A"/>
                </a:solidFill>
                <a:latin typeface="Calibri" pitchFamily="34" charset="0"/>
                <a:ea typeface="Calibri" pitchFamily="34" charset="-122"/>
                <a:cs typeface="Calibri" pitchFamily="34" charset="-120"/>
              </a:rPr>
              <a:t>who drives it</a:t>
            </a:r>
            <a:endParaRPr lang="en-US" sz="850" dirty="0"/>
          </a:p>
        </p:txBody>
      </p:sp>
      <p:sp>
        <p:nvSpPr>
          <p:cNvPr id="12" name="Shape 8"/>
          <p:cNvSpPr/>
          <p:nvPr/>
        </p:nvSpPr>
        <p:spPr>
          <a:xfrm>
            <a:off x="3264408" y="1591056"/>
            <a:ext cx="1281989" cy="274320"/>
          </a:xfrm>
          <a:prstGeom prst="roundRect">
            <a:avLst>
              <a:gd name="adj" fmla="val 46667"/>
            </a:avLst>
          </a:prstGeom>
          <a:solidFill>
            <a:srgbClr val="E3EDFC"/>
          </a:solidFill>
          <a:ln w="12700">
            <a:solidFill>
              <a:srgbClr val="2F6FD0"/>
            </a:solidFill>
            <a:prstDash val="solid"/>
          </a:ln>
        </p:spPr>
      </p:sp>
      <p:sp>
        <p:nvSpPr>
          <p:cNvPr id="13" name="Text 9"/>
          <p:cNvSpPr txBox="1"/>
          <p:nvPr/>
        </p:nvSpPr>
        <p:spPr>
          <a:xfrm>
            <a:off x="3264408" y="1591056"/>
            <a:ext cx="1281989" cy="274320"/>
          </a:xfrm>
          <a:prstGeom prst="rect">
            <a:avLst/>
          </a:prstGeom>
          <a:noFill/>
          <a:ln/>
        </p:spPr>
        <p:txBody>
          <a:bodyPr wrap="square" lIns="0" tIns="0" rIns="0" bIns="0" rtlCol="0" anchor="ctr"/>
          <a:lstStyle/>
          <a:p>
            <a:pPr algn="ctr" indent="0" marL="0">
              <a:buNone/>
            </a:pPr>
            <a:r>
              <a:rPr lang="en-US" sz="850" b="1" dirty="0">
                <a:solidFill>
                  <a:srgbClr val="153A61"/>
                </a:solidFill>
                <a:latin typeface="Calibri" pitchFamily="34" charset="0"/>
                <a:ea typeface="Calibri" pitchFamily="34" charset="-122"/>
                <a:cs typeface="Calibri" pitchFamily="34" charset="-120"/>
              </a:rPr>
              <a:t>React UI · 14 pages</a:t>
            </a:r>
            <a:endParaRPr lang="en-US" sz="850" dirty="0"/>
          </a:p>
        </p:txBody>
      </p:sp>
      <p:sp>
        <p:nvSpPr>
          <p:cNvPr id="14" name="Shape 10"/>
          <p:cNvSpPr/>
          <p:nvPr/>
        </p:nvSpPr>
        <p:spPr>
          <a:xfrm>
            <a:off x="4646981" y="1591056"/>
            <a:ext cx="1335024" cy="274320"/>
          </a:xfrm>
          <a:prstGeom prst="roundRect">
            <a:avLst>
              <a:gd name="adj" fmla="val 46667"/>
            </a:avLst>
          </a:prstGeom>
          <a:solidFill>
            <a:srgbClr val="E3EDFC"/>
          </a:solidFill>
          <a:ln w="12700">
            <a:solidFill>
              <a:srgbClr val="2F6FD0"/>
            </a:solidFill>
            <a:prstDash val="solid"/>
          </a:ln>
        </p:spPr>
      </p:sp>
      <p:sp>
        <p:nvSpPr>
          <p:cNvPr id="15" name="Text 11"/>
          <p:cNvSpPr txBox="1"/>
          <p:nvPr/>
        </p:nvSpPr>
        <p:spPr>
          <a:xfrm>
            <a:off x="4646981" y="1591056"/>
            <a:ext cx="1335024" cy="274320"/>
          </a:xfrm>
          <a:prstGeom prst="rect">
            <a:avLst/>
          </a:prstGeom>
          <a:noFill/>
          <a:ln/>
        </p:spPr>
        <p:txBody>
          <a:bodyPr wrap="square" lIns="0" tIns="0" rIns="0" bIns="0" rtlCol="0" anchor="ctr"/>
          <a:lstStyle/>
          <a:p>
            <a:pPr algn="ctr" indent="0" marL="0">
              <a:buNone/>
            </a:pPr>
            <a:r>
              <a:rPr lang="en-US" sz="850" b="1" dirty="0">
                <a:solidFill>
                  <a:srgbClr val="153A61"/>
                </a:solidFill>
                <a:latin typeface="Calibri" pitchFamily="34" charset="0"/>
                <a:ea typeface="Calibri" pitchFamily="34" charset="-122"/>
                <a:cs typeface="Calibri" pitchFamily="34" charset="-120"/>
              </a:rPr>
              <a:t>FastAPI · 17 routers</a:t>
            </a:r>
            <a:endParaRPr lang="en-US" sz="850" dirty="0"/>
          </a:p>
        </p:txBody>
      </p:sp>
      <p:sp>
        <p:nvSpPr>
          <p:cNvPr id="16" name="Shape 12"/>
          <p:cNvSpPr/>
          <p:nvPr/>
        </p:nvSpPr>
        <p:spPr>
          <a:xfrm>
            <a:off x="6082589" y="1591056"/>
            <a:ext cx="751637" cy="274320"/>
          </a:xfrm>
          <a:prstGeom prst="roundRect">
            <a:avLst>
              <a:gd name="adj" fmla="val 46667"/>
            </a:avLst>
          </a:prstGeom>
          <a:solidFill>
            <a:srgbClr val="E3EDFC"/>
          </a:solidFill>
          <a:ln w="12700">
            <a:solidFill>
              <a:srgbClr val="2F6FD0"/>
            </a:solidFill>
            <a:prstDash val="solid"/>
          </a:ln>
        </p:spPr>
      </p:sp>
      <p:sp>
        <p:nvSpPr>
          <p:cNvPr id="17" name="Text 13"/>
          <p:cNvSpPr txBox="1"/>
          <p:nvPr/>
        </p:nvSpPr>
        <p:spPr>
          <a:xfrm>
            <a:off x="6082589" y="1591056"/>
            <a:ext cx="751637" cy="274320"/>
          </a:xfrm>
          <a:prstGeom prst="rect">
            <a:avLst/>
          </a:prstGeom>
          <a:noFill/>
          <a:ln/>
        </p:spPr>
        <p:txBody>
          <a:bodyPr wrap="square" lIns="0" tIns="0" rIns="0" bIns="0" rtlCol="0" anchor="ctr"/>
          <a:lstStyle/>
          <a:p>
            <a:pPr algn="ctr" indent="0" marL="0">
              <a:buNone/>
            </a:pPr>
            <a:r>
              <a:rPr lang="en-US" sz="850" b="1" dirty="0">
                <a:solidFill>
                  <a:srgbClr val="153A61"/>
                </a:solidFill>
                <a:latin typeface="Calibri" pitchFamily="34" charset="0"/>
                <a:ea typeface="Calibri" pitchFamily="34" charset="-122"/>
                <a:cs typeface="Calibri" pitchFamily="34" charset="-120"/>
              </a:rPr>
              <a:t>Typer CLI</a:t>
            </a:r>
            <a:endParaRPr lang="en-US" sz="850" dirty="0"/>
          </a:p>
        </p:txBody>
      </p:sp>
      <p:sp>
        <p:nvSpPr>
          <p:cNvPr id="18" name="Text 14"/>
          <p:cNvSpPr txBox="1"/>
          <p:nvPr/>
        </p:nvSpPr>
        <p:spPr>
          <a:xfrm>
            <a:off x="3264408" y="1938528"/>
            <a:ext cx="8074152" cy="219456"/>
          </a:xfrm>
          <a:prstGeom prst="rect">
            <a:avLst/>
          </a:prstGeom>
          <a:noFill/>
          <a:ln/>
        </p:spPr>
        <p:txBody>
          <a:bodyPr wrap="square" lIns="0" tIns="0" rIns="0" bIns="0" rtlCol="0" anchor="ctr"/>
          <a:lstStyle/>
          <a:p>
            <a:pPr indent="0" marL="0">
              <a:buNone/>
            </a:pPr>
            <a:r>
              <a:rPr lang="en-US" sz="880" dirty="0">
                <a:solidFill>
                  <a:srgbClr val="43566B"/>
                </a:solidFill>
                <a:latin typeface="Calibri" pitchFamily="34" charset="0"/>
                <a:ea typeface="Calibri" pitchFamily="34" charset="-122"/>
                <a:cs typeface="Calibri" pitchFamily="34" charset="-120"/>
              </a:rPr>
              <a:t>The CLI drives exactly the same pipelines as the UI — the intended path for an unattended 4,000-company batch.</a:t>
            </a:r>
            <a:endParaRPr lang="en-US" sz="880" dirty="0"/>
          </a:p>
        </p:txBody>
      </p:sp>
      <p:sp>
        <p:nvSpPr>
          <p:cNvPr id="19" name="Shape 15"/>
          <p:cNvSpPr/>
          <p:nvPr/>
        </p:nvSpPr>
        <p:spPr>
          <a:xfrm>
            <a:off x="1014984" y="2249424"/>
            <a:ext cx="0" cy="137160"/>
          </a:xfrm>
          <a:prstGeom prst="line">
            <a:avLst/>
          </a:prstGeom>
          <a:noFill/>
          <a:ln w="17780">
            <a:solidFill>
              <a:srgbClr val="64798F"/>
            </a:solidFill>
            <a:prstDash val="solid"/>
            <a:headEnd type="none"/>
            <a:tailEnd type="triangle"/>
          </a:ln>
        </p:spPr>
      </p:sp>
      <p:sp>
        <p:nvSpPr>
          <p:cNvPr id="20" name="Shape 16"/>
          <p:cNvSpPr/>
          <p:nvPr/>
        </p:nvSpPr>
        <p:spPr>
          <a:xfrm>
            <a:off x="594360" y="2400300"/>
            <a:ext cx="11000232" cy="749808"/>
          </a:xfrm>
          <a:prstGeom prst="roundRect">
            <a:avLst>
              <a:gd name="adj" fmla="val 12195"/>
            </a:avLst>
          </a:prstGeom>
          <a:solidFill>
            <a:srgbClr val="F8FAFC"/>
          </a:solidFill>
          <a:ln w="15875">
            <a:solidFill>
              <a:srgbClr val="C8D4E0"/>
            </a:solidFill>
            <a:prstDash val="solid"/>
          </a:ln>
          <a:effectLst>
            <a:outerShdw sx="100000" sy="100000" kx="0" ky="0" algn="bl" rotWithShape="0" blurRad="101600" dist="19050" dir="5400000">
              <a:srgbClr val="9FB0C2">
                <a:alpha val="24000"/>
              </a:srgbClr>
            </a:outerShdw>
          </a:effectLst>
        </p:spPr>
      </p:sp>
      <p:sp>
        <p:nvSpPr>
          <p:cNvPr id="21" name="Shape 17"/>
          <p:cNvSpPr/>
          <p:nvPr/>
        </p:nvSpPr>
        <p:spPr>
          <a:xfrm>
            <a:off x="813816" y="2574036"/>
            <a:ext cx="402336" cy="402336"/>
          </a:xfrm>
          <a:prstGeom prst="roundRect">
            <a:avLst>
              <a:gd name="adj" fmla="val 27273"/>
            </a:avLst>
          </a:prstGeom>
          <a:solidFill>
            <a:srgbClr val="64798F"/>
          </a:solidFill>
          <a:ln/>
        </p:spPr>
      </p:sp>
      <p:pic>
        <p:nvPicPr>
          <p:cNvPr id="22" name="Image 2" descr="preencoded.png">    </p:cNvPr>
          <p:cNvPicPr>
            <a:picLocks noChangeAspect="1"/>
          </p:cNvPicPr>
          <p:nvPr/>
        </p:nvPicPr>
        <p:blipFill>
          <a:blip r:embed="rId3"/>
          <a:stretch>
            <a:fillRect/>
          </a:stretch>
        </p:blipFill>
        <p:spPr>
          <a:xfrm>
            <a:off x="902330" y="2662550"/>
            <a:ext cx="225308" cy="225308"/>
          </a:xfrm>
          <a:prstGeom prst="rect">
            <a:avLst/>
          </a:prstGeom>
        </p:spPr>
      </p:pic>
      <p:sp>
        <p:nvSpPr>
          <p:cNvPr id="23" name="Text 18"/>
          <p:cNvSpPr txBox="1"/>
          <p:nvPr/>
        </p:nvSpPr>
        <p:spPr>
          <a:xfrm>
            <a:off x="1344168" y="2519172"/>
            <a:ext cx="1874520" cy="237744"/>
          </a:xfrm>
          <a:prstGeom prst="rect">
            <a:avLst/>
          </a:prstGeom>
          <a:noFill/>
          <a:ln/>
        </p:spPr>
        <p:txBody>
          <a:bodyPr wrap="square" lIns="0" tIns="0" rIns="0" bIns="0" rtlCol="0" anchor="ctr"/>
          <a:lstStyle/>
          <a:p>
            <a:pPr indent="0" marL="0">
              <a:buNone/>
            </a:pPr>
            <a:r>
              <a:rPr lang="en-US" sz="1250" b="1" dirty="0">
                <a:solidFill>
                  <a:srgbClr val="24354A"/>
                </a:solidFill>
                <a:latin typeface="Cambria" pitchFamily="34" charset="0"/>
                <a:ea typeface="Cambria" pitchFamily="34" charset="-122"/>
                <a:cs typeface="Cambria" pitchFamily="34" charset="-120"/>
              </a:rPr>
              <a:t>ORCHESTRATION</a:t>
            </a:r>
            <a:endParaRPr lang="en-US" sz="1250" dirty="0"/>
          </a:p>
        </p:txBody>
      </p:sp>
      <p:sp>
        <p:nvSpPr>
          <p:cNvPr id="24" name="Text 19"/>
          <p:cNvSpPr txBox="1"/>
          <p:nvPr/>
        </p:nvSpPr>
        <p:spPr>
          <a:xfrm>
            <a:off x="1344168" y="2784348"/>
            <a:ext cx="1874520" cy="201168"/>
          </a:xfrm>
          <a:prstGeom prst="rect">
            <a:avLst/>
          </a:prstGeom>
          <a:noFill/>
          <a:ln/>
        </p:spPr>
        <p:txBody>
          <a:bodyPr wrap="square" lIns="0" tIns="0" rIns="0" bIns="0" rtlCol="0" anchor="ctr"/>
          <a:lstStyle/>
          <a:p>
            <a:pPr indent="0" marL="0">
              <a:buNone/>
            </a:pPr>
            <a:r>
              <a:rPr lang="en-US" sz="850" i="1" dirty="0">
                <a:solidFill>
                  <a:srgbClr val="58697A"/>
                </a:solidFill>
                <a:latin typeface="Calibri" pitchFamily="34" charset="0"/>
                <a:ea typeface="Calibri" pitchFamily="34" charset="-122"/>
                <a:cs typeface="Calibri" pitchFamily="34" charset="-120"/>
              </a:rPr>
              <a:t>how a run behaves</a:t>
            </a:r>
            <a:endParaRPr lang="en-US" sz="850" dirty="0"/>
          </a:p>
        </p:txBody>
      </p:sp>
      <p:sp>
        <p:nvSpPr>
          <p:cNvPr id="25" name="Shape 20"/>
          <p:cNvSpPr/>
          <p:nvPr/>
        </p:nvSpPr>
        <p:spPr>
          <a:xfrm>
            <a:off x="3264408" y="2510028"/>
            <a:ext cx="804672" cy="274320"/>
          </a:xfrm>
          <a:prstGeom prst="roundRect">
            <a:avLst>
              <a:gd name="adj" fmla="val 46667"/>
            </a:avLst>
          </a:prstGeom>
          <a:solidFill>
            <a:srgbClr val="EAF0F5"/>
          </a:solidFill>
          <a:ln w="12700">
            <a:solidFill>
              <a:srgbClr val="64798F"/>
            </a:solidFill>
            <a:prstDash val="solid"/>
          </a:ln>
        </p:spPr>
      </p:sp>
      <p:sp>
        <p:nvSpPr>
          <p:cNvPr id="26" name="Text 21"/>
          <p:cNvSpPr txBox="1"/>
          <p:nvPr/>
        </p:nvSpPr>
        <p:spPr>
          <a:xfrm>
            <a:off x="3264408" y="2510028"/>
            <a:ext cx="804672" cy="274320"/>
          </a:xfrm>
          <a:prstGeom prst="rect">
            <a:avLst/>
          </a:prstGeom>
          <a:noFill/>
          <a:ln/>
        </p:spPr>
        <p:txBody>
          <a:bodyPr wrap="square" lIns="0" tIns="0" rIns="0" bIns="0" rtlCol="0" anchor="ctr"/>
          <a:lstStyle/>
          <a:p>
            <a:pPr algn="ctr" indent="0" marL="0">
              <a:buNone/>
            </a:pPr>
            <a:r>
              <a:rPr lang="en-US" sz="850" b="1" dirty="0">
                <a:solidFill>
                  <a:srgbClr val="24354A"/>
                </a:solidFill>
                <a:latin typeface="Calibri" pitchFamily="34" charset="0"/>
                <a:ea typeface="Calibri" pitchFamily="34" charset="-122"/>
                <a:cs typeface="Calibri" pitchFamily="34" charset="-120"/>
              </a:rPr>
              <a:t>JobManager</a:t>
            </a:r>
            <a:endParaRPr lang="en-US" sz="850" dirty="0"/>
          </a:p>
        </p:txBody>
      </p:sp>
      <p:sp>
        <p:nvSpPr>
          <p:cNvPr id="27" name="Shape 22"/>
          <p:cNvSpPr/>
          <p:nvPr/>
        </p:nvSpPr>
        <p:spPr>
          <a:xfrm>
            <a:off x="4169664" y="2510028"/>
            <a:ext cx="857707" cy="274320"/>
          </a:xfrm>
          <a:prstGeom prst="roundRect">
            <a:avLst>
              <a:gd name="adj" fmla="val 46667"/>
            </a:avLst>
          </a:prstGeom>
          <a:solidFill>
            <a:srgbClr val="EAF0F5"/>
          </a:solidFill>
          <a:ln w="12700">
            <a:solidFill>
              <a:srgbClr val="64798F"/>
            </a:solidFill>
            <a:prstDash val="solid"/>
          </a:ln>
        </p:spPr>
      </p:sp>
      <p:sp>
        <p:nvSpPr>
          <p:cNvPr id="28" name="Text 23"/>
          <p:cNvSpPr txBox="1"/>
          <p:nvPr/>
        </p:nvSpPr>
        <p:spPr>
          <a:xfrm>
            <a:off x="4169664" y="2510028"/>
            <a:ext cx="857707" cy="274320"/>
          </a:xfrm>
          <a:prstGeom prst="rect">
            <a:avLst/>
          </a:prstGeom>
          <a:noFill/>
          <a:ln/>
        </p:spPr>
        <p:txBody>
          <a:bodyPr wrap="square" lIns="0" tIns="0" rIns="0" bIns="0" rtlCol="0" anchor="ctr"/>
          <a:lstStyle/>
          <a:p>
            <a:pPr algn="ctr" indent="0" marL="0">
              <a:buNone/>
            </a:pPr>
            <a:r>
              <a:rPr lang="en-US" sz="850" b="1" dirty="0">
                <a:solidFill>
                  <a:srgbClr val="24354A"/>
                </a:solidFill>
                <a:latin typeface="Calibri" pitchFamily="34" charset="0"/>
                <a:ea typeface="Calibri" pitchFamily="34" charset="-122"/>
                <a:cs typeface="Calibri" pitchFamily="34" charset="-120"/>
              </a:rPr>
              <a:t>RunManifest</a:t>
            </a:r>
            <a:endParaRPr lang="en-US" sz="850" dirty="0"/>
          </a:p>
        </p:txBody>
      </p:sp>
      <p:sp>
        <p:nvSpPr>
          <p:cNvPr id="29" name="Shape 24"/>
          <p:cNvSpPr/>
          <p:nvPr/>
        </p:nvSpPr>
        <p:spPr>
          <a:xfrm>
            <a:off x="5127955" y="2510028"/>
            <a:ext cx="751637" cy="274320"/>
          </a:xfrm>
          <a:prstGeom prst="roundRect">
            <a:avLst>
              <a:gd name="adj" fmla="val 46667"/>
            </a:avLst>
          </a:prstGeom>
          <a:solidFill>
            <a:srgbClr val="DCF2F4"/>
          </a:solidFill>
          <a:ln w="12700">
            <a:solidFill>
              <a:srgbClr val="108494"/>
            </a:solidFill>
            <a:prstDash val="solid"/>
          </a:ln>
        </p:spPr>
      </p:sp>
      <p:sp>
        <p:nvSpPr>
          <p:cNvPr id="30" name="Text 25"/>
          <p:cNvSpPr txBox="1"/>
          <p:nvPr/>
        </p:nvSpPr>
        <p:spPr>
          <a:xfrm>
            <a:off x="5127955" y="2510028"/>
            <a:ext cx="751637" cy="274320"/>
          </a:xfrm>
          <a:prstGeom prst="rect">
            <a:avLst/>
          </a:prstGeom>
          <a:noFill/>
          <a:ln/>
        </p:spPr>
        <p:txBody>
          <a:bodyPr wrap="square" lIns="0" tIns="0" rIns="0" bIns="0" rtlCol="0" anchor="ctr"/>
          <a:lstStyle/>
          <a:p>
            <a:pPr algn="ctr" indent="0" marL="0">
              <a:buNone/>
            </a:pPr>
            <a:r>
              <a:rPr lang="en-US" sz="850" b="1" dirty="0">
                <a:solidFill>
                  <a:srgbClr val="0A4451"/>
                </a:solidFill>
                <a:latin typeface="Calibri" pitchFamily="34" charset="0"/>
                <a:ea typeface="Calibri" pitchFamily="34" charset="-122"/>
                <a:cs typeface="Calibri" pitchFamily="34" charset="-120"/>
              </a:rPr>
              <a:t>run_batch</a:t>
            </a:r>
            <a:endParaRPr lang="en-US" sz="850" dirty="0"/>
          </a:p>
        </p:txBody>
      </p:sp>
      <p:sp>
        <p:nvSpPr>
          <p:cNvPr id="31" name="Shape 26"/>
          <p:cNvSpPr/>
          <p:nvPr/>
        </p:nvSpPr>
        <p:spPr>
          <a:xfrm>
            <a:off x="5980176" y="2510028"/>
            <a:ext cx="910742" cy="274320"/>
          </a:xfrm>
          <a:prstGeom prst="roundRect">
            <a:avLst>
              <a:gd name="adj" fmla="val 46667"/>
            </a:avLst>
          </a:prstGeom>
          <a:solidFill>
            <a:srgbClr val="FBE2E8"/>
          </a:solidFill>
          <a:ln w="12700">
            <a:solidFill>
              <a:srgbClr val="CE3D64"/>
            </a:solidFill>
            <a:prstDash val="solid"/>
          </a:ln>
        </p:spPr>
      </p:sp>
      <p:sp>
        <p:nvSpPr>
          <p:cNvPr id="32" name="Text 27"/>
          <p:cNvSpPr txBox="1"/>
          <p:nvPr/>
        </p:nvSpPr>
        <p:spPr>
          <a:xfrm>
            <a:off x="5980176" y="2510028"/>
            <a:ext cx="910742" cy="274320"/>
          </a:xfrm>
          <a:prstGeom prst="rect">
            <a:avLst/>
          </a:prstGeom>
          <a:noFill/>
          <a:ln/>
        </p:spPr>
        <p:txBody>
          <a:bodyPr wrap="square" lIns="0" tIns="0" rIns="0" bIns="0" rtlCol="0" anchor="ctr"/>
          <a:lstStyle/>
          <a:p>
            <a:pPr algn="ctr" indent="0" marL="0">
              <a:buNone/>
            </a:pPr>
            <a:r>
              <a:rPr lang="en-US" sz="850" b="1" dirty="0">
                <a:solidFill>
                  <a:srgbClr val="68182F"/>
                </a:solidFill>
                <a:latin typeface="Calibri" pitchFamily="34" charset="0"/>
                <a:ea typeface="Calibri" pitchFamily="34" charset="-122"/>
                <a:cs typeface="Calibri" pitchFamily="34" charset="-120"/>
              </a:rPr>
              <a:t>review queue</a:t>
            </a:r>
            <a:endParaRPr lang="en-US" sz="850" dirty="0"/>
          </a:p>
        </p:txBody>
      </p:sp>
      <p:sp>
        <p:nvSpPr>
          <p:cNvPr id="33" name="Shape 28"/>
          <p:cNvSpPr/>
          <p:nvPr/>
        </p:nvSpPr>
        <p:spPr>
          <a:xfrm>
            <a:off x="6991502" y="2510028"/>
            <a:ext cx="910742" cy="274320"/>
          </a:xfrm>
          <a:prstGeom prst="roundRect">
            <a:avLst>
              <a:gd name="adj" fmla="val 46667"/>
            </a:avLst>
          </a:prstGeom>
          <a:solidFill>
            <a:srgbClr val="EAF0F5"/>
          </a:solidFill>
          <a:ln w="12700">
            <a:solidFill>
              <a:srgbClr val="64798F"/>
            </a:solidFill>
            <a:prstDash val="solid"/>
          </a:ln>
        </p:spPr>
      </p:sp>
      <p:sp>
        <p:nvSpPr>
          <p:cNvPr id="34" name="Text 29"/>
          <p:cNvSpPr txBox="1"/>
          <p:nvPr/>
        </p:nvSpPr>
        <p:spPr>
          <a:xfrm>
            <a:off x="6991502" y="2510028"/>
            <a:ext cx="910742" cy="274320"/>
          </a:xfrm>
          <a:prstGeom prst="rect">
            <a:avLst/>
          </a:prstGeom>
          <a:noFill/>
          <a:ln/>
        </p:spPr>
        <p:txBody>
          <a:bodyPr wrap="square" lIns="0" tIns="0" rIns="0" bIns="0" rtlCol="0" anchor="ctr"/>
          <a:lstStyle/>
          <a:p>
            <a:pPr algn="ctr" indent="0" marL="0">
              <a:buNone/>
            </a:pPr>
            <a:r>
              <a:rPr lang="en-US" sz="850" b="1" dirty="0">
                <a:solidFill>
                  <a:srgbClr val="24354A"/>
                </a:solidFill>
                <a:latin typeface="Calibri" pitchFamily="34" charset="0"/>
                <a:ea typeface="Calibri" pitchFamily="34" charset="-122"/>
                <a:cs typeface="Calibri" pitchFamily="34" charset="-120"/>
              </a:rPr>
              <a:t>cost tracker</a:t>
            </a:r>
            <a:endParaRPr lang="en-US" sz="850" dirty="0"/>
          </a:p>
        </p:txBody>
      </p:sp>
      <p:sp>
        <p:nvSpPr>
          <p:cNvPr id="35" name="Text 30"/>
          <p:cNvSpPr txBox="1"/>
          <p:nvPr/>
        </p:nvSpPr>
        <p:spPr>
          <a:xfrm>
            <a:off x="3264408" y="2857500"/>
            <a:ext cx="8074152" cy="219456"/>
          </a:xfrm>
          <a:prstGeom prst="rect">
            <a:avLst/>
          </a:prstGeom>
          <a:noFill/>
          <a:ln/>
        </p:spPr>
        <p:txBody>
          <a:bodyPr wrap="square" lIns="0" tIns="0" rIns="0" bIns="0" rtlCol="0" anchor="ctr"/>
          <a:lstStyle/>
          <a:p>
            <a:pPr indent="0" marL="0">
              <a:buNone/>
            </a:pPr>
            <a:r>
              <a:rPr lang="en-US" sz="880" dirty="0">
                <a:solidFill>
                  <a:srgbClr val="43566B"/>
                </a:solidFill>
                <a:latin typeface="Calibri" pitchFamily="34" charset="0"/>
                <a:ea typeface="Calibri" pitchFamily="34" charset="-122"/>
                <a:cs typeface="Calibri" pitchFamily="34" charset="-120"/>
              </a:rPr>
              <a:t>Bounded concurrency · per-company isolation · a checkpoint on every result · cooperative cancel and resume.</a:t>
            </a:r>
            <a:endParaRPr lang="en-US" sz="880" dirty="0"/>
          </a:p>
        </p:txBody>
      </p:sp>
      <p:sp>
        <p:nvSpPr>
          <p:cNvPr id="36" name="Shape 31"/>
          <p:cNvSpPr/>
          <p:nvPr/>
        </p:nvSpPr>
        <p:spPr>
          <a:xfrm>
            <a:off x="1014984" y="3168396"/>
            <a:ext cx="0" cy="137160"/>
          </a:xfrm>
          <a:prstGeom prst="line">
            <a:avLst/>
          </a:prstGeom>
          <a:noFill/>
          <a:ln w="17780">
            <a:solidFill>
              <a:srgbClr val="64798F"/>
            </a:solidFill>
            <a:prstDash val="solid"/>
            <a:headEnd type="none"/>
            <a:tailEnd type="triangle"/>
          </a:ln>
        </p:spPr>
      </p:sp>
      <p:sp>
        <p:nvSpPr>
          <p:cNvPr id="37" name="Shape 32"/>
          <p:cNvSpPr/>
          <p:nvPr/>
        </p:nvSpPr>
        <p:spPr>
          <a:xfrm>
            <a:off x="594360" y="3319272"/>
            <a:ext cx="11000232" cy="749808"/>
          </a:xfrm>
          <a:prstGeom prst="roundRect">
            <a:avLst>
              <a:gd name="adj" fmla="val 12195"/>
            </a:avLst>
          </a:prstGeom>
          <a:solidFill>
            <a:srgbClr val="F8FAFC"/>
          </a:solidFill>
          <a:ln w="15875">
            <a:solidFill>
              <a:srgbClr val="C9BAF4"/>
            </a:solidFill>
            <a:prstDash val="solid"/>
          </a:ln>
          <a:effectLst>
            <a:outerShdw sx="100000" sy="100000" kx="0" ky="0" algn="bl" rotWithShape="0" blurRad="101600" dist="19050" dir="5400000">
              <a:srgbClr val="9FB0C2">
                <a:alpha val="24000"/>
              </a:srgbClr>
            </a:outerShdw>
          </a:effectLst>
        </p:spPr>
      </p:sp>
      <p:sp>
        <p:nvSpPr>
          <p:cNvPr id="38" name="Shape 33"/>
          <p:cNvSpPr/>
          <p:nvPr/>
        </p:nvSpPr>
        <p:spPr>
          <a:xfrm>
            <a:off x="813816" y="3493008"/>
            <a:ext cx="402336" cy="402336"/>
          </a:xfrm>
          <a:prstGeom prst="roundRect">
            <a:avLst>
              <a:gd name="adj" fmla="val 27273"/>
            </a:avLst>
          </a:prstGeom>
          <a:solidFill>
            <a:srgbClr val="6D4DD1"/>
          </a:solidFill>
          <a:ln/>
        </p:spPr>
      </p:sp>
      <p:pic>
        <p:nvPicPr>
          <p:cNvPr id="39" name="Image 3" descr="preencoded.png">    </p:cNvPr>
          <p:cNvPicPr>
            <a:picLocks noChangeAspect="1"/>
          </p:cNvPicPr>
          <p:nvPr/>
        </p:nvPicPr>
        <p:blipFill>
          <a:blip r:embed="rId4"/>
          <a:stretch>
            <a:fillRect/>
          </a:stretch>
        </p:blipFill>
        <p:spPr>
          <a:xfrm>
            <a:off x="902330" y="3581522"/>
            <a:ext cx="225308" cy="225308"/>
          </a:xfrm>
          <a:prstGeom prst="rect">
            <a:avLst/>
          </a:prstGeom>
        </p:spPr>
      </p:pic>
      <p:sp>
        <p:nvSpPr>
          <p:cNvPr id="40" name="Text 34"/>
          <p:cNvSpPr txBox="1"/>
          <p:nvPr/>
        </p:nvSpPr>
        <p:spPr>
          <a:xfrm>
            <a:off x="1344168" y="3438144"/>
            <a:ext cx="1874520" cy="237744"/>
          </a:xfrm>
          <a:prstGeom prst="rect">
            <a:avLst/>
          </a:prstGeom>
          <a:noFill/>
          <a:ln/>
        </p:spPr>
        <p:txBody>
          <a:bodyPr wrap="square" lIns="0" tIns="0" rIns="0" bIns="0" rtlCol="0" anchor="ctr"/>
          <a:lstStyle/>
          <a:p>
            <a:pPr indent="0" marL="0">
              <a:buNone/>
            </a:pPr>
            <a:r>
              <a:rPr lang="en-US" sz="1250" b="1" dirty="0">
                <a:solidFill>
                  <a:srgbClr val="35236E"/>
                </a:solidFill>
                <a:latin typeface="Cambria" pitchFamily="34" charset="0"/>
                <a:ea typeface="Cambria" pitchFamily="34" charset="-122"/>
                <a:cs typeface="Cambria" pitchFamily="34" charset="-120"/>
              </a:rPr>
              <a:t>AGENT PIPELINES</a:t>
            </a:r>
            <a:endParaRPr lang="en-US" sz="1250" dirty="0"/>
          </a:p>
        </p:txBody>
      </p:sp>
      <p:sp>
        <p:nvSpPr>
          <p:cNvPr id="41" name="Text 35"/>
          <p:cNvSpPr txBox="1"/>
          <p:nvPr/>
        </p:nvSpPr>
        <p:spPr>
          <a:xfrm>
            <a:off x="1344168" y="3703320"/>
            <a:ext cx="1874520" cy="201168"/>
          </a:xfrm>
          <a:prstGeom prst="rect">
            <a:avLst/>
          </a:prstGeom>
          <a:noFill/>
          <a:ln/>
        </p:spPr>
        <p:txBody>
          <a:bodyPr wrap="square" lIns="0" tIns="0" rIns="0" bIns="0" rtlCol="0" anchor="ctr"/>
          <a:lstStyle/>
          <a:p>
            <a:pPr indent="0" marL="0">
              <a:buNone/>
            </a:pPr>
            <a:r>
              <a:rPr lang="en-US" sz="850" i="1" dirty="0">
                <a:solidFill>
                  <a:srgbClr val="58697A"/>
                </a:solidFill>
                <a:latin typeface="Calibri" pitchFamily="34" charset="0"/>
                <a:ea typeface="Calibri" pitchFamily="34" charset="-122"/>
                <a:cs typeface="Calibri" pitchFamily="34" charset="-120"/>
              </a:rPr>
              <a:t>the ten functions</a:t>
            </a:r>
            <a:endParaRPr lang="en-US" sz="850" dirty="0"/>
          </a:p>
        </p:txBody>
      </p:sp>
      <p:sp>
        <p:nvSpPr>
          <p:cNvPr id="42" name="Shape 36"/>
          <p:cNvSpPr/>
          <p:nvPr/>
        </p:nvSpPr>
        <p:spPr>
          <a:xfrm>
            <a:off x="3264408" y="3429000"/>
            <a:ext cx="501110" cy="274320"/>
          </a:xfrm>
          <a:prstGeom prst="roundRect">
            <a:avLst>
              <a:gd name="adj" fmla="val 46667"/>
            </a:avLst>
          </a:prstGeom>
          <a:solidFill>
            <a:srgbClr val="EBE5FC"/>
          </a:solidFill>
          <a:ln w="12700">
            <a:solidFill>
              <a:srgbClr val="6D4DD1"/>
            </a:solidFill>
            <a:prstDash val="solid"/>
          </a:ln>
        </p:spPr>
      </p:sp>
      <p:sp>
        <p:nvSpPr>
          <p:cNvPr id="43" name="Text 37"/>
          <p:cNvSpPr txBox="1"/>
          <p:nvPr/>
        </p:nvSpPr>
        <p:spPr>
          <a:xfrm>
            <a:off x="3264408" y="3429000"/>
            <a:ext cx="501110" cy="274320"/>
          </a:xfrm>
          <a:prstGeom prst="rect">
            <a:avLst/>
          </a:prstGeom>
          <a:noFill/>
          <a:ln/>
        </p:spPr>
        <p:txBody>
          <a:bodyPr wrap="square" lIns="0" tIns="0" rIns="0" bIns="0" rtlCol="0" anchor="ctr"/>
          <a:lstStyle/>
          <a:p>
            <a:pPr algn="ctr" indent="0" marL="0">
              <a:buNone/>
            </a:pPr>
            <a:r>
              <a:rPr lang="en-US" sz="850" b="1" dirty="0">
                <a:solidFill>
                  <a:srgbClr val="35236E"/>
                </a:solidFill>
                <a:latin typeface="Calibri" pitchFamily="34" charset="0"/>
                <a:ea typeface="Calibri" pitchFamily="34" charset="-122"/>
                <a:cs typeface="Calibri" pitchFamily="34" charset="-120"/>
              </a:rPr>
              <a:t>theme</a:t>
            </a:r>
            <a:endParaRPr lang="en-US" sz="850" dirty="0"/>
          </a:p>
        </p:txBody>
      </p:sp>
      <p:sp>
        <p:nvSpPr>
          <p:cNvPr id="44" name="Shape 38"/>
          <p:cNvSpPr/>
          <p:nvPr/>
        </p:nvSpPr>
        <p:spPr>
          <a:xfrm>
            <a:off x="3866102" y="3429000"/>
            <a:ext cx="747419" cy="274320"/>
          </a:xfrm>
          <a:prstGeom prst="roundRect">
            <a:avLst>
              <a:gd name="adj" fmla="val 46667"/>
            </a:avLst>
          </a:prstGeom>
          <a:solidFill>
            <a:srgbClr val="EBE5FC"/>
          </a:solidFill>
          <a:ln w="12700">
            <a:solidFill>
              <a:srgbClr val="6D4DD1"/>
            </a:solidFill>
            <a:prstDash val="solid"/>
          </a:ln>
        </p:spPr>
      </p:sp>
      <p:sp>
        <p:nvSpPr>
          <p:cNvPr id="45" name="Text 39"/>
          <p:cNvSpPr txBox="1"/>
          <p:nvPr/>
        </p:nvSpPr>
        <p:spPr>
          <a:xfrm>
            <a:off x="3866102" y="3429000"/>
            <a:ext cx="747419" cy="274320"/>
          </a:xfrm>
          <a:prstGeom prst="rect">
            <a:avLst/>
          </a:prstGeom>
          <a:noFill/>
          <a:ln/>
        </p:spPr>
        <p:txBody>
          <a:bodyPr wrap="square" lIns="0" tIns="0" rIns="0" bIns="0" rtlCol="0" anchor="ctr"/>
          <a:lstStyle/>
          <a:p>
            <a:pPr algn="ctr" indent="0" marL="0">
              <a:buNone/>
            </a:pPr>
            <a:r>
              <a:rPr lang="en-US" sz="850" b="1" dirty="0">
                <a:solidFill>
                  <a:srgbClr val="35236E"/>
                </a:solidFill>
                <a:latin typeface="Calibri" pitchFamily="34" charset="0"/>
                <a:ea typeface="Calibri" pitchFamily="34" charset="-122"/>
                <a:cs typeface="Calibri" pitchFamily="34" charset="-120"/>
              </a:rPr>
              <a:t>extraction</a:t>
            </a:r>
            <a:endParaRPr lang="en-US" sz="850" dirty="0"/>
          </a:p>
        </p:txBody>
      </p:sp>
      <p:sp>
        <p:nvSpPr>
          <p:cNvPr id="46" name="Shape 40"/>
          <p:cNvSpPr/>
          <p:nvPr/>
        </p:nvSpPr>
        <p:spPr>
          <a:xfrm>
            <a:off x="4714105" y="3429000"/>
            <a:ext cx="747419" cy="274320"/>
          </a:xfrm>
          <a:prstGeom prst="roundRect">
            <a:avLst>
              <a:gd name="adj" fmla="val 46667"/>
            </a:avLst>
          </a:prstGeom>
          <a:solidFill>
            <a:srgbClr val="EBE5FC"/>
          </a:solidFill>
          <a:ln w="12700">
            <a:solidFill>
              <a:srgbClr val="6D4DD1"/>
            </a:solidFill>
            <a:prstDash val="solid"/>
          </a:ln>
        </p:spPr>
      </p:sp>
      <p:sp>
        <p:nvSpPr>
          <p:cNvPr id="47" name="Text 41"/>
          <p:cNvSpPr txBox="1"/>
          <p:nvPr/>
        </p:nvSpPr>
        <p:spPr>
          <a:xfrm>
            <a:off x="4714105" y="3429000"/>
            <a:ext cx="747419" cy="274320"/>
          </a:xfrm>
          <a:prstGeom prst="rect">
            <a:avLst/>
          </a:prstGeom>
          <a:noFill/>
          <a:ln/>
        </p:spPr>
        <p:txBody>
          <a:bodyPr wrap="square" lIns="0" tIns="0" rIns="0" bIns="0" rtlCol="0" anchor="ctr"/>
          <a:lstStyle/>
          <a:p>
            <a:pPr algn="ctr" indent="0" marL="0">
              <a:buNone/>
            </a:pPr>
            <a:r>
              <a:rPr lang="en-US" sz="850" b="1" dirty="0">
                <a:solidFill>
                  <a:srgbClr val="35236E"/>
                </a:solidFill>
                <a:latin typeface="Calibri" pitchFamily="34" charset="0"/>
                <a:ea typeface="Calibri" pitchFamily="34" charset="-122"/>
                <a:cs typeface="Calibri" pitchFamily="34" charset="-120"/>
              </a:rPr>
              <a:t>financials</a:t>
            </a:r>
            <a:endParaRPr lang="en-US" sz="850" dirty="0"/>
          </a:p>
        </p:txBody>
      </p:sp>
      <p:sp>
        <p:nvSpPr>
          <p:cNvPr id="48" name="Shape 42"/>
          <p:cNvSpPr/>
          <p:nvPr/>
        </p:nvSpPr>
        <p:spPr>
          <a:xfrm>
            <a:off x="5562108" y="3429000"/>
            <a:ext cx="698157" cy="274320"/>
          </a:xfrm>
          <a:prstGeom prst="roundRect">
            <a:avLst>
              <a:gd name="adj" fmla="val 46667"/>
            </a:avLst>
          </a:prstGeom>
          <a:solidFill>
            <a:srgbClr val="EBE5FC"/>
          </a:solidFill>
          <a:ln w="12700">
            <a:solidFill>
              <a:srgbClr val="6D4DD1"/>
            </a:solidFill>
            <a:prstDash val="solid"/>
          </a:ln>
        </p:spPr>
      </p:sp>
      <p:sp>
        <p:nvSpPr>
          <p:cNvPr id="49" name="Text 43"/>
          <p:cNvSpPr txBox="1"/>
          <p:nvPr/>
        </p:nvSpPr>
        <p:spPr>
          <a:xfrm>
            <a:off x="5562108" y="3429000"/>
            <a:ext cx="698157" cy="274320"/>
          </a:xfrm>
          <a:prstGeom prst="rect">
            <a:avLst/>
          </a:prstGeom>
          <a:noFill/>
          <a:ln/>
        </p:spPr>
        <p:txBody>
          <a:bodyPr wrap="square" lIns="0" tIns="0" rIns="0" bIns="0" rtlCol="0" anchor="ctr"/>
          <a:lstStyle/>
          <a:p>
            <a:pPr algn="ctr" indent="0" marL="0">
              <a:buNone/>
            </a:pPr>
            <a:r>
              <a:rPr lang="en-US" sz="850" b="1" dirty="0">
                <a:solidFill>
                  <a:srgbClr val="35236E"/>
                </a:solidFill>
                <a:latin typeface="Calibri" pitchFamily="34" charset="0"/>
                <a:ea typeface="Calibri" pitchFamily="34" charset="-122"/>
                <a:cs typeface="Calibri" pitchFamily="34" charset="-120"/>
              </a:rPr>
              <a:t>discovery</a:t>
            </a:r>
            <a:endParaRPr lang="en-US" sz="850" dirty="0"/>
          </a:p>
        </p:txBody>
      </p:sp>
      <p:sp>
        <p:nvSpPr>
          <p:cNvPr id="50" name="Shape 44"/>
          <p:cNvSpPr/>
          <p:nvPr/>
        </p:nvSpPr>
        <p:spPr>
          <a:xfrm>
            <a:off x="6360850" y="3429000"/>
            <a:ext cx="648896" cy="274320"/>
          </a:xfrm>
          <a:prstGeom prst="roundRect">
            <a:avLst>
              <a:gd name="adj" fmla="val 46667"/>
            </a:avLst>
          </a:prstGeom>
          <a:solidFill>
            <a:srgbClr val="EBE5FC"/>
          </a:solidFill>
          <a:ln w="12700">
            <a:solidFill>
              <a:srgbClr val="6D4DD1"/>
            </a:solidFill>
            <a:prstDash val="solid"/>
          </a:ln>
        </p:spPr>
      </p:sp>
      <p:sp>
        <p:nvSpPr>
          <p:cNvPr id="51" name="Text 45"/>
          <p:cNvSpPr txBox="1"/>
          <p:nvPr/>
        </p:nvSpPr>
        <p:spPr>
          <a:xfrm>
            <a:off x="6360850" y="3429000"/>
            <a:ext cx="648896" cy="274320"/>
          </a:xfrm>
          <a:prstGeom prst="rect">
            <a:avLst/>
          </a:prstGeom>
          <a:noFill/>
          <a:ln/>
        </p:spPr>
        <p:txBody>
          <a:bodyPr wrap="square" lIns="0" tIns="0" rIns="0" bIns="0" rtlCol="0" anchor="ctr"/>
          <a:lstStyle/>
          <a:p>
            <a:pPr algn="ctr" indent="0" marL="0">
              <a:buNone/>
            </a:pPr>
            <a:r>
              <a:rPr lang="en-US" sz="850" b="1" dirty="0">
                <a:solidFill>
                  <a:srgbClr val="35236E"/>
                </a:solidFill>
                <a:latin typeface="Calibri" pitchFamily="34" charset="0"/>
                <a:ea typeface="Calibri" pitchFamily="34" charset="-122"/>
                <a:cs typeface="Calibri" pitchFamily="34" charset="-120"/>
              </a:rPr>
              <a:t>identity</a:t>
            </a:r>
            <a:endParaRPr lang="en-US" sz="850" dirty="0"/>
          </a:p>
        </p:txBody>
      </p:sp>
      <p:sp>
        <p:nvSpPr>
          <p:cNvPr id="52" name="Shape 46"/>
          <p:cNvSpPr/>
          <p:nvPr/>
        </p:nvSpPr>
        <p:spPr>
          <a:xfrm>
            <a:off x="7110329" y="3429000"/>
            <a:ext cx="1092251" cy="274320"/>
          </a:xfrm>
          <a:prstGeom prst="roundRect">
            <a:avLst>
              <a:gd name="adj" fmla="val 46667"/>
            </a:avLst>
          </a:prstGeom>
          <a:solidFill>
            <a:srgbClr val="DCF2F4"/>
          </a:solidFill>
          <a:ln w="12700">
            <a:solidFill>
              <a:srgbClr val="108494"/>
            </a:solidFill>
            <a:prstDash val="solid"/>
          </a:ln>
        </p:spPr>
      </p:sp>
      <p:sp>
        <p:nvSpPr>
          <p:cNvPr id="53" name="Text 47"/>
          <p:cNvSpPr txBox="1"/>
          <p:nvPr/>
        </p:nvSpPr>
        <p:spPr>
          <a:xfrm>
            <a:off x="7110329" y="3429000"/>
            <a:ext cx="1092251" cy="274320"/>
          </a:xfrm>
          <a:prstGeom prst="rect">
            <a:avLst/>
          </a:prstGeom>
          <a:noFill/>
          <a:ln/>
        </p:spPr>
        <p:txBody>
          <a:bodyPr wrap="square" lIns="0" tIns="0" rIns="0" bIns="0" rtlCol="0" anchor="ctr"/>
          <a:lstStyle/>
          <a:p>
            <a:pPr algn="ctr" indent="0" marL="0">
              <a:buNone/>
            </a:pPr>
            <a:r>
              <a:rPr lang="en-US" sz="850" b="1" dirty="0">
                <a:solidFill>
                  <a:srgbClr val="0A4451"/>
                </a:solidFill>
                <a:latin typeface="Calibri" pitchFamily="34" charset="0"/>
                <a:ea typeface="Calibri" pitchFamily="34" charset="-122"/>
                <a:cs typeface="Calibri" pitchFamily="34" charset="-120"/>
              </a:rPr>
              <a:t>indirect exposure</a:t>
            </a:r>
            <a:endParaRPr lang="en-US" sz="850" dirty="0"/>
          </a:p>
        </p:txBody>
      </p:sp>
      <p:sp>
        <p:nvSpPr>
          <p:cNvPr id="54" name="Shape 48"/>
          <p:cNvSpPr/>
          <p:nvPr/>
        </p:nvSpPr>
        <p:spPr>
          <a:xfrm>
            <a:off x="8303164" y="3429000"/>
            <a:ext cx="993727" cy="274320"/>
          </a:xfrm>
          <a:prstGeom prst="roundRect">
            <a:avLst>
              <a:gd name="adj" fmla="val 46667"/>
            </a:avLst>
          </a:prstGeom>
          <a:solidFill>
            <a:srgbClr val="EBE5FC"/>
          </a:solidFill>
          <a:ln w="12700">
            <a:solidFill>
              <a:srgbClr val="6D4DD1"/>
            </a:solidFill>
            <a:prstDash val="solid"/>
          </a:ln>
        </p:spPr>
      </p:sp>
      <p:sp>
        <p:nvSpPr>
          <p:cNvPr id="55" name="Text 49"/>
          <p:cNvSpPr txBox="1"/>
          <p:nvPr/>
        </p:nvSpPr>
        <p:spPr>
          <a:xfrm>
            <a:off x="8303164" y="3429000"/>
            <a:ext cx="993727" cy="274320"/>
          </a:xfrm>
          <a:prstGeom prst="rect">
            <a:avLst/>
          </a:prstGeom>
          <a:noFill/>
          <a:ln/>
        </p:spPr>
        <p:txBody>
          <a:bodyPr wrap="square" lIns="0" tIns="0" rIns="0" bIns="0" rtlCol="0" anchor="ctr"/>
          <a:lstStyle/>
          <a:p>
            <a:pPr algn="ctr" indent="0" marL="0">
              <a:buNone/>
            </a:pPr>
            <a:r>
              <a:rPr lang="en-US" sz="850" b="1" dirty="0">
                <a:solidFill>
                  <a:srgbClr val="35236E"/>
                </a:solidFill>
                <a:latin typeface="Calibri" pitchFamily="34" charset="0"/>
                <a:ea typeface="Calibri" pitchFamily="34" charset="-122"/>
                <a:cs typeface="Calibri" pitchFamily="34" charset="-120"/>
              </a:rPr>
              <a:t>transition plan</a:t>
            </a:r>
            <a:endParaRPr lang="en-US" sz="850" dirty="0"/>
          </a:p>
        </p:txBody>
      </p:sp>
      <p:sp>
        <p:nvSpPr>
          <p:cNvPr id="56" name="Shape 50"/>
          <p:cNvSpPr/>
          <p:nvPr/>
        </p:nvSpPr>
        <p:spPr>
          <a:xfrm>
            <a:off x="9397476" y="3429000"/>
            <a:ext cx="747419" cy="274320"/>
          </a:xfrm>
          <a:prstGeom prst="roundRect">
            <a:avLst>
              <a:gd name="adj" fmla="val 46667"/>
            </a:avLst>
          </a:prstGeom>
          <a:solidFill>
            <a:srgbClr val="EBE5FC"/>
          </a:solidFill>
          <a:ln w="12700">
            <a:solidFill>
              <a:srgbClr val="6D4DD1"/>
            </a:solidFill>
            <a:prstDash val="solid"/>
          </a:ln>
        </p:spPr>
      </p:sp>
      <p:sp>
        <p:nvSpPr>
          <p:cNvPr id="57" name="Text 51"/>
          <p:cNvSpPr txBox="1"/>
          <p:nvPr/>
        </p:nvSpPr>
        <p:spPr>
          <a:xfrm>
            <a:off x="9397476" y="3429000"/>
            <a:ext cx="747419" cy="274320"/>
          </a:xfrm>
          <a:prstGeom prst="rect">
            <a:avLst/>
          </a:prstGeom>
          <a:noFill/>
          <a:ln/>
        </p:spPr>
        <p:txBody>
          <a:bodyPr wrap="square" lIns="0" tIns="0" rIns="0" bIns="0" rtlCol="0" anchor="ctr"/>
          <a:lstStyle/>
          <a:p>
            <a:pPr algn="ctr" indent="0" marL="0">
              <a:buNone/>
            </a:pPr>
            <a:r>
              <a:rPr lang="en-US" sz="850" b="1" dirty="0">
                <a:solidFill>
                  <a:srgbClr val="35236E"/>
                </a:solidFill>
                <a:latin typeface="Calibri" pitchFamily="34" charset="0"/>
                <a:ea typeface="Calibri" pitchFamily="34" charset="-122"/>
                <a:cs typeface="Calibri" pitchFamily="34" charset="-120"/>
              </a:rPr>
              <a:t>engagement</a:t>
            </a:r>
            <a:endParaRPr lang="en-US" sz="850" dirty="0"/>
          </a:p>
        </p:txBody>
      </p:sp>
      <p:sp>
        <p:nvSpPr>
          <p:cNvPr id="58" name="Shape 52"/>
          <p:cNvSpPr/>
          <p:nvPr/>
        </p:nvSpPr>
        <p:spPr>
          <a:xfrm>
            <a:off x="10245479" y="3429000"/>
            <a:ext cx="550372" cy="274320"/>
          </a:xfrm>
          <a:prstGeom prst="roundRect">
            <a:avLst>
              <a:gd name="adj" fmla="val 46667"/>
            </a:avLst>
          </a:prstGeom>
          <a:solidFill>
            <a:srgbClr val="EBE5FC"/>
          </a:solidFill>
          <a:ln w="12700">
            <a:solidFill>
              <a:srgbClr val="6D4DD1"/>
            </a:solidFill>
            <a:prstDash val="solid"/>
          </a:ln>
        </p:spPr>
      </p:sp>
      <p:sp>
        <p:nvSpPr>
          <p:cNvPr id="59" name="Text 53"/>
          <p:cNvSpPr txBox="1"/>
          <p:nvPr/>
        </p:nvSpPr>
        <p:spPr>
          <a:xfrm>
            <a:off x="10245479" y="3429000"/>
            <a:ext cx="550372" cy="274320"/>
          </a:xfrm>
          <a:prstGeom prst="rect">
            <a:avLst/>
          </a:prstGeom>
          <a:noFill/>
          <a:ln/>
        </p:spPr>
        <p:txBody>
          <a:bodyPr wrap="square" lIns="0" tIns="0" rIns="0" bIns="0" rtlCol="0" anchor="ctr"/>
          <a:lstStyle/>
          <a:p>
            <a:pPr algn="ctr" indent="0" marL="0">
              <a:buNone/>
            </a:pPr>
            <a:r>
              <a:rPr lang="en-US" sz="850" b="1" dirty="0">
                <a:solidFill>
                  <a:srgbClr val="35236E"/>
                </a:solidFill>
                <a:latin typeface="Calibri" pitchFamily="34" charset="0"/>
                <a:ea typeface="Calibri" pitchFamily="34" charset="-122"/>
                <a:cs typeface="Calibri" pitchFamily="34" charset="-120"/>
              </a:rPr>
              <a:t>voting</a:t>
            </a:r>
            <a:endParaRPr lang="en-US" sz="850" dirty="0"/>
          </a:p>
        </p:txBody>
      </p:sp>
      <p:sp>
        <p:nvSpPr>
          <p:cNvPr id="60" name="Shape 54"/>
          <p:cNvSpPr/>
          <p:nvPr/>
        </p:nvSpPr>
        <p:spPr>
          <a:xfrm>
            <a:off x="10896435" y="3429000"/>
            <a:ext cx="698157" cy="274320"/>
          </a:xfrm>
          <a:prstGeom prst="roundRect">
            <a:avLst>
              <a:gd name="adj" fmla="val 46667"/>
            </a:avLst>
          </a:prstGeom>
          <a:solidFill>
            <a:srgbClr val="DCF2F4"/>
          </a:solidFill>
          <a:ln w="12700">
            <a:solidFill>
              <a:srgbClr val="108494"/>
            </a:solidFill>
            <a:prstDash val="solid"/>
          </a:ln>
        </p:spPr>
      </p:sp>
      <p:sp>
        <p:nvSpPr>
          <p:cNvPr id="61" name="Text 55"/>
          <p:cNvSpPr txBox="1"/>
          <p:nvPr/>
        </p:nvSpPr>
        <p:spPr>
          <a:xfrm>
            <a:off x="10896435" y="3429000"/>
            <a:ext cx="698157" cy="274320"/>
          </a:xfrm>
          <a:prstGeom prst="rect">
            <a:avLst/>
          </a:prstGeom>
          <a:noFill/>
          <a:ln/>
        </p:spPr>
        <p:txBody>
          <a:bodyPr wrap="square" lIns="0" tIns="0" rIns="0" bIns="0" rtlCol="0" anchor="ctr"/>
          <a:lstStyle/>
          <a:p>
            <a:pPr algn="ctr" indent="0" marL="0">
              <a:buNone/>
            </a:pPr>
            <a:r>
              <a:rPr lang="en-US" sz="850" b="1" dirty="0">
                <a:solidFill>
                  <a:srgbClr val="0A4451"/>
                </a:solidFill>
                <a:latin typeface="Calibri" pitchFamily="34" charset="0"/>
                <a:ea typeface="Calibri" pitchFamily="34" charset="-122"/>
                <a:cs typeface="Calibri" pitchFamily="34" charset="-120"/>
              </a:rPr>
              <a:t>portfolio</a:t>
            </a:r>
            <a:endParaRPr lang="en-US" sz="850" dirty="0"/>
          </a:p>
        </p:txBody>
      </p:sp>
      <p:sp>
        <p:nvSpPr>
          <p:cNvPr id="62" name="Text 56"/>
          <p:cNvSpPr txBox="1"/>
          <p:nvPr/>
        </p:nvSpPr>
        <p:spPr>
          <a:xfrm>
            <a:off x="3264408" y="3776472"/>
            <a:ext cx="8074152" cy="219456"/>
          </a:xfrm>
          <a:prstGeom prst="rect">
            <a:avLst/>
          </a:prstGeom>
          <a:noFill/>
          <a:ln/>
        </p:spPr>
        <p:txBody>
          <a:bodyPr wrap="square" lIns="0" tIns="0" rIns="0" bIns="0" rtlCol="0" anchor="ctr"/>
          <a:lstStyle/>
          <a:p>
            <a:pPr indent="0" marL="0">
              <a:buNone/>
            </a:pPr>
            <a:r>
              <a:rPr lang="en-US" sz="880" dirty="0">
                <a:solidFill>
                  <a:srgbClr val="43566B"/>
                </a:solidFill>
                <a:latin typeface="Calibri" pitchFamily="34" charset="0"/>
                <a:ea typeface="Calibri" pitchFamily="34" charset="-122"/>
                <a:cs typeface="Calibri" pitchFamily="34" charset="-120"/>
              </a:rPr>
              <a:t>Each models its per-company flow as an explicit LangGraph state graph; the batch fan-out stays outside the graph.</a:t>
            </a:r>
            <a:endParaRPr lang="en-US" sz="880" dirty="0"/>
          </a:p>
        </p:txBody>
      </p:sp>
      <p:sp>
        <p:nvSpPr>
          <p:cNvPr id="63" name="Shape 57"/>
          <p:cNvSpPr/>
          <p:nvPr/>
        </p:nvSpPr>
        <p:spPr>
          <a:xfrm>
            <a:off x="1014984" y="4087368"/>
            <a:ext cx="0" cy="137160"/>
          </a:xfrm>
          <a:prstGeom prst="line">
            <a:avLst/>
          </a:prstGeom>
          <a:noFill/>
          <a:ln w="17780">
            <a:solidFill>
              <a:srgbClr val="64798F"/>
            </a:solidFill>
            <a:prstDash val="solid"/>
            <a:headEnd type="none"/>
            <a:tailEnd type="triangle"/>
          </a:ln>
        </p:spPr>
      </p:sp>
      <p:sp>
        <p:nvSpPr>
          <p:cNvPr id="64" name="Shape 58"/>
          <p:cNvSpPr/>
          <p:nvPr/>
        </p:nvSpPr>
        <p:spPr>
          <a:xfrm>
            <a:off x="594360" y="4238244"/>
            <a:ext cx="11000232" cy="749808"/>
          </a:xfrm>
          <a:prstGeom prst="roundRect">
            <a:avLst>
              <a:gd name="adj" fmla="val 12195"/>
            </a:avLst>
          </a:prstGeom>
          <a:solidFill>
            <a:srgbClr val="F8FAFC"/>
          </a:solidFill>
          <a:ln w="15875">
            <a:solidFill>
              <a:srgbClr val="A6DDE4"/>
            </a:solidFill>
            <a:prstDash val="solid"/>
          </a:ln>
          <a:effectLst>
            <a:outerShdw sx="100000" sy="100000" kx="0" ky="0" algn="bl" rotWithShape="0" blurRad="101600" dist="19050" dir="5400000">
              <a:srgbClr val="9FB0C2">
                <a:alpha val="24000"/>
              </a:srgbClr>
            </a:outerShdw>
          </a:effectLst>
        </p:spPr>
      </p:sp>
      <p:sp>
        <p:nvSpPr>
          <p:cNvPr id="65" name="Shape 59"/>
          <p:cNvSpPr/>
          <p:nvPr/>
        </p:nvSpPr>
        <p:spPr>
          <a:xfrm>
            <a:off x="813816" y="4411980"/>
            <a:ext cx="402336" cy="402336"/>
          </a:xfrm>
          <a:prstGeom prst="roundRect">
            <a:avLst>
              <a:gd name="adj" fmla="val 27273"/>
            </a:avLst>
          </a:prstGeom>
          <a:solidFill>
            <a:srgbClr val="108494"/>
          </a:solidFill>
          <a:ln/>
        </p:spPr>
      </p:sp>
      <p:pic>
        <p:nvPicPr>
          <p:cNvPr id="66" name="Image 4" descr="preencoded.png">    </p:cNvPr>
          <p:cNvPicPr>
            <a:picLocks noChangeAspect="1"/>
          </p:cNvPicPr>
          <p:nvPr/>
        </p:nvPicPr>
        <p:blipFill>
          <a:blip r:embed="rId5"/>
          <a:stretch>
            <a:fillRect/>
          </a:stretch>
        </p:blipFill>
        <p:spPr>
          <a:xfrm>
            <a:off x="902330" y="4500494"/>
            <a:ext cx="225308" cy="225308"/>
          </a:xfrm>
          <a:prstGeom prst="rect">
            <a:avLst/>
          </a:prstGeom>
        </p:spPr>
      </p:pic>
      <p:sp>
        <p:nvSpPr>
          <p:cNvPr id="67" name="Text 60"/>
          <p:cNvSpPr txBox="1"/>
          <p:nvPr/>
        </p:nvSpPr>
        <p:spPr>
          <a:xfrm>
            <a:off x="1344168" y="4357116"/>
            <a:ext cx="1874520" cy="237744"/>
          </a:xfrm>
          <a:prstGeom prst="rect">
            <a:avLst/>
          </a:prstGeom>
          <a:noFill/>
          <a:ln/>
        </p:spPr>
        <p:txBody>
          <a:bodyPr wrap="square" lIns="0" tIns="0" rIns="0" bIns="0" rtlCol="0" anchor="ctr"/>
          <a:lstStyle/>
          <a:p>
            <a:pPr indent="0" marL="0">
              <a:buNone/>
            </a:pPr>
            <a:r>
              <a:rPr lang="en-US" sz="1250" b="1" dirty="0">
                <a:solidFill>
                  <a:srgbClr val="0A4451"/>
                </a:solidFill>
                <a:latin typeface="Cambria" pitchFamily="34" charset="0"/>
                <a:ea typeface="Cambria" pitchFamily="34" charset="-122"/>
                <a:cs typeface="Cambria" pitchFamily="34" charset="-120"/>
              </a:rPr>
              <a:t>SHARED SERVICES</a:t>
            </a:r>
            <a:endParaRPr lang="en-US" sz="1250" dirty="0"/>
          </a:p>
        </p:txBody>
      </p:sp>
      <p:sp>
        <p:nvSpPr>
          <p:cNvPr id="68" name="Text 61"/>
          <p:cNvSpPr txBox="1"/>
          <p:nvPr/>
        </p:nvSpPr>
        <p:spPr>
          <a:xfrm>
            <a:off x="1344168" y="4622292"/>
            <a:ext cx="1874520" cy="201168"/>
          </a:xfrm>
          <a:prstGeom prst="rect">
            <a:avLst/>
          </a:prstGeom>
          <a:noFill/>
          <a:ln/>
        </p:spPr>
        <p:txBody>
          <a:bodyPr wrap="square" lIns="0" tIns="0" rIns="0" bIns="0" rtlCol="0" anchor="ctr"/>
          <a:lstStyle/>
          <a:p>
            <a:pPr indent="0" marL="0">
              <a:buNone/>
            </a:pPr>
            <a:r>
              <a:rPr lang="en-US" sz="850" i="1" dirty="0">
                <a:solidFill>
                  <a:srgbClr val="58697A"/>
                </a:solidFill>
                <a:latin typeface="Calibri" pitchFamily="34" charset="0"/>
                <a:ea typeface="Calibri" pitchFamily="34" charset="-122"/>
                <a:cs typeface="Calibri" pitchFamily="34" charset="-120"/>
              </a:rPr>
              <a:t>used by every pipeline</a:t>
            </a:r>
            <a:endParaRPr lang="en-US" sz="850" dirty="0"/>
          </a:p>
        </p:txBody>
      </p:sp>
      <p:sp>
        <p:nvSpPr>
          <p:cNvPr id="69" name="Shape 62"/>
          <p:cNvSpPr/>
          <p:nvPr/>
        </p:nvSpPr>
        <p:spPr>
          <a:xfrm>
            <a:off x="3264408" y="4347972"/>
            <a:ext cx="804672" cy="274320"/>
          </a:xfrm>
          <a:prstGeom prst="roundRect">
            <a:avLst>
              <a:gd name="adj" fmla="val 46667"/>
            </a:avLst>
          </a:prstGeom>
          <a:solidFill>
            <a:srgbClr val="EBE5FC"/>
          </a:solidFill>
          <a:ln w="12700">
            <a:solidFill>
              <a:srgbClr val="6D4DD1"/>
            </a:solidFill>
            <a:prstDash val="solid"/>
          </a:ln>
        </p:spPr>
      </p:sp>
      <p:sp>
        <p:nvSpPr>
          <p:cNvPr id="70" name="Text 63"/>
          <p:cNvSpPr txBox="1"/>
          <p:nvPr/>
        </p:nvSpPr>
        <p:spPr>
          <a:xfrm>
            <a:off x="3264408" y="4347972"/>
            <a:ext cx="804672" cy="274320"/>
          </a:xfrm>
          <a:prstGeom prst="rect">
            <a:avLst/>
          </a:prstGeom>
          <a:noFill/>
          <a:ln/>
        </p:spPr>
        <p:txBody>
          <a:bodyPr wrap="square" lIns="0" tIns="0" rIns="0" bIns="0" rtlCol="0" anchor="ctr"/>
          <a:lstStyle/>
          <a:p>
            <a:pPr algn="ctr" indent="0" marL="0">
              <a:buNone/>
            </a:pPr>
            <a:r>
              <a:rPr lang="en-US" sz="850" b="1" dirty="0">
                <a:solidFill>
                  <a:srgbClr val="35236E"/>
                </a:solidFill>
                <a:latin typeface="Calibri" pitchFamily="34" charset="0"/>
                <a:ea typeface="Calibri" pitchFamily="34" charset="-122"/>
                <a:cs typeface="Calibri" pitchFamily="34" charset="-120"/>
              </a:rPr>
              <a:t>LLM client</a:t>
            </a:r>
            <a:endParaRPr lang="en-US" sz="850" dirty="0"/>
          </a:p>
        </p:txBody>
      </p:sp>
      <p:sp>
        <p:nvSpPr>
          <p:cNvPr id="71" name="Shape 64"/>
          <p:cNvSpPr/>
          <p:nvPr/>
        </p:nvSpPr>
        <p:spPr>
          <a:xfrm>
            <a:off x="4169664" y="4347972"/>
            <a:ext cx="1175918" cy="274320"/>
          </a:xfrm>
          <a:prstGeom prst="roundRect">
            <a:avLst>
              <a:gd name="adj" fmla="val 46667"/>
            </a:avLst>
          </a:prstGeom>
          <a:solidFill>
            <a:srgbClr val="DCF2F4"/>
          </a:solidFill>
          <a:ln w="12700">
            <a:solidFill>
              <a:srgbClr val="108494"/>
            </a:solidFill>
            <a:prstDash val="solid"/>
          </a:ln>
        </p:spPr>
      </p:sp>
      <p:sp>
        <p:nvSpPr>
          <p:cNvPr id="72" name="Text 65"/>
          <p:cNvSpPr txBox="1"/>
          <p:nvPr/>
        </p:nvSpPr>
        <p:spPr>
          <a:xfrm>
            <a:off x="4169664" y="4347972"/>
            <a:ext cx="1175918" cy="274320"/>
          </a:xfrm>
          <a:prstGeom prst="rect">
            <a:avLst/>
          </a:prstGeom>
          <a:noFill/>
          <a:ln/>
        </p:spPr>
        <p:txBody>
          <a:bodyPr wrap="square" lIns="0" tIns="0" rIns="0" bIns="0" rtlCol="0" anchor="ctr"/>
          <a:lstStyle/>
          <a:p>
            <a:pPr algn="ctr" indent="0" marL="0">
              <a:buNone/>
            </a:pPr>
            <a:r>
              <a:rPr lang="en-US" sz="850" b="1" dirty="0">
                <a:solidFill>
                  <a:srgbClr val="0A4451"/>
                </a:solidFill>
                <a:latin typeface="Calibri" pitchFamily="34" charset="0"/>
                <a:ea typeface="Calibri" pitchFamily="34" charset="-122"/>
                <a:cs typeface="Calibri" pitchFamily="34" charset="-120"/>
              </a:rPr>
              <a:t>BM25 + embeddings</a:t>
            </a:r>
            <a:endParaRPr lang="en-US" sz="850" dirty="0"/>
          </a:p>
        </p:txBody>
      </p:sp>
      <p:sp>
        <p:nvSpPr>
          <p:cNvPr id="73" name="Shape 66"/>
          <p:cNvSpPr/>
          <p:nvPr/>
        </p:nvSpPr>
        <p:spPr>
          <a:xfrm>
            <a:off x="5446166" y="4347972"/>
            <a:ext cx="1069848" cy="274320"/>
          </a:xfrm>
          <a:prstGeom prst="roundRect">
            <a:avLst>
              <a:gd name="adj" fmla="val 46667"/>
            </a:avLst>
          </a:prstGeom>
          <a:solidFill>
            <a:srgbClr val="FCEDD4"/>
          </a:solidFill>
          <a:ln w="12700">
            <a:solidFill>
              <a:srgbClr val="C9871B"/>
            </a:solidFill>
            <a:prstDash val="solid"/>
          </a:ln>
        </p:spPr>
      </p:sp>
      <p:sp>
        <p:nvSpPr>
          <p:cNvPr id="74" name="Text 67"/>
          <p:cNvSpPr txBox="1"/>
          <p:nvPr/>
        </p:nvSpPr>
        <p:spPr>
          <a:xfrm>
            <a:off x="5446166" y="4347972"/>
            <a:ext cx="1069848" cy="274320"/>
          </a:xfrm>
          <a:prstGeom prst="rect">
            <a:avLst/>
          </a:prstGeom>
          <a:noFill/>
          <a:ln/>
        </p:spPr>
        <p:txBody>
          <a:bodyPr wrap="square" lIns="0" tIns="0" rIns="0" bIns="0" rtlCol="0" anchor="ctr"/>
          <a:lstStyle/>
          <a:p>
            <a:pPr algn="ctr" indent="0" marL="0">
              <a:buNone/>
            </a:pPr>
            <a:r>
              <a:rPr lang="en-US" sz="850" b="1" dirty="0">
                <a:solidFill>
                  <a:srgbClr val="64430A"/>
                </a:solidFill>
                <a:latin typeface="Calibri" pitchFamily="34" charset="0"/>
                <a:ea typeface="Calibri" pitchFamily="34" charset="-122"/>
                <a:cs typeface="Calibri" pitchFamily="34" charset="-120"/>
              </a:rPr>
              <a:t>grounding check</a:t>
            </a:r>
            <a:endParaRPr lang="en-US" sz="850" dirty="0"/>
          </a:p>
        </p:txBody>
      </p:sp>
      <p:sp>
        <p:nvSpPr>
          <p:cNvPr id="75" name="Shape 68"/>
          <p:cNvSpPr/>
          <p:nvPr/>
        </p:nvSpPr>
        <p:spPr>
          <a:xfrm>
            <a:off x="6616598" y="4347972"/>
            <a:ext cx="1228954" cy="274320"/>
          </a:xfrm>
          <a:prstGeom prst="roundRect">
            <a:avLst>
              <a:gd name="adj" fmla="val 46667"/>
            </a:avLst>
          </a:prstGeom>
          <a:solidFill>
            <a:srgbClr val="E3EDFC"/>
          </a:solidFill>
          <a:ln w="12700">
            <a:solidFill>
              <a:srgbClr val="2F6FD0"/>
            </a:solidFill>
            <a:prstDash val="solid"/>
          </a:ln>
        </p:spPr>
      </p:sp>
      <p:sp>
        <p:nvSpPr>
          <p:cNvPr id="76" name="Text 69"/>
          <p:cNvSpPr txBox="1"/>
          <p:nvPr/>
        </p:nvSpPr>
        <p:spPr>
          <a:xfrm>
            <a:off x="6616598" y="4347972"/>
            <a:ext cx="1228954" cy="274320"/>
          </a:xfrm>
          <a:prstGeom prst="rect">
            <a:avLst/>
          </a:prstGeom>
          <a:noFill/>
          <a:ln/>
        </p:spPr>
        <p:txBody>
          <a:bodyPr wrap="square" lIns="0" tIns="0" rIns="0" bIns="0" rtlCol="0" anchor="ctr"/>
          <a:lstStyle/>
          <a:p>
            <a:pPr algn="ctr" indent="0" marL="0">
              <a:buNone/>
            </a:pPr>
            <a:r>
              <a:rPr lang="en-US" sz="850" b="1" dirty="0">
                <a:solidFill>
                  <a:srgbClr val="153A61"/>
                </a:solidFill>
                <a:latin typeface="Calibri" pitchFamily="34" charset="0"/>
                <a:ea typeface="Calibri" pitchFamily="34" charset="-122"/>
                <a:cs typeface="Calibri" pitchFamily="34" charset="-120"/>
              </a:rPr>
              <a:t>ingestion registry</a:t>
            </a:r>
            <a:endParaRPr lang="en-US" sz="850" dirty="0"/>
          </a:p>
        </p:txBody>
      </p:sp>
      <p:sp>
        <p:nvSpPr>
          <p:cNvPr id="77" name="Text 70"/>
          <p:cNvSpPr txBox="1"/>
          <p:nvPr/>
        </p:nvSpPr>
        <p:spPr>
          <a:xfrm>
            <a:off x="3264408" y="4695444"/>
            <a:ext cx="8074152" cy="219456"/>
          </a:xfrm>
          <a:prstGeom prst="rect">
            <a:avLst/>
          </a:prstGeom>
          <a:noFill/>
          <a:ln/>
        </p:spPr>
        <p:txBody>
          <a:bodyPr wrap="square" lIns="0" tIns="0" rIns="0" bIns="0" rtlCol="0" anchor="ctr"/>
          <a:lstStyle/>
          <a:p>
            <a:pPr indent="0" marL="0">
              <a:buNone/>
            </a:pPr>
            <a:r>
              <a:rPr lang="en-US" sz="880" dirty="0">
                <a:solidFill>
                  <a:srgbClr val="43566B"/>
                </a:solidFill>
                <a:latin typeface="Calibri" pitchFamily="34" charset="0"/>
                <a:ea typeface="Calibri" pitchFamily="34" charset="-122"/>
                <a:cs typeface="Calibri" pitchFamily="34" charset="-120"/>
              </a:rPr>
              <a:t>Schema-forced structured output, a validation-retry loop, a disk cache and a deliberately different verifier model.</a:t>
            </a:r>
            <a:endParaRPr lang="en-US" sz="880" dirty="0"/>
          </a:p>
        </p:txBody>
      </p:sp>
      <p:sp>
        <p:nvSpPr>
          <p:cNvPr id="78" name="Shape 71"/>
          <p:cNvSpPr/>
          <p:nvPr/>
        </p:nvSpPr>
        <p:spPr>
          <a:xfrm>
            <a:off x="1014984" y="5006340"/>
            <a:ext cx="0" cy="137160"/>
          </a:xfrm>
          <a:prstGeom prst="line">
            <a:avLst/>
          </a:prstGeom>
          <a:noFill/>
          <a:ln w="17780">
            <a:solidFill>
              <a:srgbClr val="64798F"/>
            </a:solidFill>
            <a:prstDash val="solid"/>
            <a:headEnd type="none"/>
            <a:tailEnd type="triangle"/>
          </a:ln>
        </p:spPr>
      </p:sp>
      <p:sp>
        <p:nvSpPr>
          <p:cNvPr id="79" name="Shape 72"/>
          <p:cNvSpPr/>
          <p:nvPr/>
        </p:nvSpPr>
        <p:spPr>
          <a:xfrm>
            <a:off x="594360" y="5157216"/>
            <a:ext cx="11000232" cy="749808"/>
          </a:xfrm>
          <a:prstGeom prst="roundRect">
            <a:avLst>
              <a:gd name="adj" fmla="val 12195"/>
            </a:avLst>
          </a:prstGeom>
          <a:solidFill>
            <a:srgbClr val="F8FAFC"/>
          </a:solidFill>
          <a:ln w="15875">
            <a:solidFill>
              <a:srgbClr val="B2DEBB"/>
            </a:solidFill>
            <a:prstDash val="solid"/>
          </a:ln>
          <a:effectLst>
            <a:outerShdw sx="100000" sy="100000" kx="0" ky="0" algn="bl" rotWithShape="0" blurRad="101600" dist="19050" dir="5400000">
              <a:srgbClr val="9FB0C2">
                <a:alpha val="24000"/>
              </a:srgbClr>
            </a:outerShdw>
          </a:effectLst>
        </p:spPr>
      </p:sp>
      <p:sp>
        <p:nvSpPr>
          <p:cNvPr id="80" name="Shape 73"/>
          <p:cNvSpPr/>
          <p:nvPr/>
        </p:nvSpPr>
        <p:spPr>
          <a:xfrm>
            <a:off x="813816" y="5330952"/>
            <a:ext cx="402336" cy="402336"/>
          </a:xfrm>
          <a:prstGeom prst="roundRect">
            <a:avLst>
              <a:gd name="adj" fmla="val 27273"/>
            </a:avLst>
          </a:prstGeom>
          <a:solidFill>
            <a:srgbClr val="2F8F48"/>
          </a:solidFill>
          <a:ln/>
        </p:spPr>
      </p:sp>
      <p:pic>
        <p:nvPicPr>
          <p:cNvPr id="81" name="Image 5" descr="preencoded.png">    </p:cNvPr>
          <p:cNvPicPr>
            <a:picLocks noChangeAspect="1"/>
          </p:cNvPicPr>
          <p:nvPr/>
        </p:nvPicPr>
        <p:blipFill>
          <a:blip r:embed="rId6"/>
          <a:stretch>
            <a:fillRect/>
          </a:stretch>
        </p:blipFill>
        <p:spPr>
          <a:xfrm>
            <a:off x="902330" y="5419466"/>
            <a:ext cx="225308" cy="225308"/>
          </a:xfrm>
          <a:prstGeom prst="rect">
            <a:avLst/>
          </a:prstGeom>
        </p:spPr>
      </p:pic>
      <p:sp>
        <p:nvSpPr>
          <p:cNvPr id="82" name="Text 74"/>
          <p:cNvSpPr txBox="1"/>
          <p:nvPr/>
        </p:nvSpPr>
        <p:spPr>
          <a:xfrm>
            <a:off x="1344168" y="5276088"/>
            <a:ext cx="1874520" cy="237744"/>
          </a:xfrm>
          <a:prstGeom prst="rect">
            <a:avLst/>
          </a:prstGeom>
          <a:noFill/>
          <a:ln/>
        </p:spPr>
        <p:txBody>
          <a:bodyPr wrap="square" lIns="0" tIns="0" rIns="0" bIns="0" rtlCol="0" anchor="ctr"/>
          <a:lstStyle/>
          <a:p>
            <a:pPr indent="0" marL="0">
              <a:buNone/>
            </a:pPr>
            <a:r>
              <a:rPr lang="en-US" sz="1250" b="1" dirty="0">
                <a:solidFill>
                  <a:srgbClr val="17431F"/>
                </a:solidFill>
                <a:latin typeface="Cambria" pitchFamily="34" charset="0"/>
                <a:ea typeface="Cambria" pitchFamily="34" charset="-122"/>
                <a:cs typeface="Cambria" pitchFamily="34" charset="-120"/>
              </a:rPr>
              <a:t>STORAGE</a:t>
            </a:r>
            <a:endParaRPr lang="en-US" sz="1250" dirty="0"/>
          </a:p>
        </p:txBody>
      </p:sp>
      <p:sp>
        <p:nvSpPr>
          <p:cNvPr id="83" name="Text 75"/>
          <p:cNvSpPr txBox="1"/>
          <p:nvPr/>
        </p:nvSpPr>
        <p:spPr>
          <a:xfrm>
            <a:off x="1344168" y="5541264"/>
            <a:ext cx="1874520" cy="201168"/>
          </a:xfrm>
          <a:prstGeom prst="rect">
            <a:avLst/>
          </a:prstGeom>
          <a:noFill/>
          <a:ln/>
        </p:spPr>
        <p:txBody>
          <a:bodyPr wrap="square" lIns="0" tIns="0" rIns="0" bIns="0" rtlCol="0" anchor="ctr"/>
          <a:lstStyle/>
          <a:p>
            <a:pPr indent="0" marL="0">
              <a:buNone/>
            </a:pPr>
            <a:r>
              <a:rPr lang="en-US" sz="850" i="1" dirty="0">
                <a:solidFill>
                  <a:srgbClr val="58697A"/>
                </a:solidFill>
                <a:latin typeface="Calibri" pitchFamily="34" charset="0"/>
                <a:ea typeface="Calibri" pitchFamily="34" charset="-122"/>
                <a:cs typeface="Calibri" pitchFamily="34" charset="-120"/>
              </a:rPr>
              <a:t>what persists</a:t>
            </a:r>
            <a:endParaRPr lang="en-US" sz="850" dirty="0"/>
          </a:p>
        </p:txBody>
      </p:sp>
      <p:sp>
        <p:nvSpPr>
          <p:cNvPr id="84" name="Shape 76"/>
          <p:cNvSpPr/>
          <p:nvPr/>
        </p:nvSpPr>
        <p:spPr>
          <a:xfrm>
            <a:off x="3264408" y="5266944"/>
            <a:ext cx="539496" cy="274320"/>
          </a:xfrm>
          <a:prstGeom prst="roundRect">
            <a:avLst>
              <a:gd name="adj" fmla="val 46667"/>
            </a:avLst>
          </a:prstGeom>
          <a:solidFill>
            <a:srgbClr val="E0F3E3"/>
          </a:solidFill>
          <a:ln w="12700">
            <a:solidFill>
              <a:srgbClr val="2F8F48"/>
            </a:solidFill>
            <a:prstDash val="solid"/>
          </a:ln>
        </p:spPr>
      </p:sp>
      <p:sp>
        <p:nvSpPr>
          <p:cNvPr id="85" name="Text 77"/>
          <p:cNvSpPr txBox="1"/>
          <p:nvPr/>
        </p:nvSpPr>
        <p:spPr>
          <a:xfrm>
            <a:off x="3264408" y="5266944"/>
            <a:ext cx="539496" cy="274320"/>
          </a:xfrm>
          <a:prstGeom prst="rect">
            <a:avLst/>
          </a:prstGeom>
          <a:noFill/>
          <a:ln/>
        </p:spPr>
        <p:txBody>
          <a:bodyPr wrap="square" lIns="0" tIns="0" rIns="0" bIns="0" rtlCol="0" anchor="ctr"/>
          <a:lstStyle/>
          <a:p>
            <a:pPr algn="ctr" indent="0" marL="0">
              <a:buNone/>
            </a:pPr>
            <a:r>
              <a:rPr lang="en-US" sz="850" b="1" dirty="0">
                <a:solidFill>
                  <a:srgbClr val="17431F"/>
                </a:solidFill>
                <a:latin typeface="Calibri" pitchFamily="34" charset="0"/>
                <a:ea typeface="Calibri" pitchFamily="34" charset="-122"/>
                <a:cs typeface="Calibri" pitchFamily="34" charset="-120"/>
              </a:rPr>
              <a:t>runs/</a:t>
            </a:r>
            <a:endParaRPr lang="en-US" sz="850" dirty="0"/>
          </a:p>
        </p:txBody>
      </p:sp>
      <p:sp>
        <p:nvSpPr>
          <p:cNvPr id="86" name="Shape 78"/>
          <p:cNvSpPr/>
          <p:nvPr/>
        </p:nvSpPr>
        <p:spPr>
          <a:xfrm>
            <a:off x="3904488" y="5266944"/>
            <a:ext cx="857707" cy="274320"/>
          </a:xfrm>
          <a:prstGeom prst="roundRect">
            <a:avLst>
              <a:gd name="adj" fmla="val 46667"/>
            </a:avLst>
          </a:prstGeom>
          <a:solidFill>
            <a:srgbClr val="E0F3E3"/>
          </a:solidFill>
          <a:ln w="12700">
            <a:solidFill>
              <a:srgbClr val="2F8F48"/>
            </a:solidFill>
            <a:prstDash val="solid"/>
          </a:ln>
        </p:spPr>
      </p:sp>
      <p:sp>
        <p:nvSpPr>
          <p:cNvPr id="87" name="Text 79"/>
          <p:cNvSpPr txBox="1"/>
          <p:nvPr/>
        </p:nvSpPr>
        <p:spPr>
          <a:xfrm>
            <a:off x="3904488" y="5266944"/>
            <a:ext cx="857707" cy="274320"/>
          </a:xfrm>
          <a:prstGeom prst="rect">
            <a:avLst/>
          </a:prstGeom>
          <a:noFill/>
          <a:ln/>
        </p:spPr>
        <p:txBody>
          <a:bodyPr wrap="square" lIns="0" tIns="0" rIns="0" bIns="0" rtlCol="0" anchor="ctr"/>
          <a:lstStyle/>
          <a:p>
            <a:pPr algn="ctr" indent="0" marL="0">
              <a:buNone/>
            </a:pPr>
            <a:r>
              <a:rPr lang="en-US" sz="850" b="1" dirty="0">
                <a:solidFill>
                  <a:srgbClr val="17431F"/>
                </a:solidFill>
                <a:latin typeface="Calibri" pitchFamily="34" charset="0"/>
                <a:ea typeface="Calibri" pitchFamily="34" charset="-122"/>
                <a:cs typeface="Calibri" pitchFamily="34" charset="-120"/>
              </a:rPr>
              <a:t>taxonomies/</a:t>
            </a:r>
            <a:endParaRPr lang="en-US" sz="850" dirty="0"/>
          </a:p>
        </p:txBody>
      </p:sp>
      <p:sp>
        <p:nvSpPr>
          <p:cNvPr id="88" name="Shape 80"/>
          <p:cNvSpPr/>
          <p:nvPr/>
        </p:nvSpPr>
        <p:spPr>
          <a:xfrm>
            <a:off x="4862779" y="5266944"/>
            <a:ext cx="910742" cy="274320"/>
          </a:xfrm>
          <a:prstGeom prst="roundRect">
            <a:avLst>
              <a:gd name="adj" fmla="val 46667"/>
            </a:avLst>
          </a:prstGeom>
          <a:solidFill>
            <a:srgbClr val="E0F3E3"/>
          </a:solidFill>
          <a:ln w="12700">
            <a:solidFill>
              <a:srgbClr val="2F8F48"/>
            </a:solidFill>
            <a:prstDash val="solid"/>
          </a:ln>
        </p:spPr>
      </p:sp>
      <p:sp>
        <p:nvSpPr>
          <p:cNvPr id="89" name="Text 81"/>
          <p:cNvSpPr txBox="1"/>
          <p:nvPr/>
        </p:nvSpPr>
        <p:spPr>
          <a:xfrm>
            <a:off x="4862779" y="5266944"/>
            <a:ext cx="910742" cy="274320"/>
          </a:xfrm>
          <a:prstGeom prst="rect">
            <a:avLst/>
          </a:prstGeom>
          <a:noFill/>
          <a:ln/>
        </p:spPr>
        <p:txBody>
          <a:bodyPr wrap="square" lIns="0" tIns="0" rIns="0" bIns="0" rtlCol="0" anchor="ctr"/>
          <a:lstStyle/>
          <a:p>
            <a:pPr algn="ctr" indent="0" marL="0">
              <a:buNone/>
            </a:pPr>
            <a:r>
              <a:rPr lang="en-US" sz="850" b="1" dirty="0">
                <a:solidFill>
                  <a:srgbClr val="17431F"/>
                </a:solidFill>
                <a:latin typeface="Calibri" pitchFamily="34" charset="0"/>
                <a:ea typeface="Calibri" pitchFamily="34" charset="-122"/>
                <a:cs typeface="Calibri" pitchFamily="34" charset="-120"/>
              </a:rPr>
              <a:t>engagements/</a:t>
            </a:r>
            <a:endParaRPr lang="en-US" sz="850" dirty="0"/>
          </a:p>
        </p:txBody>
      </p:sp>
      <p:sp>
        <p:nvSpPr>
          <p:cNvPr id="90" name="Shape 82"/>
          <p:cNvSpPr/>
          <p:nvPr/>
        </p:nvSpPr>
        <p:spPr>
          <a:xfrm>
            <a:off x="5874106" y="5266944"/>
            <a:ext cx="698602" cy="274320"/>
          </a:xfrm>
          <a:prstGeom prst="roundRect">
            <a:avLst>
              <a:gd name="adj" fmla="val 46667"/>
            </a:avLst>
          </a:prstGeom>
          <a:solidFill>
            <a:srgbClr val="E0F3E3"/>
          </a:solidFill>
          <a:ln w="12700">
            <a:solidFill>
              <a:srgbClr val="2F8F48"/>
            </a:solidFill>
            <a:prstDash val="solid"/>
          </a:ln>
        </p:spPr>
      </p:sp>
      <p:sp>
        <p:nvSpPr>
          <p:cNvPr id="91" name="Text 83"/>
          <p:cNvSpPr txBox="1"/>
          <p:nvPr/>
        </p:nvSpPr>
        <p:spPr>
          <a:xfrm>
            <a:off x="5874106" y="5266944"/>
            <a:ext cx="698602" cy="274320"/>
          </a:xfrm>
          <a:prstGeom prst="rect">
            <a:avLst/>
          </a:prstGeom>
          <a:noFill/>
          <a:ln/>
        </p:spPr>
        <p:txBody>
          <a:bodyPr wrap="square" lIns="0" tIns="0" rIns="0" bIns="0" rtlCol="0" anchor="ctr"/>
          <a:lstStyle/>
          <a:p>
            <a:pPr algn="ctr" indent="0" marL="0">
              <a:buNone/>
            </a:pPr>
            <a:r>
              <a:rPr lang="en-US" sz="850" b="1" dirty="0">
                <a:solidFill>
                  <a:srgbClr val="17431F"/>
                </a:solidFill>
                <a:latin typeface="Calibri" pitchFamily="34" charset="0"/>
                <a:ea typeface="Calibri" pitchFamily="34" charset="-122"/>
                <a:cs typeface="Calibri" pitchFamily="34" charset="-120"/>
              </a:rPr>
              <a:t>ballots/</a:t>
            </a:r>
            <a:endParaRPr lang="en-US" sz="850" dirty="0"/>
          </a:p>
        </p:txBody>
      </p:sp>
      <p:sp>
        <p:nvSpPr>
          <p:cNvPr id="92" name="Shape 84"/>
          <p:cNvSpPr/>
          <p:nvPr/>
        </p:nvSpPr>
        <p:spPr>
          <a:xfrm>
            <a:off x="6673291" y="5266944"/>
            <a:ext cx="857707" cy="274320"/>
          </a:xfrm>
          <a:prstGeom prst="roundRect">
            <a:avLst>
              <a:gd name="adj" fmla="val 46667"/>
            </a:avLst>
          </a:prstGeom>
          <a:solidFill>
            <a:srgbClr val="E0F3E3"/>
          </a:solidFill>
          <a:ln w="12700">
            <a:solidFill>
              <a:srgbClr val="2F8F48"/>
            </a:solidFill>
            <a:prstDash val="solid"/>
          </a:ln>
        </p:spPr>
      </p:sp>
      <p:sp>
        <p:nvSpPr>
          <p:cNvPr id="93" name="Text 85"/>
          <p:cNvSpPr txBox="1"/>
          <p:nvPr/>
        </p:nvSpPr>
        <p:spPr>
          <a:xfrm>
            <a:off x="6673291" y="5266944"/>
            <a:ext cx="857707" cy="274320"/>
          </a:xfrm>
          <a:prstGeom prst="rect">
            <a:avLst/>
          </a:prstGeom>
          <a:noFill/>
          <a:ln/>
        </p:spPr>
        <p:txBody>
          <a:bodyPr wrap="square" lIns="0" tIns="0" rIns="0" bIns="0" rtlCol="0" anchor="ctr"/>
          <a:lstStyle/>
          <a:p>
            <a:pPr algn="ctr" indent="0" marL="0">
              <a:buNone/>
            </a:pPr>
            <a:r>
              <a:rPr lang="en-US" sz="850" b="1" dirty="0">
                <a:solidFill>
                  <a:srgbClr val="17431F"/>
                </a:solidFill>
                <a:latin typeface="Calibri" pitchFamily="34" charset="0"/>
                <a:ea typeface="Calibri" pitchFamily="34" charset="-122"/>
                <a:cs typeface="Calibri" pitchFamily="34" charset="-120"/>
              </a:rPr>
              <a:t>portfolios/</a:t>
            </a:r>
            <a:endParaRPr lang="en-US" sz="850" dirty="0"/>
          </a:p>
        </p:txBody>
      </p:sp>
      <p:sp>
        <p:nvSpPr>
          <p:cNvPr id="94" name="Shape 86"/>
          <p:cNvSpPr/>
          <p:nvPr/>
        </p:nvSpPr>
        <p:spPr>
          <a:xfrm>
            <a:off x="7631582" y="5266944"/>
            <a:ext cx="1281989" cy="274320"/>
          </a:xfrm>
          <a:prstGeom prst="roundRect">
            <a:avLst>
              <a:gd name="adj" fmla="val 46667"/>
            </a:avLst>
          </a:prstGeom>
          <a:solidFill>
            <a:srgbClr val="DCF2F4"/>
          </a:solidFill>
          <a:ln w="12700">
            <a:solidFill>
              <a:srgbClr val="108494"/>
            </a:solidFill>
            <a:prstDash val="solid"/>
          </a:ln>
        </p:spPr>
      </p:sp>
      <p:sp>
        <p:nvSpPr>
          <p:cNvPr id="95" name="Text 87"/>
          <p:cNvSpPr txBox="1"/>
          <p:nvPr/>
        </p:nvSpPr>
        <p:spPr>
          <a:xfrm>
            <a:off x="7631582" y="5266944"/>
            <a:ext cx="1281989" cy="274320"/>
          </a:xfrm>
          <a:prstGeom prst="rect">
            <a:avLst/>
          </a:prstGeom>
          <a:noFill/>
          <a:ln/>
        </p:spPr>
        <p:txBody>
          <a:bodyPr wrap="square" lIns="0" tIns="0" rIns="0" bIns="0" rtlCol="0" anchor="ctr"/>
          <a:lstStyle/>
          <a:p>
            <a:pPr algn="ctr" indent="0" marL="0">
              <a:buNone/>
            </a:pPr>
            <a:r>
              <a:rPr lang="en-US" sz="850" b="1" dirty="0">
                <a:solidFill>
                  <a:srgbClr val="0A4451"/>
                </a:solidFill>
                <a:latin typeface="Calibri" pitchFamily="34" charset="0"/>
                <a:ea typeface="Calibri" pitchFamily="34" charset="-122"/>
                <a:cs typeface="Calibri" pitchFamily="34" charset="-120"/>
              </a:rPr>
              <a:t>Postgres / pgvector</a:t>
            </a:r>
            <a:endParaRPr lang="en-US" sz="850" dirty="0"/>
          </a:p>
        </p:txBody>
      </p:sp>
      <p:sp>
        <p:nvSpPr>
          <p:cNvPr id="96" name="Text 88"/>
          <p:cNvSpPr txBox="1"/>
          <p:nvPr/>
        </p:nvSpPr>
        <p:spPr>
          <a:xfrm>
            <a:off x="3264408" y="5614416"/>
            <a:ext cx="8074152" cy="219456"/>
          </a:xfrm>
          <a:prstGeom prst="rect">
            <a:avLst/>
          </a:prstGeom>
          <a:noFill/>
          <a:ln/>
        </p:spPr>
        <p:txBody>
          <a:bodyPr wrap="square" lIns="0" tIns="0" rIns="0" bIns="0" rtlCol="0" anchor="ctr"/>
          <a:lstStyle/>
          <a:p>
            <a:pPr indent="0" marL="0">
              <a:buNone/>
            </a:pPr>
            <a:r>
              <a:rPr lang="en-US" sz="880" dirty="0">
                <a:solidFill>
                  <a:srgbClr val="43566B"/>
                </a:solidFill>
                <a:latin typeface="Calibri" pitchFamily="34" charset="0"/>
                <a:ea typeface="Calibri" pitchFamily="34" charset="-122"/>
                <a:cs typeface="Calibri" pitchFamily="34" charset="-120"/>
              </a:rPr>
              <a:t>Append-only JSONL audit trails; a relational engine only where a genuine multi-way join earns its cost.</a:t>
            </a:r>
            <a:endParaRPr lang="en-US" sz="880" dirty="0"/>
          </a:p>
        </p:txBody>
      </p:sp>
      <p:sp>
        <p:nvSpPr>
          <p:cNvPr id="97" name="Shape 89"/>
          <p:cNvSpPr/>
          <p:nvPr/>
        </p:nvSpPr>
        <p:spPr>
          <a:xfrm>
            <a:off x="594360" y="6172200"/>
            <a:ext cx="155448" cy="155448"/>
          </a:xfrm>
          <a:prstGeom prst="roundRect">
            <a:avLst>
              <a:gd name="adj" fmla="val 29412"/>
            </a:avLst>
          </a:prstGeom>
          <a:solidFill>
            <a:srgbClr val="2F6FD0"/>
          </a:solidFill>
          <a:ln/>
        </p:spPr>
      </p:sp>
      <p:sp>
        <p:nvSpPr>
          <p:cNvPr id="98" name="Text 90"/>
          <p:cNvSpPr txBox="1"/>
          <p:nvPr/>
        </p:nvSpPr>
        <p:spPr>
          <a:xfrm>
            <a:off x="813816" y="6144768"/>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source / input</a:t>
            </a:r>
            <a:endParaRPr lang="en-US" sz="880" dirty="0"/>
          </a:p>
        </p:txBody>
      </p:sp>
      <p:sp>
        <p:nvSpPr>
          <p:cNvPr id="99" name="Shape 91"/>
          <p:cNvSpPr/>
          <p:nvPr/>
        </p:nvSpPr>
        <p:spPr>
          <a:xfrm>
            <a:off x="2427732" y="6172200"/>
            <a:ext cx="155448" cy="155448"/>
          </a:xfrm>
          <a:prstGeom prst="roundRect">
            <a:avLst>
              <a:gd name="adj" fmla="val 29412"/>
            </a:avLst>
          </a:prstGeom>
          <a:solidFill>
            <a:srgbClr val="108494"/>
          </a:solidFill>
          <a:ln/>
        </p:spPr>
      </p:sp>
      <p:sp>
        <p:nvSpPr>
          <p:cNvPr id="100" name="Text 92"/>
          <p:cNvSpPr txBox="1"/>
          <p:nvPr/>
        </p:nvSpPr>
        <p:spPr>
          <a:xfrm>
            <a:off x="2647188" y="6144768"/>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deterministic step</a:t>
            </a:r>
            <a:endParaRPr lang="en-US" sz="880" dirty="0"/>
          </a:p>
        </p:txBody>
      </p:sp>
      <p:sp>
        <p:nvSpPr>
          <p:cNvPr id="101" name="Shape 93"/>
          <p:cNvSpPr/>
          <p:nvPr/>
        </p:nvSpPr>
        <p:spPr>
          <a:xfrm>
            <a:off x="4261104" y="6172200"/>
            <a:ext cx="155448" cy="155448"/>
          </a:xfrm>
          <a:prstGeom prst="roundRect">
            <a:avLst>
              <a:gd name="adj" fmla="val 29412"/>
            </a:avLst>
          </a:prstGeom>
          <a:solidFill>
            <a:srgbClr val="6D4DD1"/>
          </a:solidFill>
          <a:ln/>
        </p:spPr>
      </p:sp>
      <p:sp>
        <p:nvSpPr>
          <p:cNvPr id="102" name="Text 94"/>
          <p:cNvSpPr txBox="1"/>
          <p:nvPr/>
        </p:nvSpPr>
        <p:spPr>
          <a:xfrm>
            <a:off x="4480560" y="6144768"/>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LLM agent</a:t>
            </a:r>
            <a:endParaRPr lang="en-US" sz="880" dirty="0"/>
          </a:p>
        </p:txBody>
      </p:sp>
      <p:sp>
        <p:nvSpPr>
          <p:cNvPr id="103" name="Shape 95"/>
          <p:cNvSpPr/>
          <p:nvPr/>
        </p:nvSpPr>
        <p:spPr>
          <a:xfrm>
            <a:off x="6094476" y="6172200"/>
            <a:ext cx="155448" cy="155448"/>
          </a:xfrm>
          <a:prstGeom prst="roundRect">
            <a:avLst>
              <a:gd name="adj" fmla="val 29412"/>
            </a:avLst>
          </a:prstGeom>
          <a:solidFill>
            <a:srgbClr val="C9871B"/>
          </a:solidFill>
          <a:ln/>
        </p:spPr>
      </p:sp>
      <p:sp>
        <p:nvSpPr>
          <p:cNvPr id="104" name="Text 96"/>
          <p:cNvSpPr txBox="1"/>
          <p:nvPr/>
        </p:nvSpPr>
        <p:spPr>
          <a:xfrm>
            <a:off x="6313932" y="6144768"/>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gate or check</a:t>
            </a:r>
            <a:endParaRPr lang="en-US" sz="880" dirty="0"/>
          </a:p>
        </p:txBody>
      </p:sp>
      <p:sp>
        <p:nvSpPr>
          <p:cNvPr id="105" name="Shape 97"/>
          <p:cNvSpPr/>
          <p:nvPr/>
        </p:nvSpPr>
        <p:spPr>
          <a:xfrm>
            <a:off x="7927848" y="6172200"/>
            <a:ext cx="155448" cy="155448"/>
          </a:xfrm>
          <a:prstGeom prst="roundRect">
            <a:avLst>
              <a:gd name="adj" fmla="val 29412"/>
            </a:avLst>
          </a:prstGeom>
          <a:solidFill>
            <a:srgbClr val="CE3D64"/>
          </a:solidFill>
          <a:ln/>
        </p:spPr>
      </p:sp>
      <p:sp>
        <p:nvSpPr>
          <p:cNvPr id="106" name="Text 98"/>
          <p:cNvSpPr txBox="1"/>
          <p:nvPr/>
        </p:nvSpPr>
        <p:spPr>
          <a:xfrm>
            <a:off x="8147304" y="6144768"/>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human decision</a:t>
            </a:r>
            <a:endParaRPr lang="en-US" sz="880" dirty="0"/>
          </a:p>
        </p:txBody>
      </p:sp>
      <p:sp>
        <p:nvSpPr>
          <p:cNvPr id="107" name="Shape 99"/>
          <p:cNvSpPr/>
          <p:nvPr/>
        </p:nvSpPr>
        <p:spPr>
          <a:xfrm>
            <a:off x="9761220" y="6172200"/>
            <a:ext cx="155448" cy="155448"/>
          </a:xfrm>
          <a:prstGeom prst="roundRect">
            <a:avLst>
              <a:gd name="adj" fmla="val 29412"/>
            </a:avLst>
          </a:prstGeom>
          <a:solidFill>
            <a:srgbClr val="2F8F48"/>
          </a:solidFill>
          <a:ln/>
        </p:spPr>
      </p:sp>
      <p:sp>
        <p:nvSpPr>
          <p:cNvPr id="108" name="Text 100"/>
          <p:cNvSpPr txBox="1"/>
          <p:nvPr/>
        </p:nvSpPr>
        <p:spPr>
          <a:xfrm>
            <a:off x="9980676" y="6144768"/>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stored output</a:t>
            </a:r>
            <a:endParaRPr lang="en-US" sz="88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438912"/>
            <a:ext cx="10085832" cy="201168"/>
          </a:xfrm>
          <a:prstGeom prst="rect">
            <a:avLst/>
          </a:prstGeom>
          <a:noFill/>
          <a:ln/>
        </p:spPr>
        <p:txBody>
          <a:bodyPr wrap="square" lIns="0" tIns="0" rIns="0" bIns="0" rtlCol="0" anchor="ctr"/>
          <a:lstStyle/>
          <a:p>
            <a:pPr indent="0" marL="0">
              <a:buNone/>
            </a:pPr>
            <a:r>
              <a:rPr lang="en-US" sz="1050" b="1" spc="200" kern="0" dirty="0">
                <a:solidFill>
                  <a:srgbClr val="108494"/>
                </a:solidFill>
                <a:latin typeface="Calibri" pitchFamily="34" charset="0"/>
                <a:ea typeface="Calibri" pitchFamily="34" charset="-122"/>
                <a:cs typeface="Calibri" pitchFamily="34" charset="-120"/>
              </a:rPr>
              <a:t>01   ·   DATA-POINT EXTRACTION ENGINE</a:t>
            </a:r>
            <a:endParaRPr lang="en-US" sz="1050" dirty="0"/>
          </a:p>
        </p:txBody>
      </p:sp>
      <p:sp>
        <p:nvSpPr>
          <p:cNvPr id="3" name="Text 1"/>
          <p:cNvSpPr txBox="1"/>
          <p:nvPr/>
        </p:nvSpPr>
        <p:spPr>
          <a:xfrm>
            <a:off x="594360" y="640080"/>
            <a:ext cx="10085832" cy="484632"/>
          </a:xfrm>
          <a:prstGeom prst="rect">
            <a:avLst/>
          </a:prstGeom>
          <a:noFill/>
          <a:ln/>
        </p:spPr>
        <p:txBody>
          <a:bodyPr wrap="square" lIns="0" tIns="0" rIns="0" bIns="0" rtlCol="0" anchor="ctr"/>
          <a:lstStyle/>
          <a:p>
            <a:pPr indent="0" marL="0">
              <a:buNone/>
            </a:pPr>
            <a:r>
              <a:rPr lang="en-US" sz="3000" b="1" dirty="0">
                <a:solidFill>
                  <a:srgbClr val="10243A"/>
                </a:solidFill>
                <a:latin typeface="Cambria" pitchFamily="34" charset="0"/>
                <a:ea typeface="Cambria" pitchFamily="34" charset="-122"/>
                <a:cs typeface="Cambria" pitchFamily="34" charset="-120"/>
              </a:rPr>
              <a:t>Information Extraction</a:t>
            </a:r>
            <a:endParaRPr lang="en-US" sz="3000" dirty="0"/>
          </a:p>
        </p:txBody>
      </p:sp>
      <p:sp>
        <p:nvSpPr>
          <p:cNvPr id="4" name="Text 2"/>
          <p:cNvSpPr txBox="1"/>
          <p:nvPr/>
        </p:nvSpPr>
        <p:spPr>
          <a:xfrm>
            <a:off x="594360" y="1143000"/>
            <a:ext cx="9994392" cy="274320"/>
          </a:xfrm>
          <a:prstGeom prst="rect">
            <a:avLst/>
          </a:prstGeom>
          <a:noFill/>
          <a:ln/>
        </p:spPr>
        <p:txBody>
          <a:bodyPr wrap="square" lIns="0" tIns="0" rIns="0" bIns="0" rtlCol="0" anchor="ctr"/>
          <a:lstStyle/>
          <a:p>
            <a:pPr indent="0" marL="0">
              <a:buNone/>
            </a:pPr>
            <a:r>
              <a:rPr lang="en-US" sz="1200" dirty="0">
                <a:solidFill>
                  <a:srgbClr val="58697A"/>
                </a:solidFill>
                <a:latin typeface="Calibri" pitchFamily="34" charset="0"/>
                <a:ea typeface="Calibri" pitchFamily="34" charset="-122"/>
                <a:cs typeface="Calibri" pitchFamily="34" charset="-120"/>
              </a:rPr>
              <a:t>Schema-defined data points pulled out of real disclosures — every figure traceable to the page it came from.</a:t>
            </a:r>
            <a:endParaRPr lang="en-US" sz="1200" dirty="0"/>
          </a:p>
        </p:txBody>
      </p:sp>
      <p:sp>
        <p:nvSpPr>
          <p:cNvPr id="5" name="Shape 3"/>
          <p:cNvSpPr/>
          <p:nvPr/>
        </p:nvSpPr>
        <p:spPr>
          <a:xfrm>
            <a:off x="10881360" y="475488"/>
            <a:ext cx="713232" cy="713232"/>
          </a:xfrm>
          <a:prstGeom prst="roundRect">
            <a:avLst>
              <a:gd name="adj" fmla="val 20513"/>
            </a:avLst>
          </a:prstGeom>
          <a:solidFill>
            <a:srgbClr val="10243A"/>
          </a:solidFill>
          <a:ln/>
        </p:spPr>
      </p:sp>
      <p:pic>
        <p:nvPicPr>
          <p:cNvPr id="6" name="Image 0" descr="preencoded.png">    </p:cNvPr>
          <p:cNvPicPr>
            <a:picLocks noChangeAspect="1"/>
          </p:cNvPicPr>
          <p:nvPr/>
        </p:nvPicPr>
        <p:blipFill>
          <a:blip r:embed="rId1"/>
          <a:stretch>
            <a:fillRect/>
          </a:stretch>
        </p:blipFill>
        <p:spPr>
          <a:xfrm>
            <a:off x="11038271" y="632399"/>
            <a:ext cx="399410" cy="399410"/>
          </a:xfrm>
          <a:prstGeom prst="rect">
            <a:avLst/>
          </a:prstGeom>
        </p:spPr>
      </p:pic>
      <p:sp>
        <p:nvSpPr>
          <p:cNvPr id="7" name="Text 4"/>
          <p:cNvSpPr txBox="1"/>
          <p:nvPr/>
        </p:nvSpPr>
        <p:spPr>
          <a:xfrm>
            <a:off x="594360" y="1463040"/>
            <a:ext cx="2788920" cy="201168"/>
          </a:xfrm>
          <a:prstGeom prst="rect">
            <a:avLst/>
          </a:prstGeom>
          <a:noFill/>
          <a:ln/>
        </p:spPr>
        <p:txBody>
          <a:bodyPr wrap="square" lIns="0" tIns="0" rIns="0" bIns="0" rtlCol="0" anchor="ctr"/>
          <a:lstStyle/>
          <a:p>
            <a:pPr algn="ctr" indent="0" marL="0">
              <a:buNone/>
            </a:pPr>
            <a:r>
              <a:rPr lang="en-US" sz="900" b="1" spc="140" kern="0" dirty="0">
                <a:solidFill>
                  <a:srgbClr val="2F6FD0"/>
                </a:solidFill>
                <a:latin typeface="Calibri" pitchFamily="34" charset="0"/>
                <a:ea typeface="Calibri" pitchFamily="34" charset="-122"/>
                <a:cs typeface="Calibri" pitchFamily="34" charset="-120"/>
              </a:rPr>
              <a:t>INPUTS</a:t>
            </a:r>
            <a:endParaRPr lang="en-US" sz="900" dirty="0"/>
          </a:p>
        </p:txBody>
      </p:sp>
      <p:sp>
        <p:nvSpPr>
          <p:cNvPr id="8" name="Text 5"/>
          <p:cNvSpPr txBox="1"/>
          <p:nvPr/>
        </p:nvSpPr>
        <p:spPr>
          <a:xfrm>
            <a:off x="8321040" y="1463040"/>
            <a:ext cx="3273552" cy="201168"/>
          </a:xfrm>
          <a:prstGeom prst="rect">
            <a:avLst/>
          </a:prstGeom>
          <a:noFill/>
          <a:ln/>
        </p:spPr>
        <p:txBody>
          <a:bodyPr wrap="square" lIns="0" tIns="0" rIns="0" bIns="0" rtlCol="0" anchor="ctr"/>
          <a:lstStyle/>
          <a:p>
            <a:pPr algn="ctr" indent="0" marL="0">
              <a:buNone/>
            </a:pPr>
            <a:r>
              <a:rPr lang="en-US" sz="900" b="1" spc="140" kern="0" dirty="0">
                <a:solidFill>
                  <a:srgbClr val="2F8F48"/>
                </a:solidFill>
                <a:latin typeface="Calibri" pitchFamily="34" charset="0"/>
                <a:ea typeface="Calibri" pitchFamily="34" charset="-122"/>
                <a:cs typeface="Calibri" pitchFamily="34" charset="-120"/>
              </a:rPr>
              <a:t>OUTPUTS</a:t>
            </a:r>
            <a:endParaRPr lang="en-US" sz="900" dirty="0"/>
          </a:p>
        </p:txBody>
      </p:sp>
      <p:sp>
        <p:nvSpPr>
          <p:cNvPr id="9" name="Shape 6"/>
          <p:cNvSpPr/>
          <p:nvPr/>
        </p:nvSpPr>
        <p:spPr>
          <a:xfrm>
            <a:off x="594360" y="1719072"/>
            <a:ext cx="2788920" cy="713232"/>
          </a:xfrm>
          <a:prstGeom prst="roundRect">
            <a:avLst>
              <a:gd name="adj" fmla="val 12821"/>
            </a:avLst>
          </a:prstGeom>
          <a:solidFill>
            <a:srgbClr val="E3EDFC"/>
          </a:solidFill>
          <a:ln w="15875">
            <a:solidFill>
              <a:srgbClr val="2F6FD0"/>
            </a:solidFill>
            <a:prstDash val="solid"/>
          </a:ln>
          <a:effectLst>
            <a:outerShdw sx="100000" sy="100000" kx="0" ky="0" algn="bl" rotWithShape="0" blurRad="101600" dist="19050" dir="5400000">
              <a:srgbClr val="9FB0C2">
                <a:alpha val="24000"/>
              </a:srgbClr>
            </a:outerShdw>
          </a:effectLst>
        </p:spPr>
      </p:sp>
      <p:sp>
        <p:nvSpPr>
          <p:cNvPr id="10" name="Shape 7"/>
          <p:cNvSpPr/>
          <p:nvPr/>
        </p:nvSpPr>
        <p:spPr>
          <a:xfrm>
            <a:off x="731520" y="1883664"/>
            <a:ext cx="384048" cy="384048"/>
          </a:xfrm>
          <a:prstGeom prst="roundRect">
            <a:avLst>
              <a:gd name="adj" fmla="val 23810"/>
            </a:avLst>
          </a:prstGeom>
          <a:solidFill>
            <a:srgbClr val="2F6FD0"/>
          </a:solidFill>
          <a:ln/>
        </p:spPr>
      </p:sp>
      <p:pic>
        <p:nvPicPr>
          <p:cNvPr id="11" name="Image 1" descr="preencoded.png">    </p:cNvPr>
          <p:cNvPicPr>
            <a:picLocks noChangeAspect="1"/>
          </p:cNvPicPr>
          <p:nvPr/>
        </p:nvPicPr>
        <p:blipFill>
          <a:blip r:embed="rId2"/>
          <a:stretch>
            <a:fillRect/>
          </a:stretch>
        </p:blipFill>
        <p:spPr>
          <a:xfrm>
            <a:off x="816011" y="1968155"/>
            <a:ext cx="215067" cy="215067"/>
          </a:xfrm>
          <a:prstGeom prst="rect">
            <a:avLst/>
          </a:prstGeom>
        </p:spPr>
      </p:pic>
      <p:sp>
        <p:nvSpPr>
          <p:cNvPr id="12" name="Text 8"/>
          <p:cNvSpPr txBox="1"/>
          <p:nvPr/>
        </p:nvSpPr>
        <p:spPr>
          <a:xfrm>
            <a:off x="1252728" y="1719072"/>
            <a:ext cx="2020824" cy="713232"/>
          </a:xfrm>
          <a:prstGeom prst="rect">
            <a:avLst/>
          </a:prstGeom>
          <a:noFill/>
          <a:ln/>
        </p:spPr>
        <p:txBody>
          <a:bodyPr wrap="square" lIns="0" tIns="0" rIns="0" bIns="0" rtlCol="0" anchor="ctr"/>
          <a:lstStyle/>
          <a:p>
            <a:pPr algn="l" indent="0" marL="0">
              <a:lnSpc>
                <a:spcPct val="104000"/>
              </a:lnSpc>
              <a:buNone/>
            </a:pPr>
            <a:r>
              <a:rPr lang="en-US" sz="1050" b="1" dirty="0">
                <a:solidFill>
                  <a:srgbClr val="153A61"/>
                </a:solidFill>
                <a:latin typeface="Calibri" pitchFamily="34" charset="0"/>
                <a:ea typeface="Calibri" pitchFamily="34" charset="-122"/>
                <a:cs typeface="Calibri" pitchFamily="34" charset="-120"/>
              </a:rPr>
              <a:t>Data-point schema</a:t>
            </a:r>
            <a:endParaRPr lang="en-US" sz="1050" dirty="0"/>
          </a:p>
          <a:p>
            <a:pPr algn="l" indent="0" marL="0">
              <a:lnSpc>
                <a:spcPct val="104000"/>
              </a:lnSpc>
              <a:buNone/>
            </a:pPr>
            <a:r>
              <a:rPr lang="en-US" sz="800" dirty="0">
                <a:solidFill>
                  <a:srgbClr val="153A61"/>
                </a:solidFill>
                <a:latin typeface="Calibri" pitchFamily="34" charset="0"/>
                <a:ea typeface="Calibri" pitchFamily="34" charset="-122"/>
                <a:cs typeface="Calibri" pitchFamily="34" charset="-120"/>
              </a:rPr>
              <a:t>meaning, unit, edge cases, seed keywords</a:t>
            </a:r>
            <a:endParaRPr lang="en-US" sz="1050" dirty="0"/>
          </a:p>
        </p:txBody>
      </p:sp>
      <p:sp>
        <p:nvSpPr>
          <p:cNvPr id="13" name="Shape 9"/>
          <p:cNvSpPr/>
          <p:nvPr/>
        </p:nvSpPr>
        <p:spPr>
          <a:xfrm>
            <a:off x="3429000" y="2075688"/>
            <a:ext cx="219456" cy="1234440"/>
          </a:xfrm>
          <a:prstGeom prst="line">
            <a:avLst/>
          </a:prstGeom>
          <a:noFill/>
          <a:ln w="16510">
            <a:solidFill>
              <a:srgbClr val="2F6FD0"/>
            </a:solidFill>
            <a:prstDash val="solid"/>
            <a:headEnd type="none"/>
            <a:tailEnd type="triangle"/>
          </a:ln>
        </p:spPr>
      </p:sp>
      <p:sp>
        <p:nvSpPr>
          <p:cNvPr id="14" name="Shape 10"/>
          <p:cNvSpPr/>
          <p:nvPr/>
        </p:nvSpPr>
        <p:spPr>
          <a:xfrm>
            <a:off x="594360" y="2633472"/>
            <a:ext cx="2788920" cy="713232"/>
          </a:xfrm>
          <a:prstGeom prst="roundRect">
            <a:avLst>
              <a:gd name="adj" fmla="val 12821"/>
            </a:avLst>
          </a:prstGeom>
          <a:solidFill>
            <a:srgbClr val="E3EDFC"/>
          </a:solidFill>
          <a:ln w="15875">
            <a:solidFill>
              <a:srgbClr val="2F6FD0"/>
            </a:solidFill>
            <a:prstDash val="solid"/>
          </a:ln>
          <a:effectLst>
            <a:outerShdw sx="100000" sy="100000" kx="0" ky="0" algn="bl" rotWithShape="0" blurRad="101600" dist="19050" dir="5400000">
              <a:srgbClr val="9FB0C2">
                <a:alpha val="24000"/>
              </a:srgbClr>
            </a:outerShdw>
          </a:effectLst>
        </p:spPr>
      </p:sp>
      <p:sp>
        <p:nvSpPr>
          <p:cNvPr id="15" name="Shape 11"/>
          <p:cNvSpPr/>
          <p:nvPr/>
        </p:nvSpPr>
        <p:spPr>
          <a:xfrm>
            <a:off x="731520" y="2798064"/>
            <a:ext cx="384048" cy="384048"/>
          </a:xfrm>
          <a:prstGeom prst="roundRect">
            <a:avLst>
              <a:gd name="adj" fmla="val 23810"/>
            </a:avLst>
          </a:prstGeom>
          <a:solidFill>
            <a:srgbClr val="2F6FD0"/>
          </a:solidFill>
          <a:ln/>
        </p:spPr>
      </p:sp>
      <p:pic>
        <p:nvPicPr>
          <p:cNvPr id="16" name="Image 2" descr="preencoded.png">    </p:cNvPr>
          <p:cNvPicPr>
            <a:picLocks noChangeAspect="1"/>
          </p:cNvPicPr>
          <p:nvPr/>
        </p:nvPicPr>
        <p:blipFill>
          <a:blip r:embed="rId3"/>
          <a:stretch>
            <a:fillRect/>
          </a:stretch>
        </p:blipFill>
        <p:spPr>
          <a:xfrm>
            <a:off x="816011" y="2882555"/>
            <a:ext cx="215067" cy="215067"/>
          </a:xfrm>
          <a:prstGeom prst="rect">
            <a:avLst/>
          </a:prstGeom>
        </p:spPr>
      </p:pic>
      <p:sp>
        <p:nvSpPr>
          <p:cNvPr id="17" name="Text 12"/>
          <p:cNvSpPr txBox="1"/>
          <p:nvPr/>
        </p:nvSpPr>
        <p:spPr>
          <a:xfrm>
            <a:off x="1252728" y="2633472"/>
            <a:ext cx="2020824" cy="713232"/>
          </a:xfrm>
          <a:prstGeom prst="rect">
            <a:avLst/>
          </a:prstGeom>
          <a:noFill/>
          <a:ln/>
        </p:spPr>
        <p:txBody>
          <a:bodyPr wrap="square" lIns="0" tIns="0" rIns="0" bIns="0" rtlCol="0" anchor="ctr"/>
          <a:lstStyle/>
          <a:p>
            <a:pPr algn="l" indent="0" marL="0">
              <a:lnSpc>
                <a:spcPct val="104000"/>
              </a:lnSpc>
              <a:buNone/>
            </a:pPr>
            <a:r>
              <a:rPr lang="en-US" sz="1050" b="1" dirty="0">
                <a:solidFill>
                  <a:srgbClr val="153A61"/>
                </a:solidFill>
                <a:latin typeface="Calibri" pitchFamily="34" charset="0"/>
                <a:ea typeface="Calibri" pitchFamily="34" charset="-122"/>
                <a:cs typeface="Calibri" pitchFamily="34" charset="-120"/>
              </a:rPr>
              <a:t>Annual &amp; sustainability reports</a:t>
            </a:r>
            <a:endParaRPr lang="en-US" sz="1050" dirty="0"/>
          </a:p>
          <a:p>
            <a:pPr algn="l" indent="0" marL="0">
              <a:lnSpc>
                <a:spcPct val="104000"/>
              </a:lnSpc>
              <a:buNone/>
            </a:pPr>
            <a:r>
              <a:rPr lang="en-US" sz="800" dirty="0">
                <a:solidFill>
                  <a:srgbClr val="153A61"/>
                </a:solidFill>
                <a:latin typeface="Calibri" pitchFamily="34" charset="0"/>
                <a:ea typeface="Calibri" pitchFamily="34" charset="-122"/>
                <a:cs typeface="Calibri" pitchFamily="34" charset="-120"/>
              </a:rPr>
              <a:t>EDGAR, crawler downloads, uploads</a:t>
            </a:r>
            <a:endParaRPr lang="en-US" sz="1050" dirty="0"/>
          </a:p>
        </p:txBody>
      </p:sp>
      <p:sp>
        <p:nvSpPr>
          <p:cNvPr id="18" name="Shape 13"/>
          <p:cNvSpPr/>
          <p:nvPr/>
        </p:nvSpPr>
        <p:spPr>
          <a:xfrm>
            <a:off x="3429000" y="2990088"/>
            <a:ext cx="219456" cy="320040"/>
          </a:xfrm>
          <a:prstGeom prst="line">
            <a:avLst/>
          </a:prstGeom>
          <a:noFill/>
          <a:ln w="16510">
            <a:solidFill>
              <a:srgbClr val="2F6FD0"/>
            </a:solidFill>
            <a:prstDash val="solid"/>
            <a:headEnd type="none"/>
            <a:tailEnd type="triangle"/>
          </a:ln>
        </p:spPr>
      </p:sp>
      <p:sp>
        <p:nvSpPr>
          <p:cNvPr id="19" name="Shape 14"/>
          <p:cNvSpPr/>
          <p:nvPr/>
        </p:nvSpPr>
        <p:spPr>
          <a:xfrm>
            <a:off x="594360" y="3547872"/>
            <a:ext cx="2788920" cy="713232"/>
          </a:xfrm>
          <a:prstGeom prst="roundRect">
            <a:avLst>
              <a:gd name="adj" fmla="val 12821"/>
            </a:avLst>
          </a:prstGeom>
          <a:solidFill>
            <a:srgbClr val="E3EDFC"/>
          </a:solidFill>
          <a:ln w="15875">
            <a:solidFill>
              <a:srgbClr val="2F6FD0"/>
            </a:solidFill>
            <a:prstDash val="solid"/>
          </a:ln>
          <a:effectLst>
            <a:outerShdw sx="100000" sy="100000" kx="0" ky="0" algn="bl" rotWithShape="0" blurRad="101600" dist="19050" dir="5400000">
              <a:srgbClr val="9FB0C2">
                <a:alpha val="24000"/>
              </a:srgbClr>
            </a:outerShdw>
          </a:effectLst>
        </p:spPr>
      </p:sp>
      <p:sp>
        <p:nvSpPr>
          <p:cNvPr id="20" name="Shape 15"/>
          <p:cNvSpPr/>
          <p:nvPr/>
        </p:nvSpPr>
        <p:spPr>
          <a:xfrm>
            <a:off x="731520" y="3712464"/>
            <a:ext cx="384048" cy="384048"/>
          </a:xfrm>
          <a:prstGeom prst="roundRect">
            <a:avLst>
              <a:gd name="adj" fmla="val 23810"/>
            </a:avLst>
          </a:prstGeom>
          <a:solidFill>
            <a:srgbClr val="2F6FD0"/>
          </a:solidFill>
          <a:ln/>
        </p:spPr>
      </p:sp>
      <p:pic>
        <p:nvPicPr>
          <p:cNvPr id="21" name="Image 3" descr="preencoded.png">    </p:cNvPr>
          <p:cNvPicPr>
            <a:picLocks noChangeAspect="1"/>
          </p:cNvPicPr>
          <p:nvPr/>
        </p:nvPicPr>
        <p:blipFill>
          <a:blip r:embed="rId4"/>
          <a:stretch>
            <a:fillRect/>
          </a:stretch>
        </p:blipFill>
        <p:spPr>
          <a:xfrm>
            <a:off x="816011" y="3796955"/>
            <a:ext cx="215067" cy="215067"/>
          </a:xfrm>
          <a:prstGeom prst="rect">
            <a:avLst/>
          </a:prstGeom>
        </p:spPr>
      </p:pic>
      <p:sp>
        <p:nvSpPr>
          <p:cNvPr id="22" name="Text 16"/>
          <p:cNvSpPr txBox="1"/>
          <p:nvPr/>
        </p:nvSpPr>
        <p:spPr>
          <a:xfrm>
            <a:off x="1252728" y="3547872"/>
            <a:ext cx="2020824" cy="713232"/>
          </a:xfrm>
          <a:prstGeom prst="rect">
            <a:avLst/>
          </a:prstGeom>
          <a:noFill/>
          <a:ln/>
        </p:spPr>
        <p:txBody>
          <a:bodyPr wrap="square" lIns="0" tIns="0" rIns="0" bIns="0" rtlCol="0" anchor="ctr"/>
          <a:lstStyle/>
          <a:p>
            <a:pPr algn="l" indent="0" marL="0">
              <a:lnSpc>
                <a:spcPct val="104000"/>
              </a:lnSpc>
              <a:buNone/>
            </a:pPr>
            <a:r>
              <a:rPr lang="en-US" sz="1050" b="1" dirty="0">
                <a:solidFill>
                  <a:srgbClr val="153A61"/>
                </a:solidFill>
                <a:latin typeface="Calibri" pitchFamily="34" charset="0"/>
                <a:ea typeface="Calibri" pitchFamily="34" charset="-122"/>
                <a:cs typeface="Calibri" pitchFamily="34" charset="-120"/>
              </a:rPr>
              <a:t>Transcripts &amp; investor decks</a:t>
            </a:r>
            <a:endParaRPr lang="en-US" sz="1050" dirty="0"/>
          </a:p>
          <a:p>
            <a:pPr algn="l" indent="0" marL="0">
              <a:lnSpc>
                <a:spcPct val="104000"/>
              </a:lnSpc>
              <a:buNone/>
            </a:pPr>
            <a:r>
              <a:rPr lang="en-US" sz="800" dirty="0">
                <a:solidFill>
                  <a:srgbClr val="153A61"/>
                </a:solidFill>
                <a:latin typeface="Calibri" pitchFamily="34" charset="0"/>
                <a:ea typeface="Calibri" pitchFamily="34" charset="-122"/>
                <a:cs typeface="Calibri" pitchFamily="34" charset="-120"/>
              </a:rPr>
              <a:t>whatever the company actually published</a:t>
            </a:r>
            <a:endParaRPr lang="en-US" sz="1050" dirty="0"/>
          </a:p>
        </p:txBody>
      </p:sp>
      <p:sp>
        <p:nvSpPr>
          <p:cNvPr id="23" name="Shape 17"/>
          <p:cNvSpPr/>
          <p:nvPr/>
        </p:nvSpPr>
        <p:spPr>
          <a:xfrm flipV="1">
            <a:off x="3429000" y="3310128"/>
            <a:ext cx="219456" cy="594360"/>
          </a:xfrm>
          <a:prstGeom prst="line">
            <a:avLst/>
          </a:prstGeom>
          <a:noFill/>
          <a:ln w="16510">
            <a:solidFill>
              <a:srgbClr val="2F6FD0"/>
            </a:solidFill>
            <a:prstDash val="solid"/>
            <a:headEnd type="none"/>
            <a:tailEnd type="triangle"/>
          </a:ln>
        </p:spPr>
      </p:sp>
      <p:sp>
        <p:nvSpPr>
          <p:cNvPr id="24" name="Shape 18"/>
          <p:cNvSpPr/>
          <p:nvPr/>
        </p:nvSpPr>
        <p:spPr>
          <a:xfrm>
            <a:off x="594360" y="4462272"/>
            <a:ext cx="2788920" cy="713232"/>
          </a:xfrm>
          <a:prstGeom prst="roundRect">
            <a:avLst>
              <a:gd name="adj" fmla="val 12821"/>
            </a:avLst>
          </a:prstGeom>
          <a:solidFill>
            <a:srgbClr val="DCF2F4"/>
          </a:solidFill>
          <a:ln w="15875">
            <a:solidFill>
              <a:srgbClr val="108494"/>
            </a:solidFill>
            <a:prstDash val="solid"/>
          </a:ln>
          <a:effectLst>
            <a:outerShdw sx="100000" sy="100000" kx="0" ky="0" algn="bl" rotWithShape="0" blurRad="101600" dist="19050" dir="5400000">
              <a:srgbClr val="9FB0C2">
                <a:alpha val="24000"/>
              </a:srgbClr>
            </a:outerShdw>
          </a:effectLst>
        </p:spPr>
      </p:sp>
      <p:sp>
        <p:nvSpPr>
          <p:cNvPr id="25" name="Shape 19"/>
          <p:cNvSpPr/>
          <p:nvPr/>
        </p:nvSpPr>
        <p:spPr>
          <a:xfrm>
            <a:off x="731520" y="4626864"/>
            <a:ext cx="384048" cy="384048"/>
          </a:xfrm>
          <a:prstGeom prst="roundRect">
            <a:avLst>
              <a:gd name="adj" fmla="val 23810"/>
            </a:avLst>
          </a:prstGeom>
          <a:solidFill>
            <a:srgbClr val="108494"/>
          </a:solidFill>
          <a:ln/>
        </p:spPr>
      </p:sp>
      <p:pic>
        <p:nvPicPr>
          <p:cNvPr id="26" name="Image 4" descr="preencoded.png">    </p:cNvPr>
          <p:cNvPicPr>
            <a:picLocks noChangeAspect="1"/>
          </p:cNvPicPr>
          <p:nvPr/>
        </p:nvPicPr>
        <p:blipFill>
          <a:blip r:embed="rId5"/>
          <a:stretch>
            <a:fillRect/>
          </a:stretch>
        </p:blipFill>
        <p:spPr>
          <a:xfrm>
            <a:off x="816011" y="4711355"/>
            <a:ext cx="215067" cy="215067"/>
          </a:xfrm>
          <a:prstGeom prst="rect">
            <a:avLst/>
          </a:prstGeom>
        </p:spPr>
      </p:pic>
      <p:sp>
        <p:nvSpPr>
          <p:cNvPr id="27" name="Text 20"/>
          <p:cNvSpPr txBox="1"/>
          <p:nvPr/>
        </p:nvSpPr>
        <p:spPr>
          <a:xfrm>
            <a:off x="1252728" y="4462272"/>
            <a:ext cx="2020824" cy="713232"/>
          </a:xfrm>
          <a:prstGeom prst="rect">
            <a:avLst/>
          </a:prstGeom>
          <a:noFill/>
          <a:ln/>
        </p:spPr>
        <p:txBody>
          <a:bodyPr wrap="square" lIns="0" tIns="0" rIns="0" bIns="0" rtlCol="0" anchor="ctr"/>
          <a:lstStyle/>
          <a:p>
            <a:pPr algn="l" indent="0" marL="0">
              <a:lnSpc>
                <a:spcPct val="104000"/>
              </a:lnSpc>
              <a:buNone/>
            </a:pPr>
            <a:r>
              <a:rPr lang="en-US" sz="1050" b="1" dirty="0">
                <a:solidFill>
                  <a:srgbClr val="0A4451"/>
                </a:solidFill>
                <a:latin typeface="Calibri" pitchFamily="34" charset="0"/>
                <a:ea typeface="Calibri" pitchFamily="34" charset="-122"/>
                <a:cs typeface="Calibri" pitchFamily="34" charset="-120"/>
              </a:rPr>
              <a:t>SEC XBRL facts</a:t>
            </a:r>
            <a:endParaRPr lang="en-US" sz="1050" dirty="0"/>
          </a:p>
          <a:p>
            <a:pPr algn="l" indent="0" marL="0">
              <a:lnSpc>
                <a:spcPct val="104000"/>
              </a:lnSpc>
              <a:buNone/>
            </a:pPr>
            <a:r>
              <a:rPr lang="en-US" sz="800" dirty="0">
                <a:solidFill>
                  <a:srgbClr val="0A4451"/>
                </a:solidFill>
                <a:latin typeface="Calibri" pitchFamily="34" charset="0"/>
                <a:ea typeface="Calibri" pitchFamily="34" charset="-122"/>
                <a:cs typeface="Calibri" pitchFamily="34" charset="-120"/>
              </a:rPr>
              <a:t>structured, machine-tagged, free</a:t>
            </a:r>
            <a:endParaRPr lang="en-US" sz="1050" dirty="0"/>
          </a:p>
        </p:txBody>
      </p:sp>
      <p:sp>
        <p:nvSpPr>
          <p:cNvPr id="28" name="Shape 21"/>
          <p:cNvSpPr/>
          <p:nvPr/>
        </p:nvSpPr>
        <p:spPr>
          <a:xfrm flipV="1">
            <a:off x="3429000" y="3310128"/>
            <a:ext cx="219456" cy="1508760"/>
          </a:xfrm>
          <a:prstGeom prst="line">
            <a:avLst/>
          </a:prstGeom>
          <a:noFill/>
          <a:ln w="16510">
            <a:solidFill>
              <a:srgbClr val="2F6FD0"/>
            </a:solidFill>
            <a:prstDash val="solid"/>
            <a:headEnd type="none"/>
            <a:tailEnd type="triangle"/>
          </a:ln>
        </p:spPr>
      </p:sp>
      <p:sp>
        <p:nvSpPr>
          <p:cNvPr id="29" name="Shape 22"/>
          <p:cNvSpPr/>
          <p:nvPr/>
        </p:nvSpPr>
        <p:spPr>
          <a:xfrm>
            <a:off x="3703320" y="1627632"/>
            <a:ext cx="3977640" cy="3529584"/>
          </a:xfrm>
          <a:prstGeom prst="roundRect">
            <a:avLst>
              <a:gd name="adj" fmla="val 1036"/>
            </a:avLst>
          </a:prstGeom>
          <a:solidFill>
            <a:srgbClr val="F7FAFC"/>
          </a:solidFill>
          <a:ln w="15875">
            <a:solidFill>
              <a:srgbClr val="9FB2C4"/>
            </a:solidFill>
            <a:prstDash val="dash"/>
          </a:ln>
        </p:spPr>
      </p:sp>
      <p:sp>
        <p:nvSpPr>
          <p:cNvPr id="30" name="Shape 23"/>
          <p:cNvSpPr/>
          <p:nvPr/>
        </p:nvSpPr>
        <p:spPr>
          <a:xfrm>
            <a:off x="3849624" y="1508760"/>
            <a:ext cx="1704442" cy="274320"/>
          </a:xfrm>
          <a:prstGeom prst="roundRect">
            <a:avLst>
              <a:gd name="adj" fmla="val 50000"/>
            </a:avLst>
          </a:prstGeom>
          <a:solidFill>
            <a:srgbClr val="64798F"/>
          </a:solidFill>
          <a:ln/>
        </p:spPr>
      </p:sp>
      <p:pic>
        <p:nvPicPr>
          <p:cNvPr id="31" name="Image 5" descr="preencoded.png">    </p:cNvPr>
          <p:cNvPicPr>
            <a:picLocks noChangeAspect="1"/>
          </p:cNvPicPr>
          <p:nvPr/>
        </p:nvPicPr>
        <p:blipFill>
          <a:blip r:embed="rId6"/>
          <a:stretch>
            <a:fillRect/>
          </a:stretch>
        </p:blipFill>
        <p:spPr>
          <a:xfrm>
            <a:off x="3968496" y="1577340"/>
            <a:ext cx="132588" cy="132588"/>
          </a:xfrm>
          <a:prstGeom prst="rect">
            <a:avLst/>
          </a:prstGeom>
        </p:spPr>
      </p:pic>
      <p:sp>
        <p:nvSpPr>
          <p:cNvPr id="32" name="Text 24"/>
          <p:cNvSpPr txBox="1"/>
          <p:nvPr/>
        </p:nvSpPr>
        <p:spPr>
          <a:xfrm>
            <a:off x="4123944" y="1508760"/>
            <a:ext cx="1430122" cy="274320"/>
          </a:xfrm>
          <a:prstGeom prst="rect">
            <a:avLst/>
          </a:prstGeom>
          <a:noFill/>
          <a:ln/>
        </p:spPr>
        <p:txBody>
          <a:bodyPr wrap="square" lIns="0" tIns="0" rIns="0" bIns="0" rtlCol="0" anchor="ctr"/>
          <a:lstStyle/>
          <a:p>
            <a:pPr algn="ctr" indent="0" marL="0">
              <a:buNone/>
            </a:pPr>
            <a:r>
              <a:rPr lang="en-US" sz="850" b="1" spc="110" kern="0" dirty="0">
                <a:solidFill>
                  <a:srgbClr val="FFFFFF"/>
                </a:solidFill>
                <a:latin typeface="Calibri" pitchFamily="34" charset="0"/>
                <a:ea typeface="Calibri" pitchFamily="34" charset="-122"/>
                <a:cs typeface="Calibri" pitchFamily="34" charset="-120"/>
              </a:rPr>
              <a:t>EXTRACTION ENGINE</a:t>
            </a:r>
            <a:endParaRPr lang="en-US" sz="850" dirty="0"/>
          </a:p>
        </p:txBody>
      </p:sp>
      <p:sp>
        <p:nvSpPr>
          <p:cNvPr id="33" name="Shape 25"/>
          <p:cNvSpPr/>
          <p:nvPr/>
        </p:nvSpPr>
        <p:spPr>
          <a:xfrm>
            <a:off x="3977640" y="2029968"/>
            <a:ext cx="3429000" cy="566928"/>
          </a:xfrm>
          <a:prstGeom prst="roundRect">
            <a:avLst>
              <a:gd name="adj" fmla="val 16129"/>
            </a:avLst>
          </a:prstGeom>
          <a:solidFill>
            <a:srgbClr val="DCF2F4"/>
          </a:solidFill>
          <a:ln w="15875">
            <a:solidFill>
              <a:srgbClr val="108494"/>
            </a:solidFill>
            <a:prstDash val="solid"/>
          </a:ln>
          <a:effectLst>
            <a:outerShdw sx="100000" sy="100000" kx="0" ky="0" algn="bl" rotWithShape="0" blurRad="101600" dist="19050" dir="5400000">
              <a:srgbClr val="9FB0C2">
                <a:alpha val="24000"/>
              </a:srgbClr>
            </a:outerShdw>
          </a:effectLst>
        </p:spPr>
      </p:sp>
      <p:sp>
        <p:nvSpPr>
          <p:cNvPr id="34" name="Shape 26"/>
          <p:cNvSpPr/>
          <p:nvPr/>
        </p:nvSpPr>
        <p:spPr>
          <a:xfrm>
            <a:off x="4114800" y="2167128"/>
            <a:ext cx="292608" cy="292608"/>
          </a:xfrm>
          <a:prstGeom prst="roundRect">
            <a:avLst>
              <a:gd name="adj" fmla="val 31250"/>
            </a:avLst>
          </a:prstGeom>
          <a:solidFill>
            <a:srgbClr val="108494"/>
          </a:solidFill>
          <a:ln/>
        </p:spPr>
      </p:sp>
      <p:pic>
        <p:nvPicPr>
          <p:cNvPr id="35" name="Image 6" descr="preencoded.png">    </p:cNvPr>
          <p:cNvPicPr>
            <a:picLocks noChangeAspect="1"/>
          </p:cNvPicPr>
          <p:nvPr/>
        </p:nvPicPr>
        <p:blipFill>
          <a:blip r:embed="rId7"/>
          <a:stretch>
            <a:fillRect/>
          </a:stretch>
        </p:blipFill>
        <p:spPr>
          <a:xfrm>
            <a:off x="4179174" y="2231502"/>
            <a:ext cx="163860" cy="163860"/>
          </a:xfrm>
          <a:prstGeom prst="rect">
            <a:avLst/>
          </a:prstGeom>
        </p:spPr>
      </p:pic>
      <p:sp>
        <p:nvSpPr>
          <p:cNvPr id="36" name="Text 27"/>
          <p:cNvSpPr txBox="1"/>
          <p:nvPr/>
        </p:nvSpPr>
        <p:spPr>
          <a:xfrm>
            <a:off x="4544568" y="2029968"/>
            <a:ext cx="2752344" cy="566928"/>
          </a:xfrm>
          <a:prstGeom prst="rect">
            <a:avLst/>
          </a:prstGeom>
          <a:noFill/>
          <a:ln/>
        </p:spPr>
        <p:txBody>
          <a:bodyPr wrap="square" lIns="0" tIns="0" rIns="0" bIns="0" rtlCol="0" anchor="ctr"/>
          <a:lstStyle/>
          <a:p>
            <a:pPr algn="l" indent="0" marL="0">
              <a:lnSpc>
                <a:spcPct val="104000"/>
              </a:lnSpc>
              <a:buNone/>
            </a:pPr>
            <a:r>
              <a:rPr lang="en-US" sz="1050" b="1" dirty="0">
                <a:solidFill>
                  <a:srgbClr val="0A4451"/>
                </a:solidFill>
                <a:latin typeface="Calibri" pitchFamily="34" charset="0"/>
                <a:ea typeface="Calibri" pitchFamily="34" charset="-122"/>
                <a:cs typeface="Calibri" pitchFamily="34" charset="-120"/>
              </a:rPr>
              <a:t>Evidence selection</a:t>
            </a:r>
            <a:endParaRPr lang="en-US" sz="1050" dirty="0"/>
          </a:p>
          <a:p>
            <a:pPr algn="l" indent="0" marL="0">
              <a:lnSpc>
                <a:spcPct val="104000"/>
              </a:lnSpc>
              <a:buNone/>
            </a:pPr>
            <a:r>
              <a:rPr lang="en-US" sz="800" dirty="0">
                <a:solidFill>
                  <a:srgbClr val="0A4451"/>
                </a:solidFill>
                <a:latin typeface="Calibri" pitchFamily="34" charset="0"/>
                <a:ea typeface="Calibri" pitchFamily="34" charset="-122"/>
                <a:cs typeface="Calibri" pitchFamily="34" charset="-120"/>
              </a:rPr>
              <a:t>seed keywords → BM25 + embeddings</a:t>
            </a:r>
            <a:endParaRPr lang="en-US" sz="1050" dirty="0"/>
          </a:p>
        </p:txBody>
      </p:sp>
      <p:sp>
        <p:nvSpPr>
          <p:cNvPr id="37" name="Shape 28"/>
          <p:cNvSpPr/>
          <p:nvPr/>
        </p:nvSpPr>
        <p:spPr>
          <a:xfrm>
            <a:off x="5692140" y="2606040"/>
            <a:ext cx="0" cy="164592"/>
          </a:xfrm>
          <a:prstGeom prst="line">
            <a:avLst/>
          </a:prstGeom>
          <a:noFill/>
          <a:ln w="17780">
            <a:solidFill>
              <a:srgbClr val="64798F"/>
            </a:solidFill>
            <a:prstDash val="solid"/>
            <a:headEnd type="none"/>
            <a:tailEnd type="triangle"/>
          </a:ln>
        </p:spPr>
      </p:sp>
      <p:sp>
        <p:nvSpPr>
          <p:cNvPr id="38" name="Shape 29"/>
          <p:cNvSpPr/>
          <p:nvPr/>
        </p:nvSpPr>
        <p:spPr>
          <a:xfrm>
            <a:off x="3977640" y="2788920"/>
            <a:ext cx="3429000" cy="566928"/>
          </a:xfrm>
          <a:prstGeom prst="roundRect">
            <a:avLst>
              <a:gd name="adj" fmla="val 16129"/>
            </a:avLst>
          </a:prstGeom>
          <a:solidFill>
            <a:srgbClr val="EBE5FC"/>
          </a:solidFill>
          <a:ln w="15875">
            <a:solidFill>
              <a:srgbClr val="6D4DD1"/>
            </a:solidFill>
            <a:prstDash val="solid"/>
          </a:ln>
          <a:effectLst>
            <a:outerShdw sx="100000" sy="100000" kx="0" ky="0" algn="bl" rotWithShape="0" blurRad="101600" dist="19050" dir="5400000">
              <a:srgbClr val="9FB0C2">
                <a:alpha val="24000"/>
              </a:srgbClr>
            </a:outerShdw>
          </a:effectLst>
        </p:spPr>
      </p:sp>
      <p:sp>
        <p:nvSpPr>
          <p:cNvPr id="39" name="Shape 30"/>
          <p:cNvSpPr/>
          <p:nvPr/>
        </p:nvSpPr>
        <p:spPr>
          <a:xfrm>
            <a:off x="4114800" y="2926080"/>
            <a:ext cx="292608" cy="292608"/>
          </a:xfrm>
          <a:prstGeom prst="roundRect">
            <a:avLst>
              <a:gd name="adj" fmla="val 31250"/>
            </a:avLst>
          </a:prstGeom>
          <a:solidFill>
            <a:srgbClr val="6D4DD1"/>
          </a:solidFill>
          <a:ln/>
        </p:spPr>
      </p:sp>
      <p:pic>
        <p:nvPicPr>
          <p:cNvPr id="40" name="Image 7" descr="preencoded.png">    </p:cNvPr>
          <p:cNvPicPr>
            <a:picLocks noChangeAspect="1"/>
          </p:cNvPicPr>
          <p:nvPr/>
        </p:nvPicPr>
        <p:blipFill>
          <a:blip r:embed="rId8"/>
          <a:stretch>
            <a:fillRect/>
          </a:stretch>
        </p:blipFill>
        <p:spPr>
          <a:xfrm>
            <a:off x="4179174" y="2990454"/>
            <a:ext cx="163860" cy="163860"/>
          </a:xfrm>
          <a:prstGeom prst="rect">
            <a:avLst/>
          </a:prstGeom>
        </p:spPr>
      </p:pic>
      <p:sp>
        <p:nvSpPr>
          <p:cNvPr id="41" name="Text 31"/>
          <p:cNvSpPr txBox="1"/>
          <p:nvPr/>
        </p:nvSpPr>
        <p:spPr>
          <a:xfrm>
            <a:off x="4544568" y="2788920"/>
            <a:ext cx="2752344" cy="566928"/>
          </a:xfrm>
          <a:prstGeom prst="rect">
            <a:avLst/>
          </a:prstGeom>
          <a:noFill/>
          <a:ln/>
        </p:spPr>
        <p:txBody>
          <a:bodyPr wrap="square" lIns="0" tIns="0" rIns="0" bIns="0" rtlCol="0" anchor="ctr"/>
          <a:lstStyle/>
          <a:p>
            <a:pPr algn="l" indent="0" marL="0">
              <a:lnSpc>
                <a:spcPct val="104000"/>
              </a:lnSpc>
              <a:buNone/>
            </a:pPr>
            <a:r>
              <a:rPr lang="en-US" sz="1050" b="1" dirty="0">
                <a:solidFill>
                  <a:srgbClr val="35236E"/>
                </a:solidFill>
                <a:latin typeface="Calibri" pitchFamily="34" charset="0"/>
                <a:ea typeface="Calibri" pitchFamily="34" charset="-122"/>
                <a:cs typeface="Calibri" pitchFamily="34" charset="-120"/>
              </a:rPr>
              <a:t>Extractor</a:t>
            </a:r>
            <a:endParaRPr lang="en-US" sz="1050" dirty="0"/>
          </a:p>
          <a:p>
            <a:pPr algn="l" indent="0" marL="0">
              <a:lnSpc>
                <a:spcPct val="104000"/>
              </a:lnSpc>
              <a:buNone/>
            </a:pPr>
            <a:r>
              <a:rPr lang="en-US" sz="800" dirty="0">
                <a:solidFill>
                  <a:srgbClr val="35236E"/>
                </a:solidFill>
                <a:latin typeface="Calibri" pitchFamily="34" charset="0"/>
                <a:ea typeface="Calibri" pitchFamily="34" charset="-122"/>
                <a:cs typeface="Calibri" pitchFamily="34" charset="-120"/>
              </a:rPr>
              <a:t>schema-forced output, retry on invalid</a:t>
            </a:r>
            <a:endParaRPr lang="en-US" sz="1050" dirty="0"/>
          </a:p>
        </p:txBody>
      </p:sp>
      <p:sp>
        <p:nvSpPr>
          <p:cNvPr id="42" name="Shape 32"/>
          <p:cNvSpPr/>
          <p:nvPr/>
        </p:nvSpPr>
        <p:spPr>
          <a:xfrm>
            <a:off x="5692140" y="3364992"/>
            <a:ext cx="0" cy="164592"/>
          </a:xfrm>
          <a:prstGeom prst="line">
            <a:avLst/>
          </a:prstGeom>
          <a:noFill/>
          <a:ln w="17780">
            <a:solidFill>
              <a:srgbClr val="64798F"/>
            </a:solidFill>
            <a:prstDash val="solid"/>
            <a:headEnd type="none"/>
            <a:tailEnd type="triangle"/>
          </a:ln>
        </p:spPr>
      </p:sp>
      <p:sp>
        <p:nvSpPr>
          <p:cNvPr id="43" name="Shape 33"/>
          <p:cNvSpPr/>
          <p:nvPr/>
        </p:nvSpPr>
        <p:spPr>
          <a:xfrm>
            <a:off x="3977640" y="3547872"/>
            <a:ext cx="3429000" cy="566928"/>
          </a:xfrm>
          <a:prstGeom prst="roundRect">
            <a:avLst>
              <a:gd name="adj" fmla="val 16129"/>
            </a:avLst>
          </a:prstGeom>
          <a:solidFill>
            <a:srgbClr val="EBE5FC"/>
          </a:solidFill>
          <a:ln w="15875">
            <a:solidFill>
              <a:srgbClr val="6D4DD1"/>
            </a:solidFill>
            <a:prstDash val="solid"/>
          </a:ln>
          <a:effectLst>
            <a:outerShdw sx="100000" sy="100000" kx="0" ky="0" algn="bl" rotWithShape="0" blurRad="101600" dist="19050" dir="5400000">
              <a:srgbClr val="9FB0C2">
                <a:alpha val="24000"/>
              </a:srgbClr>
            </a:outerShdw>
          </a:effectLst>
        </p:spPr>
      </p:sp>
      <p:sp>
        <p:nvSpPr>
          <p:cNvPr id="44" name="Shape 34"/>
          <p:cNvSpPr/>
          <p:nvPr/>
        </p:nvSpPr>
        <p:spPr>
          <a:xfrm>
            <a:off x="4114800" y="3685032"/>
            <a:ext cx="292608" cy="292608"/>
          </a:xfrm>
          <a:prstGeom prst="roundRect">
            <a:avLst>
              <a:gd name="adj" fmla="val 31250"/>
            </a:avLst>
          </a:prstGeom>
          <a:solidFill>
            <a:srgbClr val="6D4DD1"/>
          </a:solidFill>
          <a:ln/>
        </p:spPr>
      </p:sp>
      <p:pic>
        <p:nvPicPr>
          <p:cNvPr id="45" name="Image 8" descr="preencoded.png">    </p:cNvPr>
          <p:cNvPicPr>
            <a:picLocks noChangeAspect="1"/>
          </p:cNvPicPr>
          <p:nvPr/>
        </p:nvPicPr>
        <p:blipFill>
          <a:blip r:embed="rId9"/>
          <a:stretch>
            <a:fillRect/>
          </a:stretch>
        </p:blipFill>
        <p:spPr>
          <a:xfrm>
            <a:off x="4179174" y="3749406"/>
            <a:ext cx="163860" cy="163860"/>
          </a:xfrm>
          <a:prstGeom prst="rect">
            <a:avLst/>
          </a:prstGeom>
        </p:spPr>
      </p:pic>
      <p:sp>
        <p:nvSpPr>
          <p:cNvPr id="46" name="Text 35"/>
          <p:cNvSpPr txBox="1"/>
          <p:nvPr/>
        </p:nvSpPr>
        <p:spPr>
          <a:xfrm>
            <a:off x="4544568" y="3547872"/>
            <a:ext cx="2752344" cy="566928"/>
          </a:xfrm>
          <a:prstGeom prst="rect">
            <a:avLst/>
          </a:prstGeom>
          <a:noFill/>
          <a:ln/>
        </p:spPr>
        <p:txBody>
          <a:bodyPr wrap="square" lIns="0" tIns="0" rIns="0" bIns="0" rtlCol="0" anchor="ctr"/>
          <a:lstStyle/>
          <a:p>
            <a:pPr algn="l" indent="0" marL="0">
              <a:lnSpc>
                <a:spcPct val="104000"/>
              </a:lnSpc>
              <a:buNone/>
            </a:pPr>
            <a:r>
              <a:rPr lang="en-US" sz="1050" b="1" dirty="0">
                <a:solidFill>
                  <a:srgbClr val="35236E"/>
                </a:solidFill>
                <a:latin typeface="Calibri" pitchFamily="34" charset="0"/>
                <a:ea typeface="Calibri" pitchFamily="34" charset="-122"/>
                <a:cs typeface="Calibri" pitchFamily="34" charset="-120"/>
              </a:rPr>
              <a:t>Verifier</a:t>
            </a:r>
            <a:endParaRPr lang="en-US" sz="1050" dirty="0"/>
          </a:p>
          <a:p>
            <a:pPr algn="l" indent="0" marL="0">
              <a:lnSpc>
                <a:spcPct val="104000"/>
              </a:lnSpc>
              <a:buNone/>
            </a:pPr>
            <a:r>
              <a:rPr lang="en-US" sz="800" dirty="0">
                <a:solidFill>
                  <a:srgbClr val="35236E"/>
                </a:solidFill>
                <a:latin typeface="Calibri" pitchFamily="34" charset="0"/>
                <a:ea typeface="Calibri" pitchFamily="34" charset="-122"/>
                <a:cs typeface="Calibri" pitchFamily="34" charset="-120"/>
              </a:rPr>
              <a:t>a different model, told to disagree</a:t>
            </a:r>
            <a:endParaRPr lang="en-US" sz="1050" dirty="0"/>
          </a:p>
        </p:txBody>
      </p:sp>
      <p:sp>
        <p:nvSpPr>
          <p:cNvPr id="47" name="Shape 36"/>
          <p:cNvSpPr/>
          <p:nvPr/>
        </p:nvSpPr>
        <p:spPr>
          <a:xfrm>
            <a:off x="5692140" y="4123944"/>
            <a:ext cx="0" cy="164592"/>
          </a:xfrm>
          <a:prstGeom prst="line">
            <a:avLst/>
          </a:prstGeom>
          <a:noFill/>
          <a:ln w="17780">
            <a:solidFill>
              <a:srgbClr val="64798F"/>
            </a:solidFill>
            <a:prstDash val="solid"/>
            <a:headEnd type="none"/>
            <a:tailEnd type="triangle"/>
          </a:ln>
        </p:spPr>
      </p:sp>
      <p:sp>
        <p:nvSpPr>
          <p:cNvPr id="48" name="Shape 37"/>
          <p:cNvSpPr/>
          <p:nvPr/>
        </p:nvSpPr>
        <p:spPr>
          <a:xfrm>
            <a:off x="3977640" y="4306824"/>
            <a:ext cx="3429000" cy="566928"/>
          </a:xfrm>
          <a:prstGeom prst="roundRect">
            <a:avLst>
              <a:gd name="adj" fmla="val 16129"/>
            </a:avLst>
          </a:prstGeom>
          <a:solidFill>
            <a:srgbClr val="FCEDD4"/>
          </a:solidFill>
          <a:ln w="15875">
            <a:solidFill>
              <a:srgbClr val="C9871B"/>
            </a:solidFill>
            <a:prstDash val="solid"/>
          </a:ln>
          <a:effectLst>
            <a:outerShdw sx="100000" sy="100000" kx="0" ky="0" algn="bl" rotWithShape="0" blurRad="101600" dist="19050" dir="5400000">
              <a:srgbClr val="9FB0C2">
                <a:alpha val="24000"/>
              </a:srgbClr>
            </a:outerShdw>
          </a:effectLst>
        </p:spPr>
      </p:sp>
      <p:sp>
        <p:nvSpPr>
          <p:cNvPr id="49" name="Shape 38"/>
          <p:cNvSpPr/>
          <p:nvPr/>
        </p:nvSpPr>
        <p:spPr>
          <a:xfrm>
            <a:off x="4114800" y="4443984"/>
            <a:ext cx="292608" cy="292608"/>
          </a:xfrm>
          <a:prstGeom prst="roundRect">
            <a:avLst>
              <a:gd name="adj" fmla="val 31250"/>
            </a:avLst>
          </a:prstGeom>
          <a:solidFill>
            <a:srgbClr val="C9871B"/>
          </a:solidFill>
          <a:ln/>
        </p:spPr>
      </p:sp>
      <p:pic>
        <p:nvPicPr>
          <p:cNvPr id="50" name="Image 9" descr="preencoded.png">    </p:cNvPr>
          <p:cNvPicPr>
            <a:picLocks noChangeAspect="1"/>
          </p:cNvPicPr>
          <p:nvPr/>
        </p:nvPicPr>
        <p:blipFill>
          <a:blip r:embed="rId10"/>
          <a:stretch>
            <a:fillRect/>
          </a:stretch>
        </p:blipFill>
        <p:spPr>
          <a:xfrm>
            <a:off x="4179174" y="4508358"/>
            <a:ext cx="163860" cy="163860"/>
          </a:xfrm>
          <a:prstGeom prst="rect">
            <a:avLst/>
          </a:prstGeom>
        </p:spPr>
      </p:pic>
      <p:sp>
        <p:nvSpPr>
          <p:cNvPr id="51" name="Text 39"/>
          <p:cNvSpPr txBox="1"/>
          <p:nvPr/>
        </p:nvSpPr>
        <p:spPr>
          <a:xfrm>
            <a:off x="4544568" y="4306824"/>
            <a:ext cx="2752344" cy="566928"/>
          </a:xfrm>
          <a:prstGeom prst="rect">
            <a:avLst/>
          </a:prstGeom>
          <a:noFill/>
          <a:ln/>
        </p:spPr>
        <p:txBody>
          <a:bodyPr wrap="square" lIns="0" tIns="0" rIns="0" bIns="0" rtlCol="0" anchor="ctr"/>
          <a:lstStyle/>
          <a:p>
            <a:pPr algn="l" indent="0" marL="0">
              <a:lnSpc>
                <a:spcPct val="104000"/>
              </a:lnSpc>
              <a:buNone/>
            </a:pPr>
            <a:r>
              <a:rPr lang="en-US" sz="1050" b="1" dirty="0">
                <a:solidFill>
                  <a:srgbClr val="64430A"/>
                </a:solidFill>
                <a:latin typeface="Calibri" pitchFamily="34" charset="0"/>
                <a:ea typeface="Calibri" pitchFamily="34" charset="-122"/>
                <a:cs typeface="Calibri" pitchFamily="34" charset="-120"/>
              </a:rPr>
              <a:t>Grounding check</a:t>
            </a:r>
            <a:endParaRPr lang="en-US" sz="1050" dirty="0"/>
          </a:p>
          <a:p>
            <a:pPr algn="l" indent="0" marL="0">
              <a:lnSpc>
                <a:spcPct val="104000"/>
              </a:lnSpc>
              <a:buNone/>
            </a:pPr>
            <a:r>
              <a:rPr lang="en-US" sz="800" dirty="0">
                <a:solidFill>
                  <a:srgbClr val="64430A"/>
                </a:solidFill>
                <a:latin typeface="Calibri" pitchFamily="34" charset="0"/>
                <a:ea typeface="Calibri" pitchFamily="34" charset="-122"/>
                <a:cs typeface="Calibri" pitchFamily="34" charset="-120"/>
              </a:rPr>
              <a:t>quote re-matched in code · page resolved</a:t>
            </a:r>
            <a:endParaRPr lang="en-US" sz="1050" dirty="0"/>
          </a:p>
        </p:txBody>
      </p:sp>
      <p:sp>
        <p:nvSpPr>
          <p:cNvPr id="52" name="Shape 40"/>
          <p:cNvSpPr/>
          <p:nvPr/>
        </p:nvSpPr>
        <p:spPr>
          <a:xfrm>
            <a:off x="7443216" y="3831336"/>
            <a:ext cx="128016" cy="0"/>
          </a:xfrm>
          <a:prstGeom prst="line">
            <a:avLst/>
          </a:prstGeom>
          <a:noFill/>
          <a:ln w="15240">
            <a:solidFill>
              <a:srgbClr val="CE3D64"/>
            </a:solidFill>
            <a:prstDash val="dash"/>
            <a:headEnd type="none"/>
            <a:tailEnd type="none"/>
          </a:ln>
        </p:spPr>
      </p:sp>
      <p:sp>
        <p:nvSpPr>
          <p:cNvPr id="53" name="Shape 41"/>
          <p:cNvSpPr/>
          <p:nvPr/>
        </p:nvSpPr>
        <p:spPr>
          <a:xfrm flipV="1">
            <a:off x="7571232" y="3072384"/>
            <a:ext cx="0" cy="758952"/>
          </a:xfrm>
          <a:prstGeom prst="line">
            <a:avLst/>
          </a:prstGeom>
          <a:noFill/>
          <a:ln w="15240">
            <a:solidFill>
              <a:srgbClr val="CE3D64"/>
            </a:solidFill>
            <a:prstDash val="dash"/>
            <a:headEnd type="none"/>
            <a:tailEnd type="none"/>
          </a:ln>
        </p:spPr>
      </p:sp>
      <p:sp>
        <p:nvSpPr>
          <p:cNvPr id="54" name="Shape 42"/>
          <p:cNvSpPr/>
          <p:nvPr/>
        </p:nvSpPr>
        <p:spPr>
          <a:xfrm flipH="1">
            <a:off x="7443216" y="3072384"/>
            <a:ext cx="128016" cy="0"/>
          </a:xfrm>
          <a:prstGeom prst="line">
            <a:avLst/>
          </a:prstGeom>
          <a:noFill/>
          <a:ln w="15240">
            <a:solidFill>
              <a:srgbClr val="CE3D64"/>
            </a:solidFill>
            <a:prstDash val="dash"/>
            <a:headEnd type="none"/>
            <a:tailEnd type="triangle"/>
          </a:ln>
        </p:spPr>
      </p:sp>
      <p:sp>
        <p:nvSpPr>
          <p:cNvPr id="55" name="Text 43"/>
          <p:cNvSpPr txBox="1"/>
          <p:nvPr/>
        </p:nvSpPr>
        <p:spPr>
          <a:xfrm>
            <a:off x="6309360" y="3401568"/>
            <a:ext cx="1188720" cy="182880"/>
          </a:xfrm>
          <a:prstGeom prst="rect">
            <a:avLst/>
          </a:prstGeom>
          <a:noFill/>
          <a:ln/>
        </p:spPr>
        <p:txBody>
          <a:bodyPr wrap="square" lIns="0" tIns="0" rIns="0" bIns="0" rtlCol="0" anchor="ctr"/>
          <a:lstStyle/>
          <a:p>
            <a:pPr algn="r" indent="0" marL="0">
              <a:buNone/>
            </a:pPr>
            <a:r>
              <a:rPr lang="en-US" sz="750" i="1" dirty="0">
                <a:solidFill>
                  <a:srgbClr val="CE3D64"/>
                </a:solidFill>
                <a:latin typeface="Calibri" pitchFamily="34" charset="0"/>
                <a:ea typeface="Calibri" pitchFamily="34" charset="-122"/>
                <a:cs typeface="Calibri" pitchFamily="34" charset="-120"/>
              </a:rPr>
              <a:t>disagreement</a:t>
            </a:r>
            <a:endParaRPr lang="en-US" sz="750" dirty="0"/>
          </a:p>
        </p:txBody>
      </p:sp>
      <p:sp>
        <p:nvSpPr>
          <p:cNvPr id="56" name="Shape 44"/>
          <p:cNvSpPr/>
          <p:nvPr/>
        </p:nvSpPr>
        <p:spPr>
          <a:xfrm>
            <a:off x="8321040" y="1719072"/>
            <a:ext cx="3273552" cy="713232"/>
          </a:xfrm>
          <a:prstGeom prst="roundRect">
            <a:avLst>
              <a:gd name="adj" fmla="val 12821"/>
            </a:avLst>
          </a:prstGeom>
          <a:solidFill>
            <a:srgbClr val="E0F3E3"/>
          </a:solidFill>
          <a:ln w="15875">
            <a:solidFill>
              <a:srgbClr val="2F8F48"/>
            </a:solidFill>
            <a:prstDash val="solid"/>
          </a:ln>
          <a:effectLst>
            <a:outerShdw sx="100000" sy="100000" kx="0" ky="0" algn="bl" rotWithShape="0" blurRad="101600" dist="19050" dir="5400000">
              <a:srgbClr val="9FB0C2">
                <a:alpha val="24000"/>
              </a:srgbClr>
            </a:outerShdw>
          </a:effectLst>
        </p:spPr>
      </p:sp>
      <p:sp>
        <p:nvSpPr>
          <p:cNvPr id="57" name="Shape 45"/>
          <p:cNvSpPr/>
          <p:nvPr/>
        </p:nvSpPr>
        <p:spPr>
          <a:xfrm>
            <a:off x="8458200" y="1883664"/>
            <a:ext cx="384048" cy="384048"/>
          </a:xfrm>
          <a:prstGeom prst="roundRect">
            <a:avLst>
              <a:gd name="adj" fmla="val 23810"/>
            </a:avLst>
          </a:prstGeom>
          <a:solidFill>
            <a:srgbClr val="2F8F48"/>
          </a:solidFill>
          <a:ln/>
        </p:spPr>
      </p:sp>
      <p:pic>
        <p:nvPicPr>
          <p:cNvPr id="58" name="Image 10" descr="preencoded.png">    </p:cNvPr>
          <p:cNvPicPr>
            <a:picLocks noChangeAspect="1"/>
          </p:cNvPicPr>
          <p:nvPr/>
        </p:nvPicPr>
        <p:blipFill>
          <a:blip r:embed="rId11"/>
          <a:stretch>
            <a:fillRect/>
          </a:stretch>
        </p:blipFill>
        <p:spPr>
          <a:xfrm>
            <a:off x="8542691" y="1968155"/>
            <a:ext cx="215067" cy="215067"/>
          </a:xfrm>
          <a:prstGeom prst="rect">
            <a:avLst/>
          </a:prstGeom>
        </p:spPr>
      </p:pic>
      <p:sp>
        <p:nvSpPr>
          <p:cNvPr id="59" name="Text 46"/>
          <p:cNvSpPr txBox="1"/>
          <p:nvPr/>
        </p:nvSpPr>
        <p:spPr>
          <a:xfrm>
            <a:off x="8979408" y="1719072"/>
            <a:ext cx="2505456" cy="713232"/>
          </a:xfrm>
          <a:prstGeom prst="rect">
            <a:avLst/>
          </a:prstGeom>
          <a:noFill/>
          <a:ln/>
        </p:spPr>
        <p:txBody>
          <a:bodyPr wrap="square" lIns="0" tIns="0" rIns="0" bIns="0" rtlCol="0" anchor="ctr"/>
          <a:lstStyle/>
          <a:p>
            <a:pPr algn="l" indent="0" marL="0">
              <a:lnSpc>
                <a:spcPct val="104000"/>
              </a:lnSpc>
              <a:buNone/>
            </a:pPr>
            <a:r>
              <a:rPr lang="en-US" sz="1050" b="1" dirty="0">
                <a:solidFill>
                  <a:srgbClr val="17431F"/>
                </a:solidFill>
                <a:latin typeface="Calibri" pitchFamily="34" charset="0"/>
                <a:ea typeface="Calibri" pitchFamily="34" charset="-122"/>
                <a:cs typeface="Calibri" pitchFamily="34" charset="-120"/>
              </a:rPr>
              <a:t>Grounded value + citation</a:t>
            </a:r>
            <a:endParaRPr lang="en-US" sz="1050" dirty="0"/>
          </a:p>
          <a:p>
            <a:pPr algn="l" indent="0" marL="0">
              <a:lnSpc>
                <a:spcPct val="104000"/>
              </a:lnSpc>
              <a:buNone/>
            </a:pPr>
            <a:r>
              <a:rPr lang="en-US" sz="800" dirty="0">
                <a:solidFill>
                  <a:srgbClr val="17431F"/>
                </a:solidFill>
                <a:latin typeface="Calibri" pitchFamily="34" charset="0"/>
                <a:ea typeface="Calibri" pitchFamily="34" charset="-122"/>
                <a:cs typeface="Calibri" pitchFamily="34" charset="-120"/>
              </a:rPr>
              <a:t>PDF page or sheet, computed not claimed</a:t>
            </a:r>
            <a:endParaRPr lang="en-US" sz="1050" dirty="0"/>
          </a:p>
        </p:txBody>
      </p:sp>
      <p:sp>
        <p:nvSpPr>
          <p:cNvPr id="60" name="Shape 47"/>
          <p:cNvSpPr/>
          <p:nvPr/>
        </p:nvSpPr>
        <p:spPr>
          <a:xfrm flipV="1">
            <a:off x="7735824" y="2075688"/>
            <a:ext cx="530352" cy="1234440"/>
          </a:xfrm>
          <a:prstGeom prst="line">
            <a:avLst/>
          </a:prstGeom>
          <a:noFill/>
          <a:ln w="16510">
            <a:solidFill>
              <a:srgbClr val="2F8F48"/>
            </a:solidFill>
            <a:prstDash val="solid"/>
            <a:headEnd type="none"/>
            <a:tailEnd type="triangle"/>
          </a:ln>
        </p:spPr>
      </p:sp>
      <p:sp>
        <p:nvSpPr>
          <p:cNvPr id="61" name="Shape 48"/>
          <p:cNvSpPr/>
          <p:nvPr/>
        </p:nvSpPr>
        <p:spPr>
          <a:xfrm>
            <a:off x="8321040" y="2633472"/>
            <a:ext cx="3273552" cy="713232"/>
          </a:xfrm>
          <a:prstGeom prst="roundRect">
            <a:avLst>
              <a:gd name="adj" fmla="val 12821"/>
            </a:avLst>
          </a:prstGeom>
          <a:solidFill>
            <a:srgbClr val="E0F3E3"/>
          </a:solidFill>
          <a:ln w="15875">
            <a:solidFill>
              <a:srgbClr val="2F8F48"/>
            </a:solidFill>
            <a:prstDash val="solid"/>
          </a:ln>
          <a:effectLst>
            <a:outerShdw sx="100000" sy="100000" kx="0" ky="0" algn="bl" rotWithShape="0" blurRad="101600" dist="19050" dir="5400000">
              <a:srgbClr val="9FB0C2">
                <a:alpha val="24000"/>
              </a:srgbClr>
            </a:outerShdw>
          </a:effectLst>
        </p:spPr>
      </p:sp>
      <p:sp>
        <p:nvSpPr>
          <p:cNvPr id="62" name="Shape 49"/>
          <p:cNvSpPr/>
          <p:nvPr/>
        </p:nvSpPr>
        <p:spPr>
          <a:xfrm>
            <a:off x="8458200" y="2798064"/>
            <a:ext cx="384048" cy="384048"/>
          </a:xfrm>
          <a:prstGeom prst="roundRect">
            <a:avLst>
              <a:gd name="adj" fmla="val 23810"/>
            </a:avLst>
          </a:prstGeom>
          <a:solidFill>
            <a:srgbClr val="2F8F48"/>
          </a:solidFill>
          <a:ln/>
        </p:spPr>
      </p:sp>
      <p:pic>
        <p:nvPicPr>
          <p:cNvPr id="63" name="Image 11" descr="preencoded.png">    </p:cNvPr>
          <p:cNvPicPr>
            <a:picLocks noChangeAspect="1"/>
          </p:cNvPicPr>
          <p:nvPr/>
        </p:nvPicPr>
        <p:blipFill>
          <a:blip r:embed="rId12"/>
          <a:stretch>
            <a:fillRect/>
          </a:stretch>
        </p:blipFill>
        <p:spPr>
          <a:xfrm>
            <a:off x="8542691" y="2882555"/>
            <a:ext cx="215067" cy="215067"/>
          </a:xfrm>
          <a:prstGeom prst="rect">
            <a:avLst/>
          </a:prstGeom>
        </p:spPr>
      </p:pic>
      <p:sp>
        <p:nvSpPr>
          <p:cNvPr id="64" name="Text 50"/>
          <p:cNvSpPr txBox="1"/>
          <p:nvPr/>
        </p:nvSpPr>
        <p:spPr>
          <a:xfrm>
            <a:off x="8979408" y="2633472"/>
            <a:ext cx="2505456" cy="713232"/>
          </a:xfrm>
          <a:prstGeom prst="rect">
            <a:avLst/>
          </a:prstGeom>
          <a:noFill/>
          <a:ln/>
        </p:spPr>
        <p:txBody>
          <a:bodyPr wrap="square" lIns="0" tIns="0" rIns="0" bIns="0" rtlCol="0" anchor="ctr"/>
          <a:lstStyle/>
          <a:p>
            <a:pPr algn="l" indent="0" marL="0">
              <a:lnSpc>
                <a:spcPct val="104000"/>
              </a:lnSpc>
              <a:buNone/>
            </a:pPr>
            <a:r>
              <a:rPr lang="en-US" sz="1050" b="1" dirty="0">
                <a:solidFill>
                  <a:srgbClr val="17431F"/>
                </a:solidFill>
                <a:latin typeface="Calibri" pitchFamily="34" charset="0"/>
                <a:ea typeface="Calibri" pitchFamily="34" charset="-122"/>
                <a:cs typeface="Calibri" pitchFamily="34" charset="-120"/>
              </a:rPr>
              <a:t>Confidence + provenance</a:t>
            </a:r>
            <a:endParaRPr lang="en-US" sz="1050" dirty="0"/>
          </a:p>
          <a:p>
            <a:pPr algn="l" indent="0" marL="0">
              <a:lnSpc>
                <a:spcPct val="104000"/>
              </a:lnSpc>
              <a:buNone/>
            </a:pPr>
            <a:r>
              <a:rPr lang="en-US" sz="800" dirty="0">
                <a:solidFill>
                  <a:srgbClr val="17431F"/>
                </a:solidFill>
                <a:latin typeface="Calibri" pitchFamily="34" charset="0"/>
                <a:ea typeface="Calibri" pitchFamily="34" charset="-122"/>
                <a:cs typeface="Calibri" pitchFamily="34" charset="-120"/>
              </a:rPr>
              <a:t>both models and their prompt hashes</a:t>
            </a:r>
            <a:endParaRPr lang="en-US" sz="1050" dirty="0"/>
          </a:p>
        </p:txBody>
      </p:sp>
      <p:sp>
        <p:nvSpPr>
          <p:cNvPr id="65" name="Shape 51"/>
          <p:cNvSpPr/>
          <p:nvPr/>
        </p:nvSpPr>
        <p:spPr>
          <a:xfrm flipV="1">
            <a:off x="7735824" y="2990088"/>
            <a:ext cx="530352" cy="320040"/>
          </a:xfrm>
          <a:prstGeom prst="line">
            <a:avLst/>
          </a:prstGeom>
          <a:noFill/>
          <a:ln w="16510">
            <a:solidFill>
              <a:srgbClr val="2F8F48"/>
            </a:solidFill>
            <a:prstDash val="solid"/>
            <a:headEnd type="none"/>
            <a:tailEnd type="triangle"/>
          </a:ln>
        </p:spPr>
      </p:sp>
      <p:sp>
        <p:nvSpPr>
          <p:cNvPr id="66" name="Shape 52"/>
          <p:cNvSpPr/>
          <p:nvPr/>
        </p:nvSpPr>
        <p:spPr>
          <a:xfrm>
            <a:off x="8321040" y="3547872"/>
            <a:ext cx="3273552" cy="713232"/>
          </a:xfrm>
          <a:prstGeom prst="roundRect">
            <a:avLst>
              <a:gd name="adj" fmla="val 12821"/>
            </a:avLst>
          </a:prstGeom>
          <a:solidFill>
            <a:srgbClr val="FBE2E8"/>
          </a:solidFill>
          <a:ln w="15875">
            <a:solidFill>
              <a:srgbClr val="CE3D64"/>
            </a:solidFill>
            <a:prstDash val="solid"/>
          </a:ln>
          <a:effectLst>
            <a:outerShdw sx="100000" sy="100000" kx="0" ky="0" algn="bl" rotWithShape="0" blurRad="101600" dist="19050" dir="5400000">
              <a:srgbClr val="9FB0C2">
                <a:alpha val="24000"/>
              </a:srgbClr>
            </a:outerShdw>
          </a:effectLst>
        </p:spPr>
      </p:sp>
      <p:sp>
        <p:nvSpPr>
          <p:cNvPr id="67" name="Shape 53"/>
          <p:cNvSpPr/>
          <p:nvPr/>
        </p:nvSpPr>
        <p:spPr>
          <a:xfrm>
            <a:off x="8458200" y="3712464"/>
            <a:ext cx="384048" cy="384048"/>
          </a:xfrm>
          <a:prstGeom prst="roundRect">
            <a:avLst>
              <a:gd name="adj" fmla="val 23810"/>
            </a:avLst>
          </a:prstGeom>
          <a:solidFill>
            <a:srgbClr val="CE3D64"/>
          </a:solidFill>
          <a:ln/>
        </p:spPr>
      </p:sp>
      <p:pic>
        <p:nvPicPr>
          <p:cNvPr id="68" name="Image 12" descr="preencoded.png">    </p:cNvPr>
          <p:cNvPicPr>
            <a:picLocks noChangeAspect="1"/>
          </p:cNvPicPr>
          <p:nvPr/>
        </p:nvPicPr>
        <p:blipFill>
          <a:blip r:embed="rId13"/>
          <a:stretch>
            <a:fillRect/>
          </a:stretch>
        </p:blipFill>
        <p:spPr>
          <a:xfrm>
            <a:off x="8542691" y="3796955"/>
            <a:ext cx="215067" cy="215067"/>
          </a:xfrm>
          <a:prstGeom prst="rect">
            <a:avLst/>
          </a:prstGeom>
        </p:spPr>
      </p:pic>
      <p:sp>
        <p:nvSpPr>
          <p:cNvPr id="69" name="Text 54"/>
          <p:cNvSpPr txBox="1"/>
          <p:nvPr/>
        </p:nvSpPr>
        <p:spPr>
          <a:xfrm>
            <a:off x="8979408" y="3547872"/>
            <a:ext cx="2505456" cy="713232"/>
          </a:xfrm>
          <a:prstGeom prst="rect">
            <a:avLst/>
          </a:prstGeom>
          <a:noFill/>
          <a:ln/>
        </p:spPr>
        <p:txBody>
          <a:bodyPr wrap="square" lIns="0" tIns="0" rIns="0" bIns="0" rtlCol="0" anchor="ctr"/>
          <a:lstStyle/>
          <a:p>
            <a:pPr algn="l" indent="0" marL="0">
              <a:lnSpc>
                <a:spcPct val="104000"/>
              </a:lnSpc>
              <a:buNone/>
            </a:pPr>
            <a:r>
              <a:rPr lang="en-US" sz="1050" b="1" dirty="0">
                <a:solidFill>
                  <a:srgbClr val="68182F"/>
                </a:solidFill>
                <a:latin typeface="Calibri" pitchFamily="34" charset="0"/>
                <a:ea typeface="Calibri" pitchFamily="34" charset="-122"/>
                <a:cs typeface="Calibri" pitchFamily="34" charset="-120"/>
              </a:rPr>
              <a:t>Review queue item</a:t>
            </a:r>
            <a:endParaRPr lang="en-US" sz="1050" dirty="0"/>
          </a:p>
          <a:p>
            <a:pPr algn="l" indent="0" marL="0">
              <a:lnSpc>
                <a:spcPct val="104000"/>
              </a:lnSpc>
              <a:buNone/>
            </a:pPr>
            <a:r>
              <a:rPr lang="en-US" sz="800" dirty="0">
                <a:solidFill>
                  <a:srgbClr val="68182F"/>
                </a:solidFill>
                <a:latin typeface="Calibri" pitchFamily="34" charset="0"/>
                <a:ea typeface="Calibri" pitchFamily="34" charset="-122"/>
                <a:cs typeface="Calibri" pitchFamily="34" charset="-120"/>
              </a:rPr>
              <a:t>low confidence, ungrounded or disputed</a:t>
            </a:r>
            <a:endParaRPr lang="en-US" sz="1050" dirty="0"/>
          </a:p>
        </p:txBody>
      </p:sp>
      <p:sp>
        <p:nvSpPr>
          <p:cNvPr id="70" name="Shape 55"/>
          <p:cNvSpPr/>
          <p:nvPr/>
        </p:nvSpPr>
        <p:spPr>
          <a:xfrm>
            <a:off x="7735824" y="3310128"/>
            <a:ext cx="530352" cy="594360"/>
          </a:xfrm>
          <a:prstGeom prst="line">
            <a:avLst/>
          </a:prstGeom>
          <a:noFill/>
          <a:ln w="16510">
            <a:solidFill>
              <a:srgbClr val="2F8F48"/>
            </a:solidFill>
            <a:prstDash val="solid"/>
            <a:headEnd type="none"/>
            <a:tailEnd type="triangle"/>
          </a:ln>
        </p:spPr>
      </p:sp>
      <p:sp>
        <p:nvSpPr>
          <p:cNvPr id="71" name="Shape 56"/>
          <p:cNvSpPr/>
          <p:nvPr/>
        </p:nvSpPr>
        <p:spPr>
          <a:xfrm>
            <a:off x="8321040" y="4462272"/>
            <a:ext cx="3273552" cy="713232"/>
          </a:xfrm>
          <a:prstGeom prst="roundRect">
            <a:avLst>
              <a:gd name="adj" fmla="val 12821"/>
            </a:avLst>
          </a:prstGeom>
          <a:solidFill>
            <a:srgbClr val="E0F3E3"/>
          </a:solidFill>
          <a:ln w="15875">
            <a:solidFill>
              <a:srgbClr val="2F8F48"/>
            </a:solidFill>
            <a:prstDash val="solid"/>
          </a:ln>
          <a:effectLst>
            <a:outerShdw sx="100000" sy="100000" kx="0" ky="0" algn="bl" rotWithShape="0" blurRad="101600" dist="19050" dir="5400000">
              <a:srgbClr val="9FB0C2">
                <a:alpha val="24000"/>
              </a:srgbClr>
            </a:outerShdw>
          </a:effectLst>
        </p:spPr>
      </p:sp>
      <p:sp>
        <p:nvSpPr>
          <p:cNvPr id="72" name="Shape 57"/>
          <p:cNvSpPr/>
          <p:nvPr/>
        </p:nvSpPr>
        <p:spPr>
          <a:xfrm>
            <a:off x="8458200" y="4626864"/>
            <a:ext cx="384048" cy="384048"/>
          </a:xfrm>
          <a:prstGeom prst="roundRect">
            <a:avLst>
              <a:gd name="adj" fmla="val 23810"/>
            </a:avLst>
          </a:prstGeom>
          <a:solidFill>
            <a:srgbClr val="2F8F48"/>
          </a:solidFill>
          <a:ln/>
        </p:spPr>
      </p:sp>
      <p:pic>
        <p:nvPicPr>
          <p:cNvPr id="73" name="Image 13" descr="preencoded.png">    </p:cNvPr>
          <p:cNvPicPr>
            <a:picLocks noChangeAspect="1"/>
          </p:cNvPicPr>
          <p:nvPr/>
        </p:nvPicPr>
        <p:blipFill>
          <a:blip r:embed="rId14"/>
          <a:stretch>
            <a:fillRect/>
          </a:stretch>
        </p:blipFill>
        <p:spPr>
          <a:xfrm>
            <a:off x="8542691" y="4711355"/>
            <a:ext cx="215067" cy="215067"/>
          </a:xfrm>
          <a:prstGeom prst="rect">
            <a:avLst/>
          </a:prstGeom>
        </p:spPr>
      </p:pic>
      <p:sp>
        <p:nvSpPr>
          <p:cNvPr id="74" name="Text 58"/>
          <p:cNvSpPr txBox="1"/>
          <p:nvPr/>
        </p:nvSpPr>
        <p:spPr>
          <a:xfrm>
            <a:off x="8979408" y="4462272"/>
            <a:ext cx="2505456" cy="713232"/>
          </a:xfrm>
          <a:prstGeom prst="rect">
            <a:avLst/>
          </a:prstGeom>
          <a:noFill/>
          <a:ln/>
        </p:spPr>
        <p:txBody>
          <a:bodyPr wrap="square" lIns="0" tIns="0" rIns="0" bIns="0" rtlCol="0" anchor="ctr"/>
          <a:lstStyle/>
          <a:p>
            <a:pPr algn="l" indent="0" marL="0">
              <a:lnSpc>
                <a:spcPct val="104000"/>
              </a:lnSpc>
              <a:buNone/>
            </a:pPr>
            <a:r>
              <a:rPr lang="en-US" sz="1050" b="1" dirty="0">
                <a:solidFill>
                  <a:srgbClr val="17431F"/>
                </a:solidFill>
                <a:latin typeface="Calibri" pitchFamily="34" charset="0"/>
                <a:ea typeface="Calibri" pitchFamily="34" charset="-122"/>
                <a:cs typeface="Calibri" pitchFamily="34" charset="-120"/>
              </a:rPr>
              <a:t>results.jsonl</a:t>
            </a:r>
            <a:endParaRPr lang="en-US" sz="1050" dirty="0"/>
          </a:p>
          <a:p>
            <a:pPr algn="l" indent="0" marL="0">
              <a:lnSpc>
                <a:spcPct val="104000"/>
              </a:lnSpc>
              <a:buNone/>
            </a:pPr>
            <a:r>
              <a:rPr lang="en-US" sz="800" dirty="0">
                <a:solidFill>
                  <a:srgbClr val="17431F"/>
                </a:solidFill>
                <a:latin typeface="Calibri" pitchFamily="34" charset="0"/>
                <a:ea typeface="Calibri" pitchFamily="34" charset="-122"/>
                <a:cs typeface="Calibri" pitchFamily="34" charset="-120"/>
              </a:rPr>
              <a:t>appended the moment a company finishes</a:t>
            </a:r>
            <a:endParaRPr lang="en-US" sz="1050" dirty="0"/>
          </a:p>
        </p:txBody>
      </p:sp>
      <p:sp>
        <p:nvSpPr>
          <p:cNvPr id="75" name="Shape 59"/>
          <p:cNvSpPr/>
          <p:nvPr/>
        </p:nvSpPr>
        <p:spPr>
          <a:xfrm>
            <a:off x="7735824" y="3310128"/>
            <a:ext cx="530352" cy="1508760"/>
          </a:xfrm>
          <a:prstGeom prst="line">
            <a:avLst/>
          </a:prstGeom>
          <a:noFill/>
          <a:ln w="16510">
            <a:solidFill>
              <a:srgbClr val="2F8F48"/>
            </a:solidFill>
            <a:prstDash val="solid"/>
            <a:headEnd type="none"/>
            <a:tailEnd type="triangle"/>
          </a:ln>
        </p:spPr>
      </p:sp>
      <p:sp>
        <p:nvSpPr>
          <p:cNvPr id="76" name="Shape 60"/>
          <p:cNvSpPr/>
          <p:nvPr/>
        </p:nvSpPr>
        <p:spPr>
          <a:xfrm>
            <a:off x="594360" y="5349240"/>
            <a:ext cx="11000232" cy="548640"/>
          </a:xfrm>
          <a:prstGeom prst="roundRect">
            <a:avLst>
              <a:gd name="adj" fmla="val 6667"/>
            </a:avLst>
          </a:prstGeom>
          <a:solidFill>
            <a:srgbClr val="F4F7FA"/>
          </a:solidFill>
          <a:ln w="15875">
            <a:solidFill>
              <a:srgbClr val="DDE5ED"/>
            </a:solidFill>
            <a:prstDash val="solid"/>
          </a:ln>
        </p:spPr>
      </p:sp>
      <p:sp>
        <p:nvSpPr>
          <p:cNvPr id="77" name="Text 61"/>
          <p:cNvSpPr txBox="1"/>
          <p:nvPr/>
        </p:nvSpPr>
        <p:spPr>
          <a:xfrm>
            <a:off x="795528" y="5349240"/>
            <a:ext cx="10597896" cy="548640"/>
          </a:xfrm>
          <a:prstGeom prst="rect">
            <a:avLst/>
          </a:prstGeom>
          <a:noFill/>
          <a:ln/>
        </p:spPr>
        <p:txBody>
          <a:bodyPr wrap="square" lIns="0" tIns="0" rIns="0" bIns="0" rtlCol="0" anchor="ctr"/>
          <a:lstStyle/>
          <a:p>
            <a:pPr indent="0" marL="0">
              <a:buNone/>
            </a:pPr>
            <a:r>
              <a:rPr lang="en-US" sz="950" b="1" dirty="0">
                <a:solidFill>
                  <a:srgbClr val="108494"/>
                </a:solidFill>
                <a:latin typeface="Calibri" pitchFamily="34" charset="0"/>
                <a:ea typeface="Calibri" pitchFamily="34" charset="-122"/>
                <a:cs typeface="Calibri" pitchFamily="34" charset="-120"/>
              </a:rPr>
              <a:t>The common case costs nothing.  </a:t>
            </a:r>
            <a:pPr indent="0" marL="0">
              <a:buNone/>
            </a:pPr>
            <a:r>
              <a:rPr lang="en-US" sz="950" dirty="0">
                <a:solidFill>
                  <a:srgbClr val="43566B"/>
                </a:solidFill>
                <a:latin typeface="Calibri" pitchFamily="34" charset="0"/>
                <a:ea typeface="Calibri" pitchFamily="34" charset="-122"/>
                <a:cs typeface="Calibri" pitchFamily="34" charset="-120"/>
              </a:rPr>
              <a:t>No matching evidence ends the graph with an explicit “not disclosed” and zero LLM calls — which is what makes a 4,000-company run affordable.</a:t>
            </a:r>
            <a:endParaRPr lang="en-US" sz="950" dirty="0"/>
          </a:p>
        </p:txBody>
      </p:sp>
      <p:sp>
        <p:nvSpPr>
          <p:cNvPr id="78" name="Shape 62"/>
          <p:cNvSpPr/>
          <p:nvPr/>
        </p:nvSpPr>
        <p:spPr>
          <a:xfrm>
            <a:off x="594360" y="6172200"/>
            <a:ext cx="155448" cy="155448"/>
          </a:xfrm>
          <a:prstGeom prst="roundRect">
            <a:avLst>
              <a:gd name="adj" fmla="val 29412"/>
            </a:avLst>
          </a:prstGeom>
          <a:solidFill>
            <a:srgbClr val="2F6FD0"/>
          </a:solidFill>
          <a:ln/>
        </p:spPr>
      </p:sp>
      <p:sp>
        <p:nvSpPr>
          <p:cNvPr id="79" name="Text 63"/>
          <p:cNvSpPr txBox="1"/>
          <p:nvPr/>
        </p:nvSpPr>
        <p:spPr>
          <a:xfrm>
            <a:off x="813816" y="6144768"/>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source / input</a:t>
            </a:r>
            <a:endParaRPr lang="en-US" sz="880" dirty="0"/>
          </a:p>
        </p:txBody>
      </p:sp>
      <p:sp>
        <p:nvSpPr>
          <p:cNvPr id="80" name="Shape 64"/>
          <p:cNvSpPr/>
          <p:nvPr/>
        </p:nvSpPr>
        <p:spPr>
          <a:xfrm>
            <a:off x="2427732" y="6172200"/>
            <a:ext cx="155448" cy="155448"/>
          </a:xfrm>
          <a:prstGeom prst="roundRect">
            <a:avLst>
              <a:gd name="adj" fmla="val 29412"/>
            </a:avLst>
          </a:prstGeom>
          <a:solidFill>
            <a:srgbClr val="108494"/>
          </a:solidFill>
          <a:ln/>
        </p:spPr>
      </p:sp>
      <p:sp>
        <p:nvSpPr>
          <p:cNvPr id="81" name="Text 65"/>
          <p:cNvSpPr txBox="1"/>
          <p:nvPr/>
        </p:nvSpPr>
        <p:spPr>
          <a:xfrm>
            <a:off x="2647188" y="6144768"/>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deterministic step</a:t>
            </a:r>
            <a:endParaRPr lang="en-US" sz="880" dirty="0"/>
          </a:p>
        </p:txBody>
      </p:sp>
      <p:sp>
        <p:nvSpPr>
          <p:cNvPr id="82" name="Shape 66"/>
          <p:cNvSpPr/>
          <p:nvPr/>
        </p:nvSpPr>
        <p:spPr>
          <a:xfrm>
            <a:off x="4261104" y="6172200"/>
            <a:ext cx="155448" cy="155448"/>
          </a:xfrm>
          <a:prstGeom prst="roundRect">
            <a:avLst>
              <a:gd name="adj" fmla="val 29412"/>
            </a:avLst>
          </a:prstGeom>
          <a:solidFill>
            <a:srgbClr val="6D4DD1"/>
          </a:solidFill>
          <a:ln/>
        </p:spPr>
      </p:sp>
      <p:sp>
        <p:nvSpPr>
          <p:cNvPr id="83" name="Text 67"/>
          <p:cNvSpPr txBox="1"/>
          <p:nvPr/>
        </p:nvSpPr>
        <p:spPr>
          <a:xfrm>
            <a:off x="4480560" y="6144768"/>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LLM agent</a:t>
            </a:r>
            <a:endParaRPr lang="en-US" sz="880" dirty="0"/>
          </a:p>
        </p:txBody>
      </p:sp>
      <p:sp>
        <p:nvSpPr>
          <p:cNvPr id="84" name="Shape 68"/>
          <p:cNvSpPr/>
          <p:nvPr/>
        </p:nvSpPr>
        <p:spPr>
          <a:xfrm>
            <a:off x="6094476" y="6172200"/>
            <a:ext cx="155448" cy="155448"/>
          </a:xfrm>
          <a:prstGeom prst="roundRect">
            <a:avLst>
              <a:gd name="adj" fmla="val 29412"/>
            </a:avLst>
          </a:prstGeom>
          <a:solidFill>
            <a:srgbClr val="C9871B"/>
          </a:solidFill>
          <a:ln/>
        </p:spPr>
      </p:sp>
      <p:sp>
        <p:nvSpPr>
          <p:cNvPr id="85" name="Text 69"/>
          <p:cNvSpPr txBox="1"/>
          <p:nvPr/>
        </p:nvSpPr>
        <p:spPr>
          <a:xfrm>
            <a:off x="6313932" y="6144768"/>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gate or check</a:t>
            </a:r>
            <a:endParaRPr lang="en-US" sz="880" dirty="0"/>
          </a:p>
        </p:txBody>
      </p:sp>
      <p:sp>
        <p:nvSpPr>
          <p:cNvPr id="86" name="Shape 70"/>
          <p:cNvSpPr/>
          <p:nvPr/>
        </p:nvSpPr>
        <p:spPr>
          <a:xfrm>
            <a:off x="7927848" y="6172200"/>
            <a:ext cx="155448" cy="155448"/>
          </a:xfrm>
          <a:prstGeom prst="roundRect">
            <a:avLst>
              <a:gd name="adj" fmla="val 29412"/>
            </a:avLst>
          </a:prstGeom>
          <a:solidFill>
            <a:srgbClr val="CE3D64"/>
          </a:solidFill>
          <a:ln/>
        </p:spPr>
      </p:sp>
      <p:sp>
        <p:nvSpPr>
          <p:cNvPr id="87" name="Text 71"/>
          <p:cNvSpPr txBox="1"/>
          <p:nvPr/>
        </p:nvSpPr>
        <p:spPr>
          <a:xfrm>
            <a:off x="8147304" y="6144768"/>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human decision</a:t>
            </a:r>
            <a:endParaRPr lang="en-US" sz="880" dirty="0"/>
          </a:p>
        </p:txBody>
      </p:sp>
      <p:sp>
        <p:nvSpPr>
          <p:cNvPr id="88" name="Shape 72"/>
          <p:cNvSpPr/>
          <p:nvPr/>
        </p:nvSpPr>
        <p:spPr>
          <a:xfrm>
            <a:off x="9761220" y="6172200"/>
            <a:ext cx="155448" cy="155448"/>
          </a:xfrm>
          <a:prstGeom prst="roundRect">
            <a:avLst>
              <a:gd name="adj" fmla="val 29412"/>
            </a:avLst>
          </a:prstGeom>
          <a:solidFill>
            <a:srgbClr val="2F8F48"/>
          </a:solidFill>
          <a:ln/>
        </p:spPr>
      </p:sp>
      <p:sp>
        <p:nvSpPr>
          <p:cNvPr id="89" name="Text 73"/>
          <p:cNvSpPr txBox="1"/>
          <p:nvPr/>
        </p:nvSpPr>
        <p:spPr>
          <a:xfrm>
            <a:off x="9980676" y="6144768"/>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stored output</a:t>
            </a:r>
            <a:endParaRPr lang="en-US" sz="88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438912"/>
            <a:ext cx="10085832" cy="201168"/>
          </a:xfrm>
          <a:prstGeom prst="rect">
            <a:avLst/>
          </a:prstGeom>
          <a:noFill/>
          <a:ln/>
        </p:spPr>
        <p:txBody>
          <a:bodyPr wrap="square" lIns="0" tIns="0" rIns="0" bIns="0" rtlCol="0" anchor="ctr"/>
          <a:lstStyle/>
          <a:p>
            <a:pPr indent="0" marL="0">
              <a:buNone/>
            </a:pPr>
            <a:r>
              <a:rPr lang="en-US" sz="1050" b="1" spc="200" kern="0" dirty="0">
                <a:solidFill>
                  <a:srgbClr val="108494"/>
                </a:solidFill>
                <a:latin typeface="Calibri" pitchFamily="34" charset="0"/>
                <a:ea typeface="Calibri" pitchFamily="34" charset="-122"/>
                <a:cs typeface="Calibri" pitchFamily="34" charset="-120"/>
              </a:rPr>
              <a:t>01   ·   ARCHITECTURE &amp; PROCESS</a:t>
            </a:r>
            <a:endParaRPr lang="en-US" sz="1050" dirty="0"/>
          </a:p>
        </p:txBody>
      </p:sp>
      <p:sp>
        <p:nvSpPr>
          <p:cNvPr id="3" name="Text 1"/>
          <p:cNvSpPr txBox="1"/>
          <p:nvPr/>
        </p:nvSpPr>
        <p:spPr>
          <a:xfrm>
            <a:off x="594360" y="640080"/>
            <a:ext cx="10085832" cy="484632"/>
          </a:xfrm>
          <a:prstGeom prst="rect">
            <a:avLst/>
          </a:prstGeom>
          <a:noFill/>
          <a:ln/>
        </p:spPr>
        <p:txBody>
          <a:bodyPr wrap="square" lIns="0" tIns="0" rIns="0" bIns="0" rtlCol="0" anchor="ctr"/>
          <a:lstStyle/>
          <a:p>
            <a:pPr indent="0" marL="0">
              <a:buNone/>
            </a:pPr>
            <a:r>
              <a:rPr lang="en-US" sz="3000" b="1" dirty="0">
                <a:solidFill>
                  <a:srgbClr val="10243A"/>
                </a:solidFill>
                <a:latin typeface="Cambria" pitchFamily="34" charset="0"/>
                <a:ea typeface="Cambria" pitchFamily="34" charset="-122"/>
                <a:cs typeface="Cambria" pitchFamily="34" charset="-120"/>
              </a:rPr>
              <a:t>Extraction: how a field is filled</a:t>
            </a:r>
            <a:endParaRPr lang="en-US" sz="3000" dirty="0"/>
          </a:p>
        </p:txBody>
      </p:sp>
      <p:sp>
        <p:nvSpPr>
          <p:cNvPr id="4" name="Text 2"/>
          <p:cNvSpPr txBox="1"/>
          <p:nvPr/>
        </p:nvSpPr>
        <p:spPr>
          <a:xfrm>
            <a:off x="594360" y="1143000"/>
            <a:ext cx="9994392" cy="274320"/>
          </a:xfrm>
          <a:prstGeom prst="rect">
            <a:avLst/>
          </a:prstGeom>
          <a:noFill/>
          <a:ln/>
        </p:spPr>
        <p:txBody>
          <a:bodyPr wrap="square" lIns="0" tIns="0" rIns="0" bIns="0" rtlCol="0" anchor="ctr"/>
          <a:lstStyle/>
          <a:p>
            <a:pPr indent="0" marL="0">
              <a:buNone/>
            </a:pPr>
            <a:r>
              <a:rPr lang="en-US" sz="1200" dirty="0">
                <a:solidFill>
                  <a:srgbClr val="58697A"/>
                </a:solidFill>
                <a:latin typeface="Calibri" pitchFamily="34" charset="0"/>
                <a:ea typeface="Calibri" pitchFamily="34" charset="-122"/>
                <a:cs typeface="Calibri" pitchFamily="34" charset="-120"/>
              </a:rPr>
              <a:t>One LangGraph state graph per company per field, wrapped in the shared batch runner.</a:t>
            </a:r>
            <a:endParaRPr lang="en-US" sz="1200" dirty="0"/>
          </a:p>
        </p:txBody>
      </p:sp>
      <p:sp>
        <p:nvSpPr>
          <p:cNvPr id="5" name="Shape 3"/>
          <p:cNvSpPr/>
          <p:nvPr/>
        </p:nvSpPr>
        <p:spPr>
          <a:xfrm>
            <a:off x="10881360" y="475488"/>
            <a:ext cx="713232" cy="713232"/>
          </a:xfrm>
          <a:prstGeom prst="roundRect">
            <a:avLst>
              <a:gd name="adj" fmla="val 20513"/>
            </a:avLst>
          </a:prstGeom>
          <a:solidFill>
            <a:srgbClr val="10243A"/>
          </a:solidFill>
          <a:ln/>
        </p:spPr>
      </p:sp>
      <p:pic>
        <p:nvPicPr>
          <p:cNvPr id="6" name="Image 0" descr="preencoded.png">    </p:cNvPr>
          <p:cNvPicPr>
            <a:picLocks noChangeAspect="1"/>
          </p:cNvPicPr>
          <p:nvPr/>
        </p:nvPicPr>
        <p:blipFill>
          <a:blip r:embed="rId1"/>
          <a:stretch>
            <a:fillRect/>
          </a:stretch>
        </p:blipFill>
        <p:spPr>
          <a:xfrm>
            <a:off x="11038271" y="632399"/>
            <a:ext cx="399410" cy="399410"/>
          </a:xfrm>
          <a:prstGeom prst="rect">
            <a:avLst/>
          </a:prstGeom>
        </p:spPr>
      </p:pic>
      <p:sp>
        <p:nvSpPr>
          <p:cNvPr id="7" name="Shape 4"/>
          <p:cNvSpPr/>
          <p:nvPr/>
        </p:nvSpPr>
        <p:spPr>
          <a:xfrm>
            <a:off x="594360" y="1517904"/>
            <a:ext cx="11000232" cy="402336"/>
          </a:xfrm>
          <a:prstGeom prst="roundRect">
            <a:avLst>
              <a:gd name="adj" fmla="val 9091"/>
            </a:avLst>
          </a:prstGeom>
          <a:solidFill>
            <a:srgbClr val="E7EDF3"/>
          </a:solidFill>
          <a:ln w="15875">
            <a:solidFill>
              <a:srgbClr val="AFC0D0"/>
            </a:solidFill>
            <a:prstDash val="solid"/>
          </a:ln>
        </p:spPr>
      </p:sp>
      <p:sp>
        <p:nvSpPr>
          <p:cNvPr id="8" name="Text 5"/>
          <p:cNvSpPr txBox="1"/>
          <p:nvPr/>
        </p:nvSpPr>
        <p:spPr>
          <a:xfrm>
            <a:off x="795528" y="1517904"/>
            <a:ext cx="10597896" cy="402336"/>
          </a:xfrm>
          <a:prstGeom prst="rect">
            <a:avLst/>
          </a:prstGeom>
          <a:noFill/>
          <a:ln/>
        </p:spPr>
        <p:txBody>
          <a:bodyPr wrap="square" lIns="0" tIns="0" rIns="0" bIns="0" rtlCol="0" anchor="ctr"/>
          <a:lstStyle/>
          <a:p>
            <a:pPr indent="0" marL="0">
              <a:buNone/>
            </a:pPr>
            <a:r>
              <a:rPr lang="en-US" sz="920" b="1" dirty="0">
                <a:solidFill>
                  <a:srgbClr val="24354A"/>
                </a:solidFill>
                <a:latin typeface="Calibri" pitchFamily="34" charset="0"/>
                <a:ea typeface="Calibri" pitchFamily="34" charset="-122"/>
                <a:cs typeface="Calibri" pitchFamily="34" charset="-120"/>
              </a:rPr>
              <a:t>run_batch  —  </a:t>
            </a:r>
            <a:pPr indent="0" marL="0">
              <a:buNone/>
            </a:pPr>
            <a:r>
              <a:rPr lang="en-US" sz="920" dirty="0">
                <a:solidFill>
                  <a:srgbClr val="43566B"/>
                </a:solidFill>
                <a:latin typeface="Calibri" pitchFamily="34" charset="0"/>
                <a:ea typeface="Calibri" pitchFamily="34" charset="-122"/>
                <a:cs typeface="Calibri" pitchFamily="34" charset="-120"/>
              </a:rPr>
              <a:t>bounded concurrency  ·  one isolated work item per company  ·  a checkpoint written the moment an item finishes  ·  cancel and resume</a:t>
            </a:r>
            <a:endParaRPr lang="en-US" sz="920" dirty="0"/>
          </a:p>
        </p:txBody>
      </p:sp>
      <p:sp>
        <p:nvSpPr>
          <p:cNvPr id="9" name="Shape 6"/>
          <p:cNvSpPr/>
          <p:nvPr/>
        </p:nvSpPr>
        <p:spPr>
          <a:xfrm>
            <a:off x="594360" y="2286000"/>
            <a:ext cx="1907438" cy="786384"/>
          </a:xfrm>
          <a:prstGeom prst="roundRect">
            <a:avLst>
              <a:gd name="adj" fmla="val 11628"/>
            </a:avLst>
          </a:prstGeom>
          <a:solidFill>
            <a:srgbClr val="E3EDFC"/>
          </a:solidFill>
          <a:ln w="15875">
            <a:solidFill>
              <a:srgbClr val="2F6FD0"/>
            </a:solidFill>
            <a:prstDash val="solid"/>
          </a:ln>
          <a:effectLst>
            <a:outerShdw sx="100000" sy="100000" kx="0" ky="0" algn="bl" rotWithShape="0" blurRad="101600" dist="19050" dir="5400000">
              <a:srgbClr val="9FB0C2">
                <a:alpha val="24000"/>
              </a:srgbClr>
            </a:outerShdw>
          </a:effectLst>
        </p:spPr>
      </p:sp>
      <p:pic>
        <p:nvPicPr>
          <p:cNvPr id="10" name="Image 1" descr="preencoded.png">    </p:cNvPr>
          <p:cNvPicPr>
            <a:picLocks noChangeAspect="1"/>
          </p:cNvPicPr>
          <p:nvPr/>
        </p:nvPicPr>
        <p:blipFill>
          <a:blip r:embed="rId2"/>
          <a:stretch>
            <a:fillRect/>
          </a:stretch>
        </p:blipFill>
        <p:spPr>
          <a:xfrm>
            <a:off x="713232" y="2386584"/>
            <a:ext cx="182880" cy="182880"/>
          </a:xfrm>
          <a:prstGeom prst="rect">
            <a:avLst/>
          </a:prstGeom>
        </p:spPr>
      </p:pic>
      <p:sp>
        <p:nvSpPr>
          <p:cNvPr id="11" name="Text 7"/>
          <p:cNvSpPr txBox="1"/>
          <p:nvPr/>
        </p:nvSpPr>
        <p:spPr>
          <a:xfrm>
            <a:off x="685800" y="2286000"/>
            <a:ext cx="1724558" cy="786384"/>
          </a:xfrm>
          <a:prstGeom prst="rect">
            <a:avLst/>
          </a:prstGeom>
          <a:noFill/>
          <a:ln/>
        </p:spPr>
        <p:txBody>
          <a:bodyPr wrap="square" lIns="0" tIns="0" rIns="0" bIns="0" rtlCol="0" anchor="ctr"/>
          <a:lstStyle/>
          <a:p>
            <a:pPr algn="ctr" indent="0" marL="0">
              <a:lnSpc>
                <a:spcPct val="104000"/>
              </a:lnSpc>
              <a:buNone/>
            </a:pPr>
            <a:r>
              <a:rPr lang="en-US" sz="1050" b="1" dirty="0">
                <a:solidFill>
                  <a:srgbClr val="153A61"/>
                </a:solidFill>
                <a:latin typeface="Calibri" pitchFamily="34" charset="0"/>
                <a:ea typeface="Calibri" pitchFamily="34" charset="-122"/>
                <a:cs typeface="Calibri" pitchFamily="34" charset="-120"/>
              </a:rPr>
              <a:t>Fetch &amp; parse</a:t>
            </a:r>
            <a:endParaRPr lang="en-US" sz="1050" dirty="0"/>
          </a:p>
          <a:p>
            <a:pPr algn="ctr" indent="0" marL="0">
              <a:lnSpc>
                <a:spcPct val="104000"/>
              </a:lnSpc>
              <a:buNone/>
            </a:pPr>
            <a:r>
              <a:rPr lang="en-US" sz="800" dirty="0">
                <a:solidFill>
                  <a:srgbClr val="153A61"/>
                </a:solidFill>
                <a:latin typeface="Calibri" pitchFamily="34" charset="0"/>
                <a:ea typeface="Calibri" pitchFamily="34" charset="-122"/>
                <a:cs typeface="Calibri" pitchFamily="34" charset="-120"/>
              </a:rPr>
              <a:t>one registry, cached by content hash</a:t>
            </a:r>
            <a:endParaRPr lang="en-US" sz="1050" dirty="0"/>
          </a:p>
        </p:txBody>
      </p:sp>
      <p:sp>
        <p:nvSpPr>
          <p:cNvPr id="12" name="Shape 8"/>
          <p:cNvSpPr/>
          <p:nvPr/>
        </p:nvSpPr>
        <p:spPr>
          <a:xfrm>
            <a:off x="2556662" y="2679192"/>
            <a:ext cx="256032" cy="0"/>
          </a:xfrm>
          <a:prstGeom prst="line">
            <a:avLst/>
          </a:prstGeom>
          <a:noFill/>
          <a:ln w="21590">
            <a:solidFill>
              <a:srgbClr val="64798F"/>
            </a:solidFill>
            <a:prstDash val="solid"/>
            <a:headEnd type="none"/>
            <a:tailEnd type="triangle"/>
          </a:ln>
        </p:spPr>
      </p:sp>
      <p:sp>
        <p:nvSpPr>
          <p:cNvPr id="13" name="Shape 9"/>
          <p:cNvSpPr/>
          <p:nvPr/>
        </p:nvSpPr>
        <p:spPr>
          <a:xfrm>
            <a:off x="2867558" y="2286000"/>
            <a:ext cx="1907438" cy="786384"/>
          </a:xfrm>
          <a:prstGeom prst="roundRect">
            <a:avLst>
              <a:gd name="adj" fmla="val 11628"/>
            </a:avLst>
          </a:prstGeom>
          <a:solidFill>
            <a:srgbClr val="DCF2F4"/>
          </a:solidFill>
          <a:ln w="15875">
            <a:solidFill>
              <a:srgbClr val="108494"/>
            </a:solidFill>
            <a:prstDash val="solid"/>
          </a:ln>
          <a:effectLst>
            <a:outerShdw sx="100000" sy="100000" kx="0" ky="0" algn="bl" rotWithShape="0" blurRad="101600" dist="19050" dir="5400000">
              <a:srgbClr val="9FB0C2">
                <a:alpha val="24000"/>
              </a:srgbClr>
            </a:outerShdw>
          </a:effectLst>
        </p:spPr>
      </p:sp>
      <p:pic>
        <p:nvPicPr>
          <p:cNvPr id="14" name="Image 2" descr="preencoded.png">    </p:cNvPr>
          <p:cNvPicPr>
            <a:picLocks noChangeAspect="1"/>
          </p:cNvPicPr>
          <p:nvPr/>
        </p:nvPicPr>
        <p:blipFill>
          <a:blip r:embed="rId3"/>
          <a:stretch>
            <a:fillRect/>
          </a:stretch>
        </p:blipFill>
        <p:spPr>
          <a:xfrm>
            <a:off x="2986430" y="2386584"/>
            <a:ext cx="182880" cy="182880"/>
          </a:xfrm>
          <a:prstGeom prst="rect">
            <a:avLst/>
          </a:prstGeom>
        </p:spPr>
      </p:pic>
      <p:sp>
        <p:nvSpPr>
          <p:cNvPr id="15" name="Text 10"/>
          <p:cNvSpPr txBox="1"/>
          <p:nvPr/>
        </p:nvSpPr>
        <p:spPr>
          <a:xfrm>
            <a:off x="2958998" y="2286000"/>
            <a:ext cx="1724558" cy="786384"/>
          </a:xfrm>
          <a:prstGeom prst="rect">
            <a:avLst/>
          </a:prstGeom>
          <a:noFill/>
          <a:ln/>
        </p:spPr>
        <p:txBody>
          <a:bodyPr wrap="square" lIns="0" tIns="0" rIns="0" bIns="0" rtlCol="0" anchor="ctr"/>
          <a:lstStyle/>
          <a:p>
            <a:pPr algn="ctr" indent="0" marL="0">
              <a:lnSpc>
                <a:spcPct val="104000"/>
              </a:lnSpc>
              <a:buNone/>
            </a:pPr>
            <a:r>
              <a:rPr lang="en-US" sz="1050" b="1" dirty="0">
                <a:solidFill>
                  <a:srgbClr val="0A4451"/>
                </a:solidFill>
                <a:latin typeface="Calibri" pitchFamily="34" charset="0"/>
                <a:ea typeface="Calibri" pitchFamily="34" charset="-122"/>
                <a:cs typeface="Calibri" pitchFamily="34" charset="-120"/>
              </a:rPr>
              <a:t>Select evidence</a:t>
            </a:r>
            <a:endParaRPr lang="en-US" sz="1050" dirty="0"/>
          </a:p>
          <a:p>
            <a:pPr algn="ctr" indent="0" marL="0">
              <a:lnSpc>
                <a:spcPct val="104000"/>
              </a:lnSpc>
              <a:buNone/>
            </a:pPr>
            <a:r>
              <a:rPr lang="en-US" sz="800" dirty="0">
                <a:solidFill>
                  <a:srgbClr val="0A4451"/>
                </a:solidFill>
                <a:latin typeface="Calibri" pitchFamily="34" charset="0"/>
                <a:ea typeface="Calibri" pitchFamily="34" charset="-122"/>
                <a:cs typeface="Calibri" pitchFamily="34" charset="-120"/>
              </a:rPr>
              <a:t>keyword prefilter → BM25 + embeddings</a:t>
            </a:r>
            <a:endParaRPr lang="en-US" sz="1050" dirty="0"/>
          </a:p>
        </p:txBody>
      </p:sp>
      <p:sp>
        <p:nvSpPr>
          <p:cNvPr id="16" name="Shape 11"/>
          <p:cNvSpPr/>
          <p:nvPr/>
        </p:nvSpPr>
        <p:spPr>
          <a:xfrm>
            <a:off x="4829861" y="2679192"/>
            <a:ext cx="256032" cy="0"/>
          </a:xfrm>
          <a:prstGeom prst="line">
            <a:avLst/>
          </a:prstGeom>
          <a:noFill/>
          <a:ln w="21590">
            <a:solidFill>
              <a:srgbClr val="64798F"/>
            </a:solidFill>
            <a:prstDash val="solid"/>
            <a:headEnd type="none"/>
            <a:tailEnd type="triangle"/>
          </a:ln>
        </p:spPr>
      </p:sp>
      <p:sp>
        <p:nvSpPr>
          <p:cNvPr id="17" name="Shape 12"/>
          <p:cNvSpPr/>
          <p:nvPr/>
        </p:nvSpPr>
        <p:spPr>
          <a:xfrm>
            <a:off x="5140757" y="2286000"/>
            <a:ext cx="1907438" cy="786384"/>
          </a:xfrm>
          <a:prstGeom prst="roundRect">
            <a:avLst>
              <a:gd name="adj" fmla="val 11628"/>
            </a:avLst>
          </a:prstGeom>
          <a:solidFill>
            <a:srgbClr val="EBE5FC"/>
          </a:solidFill>
          <a:ln w="15875">
            <a:solidFill>
              <a:srgbClr val="6D4DD1"/>
            </a:solidFill>
            <a:prstDash val="solid"/>
          </a:ln>
          <a:effectLst>
            <a:outerShdw sx="100000" sy="100000" kx="0" ky="0" algn="bl" rotWithShape="0" blurRad="101600" dist="19050" dir="5400000">
              <a:srgbClr val="9FB0C2">
                <a:alpha val="24000"/>
              </a:srgbClr>
            </a:outerShdw>
          </a:effectLst>
        </p:spPr>
      </p:sp>
      <p:pic>
        <p:nvPicPr>
          <p:cNvPr id="18" name="Image 3" descr="preencoded.png">    </p:cNvPr>
          <p:cNvPicPr>
            <a:picLocks noChangeAspect="1"/>
          </p:cNvPicPr>
          <p:nvPr/>
        </p:nvPicPr>
        <p:blipFill>
          <a:blip r:embed="rId4"/>
          <a:stretch>
            <a:fillRect/>
          </a:stretch>
        </p:blipFill>
        <p:spPr>
          <a:xfrm>
            <a:off x="5259629" y="2386584"/>
            <a:ext cx="182880" cy="182880"/>
          </a:xfrm>
          <a:prstGeom prst="rect">
            <a:avLst/>
          </a:prstGeom>
        </p:spPr>
      </p:pic>
      <p:sp>
        <p:nvSpPr>
          <p:cNvPr id="19" name="Text 13"/>
          <p:cNvSpPr txBox="1"/>
          <p:nvPr/>
        </p:nvSpPr>
        <p:spPr>
          <a:xfrm>
            <a:off x="5232197" y="2286000"/>
            <a:ext cx="1724558" cy="786384"/>
          </a:xfrm>
          <a:prstGeom prst="rect">
            <a:avLst/>
          </a:prstGeom>
          <a:noFill/>
          <a:ln/>
        </p:spPr>
        <p:txBody>
          <a:bodyPr wrap="square" lIns="0" tIns="0" rIns="0" bIns="0" rtlCol="0" anchor="ctr"/>
          <a:lstStyle/>
          <a:p>
            <a:pPr algn="ctr" indent="0" marL="0">
              <a:lnSpc>
                <a:spcPct val="104000"/>
              </a:lnSpc>
              <a:buNone/>
            </a:pPr>
            <a:r>
              <a:rPr lang="en-US" sz="1050" b="1" dirty="0">
                <a:solidFill>
                  <a:srgbClr val="35236E"/>
                </a:solidFill>
                <a:latin typeface="Calibri" pitchFamily="34" charset="0"/>
                <a:ea typeface="Calibri" pitchFamily="34" charset="-122"/>
                <a:cs typeface="Calibri" pitchFamily="34" charset="-120"/>
              </a:rPr>
              <a:t>Extract</a:t>
            </a:r>
            <a:endParaRPr lang="en-US" sz="1050" dirty="0"/>
          </a:p>
          <a:p>
            <a:pPr algn="ctr" indent="0" marL="0">
              <a:lnSpc>
                <a:spcPct val="104000"/>
              </a:lnSpc>
              <a:buNone/>
            </a:pPr>
            <a:r>
              <a:rPr lang="en-US" sz="800" dirty="0">
                <a:solidFill>
                  <a:srgbClr val="35236E"/>
                </a:solidFill>
                <a:latin typeface="Calibri" pitchFamily="34" charset="0"/>
                <a:ea typeface="Calibri" pitchFamily="34" charset="-122"/>
                <a:cs typeface="Calibri" pitchFamily="34" charset="-120"/>
              </a:rPr>
              <a:t>schema-forced, validation retry</a:t>
            </a:r>
            <a:endParaRPr lang="en-US" sz="1050" dirty="0"/>
          </a:p>
        </p:txBody>
      </p:sp>
      <p:sp>
        <p:nvSpPr>
          <p:cNvPr id="20" name="Shape 14"/>
          <p:cNvSpPr/>
          <p:nvPr/>
        </p:nvSpPr>
        <p:spPr>
          <a:xfrm>
            <a:off x="7103059" y="2679192"/>
            <a:ext cx="256032" cy="0"/>
          </a:xfrm>
          <a:prstGeom prst="line">
            <a:avLst/>
          </a:prstGeom>
          <a:noFill/>
          <a:ln w="21590">
            <a:solidFill>
              <a:srgbClr val="64798F"/>
            </a:solidFill>
            <a:prstDash val="solid"/>
            <a:headEnd type="none"/>
            <a:tailEnd type="triangle"/>
          </a:ln>
        </p:spPr>
      </p:sp>
      <p:sp>
        <p:nvSpPr>
          <p:cNvPr id="21" name="Shape 15"/>
          <p:cNvSpPr/>
          <p:nvPr/>
        </p:nvSpPr>
        <p:spPr>
          <a:xfrm>
            <a:off x="7413955" y="2286000"/>
            <a:ext cx="1907438" cy="786384"/>
          </a:xfrm>
          <a:prstGeom prst="roundRect">
            <a:avLst>
              <a:gd name="adj" fmla="val 11628"/>
            </a:avLst>
          </a:prstGeom>
          <a:solidFill>
            <a:srgbClr val="EBE5FC"/>
          </a:solidFill>
          <a:ln w="15875">
            <a:solidFill>
              <a:srgbClr val="6D4DD1"/>
            </a:solidFill>
            <a:prstDash val="solid"/>
          </a:ln>
          <a:effectLst>
            <a:outerShdw sx="100000" sy="100000" kx="0" ky="0" algn="bl" rotWithShape="0" blurRad="101600" dist="19050" dir="5400000">
              <a:srgbClr val="9FB0C2">
                <a:alpha val="24000"/>
              </a:srgbClr>
            </a:outerShdw>
          </a:effectLst>
        </p:spPr>
      </p:sp>
      <p:pic>
        <p:nvPicPr>
          <p:cNvPr id="22" name="Image 4" descr="preencoded.png">    </p:cNvPr>
          <p:cNvPicPr>
            <a:picLocks noChangeAspect="1"/>
          </p:cNvPicPr>
          <p:nvPr/>
        </p:nvPicPr>
        <p:blipFill>
          <a:blip r:embed="rId5"/>
          <a:stretch>
            <a:fillRect/>
          </a:stretch>
        </p:blipFill>
        <p:spPr>
          <a:xfrm>
            <a:off x="7532827" y="2386584"/>
            <a:ext cx="182880" cy="182880"/>
          </a:xfrm>
          <a:prstGeom prst="rect">
            <a:avLst/>
          </a:prstGeom>
        </p:spPr>
      </p:pic>
      <p:sp>
        <p:nvSpPr>
          <p:cNvPr id="23" name="Text 16"/>
          <p:cNvSpPr txBox="1"/>
          <p:nvPr/>
        </p:nvSpPr>
        <p:spPr>
          <a:xfrm>
            <a:off x="7505395" y="2286000"/>
            <a:ext cx="1724558" cy="786384"/>
          </a:xfrm>
          <a:prstGeom prst="rect">
            <a:avLst/>
          </a:prstGeom>
          <a:noFill/>
          <a:ln/>
        </p:spPr>
        <p:txBody>
          <a:bodyPr wrap="square" lIns="0" tIns="0" rIns="0" bIns="0" rtlCol="0" anchor="ctr"/>
          <a:lstStyle/>
          <a:p>
            <a:pPr algn="ctr" indent="0" marL="0">
              <a:lnSpc>
                <a:spcPct val="104000"/>
              </a:lnSpc>
              <a:buNone/>
            </a:pPr>
            <a:r>
              <a:rPr lang="en-US" sz="1050" b="1" dirty="0">
                <a:solidFill>
                  <a:srgbClr val="35236E"/>
                </a:solidFill>
                <a:latin typeface="Calibri" pitchFamily="34" charset="0"/>
                <a:ea typeface="Calibri" pitchFamily="34" charset="-122"/>
                <a:cs typeface="Calibri" pitchFamily="34" charset="-120"/>
              </a:rPr>
              <a:t>Verify</a:t>
            </a:r>
            <a:endParaRPr lang="en-US" sz="1050" dirty="0"/>
          </a:p>
          <a:p>
            <a:pPr algn="ctr" indent="0" marL="0">
              <a:lnSpc>
                <a:spcPct val="104000"/>
              </a:lnSpc>
              <a:buNone/>
            </a:pPr>
            <a:r>
              <a:rPr lang="en-US" sz="800" dirty="0">
                <a:solidFill>
                  <a:srgbClr val="35236E"/>
                </a:solidFill>
                <a:latin typeface="Calibri" pitchFamily="34" charset="0"/>
                <a:ea typeface="Calibri" pitchFamily="34" charset="-122"/>
                <a:cs typeface="Calibri" pitchFamily="34" charset="-120"/>
              </a:rPr>
              <a:t>different model, told to disagree</a:t>
            </a:r>
            <a:endParaRPr lang="en-US" sz="1050" dirty="0"/>
          </a:p>
        </p:txBody>
      </p:sp>
      <p:sp>
        <p:nvSpPr>
          <p:cNvPr id="24" name="Shape 17"/>
          <p:cNvSpPr/>
          <p:nvPr/>
        </p:nvSpPr>
        <p:spPr>
          <a:xfrm>
            <a:off x="9376258" y="2679192"/>
            <a:ext cx="256032" cy="0"/>
          </a:xfrm>
          <a:prstGeom prst="line">
            <a:avLst/>
          </a:prstGeom>
          <a:noFill/>
          <a:ln w="21590">
            <a:solidFill>
              <a:srgbClr val="64798F"/>
            </a:solidFill>
            <a:prstDash val="solid"/>
            <a:headEnd type="none"/>
            <a:tailEnd type="triangle"/>
          </a:ln>
        </p:spPr>
      </p:sp>
      <p:sp>
        <p:nvSpPr>
          <p:cNvPr id="25" name="Shape 18"/>
          <p:cNvSpPr/>
          <p:nvPr/>
        </p:nvSpPr>
        <p:spPr>
          <a:xfrm>
            <a:off x="9687154" y="2286000"/>
            <a:ext cx="1907438" cy="786384"/>
          </a:xfrm>
          <a:prstGeom prst="roundRect">
            <a:avLst>
              <a:gd name="adj" fmla="val 11628"/>
            </a:avLst>
          </a:prstGeom>
          <a:solidFill>
            <a:srgbClr val="FCEDD4"/>
          </a:solidFill>
          <a:ln w="15875">
            <a:solidFill>
              <a:srgbClr val="C9871B"/>
            </a:solidFill>
            <a:prstDash val="solid"/>
          </a:ln>
          <a:effectLst>
            <a:outerShdw sx="100000" sy="100000" kx="0" ky="0" algn="bl" rotWithShape="0" blurRad="101600" dist="19050" dir="5400000">
              <a:srgbClr val="9FB0C2">
                <a:alpha val="24000"/>
              </a:srgbClr>
            </a:outerShdw>
          </a:effectLst>
        </p:spPr>
      </p:sp>
      <p:pic>
        <p:nvPicPr>
          <p:cNvPr id="26" name="Image 5" descr="preencoded.png">    </p:cNvPr>
          <p:cNvPicPr>
            <a:picLocks noChangeAspect="1"/>
          </p:cNvPicPr>
          <p:nvPr/>
        </p:nvPicPr>
        <p:blipFill>
          <a:blip r:embed="rId6"/>
          <a:stretch>
            <a:fillRect/>
          </a:stretch>
        </p:blipFill>
        <p:spPr>
          <a:xfrm>
            <a:off x="9806026" y="2386584"/>
            <a:ext cx="182880" cy="182880"/>
          </a:xfrm>
          <a:prstGeom prst="rect">
            <a:avLst/>
          </a:prstGeom>
        </p:spPr>
      </p:pic>
      <p:sp>
        <p:nvSpPr>
          <p:cNvPr id="27" name="Text 19"/>
          <p:cNvSpPr txBox="1"/>
          <p:nvPr/>
        </p:nvSpPr>
        <p:spPr>
          <a:xfrm>
            <a:off x="9778594" y="2286000"/>
            <a:ext cx="1724558" cy="786384"/>
          </a:xfrm>
          <a:prstGeom prst="rect">
            <a:avLst/>
          </a:prstGeom>
          <a:noFill/>
          <a:ln/>
        </p:spPr>
        <p:txBody>
          <a:bodyPr wrap="square" lIns="0" tIns="0" rIns="0" bIns="0" rtlCol="0" anchor="ctr"/>
          <a:lstStyle/>
          <a:p>
            <a:pPr algn="ctr" indent="0" marL="0">
              <a:lnSpc>
                <a:spcPct val="104000"/>
              </a:lnSpc>
              <a:buNone/>
            </a:pPr>
            <a:r>
              <a:rPr lang="en-US" sz="1050" b="1" dirty="0">
                <a:solidFill>
                  <a:srgbClr val="64430A"/>
                </a:solidFill>
                <a:latin typeface="Calibri" pitchFamily="34" charset="0"/>
                <a:ea typeface="Calibri" pitchFamily="34" charset="-122"/>
                <a:cs typeface="Calibri" pitchFamily="34" charset="-120"/>
              </a:rPr>
              <a:t>Ground</a:t>
            </a:r>
            <a:endParaRPr lang="en-US" sz="1050" dirty="0"/>
          </a:p>
          <a:p>
            <a:pPr algn="ctr" indent="0" marL="0">
              <a:lnSpc>
                <a:spcPct val="104000"/>
              </a:lnSpc>
              <a:buNone/>
            </a:pPr>
            <a:r>
              <a:rPr lang="en-US" sz="800" dirty="0">
                <a:solidFill>
                  <a:srgbClr val="64430A"/>
                </a:solidFill>
                <a:latin typeface="Calibri" pitchFamily="34" charset="0"/>
                <a:ea typeface="Calibri" pitchFamily="34" charset="-122"/>
                <a:cs typeface="Calibri" pitchFamily="34" charset="-120"/>
              </a:rPr>
              <a:t>quote matched against the source</a:t>
            </a:r>
            <a:endParaRPr lang="en-US" sz="1050" dirty="0"/>
          </a:p>
        </p:txBody>
      </p:sp>
      <p:sp>
        <p:nvSpPr>
          <p:cNvPr id="28" name="Shape 20"/>
          <p:cNvSpPr/>
          <p:nvPr/>
        </p:nvSpPr>
        <p:spPr>
          <a:xfrm>
            <a:off x="8367674" y="3108960"/>
            <a:ext cx="0" cy="182880"/>
          </a:xfrm>
          <a:prstGeom prst="line">
            <a:avLst/>
          </a:prstGeom>
          <a:noFill/>
          <a:ln w="15240">
            <a:solidFill>
              <a:srgbClr val="CE3D64"/>
            </a:solidFill>
            <a:prstDash val="dash"/>
            <a:headEnd type="none"/>
            <a:tailEnd type="none"/>
          </a:ln>
        </p:spPr>
      </p:sp>
      <p:sp>
        <p:nvSpPr>
          <p:cNvPr id="29" name="Shape 21"/>
          <p:cNvSpPr/>
          <p:nvPr/>
        </p:nvSpPr>
        <p:spPr>
          <a:xfrm flipH="1">
            <a:off x="6094476" y="3291840"/>
            <a:ext cx="2273198" cy="0"/>
          </a:xfrm>
          <a:prstGeom prst="line">
            <a:avLst/>
          </a:prstGeom>
          <a:noFill/>
          <a:ln w="15240">
            <a:solidFill>
              <a:srgbClr val="CE3D64"/>
            </a:solidFill>
            <a:prstDash val="dash"/>
            <a:headEnd type="none"/>
            <a:tailEnd type="none"/>
          </a:ln>
        </p:spPr>
      </p:sp>
      <p:sp>
        <p:nvSpPr>
          <p:cNvPr id="30" name="Shape 22"/>
          <p:cNvSpPr/>
          <p:nvPr/>
        </p:nvSpPr>
        <p:spPr>
          <a:xfrm flipV="1">
            <a:off x="6094476" y="3108960"/>
            <a:ext cx="0" cy="182880"/>
          </a:xfrm>
          <a:prstGeom prst="line">
            <a:avLst/>
          </a:prstGeom>
          <a:noFill/>
          <a:ln w="15240">
            <a:solidFill>
              <a:srgbClr val="CE3D64"/>
            </a:solidFill>
            <a:prstDash val="dash"/>
            <a:headEnd type="none"/>
            <a:tailEnd type="triangle"/>
          </a:ln>
        </p:spPr>
      </p:sp>
      <p:sp>
        <p:nvSpPr>
          <p:cNvPr id="31" name="Text 23"/>
          <p:cNvSpPr txBox="1"/>
          <p:nvPr/>
        </p:nvSpPr>
        <p:spPr>
          <a:xfrm>
            <a:off x="6094476" y="3346704"/>
            <a:ext cx="2273198" cy="182880"/>
          </a:xfrm>
          <a:prstGeom prst="rect">
            <a:avLst/>
          </a:prstGeom>
          <a:noFill/>
          <a:ln/>
        </p:spPr>
        <p:txBody>
          <a:bodyPr wrap="square" lIns="0" tIns="0" rIns="0" bIns="0" rtlCol="0" anchor="ctr"/>
          <a:lstStyle/>
          <a:p>
            <a:pPr algn="ctr" indent="0" marL="0">
              <a:buNone/>
            </a:pPr>
            <a:r>
              <a:rPr lang="en-US" sz="780" i="1" dirty="0">
                <a:solidFill>
                  <a:srgbClr val="CE3D64"/>
                </a:solidFill>
                <a:latin typeface="Calibri" pitchFamily="34" charset="0"/>
                <a:ea typeface="Calibri" pitchFamily="34" charset="-122"/>
                <a:cs typeface="Calibri" pitchFamily="34" charset="-120"/>
              </a:rPr>
              <a:t>re-extract on a real disagreement</a:t>
            </a:r>
            <a:endParaRPr lang="en-US" sz="780" dirty="0"/>
          </a:p>
        </p:txBody>
      </p:sp>
      <p:sp>
        <p:nvSpPr>
          <p:cNvPr id="32" name="Shape 24"/>
          <p:cNvSpPr/>
          <p:nvPr/>
        </p:nvSpPr>
        <p:spPr>
          <a:xfrm>
            <a:off x="594360" y="4041648"/>
            <a:ext cx="3017520" cy="731520"/>
          </a:xfrm>
          <a:prstGeom prst="roundRect">
            <a:avLst>
              <a:gd name="adj" fmla="val 12500"/>
            </a:avLst>
          </a:prstGeom>
          <a:solidFill>
            <a:srgbClr val="E0F3E3"/>
          </a:solidFill>
          <a:ln w="15875">
            <a:solidFill>
              <a:srgbClr val="2F8F48"/>
            </a:solidFill>
            <a:prstDash val="solid"/>
          </a:ln>
          <a:effectLst>
            <a:outerShdw sx="100000" sy="100000" kx="0" ky="0" algn="bl" rotWithShape="0" blurRad="101600" dist="19050" dir="5400000">
              <a:srgbClr val="9FB0C2">
                <a:alpha val="24000"/>
              </a:srgbClr>
            </a:outerShdw>
          </a:effectLst>
        </p:spPr>
      </p:sp>
      <p:pic>
        <p:nvPicPr>
          <p:cNvPr id="33" name="Image 6" descr="preencoded.png">    </p:cNvPr>
          <p:cNvPicPr>
            <a:picLocks noChangeAspect="1"/>
          </p:cNvPicPr>
          <p:nvPr/>
        </p:nvPicPr>
        <p:blipFill>
          <a:blip r:embed="rId7"/>
          <a:stretch>
            <a:fillRect/>
          </a:stretch>
        </p:blipFill>
        <p:spPr>
          <a:xfrm>
            <a:off x="713232" y="4142232"/>
            <a:ext cx="182880" cy="182880"/>
          </a:xfrm>
          <a:prstGeom prst="rect">
            <a:avLst/>
          </a:prstGeom>
        </p:spPr>
      </p:pic>
      <p:sp>
        <p:nvSpPr>
          <p:cNvPr id="34" name="Text 25"/>
          <p:cNvSpPr txBox="1"/>
          <p:nvPr/>
        </p:nvSpPr>
        <p:spPr>
          <a:xfrm>
            <a:off x="685800" y="4041648"/>
            <a:ext cx="2834640" cy="731520"/>
          </a:xfrm>
          <a:prstGeom prst="rect">
            <a:avLst/>
          </a:prstGeom>
          <a:noFill/>
          <a:ln/>
        </p:spPr>
        <p:txBody>
          <a:bodyPr wrap="square" lIns="0" tIns="0" rIns="0" bIns="0" rtlCol="0" anchor="ctr"/>
          <a:lstStyle/>
          <a:p>
            <a:pPr algn="ctr" indent="0" marL="0">
              <a:lnSpc>
                <a:spcPct val="104000"/>
              </a:lnSpc>
              <a:buNone/>
            </a:pPr>
            <a:r>
              <a:rPr lang="en-US" sz="1050" b="1" dirty="0">
                <a:solidFill>
                  <a:srgbClr val="17431F"/>
                </a:solidFill>
                <a:latin typeface="Calibri" pitchFamily="34" charset="0"/>
                <a:ea typeface="Calibri" pitchFamily="34" charset="-122"/>
                <a:cs typeface="Calibri" pitchFamily="34" charset="-120"/>
              </a:rPr>
              <a:t>“Not disclosed”, explicitly</a:t>
            </a:r>
            <a:endParaRPr lang="en-US" sz="1050" dirty="0"/>
          </a:p>
          <a:p>
            <a:pPr algn="ctr" indent="0" marL="0">
              <a:lnSpc>
                <a:spcPct val="104000"/>
              </a:lnSpc>
              <a:buNone/>
            </a:pPr>
            <a:r>
              <a:rPr lang="en-US" sz="800" dirty="0">
                <a:solidFill>
                  <a:srgbClr val="17431F"/>
                </a:solidFill>
                <a:latin typeface="Calibri" pitchFamily="34" charset="0"/>
                <a:ea typeface="Calibri" pitchFamily="34" charset="-122"/>
                <a:cs typeface="Calibri" pitchFamily="34" charset="-120"/>
              </a:rPr>
              <a:t>the no-evidence short circuit — zero LLM calls</a:t>
            </a:r>
            <a:endParaRPr lang="en-US" sz="1050" dirty="0"/>
          </a:p>
        </p:txBody>
      </p:sp>
      <p:sp>
        <p:nvSpPr>
          <p:cNvPr id="35" name="Shape 26"/>
          <p:cNvSpPr/>
          <p:nvPr/>
        </p:nvSpPr>
        <p:spPr>
          <a:xfrm>
            <a:off x="4343400" y="4041648"/>
            <a:ext cx="3337560" cy="731520"/>
          </a:xfrm>
          <a:prstGeom prst="roundRect">
            <a:avLst>
              <a:gd name="adj" fmla="val 12500"/>
            </a:avLst>
          </a:prstGeom>
          <a:solidFill>
            <a:srgbClr val="E0F3E3"/>
          </a:solidFill>
          <a:ln w="15875">
            <a:solidFill>
              <a:srgbClr val="2F8F48"/>
            </a:solidFill>
            <a:prstDash val="solid"/>
          </a:ln>
          <a:effectLst>
            <a:outerShdw sx="100000" sy="100000" kx="0" ky="0" algn="bl" rotWithShape="0" blurRad="101600" dist="19050" dir="5400000">
              <a:srgbClr val="9FB0C2">
                <a:alpha val="24000"/>
              </a:srgbClr>
            </a:outerShdw>
          </a:effectLst>
        </p:spPr>
      </p:sp>
      <p:pic>
        <p:nvPicPr>
          <p:cNvPr id="36" name="Image 7" descr="preencoded.png">    </p:cNvPr>
          <p:cNvPicPr>
            <a:picLocks noChangeAspect="1"/>
          </p:cNvPicPr>
          <p:nvPr/>
        </p:nvPicPr>
        <p:blipFill>
          <a:blip r:embed="rId8"/>
          <a:stretch>
            <a:fillRect/>
          </a:stretch>
        </p:blipFill>
        <p:spPr>
          <a:xfrm>
            <a:off x="4462272" y="4142232"/>
            <a:ext cx="182880" cy="182880"/>
          </a:xfrm>
          <a:prstGeom prst="rect">
            <a:avLst/>
          </a:prstGeom>
        </p:spPr>
      </p:pic>
      <p:sp>
        <p:nvSpPr>
          <p:cNvPr id="37" name="Text 27"/>
          <p:cNvSpPr txBox="1"/>
          <p:nvPr/>
        </p:nvSpPr>
        <p:spPr>
          <a:xfrm>
            <a:off x="4434840" y="4041648"/>
            <a:ext cx="3154680" cy="731520"/>
          </a:xfrm>
          <a:prstGeom prst="rect">
            <a:avLst/>
          </a:prstGeom>
          <a:noFill/>
          <a:ln/>
        </p:spPr>
        <p:txBody>
          <a:bodyPr wrap="square" lIns="0" tIns="0" rIns="0" bIns="0" rtlCol="0" anchor="ctr"/>
          <a:lstStyle/>
          <a:p>
            <a:pPr algn="ctr" indent="0" marL="0">
              <a:lnSpc>
                <a:spcPct val="104000"/>
              </a:lnSpc>
              <a:buNone/>
            </a:pPr>
            <a:r>
              <a:rPr lang="en-US" sz="1050" b="1" dirty="0">
                <a:solidFill>
                  <a:srgbClr val="17431F"/>
                </a:solidFill>
                <a:latin typeface="Calibri" pitchFamily="34" charset="0"/>
                <a:ea typeface="Calibri" pitchFamily="34" charset="-122"/>
                <a:cs typeface="Calibri" pitchFamily="34" charset="-120"/>
              </a:rPr>
              <a:t>results.jsonl + provenance</a:t>
            </a:r>
            <a:endParaRPr lang="en-US" sz="1050" dirty="0"/>
          </a:p>
          <a:p>
            <a:pPr algn="ctr" indent="0" marL="0">
              <a:lnSpc>
                <a:spcPct val="104000"/>
              </a:lnSpc>
              <a:buNone/>
            </a:pPr>
            <a:r>
              <a:rPr lang="en-US" sz="800" dirty="0">
                <a:solidFill>
                  <a:srgbClr val="17431F"/>
                </a:solidFill>
                <a:latin typeface="Calibri" pitchFamily="34" charset="0"/>
                <a:ea typeface="Calibri" pitchFamily="34" charset="-122"/>
                <a:cs typeface="Calibri" pitchFamily="34" charset="-120"/>
              </a:rPr>
              <a:t>value, citation, confidence, both model names</a:t>
            </a:r>
            <a:endParaRPr lang="en-US" sz="1050" dirty="0"/>
          </a:p>
        </p:txBody>
      </p:sp>
      <p:sp>
        <p:nvSpPr>
          <p:cNvPr id="38" name="Shape 28"/>
          <p:cNvSpPr/>
          <p:nvPr/>
        </p:nvSpPr>
        <p:spPr>
          <a:xfrm>
            <a:off x="8366760" y="4041648"/>
            <a:ext cx="3227832" cy="731520"/>
          </a:xfrm>
          <a:prstGeom prst="roundRect">
            <a:avLst>
              <a:gd name="adj" fmla="val 12500"/>
            </a:avLst>
          </a:prstGeom>
          <a:solidFill>
            <a:srgbClr val="FBE2E8"/>
          </a:solidFill>
          <a:ln w="15875">
            <a:solidFill>
              <a:srgbClr val="CE3D64"/>
            </a:solidFill>
            <a:prstDash val="solid"/>
          </a:ln>
          <a:effectLst>
            <a:outerShdw sx="100000" sy="100000" kx="0" ky="0" algn="bl" rotWithShape="0" blurRad="101600" dist="19050" dir="5400000">
              <a:srgbClr val="9FB0C2">
                <a:alpha val="24000"/>
              </a:srgbClr>
            </a:outerShdw>
          </a:effectLst>
        </p:spPr>
      </p:sp>
      <p:pic>
        <p:nvPicPr>
          <p:cNvPr id="39" name="Image 8" descr="preencoded.png">    </p:cNvPr>
          <p:cNvPicPr>
            <a:picLocks noChangeAspect="1"/>
          </p:cNvPicPr>
          <p:nvPr/>
        </p:nvPicPr>
        <p:blipFill>
          <a:blip r:embed="rId9"/>
          <a:stretch>
            <a:fillRect/>
          </a:stretch>
        </p:blipFill>
        <p:spPr>
          <a:xfrm>
            <a:off x="8485632" y="4142232"/>
            <a:ext cx="182880" cy="182880"/>
          </a:xfrm>
          <a:prstGeom prst="rect">
            <a:avLst/>
          </a:prstGeom>
        </p:spPr>
      </p:pic>
      <p:sp>
        <p:nvSpPr>
          <p:cNvPr id="40" name="Text 29"/>
          <p:cNvSpPr txBox="1"/>
          <p:nvPr/>
        </p:nvSpPr>
        <p:spPr>
          <a:xfrm>
            <a:off x="8458200" y="4041648"/>
            <a:ext cx="3044952" cy="731520"/>
          </a:xfrm>
          <a:prstGeom prst="rect">
            <a:avLst/>
          </a:prstGeom>
          <a:noFill/>
          <a:ln/>
        </p:spPr>
        <p:txBody>
          <a:bodyPr wrap="square" lIns="0" tIns="0" rIns="0" bIns="0" rtlCol="0" anchor="ctr"/>
          <a:lstStyle/>
          <a:p>
            <a:pPr algn="ctr" indent="0" marL="0">
              <a:lnSpc>
                <a:spcPct val="104000"/>
              </a:lnSpc>
              <a:buNone/>
            </a:pPr>
            <a:r>
              <a:rPr lang="en-US" sz="1050" b="1" dirty="0">
                <a:solidFill>
                  <a:srgbClr val="68182F"/>
                </a:solidFill>
                <a:latin typeface="Calibri" pitchFamily="34" charset="0"/>
                <a:ea typeface="Calibri" pitchFamily="34" charset="-122"/>
                <a:cs typeface="Calibri" pitchFamily="34" charset="-120"/>
              </a:rPr>
              <a:t>Review queue → audit trail</a:t>
            </a:r>
            <a:endParaRPr lang="en-US" sz="1050" dirty="0"/>
          </a:p>
          <a:p>
            <a:pPr algn="ctr" indent="0" marL="0">
              <a:lnSpc>
                <a:spcPct val="104000"/>
              </a:lnSpc>
              <a:buNone/>
            </a:pPr>
            <a:r>
              <a:rPr lang="en-US" sz="800" dirty="0">
                <a:solidFill>
                  <a:srgbClr val="68182F"/>
                </a:solidFill>
                <a:latin typeface="Calibri" pitchFamily="34" charset="0"/>
                <a:ea typeface="Calibri" pitchFamily="34" charset="-122"/>
                <a:cs typeface="Calibri" pitchFamily="34" charset="-120"/>
              </a:rPr>
              <a:t>approve, override or reject — appended, never overwritten</a:t>
            </a:r>
            <a:endParaRPr lang="en-US" sz="1050" dirty="0"/>
          </a:p>
        </p:txBody>
      </p:sp>
      <p:sp>
        <p:nvSpPr>
          <p:cNvPr id="41" name="Shape 30"/>
          <p:cNvSpPr/>
          <p:nvPr/>
        </p:nvSpPr>
        <p:spPr>
          <a:xfrm>
            <a:off x="3821278" y="3108960"/>
            <a:ext cx="0" cy="365760"/>
          </a:xfrm>
          <a:prstGeom prst="line">
            <a:avLst/>
          </a:prstGeom>
          <a:noFill/>
          <a:ln w="16510">
            <a:solidFill>
              <a:srgbClr val="2F8F48"/>
            </a:solidFill>
            <a:prstDash val="solid"/>
            <a:headEnd type="none"/>
            <a:tailEnd type="none"/>
          </a:ln>
        </p:spPr>
      </p:sp>
      <p:sp>
        <p:nvSpPr>
          <p:cNvPr id="42" name="Shape 31"/>
          <p:cNvSpPr/>
          <p:nvPr/>
        </p:nvSpPr>
        <p:spPr>
          <a:xfrm flipH="1">
            <a:off x="2103120" y="3474720"/>
            <a:ext cx="1718158" cy="0"/>
          </a:xfrm>
          <a:prstGeom prst="line">
            <a:avLst/>
          </a:prstGeom>
          <a:noFill/>
          <a:ln w="16510">
            <a:solidFill>
              <a:srgbClr val="2F8F48"/>
            </a:solidFill>
            <a:prstDash val="solid"/>
            <a:headEnd type="none"/>
            <a:tailEnd type="none"/>
          </a:ln>
        </p:spPr>
      </p:sp>
      <p:sp>
        <p:nvSpPr>
          <p:cNvPr id="43" name="Shape 32"/>
          <p:cNvSpPr/>
          <p:nvPr/>
        </p:nvSpPr>
        <p:spPr>
          <a:xfrm>
            <a:off x="2103120" y="3474720"/>
            <a:ext cx="0" cy="530352"/>
          </a:xfrm>
          <a:prstGeom prst="line">
            <a:avLst/>
          </a:prstGeom>
          <a:noFill/>
          <a:ln w="16510">
            <a:solidFill>
              <a:srgbClr val="2F8F48"/>
            </a:solidFill>
            <a:prstDash val="solid"/>
            <a:headEnd type="none"/>
            <a:tailEnd type="triangle"/>
          </a:ln>
        </p:spPr>
      </p:sp>
      <p:sp>
        <p:nvSpPr>
          <p:cNvPr id="44" name="Text 33"/>
          <p:cNvSpPr txBox="1"/>
          <p:nvPr/>
        </p:nvSpPr>
        <p:spPr>
          <a:xfrm>
            <a:off x="2194560" y="3255264"/>
            <a:ext cx="2011680" cy="182880"/>
          </a:xfrm>
          <a:prstGeom prst="rect">
            <a:avLst/>
          </a:prstGeom>
          <a:noFill/>
          <a:ln/>
        </p:spPr>
        <p:txBody>
          <a:bodyPr wrap="square" lIns="0" tIns="0" rIns="0" bIns="0" rtlCol="0" anchor="ctr"/>
          <a:lstStyle/>
          <a:p>
            <a:pPr algn="l" indent="0" marL="0">
              <a:buNone/>
            </a:pPr>
            <a:r>
              <a:rPr lang="en-US" sz="780" i="1" dirty="0">
                <a:solidFill>
                  <a:srgbClr val="2F8F48"/>
                </a:solidFill>
                <a:latin typeface="Calibri" pitchFamily="34" charset="0"/>
                <a:ea typeface="Calibri" pitchFamily="34" charset="-122"/>
                <a:cs typeface="Calibri" pitchFamily="34" charset="-120"/>
              </a:rPr>
              <a:t>no evidence found</a:t>
            </a:r>
            <a:endParaRPr lang="en-US" sz="780" dirty="0"/>
          </a:p>
        </p:txBody>
      </p:sp>
      <p:sp>
        <p:nvSpPr>
          <p:cNvPr id="45" name="Shape 34"/>
          <p:cNvSpPr/>
          <p:nvPr/>
        </p:nvSpPr>
        <p:spPr>
          <a:xfrm>
            <a:off x="10229393" y="3108960"/>
            <a:ext cx="0" cy="621792"/>
          </a:xfrm>
          <a:prstGeom prst="line">
            <a:avLst/>
          </a:prstGeom>
          <a:noFill/>
          <a:ln w="17780">
            <a:solidFill>
              <a:srgbClr val="2F8F48"/>
            </a:solidFill>
            <a:prstDash val="solid"/>
            <a:headEnd type="none"/>
            <a:tailEnd type="none"/>
          </a:ln>
        </p:spPr>
      </p:sp>
      <p:sp>
        <p:nvSpPr>
          <p:cNvPr id="46" name="Shape 35"/>
          <p:cNvSpPr/>
          <p:nvPr/>
        </p:nvSpPr>
        <p:spPr>
          <a:xfrm flipH="1">
            <a:off x="6007608" y="3730752"/>
            <a:ext cx="4221785" cy="0"/>
          </a:xfrm>
          <a:prstGeom prst="line">
            <a:avLst/>
          </a:prstGeom>
          <a:noFill/>
          <a:ln w="17780">
            <a:solidFill>
              <a:srgbClr val="2F8F48"/>
            </a:solidFill>
            <a:prstDash val="solid"/>
            <a:headEnd type="none"/>
            <a:tailEnd type="none"/>
          </a:ln>
        </p:spPr>
      </p:sp>
      <p:sp>
        <p:nvSpPr>
          <p:cNvPr id="47" name="Shape 36"/>
          <p:cNvSpPr/>
          <p:nvPr/>
        </p:nvSpPr>
        <p:spPr>
          <a:xfrm>
            <a:off x="6007608" y="3730752"/>
            <a:ext cx="0" cy="274320"/>
          </a:xfrm>
          <a:prstGeom prst="line">
            <a:avLst/>
          </a:prstGeom>
          <a:noFill/>
          <a:ln w="17780">
            <a:solidFill>
              <a:srgbClr val="2F8F48"/>
            </a:solidFill>
            <a:prstDash val="solid"/>
            <a:headEnd type="none"/>
            <a:tailEnd type="triangle"/>
          </a:ln>
        </p:spPr>
      </p:sp>
      <p:sp>
        <p:nvSpPr>
          <p:cNvPr id="48" name="Text 37"/>
          <p:cNvSpPr txBox="1"/>
          <p:nvPr/>
        </p:nvSpPr>
        <p:spPr>
          <a:xfrm>
            <a:off x="7040880" y="3511296"/>
            <a:ext cx="1280160" cy="182880"/>
          </a:xfrm>
          <a:prstGeom prst="rect">
            <a:avLst/>
          </a:prstGeom>
          <a:noFill/>
          <a:ln/>
        </p:spPr>
        <p:txBody>
          <a:bodyPr wrap="square" lIns="0" tIns="0" rIns="0" bIns="0" rtlCol="0" anchor="ctr"/>
          <a:lstStyle/>
          <a:p>
            <a:pPr algn="l" indent="0" marL="0">
              <a:buNone/>
            </a:pPr>
            <a:r>
              <a:rPr lang="en-US" sz="780" i="1" dirty="0">
                <a:solidFill>
                  <a:srgbClr val="2F8F48"/>
                </a:solidFill>
                <a:latin typeface="Calibri" pitchFamily="34" charset="0"/>
                <a:ea typeface="Calibri" pitchFamily="34" charset="-122"/>
                <a:cs typeface="Calibri" pitchFamily="34" charset="-120"/>
              </a:rPr>
              <a:t>grounded</a:t>
            </a:r>
            <a:endParaRPr lang="en-US" sz="780" dirty="0"/>
          </a:p>
        </p:txBody>
      </p:sp>
      <p:sp>
        <p:nvSpPr>
          <p:cNvPr id="49" name="Shape 38"/>
          <p:cNvSpPr/>
          <p:nvPr/>
        </p:nvSpPr>
        <p:spPr>
          <a:xfrm>
            <a:off x="11052353" y="3108960"/>
            <a:ext cx="0" cy="365760"/>
          </a:xfrm>
          <a:prstGeom prst="line">
            <a:avLst/>
          </a:prstGeom>
          <a:noFill/>
          <a:ln w="17780">
            <a:solidFill>
              <a:srgbClr val="CE3D64"/>
            </a:solidFill>
            <a:prstDash val="solid"/>
            <a:headEnd type="none"/>
            <a:tailEnd type="none"/>
          </a:ln>
        </p:spPr>
      </p:sp>
      <p:sp>
        <p:nvSpPr>
          <p:cNvPr id="50" name="Shape 39"/>
          <p:cNvSpPr/>
          <p:nvPr/>
        </p:nvSpPr>
        <p:spPr>
          <a:xfrm flipH="1">
            <a:off x="9966960" y="3474720"/>
            <a:ext cx="1085393" cy="0"/>
          </a:xfrm>
          <a:prstGeom prst="line">
            <a:avLst/>
          </a:prstGeom>
          <a:noFill/>
          <a:ln w="17780">
            <a:solidFill>
              <a:srgbClr val="CE3D64"/>
            </a:solidFill>
            <a:prstDash val="solid"/>
            <a:headEnd type="none"/>
            <a:tailEnd type="none"/>
          </a:ln>
        </p:spPr>
      </p:sp>
      <p:sp>
        <p:nvSpPr>
          <p:cNvPr id="51" name="Shape 40"/>
          <p:cNvSpPr/>
          <p:nvPr/>
        </p:nvSpPr>
        <p:spPr>
          <a:xfrm>
            <a:off x="9966960" y="3474720"/>
            <a:ext cx="0" cy="530352"/>
          </a:xfrm>
          <a:prstGeom prst="line">
            <a:avLst/>
          </a:prstGeom>
          <a:noFill/>
          <a:ln w="17780">
            <a:solidFill>
              <a:srgbClr val="CE3D64"/>
            </a:solidFill>
            <a:prstDash val="solid"/>
            <a:headEnd type="none"/>
            <a:tailEnd type="triangle"/>
          </a:ln>
        </p:spPr>
      </p:sp>
      <p:sp>
        <p:nvSpPr>
          <p:cNvPr id="52" name="Text 41"/>
          <p:cNvSpPr txBox="1"/>
          <p:nvPr/>
        </p:nvSpPr>
        <p:spPr>
          <a:xfrm>
            <a:off x="8229600" y="3255264"/>
            <a:ext cx="2377440" cy="182880"/>
          </a:xfrm>
          <a:prstGeom prst="rect">
            <a:avLst/>
          </a:prstGeom>
          <a:noFill/>
          <a:ln/>
        </p:spPr>
        <p:txBody>
          <a:bodyPr wrap="square" lIns="0" tIns="0" rIns="0" bIns="0" rtlCol="0" anchor="ctr"/>
          <a:lstStyle/>
          <a:p>
            <a:pPr algn="r" indent="0" marL="0">
              <a:buNone/>
            </a:pPr>
            <a:r>
              <a:rPr lang="en-US" sz="780" i="1" dirty="0">
                <a:solidFill>
                  <a:srgbClr val="CE3D64"/>
                </a:solidFill>
                <a:latin typeface="Calibri" pitchFamily="34" charset="0"/>
                <a:ea typeface="Calibri" pitchFamily="34" charset="-122"/>
                <a:cs typeface="Calibri" pitchFamily="34" charset="-120"/>
              </a:rPr>
              <a:t>ungrounded · low confidence · disputed</a:t>
            </a:r>
            <a:endParaRPr lang="en-US" sz="780" dirty="0"/>
          </a:p>
        </p:txBody>
      </p:sp>
      <p:sp>
        <p:nvSpPr>
          <p:cNvPr id="53" name="Shape 42"/>
          <p:cNvSpPr/>
          <p:nvPr/>
        </p:nvSpPr>
        <p:spPr>
          <a:xfrm>
            <a:off x="594360" y="5321808"/>
            <a:ext cx="3532632" cy="941832"/>
          </a:xfrm>
          <a:prstGeom prst="roundRect">
            <a:avLst>
              <a:gd name="adj" fmla="val 3883"/>
            </a:avLst>
          </a:prstGeom>
          <a:solidFill>
            <a:srgbClr val="F4F7FA"/>
          </a:solidFill>
          <a:ln w="15875">
            <a:solidFill>
              <a:srgbClr val="DDE5ED"/>
            </a:solidFill>
            <a:prstDash val="solid"/>
          </a:ln>
        </p:spPr>
      </p:sp>
      <p:sp>
        <p:nvSpPr>
          <p:cNvPr id="54" name="Text 43"/>
          <p:cNvSpPr txBox="1"/>
          <p:nvPr/>
        </p:nvSpPr>
        <p:spPr>
          <a:xfrm>
            <a:off x="758952" y="5422392"/>
            <a:ext cx="3203448" cy="201168"/>
          </a:xfrm>
          <a:prstGeom prst="rect">
            <a:avLst/>
          </a:prstGeom>
          <a:noFill/>
          <a:ln/>
        </p:spPr>
        <p:txBody>
          <a:bodyPr wrap="square" lIns="0" tIns="0" rIns="0" bIns="0" rtlCol="0" anchor="ctr"/>
          <a:lstStyle/>
          <a:p>
            <a:pPr indent="0" marL="0">
              <a:buNone/>
            </a:pPr>
            <a:r>
              <a:rPr lang="en-US" sz="850" b="1" spc="140" kern="0" dirty="0">
                <a:solidFill>
                  <a:srgbClr val="6D4DD1"/>
                </a:solidFill>
                <a:latin typeface="Calibri" pitchFamily="34" charset="0"/>
                <a:ea typeface="Calibri" pitchFamily="34" charset="-122"/>
                <a:cs typeface="Calibri" pitchFamily="34" charset="-120"/>
              </a:rPr>
              <a:t>MODULES</a:t>
            </a:r>
            <a:endParaRPr lang="en-US" sz="850" dirty="0"/>
          </a:p>
        </p:txBody>
      </p:sp>
      <p:sp>
        <p:nvSpPr>
          <p:cNvPr id="55" name="Text 44"/>
          <p:cNvSpPr txBox="1"/>
          <p:nvPr/>
        </p:nvSpPr>
        <p:spPr>
          <a:xfrm>
            <a:off x="758952" y="5641848"/>
            <a:ext cx="3203448" cy="548640"/>
          </a:xfrm>
          <a:prstGeom prst="rect">
            <a:avLst/>
          </a:prstGeom>
          <a:noFill/>
          <a:ln/>
        </p:spPr>
        <p:txBody>
          <a:bodyPr wrap="square" lIns="0" tIns="0" rIns="0" bIns="0" rtlCol="0" anchor="ctr"/>
          <a:lstStyle/>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arp/extraction/{pipeline,field_graph}.py</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arp/extraction/{extractor,verifier}_agent.py</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arp/retrieval/select_evidence.py · arp/grounding.py</a:t>
            </a:r>
            <a:endParaRPr lang="en-US" sz="860" dirty="0"/>
          </a:p>
        </p:txBody>
      </p:sp>
      <p:sp>
        <p:nvSpPr>
          <p:cNvPr id="56" name="Shape 45"/>
          <p:cNvSpPr/>
          <p:nvPr/>
        </p:nvSpPr>
        <p:spPr>
          <a:xfrm>
            <a:off x="4328160" y="5321808"/>
            <a:ext cx="3532632" cy="941832"/>
          </a:xfrm>
          <a:prstGeom prst="roundRect">
            <a:avLst>
              <a:gd name="adj" fmla="val 3883"/>
            </a:avLst>
          </a:prstGeom>
          <a:solidFill>
            <a:srgbClr val="F4F7FA"/>
          </a:solidFill>
          <a:ln w="15875">
            <a:solidFill>
              <a:srgbClr val="DDE5ED"/>
            </a:solidFill>
            <a:prstDash val="solid"/>
          </a:ln>
        </p:spPr>
      </p:sp>
      <p:sp>
        <p:nvSpPr>
          <p:cNvPr id="57" name="Text 46"/>
          <p:cNvSpPr txBox="1"/>
          <p:nvPr/>
        </p:nvSpPr>
        <p:spPr>
          <a:xfrm>
            <a:off x="4492752" y="5422392"/>
            <a:ext cx="3203448" cy="201168"/>
          </a:xfrm>
          <a:prstGeom prst="rect">
            <a:avLst/>
          </a:prstGeom>
          <a:noFill/>
          <a:ln/>
        </p:spPr>
        <p:txBody>
          <a:bodyPr wrap="square" lIns="0" tIns="0" rIns="0" bIns="0" rtlCol="0" anchor="ctr"/>
          <a:lstStyle/>
          <a:p>
            <a:pPr indent="0" marL="0">
              <a:buNone/>
            </a:pPr>
            <a:r>
              <a:rPr lang="en-US" sz="850" b="1" spc="140" kern="0" dirty="0">
                <a:solidFill>
                  <a:srgbClr val="2F6FD0"/>
                </a:solidFill>
                <a:latin typeface="Calibri" pitchFamily="34" charset="0"/>
                <a:ea typeface="Calibri" pitchFamily="34" charset="-122"/>
                <a:cs typeface="Calibri" pitchFamily="34" charset="-120"/>
              </a:rPr>
              <a:t>IN → OUT</a:t>
            </a:r>
            <a:endParaRPr lang="en-US" sz="850" dirty="0"/>
          </a:p>
        </p:txBody>
      </p:sp>
      <p:sp>
        <p:nvSpPr>
          <p:cNvPr id="58" name="Text 47"/>
          <p:cNvSpPr txBox="1"/>
          <p:nvPr/>
        </p:nvSpPr>
        <p:spPr>
          <a:xfrm>
            <a:off x="4492752" y="5641848"/>
            <a:ext cx="3203448" cy="548640"/>
          </a:xfrm>
          <a:prstGeom prst="rect">
            <a:avLst/>
          </a:prstGeom>
          <a:noFill/>
          <a:ln/>
        </p:spPr>
        <p:txBody>
          <a:bodyPr wrap="square" lIns="0" tIns="0" rIns="0" bIns="0" rtlCol="0" anchor="ctr"/>
          <a:lstStyle/>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In: company universe + a DataPointSchema.</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Out: ExtractionRecord per company — fields, citations,</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confidence, provenance.</a:t>
            </a:r>
            <a:endParaRPr lang="en-US" sz="860" dirty="0"/>
          </a:p>
        </p:txBody>
      </p:sp>
      <p:sp>
        <p:nvSpPr>
          <p:cNvPr id="59" name="Shape 48"/>
          <p:cNvSpPr/>
          <p:nvPr/>
        </p:nvSpPr>
        <p:spPr>
          <a:xfrm>
            <a:off x="8061960" y="5321808"/>
            <a:ext cx="3532632" cy="941832"/>
          </a:xfrm>
          <a:prstGeom prst="roundRect">
            <a:avLst>
              <a:gd name="adj" fmla="val 3883"/>
            </a:avLst>
          </a:prstGeom>
          <a:solidFill>
            <a:srgbClr val="F4F7FA"/>
          </a:solidFill>
          <a:ln w="15875">
            <a:solidFill>
              <a:srgbClr val="DDE5ED"/>
            </a:solidFill>
            <a:prstDash val="solid"/>
          </a:ln>
        </p:spPr>
      </p:sp>
      <p:sp>
        <p:nvSpPr>
          <p:cNvPr id="60" name="Text 49"/>
          <p:cNvSpPr txBox="1"/>
          <p:nvPr/>
        </p:nvSpPr>
        <p:spPr>
          <a:xfrm>
            <a:off x="8226552" y="5422392"/>
            <a:ext cx="3203448" cy="201168"/>
          </a:xfrm>
          <a:prstGeom prst="rect">
            <a:avLst/>
          </a:prstGeom>
          <a:noFill/>
          <a:ln/>
        </p:spPr>
        <p:txBody>
          <a:bodyPr wrap="square" lIns="0" tIns="0" rIns="0" bIns="0" rtlCol="0" anchor="ctr"/>
          <a:lstStyle/>
          <a:p>
            <a:pPr indent="0" marL="0">
              <a:buNone/>
            </a:pPr>
            <a:r>
              <a:rPr lang="en-US" sz="850" b="1" spc="140" kern="0" dirty="0">
                <a:solidFill>
                  <a:srgbClr val="C9871B"/>
                </a:solidFill>
                <a:latin typeface="Calibri" pitchFamily="34" charset="0"/>
                <a:ea typeface="Calibri" pitchFamily="34" charset="-122"/>
                <a:cs typeface="Calibri" pitchFamily="34" charset="-120"/>
              </a:rPr>
              <a:t>CONTROLS</a:t>
            </a:r>
            <a:endParaRPr lang="en-US" sz="850" dirty="0"/>
          </a:p>
        </p:txBody>
      </p:sp>
      <p:sp>
        <p:nvSpPr>
          <p:cNvPr id="61" name="Text 50"/>
          <p:cNvSpPr txBox="1"/>
          <p:nvPr/>
        </p:nvSpPr>
        <p:spPr>
          <a:xfrm>
            <a:off x="8226552" y="5641848"/>
            <a:ext cx="3203448" cy="548640"/>
          </a:xfrm>
          <a:prstGeom prst="rect">
            <a:avLst/>
          </a:prstGeom>
          <a:noFill/>
          <a:ln/>
        </p:spPr>
        <p:txBody>
          <a:bodyPr wrap="square" lIns="0" tIns="0" rIns="0" bIns="0" rtlCol="0" anchor="ctr"/>
          <a:lstStyle/>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Extractor and verifier models are different by config.</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“Not found” always beats an inferred value.</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A golden set replays the real pipeline before a prompt ships.</a:t>
            </a:r>
            <a:endParaRPr lang="en-US" sz="86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438912"/>
            <a:ext cx="10085832" cy="201168"/>
          </a:xfrm>
          <a:prstGeom prst="rect">
            <a:avLst/>
          </a:prstGeom>
          <a:noFill/>
          <a:ln/>
        </p:spPr>
        <p:txBody>
          <a:bodyPr wrap="square" lIns="0" tIns="0" rIns="0" bIns="0" rtlCol="0" anchor="ctr"/>
          <a:lstStyle/>
          <a:p>
            <a:pPr indent="0" marL="0">
              <a:buNone/>
            </a:pPr>
            <a:r>
              <a:rPr lang="en-US" sz="1050" b="1" spc="200" kern="0" dirty="0">
                <a:solidFill>
                  <a:srgbClr val="108494"/>
                </a:solidFill>
                <a:latin typeface="Calibri" pitchFamily="34" charset="0"/>
                <a:ea typeface="Calibri" pitchFamily="34" charset="-122"/>
                <a:cs typeface="Calibri" pitchFamily="34" charset="-120"/>
              </a:rPr>
              <a:t>02   ·   THEMATIC UNIVERSE BUILDER</a:t>
            </a:r>
            <a:endParaRPr lang="en-US" sz="1050" dirty="0"/>
          </a:p>
        </p:txBody>
      </p:sp>
      <p:sp>
        <p:nvSpPr>
          <p:cNvPr id="3" name="Text 1"/>
          <p:cNvSpPr txBox="1"/>
          <p:nvPr/>
        </p:nvSpPr>
        <p:spPr>
          <a:xfrm>
            <a:off x="594360" y="640080"/>
            <a:ext cx="10085832" cy="484632"/>
          </a:xfrm>
          <a:prstGeom prst="rect">
            <a:avLst/>
          </a:prstGeom>
          <a:noFill/>
          <a:ln/>
        </p:spPr>
        <p:txBody>
          <a:bodyPr wrap="square" lIns="0" tIns="0" rIns="0" bIns="0" rtlCol="0" anchor="ctr"/>
          <a:lstStyle/>
          <a:p>
            <a:pPr indent="0" marL="0">
              <a:buNone/>
            </a:pPr>
            <a:r>
              <a:rPr lang="en-US" sz="3000" b="1" dirty="0">
                <a:solidFill>
                  <a:srgbClr val="10243A"/>
                </a:solidFill>
                <a:latin typeface="Cambria" pitchFamily="34" charset="0"/>
                <a:ea typeface="Cambria" pitchFamily="34" charset="-122"/>
                <a:cs typeface="Cambria" pitchFamily="34" charset="-120"/>
              </a:rPr>
              <a:t>Emerging Theme Detector</a:t>
            </a:r>
            <a:endParaRPr lang="en-US" sz="3000" dirty="0"/>
          </a:p>
        </p:txBody>
      </p:sp>
      <p:sp>
        <p:nvSpPr>
          <p:cNvPr id="4" name="Text 2"/>
          <p:cNvSpPr txBox="1"/>
          <p:nvPr/>
        </p:nvSpPr>
        <p:spPr>
          <a:xfrm>
            <a:off x="594360" y="1143000"/>
            <a:ext cx="9994392" cy="274320"/>
          </a:xfrm>
          <a:prstGeom prst="rect">
            <a:avLst/>
          </a:prstGeom>
          <a:noFill/>
          <a:ln/>
        </p:spPr>
        <p:txBody>
          <a:bodyPr wrap="square" lIns="0" tIns="0" rIns="0" bIns="0" rtlCol="0" anchor="ctr"/>
          <a:lstStyle/>
          <a:p>
            <a:pPr indent="0" marL="0">
              <a:buNone/>
            </a:pPr>
            <a:r>
              <a:rPr lang="en-US" sz="1200" dirty="0">
                <a:solidFill>
                  <a:srgbClr val="58697A"/>
                </a:solidFill>
                <a:latin typeface="Calibri" pitchFamily="34" charset="0"/>
                <a:ea typeface="Calibri" pitchFamily="34" charset="-122"/>
                <a:cs typeface="Calibri" pitchFamily="34" charset="-120"/>
              </a:rPr>
              <a:t>From a macro theme to a ratified set of business activities — and the companies that actually do the work.</a:t>
            </a:r>
            <a:endParaRPr lang="en-US" sz="1200" dirty="0"/>
          </a:p>
        </p:txBody>
      </p:sp>
      <p:sp>
        <p:nvSpPr>
          <p:cNvPr id="5" name="Shape 3"/>
          <p:cNvSpPr/>
          <p:nvPr/>
        </p:nvSpPr>
        <p:spPr>
          <a:xfrm>
            <a:off x="10881360" y="475488"/>
            <a:ext cx="713232" cy="713232"/>
          </a:xfrm>
          <a:prstGeom prst="roundRect">
            <a:avLst>
              <a:gd name="adj" fmla="val 20513"/>
            </a:avLst>
          </a:prstGeom>
          <a:solidFill>
            <a:srgbClr val="10243A"/>
          </a:solidFill>
          <a:ln/>
        </p:spPr>
      </p:sp>
      <p:pic>
        <p:nvPicPr>
          <p:cNvPr id="6" name="Image 0" descr="preencoded.png">    </p:cNvPr>
          <p:cNvPicPr>
            <a:picLocks noChangeAspect="1"/>
          </p:cNvPicPr>
          <p:nvPr/>
        </p:nvPicPr>
        <p:blipFill>
          <a:blip r:embed="rId1"/>
          <a:stretch>
            <a:fillRect/>
          </a:stretch>
        </p:blipFill>
        <p:spPr>
          <a:xfrm>
            <a:off x="11038271" y="632399"/>
            <a:ext cx="399410" cy="399410"/>
          </a:xfrm>
          <a:prstGeom prst="rect">
            <a:avLst/>
          </a:prstGeom>
        </p:spPr>
      </p:pic>
      <p:sp>
        <p:nvSpPr>
          <p:cNvPr id="7" name="Text 4"/>
          <p:cNvSpPr txBox="1"/>
          <p:nvPr/>
        </p:nvSpPr>
        <p:spPr>
          <a:xfrm>
            <a:off x="594360" y="1463040"/>
            <a:ext cx="2971800" cy="201168"/>
          </a:xfrm>
          <a:prstGeom prst="rect">
            <a:avLst/>
          </a:prstGeom>
          <a:noFill/>
          <a:ln/>
        </p:spPr>
        <p:txBody>
          <a:bodyPr wrap="square" lIns="0" tIns="0" rIns="0" bIns="0" rtlCol="0" anchor="ctr"/>
          <a:lstStyle/>
          <a:p>
            <a:pPr algn="ctr" indent="0" marL="0">
              <a:buNone/>
            </a:pPr>
            <a:r>
              <a:rPr lang="en-US" sz="900" b="1" spc="140" kern="0" dirty="0">
                <a:solidFill>
                  <a:srgbClr val="2F6FD0"/>
                </a:solidFill>
                <a:latin typeface="Calibri" pitchFamily="34" charset="0"/>
                <a:ea typeface="Calibri" pitchFamily="34" charset="-122"/>
                <a:cs typeface="Calibri" pitchFamily="34" charset="-120"/>
              </a:rPr>
              <a:t>HOW THE BOUNDARY IS DRAWN</a:t>
            </a:r>
            <a:endParaRPr lang="en-US" sz="900" dirty="0"/>
          </a:p>
        </p:txBody>
      </p:sp>
      <p:sp>
        <p:nvSpPr>
          <p:cNvPr id="8" name="Shape 5"/>
          <p:cNvSpPr/>
          <p:nvPr/>
        </p:nvSpPr>
        <p:spPr>
          <a:xfrm>
            <a:off x="594360" y="1737360"/>
            <a:ext cx="2971800" cy="749808"/>
          </a:xfrm>
          <a:prstGeom prst="roundRect">
            <a:avLst>
              <a:gd name="adj" fmla="val 12195"/>
            </a:avLst>
          </a:prstGeom>
          <a:solidFill>
            <a:srgbClr val="E3EDFC"/>
          </a:solidFill>
          <a:ln w="15875">
            <a:solidFill>
              <a:srgbClr val="2F6FD0"/>
            </a:solidFill>
            <a:prstDash val="solid"/>
          </a:ln>
          <a:effectLst>
            <a:outerShdw sx="100000" sy="100000" kx="0" ky="0" algn="bl" rotWithShape="0" blurRad="101600" dist="19050" dir="5400000">
              <a:srgbClr val="9FB0C2">
                <a:alpha val="24000"/>
              </a:srgbClr>
            </a:outerShdw>
          </a:effectLst>
        </p:spPr>
      </p:sp>
      <p:sp>
        <p:nvSpPr>
          <p:cNvPr id="9" name="Shape 6"/>
          <p:cNvSpPr/>
          <p:nvPr/>
        </p:nvSpPr>
        <p:spPr>
          <a:xfrm>
            <a:off x="731520" y="1920240"/>
            <a:ext cx="384048" cy="384048"/>
          </a:xfrm>
          <a:prstGeom prst="roundRect">
            <a:avLst>
              <a:gd name="adj" fmla="val 23810"/>
            </a:avLst>
          </a:prstGeom>
          <a:solidFill>
            <a:srgbClr val="2F6FD0"/>
          </a:solidFill>
          <a:ln/>
        </p:spPr>
      </p:sp>
      <p:pic>
        <p:nvPicPr>
          <p:cNvPr id="10" name="Image 1" descr="preencoded.png">    </p:cNvPr>
          <p:cNvPicPr>
            <a:picLocks noChangeAspect="1"/>
          </p:cNvPicPr>
          <p:nvPr/>
        </p:nvPicPr>
        <p:blipFill>
          <a:blip r:embed="rId2"/>
          <a:stretch>
            <a:fillRect/>
          </a:stretch>
        </p:blipFill>
        <p:spPr>
          <a:xfrm>
            <a:off x="816011" y="2004731"/>
            <a:ext cx="215067" cy="215067"/>
          </a:xfrm>
          <a:prstGeom prst="rect">
            <a:avLst/>
          </a:prstGeom>
        </p:spPr>
      </p:pic>
      <p:sp>
        <p:nvSpPr>
          <p:cNvPr id="11" name="Text 7"/>
          <p:cNvSpPr txBox="1"/>
          <p:nvPr/>
        </p:nvSpPr>
        <p:spPr>
          <a:xfrm>
            <a:off x="1252728" y="1737360"/>
            <a:ext cx="2203704" cy="749808"/>
          </a:xfrm>
          <a:prstGeom prst="rect">
            <a:avLst/>
          </a:prstGeom>
          <a:noFill/>
          <a:ln/>
        </p:spPr>
        <p:txBody>
          <a:bodyPr wrap="square" lIns="0" tIns="0" rIns="0" bIns="0" rtlCol="0" anchor="ctr"/>
          <a:lstStyle/>
          <a:p>
            <a:pPr algn="l" indent="0" marL="0">
              <a:lnSpc>
                <a:spcPct val="104000"/>
              </a:lnSpc>
              <a:buNone/>
            </a:pPr>
            <a:r>
              <a:rPr lang="en-US" sz="800" b="1" spc="110" kern="0" dirty="0">
                <a:solidFill>
                  <a:srgbClr val="2F6FD0"/>
                </a:solidFill>
                <a:latin typeface="Calibri" pitchFamily="34" charset="0"/>
                <a:ea typeface="Calibri" pitchFamily="34" charset="-122"/>
                <a:cs typeface="Calibri" pitchFamily="34" charset="-120"/>
              </a:rPr>
              <a:t>TOP-DOWN</a:t>
            </a:r>
            <a:endParaRPr lang="en-US" sz="800" dirty="0"/>
          </a:p>
          <a:p>
            <a:pPr algn="l" indent="0" marL="0">
              <a:lnSpc>
                <a:spcPct val="104000"/>
              </a:lnSpc>
              <a:buNone/>
            </a:pPr>
            <a:r>
              <a:rPr lang="en-US" sz="950" b="1" dirty="0">
                <a:solidFill>
                  <a:srgbClr val="153A61"/>
                </a:solidFill>
                <a:latin typeface="Calibri" pitchFamily="34" charset="0"/>
                <a:ea typeface="Calibri" pitchFamily="34" charset="-122"/>
                <a:cs typeface="Calibri" pitchFamily="34" charset="-120"/>
              </a:rPr>
              <a:t>llm draft · industry-anchored · authority document</a:t>
            </a:r>
            <a:endParaRPr lang="en-US" sz="800" dirty="0"/>
          </a:p>
        </p:txBody>
      </p:sp>
      <p:sp>
        <p:nvSpPr>
          <p:cNvPr id="12" name="Shape 8"/>
          <p:cNvSpPr/>
          <p:nvPr/>
        </p:nvSpPr>
        <p:spPr>
          <a:xfrm>
            <a:off x="3611880" y="2112264"/>
            <a:ext cx="320040" cy="950976"/>
          </a:xfrm>
          <a:prstGeom prst="line">
            <a:avLst/>
          </a:prstGeom>
          <a:noFill/>
          <a:ln w="16510">
            <a:solidFill>
              <a:srgbClr val="2F6FD0"/>
            </a:solidFill>
            <a:prstDash val="solid"/>
            <a:headEnd type="none"/>
            <a:tailEnd type="triangle"/>
          </a:ln>
        </p:spPr>
      </p:sp>
      <p:sp>
        <p:nvSpPr>
          <p:cNvPr id="13" name="Shape 9"/>
          <p:cNvSpPr/>
          <p:nvPr/>
        </p:nvSpPr>
        <p:spPr>
          <a:xfrm>
            <a:off x="594360" y="2670048"/>
            <a:ext cx="2971800" cy="749808"/>
          </a:xfrm>
          <a:prstGeom prst="roundRect">
            <a:avLst>
              <a:gd name="adj" fmla="val 12195"/>
            </a:avLst>
          </a:prstGeom>
          <a:solidFill>
            <a:srgbClr val="EBE5FC"/>
          </a:solidFill>
          <a:ln w="15875">
            <a:solidFill>
              <a:srgbClr val="6D4DD1"/>
            </a:solidFill>
            <a:prstDash val="solid"/>
          </a:ln>
          <a:effectLst>
            <a:outerShdw sx="100000" sy="100000" kx="0" ky="0" algn="bl" rotWithShape="0" blurRad="101600" dist="19050" dir="5400000">
              <a:srgbClr val="9FB0C2">
                <a:alpha val="24000"/>
              </a:srgbClr>
            </a:outerShdw>
          </a:effectLst>
        </p:spPr>
      </p:sp>
      <p:sp>
        <p:nvSpPr>
          <p:cNvPr id="14" name="Shape 10"/>
          <p:cNvSpPr/>
          <p:nvPr/>
        </p:nvSpPr>
        <p:spPr>
          <a:xfrm>
            <a:off x="731520" y="2852928"/>
            <a:ext cx="384048" cy="384048"/>
          </a:xfrm>
          <a:prstGeom prst="roundRect">
            <a:avLst>
              <a:gd name="adj" fmla="val 23810"/>
            </a:avLst>
          </a:prstGeom>
          <a:solidFill>
            <a:srgbClr val="6D4DD1"/>
          </a:solidFill>
          <a:ln/>
        </p:spPr>
      </p:sp>
      <p:pic>
        <p:nvPicPr>
          <p:cNvPr id="15" name="Image 2" descr="preencoded.png">    </p:cNvPr>
          <p:cNvPicPr>
            <a:picLocks noChangeAspect="1"/>
          </p:cNvPicPr>
          <p:nvPr/>
        </p:nvPicPr>
        <p:blipFill>
          <a:blip r:embed="rId3"/>
          <a:stretch>
            <a:fillRect/>
          </a:stretch>
        </p:blipFill>
        <p:spPr>
          <a:xfrm>
            <a:off x="816011" y="2937419"/>
            <a:ext cx="215067" cy="215067"/>
          </a:xfrm>
          <a:prstGeom prst="rect">
            <a:avLst/>
          </a:prstGeom>
        </p:spPr>
      </p:pic>
      <p:sp>
        <p:nvSpPr>
          <p:cNvPr id="16" name="Text 11"/>
          <p:cNvSpPr txBox="1"/>
          <p:nvPr/>
        </p:nvSpPr>
        <p:spPr>
          <a:xfrm>
            <a:off x="1252728" y="2670048"/>
            <a:ext cx="2203704" cy="749808"/>
          </a:xfrm>
          <a:prstGeom prst="rect">
            <a:avLst/>
          </a:prstGeom>
          <a:noFill/>
          <a:ln/>
        </p:spPr>
        <p:txBody>
          <a:bodyPr wrap="square" lIns="0" tIns="0" rIns="0" bIns="0" rtlCol="0" anchor="ctr"/>
          <a:lstStyle/>
          <a:p>
            <a:pPr algn="l" indent="0" marL="0">
              <a:lnSpc>
                <a:spcPct val="104000"/>
              </a:lnSpc>
              <a:buNone/>
            </a:pPr>
            <a:r>
              <a:rPr lang="en-US" sz="800" b="1" spc="110" kern="0" dirty="0">
                <a:solidFill>
                  <a:srgbClr val="6D4DD1"/>
                </a:solidFill>
                <a:latin typeface="Calibri" pitchFamily="34" charset="0"/>
                <a:ea typeface="Calibri" pitchFamily="34" charset="-122"/>
                <a:cs typeface="Calibri" pitchFamily="34" charset="-120"/>
              </a:rPr>
              <a:t>BOTTOM-UP</a:t>
            </a:r>
            <a:endParaRPr lang="en-US" sz="800" dirty="0"/>
          </a:p>
          <a:p>
            <a:pPr algn="l" indent="0" marL="0">
              <a:lnSpc>
                <a:spcPct val="104000"/>
              </a:lnSpc>
              <a:buNone/>
            </a:pPr>
            <a:r>
              <a:rPr lang="en-US" sz="950" b="1" dirty="0">
                <a:solidFill>
                  <a:srgbClr val="35236E"/>
                </a:solidFill>
                <a:latin typeface="Calibri" pitchFamily="34" charset="0"/>
                <a:ea typeface="Calibri" pitchFamily="34" charset="-122"/>
                <a:cs typeface="Calibri" pitchFamily="34" charset="-120"/>
              </a:rPr>
              <a:t>ETF holdings · news &amp; transcripts · empirical extraction</a:t>
            </a:r>
            <a:endParaRPr lang="en-US" sz="800" dirty="0"/>
          </a:p>
        </p:txBody>
      </p:sp>
      <p:sp>
        <p:nvSpPr>
          <p:cNvPr id="17" name="Shape 12"/>
          <p:cNvSpPr/>
          <p:nvPr/>
        </p:nvSpPr>
        <p:spPr>
          <a:xfrm>
            <a:off x="3611880" y="3044952"/>
            <a:ext cx="320040" cy="18288"/>
          </a:xfrm>
          <a:prstGeom prst="line">
            <a:avLst/>
          </a:prstGeom>
          <a:noFill/>
          <a:ln w="16510">
            <a:solidFill>
              <a:srgbClr val="2F6FD0"/>
            </a:solidFill>
            <a:prstDash val="solid"/>
            <a:headEnd type="none"/>
            <a:tailEnd type="triangle"/>
          </a:ln>
        </p:spPr>
      </p:sp>
      <p:sp>
        <p:nvSpPr>
          <p:cNvPr id="18" name="Shape 13"/>
          <p:cNvSpPr/>
          <p:nvPr/>
        </p:nvSpPr>
        <p:spPr>
          <a:xfrm>
            <a:off x="594360" y="3602736"/>
            <a:ext cx="2971800" cy="749808"/>
          </a:xfrm>
          <a:prstGeom prst="roundRect">
            <a:avLst>
              <a:gd name="adj" fmla="val 12195"/>
            </a:avLst>
          </a:prstGeom>
          <a:solidFill>
            <a:srgbClr val="DCF2F4"/>
          </a:solidFill>
          <a:ln w="15875">
            <a:solidFill>
              <a:srgbClr val="108494"/>
            </a:solidFill>
            <a:prstDash val="solid"/>
          </a:ln>
          <a:effectLst>
            <a:outerShdw sx="100000" sy="100000" kx="0" ky="0" algn="bl" rotWithShape="0" blurRad="101600" dist="19050" dir="5400000">
              <a:srgbClr val="9FB0C2">
                <a:alpha val="24000"/>
              </a:srgbClr>
            </a:outerShdw>
          </a:effectLst>
        </p:spPr>
      </p:sp>
      <p:sp>
        <p:nvSpPr>
          <p:cNvPr id="19" name="Shape 14"/>
          <p:cNvSpPr/>
          <p:nvPr/>
        </p:nvSpPr>
        <p:spPr>
          <a:xfrm>
            <a:off x="731520" y="3785616"/>
            <a:ext cx="384048" cy="384048"/>
          </a:xfrm>
          <a:prstGeom prst="roundRect">
            <a:avLst>
              <a:gd name="adj" fmla="val 23810"/>
            </a:avLst>
          </a:prstGeom>
          <a:solidFill>
            <a:srgbClr val="108494"/>
          </a:solidFill>
          <a:ln/>
        </p:spPr>
      </p:sp>
      <p:pic>
        <p:nvPicPr>
          <p:cNvPr id="20" name="Image 3" descr="preencoded.png">    </p:cNvPr>
          <p:cNvPicPr>
            <a:picLocks noChangeAspect="1"/>
          </p:cNvPicPr>
          <p:nvPr/>
        </p:nvPicPr>
        <p:blipFill>
          <a:blip r:embed="rId4"/>
          <a:stretch>
            <a:fillRect/>
          </a:stretch>
        </p:blipFill>
        <p:spPr>
          <a:xfrm>
            <a:off x="816011" y="3870107"/>
            <a:ext cx="215067" cy="215067"/>
          </a:xfrm>
          <a:prstGeom prst="rect">
            <a:avLst/>
          </a:prstGeom>
        </p:spPr>
      </p:pic>
      <p:sp>
        <p:nvSpPr>
          <p:cNvPr id="21" name="Text 15"/>
          <p:cNvSpPr txBox="1"/>
          <p:nvPr/>
        </p:nvSpPr>
        <p:spPr>
          <a:xfrm>
            <a:off x="1252728" y="3602736"/>
            <a:ext cx="2203704" cy="749808"/>
          </a:xfrm>
          <a:prstGeom prst="rect">
            <a:avLst/>
          </a:prstGeom>
          <a:noFill/>
          <a:ln/>
        </p:spPr>
        <p:txBody>
          <a:bodyPr wrap="square" lIns="0" tIns="0" rIns="0" bIns="0" rtlCol="0" anchor="ctr"/>
          <a:lstStyle/>
          <a:p>
            <a:pPr algn="l" indent="0" marL="0">
              <a:lnSpc>
                <a:spcPct val="104000"/>
              </a:lnSpc>
              <a:buNone/>
            </a:pPr>
            <a:r>
              <a:rPr lang="en-US" sz="800" b="1" spc="110" kern="0" dirty="0">
                <a:solidFill>
                  <a:srgbClr val="108494"/>
                </a:solidFill>
                <a:latin typeface="Calibri" pitchFamily="34" charset="0"/>
                <a:ea typeface="Calibri" pitchFamily="34" charset="-122"/>
                <a:cs typeface="Calibri" pitchFamily="34" charset="-120"/>
              </a:rPr>
              <a:t>RECONCILED</a:t>
            </a:r>
            <a:endParaRPr lang="en-US" sz="800" dirty="0"/>
          </a:p>
          <a:p>
            <a:pPr algn="l" indent="0" marL="0">
              <a:lnSpc>
                <a:spcPct val="104000"/>
              </a:lnSpc>
              <a:buNone/>
            </a:pPr>
            <a:r>
              <a:rPr lang="en-US" sz="950" b="1" dirty="0">
                <a:solidFill>
                  <a:srgbClr val="0A4451"/>
                </a:solidFill>
                <a:latin typeface="Calibri" pitchFamily="34" charset="0"/>
                <a:ea typeface="Calibri" pitchFamily="34" charset="-122"/>
                <a:cs typeface="Calibri" pitchFamily="34" charset="-120"/>
              </a:rPr>
              <a:t>compare and merge two saved taxonomies</a:t>
            </a:r>
            <a:endParaRPr lang="en-US" sz="800" dirty="0"/>
          </a:p>
        </p:txBody>
      </p:sp>
      <p:sp>
        <p:nvSpPr>
          <p:cNvPr id="22" name="Shape 16"/>
          <p:cNvSpPr/>
          <p:nvPr/>
        </p:nvSpPr>
        <p:spPr>
          <a:xfrm flipV="1">
            <a:off x="3611880" y="3063240"/>
            <a:ext cx="320040" cy="914400"/>
          </a:xfrm>
          <a:prstGeom prst="line">
            <a:avLst/>
          </a:prstGeom>
          <a:noFill/>
          <a:ln w="16510">
            <a:solidFill>
              <a:srgbClr val="2F6FD0"/>
            </a:solidFill>
            <a:prstDash val="solid"/>
            <a:headEnd type="none"/>
            <a:tailEnd type="triangle"/>
          </a:ln>
        </p:spPr>
      </p:sp>
      <p:sp>
        <p:nvSpPr>
          <p:cNvPr id="23" name="Shape 17"/>
          <p:cNvSpPr/>
          <p:nvPr/>
        </p:nvSpPr>
        <p:spPr>
          <a:xfrm>
            <a:off x="3977640" y="2331720"/>
            <a:ext cx="2286000" cy="1463040"/>
          </a:xfrm>
          <a:prstGeom prst="roundRect">
            <a:avLst>
              <a:gd name="adj" fmla="val 6250"/>
            </a:avLst>
          </a:prstGeom>
          <a:solidFill>
            <a:srgbClr val="E0F3E3"/>
          </a:solidFill>
          <a:ln w="15875">
            <a:solidFill>
              <a:srgbClr val="2F8F48"/>
            </a:solidFill>
            <a:prstDash val="solid"/>
          </a:ln>
          <a:effectLst>
            <a:outerShdw sx="100000" sy="100000" kx="0" ky="0" algn="bl" rotWithShape="0" blurRad="101600" dist="19050" dir="5400000">
              <a:srgbClr val="9FB0C2">
                <a:alpha val="24000"/>
              </a:srgbClr>
            </a:outerShdw>
          </a:effectLst>
        </p:spPr>
      </p:sp>
      <p:sp>
        <p:nvSpPr>
          <p:cNvPr id="24" name="Shape 18"/>
          <p:cNvSpPr/>
          <p:nvPr/>
        </p:nvSpPr>
        <p:spPr>
          <a:xfrm>
            <a:off x="4919472" y="2478024"/>
            <a:ext cx="402336" cy="402336"/>
          </a:xfrm>
          <a:prstGeom prst="roundRect">
            <a:avLst>
              <a:gd name="adj" fmla="val 22727"/>
            </a:avLst>
          </a:prstGeom>
          <a:solidFill>
            <a:srgbClr val="2F8F48"/>
          </a:solidFill>
          <a:ln/>
        </p:spPr>
      </p:sp>
      <p:pic>
        <p:nvPicPr>
          <p:cNvPr id="25" name="Image 4" descr="preencoded.png">    </p:cNvPr>
          <p:cNvPicPr>
            <a:picLocks noChangeAspect="1"/>
          </p:cNvPicPr>
          <p:nvPr/>
        </p:nvPicPr>
        <p:blipFill>
          <a:blip r:embed="rId5"/>
          <a:stretch>
            <a:fillRect/>
          </a:stretch>
        </p:blipFill>
        <p:spPr>
          <a:xfrm>
            <a:off x="5007986" y="2566538"/>
            <a:ext cx="225308" cy="225308"/>
          </a:xfrm>
          <a:prstGeom prst="rect">
            <a:avLst/>
          </a:prstGeom>
        </p:spPr>
      </p:pic>
      <p:sp>
        <p:nvSpPr>
          <p:cNvPr id="26" name="Text 19"/>
          <p:cNvSpPr txBox="1"/>
          <p:nvPr/>
        </p:nvSpPr>
        <p:spPr>
          <a:xfrm>
            <a:off x="4069080" y="2581168"/>
            <a:ext cx="2103120" cy="1213592"/>
          </a:xfrm>
          <a:prstGeom prst="rect">
            <a:avLst/>
          </a:prstGeom>
          <a:noFill/>
          <a:ln/>
        </p:spPr>
        <p:txBody>
          <a:bodyPr wrap="square" lIns="0" tIns="0" rIns="0" bIns="0" rtlCol="0" anchor="ctr"/>
          <a:lstStyle/>
          <a:p>
            <a:pPr algn="ctr" indent="0" marL="0">
              <a:lnSpc>
                <a:spcPct val="104000"/>
              </a:lnSpc>
              <a:buNone/>
            </a:pPr>
            <a:r>
              <a:rPr lang="en-US" sz="750" b="1" spc="110" kern="0" dirty="0">
                <a:solidFill>
                  <a:srgbClr val="2F8F48"/>
                </a:solidFill>
                <a:latin typeface="Calibri" pitchFamily="34" charset="0"/>
                <a:ea typeface="Calibri" pitchFamily="34" charset="-122"/>
                <a:cs typeface="Calibri" pitchFamily="34" charset="-120"/>
              </a:rPr>
              <a:t>VERSIONED · RATIFIED</a:t>
            </a:r>
            <a:endParaRPr lang="en-US" sz="750" dirty="0"/>
          </a:p>
          <a:p>
            <a:pPr algn="ctr" indent="0" marL="0">
              <a:lnSpc>
                <a:spcPct val="104000"/>
              </a:lnSpc>
              <a:buNone/>
            </a:pPr>
            <a:r>
              <a:rPr lang="en-US" sz="1400" b="1" dirty="0">
                <a:solidFill>
                  <a:srgbClr val="17431F"/>
                </a:solidFill>
                <a:latin typeface="Calibri" pitchFamily="34" charset="0"/>
                <a:ea typeface="Calibri" pitchFamily="34" charset="-122"/>
                <a:cs typeface="Calibri" pitchFamily="34" charset="-120"/>
              </a:rPr>
              <a:t>Taxonomy</a:t>
            </a:r>
            <a:endParaRPr lang="en-US" sz="750" dirty="0"/>
          </a:p>
          <a:p>
            <a:pPr algn="ctr" indent="0" marL="0">
              <a:lnSpc>
                <a:spcPct val="104000"/>
              </a:lnSpc>
              <a:buNone/>
            </a:pPr>
            <a:r>
              <a:rPr lang="en-US" sz="800" dirty="0">
                <a:solidFill>
                  <a:srgbClr val="17431F"/>
                </a:solidFill>
                <a:latin typeface="Calibri" pitchFamily="34" charset="0"/>
                <a:ea typeface="Calibri" pitchFamily="34" charset="-122"/>
                <a:cs typeface="Calibri" pitchFamily="34" charset="-120"/>
              </a:rPr>
              <a:t>MECE activities, each with in-scope and out-of-scope wording, seed keywords and ISIC codes</a:t>
            </a:r>
            <a:endParaRPr lang="en-US" sz="750" dirty="0"/>
          </a:p>
        </p:txBody>
      </p:sp>
      <p:sp>
        <p:nvSpPr>
          <p:cNvPr id="27" name="Shape 20"/>
          <p:cNvSpPr/>
          <p:nvPr/>
        </p:nvSpPr>
        <p:spPr>
          <a:xfrm>
            <a:off x="6309360" y="3063240"/>
            <a:ext cx="777240" cy="0"/>
          </a:xfrm>
          <a:prstGeom prst="line">
            <a:avLst/>
          </a:prstGeom>
          <a:noFill/>
          <a:ln w="20320">
            <a:solidFill>
              <a:srgbClr val="2F8F48"/>
            </a:solidFill>
            <a:prstDash val="solid"/>
            <a:headEnd type="none"/>
            <a:tailEnd type="triangle"/>
          </a:ln>
        </p:spPr>
      </p:sp>
      <p:sp>
        <p:nvSpPr>
          <p:cNvPr id="28" name="Shape 21"/>
          <p:cNvSpPr/>
          <p:nvPr/>
        </p:nvSpPr>
        <p:spPr>
          <a:xfrm>
            <a:off x="7132320" y="1627632"/>
            <a:ext cx="4462272" cy="2926080"/>
          </a:xfrm>
          <a:prstGeom prst="roundRect">
            <a:avLst>
              <a:gd name="adj" fmla="val 1250"/>
            </a:avLst>
          </a:prstGeom>
          <a:solidFill>
            <a:srgbClr val="F7FAFC"/>
          </a:solidFill>
          <a:ln w="15875">
            <a:solidFill>
              <a:srgbClr val="9FB2C4"/>
            </a:solidFill>
            <a:prstDash val="dash"/>
          </a:ln>
        </p:spPr>
      </p:sp>
      <p:sp>
        <p:nvSpPr>
          <p:cNvPr id="29" name="Shape 22"/>
          <p:cNvSpPr/>
          <p:nvPr/>
        </p:nvSpPr>
        <p:spPr>
          <a:xfrm>
            <a:off x="7278624" y="1508760"/>
            <a:ext cx="2033626" cy="274320"/>
          </a:xfrm>
          <a:prstGeom prst="roundRect">
            <a:avLst>
              <a:gd name="adj" fmla="val 50000"/>
            </a:avLst>
          </a:prstGeom>
          <a:solidFill>
            <a:srgbClr val="64798F"/>
          </a:solidFill>
          <a:ln/>
        </p:spPr>
      </p:sp>
      <p:pic>
        <p:nvPicPr>
          <p:cNvPr id="30" name="Image 5" descr="preencoded.png">    </p:cNvPr>
          <p:cNvPicPr>
            <a:picLocks noChangeAspect="1"/>
          </p:cNvPicPr>
          <p:nvPr/>
        </p:nvPicPr>
        <p:blipFill>
          <a:blip r:embed="rId6"/>
          <a:stretch>
            <a:fillRect/>
          </a:stretch>
        </p:blipFill>
        <p:spPr>
          <a:xfrm>
            <a:off x="7397496" y="1577340"/>
            <a:ext cx="132588" cy="132588"/>
          </a:xfrm>
          <a:prstGeom prst="rect">
            <a:avLst/>
          </a:prstGeom>
        </p:spPr>
      </p:pic>
      <p:sp>
        <p:nvSpPr>
          <p:cNvPr id="31" name="Text 23"/>
          <p:cNvSpPr txBox="1"/>
          <p:nvPr/>
        </p:nvSpPr>
        <p:spPr>
          <a:xfrm>
            <a:off x="7552944" y="1508760"/>
            <a:ext cx="1759306" cy="274320"/>
          </a:xfrm>
          <a:prstGeom prst="rect">
            <a:avLst/>
          </a:prstGeom>
          <a:noFill/>
          <a:ln/>
        </p:spPr>
        <p:txBody>
          <a:bodyPr wrap="square" lIns="0" tIns="0" rIns="0" bIns="0" rtlCol="0" anchor="ctr"/>
          <a:lstStyle/>
          <a:p>
            <a:pPr algn="ctr" indent="0" marL="0">
              <a:buNone/>
            </a:pPr>
            <a:r>
              <a:rPr lang="en-US" sz="850" b="1" spc="110" kern="0" dirty="0">
                <a:solidFill>
                  <a:srgbClr val="FFFFFF"/>
                </a:solidFill>
                <a:latin typeface="Calibri" pitchFamily="34" charset="0"/>
                <a:ea typeface="Calibri" pitchFamily="34" charset="-122"/>
                <a:cs typeface="Calibri" pitchFamily="34" charset="-120"/>
              </a:rPr>
              <a:t>PER COMPANY × ACTIVITY</a:t>
            </a:r>
            <a:endParaRPr lang="en-US" sz="850" dirty="0"/>
          </a:p>
        </p:txBody>
      </p:sp>
      <p:sp>
        <p:nvSpPr>
          <p:cNvPr id="32" name="Shape 24"/>
          <p:cNvSpPr/>
          <p:nvPr/>
        </p:nvSpPr>
        <p:spPr>
          <a:xfrm>
            <a:off x="7406640" y="1993392"/>
            <a:ext cx="3913632" cy="621792"/>
          </a:xfrm>
          <a:prstGeom prst="roundRect">
            <a:avLst>
              <a:gd name="adj" fmla="val 14706"/>
            </a:avLst>
          </a:prstGeom>
          <a:solidFill>
            <a:srgbClr val="EBE5FC"/>
          </a:solidFill>
          <a:ln w="15875">
            <a:solidFill>
              <a:srgbClr val="6D4DD1"/>
            </a:solidFill>
            <a:prstDash val="solid"/>
          </a:ln>
          <a:effectLst>
            <a:outerShdw sx="100000" sy="100000" kx="0" ky="0" algn="bl" rotWithShape="0" blurRad="101600" dist="19050" dir="5400000">
              <a:srgbClr val="9FB0C2">
                <a:alpha val="24000"/>
              </a:srgbClr>
            </a:outerShdw>
          </a:effectLst>
        </p:spPr>
      </p:sp>
      <p:sp>
        <p:nvSpPr>
          <p:cNvPr id="33" name="Shape 25"/>
          <p:cNvSpPr/>
          <p:nvPr/>
        </p:nvSpPr>
        <p:spPr>
          <a:xfrm>
            <a:off x="7543800" y="2148840"/>
            <a:ext cx="310896" cy="310896"/>
          </a:xfrm>
          <a:prstGeom prst="roundRect">
            <a:avLst>
              <a:gd name="adj" fmla="val 29412"/>
            </a:avLst>
          </a:prstGeom>
          <a:solidFill>
            <a:srgbClr val="6D4DD1"/>
          </a:solidFill>
          <a:ln/>
        </p:spPr>
      </p:sp>
      <p:pic>
        <p:nvPicPr>
          <p:cNvPr id="34" name="Image 6" descr="preencoded.png">    </p:cNvPr>
          <p:cNvPicPr>
            <a:picLocks noChangeAspect="1"/>
          </p:cNvPicPr>
          <p:nvPr/>
        </p:nvPicPr>
        <p:blipFill>
          <a:blip r:embed="rId7"/>
          <a:stretch>
            <a:fillRect/>
          </a:stretch>
        </p:blipFill>
        <p:spPr>
          <a:xfrm>
            <a:off x="7612197" y="2217237"/>
            <a:ext cx="174102" cy="174102"/>
          </a:xfrm>
          <a:prstGeom prst="rect">
            <a:avLst/>
          </a:prstGeom>
        </p:spPr>
      </p:pic>
      <p:sp>
        <p:nvSpPr>
          <p:cNvPr id="35" name="Text 26"/>
          <p:cNvSpPr txBox="1"/>
          <p:nvPr/>
        </p:nvSpPr>
        <p:spPr>
          <a:xfrm>
            <a:off x="7991856" y="1993392"/>
            <a:ext cx="3218688" cy="621792"/>
          </a:xfrm>
          <a:prstGeom prst="rect">
            <a:avLst/>
          </a:prstGeom>
          <a:noFill/>
          <a:ln/>
        </p:spPr>
        <p:txBody>
          <a:bodyPr wrap="square" lIns="0" tIns="0" rIns="0" bIns="0" rtlCol="0" anchor="ctr"/>
          <a:lstStyle/>
          <a:p>
            <a:pPr algn="l" indent="0" marL="0">
              <a:lnSpc>
                <a:spcPct val="104000"/>
              </a:lnSpc>
              <a:buNone/>
            </a:pPr>
            <a:r>
              <a:rPr lang="en-US" sz="1100" b="1" dirty="0">
                <a:solidFill>
                  <a:srgbClr val="35236E"/>
                </a:solidFill>
                <a:latin typeface="Calibri" pitchFamily="34" charset="0"/>
                <a:ea typeface="Calibri" pitchFamily="34" charset="-122"/>
                <a:cs typeface="Calibri" pitchFamily="34" charset="-120"/>
              </a:rPr>
              <a:t>Advocate</a:t>
            </a:r>
            <a:endParaRPr lang="en-US" sz="1100" dirty="0"/>
          </a:p>
          <a:p>
            <a:pPr algn="l" indent="0" marL="0">
              <a:lnSpc>
                <a:spcPct val="104000"/>
              </a:lnSpc>
              <a:buNone/>
            </a:pPr>
            <a:r>
              <a:rPr lang="en-US" sz="800" dirty="0">
                <a:solidFill>
                  <a:srgbClr val="35236E"/>
                </a:solidFill>
                <a:latin typeface="Calibri" pitchFamily="34" charset="0"/>
                <a:ea typeface="Calibri" pitchFamily="34" charset="-122"/>
                <a:cs typeface="Calibri" pitchFamily="34" charset="-120"/>
              </a:rPr>
              <a:t>argues for inclusion from what is disclosed</a:t>
            </a:r>
            <a:endParaRPr lang="en-US" sz="1100" dirty="0"/>
          </a:p>
        </p:txBody>
      </p:sp>
      <p:sp>
        <p:nvSpPr>
          <p:cNvPr id="36" name="Shape 27"/>
          <p:cNvSpPr/>
          <p:nvPr/>
        </p:nvSpPr>
        <p:spPr>
          <a:xfrm>
            <a:off x="9363456" y="2624328"/>
            <a:ext cx="0" cy="137160"/>
          </a:xfrm>
          <a:prstGeom prst="line">
            <a:avLst/>
          </a:prstGeom>
          <a:noFill/>
          <a:ln w="17780">
            <a:solidFill>
              <a:srgbClr val="6D4DD1"/>
            </a:solidFill>
            <a:prstDash val="solid"/>
            <a:headEnd type="none"/>
            <a:tailEnd type="triangle"/>
          </a:ln>
        </p:spPr>
      </p:sp>
      <p:sp>
        <p:nvSpPr>
          <p:cNvPr id="37" name="Shape 28"/>
          <p:cNvSpPr/>
          <p:nvPr/>
        </p:nvSpPr>
        <p:spPr>
          <a:xfrm>
            <a:off x="7406640" y="2779776"/>
            <a:ext cx="3913632" cy="621792"/>
          </a:xfrm>
          <a:prstGeom prst="roundRect">
            <a:avLst>
              <a:gd name="adj" fmla="val 14706"/>
            </a:avLst>
          </a:prstGeom>
          <a:solidFill>
            <a:srgbClr val="EBE5FC"/>
          </a:solidFill>
          <a:ln w="15875">
            <a:solidFill>
              <a:srgbClr val="6D4DD1"/>
            </a:solidFill>
            <a:prstDash val="solid"/>
          </a:ln>
          <a:effectLst>
            <a:outerShdw sx="100000" sy="100000" kx="0" ky="0" algn="bl" rotWithShape="0" blurRad="101600" dist="19050" dir="5400000">
              <a:srgbClr val="9FB0C2">
                <a:alpha val="24000"/>
              </a:srgbClr>
            </a:outerShdw>
          </a:effectLst>
        </p:spPr>
      </p:sp>
      <p:sp>
        <p:nvSpPr>
          <p:cNvPr id="38" name="Shape 29"/>
          <p:cNvSpPr/>
          <p:nvPr/>
        </p:nvSpPr>
        <p:spPr>
          <a:xfrm>
            <a:off x="7543800" y="2935224"/>
            <a:ext cx="310896" cy="310896"/>
          </a:xfrm>
          <a:prstGeom prst="roundRect">
            <a:avLst>
              <a:gd name="adj" fmla="val 29412"/>
            </a:avLst>
          </a:prstGeom>
          <a:solidFill>
            <a:srgbClr val="6D4DD1"/>
          </a:solidFill>
          <a:ln/>
        </p:spPr>
      </p:sp>
      <p:pic>
        <p:nvPicPr>
          <p:cNvPr id="39" name="Image 7" descr="preencoded.png">    </p:cNvPr>
          <p:cNvPicPr>
            <a:picLocks noChangeAspect="1"/>
          </p:cNvPicPr>
          <p:nvPr/>
        </p:nvPicPr>
        <p:blipFill>
          <a:blip r:embed="rId8"/>
          <a:stretch>
            <a:fillRect/>
          </a:stretch>
        </p:blipFill>
        <p:spPr>
          <a:xfrm>
            <a:off x="7612197" y="3003621"/>
            <a:ext cx="174102" cy="174102"/>
          </a:xfrm>
          <a:prstGeom prst="rect">
            <a:avLst/>
          </a:prstGeom>
        </p:spPr>
      </p:pic>
      <p:sp>
        <p:nvSpPr>
          <p:cNvPr id="40" name="Text 30"/>
          <p:cNvSpPr txBox="1"/>
          <p:nvPr/>
        </p:nvSpPr>
        <p:spPr>
          <a:xfrm>
            <a:off x="7991856" y="2779776"/>
            <a:ext cx="3218688" cy="621792"/>
          </a:xfrm>
          <a:prstGeom prst="rect">
            <a:avLst/>
          </a:prstGeom>
          <a:noFill/>
          <a:ln/>
        </p:spPr>
        <p:txBody>
          <a:bodyPr wrap="square" lIns="0" tIns="0" rIns="0" bIns="0" rtlCol="0" anchor="ctr"/>
          <a:lstStyle/>
          <a:p>
            <a:pPr algn="l" indent="0" marL="0">
              <a:lnSpc>
                <a:spcPct val="104000"/>
              </a:lnSpc>
              <a:buNone/>
            </a:pPr>
            <a:r>
              <a:rPr lang="en-US" sz="1100" b="1" dirty="0">
                <a:solidFill>
                  <a:srgbClr val="35236E"/>
                </a:solidFill>
                <a:latin typeface="Calibri" pitchFamily="34" charset="0"/>
                <a:ea typeface="Calibri" pitchFamily="34" charset="-122"/>
                <a:cs typeface="Calibri" pitchFamily="34" charset="-120"/>
              </a:rPr>
              <a:t>Opposing</a:t>
            </a:r>
            <a:endParaRPr lang="en-US" sz="1100" dirty="0"/>
          </a:p>
          <a:p>
            <a:pPr algn="l" indent="0" marL="0">
              <a:lnSpc>
                <a:spcPct val="104000"/>
              </a:lnSpc>
              <a:buNone/>
            </a:pPr>
            <a:r>
              <a:rPr lang="en-US" sz="800" dirty="0">
                <a:solidFill>
                  <a:srgbClr val="35236E"/>
                </a:solidFill>
                <a:latin typeface="Calibri" pitchFamily="34" charset="0"/>
                <a:ea typeface="Calibri" pitchFamily="34" charset="-122"/>
                <a:cs typeface="Calibri" pitchFamily="34" charset="-120"/>
              </a:rPr>
              <a:t>hunts aspiration, out-of-scope activity, greenwash</a:t>
            </a:r>
            <a:endParaRPr lang="en-US" sz="1100" dirty="0"/>
          </a:p>
        </p:txBody>
      </p:sp>
      <p:sp>
        <p:nvSpPr>
          <p:cNvPr id="41" name="Shape 31"/>
          <p:cNvSpPr/>
          <p:nvPr/>
        </p:nvSpPr>
        <p:spPr>
          <a:xfrm>
            <a:off x="9363456" y="3410712"/>
            <a:ext cx="0" cy="137160"/>
          </a:xfrm>
          <a:prstGeom prst="line">
            <a:avLst/>
          </a:prstGeom>
          <a:noFill/>
          <a:ln w="17780">
            <a:solidFill>
              <a:srgbClr val="6D4DD1"/>
            </a:solidFill>
            <a:prstDash val="solid"/>
            <a:headEnd type="none"/>
            <a:tailEnd type="triangle"/>
          </a:ln>
        </p:spPr>
      </p:sp>
      <p:sp>
        <p:nvSpPr>
          <p:cNvPr id="42" name="Shape 32"/>
          <p:cNvSpPr/>
          <p:nvPr/>
        </p:nvSpPr>
        <p:spPr>
          <a:xfrm>
            <a:off x="7406640" y="3566160"/>
            <a:ext cx="3913632" cy="621792"/>
          </a:xfrm>
          <a:prstGeom prst="roundRect">
            <a:avLst>
              <a:gd name="adj" fmla="val 14706"/>
            </a:avLst>
          </a:prstGeom>
          <a:solidFill>
            <a:srgbClr val="EBE5FC"/>
          </a:solidFill>
          <a:ln w="15875">
            <a:solidFill>
              <a:srgbClr val="6D4DD1"/>
            </a:solidFill>
            <a:prstDash val="solid"/>
          </a:ln>
          <a:effectLst>
            <a:outerShdw sx="100000" sy="100000" kx="0" ky="0" algn="bl" rotWithShape="0" blurRad="101600" dist="19050" dir="5400000">
              <a:srgbClr val="9FB0C2">
                <a:alpha val="24000"/>
              </a:srgbClr>
            </a:outerShdw>
          </a:effectLst>
        </p:spPr>
      </p:sp>
      <p:sp>
        <p:nvSpPr>
          <p:cNvPr id="43" name="Shape 33"/>
          <p:cNvSpPr/>
          <p:nvPr/>
        </p:nvSpPr>
        <p:spPr>
          <a:xfrm>
            <a:off x="7543800" y="3721608"/>
            <a:ext cx="310896" cy="310896"/>
          </a:xfrm>
          <a:prstGeom prst="roundRect">
            <a:avLst>
              <a:gd name="adj" fmla="val 29412"/>
            </a:avLst>
          </a:prstGeom>
          <a:solidFill>
            <a:srgbClr val="6D4DD1"/>
          </a:solidFill>
          <a:ln/>
        </p:spPr>
      </p:sp>
      <p:pic>
        <p:nvPicPr>
          <p:cNvPr id="44" name="Image 8" descr="preencoded.png">    </p:cNvPr>
          <p:cNvPicPr>
            <a:picLocks noChangeAspect="1"/>
          </p:cNvPicPr>
          <p:nvPr/>
        </p:nvPicPr>
        <p:blipFill>
          <a:blip r:embed="rId9"/>
          <a:stretch>
            <a:fillRect/>
          </a:stretch>
        </p:blipFill>
        <p:spPr>
          <a:xfrm>
            <a:off x="7612197" y="3790005"/>
            <a:ext cx="174102" cy="174102"/>
          </a:xfrm>
          <a:prstGeom prst="rect">
            <a:avLst/>
          </a:prstGeom>
        </p:spPr>
      </p:pic>
      <p:sp>
        <p:nvSpPr>
          <p:cNvPr id="45" name="Text 34"/>
          <p:cNvSpPr txBox="1"/>
          <p:nvPr/>
        </p:nvSpPr>
        <p:spPr>
          <a:xfrm>
            <a:off x="7991856" y="3566160"/>
            <a:ext cx="3218688" cy="621792"/>
          </a:xfrm>
          <a:prstGeom prst="rect">
            <a:avLst/>
          </a:prstGeom>
          <a:noFill/>
          <a:ln/>
        </p:spPr>
        <p:txBody>
          <a:bodyPr wrap="square" lIns="0" tIns="0" rIns="0" bIns="0" rtlCol="0" anchor="ctr"/>
          <a:lstStyle/>
          <a:p>
            <a:pPr algn="l" indent="0" marL="0">
              <a:lnSpc>
                <a:spcPct val="104000"/>
              </a:lnSpc>
              <a:buNone/>
            </a:pPr>
            <a:r>
              <a:rPr lang="en-US" sz="1100" b="1" dirty="0">
                <a:solidFill>
                  <a:srgbClr val="35236E"/>
                </a:solidFill>
                <a:latin typeface="Calibri" pitchFamily="34" charset="0"/>
                <a:ea typeface="Calibri" pitchFamily="34" charset="-122"/>
                <a:cs typeface="Calibri" pitchFamily="34" charset="-120"/>
              </a:rPr>
              <a:t>Adjudicator</a:t>
            </a:r>
            <a:endParaRPr lang="en-US" sz="1100" dirty="0"/>
          </a:p>
          <a:p>
            <a:pPr algn="l" indent="0" marL="0">
              <a:lnSpc>
                <a:spcPct val="104000"/>
              </a:lnSpc>
              <a:buNone/>
            </a:pPr>
            <a:r>
              <a:rPr lang="en-US" sz="800" dirty="0">
                <a:solidFill>
                  <a:srgbClr val="35236E"/>
                </a:solidFill>
                <a:latin typeface="Calibri" pitchFamily="34" charset="0"/>
                <a:ea typeface="Calibri" pitchFamily="34" charset="-122"/>
                <a:cs typeface="Calibri" pitchFamily="34" charset="-120"/>
              </a:rPr>
              <a:t>weighs both, sets verdict and confidence</a:t>
            </a:r>
            <a:endParaRPr lang="en-US" sz="1100" dirty="0"/>
          </a:p>
        </p:txBody>
      </p:sp>
      <p:sp>
        <p:nvSpPr>
          <p:cNvPr id="46" name="Text 35"/>
          <p:cNvSpPr txBox="1"/>
          <p:nvPr/>
        </p:nvSpPr>
        <p:spPr>
          <a:xfrm>
            <a:off x="7132320" y="4663440"/>
            <a:ext cx="4462272" cy="201168"/>
          </a:xfrm>
          <a:prstGeom prst="rect">
            <a:avLst/>
          </a:prstGeom>
          <a:noFill/>
          <a:ln/>
        </p:spPr>
        <p:txBody>
          <a:bodyPr wrap="square" lIns="0" tIns="0" rIns="0" bIns="0" rtlCol="0" anchor="ctr"/>
          <a:lstStyle/>
          <a:p>
            <a:pPr algn="ctr" indent="0" marL="0">
              <a:buNone/>
            </a:pPr>
            <a:r>
              <a:rPr lang="en-US" sz="850" b="1" spc="130" kern="0" dirty="0">
                <a:solidFill>
                  <a:srgbClr val="64798F"/>
                </a:solidFill>
                <a:latin typeface="Calibri" pitchFamily="34" charset="0"/>
                <a:ea typeface="Calibri" pitchFamily="34" charset="-122"/>
                <a:cs typeface="Calibri" pitchFamily="34" charset="-120"/>
              </a:rPr>
              <a:t>EXPOSURE IS A LADDER, NOT A YES/NO</a:t>
            </a:r>
            <a:endParaRPr lang="en-US" sz="850" dirty="0"/>
          </a:p>
        </p:txBody>
      </p:sp>
      <p:sp>
        <p:nvSpPr>
          <p:cNvPr id="47" name="Shape 36"/>
          <p:cNvSpPr/>
          <p:nvPr/>
        </p:nvSpPr>
        <p:spPr>
          <a:xfrm>
            <a:off x="7132320" y="4919472"/>
            <a:ext cx="1042416" cy="310896"/>
          </a:xfrm>
          <a:prstGeom prst="roundRect">
            <a:avLst>
              <a:gd name="adj" fmla="val 41176"/>
            </a:avLst>
          </a:prstGeom>
          <a:solidFill>
            <a:srgbClr val="E0F3E3"/>
          </a:solidFill>
          <a:ln w="12700">
            <a:solidFill>
              <a:srgbClr val="2F8F48"/>
            </a:solidFill>
            <a:prstDash val="solid"/>
          </a:ln>
        </p:spPr>
      </p:sp>
      <p:sp>
        <p:nvSpPr>
          <p:cNvPr id="48" name="Text 37"/>
          <p:cNvSpPr txBox="1"/>
          <p:nvPr/>
        </p:nvSpPr>
        <p:spPr>
          <a:xfrm>
            <a:off x="7132320" y="4919472"/>
            <a:ext cx="1042416" cy="310896"/>
          </a:xfrm>
          <a:prstGeom prst="rect">
            <a:avLst/>
          </a:prstGeom>
          <a:noFill/>
          <a:ln/>
        </p:spPr>
        <p:txBody>
          <a:bodyPr wrap="square" lIns="0" tIns="0" rIns="0" bIns="0" rtlCol="0" anchor="ctr"/>
          <a:lstStyle/>
          <a:p>
            <a:pPr algn="ctr" indent="0" marL="0">
              <a:buNone/>
            </a:pPr>
            <a:r>
              <a:rPr lang="en-US" sz="850" b="1" dirty="0">
                <a:solidFill>
                  <a:srgbClr val="17431F"/>
                </a:solidFill>
                <a:latin typeface="Calibri" pitchFamily="34" charset="0"/>
                <a:ea typeface="Calibri" pitchFamily="34" charset="-122"/>
                <a:cs typeface="Calibri" pitchFamily="34" charset="-120"/>
              </a:rPr>
              <a:t>Pure play</a:t>
            </a:r>
            <a:endParaRPr lang="en-US" sz="850" dirty="0"/>
          </a:p>
        </p:txBody>
      </p:sp>
      <p:sp>
        <p:nvSpPr>
          <p:cNvPr id="49" name="Shape 38"/>
          <p:cNvSpPr/>
          <p:nvPr/>
        </p:nvSpPr>
        <p:spPr>
          <a:xfrm>
            <a:off x="8275320" y="4919472"/>
            <a:ext cx="1042416" cy="310896"/>
          </a:xfrm>
          <a:prstGeom prst="roundRect">
            <a:avLst>
              <a:gd name="adj" fmla="val 41176"/>
            </a:avLst>
          </a:prstGeom>
          <a:solidFill>
            <a:srgbClr val="DCF2F4"/>
          </a:solidFill>
          <a:ln w="12700">
            <a:solidFill>
              <a:srgbClr val="108494"/>
            </a:solidFill>
            <a:prstDash val="solid"/>
          </a:ln>
        </p:spPr>
      </p:sp>
      <p:sp>
        <p:nvSpPr>
          <p:cNvPr id="50" name="Text 39"/>
          <p:cNvSpPr txBox="1"/>
          <p:nvPr/>
        </p:nvSpPr>
        <p:spPr>
          <a:xfrm>
            <a:off x="8275320" y="4919472"/>
            <a:ext cx="1042416" cy="310896"/>
          </a:xfrm>
          <a:prstGeom prst="rect">
            <a:avLst/>
          </a:prstGeom>
          <a:noFill/>
          <a:ln/>
        </p:spPr>
        <p:txBody>
          <a:bodyPr wrap="square" lIns="0" tIns="0" rIns="0" bIns="0" rtlCol="0" anchor="ctr"/>
          <a:lstStyle/>
          <a:p>
            <a:pPr algn="ctr" indent="0" marL="0">
              <a:buNone/>
            </a:pPr>
            <a:r>
              <a:rPr lang="en-US" sz="850" b="1" dirty="0">
                <a:solidFill>
                  <a:srgbClr val="0A4451"/>
                </a:solidFill>
                <a:latin typeface="Calibri" pitchFamily="34" charset="0"/>
                <a:ea typeface="Calibri" pitchFamily="34" charset="-122"/>
                <a:cs typeface="Calibri" pitchFamily="34" charset="-120"/>
              </a:rPr>
              <a:t>Significant</a:t>
            </a:r>
            <a:endParaRPr lang="en-US" sz="850" dirty="0"/>
          </a:p>
        </p:txBody>
      </p:sp>
      <p:sp>
        <p:nvSpPr>
          <p:cNvPr id="51" name="Shape 40"/>
          <p:cNvSpPr/>
          <p:nvPr/>
        </p:nvSpPr>
        <p:spPr>
          <a:xfrm>
            <a:off x="9418320" y="4919472"/>
            <a:ext cx="1042416" cy="310896"/>
          </a:xfrm>
          <a:prstGeom prst="roundRect">
            <a:avLst>
              <a:gd name="adj" fmla="val 41176"/>
            </a:avLst>
          </a:prstGeom>
          <a:solidFill>
            <a:srgbClr val="E3EDFC"/>
          </a:solidFill>
          <a:ln w="12700">
            <a:solidFill>
              <a:srgbClr val="2F6FD0"/>
            </a:solidFill>
            <a:prstDash val="solid"/>
          </a:ln>
        </p:spPr>
      </p:sp>
      <p:sp>
        <p:nvSpPr>
          <p:cNvPr id="52" name="Text 41"/>
          <p:cNvSpPr txBox="1"/>
          <p:nvPr/>
        </p:nvSpPr>
        <p:spPr>
          <a:xfrm>
            <a:off x="9418320" y="4919472"/>
            <a:ext cx="1042416" cy="310896"/>
          </a:xfrm>
          <a:prstGeom prst="rect">
            <a:avLst/>
          </a:prstGeom>
          <a:noFill/>
          <a:ln/>
        </p:spPr>
        <p:txBody>
          <a:bodyPr wrap="square" lIns="0" tIns="0" rIns="0" bIns="0" rtlCol="0" anchor="ctr"/>
          <a:lstStyle/>
          <a:p>
            <a:pPr algn="ctr" indent="0" marL="0">
              <a:buNone/>
            </a:pPr>
            <a:r>
              <a:rPr lang="en-US" sz="850" b="1" dirty="0">
                <a:solidFill>
                  <a:srgbClr val="153A61"/>
                </a:solidFill>
                <a:latin typeface="Calibri" pitchFamily="34" charset="0"/>
                <a:ea typeface="Calibri" pitchFamily="34" charset="-122"/>
                <a:cs typeface="Calibri" pitchFamily="34" charset="-120"/>
              </a:rPr>
              <a:t>Minor</a:t>
            </a:r>
            <a:endParaRPr lang="en-US" sz="850" dirty="0"/>
          </a:p>
        </p:txBody>
      </p:sp>
      <p:sp>
        <p:nvSpPr>
          <p:cNvPr id="53" name="Shape 42"/>
          <p:cNvSpPr/>
          <p:nvPr/>
        </p:nvSpPr>
        <p:spPr>
          <a:xfrm>
            <a:off x="10561320" y="4919472"/>
            <a:ext cx="1042416" cy="310896"/>
          </a:xfrm>
          <a:prstGeom prst="roundRect">
            <a:avLst>
              <a:gd name="adj" fmla="val 41176"/>
            </a:avLst>
          </a:prstGeom>
          <a:solidFill>
            <a:srgbClr val="EAF0F5"/>
          </a:solidFill>
          <a:ln w="12700">
            <a:solidFill>
              <a:srgbClr val="64798F"/>
            </a:solidFill>
            <a:prstDash val="solid"/>
          </a:ln>
        </p:spPr>
      </p:sp>
      <p:sp>
        <p:nvSpPr>
          <p:cNvPr id="54" name="Text 43"/>
          <p:cNvSpPr txBox="1"/>
          <p:nvPr/>
        </p:nvSpPr>
        <p:spPr>
          <a:xfrm>
            <a:off x="10561320" y="4919472"/>
            <a:ext cx="1042416" cy="310896"/>
          </a:xfrm>
          <a:prstGeom prst="rect">
            <a:avLst/>
          </a:prstGeom>
          <a:noFill/>
          <a:ln/>
        </p:spPr>
        <p:txBody>
          <a:bodyPr wrap="square" lIns="0" tIns="0" rIns="0" bIns="0" rtlCol="0" anchor="ctr"/>
          <a:lstStyle/>
          <a:p>
            <a:pPr algn="ctr" indent="0" marL="0">
              <a:buNone/>
            </a:pPr>
            <a:r>
              <a:rPr lang="en-US" sz="850" b="1" dirty="0">
                <a:solidFill>
                  <a:srgbClr val="24354A"/>
                </a:solidFill>
                <a:latin typeface="Calibri" pitchFamily="34" charset="0"/>
                <a:ea typeface="Calibri" pitchFamily="34" charset="-122"/>
                <a:cs typeface="Calibri" pitchFamily="34" charset="-120"/>
              </a:rPr>
              <a:t>None</a:t>
            </a:r>
            <a:endParaRPr lang="en-US" sz="850" dirty="0"/>
          </a:p>
        </p:txBody>
      </p:sp>
      <p:sp>
        <p:nvSpPr>
          <p:cNvPr id="55" name="Shape 44"/>
          <p:cNvSpPr/>
          <p:nvPr/>
        </p:nvSpPr>
        <p:spPr>
          <a:xfrm>
            <a:off x="594360" y="4846320"/>
            <a:ext cx="6263640" cy="713232"/>
          </a:xfrm>
          <a:prstGeom prst="roundRect">
            <a:avLst>
              <a:gd name="adj" fmla="val 12821"/>
            </a:avLst>
          </a:prstGeom>
          <a:solidFill>
            <a:srgbClr val="DCF2F4"/>
          </a:solidFill>
          <a:ln w="15875">
            <a:solidFill>
              <a:srgbClr val="108494"/>
            </a:solidFill>
            <a:prstDash val="solid"/>
          </a:ln>
          <a:effectLst>
            <a:outerShdw sx="100000" sy="100000" kx="0" ky="0" algn="bl" rotWithShape="0" blurRad="101600" dist="19050" dir="5400000">
              <a:srgbClr val="9FB0C2">
                <a:alpha val="24000"/>
              </a:srgbClr>
            </a:outerShdw>
          </a:effectLst>
        </p:spPr>
      </p:sp>
      <p:sp>
        <p:nvSpPr>
          <p:cNvPr id="56" name="Shape 45"/>
          <p:cNvSpPr/>
          <p:nvPr/>
        </p:nvSpPr>
        <p:spPr>
          <a:xfrm>
            <a:off x="731520" y="5010912"/>
            <a:ext cx="384048" cy="384048"/>
          </a:xfrm>
          <a:prstGeom prst="roundRect">
            <a:avLst>
              <a:gd name="adj" fmla="val 23810"/>
            </a:avLst>
          </a:prstGeom>
          <a:solidFill>
            <a:srgbClr val="108494"/>
          </a:solidFill>
          <a:ln/>
        </p:spPr>
      </p:sp>
      <p:pic>
        <p:nvPicPr>
          <p:cNvPr id="57" name="Image 9" descr="preencoded.png">    </p:cNvPr>
          <p:cNvPicPr>
            <a:picLocks noChangeAspect="1"/>
          </p:cNvPicPr>
          <p:nvPr/>
        </p:nvPicPr>
        <p:blipFill>
          <a:blip r:embed="rId10"/>
          <a:stretch>
            <a:fillRect/>
          </a:stretch>
        </p:blipFill>
        <p:spPr>
          <a:xfrm>
            <a:off x="816011" y="5095403"/>
            <a:ext cx="215067" cy="215067"/>
          </a:xfrm>
          <a:prstGeom prst="rect">
            <a:avLst/>
          </a:prstGeom>
        </p:spPr>
      </p:pic>
      <p:sp>
        <p:nvSpPr>
          <p:cNvPr id="58" name="Text 46"/>
          <p:cNvSpPr txBox="1"/>
          <p:nvPr/>
        </p:nvSpPr>
        <p:spPr>
          <a:xfrm>
            <a:off x="1252728" y="4846320"/>
            <a:ext cx="5495544" cy="713232"/>
          </a:xfrm>
          <a:prstGeom prst="rect">
            <a:avLst/>
          </a:prstGeom>
          <a:noFill/>
          <a:ln/>
        </p:spPr>
        <p:txBody>
          <a:bodyPr wrap="square" lIns="0" tIns="0" rIns="0" bIns="0" rtlCol="0" anchor="ctr"/>
          <a:lstStyle/>
          <a:p>
            <a:pPr algn="l" indent="0" marL="0">
              <a:lnSpc>
                <a:spcPct val="104000"/>
              </a:lnSpc>
              <a:buNone/>
            </a:pPr>
            <a:r>
              <a:rPr lang="en-US" sz="1050" b="1" dirty="0">
                <a:solidFill>
                  <a:srgbClr val="0A4451"/>
                </a:solidFill>
                <a:latin typeface="Calibri" pitchFamily="34" charset="0"/>
                <a:ea typeface="Calibri" pitchFamily="34" charset="-122"/>
                <a:cs typeface="Calibri" pitchFamily="34" charset="-120"/>
              </a:rPr>
              <a:t>Opt-in indirect tier — a purely quantitative input-output signal</a:t>
            </a:r>
            <a:endParaRPr lang="en-US" sz="1050" dirty="0"/>
          </a:p>
          <a:p>
            <a:pPr algn="l" indent="0" marL="0">
              <a:lnSpc>
                <a:spcPct val="104000"/>
              </a:lnSpc>
              <a:buNone/>
            </a:pPr>
            <a:r>
              <a:rPr lang="en-US" sz="850" dirty="0">
                <a:solidFill>
                  <a:srgbClr val="0A4451"/>
                </a:solidFill>
                <a:latin typeface="Calibri" pitchFamily="34" charset="0"/>
                <a:ea typeface="Calibri" pitchFamily="34" charset="-122"/>
                <a:cs typeface="Calibri" pitchFamily="34" charset="-120"/>
              </a:rPr>
              <a:t>structural supply-chain exposure for companies whose own disclosures stay silent; carried as its own field, never blended into the verdict</a:t>
            </a:r>
            <a:endParaRPr lang="en-US" sz="1050" dirty="0"/>
          </a:p>
        </p:txBody>
      </p:sp>
      <p:sp>
        <p:nvSpPr>
          <p:cNvPr id="59" name="Shape 47"/>
          <p:cNvSpPr/>
          <p:nvPr/>
        </p:nvSpPr>
        <p:spPr>
          <a:xfrm>
            <a:off x="594360" y="6172200"/>
            <a:ext cx="155448" cy="155448"/>
          </a:xfrm>
          <a:prstGeom prst="roundRect">
            <a:avLst>
              <a:gd name="adj" fmla="val 29412"/>
            </a:avLst>
          </a:prstGeom>
          <a:solidFill>
            <a:srgbClr val="2F6FD0"/>
          </a:solidFill>
          <a:ln/>
        </p:spPr>
      </p:sp>
      <p:sp>
        <p:nvSpPr>
          <p:cNvPr id="60" name="Text 48"/>
          <p:cNvSpPr txBox="1"/>
          <p:nvPr/>
        </p:nvSpPr>
        <p:spPr>
          <a:xfrm>
            <a:off x="813816" y="6144768"/>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source / input</a:t>
            </a:r>
            <a:endParaRPr lang="en-US" sz="880" dirty="0"/>
          </a:p>
        </p:txBody>
      </p:sp>
      <p:sp>
        <p:nvSpPr>
          <p:cNvPr id="61" name="Shape 49"/>
          <p:cNvSpPr/>
          <p:nvPr/>
        </p:nvSpPr>
        <p:spPr>
          <a:xfrm>
            <a:off x="2427732" y="6172200"/>
            <a:ext cx="155448" cy="155448"/>
          </a:xfrm>
          <a:prstGeom prst="roundRect">
            <a:avLst>
              <a:gd name="adj" fmla="val 29412"/>
            </a:avLst>
          </a:prstGeom>
          <a:solidFill>
            <a:srgbClr val="108494"/>
          </a:solidFill>
          <a:ln/>
        </p:spPr>
      </p:sp>
      <p:sp>
        <p:nvSpPr>
          <p:cNvPr id="62" name="Text 50"/>
          <p:cNvSpPr txBox="1"/>
          <p:nvPr/>
        </p:nvSpPr>
        <p:spPr>
          <a:xfrm>
            <a:off x="2647188" y="6144768"/>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deterministic step</a:t>
            </a:r>
            <a:endParaRPr lang="en-US" sz="880" dirty="0"/>
          </a:p>
        </p:txBody>
      </p:sp>
      <p:sp>
        <p:nvSpPr>
          <p:cNvPr id="63" name="Shape 51"/>
          <p:cNvSpPr/>
          <p:nvPr/>
        </p:nvSpPr>
        <p:spPr>
          <a:xfrm>
            <a:off x="4261104" y="6172200"/>
            <a:ext cx="155448" cy="155448"/>
          </a:xfrm>
          <a:prstGeom prst="roundRect">
            <a:avLst>
              <a:gd name="adj" fmla="val 29412"/>
            </a:avLst>
          </a:prstGeom>
          <a:solidFill>
            <a:srgbClr val="6D4DD1"/>
          </a:solidFill>
          <a:ln/>
        </p:spPr>
      </p:sp>
      <p:sp>
        <p:nvSpPr>
          <p:cNvPr id="64" name="Text 52"/>
          <p:cNvSpPr txBox="1"/>
          <p:nvPr/>
        </p:nvSpPr>
        <p:spPr>
          <a:xfrm>
            <a:off x="4480560" y="6144768"/>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LLM agent</a:t>
            </a:r>
            <a:endParaRPr lang="en-US" sz="880" dirty="0"/>
          </a:p>
        </p:txBody>
      </p:sp>
      <p:sp>
        <p:nvSpPr>
          <p:cNvPr id="65" name="Shape 53"/>
          <p:cNvSpPr/>
          <p:nvPr/>
        </p:nvSpPr>
        <p:spPr>
          <a:xfrm>
            <a:off x="6094476" y="6172200"/>
            <a:ext cx="155448" cy="155448"/>
          </a:xfrm>
          <a:prstGeom prst="roundRect">
            <a:avLst>
              <a:gd name="adj" fmla="val 29412"/>
            </a:avLst>
          </a:prstGeom>
          <a:solidFill>
            <a:srgbClr val="C9871B"/>
          </a:solidFill>
          <a:ln/>
        </p:spPr>
      </p:sp>
      <p:sp>
        <p:nvSpPr>
          <p:cNvPr id="66" name="Text 54"/>
          <p:cNvSpPr txBox="1"/>
          <p:nvPr/>
        </p:nvSpPr>
        <p:spPr>
          <a:xfrm>
            <a:off x="6313932" y="6144768"/>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gate or check</a:t>
            </a:r>
            <a:endParaRPr lang="en-US" sz="880" dirty="0"/>
          </a:p>
        </p:txBody>
      </p:sp>
      <p:sp>
        <p:nvSpPr>
          <p:cNvPr id="67" name="Shape 55"/>
          <p:cNvSpPr/>
          <p:nvPr/>
        </p:nvSpPr>
        <p:spPr>
          <a:xfrm>
            <a:off x="7927848" y="6172200"/>
            <a:ext cx="155448" cy="155448"/>
          </a:xfrm>
          <a:prstGeom prst="roundRect">
            <a:avLst>
              <a:gd name="adj" fmla="val 29412"/>
            </a:avLst>
          </a:prstGeom>
          <a:solidFill>
            <a:srgbClr val="CE3D64"/>
          </a:solidFill>
          <a:ln/>
        </p:spPr>
      </p:sp>
      <p:sp>
        <p:nvSpPr>
          <p:cNvPr id="68" name="Text 56"/>
          <p:cNvSpPr txBox="1"/>
          <p:nvPr/>
        </p:nvSpPr>
        <p:spPr>
          <a:xfrm>
            <a:off x="8147304" y="6144768"/>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human decision</a:t>
            </a:r>
            <a:endParaRPr lang="en-US" sz="880" dirty="0"/>
          </a:p>
        </p:txBody>
      </p:sp>
      <p:sp>
        <p:nvSpPr>
          <p:cNvPr id="69" name="Shape 57"/>
          <p:cNvSpPr/>
          <p:nvPr/>
        </p:nvSpPr>
        <p:spPr>
          <a:xfrm>
            <a:off x="9761220" y="6172200"/>
            <a:ext cx="155448" cy="155448"/>
          </a:xfrm>
          <a:prstGeom prst="roundRect">
            <a:avLst>
              <a:gd name="adj" fmla="val 29412"/>
            </a:avLst>
          </a:prstGeom>
          <a:solidFill>
            <a:srgbClr val="2F8F48"/>
          </a:solidFill>
          <a:ln/>
        </p:spPr>
      </p:sp>
      <p:sp>
        <p:nvSpPr>
          <p:cNvPr id="70" name="Text 58"/>
          <p:cNvSpPr txBox="1"/>
          <p:nvPr/>
        </p:nvSpPr>
        <p:spPr>
          <a:xfrm>
            <a:off x="9980676" y="6144768"/>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stored output</a:t>
            </a:r>
            <a:endParaRPr lang="en-US" sz="88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438912"/>
            <a:ext cx="10085832" cy="201168"/>
          </a:xfrm>
          <a:prstGeom prst="rect">
            <a:avLst/>
          </a:prstGeom>
          <a:noFill/>
          <a:ln/>
        </p:spPr>
        <p:txBody>
          <a:bodyPr wrap="square" lIns="0" tIns="0" rIns="0" bIns="0" rtlCol="0" anchor="ctr"/>
          <a:lstStyle/>
          <a:p>
            <a:pPr indent="0" marL="0">
              <a:buNone/>
            </a:pPr>
            <a:r>
              <a:rPr lang="en-US" sz="1050" b="1" spc="200" kern="0" dirty="0">
                <a:solidFill>
                  <a:srgbClr val="108494"/>
                </a:solidFill>
                <a:latin typeface="Calibri" pitchFamily="34" charset="0"/>
                <a:ea typeface="Calibri" pitchFamily="34" charset="-122"/>
                <a:cs typeface="Calibri" pitchFamily="34" charset="-120"/>
              </a:rPr>
              <a:t>02   ·   ARCHITECTURE &amp; PROCESS</a:t>
            </a:r>
            <a:endParaRPr lang="en-US" sz="1050" dirty="0"/>
          </a:p>
        </p:txBody>
      </p:sp>
      <p:sp>
        <p:nvSpPr>
          <p:cNvPr id="3" name="Text 1"/>
          <p:cNvSpPr txBox="1"/>
          <p:nvPr/>
        </p:nvSpPr>
        <p:spPr>
          <a:xfrm>
            <a:off x="594360" y="640080"/>
            <a:ext cx="10085832" cy="484632"/>
          </a:xfrm>
          <a:prstGeom prst="rect">
            <a:avLst/>
          </a:prstGeom>
          <a:noFill/>
          <a:ln/>
        </p:spPr>
        <p:txBody>
          <a:bodyPr wrap="square" lIns="0" tIns="0" rIns="0" bIns="0" rtlCol="0" anchor="ctr"/>
          <a:lstStyle/>
          <a:p>
            <a:pPr indent="0" marL="0">
              <a:buNone/>
            </a:pPr>
            <a:r>
              <a:rPr lang="en-US" sz="3000" b="1" dirty="0">
                <a:solidFill>
                  <a:srgbClr val="10243A"/>
                </a:solidFill>
                <a:latin typeface="Cambria" pitchFamily="34" charset="0"/>
                <a:ea typeface="Cambria" pitchFamily="34" charset="-122"/>
                <a:cs typeface="Cambria" pitchFamily="34" charset="-120"/>
              </a:rPr>
              <a:t>Theme matching: a three-path cascade</a:t>
            </a:r>
            <a:endParaRPr lang="en-US" sz="3000" dirty="0"/>
          </a:p>
        </p:txBody>
      </p:sp>
      <p:sp>
        <p:nvSpPr>
          <p:cNvPr id="4" name="Text 2"/>
          <p:cNvSpPr txBox="1"/>
          <p:nvPr/>
        </p:nvSpPr>
        <p:spPr>
          <a:xfrm>
            <a:off x="594360" y="1143000"/>
            <a:ext cx="9994392" cy="274320"/>
          </a:xfrm>
          <a:prstGeom prst="rect">
            <a:avLst/>
          </a:prstGeom>
          <a:noFill/>
          <a:ln/>
        </p:spPr>
        <p:txBody>
          <a:bodyPr wrap="square" lIns="0" tIns="0" rIns="0" bIns="0" rtlCol="0" anchor="ctr"/>
          <a:lstStyle/>
          <a:p>
            <a:pPr indent="0" marL="0">
              <a:buNone/>
            </a:pPr>
            <a:r>
              <a:rPr lang="en-US" sz="1200" dirty="0">
                <a:solidFill>
                  <a:srgbClr val="58697A"/>
                </a:solidFill>
                <a:latin typeface="Calibri" pitchFamily="34" charset="0"/>
                <a:ea typeface="Calibri" pitchFamily="34" charset="-122"/>
                <a:cs typeface="Calibri" pitchFamily="34" charset="-120"/>
              </a:rPr>
              <a:t>A hard disclosed number is never second-guessed by a categorical judgment over the same question.</a:t>
            </a:r>
            <a:endParaRPr lang="en-US" sz="1200" dirty="0"/>
          </a:p>
        </p:txBody>
      </p:sp>
      <p:sp>
        <p:nvSpPr>
          <p:cNvPr id="5" name="Shape 3"/>
          <p:cNvSpPr/>
          <p:nvPr/>
        </p:nvSpPr>
        <p:spPr>
          <a:xfrm>
            <a:off x="10881360" y="475488"/>
            <a:ext cx="713232" cy="713232"/>
          </a:xfrm>
          <a:prstGeom prst="roundRect">
            <a:avLst>
              <a:gd name="adj" fmla="val 20513"/>
            </a:avLst>
          </a:prstGeom>
          <a:solidFill>
            <a:srgbClr val="10243A"/>
          </a:solidFill>
          <a:ln/>
        </p:spPr>
      </p:sp>
      <p:pic>
        <p:nvPicPr>
          <p:cNvPr id="6" name="Image 0" descr="preencoded.png">    </p:cNvPr>
          <p:cNvPicPr>
            <a:picLocks noChangeAspect="1"/>
          </p:cNvPicPr>
          <p:nvPr/>
        </p:nvPicPr>
        <p:blipFill>
          <a:blip r:embed="rId1"/>
          <a:stretch>
            <a:fillRect/>
          </a:stretch>
        </p:blipFill>
        <p:spPr>
          <a:xfrm>
            <a:off x="11038271" y="632399"/>
            <a:ext cx="399410" cy="399410"/>
          </a:xfrm>
          <a:prstGeom prst="rect">
            <a:avLst/>
          </a:prstGeom>
        </p:spPr>
      </p:pic>
      <p:sp>
        <p:nvSpPr>
          <p:cNvPr id="7" name="Shape 4"/>
          <p:cNvSpPr/>
          <p:nvPr/>
        </p:nvSpPr>
        <p:spPr>
          <a:xfrm>
            <a:off x="594360" y="1572768"/>
            <a:ext cx="1737360" cy="841248"/>
          </a:xfrm>
          <a:prstGeom prst="roundRect">
            <a:avLst>
              <a:gd name="adj" fmla="val 10870"/>
            </a:avLst>
          </a:prstGeom>
          <a:solidFill>
            <a:srgbClr val="EAF0F5"/>
          </a:solidFill>
          <a:ln w="15875">
            <a:solidFill>
              <a:srgbClr val="64798F"/>
            </a:solidFill>
            <a:prstDash val="solid"/>
          </a:ln>
          <a:effectLst>
            <a:outerShdw sx="100000" sy="100000" kx="0" ky="0" algn="bl" rotWithShape="0" blurRad="101600" dist="19050" dir="5400000">
              <a:srgbClr val="9FB0C2">
                <a:alpha val="24000"/>
              </a:srgbClr>
            </a:outerShdw>
          </a:effectLst>
        </p:spPr>
      </p:sp>
      <p:sp>
        <p:nvSpPr>
          <p:cNvPr id="8" name="Text 5"/>
          <p:cNvSpPr txBox="1"/>
          <p:nvPr/>
        </p:nvSpPr>
        <p:spPr>
          <a:xfrm>
            <a:off x="685800" y="1572768"/>
            <a:ext cx="1554480" cy="841248"/>
          </a:xfrm>
          <a:prstGeom prst="rect">
            <a:avLst/>
          </a:prstGeom>
          <a:noFill/>
          <a:ln/>
        </p:spPr>
        <p:txBody>
          <a:bodyPr wrap="square" lIns="0" tIns="0" rIns="0" bIns="0" rtlCol="0" anchor="ctr"/>
          <a:lstStyle/>
          <a:p>
            <a:pPr algn="ctr" indent="0" marL="0">
              <a:lnSpc>
                <a:spcPct val="104000"/>
              </a:lnSpc>
              <a:buNone/>
            </a:pPr>
            <a:r>
              <a:rPr lang="en-US" sz="1000" b="1" dirty="0">
                <a:solidFill>
                  <a:srgbClr val="24354A"/>
                </a:solidFill>
                <a:latin typeface="Calibri" pitchFamily="34" charset="0"/>
                <a:ea typeface="Calibri" pitchFamily="34" charset="-122"/>
                <a:cs typeface="Calibri" pitchFamily="34" charset="-120"/>
              </a:rPr>
              <a:t>company × activity</a:t>
            </a:r>
            <a:endParaRPr lang="en-US" sz="1000" dirty="0"/>
          </a:p>
          <a:p>
            <a:pPr algn="ctr" indent="0" marL="0">
              <a:lnSpc>
                <a:spcPct val="104000"/>
              </a:lnSpc>
              <a:buNone/>
            </a:pPr>
            <a:r>
              <a:rPr lang="en-US" sz="800" dirty="0">
                <a:solidFill>
                  <a:srgbClr val="24354A"/>
                </a:solidFill>
                <a:latin typeface="Calibri" pitchFamily="34" charset="0"/>
                <a:ea typeface="Calibri" pitchFamily="34" charset="-122"/>
                <a:cs typeface="Calibri" pitchFamily="34" charset="-120"/>
              </a:rPr>
              <a:t>one work item in the batch</a:t>
            </a:r>
            <a:endParaRPr lang="en-US" sz="1000" dirty="0"/>
          </a:p>
        </p:txBody>
      </p:sp>
      <p:sp>
        <p:nvSpPr>
          <p:cNvPr id="9" name="Shape 6"/>
          <p:cNvSpPr/>
          <p:nvPr/>
        </p:nvSpPr>
        <p:spPr>
          <a:xfrm>
            <a:off x="2368296" y="1993392"/>
            <a:ext cx="384048" cy="0"/>
          </a:xfrm>
          <a:prstGeom prst="line">
            <a:avLst/>
          </a:prstGeom>
          <a:noFill/>
          <a:ln w="19050">
            <a:solidFill>
              <a:srgbClr val="64798F"/>
            </a:solidFill>
            <a:prstDash val="solid"/>
            <a:headEnd type="none"/>
            <a:tailEnd type="triangle"/>
          </a:ln>
        </p:spPr>
      </p:sp>
      <p:sp>
        <p:nvSpPr>
          <p:cNvPr id="10" name="Shape 7"/>
          <p:cNvSpPr/>
          <p:nvPr/>
        </p:nvSpPr>
        <p:spPr>
          <a:xfrm>
            <a:off x="2788920" y="1572768"/>
            <a:ext cx="4160520" cy="841248"/>
          </a:xfrm>
          <a:prstGeom prst="roundRect">
            <a:avLst>
              <a:gd name="adj" fmla="val 10870"/>
            </a:avLst>
          </a:prstGeom>
          <a:solidFill>
            <a:srgbClr val="DCF2F4"/>
          </a:solidFill>
          <a:ln w="15875">
            <a:solidFill>
              <a:srgbClr val="108494"/>
            </a:solidFill>
            <a:prstDash val="solid"/>
          </a:ln>
          <a:effectLst>
            <a:outerShdw sx="100000" sy="100000" kx="0" ky="0" algn="bl" rotWithShape="0" blurRad="101600" dist="19050" dir="5400000">
              <a:srgbClr val="9FB0C2">
                <a:alpha val="24000"/>
              </a:srgbClr>
            </a:outerShdw>
          </a:effectLst>
        </p:spPr>
      </p:sp>
      <p:sp>
        <p:nvSpPr>
          <p:cNvPr id="11" name="Text 8"/>
          <p:cNvSpPr txBox="1"/>
          <p:nvPr/>
        </p:nvSpPr>
        <p:spPr>
          <a:xfrm>
            <a:off x="2880360" y="1572768"/>
            <a:ext cx="3977640" cy="841248"/>
          </a:xfrm>
          <a:prstGeom prst="rect">
            <a:avLst/>
          </a:prstGeom>
          <a:noFill/>
          <a:ln/>
        </p:spPr>
        <p:txBody>
          <a:bodyPr wrap="square" lIns="0" tIns="0" rIns="0" bIns="0" rtlCol="0" anchor="ctr"/>
          <a:lstStyle/>
          <a:p>
            <a:pPr algn="ctr" indent="0" marL="0">
              <a:lnSpc>
                <a:spcPct val="104000"/>
              </a:lnSpc>
              <a:buNone/>
            </a:pPr>
            <a:r>
              <a:rPr lang="en-US" sz="750" b="1" spc="110" kern="0" dirty="0">
                <a:solidFill>
                  <a:srgbClr val="108494"/>
                </a:solidFill>
                <a:latin typeface="Calibri" pitchFamily="34" charset="0"/>
                <a:ea typeface="Calibri" pitchFamily="34" charset="-122"/>
                <a:cs typeface="Calibri" pitchFamily="34" charset="-120"/>
              </a:rPr>
              <a:t>PATH 1</a:t>
            </a:r>
            <a:endParaRPr lang="en-US" sz="750" dirty="0"/>
          </a:p>
          <a:p>
            <a:pPr algn="ctr" indent="0" marL="0">
              <a:lnSpc>
                <a:spcPct val="104000"/>
              </a:lnSpc>
              <a:buNone/>
            </a:pPr>
            <a:r>
              <a:rPr lang="en-US" sz="1100" b="1" dirty="0">
                <a:solidFill>
                  <a:srgbClr val="0A4451"/>
                </a:solidFill>
                <a:latin typeface="Calibri" pitchFamily="34" charset="0"/>
                <a:ea typeface="Calibri" pitchFamily="34" charset="-122"/>
                <a:cs typeface="Calibri" pitchFamily="34" charset="-120"/>
              </a:rPr>
              <a:t>Structured catalogue</a:t>
            </a:r>
            <a:endParaRPr lang="en-US" sz="750" dirty="0"/>
          </a:p>
          <a:p>
            <a:pPr algn="ctr" indent="0" marL="0">
              <a:lnSpc>
                <a:spcPct val="104000"/>
              </a:lnSpc>
              <a:buNone/>
            </a:pPr>
            <a:r>
              <a:rPr lang="en-US" sz="800" dirty="0">
                <a:solidFill>
                  <a:srgbClr val="0A4451"/>
                </a:solidFill>
                <a:latin typeface="Calibri" pitchFamily="34" charset="0"/>
                <a:ea typeface="Calibri" pitchFamily="34" charset="-122"/>
                <a:cs typeface="Calibri" pitchFamily="34" charset="-120"/>
              </a:rPr>
              <a:t>a confirmed label mapping resolves revenue and capex share by arithmetic alone — no LLM in the number</a:t>
            </a:r>
            <a:endParaRPr lang="en-US" sz="750" dirty="0"/>
          </a:p>
        </p:txBody>
      </p:sp>
      <p:sp>
        <p:nvSpPr>
          <p:cNvPr id="12" name="Shape 9"/>
          <p:cNvSpPr/>
          <p:nvPr/>
        </p:nvSpPr>
        <p:spPr>
          <a:xfrm>
            <a:off x="7315200" y="1664208"/>
            <a:ext cx="1051560" cy="658368"/>
          </a:xfrm>
          <a:prstGeom prst="diamond">
            <a:avLst/>
          </a:prstGeom>
          <a:solidFill>
            <a:srgbClr val="FCEDD4"/>
          </a:solidFill>
          <a:ln w="15875">
            <a:solidFill>
              <a:srgbClr val="C9871B"/>
            </a:solidFill>
            <a:prstDash val="solid"/>
          </a:ln>
        </p:spPr>
      </p:sp>
      <p:sp>
        <p:nvSpPr>
          <p:cNvPr id="13" name="Text 10"/>
          <p:cNvSpPr txBox="1"/>
          <p:nvPr/>
        </p:nvSpPr>
        <p:spPr>
          <a:xfrm>
            <a:off x="7406640" y="1664208"/>
            <a:ext cx="868680" cy="658368"/>
          </a:xfrm>
          <a:prstGeom prst="rect">
            <a:avLst/>
          </a:prstGeom>
          <a:noFill/>
          <a:ln/>
        </p:spPr>
        <p:txBody>
          <a:bodyPr wrap="square" lIns="0" tIns="0" rIns="0" bIns="0" rtlCol="0" anchor="ctr"/>
          <a:lstStyle/>
          <a:p>
            <a:pPr algn="ctr" indent="0" marL="0">
              <a:lnSpc>
                <a:spcPct val="104000"/>
              </a:lnSpc>
              <a:buNone/>
            </a:pPr>
            <a:r>
              <a:rPr lang="en-US" sz="900" b="1" dirty="0">
                <a:solidFill>
                  <a:srgbClr val="64430A"/>
                </a:solidFill>
                <a:latin typeface="Calibri" pitchFamily="34" charset="0"/>
                <a:ea typeface="Calibri" pitchFamily="34" charset="-122"/>
                <a:cs typeface="Calibri" pitchFamily="34" charset="-120"/>
              </a:rPr>
              <a:t>hit?</a:t>
            </a:r>
            <a:endParaRPr lang="en-US" sz="900" dirty="0"/>
          </a:p>
        </p:txBody>
      </p:sp>
      <p:sp>
        <p:nvSpPr>
          <p:cNvPr id="14" name="Shape 11"/>
          <p:cNvSpPr/>
          <p:nvPr/>
        </p:nvSpPr>
        <p:spPr>
          <a:xfrm>
            <a:off x="6995160" y="1993392"/>
            <a:ext cx="274320" cy="0"/>
          </a:xfrm>
          <a:prstGeom prst="line">
            <a:avLst/>
          </a:prstGeom>
          <a:noFill/>
          <a:ln w="16510">
            <a:solidFill>
              <a:srgbClr val="C9871B"/>
            </a:solidFill>
            <a:prstDash val="solid"/>
            <a:headEnd type="none"/>
            <a:tailEnd type="triangle"/>
          </a:ln>
        </p:spPr>
      </p:sp>
      <p:sp>
        <p:nvSpPr>
          <p:cNvPr id="15" name="Shape 12"/>
          <p:cNvSpPr/>
          <p:nvPr/>
        </p:nvSpPr>
        <p:spPr>
          <a:xfrm>
            <a:off x="8412480" y="1993392"/>
            <a:ext cx="777240" cy="0"/>
          </a:xfrm>
          <a:prstGeom prst="line">
            <a:avLst/>
          </a:prstGeom>
          <a:noFill/>
          <a:ln w="17780">
            <a:solidFill>
              <a:srgbClr val="2F8F48"/>
            </a:solidFill>
            <a:prstDash val="solid"/>
            <a:headEnd type="none"/>
            <a:tailEnd type="triangle"/>
          </a:ln>
        </p:spPr>
      </p:sp>
      <p:sp>
        <p:nvSpPr>
          <p:cNvPr id="16" name="Shape 13"/>
          <p:cNvSpPr/>
          <p:nvPr/>
        </p:nvSpPr>
        <p:spPr>
          <a:xfrm>
            <a:off x="7845552" y="2359152"/>
            <a:ext cx="0" cy="274320"/>
          </a:xfrm>
          <a:prstGeom prst="line">
            <a:avLst/>
          </a:prstGeom>
          <a:noFill/>
          <a:ln w="15240">
            <a:solidFill>
              <a:srgbClr val="64798F"/>
            </a:solidFill>
            <a:prstDash val="dash"/>
            <a:headEnd type="none"/>
            <a:tailEnd type="none"/>
          </a:ln>
        </p:spPr>
      </p:sp>
      <p:sp>
        <p:nvSpPr>
          <p:cNvPr id="17" name="Shape 14"/>
          <p:cNvSpPr/>
          <p:nvPr/>
        </p:nvSpPr>
        <p:spPr>
          <a:xfrm flipH="1">
            <a:off x="4846320" y="2633472"/>
            <a:ext cx="2999232" cy="0"/>
          </a:xfrm>
          <a:prstGeom prst="line">
            <a:avLst/>
          </a:prstGeom>
          <a:noFill/>
          <a:ln w="15240">
            <a:solidFill>
              <a:srgbClr val="64798F"/>
            </a:solidFill>
            <a:prstDash val="dash"/>
            <a:headEnd type="none"/>
            <a:tailEnd type="none"/>
          </a:ln>
        </p:spPr>
      </p:sp>
      <p:sp>
        <p:nvSpPr>
          <p:cNvPr id="18" name="Shape 15"/>
          <p:cNvSpPr/>
          <p:nvPr/>
        </p:nvSpPr>
        <p:spPr>
          <a:xfrm>
            <a:off x="4846320" y="2633472"/>
            <a:ext cx="0" cy="128016"/>
          </a:xfrm>
          <a:prstGeom prst="line">
            <a:avLst/>
          </a:prstGeom>
          <a:noFill/>
          <a:ln w="15240">
            <a:solidFill>
              <a:srgbClr val="64798F"/>
            </a:solidFill>
            <a:prstDash val="dash"/>
            <a:headEnd type="none"/>
            <a:tailEnd type="triangle"/>
          </a:ln>
        </p:spPr>
      </p:sp>
      <p:sp>
        <p:nvSpPr>
          <p:cNvPr id="19" name="Text 16"/>
          <p:cNvSpPr txBox="1"/>
          <p:nvPr/>
        </p:nvSpPr>
        <p:spPr>
          <a:xfrm>
            <a:off x="5943600" y="2414016"/>
            <a:ext cx="1737360" cy="182880"/>
          </a:xfrm>
          <a:prstGeom prst="rect">
            <a:avLst/>
          </a:prstGeom>
          <a:noFill/>
          <a:ln/>
        </p:spPr>
        <p:txBody>
          <a:bodyPr wrap="square" lIns="0" tIns="0" rIns="0" bIns="0" rtlCol="0" anchor="ctr"/>
          <a:lstStyle/>
          <a:p>
            <a:pPr algn="ctr" indent="0" marL="0">
              <a:buNone/>
            </a:pPr>
            <a:r>
              <a:rPr lang="en-US" sz="750" i="1" dirty="0">
                <a:solidFill>
                  <a:srgbClr val="58697A"/>
                </a:solidFill>
                <a:latin typeface="Calibri" pitchFamily="34" charset="0"/>
                <a:ea typeface="Calibri" pitchFamily="34" charset="-122"/>
                <a:cs typeface="Calibri" pitchFamily="34" charset="-120"/>
              </a:rPr>
              <a:t>no — fall through</a:t>
            </a:r>
            <a:endParaRPr lang="en-US" sz="750" dirty="0"/>
          </a:p>
        </p:txBody>
      </p:sp>
      <p:sp>
        <p:nvSpPr>
          <p:cNvPr id="20" name="Shape 17"/>
          <p:cNvSpPr/>
          <p:nvPr/>
        </p:nvSpPr>
        <p:spPr>
          <a:xfrm>
            <a:off x="2788920" y="2798064"/>
            <a:ext cx="4160520" cy="841248"/>
          </a:xfrm>
          <a:prstGeom prst="roundRect">
            <a:avLst>
              <a:gd name="adj" fmla="val 10870"/>
            </a:avLst>
          </a:prstGeom>
          <a:solidFill>
            <a:srgbClr val="EBE5FC"/>
          </a:solidFill>
          <a:ln w="15875">
            <a:solidFill>
              <a:srgbClr val="6D4DD1"/>
            </a:solidFill>
            <a:prstDash val="solid"/>
          </a:ln>
          <a:effectLst>
            <a:outerShdw sx="100000" sy="100000" kx="0" ky="0" algn="bl" rotWithShape="0" blurRad="101600" dist="19050" dir="5400000">
              <a:srgbClr val="9FB0C2">
                <a:alpha val="24000"/>
              </a:srgbClr>
            </a:outerShdw>
          </a:effectLst>
        </p:spPr>
      </p:sp>
      <p:sp>
        <p:nvSpPr>
          <p:cNvPr id="21" name="Text 18"/>
          <p:cNvSpPr txBox="1"/>
          <p:nvPr/>
        </p:nvSpPr>
        <p:spPr>
          <a:xfrm>
            <a:off x="2880360" y="2798064"/>
            <a:ext cx="3977640" cy="841248"/>
          </a:xfrm>
          <a:prstGeom prst="rect">
            <a:avLst/>
          </a:prstGeom>
          <a:noFill/>
          <a:ln/>
        </p:spPr>
        <p:txBody>
          <a:bodyPr wrap="square" lIns="0" tIns="0" rIns="0" bIns="0" rtlCol="0" anchor="ctr"/>
          <a:lstStyle/>
          <a:p>
            <a:pPr algn="ctr" indent="0" marL="0">
              <a:lnSpc>
                <a:spcPct val="104000"/>
              </a:lnSpc>
              <a:buNone/>
            </a:pPr>
            <a:r>
              <a:rPr lang="en-US" sz="750" b="1" spc="110" kern="0" dirty="0">
                <a:solidFill>
                  <a:srgbClr val="6D4DD1"/>
                </a:solidFill>
                <a:latin typeface="Calibri" pitchFamily="34" charset="0"/>
                <a:ea typeface="Calibri" pitchFamily="34" charset="-122"/>
                <a:cs typeface="Calibri" pitchFamily="34" charset="-120"/>
              </a:rPr>
              <a:t>PATH 2</a:t>
            </a:r>
            <a:endParaRPr lang="en-US" sz="750" dirty="0"/>
          </a:p>
          <a:p>
            <a:pPr algn="ctr" indent="0" marL="0">
              <a:lnSpc>
                <a:spcPct val="104000"/>
              </a:lnSpc>
              <a:buNone/>
            </a:pPr>
            <a:r>
              <a:rPr lang="en-US" sz="1100" b="1" dirty="0">
                <a:solidFill>
                  <a:srgbClr val="35236E"/>
                </a:solidFill>
                <a:latin typeface="Calibri" pitchFamily="34" charset="0"/>
                <a:ea typeface="Calibri" pitchFamily="34" charset="-122"/>
                <a:cs typeface="Calibri" pitchFamily="34" charset="-120"/>
              </a:rPr>
              <a:t>Grounded extraction</a:t>
            </a:r>
            <a:endParaRPr lang="en-US" sz="750" dirty="0"/>
          </a:p>
          <a:p>
            <a:pPr algn="ctr" indent="0" marL="0">
              <a:lnSpc>
                <a:spcPct val="104000"/>
              </a:lnSpc>
              <a:buNone/>
            </a:pPr>
            <a:r>
              <a:rPr lang="en-US" sz="800" dirty="0">
                <a:solidFill>
                  <a:srgbClr val="35236E"/>
                </a:solidFill>
                <a:latin typeface="Calibri" pitchFamily="34" charset="0"/>
                <a:ea typeface="Calibri" pitchFamily="34" charset="-122"/>
                <a:cs typeface="Calibri" pitchFamily="34" charset="-120"/>
              </a:rPr>
              <a:t>an ad-hoc single field through the extraction engine, gated by a cheap ISIC sector-relevance check</a:t>
            </a:r>
            <a:endParaRPr lang="en-US" sz="750" dirty="0"/>
          </a:p>
        </p:txBody>
      </p:sp>
      <p:sp>
        <p:nvSpPr>
          <p:cNvPr id="22" name="Shape 19"/>
          <p:cNvSpPr/>
          <p:nvPr/>
        </p:nvSpPr>
        <p:spPr>
          <a:xfrm>
            <a:off x="7315200" y="2889504"/>
            <a:ext cx="1051560" cy="658368"/>
          </a:xfrm>
          <a:prstGeom prst="diamond">
            <a:avLst/>
          </a:prstGeom>
          <a:solidFill>
            <a:srgbClr val="FCEDD4"/>
          </a:solidFill>
          <a:ln w="15875">
            <a:solidFill>
              <a:srgbClr val="C9871B"/>
            </a:solidFill>
            <a:prstDash val="solid"/>
          </a:ln>
        </p:spPr>
      </p:sp>
      <p:sp>
        <p:nvSpPr>
          <p:cNvPr id="23" name="Text 20"/>
          <p:cNvSpPr txBox="1"/>
          <p:nvPr/>
        </p:nvSpPr>
        <p:spPr>
          <a:xfrm>
            <a:off x="7406640" y="2889504"/>
            <a:ext cx="868680" cy="658368"/>
          </a:xfrm>
          <a:prstGeom prst="rect">
            <a:avLst/>
          </a:prstGeom>
          <a:noFill/>
          <a:ln/>
        </p:spPr>
        <p:txBody>
          <a:bodyPr wrap="square" lIns="0" tIns="0" rIns="0" bIns="0" rtlCol="0" anchor="ctr"/>
          <a:lstStyle/>
          <a:p>
            <a:pPr algn="ctr" indent="0" marL="0">
              <a:lnSpc>
                <a:spcPct val="104000"/>
              </a:lnSpc>
              <a:buNone/>
            </a:pPr>
            <a:r>
              <a:rPr lang="en-US" sz="900" b="1" dirty="0">
                <a:solidFill>
                  <a:srgbClr val="64430A"/>
                </a:solidFill>
                <a:latin typeface="Calibri" pitchFamily="34" charset="0"/>
                <a:ea typeface="Calibri" pitchFamily="34" charset="-122"/>
                <a:cs typeface="Calibri" pitchFamily="34" charset="-120"/>
              </a:rPr>
              <a:t>hit?</a:t>
            </a:r>
            <a:endParaRPr lang="en-US" sz="900" dirty="0"/>
          </a:p>
        </p:txBody>
      </p:sp>
      <p:sp>
        <p:nvSpPr>
          <p:cNvPr id="24" name="Shape 21"/>
          <p:cNvSpPr/>
          <p:nvPr/>
        </p:nvSpPr>
        <p:spPr>
          <a:xfrm>
            <a:off x="6995160" y="3218688"/>
            <a:ext cx="274320" cy="0"/>
          </a:xfrm>
          <a:prstGeom prst="line">
            <a:avLst/>
          </a:prstGeom>
          <a:noFill/>
          <a:ln w="16510">
            <a:solidFill>
              <a:srgbClr val="C9871B"/>
            </a:solidFill>
            <a:prstDash val="solid"/>
            <a:headEnd type="none"/>
            <a:tailEnd type="triangle"/>
          </a:ln>
        </p:spPr>
      </p:sp>
      <p:sp>
        <p:nvSpPr>
          <p:cNvPr id="25" name="Shape 22"/>
          <p:cNvSpPr/>
          <p:nvPr/>
        </p:nvSpPr>
        <p:spPr>
          <a:xfrm>
            <a:off x="8412480" y="3218688"/>
            <a:ext cx="777240" cy="0"/>
          </a:xfrm>
          <a:prstGeom prst="line">
            <a:avLst/>
          </a:prstGeom>
          <a:noFill/>
          <a:ln w="17780">
            <a:solidFill>
              <a:srgbClr val="2F8F48"/>
            </a:solidFill>
            <a:prstDash val="solid"/>
            <a:headEnd type="none"/>
            <a:tailEnd type="triangle"/>
          </a:ln>
        </p:spPr>
      </p:sp>
      <p:sp>
        <p:nvSpPr>
          <p:cNvPr id="26" name="Shape 23"/>
          <p:cNvSpPr/>
          <p:nvPr/>
        </p:nvSpPr>
        <p:spPr>
          <a:xfrm>
            <a:off x="7845552" y="3584448"/>
            <a:ext cx="0" cy="274320"/>
          </a:xfrm>
          <a:prstGeom prst="line">
            <a:avLst/>
          </a:prstGeom>
          <a:noFill/>
          <a:ln w="15240">
            <a:solidFill>
              <a:srgbClr val="64798F"/>
            </a:solidFill>
            <a:prstDash val="dash"/>
            <a:headEnd type="none"/>
            <a:tailEnd type="none"/>
          </a:ln>
        </p:spPr>
      </p:sp>
      <p:sp>
        <p:nvSpPr>
          <p:cNvPr id="27" name="Shape 24"/>
          <p:cNvSpPr/>
          <p:nvPr/>
        </p:nvSpPr>
        <p:spPr>
          <a:xfrm flipH="1">
            <a:off x="4846320" y="3858768"/>
            <a:ext cx="2999232" cy="0"/>
          </a:xfrm>
          <a:prstGeom prst="line">
            <a:avLst/>
          </a:prstGeom>
          <a:noFill/>
          <a:ln w="15240">
            <a:solidFill>
              <a:srgbClr val="64798F"/>
            </a:solidFill>
            <a:prstDash val="dash"/>
            <a:headEnd type="none"/>
            <a:tailEnd type="none"/>
          </a:ln>
        </p:spPr>
      </p:sp>
      <p:sp>
        <p:nvSpPr>
          <p:cNvPr id="28" name="Shape 25"/>
          <p:cNvSpPr/>
          <p:nvPr/>
        </p:nvSpPr>
        <p:spPr>
          <a:xfrm>
            <a:off x="4846320" y="3858768"/>
            <a:ext cx="0" cy="128016"/>
          </a:xfrm>
          <a:prstGeom prst="line">
            <a:avLst/>
          </a:prstGeom>
          <a:noFill/>
          <a:ln w="15240">
            <a:solidFill>
              <a:srgbClr val="64798F"/>
            </a:solidFill>
            <a:prstDash val="dash"/>
            <a:headEnd type="none"/>
            <a:tailEnd type="triangle"/>
          </a:ln>
        </p:spPr>
      </p:sp>
      <p:sp>
        <p:nvSpPr>
          <p:cNvPr id="29" name="Text 26"/>
          <p:cNvSpPr txBox="1"/>
          <p:nvPr/>
        </p:nvSpPr>
        <p:spPr>
          <a:xfrm>
            <a:off x="5943600" y="3639312"/>
            <a:ext cx="1737360" cy="182880"/>
          </a:xfrm>
          <a:prstGeom prst="rect">
            <a:avLst/>
          </a:prstGeom>
          <a:noFill/>
          <a:ln/>
        </p:spPr>
        <p:txBody>
          <a:bodyPr wrap="square" lIns="0" tIns="0" rIns="0" bIns="0" rtlCol="0" anchor="ctr"/>
          <a:lstStyle/>
          <a:p>
            <a:pPr algn="ctr" indent="0" marL="0">
              <a:buNone/>
            </a:pPr>
            <a:r>
              <a:rPr lang="en-US" sz="750" i="1" dirty="0">
                <a:solidFill>
                  <a:srgbClr val="58697A"/>
                </a:solidFill>
                <a:latin typeface="Calibri" pitchFamily="34" charset="0"/>
                <a:ea typeface="Calibri" pitchFamily="34" charset="-122"/>
                <a:cs typeface="Calibri" pitchFamily="34" charset="-120"/>
              </a:rPr>
              <a:t>no — fall through</a:t>
            </a:r>
            <a:endParaRPr lang="en-US" sz="750" dirty="0"/>
          </a:p>
        </p:txBody>
      </p:sp>
      <p:sp>
        <p:nvSpPr>
          <p:cNvPr id="30" name="Shape 27"/>
          <p:cNvSpPr/>
          <p:nvPr/>
        </p:nvSpPr>
        <p:spPr>
          <a:xfrm>
            <a:off x="2788920" y="4023360"/>
            <a:ext cx="4160520" cy="841248"/>
          </a:xfrm>
          <a:prstGeom prst="roundRect">
            <a:avLst>
              <a:gd name="adj" fmla="val 10870"/>
            </a:avLst>
          </a:prstGeom>
          <a:solidFill>
            <a:srgbClr val="EBE5FC"/>
          </a:solidFill>
          <a:ln w="15875">
            <a:solidFill>
              <a:srgbClr val="6D4DD1"/>
            </a:solidFill>
            <a:prstDash val="solid"/>
          </a:ln>
          <a:effectLst>
            <a:outerShdw sx="100000" sy="100000" kx="0" ky="0" algn="bl" rotWithShape="0" blurRad="101600" dist="19050" dir="5400000">
              <a:srgbClr val="9FB0C2">
                <a:alpha val="24000"/>
              </a:srgbClr>
            </a:outerShdw>
          </a:effectLst>
        </p:spPr>
      </p:sp>
      <p:sp>
        <p:nvSpPr>
          <p:cNvPr id="31" name="Text 28"/>
          <p:cNvSpPr txBox="1"/>
          <p:nvPr/>
        </p:nvSpPr>
        <p:spPr>
          <a:xfrm>
            <a:off x="2880360" y="4023360"/>
            <a:ext cx="3977640" cy="841248"/>
          </a:xfrm>
          <a:prstGeom prst="rect">
            <a:avLst/>
          </a:prstGeom>
          <a:noFill/>
          <a:ln/>
        </p:spPr>
        <p:txBody>
          <a:bodyPr wrap="square" lIns="0" tIns="0" rIns="0" bIns="0" rtlCol="0" anchor="ctr"/>
          <a:lstStyle/>
          <a:p>
            <a:pPr algn="ctr" indent="0" marL="0">
              <a:lnSpc>
                <a:spcPct val="104000"/>
              </a:lnSpc>
              <a:buNone/>
            </a:pPr>
            <a:r>
              <a:rPr lang="en-US" sz="750" b="1" spc="110" kern="0" dirty="0">
                <a:solidFill>
                  <a:srgbClr val="6D4DD1"/>
                </a:solidFill>
                <a:latin typeface="Calibri" pitchFamily="34" charset="0"/>
                <a:ea typeface="Calibri" pitchFamily="34" charset="-122"/>
                <a:cs typeface="Calibri" pitchFamily="34" charset="-120"/>
              </a:rPr>
              <a:t>PATH 3</a:t>
            </a:r>
            <a:endParaRPr lang="en-US" sz="750" dirty="0"/>
          </a:p>
          <a:p>
            <a:pPr algn="ctr" indent="0" marL="0">
              <a:lnSpc>
                <a:spcPct val="104000"/>
              </a:lnSpc>
              <a:buNone/>
            </a:pPr>
            <a:r>
              <a:rPr lang="en-US" sz="1100" b="1" dirty="0">
                <a:solidFill>
                  <a:srgbClr val="35236E"/>
                </a:solidFill>
                <a:latin typeface="Calibri" pitchFamily="34" charset="0"/>
                <a:ea typeface="Calibri" pitchFamily="34" charset="-122"/>
                <a:cs typeface="Calibri" pitchFamily="34" charset="-120"/>
              </a:rPr>
              <a:t>Advocate → Opposing → Adjudicator</a:t>
            </a:r>
            <a:endParaRPr lang="en-US" sz="750" dirty="0"/>
          </a:p>
          <a:p>
            <a:pPr algn="ctr" indent="0" marL="0">
              <a:lnSpc>
                <a:spcPct val="104000"/>
              </a:lnSpc>
              <a:buNone/>
            </a:pPr>
            <a:r>
              <a:rPr lang="en-US" sz="800" dirty="0">
                <a:solidFill>
                  <a:srgbClr val="35236E"/>
                </a:solidFill>
                <a:latin typeface="Calibri" pitchFamily="34" charset="0"/>
                <a:ea typeface="Calibri" pitchFamily="34" charset="-122"/>
                <a:cs typeface="Calibri" pitchFamily="34" charset="-120"/>
              </a:rPr>
              <a:t>the qualitative debate, run only when both cheaper paths came back empty</a:t>
            </a:r>
            <a:endParaRPr lang="en-US" sz="750" dirty="0"/>
          </a:p>
        </p:txBody>
      </p:sp>
      <p:sp>
        <p:nvSpPr>
          <p:cNvPr id="32" name="Shape 29"/>
          <p:cNvSpPr/>
          <p:nvPr/>
        </p:nvSpPr>
        <p:spPr>
          <a:xfrm>
            <a:off x="7315200" y="4114800"/>
            <a:ext cx="1051560" cy="658368"/>
          </a:xfrm>
          <a:prstGeom prst="diamond">
            <a:avLst/>
          </a:prstGeom>
          <a:solidFill>
            <a:srgbClr val="FCEDD4"/>
          </a:solidFill>
          <a:ln w="15875">
            <a:solidFill>
              <a:srgbClr val="C9871B"/>
            </a:solidFill>
            <a:prstDash val="solid"/>
          </a:ln>
        </p:spPr>
      </p:sp>
      <p:sp>
        <p:nvSpPr>
          <p:cNvPr id="33" name="Text 30"/>
          <p:cNvSpPr txBox="1"/>
          <p:nvPr/>
        </p:nvSpPr>
        <p:spPr>
          <a:xfrm>
            <a:off x="7406640" y="4114800"/>
            <a:ext cx="868680" cy="658368"/>
          </a:xfrm>
          <a:prstGeom prst="rect">
            <a:avLst/>
          </a:prstGeom>
          <a:noFill/>
          <a:ln/>
        </p:spPr>
        <p:txBody>
          <a:bodyPr wrap="square" lIns="0" tIns="0" rIns="0" bIns="0" rtlCol="0" anchor="ctr"/>
          <a:lstStyle/>
          <a:p>
            <a:pPr algn="ctr" indent="0" marL="0">
              <a:lnSpc>
                <a:spcPct val="104000"/>
              </a:lnSpc>
              <a:buNone/>
            </a:pPr>
            <a:r>
              <a:rPr lang="en-US" sz="900" b="1" dirty="0">
                <a:solidFill>
                  <a:srgbClr val="64430A"/>
                </a:solidFill>
                <a:latin typeface="Calibri" pitchFamily="34" charset="0"/>
                <a:ea typeface="Calibri" pitchFamily="34" charset="-122"/>
                <a:cs typeface="Calibri" pitchFamily="34" charset="-120"/>
              </a:rPr>
              <a:t>hit?</a:t>
            </a:r>
            <a:endParaRPr lang="en-US" sz="900" dirty="0"/>
          </a:p>
        </p:txBody>
      </p:sp>
      <p:sp>
        <p:nvSpPr>
          <p:cNvPr id="34" name="Shape 31"/>
          <p:cNvSpPr/>
          <p:nvPr/>
        </p:nvSpPr>
        <p:spPr>
          <a:xfrm>
            <a:off x="6995160" y="4443984"/>
            <a:ext cx="274320" cy="0"/>
          </a:xfrm>
          <a:prstGeom prst="line">
            <a:avLst/>
          </a:prstGeom>
          <a:noFill/>
          <a:ln w="16510">
            <a:solidFill>
              <a:srgbClr val="C9871B"/>
            </a:solidFill>
            <a:prstDash val="solid"/>
            <a:headEnd type="none"/>
            <a:tailEnd type="triangle"/>
          </a:ln>
        </p:spPr>
      </p:sp>
      <p:sp>
        <p:nvSpPr>
          <p:cNvPr id="35" name="Shape 32"/>
          <p:cNvSpPr/>
          <p:nvPr/>
        </p:nvSpPr>
        <p:spPr>
          <a:xfrm>
            <a:off x="8412480" y="4443984"/>
            <a:ext cx="777240" cy="0"/>
          </a:xfrm>
          <a:prstGeom prst="line">
            <a:avLst/>
          </a:prstGeom>
          <a:noFill/>
          <a:ln w="17780">
            <a:solidFill>
              <a:srgbClr val="2F8F48"/>
            </a:solidFill>
            <a:prstDash val="solid"/>
            <a:headEnd type="none"/>
            <a:tailEnd type="triangle"/>
          </a:ln>
        </p:spPr>
      </p:sp>
      <p:sp>
        <p:nvSpPr>
          <p:cNvPr id="36" name="Shape 33"/>
          <p:cNvSpPr/>
          <p:nvPr/>
        </p:nvSpPr>
        <p:spPr>
          <a:xfrm>
            <a:off x="9235440" y="2212848"/>
            <a:ext cx="2359152" cy="2651760"/>
          </a:xfrm>
          <a:prstGeom prst="roundRect">
            <a:avLst>
              <a:gd name="adj" fmla="val 3876"/>
            </a:avLst>
          </a:prstGeom>
          <a:solidFill>
            <a:srgbClr val="E0F3E3"/>
          </a:solidFill>
          <a:ln w="15875">
            <a:solidFill>
              <a:srgbClr val="2F8F48"/>
            </a:solidFill>
            <a:prstDash val="solid"/>
          </a:ln>
          <a:effectLst>
            <a:outerShdw sx="100000" sy="100000" kx="0" ky="0" algn="bl" rotWithShape="0" blurRad="101600" dist="19050" dir="5400000">
              <a:srgbClr val="9FB0C2">
                <a:alpha val="24000"/>
              </a:srgbClr>
            </a:outerShdw>
          </a:effectLst>
        </p:spPr>
      </p:sp>
      <p:sp>
        <p:nvSpPr>
          <p:cNvPr id="37" name="Text 34"/>
          <p:cNvSpPr txBox="1"/>
          <p:nvPr/>
        </p:nvSpPr>
        <p:spPr>
          <a:xfrm>
            <a:off x="9326880" y="2212848"/>
            <a:ext cx="2176272" cy="2651760"/>
          </a:xfrm>
          <a:prstGeom prst="rect">
            <a:avLst/>
          </a:prstGeom>
          <a:noFill/>
          <a:ln/>
        </p:spPr>
        <p:txBody>
          <a:bodyPr wrap="square" lIns="0" tIns="0" rIns="0" bIns="0" rtlCol="0" anchor="ctr"/>
          <a:lstStyle/>
          <a:p>
            <a:pPr algn="ctr" indent="0" marL="0">
              <a:lnSpc>
                <a:spcPct val="104000"/>
              </a:lnSpc>
              <a:buNone/>
            </a:pPr>
            <a:r>
              <a:rPr lang="en-US" sz="750" b="1" spc="110" kern="0" dirty="0">
                <a:solidFill>
                  <a:srgbClr val="2F8F48"/>
                </a:solidFill>
                <a:latin typeface="Calibri" pitchFamily="34" charset="0"/>
                <a:ea typeface="Calibri" pitchFamily="34" charset="-122"/>
                <a:cs typeface="Calibri" pitchFamily="34" charset="-120"/>
              </a:rPr>
              <a:t>BANDED THE SAME WAY</a:t>
            </a:r>
            <a:endParaRPr lang="en-US" sz="750" dirty="0"/>
          </a:p>
          <a:p>
            <a:pPr algn="ctr" indent="0" marL="0">
              <a:lnSpc>
                <a:spcPct val="104000"/>
              </a:lnSpc>
              <a:buNone/>
            </a:pPr>
            <a:r>
              <a:rPr lang="en-US" sz="1200" b="1" dirty="0">
                <a:solidFill>
                  <a:srgbClr val="17431F"/>
                </a:solidFill>
                <a:latin typeface="Calibri" pitchFamily="34" charset="0"/>
                <a:ea typeface="Calibri" pitchFamily="34" charset="-122"/>
                <a:cs typeface="Calibri" pitchFamily="34" charset="-120"/>
              </a:rPr>
              <a:t>Exposure verdict</a:t>
            </a:r>
            <a:endParaRPr lang="en-US" sz="750" dirty="0"/>
          </a:p>
          <a:p>
            <a:pPr algn="ctr" indent="0" marL="0">
              <a:lnSpc>
                <a:spcPct val="104000"/>
              </a:lnSpc>
              <a:buNone/>
            </a:pPr>
            <a:endParaRPr lang="en-US" sz="750" dirty="0"/>
          </a:p>
          <a:p>
            <a:pPr algn="ctr" indent="0" marL="0">
              <a:lnSpc>
                <a:spcPct val="104000"/>
              </a:lnSpc>
              <a:buNone/>
            </a:pPr>
            <a:r>
              <a:rPr lang="en-US" sz="850" dirty="0">
                <a:solidFill>
                  <a:srgbClr val="17431F"/>
                </a:solidFill>
                <a:latin typeface="Calibri" pitchFamily="34" charset="0"/>
                <a:ea typeface="Calibri" pitchFamily="34" charset="-122"/>
                <a:cs typeface="Calibri" pitchFamily="34" charset="-120"/>
              </a:rPr>
              <a:t>50 % → pure play</a:t>
            </a:r>
            <a:endParaRPr lang="en-US" sz="750" dirty="0"/>
          </a:p>
          <a:p>
            <a:pPr algn="ctr" indent="0" marL="0">
              <a:lnSpc>
                <a:spcPct val="104000"/>
              </a:lnSpc>
              <a:buNone/>
            </a:pPr>
            <a:r>
              <a:rPr lang="en-US" sz="850" dirty="0">
                <a:solidFill>
                  <a:srgbClr val="17431F"/>
                </a:solidFill>
                <a:latin typeface="Calibri" pitchFamily="34" charset="0"/>
                <a:ea typeface="Calibri" pitchFamily="34" charset="-122"/>
                <a:cs typeface="Calibri" pitchFamily="34" charset="-120"/>
              </a:rPr>
              <a:t>20 % → significant</a:t>
            </a:r>
            <a:endParaRPr lang="en-US" sz="750" dirty="0"/>
          </a:p>
          <a:p>
            <a:pPr algn="ctr" indent="0" marL="0">
              <a:lnSpc>
                <a:spcPct val="104000"/>
              </a:lnSpc>
              <a:buNone/>
            </a:pPr>
            <a:r>
              <a:rPr lang="en-US" sz="850" dirty="0">
                <a:solidFill>
                  <a:srgbClr val="17431F"/>
                </a:solidFill>
                <a:latin typeface="Calibri" pitchFamily="34" charset="0"/>
                <a:ea typeface="Calibri" pitchFamily="34" charset="-122"/>
                <a:cs typeface="Calibri" pitchFamily="34" charset="-120"/>
              </a:rPr>
              <a:t>5 % → minor</a:t>
            </a:r>
            <a:endParaRPr lang="en-US" sz="750" dirty="0"/>
          </a:p>
          <a:p>
            <a:pPr algn="ctr" indent="0" marL="0">
              <a:lnSpc>
                <a:spcPct val="104000"/>
              </a:lnSpc>
              <a:buNone/>
            </a:pPr>
            <a:r>
              <a:rPr lang="en-US" sz="850" dirty="0">
                <a:solidFill>
                  <a:srgbClr val="17431F"/>
                </a:solidFill>
                <a:latin typeface="Calibri" pitchFamily="34" charset="0"/>
                <a:ea typeface="Calibri" pitchFamily="34" charset="-122"/>
                <a:cs typeface="Calibri" pitchFamily="34" charset="-120"/>
              </a:rPr>
              <a:t>below → none</a:t>
            </a:r>
            <a:endParaRPr lang="en-US" sz="750" dirty="0"/>
          </a:p>
          <a:p>
            <a:pPr algn="ctr" indent="0" marL="0">
              <a:lnSpc>
                <a:spcPct val="104000"/>
              </a:lnSpc>
              <a:buNone/>
            </a:pPr>
            <a:endParaRPr lang="en-US" sz="750" dirty="0"/>
          </a:p>
          <a:p>
            <a:pPr algn="ctr" indent="0" marL="0">
              <a:lnSpc>
                <a:spcPct val="104000"/>
              </a:lnSpc>
              <a:buNone/>
            </a:pPr>
            <a:r>
              <a:rPr lang="en-US" sz="850" dirty="0">
                <a:solidFill>
                  <a:srgbClr val="17431F"/>
                </a:solidFill>
                <a:latin typeface="Calibri" pitchFamily="34" charset="0"/>
                <a:ea typeface="Calibri" pitchFamily="34" charset="-122"/>
                <a:cs typeface="Calibri" pitchFamily="34" charset="-120"/>
              </a:rPr>
              <a:t>so the verdict means the same thing whichever path produced it</a:t>
            </a:r>
            <a:endParaRPr lang="en-US" sz="750" dirty="0"/>
          </a:p>
        </p:txBody>
      </p:sp>
      <p:sp>
        <p:nvSpPr>
          <p:cNvPr id="38" name="Shape 35"/>
          <p:cNvSpPr/>
          <p:nvPr/>
        </p:nvSpPr>
        <p:spPr>
          <a:xfrm>
            <a:off x="1463040" y="2450592"/>
            <a:ext cx="0" cy="347472"/>
          </a:xfrm>
          <a:prstGeom prst="line">
            <a:avLst/>
          </a:prstGeom>
          <a:noFill/>
          <a:ln w="16510">
            <a:solidFill>
              <a:srgbClr val="C9871B"/>
            </a:solidFill>
            <a:prstDash val="dash"/>
            <a:headEnd type="none"/>
            <a:tailEnd type="triangle"/>
          </a:ln>
        </p:spPr>
      </p:sp>
      <p:sp>
        <p:nvSpPr>
          <p:cNvPr id="39" name="Shape 36"/>
          <p:cNvSpPr/>
          <p:nvPr/>
        </p:nvSpPr>
        <p:spPr>
          <a:xfrm>
            <a:off x="594360" y="2834640"/>
            <a:ext cx="1737360" cy="1417320"/>
          </a:xfrm>
          <a:prstGeom prst="roundRect">
            <a:avLst>
              <a:gd name="adj" fmla="val 6452"/>
            </a:avLst>
          </a:prstGeom>
          <a:solidFill>
            <a:srgbClr val="FCEDD4"/>
          </a:solidFill>
          <a:ln w="15875">
            <a:solidFill>
              <a:srgbClr val="C9871B"/>
            </a:solidFill>
            <a:prstDash val="solid"/>
          </a:ln>
          <a:effectLst>
            <a:outerShdw sx="100000" sy="100000" kx="0" ky="0" algn="bl" rotWithShape="0" blurRad="101600" dist="19050" dir="5400000">
              <a:srgbClr val="9FB0C2">
                <a:alpha val="24000"/>
              </a:srgbClr>
            </a:outerShdw>
          </a:effectLst>
        </p:spPr>
      </p:sp>
      <p:sp>
        <p:nvSpPr>
          <p:cNvPr id="40" name="Text 37"/>
          <p:cNvSpPr txBox="1"/>
          <p:nvPr/>
        </p:nvSpPr>
        <p:spPr>
          <a:xfrm>
            <a:off x="685800" y="2834640"/>
            <a:ext cx="1554480" cy="1417320"/>
          </a:xfrm>
          <a:prstGeom prst="rect">
            <a:avLst/>
          </a:prstGeom>
          <a:noFill/>
          <a:ln/>
        </p:spPr>
        <p:txBody>
          <a:bodyPr wrap="square" lIns="0" tIns="0" rIns="0" bIns="0" rtlCol="0" anchor="ctr"/>
          <a:lstStyle/>
          <a:p>
            <a:pPr algn="ctr" indent="0" marL="0">
              <a:lnSpc>
                <a:spcPct val="104000"/>
              </a:lnSpc>
              <a:buNone/>
            </a:pPr>
            <a:r>
              <a:rPr lang="en-US" sz="700" b="1" spc="110" kern="0" dirty="0">
                <a:solidFill>
                  <a:srgbClr val="C9871B"/>
                </a:solidFill>
                <a:latin typeface="Calibri" pitchFamily="34" charset="0"/>
                <a:ea typeface="Calibri" pitchFamily="34" charset="-122"/>
                <a:cs typeface="Calibri" pitchFamily="34" charset="-120"/>
              </a:rPr>
              <a:t>NO EVIDENCE AT ALL</a:t>
            </a:r>
            <a:endParaRPr lang="en-US" sz="700" dirty="0"/>
          </a:p>
          <a:p>
            <a:pPr algn="ctr" indent="0" marL="0">
              <a:lnSpc>
                <a:spcPct val="104000"/>
              </a:lnSpc>
              <a:buNone/>
            </a:pPr>
            <a:r>
              <a:rPr lang="en-US" sz="800" dirty="0">
                <a:solidFill>
                  <a:srgbClr val="64430A"/>
                </a:solidFill>
                <a:latin typeface="Calibri" pitchFamily="34" charset="0"/>
                <a:ea typeface="Calibri" pitchFamily="34" charset="-122"/>
                <a:cs typeface="Calibri" pitchFamily="34" charset="-120"/>
              </a:rPr>
              <a:t>excluded at full confidence, zero LLM calls — or queued for review when the input-output tier flags structural exposure</a:t>
            </a:r>
            <a:endParaRPr lang="en-US" sz="700" dirty="0"/>
          </a:p>
        </p:txBody>
      </p:sp>
      <p:sp>
        <p:nvSpPr>
          <p:cNvPr id="41" name="Shape 38"/>
          <p:cNvSpPr/>
          <p:nvPr/>
        </p:nvSpPr>
        <p:spPr>
          <a:xfrm>
            <a:off x="594360" y="5321808"/>
            <a:ext cx="3532632" cy="941832"/>
          </a:xfrm>
          <a:prstGeom prst="roundRect">
            <a:avLst>
              <a:gd name="adj" fmla="val 3883"/>
            </a:avLst>
          </a:prstGeom>
          <a:solidFill>
            <a:srgbClr val="F4F7FA"/>
          </a:solidFill>
          <a:ln w="15875">
            <a:solidFill>
              <a:srgbClr val="DDE5ED"/>
            </a:solidFill>
            <a:prstDash val="solid"/>
          </a:ln>
        </p:spPr>
      </p:sp>
      <p:sp>
        <p:nvSpPr>
          <p:cNvPr id="42" name="Text 39"/>
          <p:cNvSpPr txBox="1"/>
          <p:nvPr/>
        </p:nvSpPr>
        <p:spPr>
          <a:xfrm>
            <a:off x="758952" y="5422392"/>
            <a:ext cx="3203448" cy="201168"/>
          </a:xfrm>
          <a:prstGeom prst="rect">
            <a:avLst/>
          </a:prstGeom>
          <a:noFill/>
          <a:ln/>
        </p:spPr>
        <p:txBody>
          <a:bodyPr wrap="square" lIns="0" tIns="0" rIns="0" bIns="0" rtlCol="0" anchor="ctr"/>
          <a:lstStyle/>
          <a:p>
            <a:pPr indent="0" marL="0">
              <a:buNone/>
            </a:pPr>
            <a:r>
              <a:rPr lang="en-US" sz="850" b="1" spc="140" kern="0" dirty="0">
                <a:solidFill>
                  <a:srgbClr val="6D4DD1"/>
                </a:solidFill>
                <a:latin typeface="Calibri" pitchFamily="34" charset="0"/>
                <a:ea typeface="Calibri" pitchFamily="34" charset="-122"/>
                <a:cs typeface="Calibri" pitchFamily="34" charset="-120"/>
              </a:rPr>
              <a:t>MODULES</a:t>
            </a:r>
            <a:endParaRPr lang="en-US" sz="850" dirty="0"/>
          </a:p>
        </p:txBody>
      </p:sp>
      <p:sp>
        <p:nvSpPr>
          <p:cNvPr id="43" name="Text 40"/>
          <p:cNvSpPr txBox="1"/>
          <p:nvPr/>
        </p:nvSpPr>
        <p:spPr>
          <a:xfrm>
            <a:off x="758952" y="5641848"/>
            <a:ext cx="3203448" cy="548640"/>
          </a:xfrm>
          <a:prstGeom prst="rect">
            <a:avLst/>
          </a:prstGeom>
          <a:noFill/>
          <a:ln/>
        </p:spPr>
        <p:txBody>
          <a:bodyPr wrap="square" lIns="0" tIns="0" rIns="0" bIns="0" rtlCol="0" anchor="ctr"/>
          <a:lstStyle/>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arp/research/{pipeline,match_graph,matcher_agents}.py</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arp/research/revenue_exposure/{catalogue,mapping,resolver}.py</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arp/research/taxonomy_sources/* · arp/storage/taxonomy_store.py</a:t>
            </a:r>
            <a:endParaRPr lang="en-US" sz="860" dirty="0"/>
          </a:p>
        </p:txBody>
      </p:sp>
      <p:sp>
        <p:nvSpPr>
          <p:cNvPr id="44" name="Shape 41"/>
          <p:cNvSpPr/>
          <p:nvPr/>
        </p:nvSpPr>
        <p:spPr>
          <a:xfrm>
            <a:off x="4328160" y="5321808"/>
            <a:ext cx="3532632" cy="941832"/>
          </a:xfrm>
          <a:prstGeom prst="roundRect">
            <a:avLst>
              <a:gd name="adj" fmla="val 3883"/>
            </a:avLst>
          </a:prstGeom>
          <a:solidFill>
            <a:srgbClr val="F4F7FA"/>
          </a:solidFill>
          <a:ln w="15875">
            <a:solidFill>
              <a:srgbClr val="DDE5ED"/>
            </a:solidFill>
            <a:prstDash val="solid"/>
          </a:ln>
        </p:spPr>
      </p:sp>
      <p:sp>
        <p:nvSpPr>
          <p:cNvPr id="45" name="Text 42"/>
          <p:cNvSpPr txBox="1"/>
          <p:nvPr/>
        </p:nvSpPr>
        <p:spPr>
          <a:xfrm>
            <a:off x="4492752" y="5422392"/>
            <a:ext cx="3203448" cy="201168"/>
          </a:xfrm>
          <a:prstGeom prst="rect">
            <a:avLst/>
          </a:prstGeom>
          <a:noFill/>
          <a:ln/>
        </p:spPr>
        <p:txBody>
          <a:bodyPr wrap="square" lIns="0" tIns="0" rIns="0" bIns="0" rtlCol="0" anchor="ctr"/>
          <a:lstStyle/>
          <a:p>
            <a:pPr indent="0" marL="0">
              <a:buNone/>
            </a:pPr>
            <a:r>
              <a:rPr lang="en-US" sz="850" b="1" spc="140" kern="0" dirty="0">
                <a:solidFill>
                  <a:srgbClr val="2F6FD0"/>
                </a:solidFill>
                <a:latin typeface="Calibri" pitchFamily="34" charset="0"/>
                <a:ea typeface="Calibri" pitchFamily="34" charset="-122"/>
                <a:cs typeface="Calibri" pitchFamily="34" charset="-120"/>
              </a:rPr>
              <a:t>IN → OUT</a:t>
            </a:r>
            <a:endParaRPr lang="en-US" sz="850" dirty="0"/>
          </a:p>
        </p:txBody>
      </p:sp>
      <p:sp>
        <p:nvSpPr>
          <p:cNvPr id="46" name="Text 43"/>
          <p:cNvSpPr txBox="1"/>
          <p:nvPr/>
        </p:nvSpPr>
        <p:spPr>
          <a:xfrm>
            <a:off x="4492752" y="5641848"/>
            <a:ext cx="3203448" cy="548640"/>
          </a:xfrm>
          <a:prstGeom prst="rect">
            <a:avLst/>
          </a:prstGeom>
          <a:noFill/>
          <a:ln/>
        </p:spPr>
        <p:txBody>
          <a:bodyPr wrap="square" lIns="0" tIns="0" rIns="0" bIns="0" rtlCol="0" anchor="ctr"/>
          <a:lstStyle/>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In: a ratified Taxonomy + a company universe</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(optionally a revenue/capex catalogue and its mapping).</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Out: CompanyMatch per company × activity.</a:t>
            </a:r>
            <a:endParaRPr lang="en-US" sz="860" dirty="0"/>
          </a:p>
        </p:txBody>
      </p:sp>
      <p:sp>
        <p:nvSpPr>
          <p:cNvPr id="47" name="Shape 44"/>
          <p:cNvSpPr/>
          <p:nvPr/>
        </p:nvSpPr>
        <p:spPr>
          <a:xfrm>
            <a:off x="8061960" y="5321808"/>
            <a:ext cx="3532632" cy="941832"/>
          </a:xfrm>
          <a:prstGeom prst="roundRect">
            <a:avLst>
              <a:gd name="adj" fmla="val 3883"/>
            </a:avLst>
          </a:prstGeom>
          <a:solidFill>
            <a:srgbClr val="F4F7FA"/>
          </a:solidFill>
          <a:ln w="15875">
            <a:solidFill>
              <a:srgbClr val="DDE5ED"/>
            </a:solidFill>
            <a:prstDash val="solid"/>
          </a:ln>
        </p:spPr>
      </p:sp>
      <p:sp>
        <p:nvSpPr>
          <p:cNvPr id="48" name="Text 45"/>
          <p:cNvSpPr txBox="1"/>
          <p:nvPr/>
        </p:nvSpPr>
        <p:spPr>
          <a:xfrm>
            <a:off x="8226552" y="5422392"/>
            <a:ext cx="3203448" cy="201168"/>
          </a:xfrm>
          <a:prstGeom prst="rect">
            <a:avLst/>
          </a:prstGeom>
          <a:noFill/>
          <a:ln/>
        </p:spPr>
        <p:txBody>
          <a:bodyPr wrap="square" lIns="0" tIns="0" rIns="0" bIns="0" rtlCol="0" anchor="ctr"/>
          <a:lstStyle/>
          <a:p>
            <a:pPr indent="0" marL="0">
              <a:buNone/>
            </a:pPr>
            <a:r>
              <a:rPr lang="en-US" sz="850" b="1" spc="140" kern="0" dirty="0">
                <a:solidFill>
                  <a:srgbClr val="C9871B"/>
                </a:solidFill>
                <a:latin typeface="Calibri" pitchFamily="34" charset="0"/>
                <a:ea typeface="Calibri" pitchFamily="34" charset="-122"/>
                <a:cs typeface="Calibri" pitchFamily="34" charset="-120"/>
              </a:rPr>
              <a:t>CONTROLS</a:t>
            </a:r>
            <a:endParaRPr lang="en-US" sz="850" dirty="0"/>
          </a:p>
        </p:txBody>
      </p:sp>
      <p:sp>
        <p:nvSpPr>
          <p:cNvPr id="49" name="Text 46"/>
          <p:cNvSpPr txBox="1"/>
          <p:nvPr/>
        </p:nvSpPr>
        <p:spPr>
          <a:xfrm>
            <a:off x="8226552" y="5641848"/>
            <a:ext cx="3203448" cy="548640"/>
          </a:xfrm>
          <a:prstGeom prst="rect">
            <a:avLst/>
          </a:prstGeom>
          <a:noFill/>
          <a:ln/>
        </p:spPr>
        <p:txBody>
          <a:bodyPr wrap="square" lIns="0" tIns="0" rIns="0" bIns="0" rtlCol="0" anchor="ctr"/>
          <a:lstStyle/>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A catalogue mapping is a reviewable draft, never auto-applied.</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The sector-relevance gate only ever gates path 2.</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Indirect exposure stays its own field.</a:t>
            </a:r>
            <a:endParaRPr lang="en-US" sz="86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438912"/>
            <a:ext cx="10085832" cy="201168"/>
          </a:xfrm>
          <a:prstGeom prst="rect">
            <a:avLst/>
          </a:prstGeom>
          <a:noFill/>
          <a:ln/>
        </p:spPr>
        <p:txBody>
          <a:bodyPr wrap="square" lIns="0" tIns="0" rIns="0" bIns="0" rtlCol="0" anchor="ctr"/>
          <a:lstStyle/>
          <a:p>
            <a:pPr indent="0" marL="0">
              <a:buNone/>
            </a:pPr>
            <a:r>
              <a:rPr lang="en-US" sz="1050" b="1" spc="200" kern="0" dirty="0">
                <a:solidFill>
                  <a:srgbClr val="108494"/>
                </a:solidFill>
                <a:latin typeface="Calibri" pitchFamily="34" charset="0"/>
                <a:ea typeface="Calibri" pitchFamily="34" charset="-122"/>
                <a:cs typeface="Calibri" pitchFamily="34" charset="-120"/>
              </a:rPr>
              <a:t>03   ·   PORTFOLIO RISK &amp; EXPOSURE MONITORING</a:t>
            </a:r>
            <a:endParaRPr lang="en-US" sz="1050" dirty="0"/>
          </a:p>
        </p:txBody>
      </p:sp>
      <p:sp>
        <p:nvSpPr>
          <p:cNvPr id="3" name="Text 1"/>
          <p:cNvSpPr txBox="1"/>
          <p:nvPr/>
        </p:nvSpPr>
        <p:spPr>
          <a:xfrm>
            <a:off x="594360" y="640080"/>
            <a:ext cx="10085832" cy="484632"/>
          </a:xfrm>
          <a:prstGeom prst="rect">
            <a:avLst/>
          </a:prstGeom>
          <a:noFill/>
          <a:ln/>
        </p:spPr>
        <p:txBody>
          <a:bodyPr wrap="square" lIns="0" tIns="0" rIns="0" bIns="0" rtlCol="0" anchor="ctr"/>
          <a:lstStyle/>
          <a:p>
            <a:pPr indent="0" marL="0">
              <a:buNone/>
            </a:pPr>
            <a:r>
              <a:rPr lang="en-US" sz="3000" b="1" dirty="0">
                <a:solidFill>
                  <a:srgbClr val="10243A"/>
                </a:solidFill>
                <a:latin typeface="Cambria" pitchFamily="34" charset="0"/>
                <a:ea typeface="Cambria" pitchFamily="34" charset="-122"/>
                <a:cs typeface="Cambria" pitchFamily="34" charset="-120"/>
              </a:rPr>
              <a:t>Portfolio Risk Monitoring</a:t>
            </a:r>
            <a:endParaRPr lang="en-US" sz="3000" dirty="0"/>
          </a:p>
        </p:txBody>
      </p:sp>
      <p:sp>
        <p:nvSpPr>
          <p:cNvPr id="4" name="Text 2"/>
          <p:cNvSpPr txBox="1"/>
          <p:nvPr/>
        </p:nvSpPr>
        <p:spPr>
          <a:xfrm>
            <a:off x="594360" y="1143000"/>
            <a:ext cx="9994392" cy="274320"/>
          </a:xfrm>
          <a:prstGeom prst="rect">
            <a:avLst/>
          </a:prstGeom>
          <a:noFill/>
          <a:ln/>
        </p:spPr>
        <p:txBody>
          <a:bodyPr wrap="square" lIns="0" tIns="0" rIns="0" bIns="0" rtlCol="0" anchor="ctr"/>
          <a:lstStyle/>
          <a:p>
            <a:pPr indent="0" marL="0">
              <a:buNone/>
            </a:pPr>
            <a:r>
              <a:rPr lang="en-US" sz="1200" dirty="0">
                <a:solidFill>
                  <a:srgbClr val="58697A"/>
                </a:solidFill>
                <a:latin typeface="Calibri" pitchFamily="34" charset="0"/>
                <a:ea typeface="Calibri" pitchFamily="34" charset="-122"/>
                <a:cs typeface="Calibri" pitchFamily="34" charset="-120"/>
              </a:rPr>
              <a:t>The holdings axis joined to company-level research — with every number computed, never generated.</a:t>
            </a:r>
            <a:endParaRPr lang="en-US" sz="1200" dirty="0"/>
          </a:p>
        </p:txBody>
      </p:sp>
      <p:sp>
        <p:nvSpPr>
          <p:cNvPr id="5" name="Shape 3"/>
          <p:cNvSpPr/>
          <p:nvPr/>
        </p:nvSpPr>
        <p:spPr>
          <a:xfrm>
            <a:off x="10881360" y="475488"/>
            <a:ext cx="713232" cy="713232"/>
          </a:xfrm>
          <a:prstGeom prst="roundRect">
            <a:avLst>
              <a:gd name="adj" fmla="val 20513"/>
            </a:avLst>
          </a:prstGeom>
          <a:solidFill>
            <a:srgbClr val="10243A"/>
          </a:solidFill>
          <a:ln/>
        </p:spPr>
      </p:sp>
      <p:pic>
        <p:nvPicPr>
          <p:cNvPr id="6" name="Image 0" descr="preencoded.png">    </p:cNvPr>
          <p:cNvPicPr>
            <a:picLocks noChangeAspect="1"/>
          </p:cNvPicPr>
          <p:nvPr/>
        </p:nvPicPr>
        <p:blipFill>
          <a:blip r:embed="rId1"/>
          <a:stretch>
            <a:fillRect/>
          </a:stretch>
        </p:blipFill>
        <p:spPr>
          <a:xfrm>
            <a:off x="11038271" y="632399"/>
            <a:ext cx="399410" cy="399410"/>
          </a:xfrm>
          <a:prstGeom prst="rect">
            <a:avLst/>
          </a:prstGeom>
        </p:spPr>
      </p:pic>
      <p:sp>
        <p:nvSpPr>
          <p:cNvPr id="7" name="Text 4"/>
          <p:cNvSpPr txBox="1"/>
          <p:nvPr/>
        </p:nvSpPr>
        <p:spPr>
          <a:xfrm>
            <a:off x="594360" y="1463040"/>
            <a:ext cx="3017520" cy="201168"/>
          </a:xfrm>
          <a:prstGeom prst="rect">
            <a:avLst/>
          </a:prstGeom>
          <a:noFill/>
          <a:ln/>
        </p:spPr>
        <p:txBody>
          <a:bodyPr wrap="square" lIns="0" tIns="0" rIns="0" bIns="0" rtlCol="0" anchor="ctr"/>
          <a:lstStyle/>
          <a:p>
            <a:pPr algn="ctr" indent="0" marL="0">
              <a:buNone/>
            </a:pPr>
            <a:r>
              <a:rPr lang="en-US" sz="900" b="1" spc="140" kern="0" dirty="0">
                <a:solidFill>
                  <a:srgbClr val="2F6FD0"/>
                </a:solidFill>
                <a:latin typeface="Calibri" pitchFamily="34" charset="0"/>
                <a:ea typeface="Calibri" pitchFamily="34" charset="-122"/>
                <a:cs typeface="Calibri" pitchFamily="34" charset="-120"/>
              </a:rPr>
              <a:t>TWO AXES</a:t>
            </a:r>
            <a:endParaRPr lang="en-US" sz="900" dirty="0"/>
          </a:p>
        </p:txBody>
      </p:sp>
      <p:sp>
        <p:nvSpPr>
          <p:cNvPr id="8" name="Shape 5"/>
          <p:cNvSpPr/>
          <p:nvPr/>
        </p:nvSpPr>
        <p:spPr>
          <a:xfrm>
            <a:off x="594360" y="1737360"/>
            <a:ext cx="3017520" cy="960120"/>
          </a:xfrm>
          <a:prstGeom prst="roundRect">
            <a:avLst>
              <a:gd name="adj" fmla="val 9524"/>
            </a:avLst>
          </a:prstGeom>
          <a:solidFill>
            <a:srgbClr val="E3EDFC"/>
          </a:solidFill>
          <a:ln w="15875">
            <a:solidFill>
              <a:srgbClr val="2F6FD0"/>
            </a:solidFill>
            <a:prstDash val="solid"/>
          </a:ln>
          <a:effectLst>
            <a:outerShdw sx="100000" sy="100000" kx="0" ky="0" algn="bl" rotWithShape="0" blurRad="101600" dist="19050" dir="5400000">
              <a:srgbClr val="9FB0C2">
                <a:alpha val="24000"/>
              </a:srgbClr>
            </a:outerShdw>
          </a:effectLst>
        </p:spPr>
      </p:sp>
      <p:sp>
        <p:nvSpPr>
          <p:cNvPr id="9" name="Shape 6"/>
          <p:cNvSpPr/>
          <p:nvPr/>
        </p:nvSpPr>
        <p:spPr>
          <a:xfrm>
            <a:off x="731520" y="2025396"/>
            <a:ext cx="384048" cy="384048"/>
          </a:xfrm>
          <a:prstGeom prst="roundRect">
            <a:avLst>
              <a:gd name="adj" fmla="val 23810"/>
            </a:avLst>
          </a:prstGeom>
          <a:solidFill>
            <a:srgbClr val="2F6FD0"/>
          </a:solidFill>
          <a:ln/>
        </p:spPr>
      </p:sp>
      <p:pic>
        <p:nvPicPr>
          <p:cNvPr id="10" name="Image 1" descr="preencoded.png">    </p:cNvPr>
          <p:cNvPicPr>
            <a:picLocks noChangeAspect="1"/>
          </p:cNvPicPr>
          <p:nvPr/>
        </p:nvPicPr>
        <p:blipFill>
          <a:blip r:embed="rId2"/>
          <a:stretch>
            <a:fillRect/>
          </a:stretch>
        </p:blipFill>
        <p:spPr>
          <a:xfrm>
            <a:off x="816011" y="2109887"/>
            <a:ext cx="215067" cy="215067"/>
          </a:xfrm>
          <a:prstGeom prst="rect">
            <a:avLst/>
          </a:prstGeom>
        </p:spPr>
      </p:pic>
      <p:sp>
        <p:nvSpPr>
          <p:cNvPr id="11" name="Text 7"/>
          <p:cNvSpPr txBox="1"/>
          <p:nvPr/>
        </p:nvSpPr>
        <p:spPr>
          <a:xfrm>
            <a:off x="1252728" y="1737360"/>
            <a:ext cx="2249424" cy="960120"/>
          </a:xfrm>
          <a:prstGeom prst="rect">
            <a:avLst/>
          </a:prstGeom>
          <a:noFill/>
          <a:ln/>
        </p:spPr>
        <p:txBody>
          <a:bodyPr wrap="square" lIns="0" tIns="0" rIns="0" bIns="0" rtlCol="0" anchor="ctr"/>
          <a:lstStyle/>
          <a:p>
            <a:pPr algn="l" indent="0" marL="0">
              <a:lnSpc>
                <a:spcPct val="104000"/>
              </a:lnSpc>
              <a:buNone/>
            </a:pPr>
            <a:r>
              <a:rPr lang="en-US" sz="750" b="1" spc="110" kern="0" dirty="0">
                <a:solidFill>
                  <a:srgbClr val="2F6FD0"/>
                </a:solidFill>
                <a:latin typeface="Calibri" pitchFamily="34" charset="0"/>
                <a:ea typeface="Calibri" pitchFamily="34" charset="-122"/>
                <a:cs typeface="Calibri" pitchFamily="34" charset="-120"/>
              </a:rPr>
              <a:t>HOLDINGS</a:t>
            </a:r>
            <a:endParaRPr lang="en-US" sz="750" dirty="0"/>
          </a:p>
          <a:p>
            <a:pPr algn="l" indent="0" marL="0">
              <a:lnSpc>
                <a:spcPct val="104000"/>
              </a:lnSpc>
              <a:buNone/>
            </a:pPr>
            <a:r>
              <a:rPr lang="en-US" sz="1050" b="1" dirty="0">
                <a:solidFill>
                  <a:srgbClr val="153A61"/>
                </a:solidFill>
                <a:latin typeface="Calibri" pitchFamily="34" charset="0"/>
                <a:ea typeface="Calibri" pitchFamily="34" charset="-122"/>
                <a:cs typeface="Calibri" pitchFamily="34" charset="-120"/>
              </a:rPr>
              <a:t>Custodian / PMS snapshot</a:t>
            </a:r>
            <a:endParaRPr lang="en-US" sz="750" dirty="0"/>
          </a:p>
          <a:p>
            <a:pPr algn="l" indent="0" marL="0">
              <a:lnSpc>
                <a:spcPct val="104000"/>
              </a:lnSpc>
              <a:buNone/>
            </a:pPr>
            <a:r>
              <a:rPr lang="en-US" sz="800" dirty="0">
                <a:solidFill>
                  <a:srgbClr val="153A61"/>
                </a:solidFill>
                <a:latin typeface="Calibri" pitchFamily="34" charset="0"/>
                <a:ea typeface="Calibri" pitchFamily="34" charset="-122"/>
                <a:cs typeface="Calibri" pitchFamily="34" charset="-120"/>
              </a:rPr>
              <a:t>position, quantity, market value, FX supplied per position, as-of date</a:t>
            </a:r>
            <a:endParaRPr lang="en-US" sz="750" dirty="0"/>
          </a:p>
        </p:txBody>
      </p:sp>
      <p:sp>
        <p:nvSpPr>
          <p:cNvPr id="12" name="Shape 8"/>
          <p:cNvSpPr/>
          <p:nvPr/>
        </p:nvSpPr>
        <p:spPr>
          <a:xfrm>
            <a:off x="594360" y="2880360"/>
            <a:ext cx="3017520" cy="960120"/>
          </a:xfrm>
          <a:prstGeom prst="roundRect">
            <a:avLst>
              <a:gd name="adj" fmla="val 9524"/>
            </a:avLst>
          </a:prstGeom>
          <a:solidFill>
            <a:srgbClr val="EBE5FC"/>
          </a:solidFill>
          <a:ln w="15875">
            <a:solidFill>
              <a:srgbClr val="6D4DD1"/>
            </a:solidFill>
            <a:prstDash val="solid"/>
          </a:ln>
          <a:effectLst>
            <a:outerShdw sx="100000" sy="100000" kx="0" ky="0" algn="bl" rotWithShape="0" blurRad="101600" dist="19050" dir="5400000">
              <a:srgbClr val="9FB0C2">
                <a:alpha val="24000"/>
              </a:srgbClr>
            </a:outerShdw>
          </a:effectLst>
        </p:spPr>
      </p:sp>
      <p:sp>
        <p:nvSpPr>
          <p:cNvPr id="13" name="Shape 9"/>
          <p:cNvSpPr/>
          <p:nvPr/>
        </p:nvSpPr>
        <p:spPr>
          <a:xfrm>
            <a:off x="731520" y="3168396"/>
            <a:ext cx="384048" cy="384048"/>
          </a:xfrm>
          <a:prstGeom prst="roundRect">
            <a:avLst>
              <a:gd name="adj" fmla="val 23810"/>
            </a:avLst>
          </a:prstGeom>
          <a:solidFill>
            <a:srgbClr val="6D4DD1"/>
          </a:solidFill>
          <a:ln/>
        </p:spPr>
      </p:sp>
      <p:pic>
        <p:nvPicPr>
          <p:cNvPr id="14" name="Image 2" descr="preencoded.png">    </p:cNvPr>
          <p:cNvPicPr>
            <a:picLocks noChangeAspect="1"/>
          </p:cNvPicPr>
          <p:nvPr/>
        </p:nvPicPr>
        <p:blipFill>
          <a:blip r:embed="rId3"/>
          <a:stretch>
            <a:fillRect/>
          </a:stretch>
        </p:blipFill>
        <p:spPr>
          <a:xfrm>
            <a:off x="816011" y="3252887"/>
            <a:ext cx="215067" cy="215067"/>
          </a:xfrm>
          <a:prstGeom prst="rect">
            <a:avLst/>
          </a:prstGeom>
        </p:spPr>
      </p:pic>
      <p:sp>
        <p:nvSpPr>
          <p:cNvPr id="15" name="Text 10"/>
          <p:cNvSpPr txBox="1"/>
          <p:nvPr/>
        </p:nvSpPr>
        <p:spPr>
          <a:xfrm>
            <a:off x="1252728" y="2880360"/>
            <a:ext cx="2249424" cy="960120"/>
          </a:xfrm>
          <a:prstGeom prst="rect">
            <a:avLst/>
          </a:prstGeom>
          <a:noFill/>
          <a:ln/>
        </p:spPr>
        <p:txBody>
          <a:bodyPr wrap="square" lIns="0" tIns="0" rIns="0" bIns="0" rtlCol="0" anchor="ctr"/>
          <a:lstStyle/>
          <a:p>
            <a:pPr algn="l" indent="0" marL="0">
              <a:lnSpc>
                <a:spcPct val="104000"/>
              </a:lnSpc>
              <a:buNone/>
            </a:pPr>
            <a:r>
              <a:rPr lang="en-US" sz="750" b="1" spc="110" kern="0" dirty="0">
                <a:solidFill>
                  <a:srgbClr val="6D4DD1"/>
                </a:solidFill>
                <a:latin typeface="Calibri" pitchFamily="34" charset="0"/>
                <a:ea typeface="Calibri" pitchFamily="34" charset="-122"/>
                <a:cs typeface="Calibri" pitchFamily="34" charset="-120"/>
              </a:rPr>
              <a:t>RESEARCH</a:t>
            </a:r>
            <a:endParaRPr lang="en-US" sz="750" dirty="0"/>
          </a:p>
          <a:p>
            <a:pPr algn="l" indent="0" marL="0">
              <a:lnSpc>
                <a:spcPct val="104000"/>
              </a:lnSpc>
              <a:buNone/>
            </a:pPr>
            <a:r>
              <a:rPr lang="en-US" sz="1050" b="1" dirty="0">
                <a:solidFill>
                  <a:srgbClr val="35236E"/>
                </a:solidFill>
                <a:latin typeface="Calibri" pitchFamily="34" charset="0"/>
                <a:ea typeface="Calibri" pitchFamily="34" charset="-122"/>
                <a:cs typeface="Calibri" pitchFamily="34" charset="-120"/>
              </a:rPr>
              <a:t>What the other functions know</a:t>
            </a:r>
            <a:endParaRPr lang="en-US" sz="750" dirty="0"/>
          </a:p>
          <a:p>
            <a:pPr algn="l" indent="0" marL="0">
              <a:lnSpc>
                <a:spcPct val="104000"/>
              </a:lnSpc>
              <a:buNone/>
            </a:pPr>
            <a:r>
              <a:rPr lang="en-US" sz="800" dirty="0">
                <a:solidFill>
                  <a:srgbClr val="35236E"/>
                </a:solidFill>
                <a:latin typeface="Calibri" pitchFamily="34" charset="0"/>
                <a:ea typeface="Calibri" pitchFamily="34" charset="-122"/>
                <a:cs typeface="Calibri" pitchFamily="34" charset="-120"/>
              </a:rPr>
              <a:t>GICS sector, thematic and revenue exposure, extracted data points</a:t>
            </a:r>
            <a:endParaRPr lang="en-US" sz="750" dirty="0"/>
          </a:p>
        </p:txBody>
      </p:sp>
      <p:sp>
        <p:nvSpPr>
          <p:cNvPr id="16" name="Shape 11"/>
          <p:cNvSpPr/>
          <p:nvPr/>
        </p:nvSpPr>
        <p:spPr>
          <a:xfrm>
            <a:off x="594360" y="4023360"/>
            <a:ext cx="3017520" cy="960120"/>
          </a:xfrm>
          <a:prstGeom prst="roundRect">
            <a:avLst>
              <a:gd name="adj" fmla="val 9524"/>
            </a:avLst>
          </a:prstGeom>
          <a:solidFill>
            <a:srgbClr val="DCF2F4"/>
          </a:solidFill>
          <a:ln w="15875">
            <a:solidFill>
              <a:srgbClr val="108494"/>
            </a:solidFill>
            <a:prstDash val="solid"/>
          </a:ln>
          <a:effectLst>
            <a:outerShdw sx="100000" sy="100000" kx="0" ky="0" algn="bl" rotWithShape="0" blurRad="101600" dist="19050" dir="5400000">
              <a:srgbClr val="9FB0C2">
                <a:alpha val="24000"/>
              </a:srgbClr>
            </a:outerShdw>
          </a:effectLst>
        </p:spPr>
      </p:sp>
      <p:sp>
        <p:nvSpPr>
          <p:cNvPr id="17" name="Shape 12"/>
          <p:cNvSpPr/>
          <p:nvPr/>
        </p:nvSpPr>
        <p:spPr>
          <a:xfrm>
            <a:off x="731520" y="4311396"/>
            <a:ext cx="384048" cy="384048"/>
          </a:xfrm>
          <a:prstGeom prst="roundRect">
            <a:avLst>
              <a:gd name="adj" fmla="val 23810"/>
            </a:avLst>
          </a:prstGeom>
          <a:solidFill>
            <a:srgbClr val="108494"/>
          </a:solidFill>
          <a:ln/>
        </p:spPr>
      </p:sp>
      <p:pic>
        <p:nvPicPr>
          <p:cNvPr id="18" name="Image 3" descr="preencoded.png">    </p:cNvPr>
          <p:cNvPicPr>
            <a:picLocks noChangeAspect="1"/>
          </p:cNvPicPr>
          <p:nvPr/>
        </p:nvPicPr>
        <p:blipFill>
          <a:blip r:embed="rId4"/>
          <a:stretch>
            <a:fillRect/>
          </a:stretch>
        </p:blipFill>
        <p:spPr>
          <a:xfrm>
            <a:off x="816011" y="4395887"/>
            <a:ext cx="215067" cy="215067"/>
          </a:xfrm>
          <a:prstGeom prst="rect">
            <a:avLst/>
          </a:prstGeom>
        </p:spPr>
      </p:pic>
      <p:sp>
        <p:nvSpPr>
          <p:cNvPr id="19" name="Text 13"/>
          <p:cNvSpPr txBox="1"/>
          <p:nvPr/>
        </p:nvSpPr>
        <p:spPr>
          <a:xfrm>
            <a:off x="1252728" y="4023360"/>
            <a:ext cx="2249424" cy="960120"/>
          </a:xfrm>
          <a:prstGeom prst="rect">
            <a:avLst/>
          </a:prstGeom>
          <a:noFill/>
          <a:ln/>
        </p:spPr>
        <p:txBody>
          <a:bodyPr wrap="square" lIns="0" tIns="0" rIns="0" bIns="0" rtlCol="0" anchor="ctr"/>
          <a:lstStyle/>
          <a:p>
            <a:pPr algn="l" indent="0" marL="0">
              <a:lnSpc>
                <a:spcPct val="104000"/>
              </a:lnSpc>
              <a:buNone/>
            </a:pPr>
            <a:r>
              <a:rPr lang="en-US" sz="750" b="1" spc="110" kern="0" dirty="0">
                <a:solidFill>
                  <a:srgbClr val="108494"/>
                </a:solidFill>
                <a:latin typeface="Calibri" pitchFamily="34" charset="0"/>
                <a:ea typeface="Calibri" pitchFamily="34" charset="-122"/>
                <a:cs typeface="Calibri" pitchFamily="34" charset="-120"/>
              </a:rPr>
              <a:t>REFERENCE</a:t>
            </a:r>
            <a:endParaRPr lang="en-US" sz="750" dirty="0"/>
          </a:p>
          <a:p>
            <a:pPr algn="l" indent="0" marL="0">
              <a:lnSpc>
                <a:spcPct val="104000"/>
              </a:lnSpc>
              <a:buNone/>
            </a:pPr>
            <a:r>
              <a:rPr lang="en-US" sz="1050" b="1" dirty="0">
                <a:solidFill>
                  <a:srgbClr val="0A4451"/>
                </a:solidFill>
                <a:latin typeface="Calibri" pitchFamily="34" charset="0"/>
                <a:ea typeface="Calibri" pitchFamily="34" charset="-122"/>
                <a:cs typeface="Calibri" pitchFamily="34" charset="-120"/>
              </a:rPr>
              <a:t>Internal ESG API &amp; news feed</a:t>
            </a:r>
            <a:endParaRPr lang="en-US" sz="750" dirty="0"/>
          </a:p>
          <a:p>
            <a:pPr algn="l" indent="0" marL="0">
              <a:lnSpc>
                <a:spcPct val="104000"/>
              </a:lnSpc>
              <a:buNone/>
            </a:pPr>
            <a:r>
              <a:rPr lang="en-US" sz="800" dirty="0">
                <a:solidFill>
                  <a:srgbClr val="0A4451"/>
                </a:solidFill>
                <a:latin typeface="Calibri" pitchFamily="34" charset="0"/>
                <a:ea typeface="Calibri" pitchFamily="34" charset="-122"/>
                <a:cs typeface="Calibri" pitchFamily="34" charset="-120"/>
              </a:rPr>
              <a:t>emissions, EVIC, controversy articles</a:t>
            </a:r>
            <a:endParaRPr lang="en-US" sz="750" dirty="0"/>
          </a:p>
        </p:txBody>
      </p:sp>
      <p:sp>
        <p:nvSpPr>
          <p:cNvPr id="20" name="Shape 14"/>
          <p:cNvSpPr/>
          <p:nvPr/>
        </p:nvSpPr>
        <p:spPr>
          <a:xfrm>
            <a:off x="3977640" y="2331720"/>
            <a:ext cx="1371600" cy="1234440"/>
          </a:xfrm>
          <a:prstGeom prst="hexagon">
            <a:avLst/>
          </a:prstGeom>
          <a:solidFill>
            <a:srgbClr val="FCEDD4"/>
          </a:solidFill>
          <a:ln w="15875">
            <a:solidFill>
              <a:srgbClr val="C9871B"/>
            </a:solidFill>
            <a:prstDash val="solid"/>
          </a:ln>
          <a:effectLst>
            <a:outerShdw sx="100000" sy="100000" kx="0" ky="0" algn="bl" rotWithShape="0" blurRad="101600" dist="19050" dir="5400000">
              <a:srgbClr val="9FB0C2">
                <a:alpha val="24000"/>
              </a:srgbClr>
            </a:outerShdw>
          </a:effectLst>
        </p:spPr>
      </p:sp>
      <p:sp>
        <p:nvSpPr>
          <p:cNvPr id="21" name="Shape 15"/>
          <p:cNvSpPr/>
          <p:nvPr/>
        </p:nvSpPr>
        <p:spPr>
          <a:xfrm>
            <a:off x="4526280" y="2478024"/>
            <a:ext cx="274320" cy="274320"/>
          </a:xfrm>
          <a:prstGeom prst="roundRect">
            <a:avLst>
              <a:gd name="adj" fmla="val 33333"/>
            </a:avLst>
          </a:prstGeom>
          <a:solidFill>
            <a:srgbClr val="C9871B"/>
          </a:solidFill>
          <a:ln/>
        </p:spPr>
      </p:sp>
      <p:pic>
        <p:nvPicPr>
          <p:cNvPr id="22" name="Image 4" descr="preencoded.png">    </p:cNvPr>
          <p:cNvPicPr>
            <a:picLocks noChangeAspect="1"/>
          </p:cNvPicPr>
          <p:nvPr/>
        </p:nvPicPr>
        <p:blipFill>
          <a:blip r:embed="rId5"/>
          <a:stretch>
            <a:fillRect/>
          </a:stretch>
        </p:blipFill>
        <p:spPr>
          <a:xfrm>
            <a:off x="4586630" y="2538374"/>
            <a:ext cx="153619" cy="153619"/>
          </a:xfrm>
          <a:prstGeom prst="rect">
            <a:avLst/>
          </a:prstGeom>
        </p:spPr>
      </p:pic>
      <p:sp>
        <p:nvSpPr>
          <p:cNvPr id="23" name="Text 16"/>
          <p:cNvSpPr txBox="1"/>
          <p:nvPr/>
        </p:nvSpPr>
        <p:spPr>
          <a:xfrm>
            <a:off x="4069080" y="2501798"/>
            <a:ext cx="1188720" cy="1064362"/>
          </a:xfrm>
          <a:prstGeom prst="rect">
            <a:avLst/>
          </a:prstGeom>
          <a:noFill/>
          <a:ln/>
        </p:spPr>
        <p:txBody>
          <a:bodyPr wrap="square" lIns="0" tIns="0" rIns="0" bIns="0" rtlCol="0" anchor="ctr"/>
          <a:lstStyle/>
          <a:p>
            <a:pPr algn="ctr" indent="0" marL="0">
              <a:lnSpc>
                <a:spcPct val="104000"/>
              </a:lnSpc>
              <a:buNone/>
            </a:pPr>
            <a:r>
              <a:rPr lang="en-US" sz="1000" b="1" dirty="0">
                <a:solidFill>
                  <a:srgbClr val="64430A"/>
                </a:solidFill>
                <a:latin typeface="Calibri" pitchFamily="34" charset="0"/>
                <a:ea typeface="Calibri" pitchFamily="34" charset="-122"/>
                <a:cs typeface="Calibri" pitchFamily="34" charset="-120"/>
              </a:rPr>
              <a:t>Entity</a:t>
            </a:r>
            <a:endParaRPr lang="en-US" sz="1000" dirty="0"/>
          </a:p>
          <a:p>
            <a:pPr algn="ctr" indent="0" marL="0">
              <a:lnSpc>
                <a:spcPct val="104000"/>
              </a:lnSpc>
              <a:buNone/>
            </a:pPr>
            <a:r>
              <a:rPr lang="en-US" sz="1000" b="1" dirty="0">
                <a:solidFill>
                  <a:srgbClr val="64430A"/>
                </a:solidFill>
                <a:latin typeface="Calibri" pitchFamily="34" charset="0"/>
                <a:ea typeface="Calibri" pitchFamily="34" charset="-122"/>
                <a:cs typeface="Calibri" pitchFamily="34" charset="-120"/>
              </a:rPr>
              <a:t>resolution</a:t>
            </a:r>
            <a:endParaRPr lang="en-US" sz="1000" dirty="0"/>
          </a:p>
          <a:p>
            <a:pPr algn="ctr" indent="0" marL="0">
              <a:lnSpc>
                <a:spcPct val="104000"/>
              </a:lnSpc>
              <a:buNone/>
            </a:pPr>
            <a:r>
              <a:rPr lang="en-US" sz="750" dirty="0">
                <a:solidFill>
                  <a:srgbClr val="64430A"/>
                </a:solidFill>
                <a:latin typeface="Calibri" pitchFamily="34" charset="0"/>
                <a:ea typeface="Calibri" pitchFamily="34" charset="-122"/>
                <a:cs typeface="Calibri" pitchFamily="34" charset="-120"/>
              </a:rPr>
              <a:t>security → issuer → company_id</a:t>
            </a:r>
            <a:endParaRPr lang="en-US" sz="1000" dirty="0"/>
          </a:p>
        </p:txBody>
      </p:sp>
      <p:sp>
        <p:nvSpPr>
          <p:cNvPr id="24" name="Shape 17"/>
          <p:cNvSpPr/>
          <p:nvPr/>
        </p:nvSpPr>
        <p:spPr>
          <a:xfrm>
            <a:off x="3657600" y="2212848"/>
            <a:ext cx="274320" cy="731520"/>
          </a:xfrm>
          <a:prstGeom prst="line">
            <a:avLst/>
          </a:prstGeom>
          <a:noFill/>
          <a:ln w="16510">
            <a:solidFill>
              <a:srgbClr val="64798F"/>
            </a:solidFill>
            <a:prstDash val="solid"/>
            <a:headEnd type="none"/>
            <a:tailEnd type="triangle"/>
          </a:ln>
        </p:spPr>
      </p:sp>
      <p:sp>
        <p:nvSpPr>
          <p:cNvPr id="25" name="Shape 18"/>
          <p:cNvSpPr/>
          <p:nvPr/>
        </p:nvSpPr>
        <p:spPr>
          <a:xfrm flipV="1">
            <a:off x="3657600" y="2944368"/>
            <a:ext cx="274320" cy="411480"/>
          </a:xfrm>
          <a:prstGeom prst="line">
            <a:avLst/>
          </a:prstGeom>
          <a:noFill/>
          <a:ln w="16510">
            <a:solidFill>
              <a:srgbClr val="64798F"/>
            </a:solidFill>
            <a:prstDash val="solid"/>
            <a:headEnd type="none"/>
            <a:tailEnd type="triangle"/>
          </a:ln>
        </p:spPr>
      </p:sp>
      <p:sp>
        <p:nvSpPr>
          <p:cNvPr id="26" name="Shape 19"/>
          <p:cNvSpPr/>
          <p:nvPr/>
        </p:nvSpPr>
        <p:spPr>
          <a:xfrm flipV="1">
            <a:off x="3657600" y="2944368"/>
            <a:ext cx="274320" cy="1554480"/>
          </a:xfrm>
          <a:prstGeom prst="line">
            <a:avLst/>
          </a:prstGeom>
          <a:noFill/>
          <a:ln w="16510">
            <a:solidFill>
              <a:srgbClr val="64798F"/>
            </a:solidFill>
            <a:prstDash val="solid"/>
            <a:headEnd type="none"/>
            <a:tailEnd type="triangle"/>
          </a:ln>
        </p:spPr>
      </p:sp>
      <p:sp>
        <p:nvSpPr>
          <p:cNvPr id="27" name="Shape 20"/>
          <p:cNvSpPr/>
          <p:nvPr/>
        </p:nvSpPr>
        <p:spPr>
          <a:xfrm>
            <a:off x="5394960" y="2944368"/>
            <a:ext cx="502920" cy="0"/>
          </a:xfrm>
          <a:prstGeom prst="line">
            <a:avLst/>
          </a:prstGeom>
          <a:noFill/>
          <a:ln w="19050">
            <a:solidFill>
              <a:srgbClr val="64798F"/>
            </a:solidFill>
            <a:prstDash val="solid"/>
            <a:headEnd type="none"/>
            <a:tailEnd type="triangle"/>
          </a:ln>
        </p:spPr>
      </p:sp>
      <p:sp>
        <p:nvSpPr>
          <p:cNvPr id="28" name="Shape 21"/>
          <p:cNvSpPr/>
          <p:nvPr/>
        </p:nvSpPr>
        <p:spPr>
          <a:xfrm>
            <a:off x="5943600" y="2011680"/>
            <a:ext cx="2286000" cy="1874520"/>
          </a:xfrm>
          <a:prstGeom prst="roundRect">
            <a:avLst>
              <a:gd name="adj" fmla="val 4878"/>
            </a:avLst>
          </a:prstGeom>
          <a:solidFill>
            <a:srgbClr val="DCF2F4"/>
          </a:solidFill>
          <a:ln w="15875">
            <a:solidFill>
              <a:srgbClr val="108494"/>
            </a:solidFill>
            <a:prstDash val="solid"/>
          </a:ln>
          <a:effectLst>
            <a:outerShdw sx="100000" sy="100000" kx="0" ky="0" algn="bl" rotWithShape="0" blurRad="101600" dist="19050" dir="5400000">
              <a:srgbClr val="9FB0C2">
                <a:alpha val="24000"/>
              </a:srgbClr>
            </a:outerShdw>
          </a:effectLst>
        </p:spPr>
      </p:sp>
      <p:sp>
        <p:nvSpPr>
          <p:cNvPr id="29" name="Shape 22"/>
          <p:cNvSpPr/>
          <p:nvPr/>
        </p:nvSpPr>
        <p:spPr>
          <a:xfrm>
            <a:off x="6894576" y="2157984"/>
            <a:ext cx="384048" cy="384048"/>
          </a:xfrm>
          <a:prstGeom prst="roundRect">
            <a:avLst>
              <a:gd name="adj" fmla="val 23810"/>
            </a:avLst>
          </a:prstGeom>
          <a:solidFill>
            <a:srgbClr val="108494"/>
          </a:solidFill>
          <a:ln/>
        </p:spPr>
      </p:sp>
      <p:pic>
        <p:nvPicPr>
          <p:cNvPr id="30" name="Image 5" descr="preencoded.png">    </p:cNvPr>
          <p:cNvPicPr>
            <a:picLocks noChangeAspect="1"/>
          </p:cNvPicPr>
          <p:nvPr/>
        </p:nvPicPr>
        <p:blipFill>
          <a:blip r:embed="rId6"/>
          <a:stretch>
            <a:fillRect/>
          </a:stretch>
        </p:blipFill>
        <p:spPr>
          <a:xfrm>
            <a:off x="6979067" y="2242475"/>
            <a:ext cx="215067" cy="215067"/>
          </a:xfrm>
          <a:prstGeom prst="rect">
            <a:avLst/>
          </a:prstGeom>
        </p:spPr>
      </p:pic>
      <p:sp>
        <p:nvSpPr>
          <p:cNvPr id="31" name="Text 23"/>
          <p:cNvSpPr txBox="1"/>
          <p:nvPr/>
        </p:nvSpPr>
        <p:spPr>
          <a:xfrm>
            <a:off x="6035040" y="2249790"/>
            <a:ext cx="2103120" cy="1636410"/>
          </a:xfrm>
          <a:prstGeom prst="rect">
            <a:avLst/>
          </a:prstGeom>
          <a:noFill/>
          <a:ln/>
        </p:spPr>
        <p:txBody>
          <a:bodyPr wrap="square" lIns="0" tIns="0" rIns="0" bIns="0" rtlCol="0" anchor="ctr"/>
          <a:lstStyle/>
          <a:p>
            <a:pPr algn="ctr" indent="0" marL="0">
              <a:lnSpc>
                <a:spcPct val="104000"/>
              </a:lnSpc>
              <a:buNone/>
            </a:pPr>
            <a:r>
              <a:rPr lang="en-US" sz="750" b="1" spc="110" kern="0" dirty="0">
                <a:solidFill>
                  <a:srgbClr val="108494"/>
                </a:solidFill>
                <a:latin typeface="Calibri" pitchFamily="34" charset="0"/>
                <a:ea typeface="Calibri" pitchFamily="34" charset="-122"/>
                <a:cs typeface="Calibri" pitchFamily="34" charset="-120"/>
              </a:rPr>
              <a:t>ZERO LLM</a:t>
            </a:r>
            <a:endParaRPr lang="en-US" sz="750" dirty="0"/>
          </a:p>
          <a:p>
            <a:pPr algn="ctr" indent="0" marL="0">
              <a:lnSpc>
                <a:spcPct val="104000"/>
              </a:lnSpc>
              <a:buNone/>
            </a:pPr>
            <a:r>
              <a:rPr lang="en-US" sz="1250" b="1" dirty="0">
                <a:solidFill>
                  <a:srgbClr val="0A4451"/>
                </a:solidFill>
                <a:latin typeface="Calibri" pitchFamily="34" charset="0"/>
                <a:ea typeface="Calibri" pitchFamily="34" charset="-122"/>
                <a:cs typeface="Calibri" pitchFamily="34" charset="-120"/>
              </a:rPr>
              <a:t>Aggregation engine</a:t>
            </a:r>
            <a:endParaRPr lang="en-US" sz="750" dirty="0"/>
          </a:p>
          <a:p>
            <a:pPr algn="ctr" indent="0" marL="0">
              <a:lnSpc>
                <a:spcPct val="104000"/>
              </a:lnSpc>
              <a:buNone/>
            </a:pPr>
            <a:endParaRPr lang="en-US" sz="750" dirty="0"/>
          </a:p>
          <a:p>
            <a:pPr algn="ctr" indent="0" marL="0">
              <a:lnSpc>
                <a:spcPct val="104000"/>
              </a:lnSpc>
              <a:buNone/>
            </a:pPr>
            <a:r>
              <a:rPr lang="en-US" sz="850" dirty="0">
                <a:solidFill>
                  <a:srgbClr val="0A4451"/>
                </a:solidFill>
                <a:latin typeface="Calibri" pitchFamily="34" charset="0"/>
                <a:ea typeface="Calibri" pitchFamily="34" charset="-122"/>
                <a:cs typeface="Calibri" pitchFamily="34" charset="-120"/>
              </a:rPr>
              <a:t>filter → group by → metric</a:t>
            </a:r>
            <a:endParaRPr lang="en-US" sz="750" dirty="0"/>
          </a:p>
          <a:p>
            <a:pPr algn="ctr" indent="0" marL="0">
              <a:lnSpc>
                <a:spcPct val="104000"/>
              </a:lnSpc>
              <a:buNone/>
            </a:pPr>
            <a:endParaRPr lang="en-US" sz="750" dirty="0"/>
          </a:p>
          <a:p>
            <a:pPr algn="ctr" indent="0" marL="0">
              <a:lnSpc>
                <a:spcPct val="104000"/>
              </a:lnSpc>
              <a:buNone/>
            </a:pPr>
            <a:r>
              <a:rPr lang="en-US" sz="850" dirty="0">
                <a:solidFill>
                  <a:srgbClr val="0A4451"/>
                </a:solidFill>
                <a:latin typeface="Calibri" pitchFamily="34" charset="0"/>
                <a:ea typeface="Calibri" pitchFamily="34" charset="-122"/>
                <a:cs typeface="Calibri" pitchFamily="34" charset="-120"/>
              </a:rPr>
              <a:t>Σ market value</a:t>
            </a:r>
            <a:endParaRPr lang="en-US" sz="750" dirty="0"/>
          </a:p>
          <a:p>
            <a:pPr algn="ctr" indent="0" marL="0">
              <a:lnSpc>
                <a:spcPct val="104000"/>
              </a:lnSpc>
              <a:buNone/>
            </a:pPr>
            <a:r>
              <a:rPr lang="en-US" sz="850" dirty="0">
                <a:solidFill>
                  <a:srgbClr val="0A4451"/>
                </a:solidFill>
                <a:latin typeface="Calibri" pitchFamily="34" charset="0"/>
                <a:ea typeface="Calibri" pitchFamily="34" charset="-122"/>
                <a:cs typeface="Calibri" pitchFamily="34" charset="-120"/>
              </a:rPr>
              <a:t>value-weighted average</a:t>
            </a:r>
            <a:endParaRPr lang="en-US" sz="750" dirty="0"/>
          </a:p>
          <a:p>
            <a:pPr algn="ctr" indent="0" marL="0">
              <a:lnSpc>
                <a:spcPct val="104000"/>
              </a:lnSpc>
              <a:buNone/>
            </a:pPr>
            <a:r>
              <a:rPr lang="en-US" sz="850" dirty="0">
                <a:solidFill>
                  <a:srgbClr val="0A4451"/>
                </a:solidFill>
                <a:latin typeface="Calibri" pitchFamily="34" charset="0"/>
                <a:ea typeface="Calibri" pitchFamily="34" charset="-122"/>
                <a:cs typeface="Calibri" pitchFamily="34" charset="-120"/>
              </a:rPr>
              <a:t>position count</a:t>
            </a:r>
            <a:endParaRPr lang="en-US" sz="750" dirty="0"/>
          </a:p>
          <a:p>
            <a:pPr algn="ctr" indent="0" marL="0">
              <a:lnSpc>
                <a:spcPct val="104000"/>
              </a:lnSpc>
              <a:buNone/>
            </a:pPr>
            <a:endParaRPr lang="en-US" sz="750" dirty="0"/>
          </a:p>
          <a:p>
            <a:pPr algn="ctr" indent="0" marL="0">
              <a:lnSpc>
                <a:spcPct val="104000"/>
              </a:lnSpc>
              <a:buNone/>
            </a:pPr>
            <a:r>
              <a:rPr lang="en-US" sz="850" dirty="0">
                <a:solidFill>
                  <a:srgbClr val="0A4451"/>
                </a:solidFill>
                <a:latin typeface="Calibri" pitchFamily="34" charset="0"/>
                <a:ea typeface="Calibri" pitchFamily="34" charset="-122"/>
                <a:cs typeface="Calibri" pitchFamily="34" charset="-120"/>
              </a:rPr>
              <a:t>as of a date, or a trend</a:t>
            </a:r>
            <a:endParaRPr lang="en-US" sz="750" dirty="0"/>
          </a:p>
        </p:txBody>
      </p:sp>
      <p:sp>
        <p:nvSpPr>
          <p:cNvPr id="32" name="Shape 24"/>
          <p:cNvSpPr/>
          <p:nvPr/>
        </p:nvSpPr>
        <p:spPr>
          <a:xfrm>
            <a:off x="8549640" y="1719072"/>
            <a:ext cx="3044952" cy="777240"/>
          </a:xfrm>
          <a:prstGeom prst="roundRect">
            <a:avLst>
              <a:gd name="adj" fmla="val 11765"/>
            </a:avLst>
          </a:prstGeom>
          <a:solidFill>
            <a:srgbClr val="E0F3E3"/>
          </a:solidFill>
          <a:ln w="15875">
            <a:solidFill>
              <a:srgbClr val="2F8F48"/>
            </a:solidFill>
            <a:prstDash val="solid"/>
          </a:ln>
          <a:effectLst>
            <a:outerShdw sx="100000" sy="100000" kx="0" ky="0" algn="bl" rotWithShape="0" blurRad="101600" dist="19050" dir="5400000">
              <a:srgbClr val="9FB0C2">
                <a:alpha val="24000"/>
              </a:srgbClr>
            </a:outerShdw>
          </a:effectLst>
        </p:spPr>
      </p:sp>
      <p:pic>
        <p:nvPicPr>
          <p:cNvPr id="33" name="Image 6" descr="preencoded.png">    </p:cNvPr>
          <p:cNvPicPr>
            <a:picLocks noChangeAspect="1"/>
          </p:cNvPicPr>
          <p:nvPr/>
        </p:nvPicPr>
        <p:blipFill>
          <a:blip r:embed="rId7"/>
          <a:stretch>
            <a:fillRect/>
          </a:stretch>
        </p:blipFill>
        <p:spPr>
          <a:xfrm>
            <a:off x="8668512" y="1819656"/>
            <a:ext cx="182880" cy="182880"/>
          </a:xfrm>
          <a:prstGeom prst="rect">
            <a:avLst/>
          </a:prstGeom>
        </p:spPr>
      </p:pic>
      <p:sp>
        <p:nvSpPr>
          <p:cNvPr id="34" name="Text 25"/>
          <p:cNvSpPr txBox="1"/>
          <p:nvPr/>
        </p:nvSpPr>
        <p:spPr>
          <a:xfrm>
            <a:off x="8641080" y="1719072"/>
            <a:ext cx="2862072" cy="777240"/>
          </a:xfrm>
          <a:prstGeom prst="rect">
            <a:avLst/>
          </a:prstGeom>
          <a:noFill/>
          <a:ln/>
        </p:spPr>
        <p:txBody>
          <a:bodyPr wrap="square" lIns="0" tIns="0" rIns="0" bIns="0" rtlCol="0" anchor="ctr"/>
          <a:lstStyle/>
          <a:p>
            <a:pPr algn="ctr" indent="0" marL="0">
              <a:lnSpc>
                <a:spcPct val="104000"/>
              </a:lnSpc>
              <a:buNone/>
            </a:pPr>
            <a:r>
              <a:rPr lang="en-US" sz="1050" b="1" dirty="0">
                <a:solidFill>
                  <a:srgbClr val="17431F"/>
                </a:solidFill>
                <a:latin typeface="Calibri" pitchFamily="34" charset="0"/>
                <a:ea typeface="Calibri" pitchFamily="34" charset="-122"/>
                <a:cs typeface="Calibri" pitchFamily="34" charset="-120"/>
              </a:rPr>
              <a:t>Exposure by any dimension</a:t>
            </a:r>
            <a:endParaRPr lang="en-US" sz="1050" dirty="0"/>
          </a:p>
          <a:p>
            <a:pPr algn="ctr" indent="0" marL="0">
              <a:lnSpc>
                <a:spcPct val="104000"/>
              </a:lnSpc>
              <a:buNone/>
            </a:pPr>
            <a:r>
              <a:rPr lang="en-US" sz="800" dirty="0">
                <a:solidFill>
                  <a:srgbClr val="17431F"/>
                </a:solidFill>
                <a:latin typeface="Calibri" pitchFamily="34" charset="0"/>
                <a:ea typeface="Calibri" pitchFamily="34" charset="-122"/>
                <a:cs typeface="Calibri" pitchFamily="34" charset="-120"/>
              </a:rPr>
              <a:t>portfolio, asset class, issuer, sector, country, taxonomy, tag</a:t>
            </a:r>
            <a:endParaRPr lang="en-US" sz="1050" dirty="0"/>
          </a:p>
        </p:txBody>
      </p:sp>
      <p:sp>
        <p:nvSpPr>
          <p:cNvPr id="35" name="Shape 26"/>
          <p:cNvSpPr/>
          <p:nvPr/>
        </p:nvSpPr>
        <p:spPr>
          <a:xfrm flipV="1">
            <a:off x="8275320" y="2103120"/>
            <a:ext cx="219456" cy="841248"/>
          </a:xfrm>
          <a:prstGeom prst="line">
            <a:avLst/>
          </a:prstGeom>
          <a:noFill/>
          <a:ln w="16510">
            <a:solidFill>
              <a:srgbClr val="2F8F48"/>
            </a:solidFill>
            <a:prstDash val="solid"/>
            <a:headEnd type="none"/>
            <a:tailEnd type="triangle"/>
          </a:ln>
        </p:spPr>
      </p:sp>
      <p:sp>
        <p:nvSpPr>
          <p:cNvPr id="36" name="Shape 27"/>
          <p:cNvSpPr/>
          <p:nvPr/>
        </p:nvSpPr>
        <p:spPr>
          <a:xfrm>
            <a:off x="8549640" y="2606040"/>
            <a:ext cx="3044952" cy="777240"/>
          </a:xfrm>
          <a:prstGeom prst="roundRect">
            <a:avLst>
              <a:gd name="adj" fmla="val 11765"/>
            </a:avLst>
          </a:prstGeom>
          <a:solidFill>
            <a:srgbClr val="EBE5FC"/>
          </a:solidFill>
          <a:ln w="15875">
            <a:solidFill>
              <a:srgbClr val="6D4DD1"/>
            </a:solidFill>
            <a:prstDash val="solid"/>
          </a:ln>
          <a:effectLst>
            <a:outerShdw sx="100000" sy="100000" kx="0" ky="0" algn="bl" rotWithShape="0" blurRad="101600" dist="19050" dir="5400000">
              <a:srgbClr val="9FB0C2">
                <a:alpha val="24000"/>
              </a:srgbClr>
            </a:outerShdw>
          </a:effectLst>
        </p:spPr>
      </p:sp>
      <p:pic>
        <p:nvPicPr>
          <p:cNvPr id="37" name="Image 7" descr="preencoded.png">    </p:cNvPr>
          <p:cNvPicPr>
            <a:picLocks noChangeAspect="1"/>
          </p:cNvPicPr>
          <p:nvPr/>
        </p:nvPicPr>
        <p:blipFill>
          <a:blip r:embed="rId8"/>
          <a:stretch>
            <a:fillRect/>
          </a:stretch>
        </p:blipFill>
        <p:spPr>
          <a:xfrm>
            <a:off x="8668512" y="2706624"/>
            <a:ext cx="182880" cy="182880"/>
          </a:xfrm>
          <a:prstGeom prst="rect">
            <a:avLst/>
          </a:prstGeom>
        </p:spPr>
      </p:pic>
      <p:sp>
        <p:nvSpPr>
          <p:cNvPr id="38" name="Text 28"/>
          <p:cNvSpPr txBox="1"/>
          <p:nvPr/>
        </p:nvSpPr>
        <p:spPr>
          <a:xfrm>
            <a:off x="8641080" y="2606040"/>
            <a:ext cx="2862072" cy="777240"/>
          </a:xfrm>
          <a:prstGeom prst="rect">
            <a:avLst/>
          </a:prstGeom>
          <a:noFill/>
          <a:ln/>
        </p:spPr>
        <p:txBody>
          <a:bodyPr wrap="square" lIns="0" tIns="0" rIns="0" bIns="0" rtlCol="0" anchor="ctr"/>
          <a:lstStyle/>
          <a:p>
            <a:pPr algn="ctr" indent="0" marL="0">
              <a:lnSpc>
                <a:spcPct val="104000"/>
              </a:lnSpc>
              <a:buNone/>
            </a:pPr>
            <a:r>
              <a:rPr lang="en-US" sz="1050" b="1" dirty="0">
                <a:solidFill>
                  <a:srgbClr val="35236E"/>
                </a:solidFill>
                <a:latin typeface="Calibri" pitchFamily="34" charset="0"/>
                <a:ea typeface="Calibri" pitchFamily="34" charset="-122"/>
                <a:cs typeface="Calibri" pitchFamily="34" charset="-120"/>
              </a:rPr>
              <a:t>Natural-language answer</a:t>
            </a:r>
            <a:endParaRPr lang="en-US" sz="1050" dirty="0"/>
          </a:p>
          <a:p>
            <a:pPr algn="ctr" indent="0" marL="0">
              <a:lnSpc>
                <a:spcPct val="104000"/>
              </a:lnSpc>
              <a:buNone/>
            </a:pPr>
            <a:r>
              <a:rPr lang="en-US" sz="800" dirty="0">
                <a:solidFill>
                  <a:srgbClr val="35236E"/>
                </a:solidFill>
                <a:latin typeface="Calibri" pitchFamily="34" charset="0"/>
                <a:ea typeface="Calibri" pitchFamily="34" charset="-122"/>
                <a:cs typeface="Calibri" pitchFamily="34" charset="-120"/>
              </a:rPr>
              <a:t>the model drafts the query; the engine returns the number and shows the spec</a:t>
            </a:r>
            <a:endParaRPr lang="en-US" sz="1050" dirty="0"/>
          </a:p>
        </p:txBody>
      </p:sp>
      <p:sp>
        <p:nvSpPr>
          <p:cNvPr id="39" name="Shape 29"/>
          <p:cNvSpPr/>
          <p:nvPr/>
        </p:nvSpPr>
        <p:spPr>
          <a:xfrm>
            <a:off x="8275320" y="2944368"/>
            <a:ext cx="219456" cy="45720"/>
          </a:xfrm>
          <a:prstGeom prst="line">
            <a:avLst/>
          </a:prstGeom>
          <a:noFill/>
          <a:ln w="16510">
            <a:solidFill>
              <a:srgbClr val="2F8F48"/>
            </a:solidFill>
            <a:prstDash val="solid"/>
            <a:headEnd type="none"/>
            <a:tailEnd type="triangle"/>
          </a:ln>
        </p:spPr>
      </p:sp>
      <p:sp>
        <p:nvSpPr>
          <p:cNvPr id="40" name="Shape 30"/>
          <p:cNvSpPr/>
          <p:nvPr/>
        </p:nvSpPr>
        <p:spPr>
          <a:xfrm>
            <a:off x="8549640" y="3493008"/>
            <a:ext cx="3044952" cy="777240"/>
          </a:xfrm>
          <a:prstGeom prst="roundRect">
            <a:avLst>
              <a:gd name="adj" fmla="val 11765"/>
            </a:avLst>
          </a:prstGeom>
          <a:solidFill>
            <a:srgbClr val="E0F3E3"/>
          </a:solidFill>
          <a:ln w="15875">
            <a:solidFill>
              <a:srgbClr val="2F8F48"/>
            </a:solidFill>
            <a:prstDash val="solid"/>
          </a:ln>
          <a:effectLst>
            <a:outerShdw sx="100000" sy="100000" kx="0" ky="0" algn="bl" rotWithShape="0" blurRad="101600" dist="19050" dir="5400000">
              <a:srgbClr val="9FB0C2">
                <a:alpha val="24000"/>
              </a:srgbClr>
            </a:outerShdw>
          </a:effectLst>
        </p:spPr>
      </p:sp>
      <p:pic>
        <p:nvPicPr>
          <p:cNvPr id="41" name="Image 8" descr="preencoded.png">    </p:cNvPr>
          <p:cNvPicPr>
            <a:picLocks noChangeAspect="1"/>
          </p:cNvPicPr>
          <p:nvPr/>
        </p:nvPicPr>
        <p:blipFill>
          <a:blip r:embed="rId9"/>
          <a:stretch>
            <a:fillRect/>
          </a:stretch>
        </p:blipFill>
        <p:spPr>
          <a:xfrm>
            <a:off x="8668512" y="3593592"/>
            <a:ext cx="182880" cy="182880"/>
          </a:xfrm>
          <a:prstGeom prst="rect">
            <a:avLst/>
          </a:prstGeom>
        </p:spPr>
      </p:pic>
      <p:sp>
        <p:nvSpPr>
          <p:cNvPr id="42" name="Text 31"/>
          <p:cNvSpPr txBox="1"/>
          <p:nvPr/>
        </p:nvSpPr>
        <p:spPr>
          <a:xfrm>
            <a:off x="8641080" y="3493008"/>
            <a:ext cx="2862072" cy="777240"/>
          </a:xfrm>
          <a:prstGeom prst="rect">
            <a:avLst/>
          </a:prstGeom>
          <a:noFill/>
          <a:ln/>
        </p:spPr>
        <p:txBody>
          <a:bodyPr wrap="square" lIns="0" tIns="0" rIns="0" bIns="0" rtlCol="0" anchor="ctr"/>
          <a:lstStyle/>
          <a:p>
            <a:pPr algn="ctr" indent="0" marL="0">
              <a:lnSpc>
                <a:spcPct val="104000"/>
              </a:lnSpc>
              <a:buNone/>
            </a:pPr>
            <a:r>
              <a:rPr lang="en-US" sz="1050" b="1" dirty="0">
                <a:solidFill>
                  <a:srgbClr val="17431F"/>
                </a:solidFill>
                <a:latin typeface="Calibri" pitchFamily="34" charset="0"/>
                <a:ea typeface="Calibri" pitchFamily="34" charset="-122"/>
                <a:cs typeface="Calibri" pitchFamily="34" charset="-120"/>
              </a:rPr>
              <a:t>Climate analytics</a:t>
            </a:r>
            <a:endParaRPr lang="en-US" sz="1050" dirty="0"/>
          </a:p>
          <a:p>
            <a:pPr algn="ctr" indent="0" marL="0">
              <a:lnSpc>
                <a:spcPct val="104000"/>
              </a:lnSpc>
              <a:buNone/>
            </a:pPr>
            <a:r>
              <a:rPr lang="en-US" sz="800" dirty="0">
                <a:solidFill>
                  <a:srgbClr val="17431F"/>
                </a:solidFill>
                <a:latin typeface="Calibri" pitchFamily="34" charset="0"/>
                <a:ea typeface="Calibri" pitchFamily="34" charset="-122"/>
                <a:cs typeface="Calibri" pitchFamily="34" charset="-120"/>
              </a:rPr>
              <a:t>WACI, PCAF financed emissions, coverage % beside every figure</a:t>
            </a:r>
            <a:endParaRPr lang="en-US" sz="1050" dirty="0"/>
          </a:p>
        </p:txBody>
      </p:sp>
      <p:sp>
        <p:nvSpPr>
          <p:cNvPr id="43" name="Shape 32"/>
          <p:cNvSpPr/>
          <p:nvPr/>
        </p:nvSpPr>
        <p:spPr>
          <a:xfrm>
            <a:off x="8275320" y="2944368"/>
            <a:ext cx="219456" cy="932688"/>
          </a:xfrm>
          <a:prstGeom prst="line">
            <a:avLst/>
          </a:prstGeom>
          <a:noFill/>
          <a:ln w="16510">
            <a:solidFill>
              <a:srgbClr val="2F8F48"/>
            </a:solidFill>
            <a:prstDash val="solid"/>
            <a:headEnd type="none"/>
            <a:tailEnd type="triangle"/>
          </a:ln>
        </p:spPr>
      </p:sp>
      <p:sp>
        <p:nvSpPr>
          <p:cNvPr id="44" name="Shape 33"/>
          <p:cNvSpPr/>
          <p:nvPr/>
        </p:nvSpPr>
        <p:spPr>
          <a:xfrm>
            <a:off x="8549640" y="4379976"/>
            <a:ext cx="3044952" cy="777240"/>
          </a:xfrm>
          <a:prstGeom prst="roundRect">
            <a:avLst>
              <a:gd name="adj" fmla="val 11765"/>
            </a:avLst>
          </a:prstGeom>
          <a:solidFill>
            <a:srgbClr val="FBE2E8"/>
          </a:solidFill>
          <a:ln w="15875">
            <a:solidFill>
              <a:srgbClr val="CE3D64"/>
            </a:solidFill>
            <a:prstDash val="solid"/>
          </a:ln>
          <a:effectLst>
            <a:outerShdw sx="100000" sy="100000" kx="0" ky="0" algn="bl" rotWithShape="0" blurRad="101600" dist="19050" dir="5400000">
              <a:srgbClr val="9FB0C2">
                <a:alpha val="24000"/>
              </a:srgbClr>
            </a:outerShdw>
          </a:effectLst>
        </p:spPr>
      </p:sp>
      <p:pic>
        <p:nvPicPr>
          <p:cNvPr id="45" name="Image 9" descr="preencoded.png">    </p:cNvPr>
          <p:cNvPicPr>
            <a:picLocks noChangeAspect="1"/>
          </p:cNvPicPr>
          <p:nvPr/>
        </p:nvPicPr>
        <p:blipFill>
          <a:blip r:embed="rId10"/>
          <a:stretch>
            <a:fillRect/>
          </a:stretch>
        </p:blipFill>
        <p:spPr>
          <a:xfrm>
            <a:off x="8668512" y="4480560"/>
            <a:ext cx="182880" cy="182880"/>
          </a:xfrm>
          <a:prstGeom prst="rect">
            <a:avLst/>
          </a:prstGeom>
        </p:spPr>
      </p:pic>
      <p:sp>
        <p:nvSpPr>
          <p:cNvPr id="46" name="Text 34"/>
          <p:cNvSpPr txBox="1"/>
          <p:nvPr/>
        </p:nvSpPr>
        <p:spPr>
          <a:xfrm>
            <a:off x="8641080" y="4379976"/>
            <a:ext cx="2862072" cy="777240"/>
          </a:xfrm>
          <a:prstGeom prst="rect">
            <a:avLst/>
          </a:prstGeom>
          <a:noFill/>
          <a:ln/>
        </p:spPr>
        <p:txBody>
          <a:bodyPr wrap="square" lIns="0" tIns="0" rIns="0" bIns="0" rtlCol="0" anchor="ctr"/>
          <a:lstStyle/>
          <a:p>
            <a:pPr algn="ctr" indent="0" marL="0">
              <a:lnSpc>
                <a:spcPct val="104000"/>
              </a:lnSpc>
              <a:buNone/>
            </a:pPr>
            <a:r>
              <a:rPr lang="en-US" sz="1050" b="1" dirty="0">
                <a:solidFill>
                  <a:srgbClr val="68182F"/>
                </a:solidFill>
                <a:latin typeface="Calibri" pitchFamily="34" charset="0"/>
                <a:ea typeface="Calibri" pitchFamily="34" charset="-122"/>
                <a:cs typeface="Calibri" pitchFamily="34" charset="-120"/>
              </a:rPr>
              <a:t>Conflicts, surfaced</a:t>
            </a:r>
            <a:endParaRPr lang="en-US" sz="1050" dirty="0"/>
          </a:p>
          <a:p>
            <a:pPr algn="ctr" indent="0" marL="0">
              <a:lnSpc>
                <a:spcPct val="104000"/>
              </a:lnSpc>
              <a:buNone/>
            </a:pPr>
            <a:r>
              <a:rPr lang="en-US" sz="800" dirty="0">
                <a:solidFill>
                  <a:srgbClr val="68182F"/>
                </a:solidFill>
                <a:latin typeface="Calibri" pitchFamily="34" charset="0"/>
                <a:ea typeface="Calibri" pitchFamily="34" charset="-122"/>
                <a:cs typeface="Calibri" pitchFamily="34" charset="-120"/>
              </a:rPr>
              <a:t>internal-API vs. extracted disagreement → flagged and queued</a:t>
            </a:r>
            <a:endParaRPr lang="en-US" sz="1050" dirty="0"/>
          </a:p>
        </p:txBody>
      </p:sp>
      <p:sp>
        <p:nvSpPr>
          <p:cNvPr id="47" name="Shape 35"/>
          <p:cNvSpPr/>
          <p:nvPr/>
        </p:nvSpPr>
        <p:spPr>
          <a:xfrm>
            <a:off x="8275320" y="2944368"/>
            <a:ext cx="219456" cy="1819656"/>
          </a:xfrm>
          <a:prstGeom prst="line">
            <a:avLst/>
          </a:prstGeom>
          <a:noFill/>
          <a:ln w="16510">
            <a:solidFill>
              <a:srgbClr val="2F8F48"/>
            </a:solidFill>
            <a:prstDash val="solid"/>
            <a:headEnd type="none"/>
            <a:tailEnd type="triangle"/>
          </a:ln>
        </p:spPr>
      </p:sp>
      <p:sp>
        <p:nvSpPr>
          <p:cNvPr id="48" name="Text 36"/>
          <p:cNvSpPr txBox="1"/>
          <p:nvPr/>
        </p:nvSpPr>
        <p:spPr>
          <a:xfrm>
            <a:off x="8549640" y="1463040"/>
            <a:ext cx="3044952" cy="201168"/>
          </a:xfrm>
          <a:prstGeom prst="rect">
            <a:avLst/>
          </a:prstGeom>
          <a:noFill/>
          <a:ln/>
        </p:spPr>
        <p:txBody>
          <a:bodyPr wrap="square" lIns="0" tIns="0" rIns="0" bIns="0" rtlCol="0" anchor="ctr"/>
          <a:lstStyle/>
          <a:p>
            <a:pPr algn="ctr" indent="0" marL="0">
              <a:buNone/>
            </a:pPr>
            <a:r>
              <a:rPr lang="en-US" sz="900" b="1" spc="140" kern="0" dirty="0">
                <a:solidFill>
                  <a:srgbClr val="2F8F48"/>
                </a:solidFill>
                <a:latin typeface="Calibri" pitchFamily="34" charset="0"/>
                <a:ea typeface="Calibri" pitchFamily="34" charset="-122"/>
                <a:cs typeface="Calibri" pitchFamily="34" charset="-120"/>
              </a:rPr>
              <a:t>WHAT COMES OUT</a:t>
            </a:r>
            <a:endParaRPr lang="en-US" sz="900" dirty="0"/>
          </a:p>
        </p:txBody>
      </p:sp>
      <p:sp>
        <p:nvSpPr>
          <p:cNvPr id="49" name="Shape 37"/>
          <p:cNvSpPr/>
          <p:nvPr/>
        </p:nvSpPr>
        <p:spPr>
          <a:xfrm>
            <a:off x="594360" y="5193792"/>
            <a:ext cx="7818120" cy="685800"/>
          </a:xfrm>
          <a:prstGeom prst="roundRect">
            <a:avLst>
              <a:gd name="adj" fmla="val 5333"/>
            </a:avLst>
          </a:prstGeom>
          <a:solidFill>
            <a:srgbClr val="F4F7FA"/>
          </a:solidFill>
          <a:ln w="15875">
            <a:solidFill>
              <a:srgbClr val="DDE5ED"/>
            </a:solidFill>
            <a:prstDash val="solid"/>
          </a:ln>
        </p:spPr>
      </p:sp>
      <p:sp>
        <p:nvSpPr>
          <p:cNvPr id="50" name="Text 38"/>
          <p:cNvSpPr txBox="1"/>
          <p:nvPr/>
        </p:nvSpPr>
        <p:spPr>
          <a:xfrm>
            <a:off x="795528" y="5193792"/>
            <a:ext cx="7415784" cy="685800"/>
          </a:xfrm>
          <a:prstGeom prst="rect">
            <a:avLst/>
          </a:prstGeom>
          <a:noFill/>
          <a:ln/>
        </p:spPr>
        <p:txBody>
          <a:bodyPr wrap="square" lIns="0" tIns="0" rIns="0" bIns="0" rtlCol="0" anchor="ctr"/>
          <a:lstStyle/>
          <a:p>
            <a:pPr indent="0" marL="0">
              <a:buNone/>
            </a:pPr>
            <a:r>
              <a:rPr lang="en-US" sz="950" b="1" dirty="0">
                <a:solidFill>
                  <a:srgbClr val="6D4DD1"/>
                </a:solidFill>
                <a:latin typeface="Calibri" pitchFamily="34" charset="0"/>
                <a:ea typeface="Calibri" pitchFamily="34" charset="-122"/>
                <a:cs typeface="Calibri" pitchFamily="34" charset="-120"/>
              </a:rPr>
              <a:t>Where the model is allowed to touch this.  </a:t>
            </a:r>
            <a:pPr indent="0" marL="0">
              <a:buNone/>
            </a:pPr>
            <a:r>
              <a:rPr lang="en-US" sz="950" dirty="0">
                <a:solidFill>
                  <a:srgbClr val="43566B"/>
                </a:solidFill>
                <a:latin typeface="Calibri" pitchFamily="34" charset="0"/>
                <a:ea typeface="Calibri" pitchFamily="34" charset="-122"/>
                <a:cs typeface="Calibri" pitchFamily="34" charset="-120"/>
              </a:rPr>
              <a:t>Drafting a query spec, and classifying a news article. Never the arithmetic — a risk number has to be reproducible, and the query that produced it is always shown next to the answer.</a:t>
            </a:r>
            <a:endParaRPr lang="en-US" sz="950" dirty="0"/>
          </a:p>
        </p:txBody>
      </p:sp>
      <p:sp>
        <p:nvSpPr>
          <p:cNvPr id="51" name="Shape 39"/>
          <p:cNvSpPr/>
          <p:nvPr/>
        </p:nvSpPr>
        <p:spPr>
          <a:xfrm>
            <a:off x="594360" y="6172200"/>
            <a:ext cx="155448" cy="155448"/>
          </a:xfrm>
          <a:prstGeom prst="roundRect">
            <a:avLst>
              <a:gd name="adj" fmla="val 29412"/>
            </a:avLst>
          </a:prstGeom>
          <a:solidFill>
            <a:srgbClr val="2F6FD0"/>
          </a:solidFill>
          <a:ln/>
        </p:spPr>
      </p:sp>
      <p:sp>
        <p:nvSpPr>
          <p:cNvPr id="52" name="Text 40"/>
          <p:cNvSpPr txBox="1"/>
          <p:nvPr/>
        </p:nvSpPr>
        <p:spPr>
          <a:xfrm>
            <a:off x="813816" y="6144768"/>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source / input</a:t>
            </a:r>
            <a:endParaRPr lang="en-US" sz="880" dirty="0"/>
          </a:p>
        </p:txBody>
      </p:sp>
      <p:sp>
        <p:nvSpPr>
          <p:cNvPr id="53" name="Shape 41"/>
          <p:cNvSpPr/>
          <p:nvPr/>
        </p:nvSpPr>
        <p:spPr>
          <a:xfrm>
            <a:off x="2427732" y="6172200"/>
            <a:ext cx="155448" cy="155448"/>
          </a:xfrm>
          <a:prstGeom prst="roundRect">
            <a:avLst>
              <a:gd name="adj" fmla="val 29412"/>
            </a:avLst>
          </a:prstGeom>
          <a:solidFill>
            <a:srgbClr val="108494"/>
          </a:solidFill>
          <a:ln/>
        </p:spPr>
      </p:sp>
      <p:sp>
        <p:nvSpPr>
          <p:cNvPr id="54" name="Text 42"/>
          <p:cNvSpPr txBox="1"/>
          <p:nvPr/>
        </p:nvSpPr>
        <p:spPr>
          <a:xfrm>
            <a:off x="2647188" y="6144768"/>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deterministic step</a:t>
            </a:r>
            <a:endParaRPr lang="en-US" sz="880" dirty="0"/>
          </a:p>
        </p:txBody>
      </p:sp>
      <p:sp>
        <p:nvSpPr>
          <p:cNvPr id="55" name="Shape 43"/>
          <p:cNvSpPr/>
          <p:nvPr/>
        </p:nvSpPr>
        <p:spPr>
          <a:xfrm>
            <a:off x="4261104" y="6172200"/>
            <a:ext cx="155448" cy="155448"/>
          </a:xfrm>
          <a:prstGeom prst="roundRect">
            <a:avLst>
              <a:gd name="adj" fmla="val 29412"/>
            </a:avLst>
          </a:prstGeom>
          <a:solidFill>
            <a:srgbClr val="6D4DD1"/>
          </a:solidFill>
          <a:ln/>
        </p:spPr>
      </p:sp>
      <p:sp>
        <p:nvSpPr>
          <p:cNvPr id="56" name="Text 44"/>
          <p:cNvSpPr txBox="1"/>
          <p:nvPr/>
        </p:nvSpPr>
        <p:spPr>
          <a:xfrm>
            <a:off x="4480560" y="6144768"/>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LLM agent</a:t>
            </a:r>
            <a:endParaRPr lang="en-US" sz="880" dirty="0"/>
          </a:p>
        </p:txBody>
      </p:sp>
      <p:sp>
        <p:nvSpPr>
          <p:cNvPr id="57" name="Shape 45"/>
          <p:cNvSpPr/>
          <p:nvPr/>
        </p:nvSpPr>
        <p:spPr>
          <a:xfrm>
            <a:off x="6094476" y="6172200"/>
            <a:ext cx="155448" cy="155448"/>
          </a:xfrm>
          <a:prstGeom prst="roundRect">
            <a:avLst>
              <a:gd name="adj" fmla="val 29412"/>
            </a:avLst>
          </a:prstGeom>
          <a:solidFill>
            <a:srgbClr val="C9871B"/>
          </a:solidFill>
          <a:ln/>
        </p:spPr>
      </p:sp>
      <p:sp>
        <p:nvSpPr>
          <p:cNvPr id="58" name="Text 46"/>
          <p:cNvSpPr txBox="1"/>
          <p:nvPr/>
        </p:nvSpPr>
        <p:spPr>
          <a:xfrm>
            <a:off x="6313932" y="6144768"/>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gate or check</a:t>
            </a:r>
            <a:endParaRPr lang="en-US" sz="880" dirty="0"/>
          </a:p>
        </p:txBody>
      </p:sp>
      <p:sp>
        <p:nvSpPr>
          <p:cNvPr id="59" name="Shape 47"/>
          <p:cNvSpPr/>
          <p:nvPr/>
        </p:nvSpPr>
        <p:spPr>
          <a:xfrm>
            <a:off x="7927848" y="6172200"/>
            <a:ext cx="155448" cy="155448"/>
          </a:xfrm>
          <a:prstGeom prst="roundRect">
            <a:avLst>
              <a:gd name="adj" fmla="val 29412"/>
            </a:avLst>
          </a:prstGeom>
          <a:solidFill>
            <a:srgbClr val="CE3D64"/>
          </a:solidFill>
          <a:ln/>
        </p:spPr>
      </p:sp>
      <p:sp>
        <p:nvSpPr>
          <p:cNvPr id="60" name="Text 48"/>
          <p:cNvSpPr txBox="1"/>
          <p:nvPr/>
        </p:nvSpPr>
        <p:spPr>
          <a:xfrm>
            <a:off x="8147304" y="6144768"/>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human decision</a:t>
            </a:r>
            <a:endParaRPr lang="en-US" sz="880" dirty="0"/>
          </a:p>
        </p:txBody>
      </p:sp>
      <p:sp>
        <p:nvSpPr>
          <p:cNvPr id="61" name="Shape 49"/>
          <p:cNvSpPr/>
          <p:nvPr/>
        </p:nvSpPr>
        <p:spPr>
          <a:xfrm>
            <a:off x="9761220" y="6172200"/>
            <a:ext cx="155448" cy="155448"/>
          </a:xfrm>
          <a:prstGeom prst="roundRect">
            <a:avLst>
              <a:gd name="adj" fmla="val 29412"/>
            </a:avLst>
          </a:prstGeom>
          <a:solidFill>
            <a:srgbClr val="2F8F48"/>
          </a:solidFill>
          <a:ln/>
        </p:spPr>
      </p:sp>
      <p:sp>
        <p:nvSpPr>
          <p:cNvPr id="62" name="Text 50"/>
          <p:cNvSpPr txBox="1"/>
          <p:nvPr/>
        </p:nvSpPr>
        <p:spPr>
          <a:xfrm>
            <a:off x="9980676" y="6144768"/>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stored output</a:t>
            </a:r>
            <a:endParaRPr lang="en-US" sz="88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438912"/>
            <a:ext cx="10085832" cy="201168"/>
          </a:xfrm>
          <a:prstGeom prst="rect">
            <a:avLst/>
          </a:prstGeom>
          <a:noFill/>
          <a:ln/>
        </p:spPr>
        <p:txBody>
          <a:bodyPr wrap="square" lIns="0" tIns="0" rIns="0" bIns="0" rtlCol="0" anchor="ctr"/>
          <a:lstStyle/>
          <a:p>
            <a:pPr indent="0" marL="0">
              <a:buNone/>
            </a:pPr>
            <a:r>
              <a:rPr lang="en-US" sz="1050" b="1" spc="200" kern="0" dirty="0">
                <a:solidFill>
                  <a:srgbClr val="108494"/>
                </a:solidFill>
                <a:latin typeface="Calibri" pitchFamily="34" charset="0"/>
                <a:ea typeface="Calibri" pitchFamily="34" charset="-122"/>
                <a:cs typeface="Calibri" pitchFamily="34" charset="-120"/>
              </a:rPr>
              <a:t>03   ·   ARCHITECTURE &amp; PROCESS</a:t>
            </a:r>
            <a:endParaRPr lang="en-US" sz="1050" dirty="0"/>
          </a:p>
        </p:txBody>
      </p:sp>
      <p:sp>
        <p:nvSpPr>
          <p:cNvPr id="3" name="Text 1"/>
          <p:cNvSpPr txBox="1"/>
          <p:nvPr/>
        </p:nvSpPr>
        <p:spPr>
          <a:xfrm>
            <a:off x="594360" y="640080"/>
            <a:ext cx="10085832" cy="484632"/>
          </a:xfrm>
          <a:prstGeom prst="rect">
            <a:avLst/>
          </a:prstGeom>
          <a:noFill/>
          <a:ln/>
        </p:spPr>
        <p:txBody>
          <a:bodyPr wrap="square" lIns="0" tIns="0" rIns="0" bIns="0" rtlCol="0" anchor="ctr"/>
          <a:lstStyle/>
          <a:p>
            <a:pPr indent="0" marL="0">
              <a:buNone/>
            </a:pPr>
            <a:r>
              <a:rPr lang="en-US" sz="3000" b="1" dirty="0">
                <a:solidFill>
                  <a:srgbClr val="10243A"/>
                </a:solidFill>
                <a:latin typeface="Cambria" pitchFamily="34" charset="0"/>
                <a:ea typeface="Cambria" pitchFamily="34" charset="-122"/>
                <a:cs typeface="Cambria" pitchFamily="34" charset="-120"/>
              </a:rPr>
              <a:t>Portfolio: from a position to a number</a:t>
            </a:r>
            <a:endParaRPr lang="en-US" sz="3000" dirty="0"/>
          </a:p>
        </p:txBody>
      </p:sp>
      <p:sp>
        <p:nvSpPr>
          <p:cNvPr id="4" name="Text 2"/>
          <p:cNvSpPr txBox="1"/>
          <p:nvPr/>
        </p:nvSpPr>
        <p:spPr>
          <a:xfrm>
            <a:off x="594360" y="1143000"/>
            <a:ext cx="9994392" cy="274320"/>
          </a:xfrm>
          <a:prstGeom prst="rect">
            <a:avLst/>
          </a:prstGeom>
          <a:noFill/>
          <a:ln/>
        </p:spPr>
        <p:txBody>
          <a:bodyPr wrap="square" lIns="0" tIns="0" rIns="0" bIns="0" rtlCol="0" anchor="ctr"/>
          <a:lstStyle/>
          <a:p>
            <a:pPr indent="0" marL="0">
              <a:buNone/>
            </a:pPr>
            <a:r>
              <a:rPr lang="en-US" sz="1200" dirty="0">
                <a:solidFill>
                  <a:srgbClr val="58697A"/>
                </a:solidFill>
                <a:latin typeface="Calibri" pitchFamily="34" charset="0"/>
                <a:ea typeface="Calibri" pitchFamily="34" charset="-122"/>
                <a:cs typeface="Calibri" pitchFamily="34" charset="-120"/>
              </a:rPr>
              <a:t>A resolution cascade per issuer, then arithmetic — with coverage reported rather than assumed.</a:t>
            </a:r>
            <a:endParaRPr lang="en-US" sz="1200" dirty="0"/>
          </a:p>
        </p:txBody>
      </p:sp>
      <p:sp>
        <p:nvSpPr>
          <p:cNvPr id="5" name="Shape 3"/>
          <p:cNvSpPr/>
          <p:nvPr/>
        </p:nvSpPr>
        <p:spPr>
          <a:xfrm>
            <a:off x="10881360" y="475488"/>
            <a:ext cx="713232" cy="713232"/>
          </a:xfrm>
          <a:prstGeom prst="roundRect">
            <a:avLst>
              <a:gd name="adj" fmla="val 20513"/>
            </a:avLst>
          </a:prstGeom>
          <a:solidFill>
            <a:srgbClr val="10243A"/>
          </a:solidFill>
          <a:ln/>
        </p:spPr>
      </p:sp>
      <p:pic>
        <p:nvPicPr>
          <p:cNvPr id="6" name="Image 0" descr="preencoded.png">    </p:cNvPr>
          <p:cNvPicPr>
            <a:picLocks noChangeAspect="1"/>
          </p:cNvPicPr>
          <p:nvPr/>
        </p:nvPicPr>
        <p:blipFill>
          <a:blip r:embed="rId1"/>
          <a:stretch>
            <a:fillRect/>
          </a:stretch>
        </p:blipFill>
        <p:spPr>
          <a:xfrm>
            <a:off x="11038271" y="632399"/>
            <a:ext cx="399410" cy="399410"/>
          </a:xfrm>
          <a:prstGeom prst="rect">
            <a:avLst/>
          </a:prstGeom>
        </p:spPr>
      </p:pic>
      <p:sp>
        <p:nvSpPr>
          <p:cNvPr id="7" name="Shape 4"/>
          <p:cNvSpPr/>
          <p:nvPr/>
        </p:nvSpPr>
        <p:spPr>
          <a:xfrm>
            <a:off x="594360" y="1572768"/>
            <a:ext cx="1907438" cy="749808"/>
          </a:xfrm>
          <a:prstGeom prst="roundRect">
            <a:avLst>
              <a:gd name="adj" fmla="val 12195"/>
            </a:avLst>
          </a:prstGeom>
          <a:solidFill>
            <a:srgbClr val="E3EDFC"/>
          </a:solidFill>
          <a:ln w="15875">
            <a:solidFill>
              <a:srgbClr val="2F6FD0"/>
            </a:solidFill>
            <a:prstDash val="solid"/>
          </a:ln>
          <a:effectLst>
            <a:outerShdw sx="100000" sy="100000" kx="0" ky="0" algn="bl" rotWithShape="0" blurRad="101600" dist="19050" dir="5400000">
              <a:srgbClr val="9FB0C2">
                <a:alpha val="24000"/>
              </a:srgbClr>
            </a:outerShdw>
          </a:effectLst>
        </p:spPr>
      </p:sp>
      <p:pic>
        <p:nvPicPr>
          <p:cNvPr id="8" name="Image 1" descr="preencoded.png">    </p:cNvPr>
          <p:cNvPicPr>
            <a:picLocks noChangeAspect="1"/>
          </p:cNvPicPr>
          <p:nvPr/>
        </p:nvPicPr>
        <p:blipFill>
          <a:blip r:embed="rId2"/>
          <a:stretch>
            <a:fillRect/>
          </a:stretch>
        </p:blipFill>
        <p:spPr>
          <a:xfrm>
            <a:off x="713232" y="1673352"/>
            <a:ext cx="182880" cy="182880"/>
          </a:xfrm>
          <a:prstGeom prst="rect">
            <a:avLst/>
          </a:prstGeom>
        </p:spPr>
      </p:pic>
      <p:sp>
        <p:nvSpPr>
          <p:cNvPr id="9" name="Text 5"/>
          <p:cNvSpPr txBox="1"/>
          <p:nvPr/>
        </p:nvSpPr>
        <p:spPr>
          <a:xfrm>
            <a:off x="685800" y="1572768"/>
            <a:ext cx="1724558" cy="749808"/>
          </a:xfrm>
          <a:prstGeom prst="rect">
            <a:avLst/>
          </a:prstGeom>
          <a:noFill/>
          <a:ln/>
        </p:spPr>
        <p:txBody>
          <a:bodyPr wrap="square" lIns="0" tIns="0" rIns="0" bIns="0" rtlCol="0" anchor="ctr"/>
          <a:lstStyle/>
          <a:p>
            <a:pPr algn="ctr" indent="0" marL="0">
              <a:lnSpc>
                <a:spcPct val="104000"/>
              </a:lnSpc>
              <a:buNone/>
            </a:pPr>
            <a:r>
              <a:rPr lang="en-US" sz="1050" b="1" dirty="0">
                <a:solidFill>
                  <a:srgbClr val="153A61"/>
                </a:solidFill>
                <a:latin typeface="Calibri" pitchFamily="34" charset="0"/>
                <a:ea typeface="Calibri" pitchFamily="34" charset="-122"/>
                <a:cs typeface="Calibri" pitchFamily="34" charset="-120"/>
              </a:rPr>
              <a:t>Holdings snapshot</a:t>
            </a:r>
            <a:endParaRPr lang="en-US" sz="1050" dirty="0"/>
          </a:p>
          <a:p>
            <a:pPr algn="ctr" indent="0" marL="0">
              <a:lnSpc>
                <a:spcPct val="104000"/>
              </a:lnSpc>
              <a:buNone/>
            </a:pPr>
            <a:r>
              <a:rPr lang="en-US" sz="800" dirty="0">
                <a:solidFill>
                  <a:srgbClr val="153A61"/>
                </a:solidFill>
                <a:latin typeface="Calibri" pitchFamily="34" charset="0"/>
                <a:ea typeface="Calibri" pitchFamily="34" charset="-122"/>
                <a:cs typeface="Calibri" pitchFamily="34" charset="-120"/>
              </a:rPr>
              <a:t>per as-of date, FX per position</a:t>
            </a:r>
            <a:endParaRPr lang="en-US" sz="1050" dirty="0"/>
          </a:p>
        </p:txBody>
      </p:sp>
      <p:sp>
        <p:nvSpPr>
          <p:cNvPr id="10" name="Shape 6"/>
          <p:cNvSpPr/>
          <p:nvPr/>
        </p:nvSpPr>
        <p:spPr>
          <a:xfrm>
            <a:off x="2556662" y="1947672"/>
            <a:ext cx="256032" cy="0"/>
          </a:xfrm>
          <a:prstGeom prst="line">
            <a:avLst/>
          </a:prstGeom>
          <a:noFill/>
          <a:ln w="21590">
            <a:solidFill>
              <a:srgbClr val="64798F"/>
            </a:solidFill>
            <a:prstDash val="solid"/>
            <a:headEnd type="none"/>
            <a:tailEnd type="triangle"/>
          </a:ln>
        </p:spPr>
      </p:sp>
      <p:sp>
        <p:nvSpPr>
          <p:cNvPr id="11" name="Shape 7"/>
          <p:cNvSpPr/>
          <p:nvPr/>
        </p:nvSpPr>
        <p:spPr>
          <a:xfrm>
            <a:off x="2867558" y="1572768"/>
            <a:ext cx="1907438" cy="749808"/>
          </a:xfrm>
          <a:prstGeom prst="roundRect">
            <a:avLst>
              <a:gd name="adj" fmla="val 12195"/>
            </a:avLst>
          </a:prstGeom>
          <a:solidFill>
            <a:srgbClr val="FCEDD4"/>
          </a:solidFill>
          <a:ln w="15875">
            <a:solidFill>
              <a:srgbClr val="C9871B"/>
            </a:solidFill>
            <a:prstDash val="solid"/>
          </a:ln>
          <a:effectLst>
            <a:outerShdw sx="100000" sy="100000" kx="0" ky="0" algn="bl" rotWithShape="0" blurRad="101600" dist="19050" dir="5400000">
              <a:srgbClr val="9FB0C2">
                <a:alpha val="24000"/>
              </a:srgbClr>
            </a:outerShdw>
          </a:effectLst>
        </p:spPr>
      </p:sp>
      <p:pic>
        <p:nvPicPr>
          <p:cNvPr id="12" name="Image 2" descr="preencoded.png">    </p:cNvPr>
          <p:cNvPicPr>
            <a:picLocks noChangeAspect="1"/>
          </p:cNvPicPr>
          <p:nvPr/>
        </p:nvPicPr>
        <p:blipFill>
          <a:blip r:embed="rId3"/>
          <a:stretch>
            <a:fillRect/>
          </a:stretch>
        </p:blipFill>
        <p:spPr>
          <a:xfrm>
            <a:off x="2986430" y="1673352"/>
            <a:ext cx="182880" cy="182880"/>
          </a:xfrm>
          <a:prstGeom prst="rect">
            <a:avLst/>
          </a:prstGeom>
        </p:spPr>
      </p:pic>
      <p:sp>
        <p:nvSpPr>
          <p:cNvPr id="13" name="Text 8"/>
          <p:cNvSpPr txBox="1"/>
          <p:nvPr/>
        </p:nvSpPr>
        <p:spPr>
          <a:xfrm>
            <a:off x="2958998" y="1572768"/>
            <a:ext cx="1724558" cy="749808"/>
          </a:xfrm>
          <a:prstGeom prst="rect">
            <a:avLst/>
          </a:prstGeom>
          <a:noFill/>
          <a:ln/>
        </p:spPr>
        <p:txBody>
          <a:bodyPr wrap="square" lIns="0" tIns="0" rIns="0" bIns="0" rtlCol="0" anchor="ctr"/>
          <a:lstStyle/>
          <a:p>
            <a:pPr algn="ctr" indent="0" marL="0">
              <a:lnSpc>
                <a:spcPct val="104000"/>
              </a:lnSpc>
              <a:buNone/>
            </a:pPr>
            <a:r>
              <a:rPr lang="en-US" sz="1050" b="1" dirty="0">
                <a:solidFill>
                  <a:srgbClr val="64430A"/>
                </a:solidFill>
                <a:latin typeface="Calibri" pitchFamily="34" charset="0"/>
                <a:ea typeface="Calibri" pitchFamily="34" charset="-122"/>
                <a:cs typeface="Calibri" pitchFamily="34" charset="-120"/>
              </a:rPr>
              <a:t>Entity resolution</a:t>
            </a:r>
            <a:endParaRPr lang="en-US" sz="1050" dirty="0"/>
          </a:p>
          <a:p>
            <a:pPr algn="ctr" indent="0" marL="0">
              <a:lnSpc>
                <a:spcPct val="104000"/>
              </a:lnSpc>
              <a:buNone/>
            </a:pPr>
            <a:r>
              <a:rPr lang="en-US" sz="800" dirty="0">
                <a:solidFill>
                  <a:srgbClr val="64430A"/>
                </a:solidFill>
                <a:latin typeface="Calibri" pitchFamily="34" charset="0"/>
                <a:ea typeface="Calibri" pitchFamily="34" charset="-122"/>
                <a:cs typeface="Calibri" pitchFamily="34" charset="-120"/>
              </a:rPr>
              <a:t>security → issuer → company_id</a:t>
            </a:r>
            <a:endParaRPr lang="en-US" sz="1050" dirty="0"/>
          </a:p>
        </p:txBody>
      </p:sp>
      <p:sp>
        <p:nvSpPr>
          <p:cNvPr id="14" name="Shape 9"/>
          <p:cNvSpPr/>
          <p:nvPr/>
        </p:nvSpPr>
        <p:spPr>
          <a:xfrm>
            <a:off x="4829861" y="1947672"/>
            <a:ext cx="256032" cy="0"/>
          </a:xfrm>
          <a:prstGeom prst="line">
            <a:avLst/>
          </a:prstGeom>
          <a:noFill/>
          <a:ln w="21590">
            <a:solidFill>
              <a:srgbClr val="64798F"/>
            </a:solidFill>
            <a:prstDash val="solid"/>
            <a:headEnd type="none"/>
            <a:tailEnd type="triangle"/>
          </a:ln>
        </p:spPr>
      </p:sp>
      <p:sp>
        <p:nvSpPr>
          <p:cNvPr id="15" name="Shape 10"/>
          <p:cNvSpPr/>
          <p:nvPr/>
        </p:nvSpPr>
        <p:spPr>
          <a:xfrm>
            <a:off x="5140757" y="1572768"/>
            <a:ext cx="1907438" cy="749808"/>
          </a:xfrm>
          <a:prstGeom prst="roundRect">
            <a:avLst>
              <a:gd name="adj" fmla="val 12195"/>
            </a:avLst>
          </a:prstGeom>
          <a:solidFill>
            <a:srgbClr val="DCF2F4"/>
          </a:solidFill>
          <a:ln w="15875">
            <a:solidFill>
              <a:srgbClr val="108494"/>
            </a:solidFill>
            <a:prstDash val="solid"/>
          </a:ln>
          <a:effectLst>
            <a:outerShdw sx="100000" sy="100000" kx="0" ky="0" algn="bl" rotWithShape="0" blurRad="101600" dist="19050" dir="5400000">
              <a:srgbClr val="9FB0C2">
                <a:alpha val="24000"/>
              </a:srgbClr>
            </a:outerShdw>
          </a:effectLst>
        </p:spPr>
      </p:sp>
      <p:pic>
        <p:nvPicPr>
          <p:cNvPr id="16" name="Image 3" descr="preencoded.png">    </p:cNvPr>
          <p:cNvPicPr>
            <a:picLocks noChangeAspect="1"/>
          </p:cNvPicPr>
          <p:nvPr/>
        </p:nvPicPr>
        <p:blipFill>
          <a:blip r:embed="rId4"/>
          <a:stretch>
            <a:fillRect/>
          </a:stretch>
        </p:blipFill>
        <p:spPr>
          <a:xfrm>
            <a:off x="5259629" y="1673352"/>
            <a:ext cx="182880" cy="182880"/>
          </a:xfrm>
          <a:prstGeom prst="rect">
            <a:avLst/>
          </a:prstGeom>
        </p:spPr>
      </p:pic>
      <p:sp>
        <p:nvSpPr>
          <p:cNvPr id="17" name="Text 11"/>
          <p:cNvSpPr txBox="1"/>
          <p:nvPr/>
        </p:nvSpPr>
        <p:spPr>
          <a:xfrm>
            <a:off x="5232197" y="1572768"/>
            <a:ext cx="1724558" cy="749808"/>
          </a:xfrm>
          <a:prstGeom prst="rect">
            <a:avLst/>
          </a:prstGeom>
          <a:noFill/>
          <a:ln/>
        </p:spPr>
        <p:txBody>
          <a:bodyPr wrap="square" lIns="0" tIns="0" rIns="0" bIns="0" rtlCol="0" anchor="ctr"/>
          <a:lstStyle/>
          <a:p>
            <a:pPr algn="ctr" indent="0" marL="0">
              <a:lnSpc>
                <a:spcPct val="104000"/>
              </a:lnSpc>
              <a:buNone/>
            </a:pPr>
            <a:r>
              <a:rPr lang="en-US" sz="1050" b="1" dirty="0">
                <a:solidFill>
                  <a:srgbClr val="0A4451"/>
                </a:solidFill>
                <a:latin typeface="Calibri" pitchFamily="34" charset="0"/>
                <a:ea typeface="Calibri" pitchFamily="34" charset="-122"/>
                <a:cs typeface="Calibri" pitchFamily="34" charset="-120"/>
              </a:rPr>
              <a:t>Data-point cascade</a:t>
            </a:r>
            <a:endParaRPr lang="en-US" sz="1050" dirty="0"/>
          </a:p>
          <a:p>
            <a:pPr algn="ctr" indent="0" marL="0">
              <a:lnSpc>
                <a:spcPct val="104000"/>
              </a:lnSpc>
              <a:buNone/>
            </a:pPr>
            <a:r>
              <a:rPr lang="en-US" sz="800" dirty="0">
                <a:solidFill>
                  <a:srgbClr val="0A4451"/>
                </a:solidFill>
                <a:latin typeface="Calibri" pitchFamily="34" charset="0"/>
                <a:ea typeface="Calibri" pitchFamily="34" charset="-122"/>
                <a:cs typeface="Calibri" pitchFamily="34" charset="-120"/>
              </a:rPr>
              <a:t>priority order, per issuer</a:t>
            </a:r>
            <a:endParaRPr lang="en-US" sz="1050" dirty="0"/>
          </a:p>
        </p:txBody>
      </p:sp>
      <p:sp>
        <p:nvSpPr>
          <p:cNvPr id="18" name="Shape 12"/>
          <p:cNvSpPr/>
          <p:nvPr/>
        </p:nvSpPr>
        <p:spPr>
          <a:xfrm>
            <a:off x="7103059" y="1947672"/>
            <a:ext cx="256032" cy="0"/>
          </a:xfrm>
          <a:prstGeom prst="line">
            <a:avLst/>
          </a:prstGeom>
          <a:noFill/>
          <a:ln w="21590">
            <a:solidFill>
              <a:srgbClr val="64798F"/>
            </a:solidFill>
            <a:prstDash val="solid"/>
            <a:headEnd type="none"/>
            <a:tailEnd type="triangle"/>
          </a:ln>
        </p:spPr>
      </p:sp>
      <p:sp>
        <p:nvSpPr>
          <p:cNvPr id="19" name="Shape 13"/>
          <p:cNvSpPr/>
          <p:nvPr/>
        </p:nvSpPr>
        <p:spPr>
          <a:xfrm>
            <a:off x="7413955" y="1572768"/>
            <a:ext cx="1907438" cy="749808"/>
          </a:xfrm>
          <a:prstGeom prst="roundRect">
            <a:avLst>
              <a:gd name="adj" fmla="val 12195"/>
            </a:avLst>
          </a:prstGeom>
          <a:solidFill>
            <a:srgbClr val="DCF2F4"/>
          </a:solidFill>
          <a:ln w="15875">
            <a:solidFill>
              <a:srgbClr val="108494"/>
            </a:solidFill>
            <a:prstDash val="solid"/>
          </a:ln>
          <a:effectLst>
            <a:outerShdw sx="100000" sy="100000" kx="0" ky="0" algn="bl" rotWithShape="0" blurRad="101600" dist="19050" dir="5400000">
              <a:srgbClr val="9FB0C2">
                <a:alpha val="24000"/>
              </a:srgbClr>
            </a:outerShdw>
          </a:effectLst>
        </p:spPr>
      </p:sp>
      <p:pic>
        <p:nvPicPr>
          <p:cNvPr id="20" name="Image 4" descr="preencoded.png">    </p:cNvPr>
          <p:cNvPicPr>
            <a:picLocks noChangeAspect="1"/>
          </p:cNvPicPr>
          <p:nvPr/>
        </p:nvPicPr>
        <p:blipFill>
          <a:blip r:embed="rId5"/>
          <a:stretch>
            <a:fillRect/>
          </a:stretch>
        </p:blipFill>
        <p:spPr>
          <a:xfrm>
            <a:off x="7532827" y="1673352"/>
            <a:ext cx="182880" cy="182880"/>
          </a:xfrm>
          <a:prstGeom prst="rect">
            <a:avLst/>
          </a:prstGeom>
        </p:spPr>
      </p:pic>
      <p:sp>
        <p:nvSpPr>
          <p:cNvPr id="21" name="Text 14"/>
          <p:cNvSpPr txBox="1"/>
          <p:nvPr/>
        </p:nvSpPr>
        <p:spPr>
          <a:xfrm>
            <a:off x="7505395" y="1572768"/>
            <a:ext cx="1724558" cy="749808"/>
          </a:xfrm>
          <a:prstGeom prst="rect">
            <a:avLst/>
          </a:prstGeom>
          <a:noFill/>
          <a:ln/>
        </p:spPr>
        <p:txBody>
          <a:bodyPr wrap="square" lIns="0" tIns="0" rIns="0" bIns="0" rtlCol="0" anchor="ctr"/>
          <a:lstStyle/>
          <a:p>
            <a:pPr algn="ctr" indent="0" marL="0">
              <a:lnSpc>
                <a:spcPct val="104000"/>
              </a:lnSpc>
              <a:buNone/>
            </a:pPr>
            <a:r>
              <a:rPr lang="en-US" sz="1050" b="1" dirty="0">
                <a:solidFill>
                  <a:srgbClr val="0A4451"/>
                </a:solidFill>
                <a:latin typeface="Calibri" pitchFamily="34" charset="0"/>
                <a:ea typeface="Calibri" pitchFamily="34" charset="-122"/>
                <a:cs typeface="Calibri" pitchFamily="34" charset="-120"/>
              </a:rPr>
              <a:t>Aggregation</a:t>
            </a:r>
            <a:endParaRPr lang="en-US" sz="1050" dirty="0"/>
          </a:p>
          <a:p>
            <a:pPr algn="ctr" indent="0" marL="0">
              <a:lnSpc>
                <a:spcPct val="104000"/>
              </a:lnSpc>
              <a:buNone/>
            </a:pPr>
            <a:r>
              <a:rPr lang="en-US" sz="800" dirty="0">
                <a:solidFill>
                  <a:srgbClr val="0A4451"/>
                </a:solidFill>
                <a:latin typeface="Calibri" pitchFamily="34" charset="0"/>
                <a:ea typeface="Calibri" pitchFamily="34" charset="-122"/>
                <a:cs typeface="Calibri" pitchFamily="34" charset="-120"/>
              </a:rPr>
              <a:t>group, weight, sum — in code or SQL</a:t>
            </a:r>
            <a:endParaRPr lang="en-US" sz="1050" dirty="0"/>
          </a:p>
        </p:txBody>
      </p:sp>
      <p:sp>
        <p:nvSpPr>
          <p:cNvPr id="22" name="Shape 15"/>
          <p:cNvSpPr/>
          <p:nvPr/>
        </p:nvSpPr>
        <p:spPr>
          <a:xfrm>
            <a:off x="9376258" y="1947672"/>
            <a:ext cx="256032" cy="0"/>
          </a:xfrm>
          <a:prstGeom prst="line">
            <a:avLst/>
          </a:prstGeom>
          <a:noFill/>
          <a:ln w="21590">
            <a:solidFill>
              <a:srgbClr val="64798F"/>
            </a:solidFill>
            <a:prstDash val="solid"/>
            <a:headEnd type="none"/>
            <a:tailEnd type="triangle"/>
          </a:ln>
        </p:spPr>
      </p:sp>
      <p:sp>
        <p:nvSpPr>
          <p:cNvPr id="23" name="Shape 16"/>
          <p:cNvSpPr/>
          <p:nvPr/>
        </p:nvSpPr>
        <p:spPr>
          <a:xfrm>
            <a:off x="9687154" y="1572768"/>
            <a:ext cx="1907438" cy="749808"/>
          </a:xfrm>
          <a:prstGeom prst="roundRect">
            <a:avLst>
              <a:gd name="adj" fmla="val 12195"/>
            </a:avLst>
          </a:prstGeom>
          <a:solidFill>
            <a:srgbClr val="E0F3E3"/>
          </a:solidFill>
          <a:ln w="15875">
            <a:solidFill>
              <a:srgbClr val="2F8F48"/>
            </a:solidFill>
            <a:prstDash val="solid"/>
          </a:ln>
          <a:effectLst>
            <a:outerShdw sx="100000" sy="100000" kx="0" ky="0" algn="bl" rotWithShape="0" blurRad="101600" dist="19050" dir="5400000">
              <a:srgbClr val="9FB0C2">
                <a:alpha val="24000"/>
              </a:srgbClr>
            </a:outerShdw>
          </a:effectLst>
        </p:spPr>
      </p:sp>
      <p:pic>
        <p:nvPicPr>
          <p:cNvPr id="24" name="Image 5" descr="preencoded.png">    </p:cNvPr>
          <p:cNvPicPr>
            <a:picLocks noChangeAspect="1"/>
          </p:cNvPicPr>
          <p:nvPr/>
        </p:nvPicPr>
        <p:blipFill>
          <a:blip r:embed="rId6"/>
          <a:stretch>
            <a:fillRect/>
          </a:stretch>
        </p:blipFill>
        <p:spPr>
          <a:xfrm>
            <a:off x="9806026" y="1673352"/>
            <a:ext cx="182880" cy="182880"/>
          </a:xfrm>
          <a:prstGeom prst="rect">
            <a:avLst/>
          </a:prstGeom>
        </p:spPr>
      </p:pic>
      <p:sp>
        <p:nvSpPr>
          <p:cNvPr id="25" name="Text 17"/>
          <p:cNvSpPr txBox="1"/>
          <p:nvPr/>
        </p:nvSpPr>
        <p:spPr>
          <a:xfrm>
            <a:off x="9778594" y="1572768"/>
            <a:ext cx="1724558" cy="749808"/>
          </a:xfrm>
          <a:prstGeom prst="rect">
            <a:avLst/>
          </a:prstGeom>
          <a:noFill/>
          <a:ln/>
        </p:spPr>
        <p:txBody>
          <a:bodyPr wrap="square" lIns="0" tIns="0" rIns="0" bIns="0" rtlCol="0" anchor="ctr"/>
          <a:lstStyle/>
          <a:p>
            <a:pPr algn="ctr" indent="0" marL="0">
              <a:lnSpc>
                <a:spcPct val="104000"/>
              </a:lnSpc>
              <a:buNone/>
            </a:pPr>
            <a:r>
              <a:rPr lang="en-US" sz="1050" b="1" dirty="0">
                <a:solidFill>
                  <a:srgbClr val="17431F"/>
                </a:solidFill>
                <a:latin typeface="Calibri" pitchFamily="34" charset="0"/>
                <a:ea typeface="Calibri" pitchFamily="34" charset="-122"/>
                <a:cs typeface="Calibri" pitchFamily="34" charset="-120"/>
              </a:rPr>
              <a:t>Answer + spec</a:t>
            </a:r>
            <a:endParaRPr lang="en-US" sz="1050" dirty="0"/>
          </a:p>
          <a:p>
            <a:pPr algn="ctr" indent="0" marL="0">
              <a:lnSpc>
                <a:spcPct val="104000"/>
              </a:lnSpc>
              <a:buNone/>
            </a:pPr>
            <a:r>
              <a:rPr lang="en-US" sz="800" dirty="0">
                <a:solidFill>
                  <a:srgbClr val="17431F"/>
                </a:solidFill>
                <a:latin typeface="Calibri" pitchFamily="34" charset="0"/>
                <a:ea typeface="Calibri" pitchFamily="34" charset="-122"/>
                <a:cs typeface="Calibri" pitchFamily="34" charset="-120"/>
              </a:rPr>
              <a:t>the number and the query beside it</a:t>
            </a:r>
            <a:endParaRPr lang="en-US" sz="1050" dirty="0"/>
          </a:p>
        </p:txBody>
      </p:sp>
      <p:sp>
        <p:nvSpPr>
          <p:cNvPr id="26" name="Shape 18"/>
          <p:cNvSpPr/>
          <p:nvPr/>
        </p:nvSpPr>
        <p:spPr>
          <a:xfrm>
            <a:off x="594360" y="2615184"/>
            <a:ext cx="5806440" cy="2487168"/>
          </a:xfrm>
          <a:prstGeom prst="roundRect">
            <a:avLst>
              <a:gd name="adj" fmla="val 1471"/>
            </a:avLst>
          </a:prstGeom>
          <a:solidFill>
            <a:srgbClr val="F4F7FA"/>
          </a:solidFill>
          <a:ln w="15875">
            <a:solidFill>
              <a:srgbClr val="9FB2C4"/>
            </a:solidFill>
            <a:prstDash val="dash"/>
          </a:ln>
        </p:spPr>
      </p:sp>
      <p:sp>
        <p:nvSpPr>
          <p:cNvPr id="27" name="Shape 19"/>
          <p:cNvSpPr/>
          <p:nvPr/>
        </p:nvSpPr>
        <p:spPr>
          <a:xfrm>
            <a:off x="740664" y="2496312"/>
            <a:ext cx="2494483" cy="274320"/>
          </a:xfrm>
          <a:prstGeom prst="roundRect">
            <a:avLst>
              <a:gd name="adj" fmla="val 50000"/>
            </a:avLst>
          </a:prstGeom>
          <a:solidFill>
            <a:srgbClr val="64798F"/>
          </a:solidFill>
          <a:ln/>
        </p:spPr>
      </p:sp>
      <p:pic>
        <p:nvPicPr>
          <p:cNvPr id="28" name="Image 6" descr="preencoded.png">    </p:cNvPr>
          <p:cNvPicPr>
            <a:picLocks noChangeAspect="1"/>
          </p:cNvPicPr>
          <p:nvPr/>
        </p:nvPicPr>
        <p:blipFill>
          <a:blip r:embed="rId7"/>
          <a:stretch>
            <a:fillRect/>
          </a:stretch>
        </p:blipFill>
        <p:spPr>
          <a:xfrm>
            <a:off x="859536" y="2564892"/>
            <a:ext cx="132588" cy="132588"/>
          </a:xfrm>
          <a:prstGeom prst="rect">
            <a:avLst/>
          </a:prstGeom>
        </p:spPr>
      </p:pic>
      <p:sp>
        <p:nvSpPr>
          <p:cNvPr id="29" name="Text 20"/>
          <p:cNvSpPr txBox="1"/>
          <p:nvPr/>
        </p:nvSpPr>
        <p:spPr>
          <a:xfrm>
            <a:off x="1014984" y="2496312"/>
            <a:ext cx="2220163" cy="274320"/>
          </a:xfrm>
          <a:prstGeom prst="rect">
            <a:avLst/>
          </a:prstGeom>
          <a:noFill/>
          <a:ln/>
        </p:spPr>
        <p:txBody>
          <a:bodyPr wrap="square" lIns="0" tIns="0" rIns="0" bIns="0" rtlCol="0" anchor="ctr"/>
          <a:lstStyle/>
          <a:p>
            <a:pPr algn="ctr" indent="0" marL="0">
              <a:buNone/>
            </a:pPr>
            <a:r>
              <a:rPr lang="en-US" sz="850" b="1" spc="110" kern="0" dirty="0">
                <a:solidFill>
                  <a:srgbClr val="FFFFFF"/>
                </a:solidFill>
                <a:latin typeface="Calibri" pitchFamily="34" charset="0"/>
                <a:ea typeface="Calibri" pitchFamily="34" charset="-122"/>
                <a:cs typeface="Calibri" pitchFamily="34" charset="-120"/>
              </a:rPr>
              <a:t>RESOLUTION CASCADE PER ISSUER</a:t>
            </a:r>
            <a:endParaRPr lang="en-US" sz="850" dirty="0"/>
          </a:p>
        </p:txBody>
      </p:sp>
      <p:sp>
        <p:nvSpPr>
          <p:cNvPr id="30" name="Shape 21"/>
          <p:cNvSpPr/>
          <p:nvPr/>
        </p:nvSpPr>
        <p:spPr>
          <a:xfrm>
            <a:off x="832104" y="2962656"/>
            <a:ext cx="384048" cy="384048"/>
          </a:xfrm>
          <a:prstGeom prst="ellipse">
            <a:avLst/>
          </a:prstGeom>
          <a:solidFill>
            <a:srgbClr val="EBE5FC"/>
          </a:solidFill>
          <a:ln w="15875">
            <a:solidFill>
              <a:srgbClr val="6D4DD1"/>
            </a:solidFill>
            <a:prstDash val="solid"/>
          </a:ln>
        </p:spPr>
      </p:sp>
      <p:sp>
        <p:nvSpPr>
          <p:cNvPr id="31" name="Text 22"/>
          <p:cNvSpPr txBox="1"/>
          <p:nvPr/>
        </p:nvSpPr>
        <p:spPr>
          <a:xfrm>
            <a:off x="923544" y="2962656"/>
            <a:ext cx="201168" cy="384048"/>
          </a:xfrm>
          <a:prstGeom prst="rect">
            <a:avLst/>
          </a:prstGeom>
          <a:noFill/>
          <a:ln/>
        </p:spPr>
        <p:txBody>
          <a:bodyPr wrap="square" lIns="0" tIns="0" rIns="0" bIns="0" rtlCol="0" anchor="ctr"/>
          <a:lstStyle/>
          <a:p>
            <a:pPr algn="ctr" indent="0" marL="0">
              <a:lnSpc>
                <a:spcPct val="104000"/>
              </a:lnSpc>
              <a:buNone/>
            </a:pPr>
            <a:r>
              <a:rPr lang="en-US" sz="1000" b="1" dirty="0">
                <a:solidFill>
                  <a:srgbClr val="35236E"/>
                </a:solidFill>
                <a:latin typeface="Calibri" pitchFamily="34" charset="0"/>
                <a:ea typeface="Calibri" pitchFamily="34" charset="-122"/>
                <a:cs typeface="Calibri" pitchFamily="34" charset="-120"/>
              </a:rPr>
              <a:t>1</a:t>
            </a:r>
            <a:endParaRPr lang="en-US" sz="1000" dirty="0"/>
          </a:p>
        </p:txBody>
      </p:sp>
      <p:sp>
        <p:nvSpPr>
          <p:cNvPr id="32" name="Text 23"/>
          <p:cNvSpPr txBox="1"/>
          <p:nvPr/>
        </p:nvSpPr>
        <p:spPr>
          <a:xfrm>
            <a:off x="1325880" y="2962656"/>
            <a:ext cx="4983480" cy="384048"/>
          </a:xfrm>
          <a:prstGeom prst="rect">
            <a:avLst/>
          </a:prstGeom>
          <a:noFill/>
          <a:ln/>
        </p:spPr>
        <p:txBody>
          <a:bodyPr wrap="square" lIns="0" tIns="0" rIns="0" bIns="0" rtlCol="0" anchor="ctr"/>
          <a:lstStyle/>
          <a:p>
            <a:pPr indent="0" marL="0">
              <a:buNone/>
            </a:pPr>
            <a:r>
              <a:rPr lang="en-US" sz="900" b="1" dirty="0">
                <a:solidFill>
                  <a:srgbClr val="35236E"/>
                </a:solidFill>
                <a:latin typeface="Calibri" pitchFamily="34" charset="0"/>
                <a:ea typeface="Calibri" pitchFamily="34" charset="-122"/>
                <a:cs typeface="Calibri" pitchFamily="34" charset="-120"/>
              </a:rPr>
              <a:t>Extraction record  </a:t>
            </a:r>
            <a:pPr indent="0" marL="0">
              <a:buNone/>
            </a:pPr>
            <a:r>
              <a:rPr lang="en-US" sz="900" dirty="0">
                <a:solidFill>
                  <a:srgbClr val="43566B"/>
                </a:solidFill>
                <a:latin typeface="Calibri" pitchFamily="34" charset="0"/>
                <a:ea typeface="Calibri" pitchFamily="34" charset="-122"/>
                <a:cs typeface="Calibri" pitchFamily="34" charset="-120"/>
              </a:rPr>
              <a:t>a value this pipeline already read from the company's own report</a:t>
            </a:r>
            <a:endParaRPr lang="en-US" sz="900" dirty="0"/>
          </a:p>
        </p:txBody>
      </p:sp>
      <p:sp>
        <p:nvSpPr>
          <p:cNvPr id="33" name="Shape 24"/>
          <p:cNvSpPr/>
          <p:nvPr/>
        </p:nvSpPr>
        <p:spPr>
          <a:xfrm>
            <a:off x="1024128" y="3364992"/>
            <a:ext cx="0" cy="100584"/>
          </a:xfrm>
          <a:prstGeom prst="line">
            <a:avLst/>
          </a:prstGeom>
          <a:noFill/>
          <a:ln w="13970">
            <a:solidFill>
              <a:srgbClr val="64798F"/>
            </a:solidFill>
            <a:prstDash val="solid"/>
            <a:headEnd type="none"/>
            <a:tailEnd type="triangle"/>
          </a:ln>
        </p:spPr>
      </p:sp>
      <p:sp>
        <p:nvSpPr>
          <p:cNvPr id="34" name="Shape 25"/>
          <p:cNvSpPr/>
          <p:nvPr/>
        </p:nvSpPr>
        <p:spPr>
          <a:xfrm>
            <a:off x="832104" y="3483864"/>
            <a:ext cx="384048" cy="384048"/>
          </a:xfrm>
          <a:prstGeom prst="ellipse">
            <a:avLst/>
          </a:prstGeom>
          <a:solidFill>
            <a:srgbClr val="DCF2F4"/>
          </a:solidFill>
          <a:ln w="15875">
            <a:solidFill>
              <a:srgbClr val="108494"/>
            </a:solidFill>
            <a:prstDash val="solid"/>
          </a:ln>
        </p:spPr>
      </p:sp>
      <p:sp>
        <p:nvSpPr>
          <p:cNvPr id="35" name="Text 26"/>
          <p:cNvSpPr txBox="1"/>
          <p:nvPr/>
        </p:nvSpPr>
        <p:spPr>
          <a:xfrm>
            <a:off x="923544" y="3483864"/>
            <a:ext cx="201168" cy="384048"/>
          </a:xfrm>
          <a:prstGeom prst="rect">
            <a:avLst/>
          </a:prstGeom>
          <a:noFill/>
          <a:ln/>
        </p:spPr>
        <p:txBody>
          <a:bodyPr wrap="square" lIns="0" tIns="0" rIns="0" bIns="0" rtlCol="0" anchor="ctr"/>
          <a:lstStyle/>
          <a:p>
            <a:pPr algn="ctr" indent="0" marL="0">
              <a:lnSpc>
                <a:spcPct val="104000"/>
              </a:lnSpc>
              <a:buNone/>
            </a:pPr>
            <a:r>
              <a:rPr lang="en-US" sz="1000" b="1" dirty="0">
                <a:solidFill>
                  <a:srgbClr val="0A4451"/>
                </a:solidFill>
                <a:latin typeface="Calibri" pitchFamily="34" charset="0"/>
                <a:ea typeface="Calibri" pitchFamily="34" charset="-122"/>
                <a:cs typeface="Calibri" pitchFamily="34" charset="-120"/>
              </a:rPr>
              <a:t>2</a:t>
            </a:r>
            <a:endParaRPr lang="en-US" sz="1000" dirty="0"/>
          </a:p>
        </p:txBody>
      </p:sp>
      <p:sp>
        <p:nvSpPr>
          <p:cNvPr id="36" name="Text 27"/>
          <p:cNvSpPr txBox="1"/>
          <p:nvPr/>
        </p:nvSpPr>
        <p:spPr>
          <a:xfrm>
            <a:off x="1325880" y="3483864"/>
            <a:ext cx="4983480" cy="384048"/>
          </a:xfrm>
          <a:prstGeom prst="rect">
            <a:avLst/>
          </a:prstGeom>
          <a:noFill/>
          <a:ln/>
        </p:spPr>
        <p:txBody>
          <a:bodyPr wrap="square" lIns="0" tIns="0" rIns="0" bIns="0" rtlCol="0" anchor="ctr"/>
          <a:lstStyle/>
          <a:p>
            <a:pPr indent="0" marL="0">
              <a:buNone/>
            </a:pPr>
            <a:r>
              <a:rPr lang="en-US" sz="900" b="1" dirty="0">
                <a:solidFill>
                  <a:srgbClr val="0A4451"/>
                </a:solidFill>
                <a:latin typeface="Calibri" pitchFamily="34" charset="0"/>
                <a:ea typeface="Calibri" pitchFamily="34" charset="-122"/>
                <a:cs typeface="Calibri" pitchFamily="34" charset="-120"/>
              </a:rPr>
              <a:t>Exposure result  </a:t>
            </a:r>
            <a:pPr indent="0" marL="0">
              <a:buNone/>
            </a:pPr>
            <a:r>
              <a:rPr lang="en-US" sz="900" dirty="0">
                <a:solidFill>
                  <a:srgbClr val="43566B"/>
                </a:solidFill>
                <a:latin typeface="Calibri" pitchFamily="34" charset="0"/>
                <a:ea typeface="Calibri" pitchFamily="34" charset="-122"/>
                <a:cs typeface="Calibri" pitchFamily="34" charset="-120"/>
              </a:rPr>
              <a:t>a thematic or indirect-exposure figure already computed for that issuer</a:t>
            </a:r>
            <a:endParaRPr lang="en-US" sz="900" dirty="0"/>
          </a:p>
        </p:txBody>
      </p:sp>
      <p:sp>
        <p:nvSpPr>
          <p:cNvPr id="37" name="Shape 28"/>
          <p:cNvSpPr/>
          <p:nvPr/>
        </p:nvSpPr>
        <p:spPr>
          <a:xfrm>
            <a:off x="1024128" y="3886200"/>
            <a:ext cx="0" cy="100584"/>
          </a:xfrm>
          <a:prstGeom prst="line">
            <a:avLst/>
          </a:prstGeom>
          <a:noFill/>
          <a:ln w="13970">
            <a:solidFill>
              <a:srgbClr val="64798F"/>
            </a:solidFill>
            <a:prstDash val="solid"/>
            <a:headEnd type="none"/>
            <a:tailEnd type="triangle"/>
          </a:ln>
        </p:spPr>
      </p:sp>
      <p:sp>
        <p:nvSpPr>
          <p:cNvPr id="38" name="Shape 29"/>
          <p:cNvSpPr/>
          <p:nvPr/>
        </p:nvSpPr>
        <p:spPr>
          <a:xfrm>
            <a:off x="832104" y="4005072"/>
            <a:ext cx="384048" cy="384048"/>
          </a:xfrm>
          <a:prstGeom prst="ellipse">
            <a:avLst/>
          </a:prstGeom>
          <a:solidFill>
            <a:srgbClr val="E3EDFC"/>
          </a:solidFill>
          <a:ln w="15875">
            <a:solidFill>
              <a:srgbClr val="2F6FD0"/>
            </a:solidFill>
            <a:prstDash val="solid"/>
          </a:ln>
        </p:spPr>
      </p:sp>
      <p:sp>
        <p:nvSpPr>
          <p:cNvPr id="39" name="Text 30"/>
          <p:cNvSpPr txBox="1"/>
          <p:nvPr/>
        </p:nvSpPr>
        <p:spPr>
          <a:xfrm>
            <a:off x="923544" y="4005072"/>
            <a:ext cx="201168" cy="384048"/>
          </a:xfrm>
          <a:prstGeom prst="rect">
            <a:avLst/>
          </a:prstGeom>
          <a:noFill/>
          <a:ln/>
        </p:spPr>
        <p:txBody>
          <a:bodyPr wrap="square" lIns="0" tIns="0" rIns="0" bIns="0" rtlCol="0" anchor="ctr"/>
          <a:lstStyle/>
          <a:p>
            <a:pPr algn="ctr" indent="0" marL="0">
              <a:lnSpc>
                <a:spcPct val="104000"/>
              </a:lnSpc>
              <a:buNone/>
            </a:pPr>
            <a:r>
              <a:rPr lang="en-US" sz="1000" b="1" dirty="0">
                <a:solidFill>
                  <a:srgbClr val="153A61"/>
                </a:solidFill>
                <a:latin typeface="Calibri" pitchFamily="34" charset="0"/>
                <a:ea typeface="Calibri" pitchFamily="34" charset="-122"/>
                <a:cs typeface="Calibri" pitchFamily="34" charset="-120"/>
              </a:rPr>
              <a:t>3</a:t>
            </a:r>
            <a:endParaRPr lang="en-US" sz="1000" dirty="0"/>
          </a:p>
        </p:txBody>
      </p:sp>
      <p:sp>
        <p:nvSpPr>
          <p:cNvPr id="40" name="Text 31"/>
          <p:cNvSpPr txBox="1"/>
          <p:nvPr/>
        </p:nvSpPr>
        <p:spPr>
          <a:xfrm>
            <a:off x="1325880" y="4005072"/>
            <a:ext cx="4983480" cy="384048"/>
          </a:xfrm>
          <a:prstGeom prst="rect">
            <a:avLst/>
          </a:prstGeom>
          <a:noFill/>
          <a:ln/>
        </p:spPr>
        <p:txBody>
          <a:bodyPr wrap="square" lIns="0" tIns="0" rIns="0" bIns="0" rtlCol="0" anchor="ctr"/>
          <a:lstStyle/>
          <a:p>
            <a:pPr indent="0" marL="0">
              <a:buNone/>
            </a:pPr>
            <a:r>
              <a:rPr lang="en-US" sz="900" b="1" dirty="0">
                <a:solidFill>
                  <a:srgbClr val="153A61"/>
                </a:solidFill>
                <a:latin typeface="Calibri" pitchFamily="34" charset="0"/>
                <a:ea typeface="Calibri" pitchFamily="34" charset="-122"/>
                <a:cs typeface="Calibri" pitchFamily="34" charset="-120"/>
              </a:rPr>
              <a:t>Catalogue row  </a:t>
            </a:r>
            <a:pPr indent="0" marL="0">
              <a:buNone/>
            </a:pPr>
            <a:r>
              <a:rPr lang="en-US" sz="900" dirty="0">
                <a:solidFill>
                  <a:srgbClr val="43566B"/>
                </a:solidFill>
                <a:latin typeface="Calibri" pitchFamily="34" charset="0"/>
                <a:ea typeface="Calibri" pitchFamily="34" charset="-122"/>
                <a:cs typeface="Calibri" pitchFamily="34" charset="-120"/>
              </a:rPr>
              <a:t>a supplied reference or vendor value, same shape as any catalogue data point</a:t>
            </a:r>
            <a:endParaRPr lang="en-US" sz="900" dirty="0"/>
          </a:p>
        </p:txBody>
      </p:sp>
      <p:sp>
        <p:nvSpPr>
          <p:cNvPr id="41" name="Shape 32"/>
          <p:cNvSpPr/>
          <p:nvPr/>
        </p:nvSpPr>
        <p:spPr>
          <a:xfrm>
            <a:off x="1024128" y="4407408"/>
            <a:ext cx="0" cy="100584"/>
          </a:xfrm>
          <a:prstGeom prst="line">
            <a:avLst/>
          </a:prstGeom>
          <a:noFill/>
          <a:ln w="13970">
            <a:solidFill>
              <a:srgbClr val="64798F"/>
            </a:solidFill>
            <a:prstDash val="solid"/>
            <a:headEnd type="none"/>
            <a:tailEnd type="triangle"/>
          </a:ln>
        </p:spPr>
      </p:sp>
      <p:sp>
        <p:nvSpPr>
          <p:cNvPr id="42" name="Shape 33"/>
          <p:cNvSpPr/>
          <p:nvPr/>
        </p:nvSpPr>
        <p:spPr>
          <a:xfrm>
            <a:off x="832104" y="4526280"/>
            <a:ext cx="384048" cy="384048"/>
          </a:xfrm>
          <a:prstGeom prst="ellipse">
            <a:avLst/>
          </a:prstGeom>
          <a:solidFill>
            <a:srgbClr val="FBE2E8"/>
          </a:solidFill>
          <a:ln w="15875">
            <a:solidFill>
              <a:srgbClr val="CE3D64"/>
            </a:solidFill>
            <a:prstDash val="solid"/>
          </a:ln>
        </p:spPr>
      </p:sp>
      <p:sp>
        <p:nvSpPr>
          <p:cNvPr id="43" name="Text 34"/>
          <p:cNvSpPr txBox="1"/>
          <p:nvPr/>
        </p:nvSpPr>
        <p:spPr>
          <a:xfrm>
            <a:off x="923544" y="4526280"/>
            <a:ext cx="201168" cy="384048"/>
          </a:xfrm>
          <a:prstGeom prst="rect">
            <a:avLst/>
          </a:prstGeom>
          <a:noFill/>
          <a:ln/>
        </p:spPr>
        <p:txBody>
          <a:bodyPr wrap="square" lIns="0" tIns="0" rIns="0" bIns="0" rtlCol="0" anchor="ctr"/>
          <a:lstStyle/>
          <a:p>
            <a:pPr algn="ctr" indent="0" marL="0">
              <a:lnSpc>
                <a:spcPct val="104000"/>
              </a:lnSpc>
              <a:buNone/>
            </a:pPr>
            <a:r>
              <a:rPr lang="en-US" sz="1000" b="1" dirty="0">
                <a:solidFill>
                  <a:srgbClr val="68182F"/>
                </a:solidFill>
                <a:latin typeface="Calibri" pitchFamily="34" charset="0"/>
                <a:ea typeface="Calibri" pitchFamily="34" charset="-122"/>
                <a:cs typeface="Calibri" pitchFamily="34" charset="-120"/>
              </a:rPr>
              <a:t>4</a:t>
            </a:r>
            <a:endParaRPr lang="en-US" sz="1000" dirty="0"/>
          </a:p>
        </p:txBody>
      </p:sp>
      <p:sp>
        <p:nvSpPr>
          <p:cNvPr id="44" name="Text 35"/>
          <p:cNvSpPr txBox="1"/>
          <p:nvPr/>
        </p:nvSpPr>
        <p:spPr>
          <a:xfrm>
            <a:off x="1325880" y="4526280"/>
            <a:ext cx="4983480" cy="384048"/>
          </a:xfrm>
          <a:prstGeom prst="rect">
            <a:avLst/>
          </a:prstGeom>
          <a:noFill/>
          <a:ln/>
        </p:spPr>
        <p:txBody>
          <a:bodyPr wrap="square" lIns="0" tIns="0" rIns="0" bIns="0" rtlCol="0" anchor="ctr"/>
          <a:lstStyle/>
          <a:p>
            <a:pPr indent="0" marL="0">
              <a:buNone/>
            </a:pPr>
            <a:r>
              <a:rPr lang="en-US" sz="900" b="1" dirty="0">
                <a:solidFill>
                  <a:srgbClr val="68182F"/>
                </a:solidFill>
                <a:latin typeface="Calibri" pitchFamily="34" charset="0"/>
                <a:ea typeface="Calibri" pitchFamily="34" charset="-122"/>
                <a:cs typeface="Calibri" pitchFamily="34" charset="-120"/>
              </a:rPr>
              <a:t>Missing  </a:t>
            </a:r>
            <a:pPr indent="0" marL="0">
              <a:buNone/>
            </a:pPr>
            <a:r>
              <a:rPr lang="en-US" sz="900" dirty="0">
                <a:solidFill>
                  <a:srgbClr val="43566B"/>
                </a:solidFill>
                <a:latin typeface="Calibri" pitchFamily="34" charset="0"/>
                <a:ea typeface="Calibri" pitchFamily="34" charset="-122"/>
                <a:cs typeface="Calibri" pitchFamily="34" charset="-120"/>
              </a:rPr>
              <a:t>reported as missing and counted against coverage — never imputed, never zero</a:t>
            </a:r>
            <a:endParaRPr lang="en-US" sz="900" dirty="0"/>
          </a:p>
        </p:txBody>
      </p:sp>
      <p:sp>
        <p:nvSpPr>
          <p:cNvPr id="45" name="Shape 36"/>
          <p:cNvSpPr/>
          <p:nvPr/>
        </p:nvSpPr>
        <p:spPr>
          <a:xfrm>
            <a:off x="6720840" y="2615184"/>
            <a:ext cx="4873752" cy="2487168"/>
          </a:xfrm>
          <a:prstGeom prst="roundRect">
            <a:avLst>
              <a:gd name="adj" fmla="val 1471"/>
            </a:avLst>
          </a:prstGeom>
          <a:solidFill>
            <a:srgbClr val="F4F7FA"/>
          </a:solidFill>
          <a:ln w="15875">
            <a:solidFill>
              <a:srgbClr val="9FB2C4"/>
            </a:solidFill>
            <a:prstDash val="dash"/>
          </a:ln>
        </p:spPr>
      </p:sp>
      <p:sp>
        <p:nvSpPr>
          <p:cNvPr id="46" name="Shape 37"/>
          <p:cNvSpPr/>
          <p:nvPr/>
        </p:nvSpPr>
        <p:spPr>
          <a:xfrm>
            <a:off x="6867144" y="2496312"/>
            <a:ext cx="3284525" cy="274320"/>
          </a:xfrm>
          <a:prstGeom prst="roundRect">
            <a:avLst>
              <a:gd name="adj" fmla="val 50000"/>
            </a:avLst>
          </a:prstGeom>
          <a:solidFill>
            <a:srgbClr val="64798F"/>
          </a:solidFill>
          <a:ln/>
        </p:spPr>
      </p:sp>
      <p:pic>
        <p:nvPicPr>
          <p:cNvPr id="47" name="Image 7" descr="preencoded.png">    </p:cNvPr>
          <p:cNvPicPr>
            <a:picLocks noChangeAspect="1"/>
          </p:cNvPicPr>
          <p:nvPr/>
        </p:nvPicPr>
        <p:blipFill>
          <a:blip r:embed="rId8"/>
          <a:stretch>
            <a:fillRect/>
          </a:stretch>
        </p:blipFill>
        <p:spPr>
          <a:xfrm>
            <a:off x="6986016" y="2564892"/>
            <a:ext cx="132588" cy="132588"/>
          </a:xfrm>
          <a:prstGeom prst="rect">
            <a:avLst/>
          </a:prstGeom>
        </p:spPr>
      </p:pic>
      <p:sp>
        <p:nvSpPr>
          <p:cNvPr id="48" name="Text 38"/>
          <p:cNvSpPr txBox="1"/>
          <p:nvPr/>
        </p:nvSpPr>
        <p:spPr>
          <a:xfrm>
            <a:off x="7141464" y="2496312"/>
            <a:ext cx="3010205" cy="274320"/>
          </a:xfrm>
          <a:prstGeom prst="rect">
            <a:avLst/>
          </a:prstGeom>
          <a:noFill/>
          <a:ln/>
        </p:spPr>
        <p:txBody>
          <a:bodyPr wrap="square" lIns="0" tIns="0" rIns="0" bIns="0" rtlCol="0" anchor="ctr"/>
          <a:lstStyle/>
          <a:p>
            <a:pPr algn="ctr" indent="0" marL="0">
              <a:buNone/>
            </a:pPr>
            <a:r>
              <a:rPr lang="en-US" sz="850" b="1" spc="110" kern="0" dirty="0">
                <a:solidFill>
                  <a:srgbClr val="FFFFFF"/>
                </a:solidFill>
                <a:latin typeface="Calibri" pitchFamily="34" charset="0"/>
                <a:ea typeface="Calibri" pitchFamily="34" charset="-122"/>
                <a:cs typeface="Calibri" pitchFamily="34" charset="-120"/>
              </a:rPr>
              <a:t>CLIMATE VALIDATION, AS A BACKGROUND BATCH</a:t>
            </a:r>
            <a:endParaRPr lang="en-US" sz="850" dirty="0"/>
          </a:p>
        </p:txBody>
      </p:sp>
      <p:sp>
        <p:nvSpPr>
          <p:cNvPr id="49" name="Shape 39"/>
          <p:cNvSpPr/>
          <p:nvPr/>
        </p:nvSpPr>
        <p:spPr>
          <a:xfrm>
            <a:off x="6949440" y="3017520"/>
            <a:ext cx="2011680" cy="658368"/>
          </a:xfrm>
          <a:prstGeom prst="roundRect">
            <a:avLst>
              <a:gd name="adj" fmla="val 13889"/>
            </a:avLst>
          </a:prstGeom>
          <a:solidFill>
            <a:srgbClr val="DCF2F4"/>
          </a:solidFill>
          <a:ln w="15875">
            <a:solidFill>
              <a:srgbClr val="108494"/>
            </a:solidFill>
            <a:prstDash val="solid"/>
          </a:ln>
          <a:effectLst>
            <a:outerShdw sx="100000" sy="100000" kx="0" ky="0" algn="bl" rotWithShape="0" blurRad="101600" dist="19050" dir="5400000">
              <a:srgbClr val="9FB0C2">
                <a:alpha val="24000"/>
              </a:srgbClr>
            </a:outerShdw>
          </a:effectLst>
        </p:spPr>
      </p:sp>
      <p:pic>
        <p:nvPicPr>
          <p:cNvPr id="50" name="Image 8" descr="preencoded.png">    </p:cNvPr>
          <p:cNvPicPr>
            <a:picLocks noChangeAspect="1"/>
          </p:cNvPicPr>
          <p:nvPr/>
        </p:nvPicPr>
        <p:blipFill>
          <a:blip r:embed="rId9"/>
          <a:stretch>
            <a:fillRect/>
          </a:stretch>
        </p:blipFill>
        <p:spPr>
          <a:xfrm>
            <a:off x="7068312" y="3118104"/>
            <a:ext cx="182880" cy="182880"/>
          </a:xfrm>
          <a:prstGeom prst="rect">
            <a:avLst/>
          </a:prstGeom>
        </p:spPr>
      </p:pic>
      <p:sp>
        <p:nvSpPr>
          <p:cNvPr id="51" name="Text 40"/>
          <p:cNvSpPr txBox="1"/>
          <p:nvPr/>
        </p:nvSpPr>
        <p:spPr>
          <a:xfrm>
            <a:off x="7040880" y="3017520"/>
            <a:ext cx="1828800" cy="658368"/>
          </a:xfrm>
          <a:prstGeom prst="rect">
            <a:avLst/>
          </a:prstGeom>
          <a:noFill/>
          <a:ln/>
        </p:spPr>
        <p:txBody>
          <a:bodyPr wrap="square" lIns="0" tIns="0" rIns="0" bIns="0" rtlCol="0" anchor="ctr"/>
          <a:lstStyle/>
          <a:p>
            <a:pPr algn="ctr" indent="0" marL="0">
              <a:lnSpc>
                <a:spcPct val="104000"/>
              </a:lnSpc>
              <a:buNone/>
            </a:pPr>
            <a:r>
              <a:rPr lang="en-US" sz="1000" b="1" dirty="0">
                <a:solidFill>
                  <a:srgbClr val="0A4451"/>
                </a:solidFill>
                <a:latin typeface="Calibri" pitchFamily="34" charset="0"/>
                <a:ea typeface="Calibri" pitchFamily="34" charset="-122"/>
                <a:cs typeface="Calibri" pitchFamily="34" charset="-120"/>
              </a:rPr>
              <a:t>Internal ESG API</a:t>
            </a:r>
            <a:endParaRPr lang="en-US" sz="1000" dirty="0"/>
          </a:p>
          <a:p>
            <a:pPr algn="ctr" indent="0" marL="0">
              <a:lnSpc>
                <a:spcPct val="104000"/>
              </a:lnSpc>
              <a:buNone/>
            </a:pPr>
            <a:r>
              <a:rPr lang="en-US" sz="780" dirty="0">
                <a:solidFill>
                  <a:srgbClr val="0A4451"/>
                </a:solidFill>
                <a:latin typeface="Calibri" pitchFamily="34" charset="0"/>
                <a:ea typeface="Calibri" pitchFamily="34" charset="-122"/>
                <a:cs typeface="Calibri" pitchFamily="34" charset="-120"/>
              </a:rPr>
              <a:t>operational source of truth</a:t>
            </a:r>
            <a:endParaRPr lang="en-US" sz="1000" dirty="0"/>
          </a:p>
        </p:txBody>
      </p:sp>
      <p:sp>
        <p:nvSpPr>
          <p:cNvPr id="52" name="Shape 41"/>
          <p:cNvSpPr/>
          <p:nvPr/>
        </p:nvSpPr>
        <p:spPr>
          <a:xfrm>
            <a:off x="9326880" y="3017520"/>
            <a:ext cx="2039112" cy="658368"/>
          </a:xfrm>
          <a:prstGeom prst="roundRect">
            <a:avLst>
              <a:gd name="adj" fmla="val 13889"/>
            </a:avLst>
          </a:prstGeom>
          <a:solidFill>
            <a:srgbClr val="EBE5FC"/>
          </a:solidFill>
          <a:ln w="15875">
            <a:solidFill>
              <a:srgbClr val="6D4DD1"/>
            </a:solidFill>
            <a:prstDash val="solid"/>
          </a:ln>
          <a:effectLst>
            <a:outerShdw sx="100000" sy="100000" kx="0" ky="0" algn="bl" rotWithShape="0" blurRad="101600" dist="19050" dir="5400000">
              <a:srgbClr val="9FB0C2">
                <a:alpha val="24000"/>
              </a:srgbClr>
            </a:outerShdw>
          </a:effectLst>
        </p:spPr>
      </p:sp>
      <p:pic>
        <p:nvPicPr>
          <p:cNvPr id="53" name="Image 9" descr="preencoded.png">    </p:cNvPr>
          <p:cNvPicPr>
            <a:picLocks noChangeAspect="1"/>
          </p:cNvPicPr>
          <p:nvPr/>
        </p:nvPicPr>
        <p:blipFill>
          <a:blip r:embed="rId10"/>
          <a:stretch>
            <a:fillRect/>
          </a:stretch>
        </p:blipFill>
        <p:spPr>
          <a:xfrm>
            <a:off x="9445752" y="3118104"/>
            <a:ext cx="182880" cy="182880"/>
          </a:xfrm>
          <a:prstGeom prst="rect">
            <a:avLst/>
          </a:prstGeom>
        </p:spPr>
      </p:pic>
      <p:sp>
        <p:nvSpPr>
          <p:cNvPr id="54" name="Text 42"/>
          <p:cNvSpPr txBox="1"/>
          <p:nvPr/>
        </p:nvSpPr>
        <p:spPr>
          <a:xfrm>
            <a:off x="9418320" y="3017520"/>
            <a:ext cx="1856232" cy="658368"/>
          </a:xfrm>
          <a:prstGeom prst="rect">
            <a:avLst/>
          </a:prstGeom>
          <a:noFill/>
          <a:ln/>
        </p:spPr>
        <p:txBody>
          <a:bodyPr wrap="square" lIns="0" tIns="0" rIns="0" bIns="0" rtlCol="0" anchor="ctr"/>
          <a:lstStyle/>
          <a:p>
            <a:pPr algn="ctr" indent="0" marL="0">
              <a:lnSpc>
                <a:spcPct val="104000"/>
              </a:lnSpc>
              <a:buNone/>
            </a:pPr>
            <a:r>
              <a:rPr lang="en-US" sz="1000" b="1" dirty="0">
                <a:solidFill>
                  <a:srgbClr val="35236E"/>
                </a:solidFill>
                <a:latin typeface="Calibri" pitchFamily="34" charset="0"/>
                <a:ea typeface="Calibri" pitchFamily="34" charset="-122"/>
                <a:cs typeface="Calibri" pitchFamily="34" charset="-120"/>
              </a:rPr>
              <a:t>Independent extraction</a:t>
            </a:r>
            <a:endParaRPr lang="en-US" sz="1000" dirty="0"/>
          </a:p>
          <a:p>
            <a:pPr algn="ctr" indent="0" marL="0">
              <a:lnSpc>
                <a:spcPct val="104000"/>
              </a:lnSpc>
              <a:buNone/>
            </a:pPr>
            <a:r>
              <a:rPr lang="en-US" sz="780" dirty="0">
                <a:solidFill>
                  <a:srgbClr val="35236E"/>
                </a:solidFill>
                <a:latin typeface="Calibri" pitchFamily="34" charset="0"/>
                <a:ea typeface="Calibri" pitchFamily="34" charset="-122"/>
                <a:cs typeface="Calibri" pitchFamily="34" charset="-120"/>
              </a:rPr>
              <a:t>the company's own report, re-read</a:t>
            </a:r>
            <a:endParaRPr lang="en-US" sz="1000" dirty="0"/>
          </a:p>
        </p:txBody>
      </p:sp>
      <p:sp>
        <p:nvSpPr>
          <p:cNvPr id="55" name="Shape 43"/>
          <p:cNvSpPr/>
          <p:nvPr/>
        </p:nvSpPr>
        <p:spPr>
          <a:xfrm>
            <a:off x="8001000" y="3950208"/>
            <a:ext cx="1737360" cy="566928"/>
          </a:xfrm>
          <a:prstGeom prst="diamond">
            <a:avLst/>
          </a:prstGeom>
          <a:solidFill>
            <a:srgbClr val="FCEDD4"/>
          </a:solidFill>
          <a:ln w="15875">
            <a:solidFill>
              <a:srgbClr val="C9871B"/>
            </a:solidFill>
            <a:prstDash val="solid"/>
          </a:ln>
        </p:spPr>
      </p:sp>
      <p:sp>
        <p:nvSpPr>
          <p:cNvPr id="56" name="Text 44"/>
          <p:cNvSpPr txBox="1"/>
          <p:nvPr/>
        </p:nvSpPr>
        <p:spPr>
          <a:xfrm>
            <a:off x="8092440" y="3950208"/>
            <a:ext cx="1554480" cy="566928"/>
          </a:xfrm>
          <a:prstGeom prst="rect">
            <a:avLst/>
          </a:prstGeom>
          <a:noFill/>
          <a:ln/>
        </p:spPr>
        <p:txBody>
          <a:bodyPr wrap="square" lIns="0" tIns="0" rIns="0" bIns="0" rtlCol="0" anchor="ctr"/>
          <a:lstStyle/>
          <a:p>
            <a:pPr algn="ctr" indent="0" marL="0">
              <a:lnSpc>
                <a:spcPct val="104000"/>
              </a:lnSpc>
              <a:buNone/>
            </a:pPr>
            <a:r>
              <a:rPr lang="en-US" sz="950" b="1" dirty="0">
                <a:solidFill>
                  <a:srgbClr val="64430A"/>
                </a:solidFill>
                <a:latin typeface="Calibri" pitchFamily="34" charset="0"/>
                <a:ea typeface="Calibri" pitchFamily="34" charset="-122"/>
                <a:cs typeface="Calibri" pitchFamily="34" charset="-120"/>
              </a:rPr>
              <a:t>agree?</a:t>
            </a:r>
            <a:endParaRPr lang="en-US" sz="950" dirty="0"/>
          </a:p>
        </p:txBody>
      </p:sp>
      <p:sp>
        <p:nvSpPr>
          <p:cNvPr id="57" name="Shape 45"/>
          <p:cNvSpPr/>
          <p:nvPr/>
        </p:nvSpPr>
        <p:spPr>
          <a:xfrm>
            <a:off x="7955280" y="3694176"/>
            <a:ext cx="594360" cy="237744"/>
          </a:xfrm>
          <a:prstGeom prst="line">
            <a:avLst/>
          </a:prstGeom>
          <a:noFill/>
          <a:ln w="16510">
            <a:solidFill>
              <a:srgbClr val="108494"/>
            </a:solidFill>
            <a:prstDash val="solid"/>
            <a:headEnd type="none"/>
            <a:tailEnd type="triangle"/>
          </a:ln>
        </p:spPr>
      </p:sp>
      <p:sp>
        <p:nvSpPr>
          <p:cNvPr id="58" name="Shape 46"/>
          <p:cNvSpPr/>
          <p:nvPr/>
        </p:nvSpPr>
        <p:spPr>
          <a:xfrm flipH="1">
            <a:off x="9235440" y="3694176"/>
            <a:ext cx="1097280" cy="237744"/>
          </a:xfrm>
          <a:prstGeom prst="line">
            <a:avLst/>
          </a:prstGeom>
          <a:noFill/>
          <a:ln w="16510">
            <a:solidFill>
              <a:srgbClr val="6D4DD1"/>
            </a:solidFill>
            <a:prstDash val="solid"/>
            <a:headEnd type="none"/>
            <a:tailEnd type="triangle"/>
          </a:ln>
        </p:spPr>
      </p:sp>
      <p:sp>
        <p:nvSpPr>
          <p:cNvPr id="59" name="Shape 47"/>
          <p:cNvSpPr/>
          <p:nvPr/>
        </p:nvSpPr>
        <p:spPr>
          <a:xfrm>
            <a:off x="6949440" y="4617720"/>
            <a:ext cx="2011680" cy="365760"/>
          </a:xfrm>
          <a:prstGeom prst="roundRect">
            <a:avLst>
              <a:gd name="adj" fmla="val 25000"/>
            </a:avLst>
          </a:prstGeom>
          <a:solidFill>
            <a:srgbClr val="E0F3E3"/>
          </a:solidFill>
          <a:ln w="15875">
            <a:solidFill>
              <a:srgbClr val="2F8F48"/>
            </a:solidFill>
            <a:prstDash val="solid"/>
          </a:ln>
        </p:spPr>
      </p:sp>
      <p:sp>
        <p:nvSpPr>
          <p:cNvPr id="60" name="Text 48"/>
          <p:cNvSpPr txBox="1"/>
          <p:nvPr/>
        </p:nvSpPr>
        <p:spPr>
          <a:xfrm>
            <a:off x="7040880" y="4617720"/>
            <a:ext cx="1828800" cy="365760"/>
          </a:xfrm>
          <a:prstGeom prst="rect">
            <a:avLst/>
          </a:prstGeom>
          <a:noFill/>
          <a:ln/>
        </p:spPr>
        <p:txBody>
          <a:bodyPr wrap="square" lIns="0" tIns="0" rIns="0" bIns="0" rtlCol="0" anchor="ctr"/>
          <a:lstStyle/>
          <a:p>
            <a:pPr algn="ctr" indent="0" marL="0">
              <a:lnSpc>
                <a:spcPct val="104000"/>
              </a:lnSpc>
              <a:buNone/>
            </a:pPr>
            <a:r>
              <a:rPr lang="en-US" sz="880" b="1" dirty="0">
                <a:solidFill>
                  <a:srgbClr val="17431F"/>
                </a:solidFill>
                <a:latin typeface="Calibri" pitchFamily="34" charset="0"/>
                <a:ea typeface="Calibri" pitchFamily="34" charset="-122"/>
                <a:cs typeface="Calibri" pitchFamily="34" charset="-120"/>
              </a:rPr>
              <a:t>used, high confidence</a:t>
            </a:r>
            <a:endParaRPr lang="en-US" sz="880" dirty="0"/>
          </a:p>
        </p:txBody>
      </p:sp>
      <p:sp>
        <p:nvSpPr>
          <p:cNvPr id="61" name="Shape 49"/>
          <p:cNvSpPr/>
          <p:nvPr/>
        </p:nvSpPr>
        <p:spPr>
          <a:xfrm>
            <a:off x="9326880" y="4617720"/>
            <a:ext cx="2039112" cy="365760"/>
          </a:xfrm>
          <a:prstGeom prst="roundRect">
            <a:avLst>
              <a:gd name="adj" fmla="val 25000"/>
            </a:avLst>
          </a:prstGeom>
          <a:solidFill>
            <a:srgbClr val="FBE2E8"/>
          </a:solidFill>
          <a:ln w="15875">
            <a:solidFill>
              <a:srgbClr val="CE3D64"/>
            </a:solidFill>
            <a:prstDash val="solid"/>
          </a:ln>
        </p:spPr>
      </p:sp>
      <p:sp>
        <p:nvSpPr>
          <p:cNvPr id="62" name="Text 50"/>
          <p:cNvSpPr txBox="1"/>
          <p:nvPr/>
        </p:nvSpPr>
        <p:spPr>
          <a:xfrm>
            <a:off x="9418320" y="4617720"/>
            <a:ext cx="1856232" cy="365760"/>
          </a:xfrm>
          <a:prstGeom prst="rect">
            <a:avLst/>
          </a:prstGeom>
          <a:noFill/>
          <a:ln/>
        </p:spPr>
        <p:txBody>
          <a:bodyPr wrap="square" lIns="0" tIns="0" rIns="0" bIns="0" rtlCol="0" anchor="ctr"/>
          <a:lstStyle/>
          <a:p>
            <a:pPr algn="ctr" indent="0" marL="0">
              <a:lnSpc>
                <a:spcPct val="104000"/>
              </a:lnSpc>
              <a:buNone/>
            </a:pPr>
            <a:r>
              <a:rPr lang="en-US" sz="880" b="1" dirty="0">
                <a:solidFill>
                  <a:srgbClr val="68182F"/>
                </a:solidFill>
                <a:latin typeface="Calibri" pitchFamily="34" charset="0"/>
                <a:ea typeface="Calibri" pitchFamily="34" charset="-122"/>
                <a:cs typeface="Calibri" pitchFamily="34" charset="-120"/>
              </a:rPr>
              <a:t>flagged + queued for review</a:t>
            </a:r>
            <a:endParaRPr lang="en-US" sz="880" dirty="0"/>
          </a:p>
        </p:txBody>
      </p:sp>
      <p:sp>
        <p:nvSpPr>
          <p:cNvPr id="63" name="Shape 51"/>
          <p:cNvSpPr/>
          <p:nvPr/>
        </p:nvSpPr>
        <p:spPr>
          <a:xfrm flipH="1">
            <a:off x="8138160" y="4480560"/>
            <a:ext cx="457200" cy="109728"/>
          </a:xfrm>
          <a:prstGeom prst="line">
            <a:avLst/>
          </a:prstGeom>
          <a:noFill/>
          <a:ln w="15240">
            <a:solidFill>
              <a:srgbClr val="2F8F48"/>
            </a:solidFill>
            <a:prstDash val="solid"/>
            <a:headEnd type="none"/>
            <a:tailEnd type="triangle"/>
          </a:ln>
        </p:spPr>
      </p:sp>
      <p:sp>
        <p:nvSpPr>
          <p:cNvPr id="64" name="Shape 52"/>
          <p:cNvSpPr/>
          <p:nvPr/>
        </p:nvSpPr>
        <p:spPr>
          <a:xfrm>
            <a:off x="9144000" y="4480560"/>
            <a:ext cx="914400" cy="109728"/>
          </a:xfrm>
          <a:prstGeom prst="line">
            <a:avLst/>
          </a:prstGeom>
          <a:noFill/>
          <a:ln w="15240">
            <a:solidFill>
              <a:srgbClr val="CE3D64"/>
            </a:solidFill>
            <a:prstDash val="solid"/>
            <a:headEnd type="none"/>
            <a:tailEnd type="triangle"/>
          </a:ln>
        </p:spPr>
      </p:sp>
      <p:sp>
        <p:nvSpPr>
          <p:cNvPr id="65" name="Shape 53"/>
          <p:cNvSpPr/>
          <p:nvPr/>
        </p:nvSpPr>
        <p:spPr>
          <a:xfrm>
            <a:off x="594360" y="5321808"/>
            <a:ext cx="3532632" cy="941832"/>
          </a:xfrm>
          <a:prstGeom prst="roundRect">
            <a:avLst>
              <a:gd name="adj" fmla="val 3883"/>
            </a:avLst>
          </a:prstGeom>
          <a:solidFill>
            <a:srgbClr val="F4F7FA"/>
          </a:solidFill>
          <a:ln w="15875">
            <a:solidFill>
              <a:srgbClr val="DDE5ED"/>
            </a:solidFill>
            <a:prstDash val="solid"/>
          </a:ln>
        </p:spPr>
      </p:sp>
      <p:sp>
        <p:nvSpPr>
          <p:cNvPr id="66" name="Text 54"/>
          <p:cNvSpPr txBox="1"/>
          <p:nvPr/>
        </p:nvSpPr>
        <p:spPr>
          <a:xfrm>
            <a:off x="758952" y="5422392"/>
            <a:ext cx="3203448" cy="201168"/>
          </a:xfrm>
          <a:prstGeom prst="rect">
            <a:avLst/>
          </a:prstGeom>
          <a:noFill/>
          <a:ln/>
        </p:spPr>
        <p:txBody>
          <a:bodyPr wrap="square" lIns="0" tIns="0" rIns="0" bIns="0" rtlCol="0" anchor="ctr"/>
          <a:lstStyle/>
          <a:p>
            <a:pPr indent="0" marL="0">
              <a:buNone/>
            </a:pPr>
            <a:r>
              <a:rPr lang="en-US" sz="850" b="1" spc="140" kern="0" dirty="0">
                <a:solidFill>
                  <a:srgbClr val="6D4DD1"/>
                </a:solidFill>
                <a:latin typeface="Calibri" pitchFamily="34" charset="0"/>
                <a:ea typeface="Calibri" pitchFamily="34" charset="-122"/>
                <a:cs typeface="Calibri" pitchFamily="34" charset="-120"/>
              </a:rPr>
              <a:t>MODULES</a:t>
            </a:r>
            <a:endParaRPr lang="en-US" sz="850" dirty="0"/>
          </a:p>
        </p:txBody>
      </p:sp>
      <p:sp>
        <p:nvSpPr>
          <p:cNvPr id="67" name="Text 55"/>
          <p:cNvSpPr txBox="1"/>
          <p:nvPr/>
        </p:nvSpPr>
        <p:spPr>
          <a:xfrm>
            <a:off x="758952" y="5641848"/>
            <a:ext cx="3203448" cy="548640"/>
          </a:xfrm>
          <a:prstGeom prst="rect">
            <a:avLst/>
          </a:prstGeom>
          <a:noFill/>
          <a:ln/>
        </p:spPr>
        <p:txBody>
          <a:bodyPr wrap="square" lIns="0" tIns="0" rIns="0" bIns="0" rtlCol="0" anchor="ctr"/>
          <a:lstStyle/>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arp/portfolio/{aggregation,analytics,qa_agent}.py</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arp/portfolio/{datapoint_mapping,entity_resolution}.py</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arp/portfolio/climate/* · arp/portfolio/news/*</a:t>
            </a:r>
            <a:endParaRPr lang="en-US" sz="860" dirty="0"/>
          </a:p>
        </p:txBody>
      </p:sp>
      <p:sp>
        <p:nvSpPr>
          <p:cNvPr id="68" name="Shape 56"/>
          <p:cNvSpPr/>
          <p:nvPr/>
        </p:nvSpPr>
        <p:spPr>
          <a:xfrm>
            <a:off x="4328160" y="5321808"/>
            <a:ext cx="3532632" cy="941832"/>
          </a:xfrm>
          <a:prstGeom prst="roundRect">
            <a:avLst>
              <a:gd name="adj" fmla="val 3883"/>
            </a:avLst>
          </a:prstGeom>
          <a:solidFill>
            <a:srgbClr val="F4F7FA"/>
          </a:solidFill>
          <a:ln w="15875">
            <a:solidFill>
              <a:srgbClr val="DDE5ED"/>
            </a:solidFill>
            <a:prstDash val="solid"/>
          </a:ln>
        </p:spPr>
      </p:sp>
      <p:sp>
        <p:nvSpPr>
          <p:cNvPr id="69" name="Text 57"/>
          <p:cNvSpPr txBox="1"/>
          <p:nvPr/>
        </p:nvSpPr>
        <p:spPr>
          <a:xfrm>
            <a:off x="4492752" y="5422392"/>
            <a:ext cx="3203448" cy="201168"/>
          </a:xfrm>
          <a:prstGeom prst="rect">
            <a:avLst/>
          </a:prstGeom>
          <a:noFill/>
          <a:ln/>
        </p:spPr>
        <p:txBody>
          <a:bodyPr wrap="square" lIns="0" tIns="0" rIns="0" bIns="0" rtlCol="0" anchor="ctr"/>
          <a:lstStyle/>
          <a:p>
            <a:pPr indent="0" marL="0">
              <a:buNone/>
            </a:pPr>
            <a:r>
              <a:rPr lang="en-US" sz="850" b="1" spc="140" kern="0" dirty="0">
                <a:solidFill>
                  <a:srgbClr val="2F6FD0"/>
                </a:solidFill>
                <a:latin typeface="Calibri" pitchFamily="34" charset="0"/>
                <a:ea typeface="Calibri" pitchFamily="34" charset="-122"/>
                <a:cs typeface="Calibri" pitchFamily="34" charset="-120"/>
              </a:rPr>
              <a:t>IN → OUT</a:t>
            </a:r>
            <a:endParaRPr lang="en-US" sz="850" dirty="0"/>
          </a:p>
        </p:txBody>
      </p:sp>
      <p:sp>
        <p:nvSpPr>
          <p:cNvPr id="70" name="Text 58"/>
          <p:cNvSpPr txBox="1"/>
          <p:nvPr/>
        </p:nvSpPr>
        <p:spPr>
          <a:xfrm>
            <a:off x="4492752" y="5641848"/>
            <a:ext cx="3203448" cy="548640"/>
          </a:xfrm>
          <a:prstGeom prst="rect">
            <a:avLst/>
          </a:prstGeom>
          <a:noFill/>
          <a:ln/>
        </p:spPr>
        <p:txBody>
          <a:bodyPr wrap="square" lIns="0" tIns="0" rIns="0" bIns="0" rtlCol="0" anchor="ctr"/>
          <a:lstStyle/>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In: holdings snapshots, registries, climate observations.</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Out: grouped exposures, WACI, financed emissions,</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coverage %, saved analytics.</a:t>
            </a:r>
            <a:endParaRPr lang="en-US" sz="860" dirty="0"/>
          </a:p>
        </p:txBody>
      </p:sp>
      <p:sp>
        <p:nvSpPr>
          <p:cNvPr id="71" name="Shape 59"/>
          <p:cNvSpPr/>
          <p:nvPr/>
        </p:nvSpPr>
        <p:spPr>
          <a:xfrm>
            <a:off x="8061960" y="5321808"/>
            <a:ext cx="3532632" cy="941832"/>
          </a:xfrm>
          <a:prstGeom prst="roundRect">
            <a:avLst>
              <a:gd name="adj" fmla="val 3883"/>
            </a:avLst>
          </a:prstGeom>
          <a:solidFill>
            <a:srgbClr val="F4F7FA"/>
          </a:solidFill>
          <a:ln w="15875">
            <a:solidFill>
              <a:srgbClr val="DDE5ED"/>
            </a:solidFill>
            <a:prstDash val="solid"/>
          </a:ln>
        </p:spPr>
      </p:sp>
      <p:sp>
        <p:nvSpPr>
          <p:cNvPr id="72" name="Text 60"/>
          <p:cNvSpPr txBox="1"/>
          <p:nvPr/>
        </p:nvSpPr>
        <p:spPr>
          <a:xfrm>
            <a:off x="8226552" y="5422392"/>
            <a:ext cx="3203448" cy="201168"/>
          </a:xfrm>
          <a:prstGeom prst="rect">
            <a:avLst/>
          </a:prstGeom>
          <a:noFill/>
          <a:ln/>
        </p:spPr>
        <p:txBody>
          <a:bodyPr wrap="square" lIns="0" tIns="0" rIns="0" bIns="0" rtlCol="0" anchor="ctr"/>
          <a:lstStyle/>
          <a:p>
            <a:pPr indent="0" marL="0">
              <a:buNone/>
            </a:pPr>
            <a:r>
              <a:rPr lang="en-US" sz="850" b="1" spc="140" kern="0" dirty="0">
                <a:solidFill>
                  <a:srgbClr val="C9871B"/>
                </a:solidFill>
                <a:latin typeface="Calibri" pitchFamily="34" charset="0"/>
                <a:ea typeface="Calibri" pitchFamily="34" charset="-122"/>
                <a:cs typeface="Calibri" pitchFamily="34" charset="-120"/>
              </a:rPr>
              <a:t>CONTROLS</a:t>
            </a:r>
            <a:endParaRPr lang="en-US" sz="850" dirty="0"/>
          </a:p>
        </p:txBody>
      </p:sp>
      <p:sp>
        <p:nvSpPr>
          <p:cNvPr id="73" name="Text 61"/>
          <p:cNvSpPr txBox="1"/>
          <p:nvPr/>
        </p:nvSpPr>
        <p:spPr>
          <a:xfrm>
            <a:off x="8226552" y="5641848"/>
            <a:ext cx="3203448" cy="548640"/>
          </a:xfrm>
          <a:prstGeom prst="rect">
            <a:avLst/>
          </a:prstGeom>
          <a:noFill/>
          <a:ln/>
        </p:spPr>
        <p:txBody>
          <a:bodyPr wrap="square" lIns="0" tIns="0" rIns="0" bIns="0" rtlCol="0" anchor="ctr"/>
          <a:lstStyle/>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No LLM inside an aggregate; the spec is always shown.</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Trend mode never looks ahead to a later restatement.</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Proxy emissions stay opt-in and visibly tagged.</a:t>
            </a:r>
            <a:endParaRPr lang="en-US" sz="86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438912"/>
            <a:ext cx="10085832" cy="201168"/>
          </a:xfrm>
          <a:prstGeom prst="rect">
            <a:avLst/>
          </a:prstGeom>
          <a:noFill/>
          <a:ln/>
        </p:spPr>
        <p:txBody>
          <a:bodyPr wrap="square" lIns="0" tIns="0" rIns="0" bIns="0" rtlCol="0" anchor="ctr"/>
          <a:lstStyle/>
          <a:p>
            <a:pPr indent="0" marL="0">
              <a:buNone/>
            </a:pPr>
            <a:r>
              <a:rPr lang="en-US" sz="1050" b="1" spc="200" kern="0" dirty="0">
                <a:solidFill>
                  <a:srgbClr val="108494"/>
                </a:solidFill>
                <a:latin typeface="Calibri" pitchFamily="34" charset="0"/>
                <a:ea typeface="Calibri" pitchFamily="34" charset="-122"/>
                <a:cs typeface="Calibri" pitchFamily="34" charset="-120"/>
              </a:rPr>
              <a:t>04   ·   COMPANY FINANCIALS EXTRACTION</a:t>
            </a:r>
            <a:endParaRPr lang="en-US" sz="1050" dirty="0"/>
          </a:p>
        </p:txBody>
      </p:sp>
      <p:sp>
        <p:nvSpPr>
          <p:cNvPr id="3" name="Text 1"/>
          <p:cNvSpPr txBox="1"/>
          <p:nvPr/>
        </p:nvSpPr>
        <p:spPr>
          <a:xfrm>
            <a:off x="594360" y="640080"/>
            <a:ext cx="10085832" cy="484632"/>
          </a:xfrm>
          <a:prstGeom prst="rect">
            <a:avLst/>
          </a:prstGeom>
          <a:noFill/>
          <a:ln/>
        </p:spPr>
        <p:txBody>
          <a:bodyPr wrap="square" lIns="0" tIns="0" rIns="0" bIns="0" rtlCol="0" anchor="ctr"/>
          <a:lstStyle/>
          <a:p>
            <a:pPr indent="0" marL="0">
              <a:buNone/>
            </a:pPr>
            <a:r>
              <a:rPr lang="en-US" sz="3000" b="1" dirty="0">
                <a:solidFill>
                  <a:srgbClr val="10243A"/>
                </a:solidFill>
                <a:latin typeface="Cambria" pitchFamily="34" charset="0"/>
                <a:ea typeface="Cambria" pitchFamily="34" charset="-122"/>
                <a:cs typeface="Cambria" pitchFamily="34" charset="-120"/>
              </a:rPr>
              <a:t>Segments, CapEx and R&amp;D</a:t>
            </a:r>
            <a:endParaRPr lang="en-US" sz="3000" dirty="0"/>
          </a:p>
        </p:txBody>
      </p:sp>
      <p:sp>
        <p:nvSpPr>
          <p:cNvPr id="4" name="Text 2"/>
          <p:cNvSpPr txBox="1"/>
          <p:nvPr/>
        </p:nvSpPr>
        <p:spPr>
          <a:xfrm>
            <a:off x="594360" y="1143000"/>
            <a:ext cx="9994392" cy="274320"/>
          </a:xfrm>
          <a:prstGeom prst="rect">
            <a:avLst/>
          </a:prstGeom>
          <a:noFill/>
          <a:ln/>
        </p:spPr>
        <p:txBody>
          <a:bodyPr wrap="square" lIns="0" tIns="0" rIns="0" bIns="0" rtlCol="0" anchor="ctr"/>
          <a:lstStyle/>
          <a:p>
            <a:pPr indent="0" marL="0">
              <a:buNone/>
            </a:pPr>
            <a:r>
              <a:rPr lang="en-US" sz="1200" dirty="0">
                <a:solidFill>
                  <a:srgbClr val="58697A"/>
                </a:solidFill>
                <a:latin typeface="Calibri" pitchFamily="34" charset="0"/>
                <a:ea typeface="Calibri" pitchFamily="34" charset="-122"/>
                <a:cs typeface="Calibri" pitchFamily="34" charset="-120"/>
              </a:rPr>
              <a:t>The three things almost always wanted together, pulled in a single combined pass per company.</a:t>
            </a:r>
            <a:endParaRPr lang="en-US" sz="1200" dirty="0"/>
          </a:p>
        </p:txBody>
      </p:sp>
      <p:sp>
        <p:nvSpPr>
          <p:cNvPr id="5" name="Shape 3"/>
          <p:cNvSpPr/>
          <p:nvPr/>
        </p:nvSpPr>
        <p:spPr>
          <a:xfrm>
            <a:off x="10881360" y="475488"/>
            <a:ext cx="713232" cy="713232"/>
          </a:xfrm>
          <a:prstGeom prst="roundRect">
            <a:avLst>
              <a:gd name="adj" fmla="val 20513"/>
            </a:avLst>
          </a:prstGeom>
          <a:solidFill>
            <a:srgbClr val="10243A"/>
          </a:solidFill>
          <a:ln/>
        </p:spPr>
      </p:sp>
      <p:pic>
        <p:nvPicPr>
          <p:cNvPr id="6" name="Image 0" descr="preencoded.png">    </p:cNvPr>
          <p:cNvPicPr>
            <a:picLocks noChangeAspect="1"/>
          </p:cNvPicPr>
          <p:nvPr/>
        </p:nvPicPr>
        <p:blipFill>
          <a:blip r:embed="rId1"/>
          <a:stretch>
            <a:fillRect/>
          </a:stretch>
        </p:blipFill>
        <p:spPr>
          <a:xfrm>
            <a:off x="11038271" y="632399"/>
            <a:ext cx="399410" cy="399410"/>
          </a:xfrm>
          <a:prstGeom prst="rect">
            <a:avLst/>
          </a:prstGeom>
        </p:spPr>
      </p:pic>
      <p:sp>
        <p:nvSpPr>
          <p:cNvPr id="7" name="Text 4"/>
          <p:cNvSpPr txBox="1"/>
          <p:nvPr/>
        </p:nvSpPr>
        <p:spPr>
          <a:xfrm>
            <a:off x="594360" y="1463040"/>
            <a:ext cx="6858000" cy="201168"/>
          </a:xfrm>
          <a:prstGeom prst="rect">
            <a:avLst/>
          </a:prstGeom>
          <a:noFill/>
          <a:ln/>
        </p:spPr>
        <p:txBody>
          <a:bodyPr wrap="square" lIns="0" tIns="0" rIns="0" bIns="0" rtlCol="0" anchor="ctr"/>
          <a:lstStyle/>
          <a:p>
            <a:pPr algn="ctr" indent="0" marL="0">
              <a:buNone/>
            </a:pPr>
            <a:r>
              <a:rPr lang="en-US" sz="900" b="1" spc="140" kern="0" dirty="0">
                <a:solidFill>
                  <a:srgbClr val="108494"/>
                </a:solidFill>
                <a:latin typeface="Calibri" pitchFamily="34" charset="0"/>
                <a:ea typeface="Calibri" pitchFamily="34" charset="-122"/>
                <a:cs typeface="Calibri" pitchFamily="34" charset="-120"/>
              </a:rPr>
              <a:t>ONE COMBINED PASS PER COMPANY</a:t>
            </a:r>
            <a:endParaRPr lang="en-US" sz="900" dirty="0"/>
          </a:p>
        </p:txBody>
      </p:sp>
      <p:sp>
        <p:nvSpPr>
          <p:cNvPr id="8" name="Shape 5"/>
          <p:cNvSpPr/>
          <p:nvPr/>
        </p:nvSpPr>
        <p:spPr>
          <a:xfrm>
            <a:off x="594360" y="2194560"/>
            <a:ext cx="2148840" cy="1051560"/>
          </a:xfrm>
          <a:prstGeom prst="roundRect">
            <a:avLst>
              <a:gd name="adj" fmla="val 8696"/>
            </a:avLst>
          </a:prstGeom>
          <a:solidFill>
            <a:srgbClr val="E3EDFC"/>
          </a:solidFill>
          <a:ln w="15875">
            <a:solidFill>
              <a:srgbClr val="2F6FD0"/>
            </a:solidFill>
            <a:prstDash val="solid"/>
          </a:ln>
          <a:effectLst>
            <a:outerShdw sx="100000" sy="100000" kx="0" ky="0" algn="bl" rotWithShape="0" blurRad="101600" dist="19050" dir="5400000">
              <a:srgbClr val="9FB0C2">
                <a:alpha val="24000"/>
              </a:srgbClr>
            </a:outerShdw>
          </a:effectLst>
        </p:spPr>
      </p:sp>
      <p:pic>
        <p:nvPicPr>
          <p:cNvPr id="9" name="Image 1" descr="preencoded.png">    </p:cNvPr>
          <p:cNvPicPr>
            <a:picLocks noChangeAspect="1"/>
          </p:cNvPicPr>
          <p:nvPr/>
        </p:nvPicPr>
        <p:blipFill>
          <a:blip r:embed="rId2"/>
          <a:stretch>
            <a:fillRect/>
          </a:stretch>
        </p:blipFill>
        <p:spPr>
          <a:xfrm>
            <a:off x="713232" y="2295144"/>
            <a:ext cx="182880" cy="182880"/>
          </a:xfrm>
          <a:prstGeom prst="rect">
            <a:avLst/>
          </a:prstGeom>
        </p:spPr>
      </p:pic>
      <p:sp>
        <p:nvSpPr>
          <p:cNvPr id="10" name="Text 6"/>
          <p:cNvSpPr txBox="1"/>
          <p:nvPr/>
        </p:nvSpPr>
        <p:spPr>
          <a:xfrm>
            <a:off x="685800" y="2194560"/>
            <a:ext cx="1965960" cy="1051560"/>
          </a:xfrm>
          <a:prstGeom prst="rect">
            <a:avLst/>
          </a:prstGeom>
          <a:noFill/>
          <a:ln/>
        </p:spPr>
        <p:txBody>
          <a:bodyPr wrap="square" lIns="0" tIns="0" rIns="0" bIns="0" rtlCol="0" anchor="ctr"/>
          <a:lstStyle/>
          <a:p>
            <a:pPr algn="ctr" indent="0" marL="0">
              <a:lnSpc>
                <a:spcPct val="104000"/>
              </a:lnSpc>
              <a:buNone/>
            </a:pPr>
            <a:r>
              <a:rPr lang="en-US" sz="750" b="1" spc="110" kern="0" dirty="0">
                <a:solidFill>
                  <a:srgbClr val="2F6FD0"/>
                </a:solidFill>
                <a:latin typeface="Calibri" pitchFamily="34" charset="0"/>
                <a:ea typeface="Calibri" pitchFamily="34" charset="-122"/>
                <a:cs typeface="Calibri" pitchFamily="34" charset="-120"/>
              </a:rPr>
              <a:t>ONE FETCH</a:t>
            </a:r>
            <a:endParaRPr lang="en-US" sz="750" dirty="0"/>
          </a:p>
          <a:p>
            <a:pPr algn="ctr" indent="0" marL="0">
              <a:lnSpc>
                <a:spcPct val="104000"/>
              </a:lnSpc>
              <a:buNone/>
            </a:pPr>
            <a:r>
              <a:rPr lang="en-US" sz="1100" b="1" dirty="0">
                <a:solidFill>
                  <a:srgbClr val="153A61"/>
                </a:solidFill>
                <a:latin typeface="Calibri" pitchFamily="34" charset="0"/>
                <a:ea typeface="Calibri" pitchFamily="34" charset="-122"/>
                <a:cs typeface="Calibri" pitchFamily="34" charset="-120"/>
              </a:rPr>
              <a:t>Every document type</a:t>
            </a:r>
            <a:endParaRPr lang="en-US" sz="750" dirty="0"/>
          </a:p>
          <a:p>
            <a:pPr algn="ctr" indent="0" marL="0">
              <a:lnSpc>
                <a:spcPct val="104000"/>
              </a:lnSpc>
              <a:buNone/>
            </a:pPr>
            <a:r>
              <a:rPr lang="en-US" sz="800" dirty="0">
                <a:solidFill>
                  <a:srgbClr val="153A61"/>
                </a:solidFill>
                <a:latin typeface="Calibri" pitchFamily="34" charset="0"/>
                <a:ea typeface="Calibri" pitchFamily="34" charset="-122"/>
                <a:cs typeface="Calibri" pitchFamily="34" charset="-120"/>
              </a:rPr>
              <a:t>annual &amp; sustainability reports, decks, transcripts</a:t>
            </a:r>
            <a:endParaRPr lang="en-US" sz="750" dirty="0"/>
          </a:p>
        </p:txBody>
      </p:sp>
      <p:sp>
        <p:nvSpPr>
          <p:cNvPr id="11" name="Shape 7"/>
          <p:cNvSpPr/>
          <p:nvPr/>
        </p:nvSpPr>
        <p:spPr>
          <a:xfrm>
            <a:off x="3017520" y="2194560"/>
            <a:ext cx="1828800" cy="1051560"/>
          </a:xfrm>
          <a:prstGeom prst="roundRect">
            <a:avLst>
              <a:gd name="adj" fmla="val 8696"/>
            </a:avLst>
          </a:prstGeom>
          <a:solidFill>
            <a:srgbClr val="DCF2F4"/>
          </a:solidFill>
          <a:ln w="15875">
            <a:solidFill>
              <a:srgbClr val="108494"/>
            </a:solidFill>
            <a:prstDash val="solid"/>
          </a:ln>
          <a:effectLst>
            <a:outerShdw sx="100000" sy="100000" kx="0" ky="0" algn="bl" rotWithShape="0" blurRad="101600" dist="19050" dir="5400000">
              <a:srgbClr val="9FB0C2">
                <a:alpha val="24000"/>
              </a:srgbClr>
            </a:outerShdw>
          </a:effectLst>
        </p:spPr>
      </p:sp>
      <p:pic>
        <p:nvPicPr>
          <p:cNvPr id="12" name="Image 2" descr="preencoded.png">    </p:cNvPr>
          <p:cNvPicPr>
            <a:picLocks noChangeAspect="1"/>
          </p:cNvPicPr>
          <p:nvPr/>
        </p:nvPicPr>
        <p:blipFill>
          <a:blip r:embed="rId3"/>
          <a:stretch>
            <a:fillRect/>
          </a:stretch>
        </p:blipFill>
        <p:spPr>
          <a:xfrm>
            <a:off x="3136392" y="2295144"/>
            <a:ext cx="182880" cy="182880"/>
          </a:xfrm>
          <a:prstGeom prst="rect">
            <a:avLst/>
          </a:prstGeom>
        </p:spPr>
      </p:pic>
      <p:sp>
        <p:nvSpPr>
          <p:cNvPr id="13" name="Text 8"/>
          <p:cNvSpPr txBox="1"/>
          <p:nvPr/>
        </p:nvSpPr>
        <p:spPr>
          <a:xfrm>
            <a:off x="3108960" y="2194560"/>
            <a:ext cx="1645920" cy="1051560"/>
          </a:xfrm>
          <a:prstGeom prst="rect">
            <a:avLst/>
          </a:prstGeom>
          <a:noFill/>
          <a:ln/>
        </p:spPr>
        <p:txBody>
          <a:bodyPr wrap="square" lIns="0" tIns="0" rIns="0" bIns="0" rtlCol="0" anchor="ctr"/>
          <a:lstStyle/>
          <a:p>
            <a:pPr algn="ctr" indent="0" marL="0">
              <a:lnSpc>
                <a:spcPct val="104000"/>
              </a:lnSpc>
              <a:buNone/>
            </a:pPr>
            <a:r>
              <a:rPr lang="en-US" sz="750" b="1" spc="110" kern="0" dirty="0">
                <a:solidFill>
                  <a:srgbClr val="108494"/>
                </a:solidFill>
                <a:latin typeface="Calibri" pitchFamily="34" charset="0"/>
                <a:ea typeface="Calibri" pitchFamily="34" charset="-122"/>
                <a:cs typeface="Calibri" pitchFamily="34" charset="-120"/>
              </a:rPr>
              <a:t>ONE STEP</a:t>
            </a:r>
            <a:endParaRPr lang="en-US" sz="750" dirty="0"/>
          </a:p>
          <a:p>
            <a:pPr algn="ctr" indent="0" marL="0">
              <a:lnSpc>
                <a:spcPct val="104000"/>
              </a:lnSpc>
              <a:buNone/>
            </a:pPr>
            <a:r>
              <a:rPr lang="en-US" sz="1100" b="1" dirty="0">
                <a:solidFill>
                  <a:srgbClr val="0A4451"/>
                </a:solidFill>
                <a:latin typeface="Calibri" pitchFamily="34" charset="0"/>
                <a:ea typeface="Calibri" pitchFamily="34" charset="-122"/>
                <a:cs typeface="Calibri" pitchFamily="34" charset="-120"/>
              </a:rPr>
              <a:t>Evidence gathering</a:t>
            </a:r>
            <a:endParaRPr lang="en-US" sz="750" dirty="0"/>
          </a:p>
          <a:p>
            <a:pPr algn="ctr" indent="0" marL="0">
              <a:lnSpc>
                <a:spcPct val="104000"/>
              </a:lnSpc>
              <a:buNone/>
            </a:pPr>
            <a:r>
              <a:rPr lang="en-US" sz="800" dirty="0">
                <a:solidFill>
                  <a:srgbClr val="0A4451"/>
                </a:solidFill>
                <a:latin typeface="Calibri" pitchFamily="34" charset="0"/>
                <a:ea typeface="Calibri" pitchFamily="34" charset="-122"/>
                <a:cs typeface="Calibri" pitchFamily="34" charset="-120"/>
              </a:rPr>
              <a:t>shared by all three sections</a:t>
            </a:r>
            <a:endParaRPr lang="en-US" sz="750" dirty="0"/>
          </a:p>
        </p:txBody>
      </p:sp>
      <p:sp>
        <p:nvSpPr>
          <p:cNvPr id="14" name="Shape 9"/>
          <p:cNvSpPr/>
          <p:nvPr/>
        </p:nvSpPr>
        <p:spPr>
          <a:xfrm>
            <a:off x="2761488" y="2724912"/>
            <a:ext cx="201168" cy="0"/>
          </a:xfrm>
          <a:prstGeom prst="line">
            <a:avLst/>
          </a:prstGeom>
          <a:noFill/>
          <a:ln w="19050">
            <a:solidFill>
              <a:srgbClr val="64798F"/>
            </a:solidFill>
            <a:prstDash val="solid"/>
            <a:headEnd type="none"/>
            <a:tailEnd type="triangle"/>
          </a:ln>
        </p:spPr>
      </p:sp>
      <p:sp>
        <p:nvSpPr>
          <p:cNvPr id="15" name="Shape 10"/>
          <p:cNvSpPr/>
          <p:nvPr/>
        </p:nvSpPr>
        <p:spPr>
          <a:xfrm>
            <a:off x="5074920" y="1828800"/>
            <a:ext cx="2377440" cy="1783080"/>
          </a:xfrm>
          <a:prstGeom prst="roundRect">
            <a:avLst>
              <a:gd name="adj" fmla="val 2051"/>
            </a:avLst>
          </a:prstGeom>
          <a:solidFill>
            <a:srgbClr val="F4F7FA"/>
          </a:solidFill>
          <a:ln w="15875">
            <a:solidFill>
              <a:srgbClr val="9FB2C4"/>
            </a:solidFill>
            <a:prstDash val="dash"/>
          </a:ln>
        </p:spPr>
      </p:sp>
      <p:sp>
        <p:nvSpPr>
          <p:cNvPr id="16" name="Shape 11"/>
          <p:cNvSpPr/>
          <p:nvPr/>
        </p:nvSpPr>
        <p:spPr>
          <a:xfrm>
            <a:off x="5221224" y="1709928"/>
            <a:ext cx="1704442" cy="274320"/>
          </a:xfrm>
          <a:prstGeom prst="roundRect">
            <a:avLst>
              <a:gd name="adj" fmla="val 50000"/>
            </a:avLst>
          </a:prstGeom>
          <a:solidFill>
            <a:srgbClr val="64798F"/>
          </a:solidFill>
          <a:ln/>
        </p:spPr>
      </p:sp>
      <p:pic>
        <p:nvPicPr>
          <p:cNvPr id="17" name="Image 3" descr="preencoded.png">    </p:cNvPr>
          <p:cNvPicPr>
            <a:picLocks noChangeAspect="1"/>
          </p:cNvPicPr>
          <p:nvPr/>
        </p:nvPicPr>
        <p:blipFill>
          <a:blip r:embed="rId4"/>
          <a:stretch>
            <a:fillRect/>
          </a:stretch>
        </p:blipFill>
        <p:spPr>
          <a:xfrm>
            <a:off x="5340096" y="1778508"/>
            <a:ext cx="132588" cy="132588"/>
          </a:xfrm>
          <a:prstGeom prst="rect">
            <a:avLst/>
          </a:prstGeom>
        </p:spPr>
      </p:pic>
      <p:sp>
        <p:nvSpPr>
          <p:cNvPr id="18" name="Text 12"/>
          <p:cNvSpPr txBox="1"/>
          <p:nvPr/>
        </p:nvSpPr>
        <p:spPr>
          <a:xfrm>
            <a:off x="5495544" y="1709928"/>
            <a:ext cx="1430122" cy="274320"/>
          </a:xfrm>
          <a:prstGeom prst="rect">
            <a:avLst/>
          </a:prstGeom>
          <a:noFill/>
          <a:ln/>
        </p:spPr>
        <p:txBody>
          <a:bodyPr wrap="square" lIns="0" tIns="0" rIns="0" bIns="0" rtlCol="0" anchor="ctr"/>
          <a:lstStyle/>
          <a:p>
            <a:pPr algn="ctr" indent="0" marL="0">
              <a:buNone/>
            </a:pPr>
            <a:r>
              <a:rPr lang="en-US" sz="850" b="1" spc="110" kern="0" dirty="0">
                <a:solidFill>
                  <a:srgbClr val="FFFFFF"/>
                </a:solidFill>
                <a:latin typeface="Calibri" pitchFamily="34" charset="0"/>
                <a:ea typeface="Calibri" pitchFamily="34" charset="-122"/>
                <a:cs typeface="Calibri" pitchFamily="34" charset="-120"/>
              </a:rPr>
              <a:t>ONE VERIFIED PASS</a:t>
            </a:r>
            <a:endParaRPr lang="en-US" sz="850" dirty="0"/>
          </a:p>
        </p:txBody>
      </p:sp>
      <p:sp>
        <p:nvSpPr>
          <p:cNvPr id="19" name="Shape 13"/>
          <p:cNvSpPr/>
          <p:nvPr/>
        </p:nvSpPr>
        <p:spPr>
          <a:xfrm>
            <a:off x="5285232" y="2212848"/>
            <a:ext cx="1956816" cy="548640"/>
          </a:xfrm>
          <a:prstGeom prst="roundRect">
            <a:avLst>
              <a:gd name="adj" fmla="val 16667"/>
            </a:avLst>
          </a:prstGeom>
          <a:solidFill>
            <a:srgbClr val="EBE5FC"/>
          </a:solidFill>
          <a:ln w="15875">
            <a:solidFill>
              <a:srgbClr val="6D4DD1"/>
            </a:solidFill>
            <a:prstDash val="solid"/>
          </a:ln>
          <a:effectLst>
            <a:outerShdw sx="100000" sy="100000" kx="0" ky="0" algn="bl" rotWithShape="0" blurRad="101600" dist="19050" dir="5400000">
              <a:srgbClr val="9FB0C2">
                <a:alpha val="24000"/>
              </a:srgbClr>
            </a:outerShdw>
          </a:effectLst>
        </p:spPr>
      </p:sp>
      <p:pic>
        <p:nvPicPr>
          <p:cNvPr id="20" name="Image 4" descr="preencoded.png">    </p:cNvPr>
          <p:cNvPicPr>
            <a:picLocks noChangeAspect="1"/>
          </p:cNvPicPr>
          <p:nvPr/>
        </p:nvPicPr>
        <p:blipFill>
          <a:blip r:embed="rId5"/>
          <a:stretch>
            <a:fillRect/>
          </a:stretch>
        </p:blipFill>
        <p:spPr>
          <a:xfrm>
            <a:off x="5404104" y="2313432"/>
            <a:ext cx="182880" cy="182880"/>
          </a:xfrm>
          <a:prstGeom prst="rect">
            <a:avLst/>
          </a:prstGeom>
        </p:spPr>
      </p:pic>
      <p:sp>
        <p:nvSpPr>
          <p:cNvPr id="21" name="Text 14"/>
          <p:cNvSpPr txBox="1"/>
          <p:nvPr/>
        </p:nvSpPr>
        <p:spPr>
          <a:xfrm>
            <a:off x="5376672" y="2212848"/>
            <a:ext cx="1773936" cy="548640"/>
          </a:xfrm>
          <a:prstGeom prst="rect">
            <a:avLst/>
          </a:prstGeom>
          <a:noFill/>
          <a:ln/>
        </p:spPr>
        <p:txBody>
          <a:bodyPr wrap="square" lIns="0" tIns="0" rIns="0" bIns="0" rtlCol="0" anchor="ctr"/>
          <a:lstStyle/>
          <a:p>
            <a:pPr algn="ctr" indent="0" marL="0">
              <a:lnSpc>
                <a:spcPct val="104000"/>
              </a:lnSpc>
              <a:buNone/>
            </a:pPr>
            <a:r>
              <a:rPr lang="en-US" sz="1050" b="1" dirty="0">
                <a:solidFill>
                  <a:srgbClr val="35236E"/>
                </a:solidFill>
                <a:latin typeface="Calibri" pitchFamily="34" charset="0"/>
                <a:ea typeface="Calibri" pitchFamily="34" charset="-122"/>
                <a:cs typeface="Calibri" pitchFamily="34" charset="-120"/>
              </a:rPr>
              <a:t>Extractor</a:t>
            </a:r>
            <a:endParaRPr lang="en-US" sz="1050" dirty="0"/>
          </a:p>
        </p:txBody>
      </p:sp>
      <p:sp>
        <p:nvSpPr>
          <p:cNvPr id="22" name="Shape 15"/>
          <p:cNvSpPr/>
          <p:nvPr/>
        </p:nvSpPr>
        <p:spPr>
          <a:xfrm>
            <a:off x="5285232" y="2889504"/>
            <a:ext cx="1956816" cy="548640"/>
          </a:xfrm>
          <a:prstGeom prst="roundRect">
            <a:avLst>
              <a:gd name="adj" fmla="val 16667"/>
            </a:avLst>
          </a:prstGeom>
          <a:solidFill>
            <a:srgbClr val="EBE5FC"/>
          </a:solidFill>
          <a:ln w="15875">
            <a:solidFill>
              <a:srgbClr val="6D4DD1"/>
            </a:solidFill>
            <a:prstDash val="solid"/>
          </a:ln>
          <a:effectLst>
            <a:outerShdw sx="100000" sy="100000" kx="0" ky="0" algn="bl" rotWithShape="0" blurRad="101600" dist="19050" dir="5400000">
              <a:srgbClr val="9FB0C2">
                <a:alpha val="24000"/>
              </a:srgbClr>
            </a:outerShdw>
          </a:effectLst>
        </p:spPr>
      </p:sp>
      <p:pic>
        <p:nvPicPr>
          <p:cNvPr id="23" name="Image 5" descr="preencoded.png">    </p:cNvPr>
          <p:cNvPicPr>
            <a:picLocks noChangeAspect="1"/>
          </p:cNvPicPr>
          <p:nvPr/>
        </p:nvPicPr>
        <p:blipFill>
          <a:blip r:embed="rId6"/>
          <a:stretch>
            <a:fillRect/>
          </a:stretch>
        </p:blipFill>
        <p:spPr>
          <a:xfrm>
            <a:off x="5404104" y="2990088"/>
            <a:ext cx="182880" cy="182880"/>
          </a:xfrm>
          <a:prstGeom prst="rect">
            <a:avLst/>
          </a:prstGeom>
        </p:spPr>
      </p:pic>
      <p:sp>
        <p:nvSpPr>
          <p:cNvPr id="24" name="Text 16"/>
          <p:cNvSpPr txBox="1"/>
          <p:nvPr/>
        </p:nvSpPr>
        <p:spPr>
          <a:xfrm>
            <a:off x="5376672" y="2889504"/>
            <a:ext cx="1773936" cy="548640"/>
          </a:xfrm>
          <a:prstGeom prst="rect">
            <a:avLst/>
          </a:prstGeom>
          <a:noFill/>
          <a:ln/>
        </p:spPr>
        <p:txBody>
          <a:bodyPr wrap="square" lIns="0" tIns="0" rIns="0" bIns="0" rtlCol="0" anchor="ctr"/>
          <a:lstStyle/>
          <a:p>
            <a:pPr algn="ctr" indent="0" marL="0">
              <a:lnSpc>
                <a:spcPct val="104000"/>
              </a:lnSpc>
              <a:buNone/>
            </a:pPr>
            <a:r>
              <a:rPr lang="en-US" sz="1050" b="1" dirty="0">
                <a:solidFill>
                  <a:srgbClr val="35236E"/>
                </a:solidFill>
                <a:latin typeface="Calibri" pitchFamily="34" charset="0"/>
                <a:ea typeface="Calibri" pitchFamily="34" charset="-122"/>
                <a:cs typeface="Calibri" pitchFamily="34" charset="-120"/>
              </a:rPr>
              <a:t>Verifier</a:t>
            </a:r>
            <a:endParaRPr lang="en-US" sz="1050" dirty="0"/>
          </a:p>
          <a:p>
            <a:pPr algn="ctr" indent="0" marL="0">
              <a:lnSpc>
                <a:spcPct val="104000"/>
              </a:lnSpc>
              <a:buNone/>
            </a:pPr>
            <a:r>
              <a:rPr lang="en-US" sz="780" dirty="0">
                <a:solidFill>
                  <a:srgbClr val="35236E"/>
                </a:solidFill>
                <a:latin typeface="Calibri" pitchFamily="34" charset="0"/>
                <a:ea typeface="Calibri" pitchFamily="34" charset="-122"/>
                <a:cs typeface="Calibri" pitchFamily="34" charset="-120"/>
              </a:rPr>
              <a:t>different model</a:t>
            </a:r>
            <a:endParaRPr lang="en-US" sz="1050" dirty="0"/>
          </a:p>
        </p:txBody>
      </p:sp>
      <p:sp>
        <p:nvSpPr>
          <p:cNvPr id="25" name="Shape 17"/>
          <p:cNvSpPr/>
          <p:nvPr/>
        </p:nvSpPr>
        <p:spPr>
          <a:xfrm>
            <a:off x="6263640" y="2779776"/>
            <a:ext cx="0" cy="91440"/>
          </a:xfrm>
          <a:prstGeom prst="line">
            <a:avLst/>
          </a:prstGeom>
          <a:noFill/>
          <a:ln w="17780">
            <a:solidFill>
              <a:srgbClr val="6D4DD1"/>
            </a:solidFill>
            <a:prstDash val="solid"/>
            <a:headEnd type="none"/>
            <a:tailEnd type="triangle"/>
          </a:ln>
        </p:spPr>
      </p:sp>
      <p:sp>
        <p:nvSpPr>
          <p:cNvPr id="26" name="Shape 18"/>
          <p:cNvSpPr/>
          <p:nvPr/>
        </p:nvSpPr>
        <p:spPr>
          <a:xfrm>
            <a:off x="4901184" y="2724912"/>
            <a:ext cx="128016" cy="0"/>
          </a:xfrm>
          <a:prstGeom prst="line">
            <a:avLst/>
          </a:prstGeom>
          <a:noFill/>
          <a:ln w="19050">
            <a:solidFill>
              <a:srgbClr val="64798F"/>
            </a:solidFill>
            <a:prstDash val="solid"/>
            <a:headEnd type="none"/>
            <a:tailEnd type="triangle"/>
          </a:ln>
        </p:spPr>
      </p:sp>
      <p:sp>
        <p:nvSpPr>
          <p:cNvPr id="27" name="Shape 19"/>
          <p:cNvSpPr/>
          <p:nvPr/>
        </p:nvSpPr>
        <p:spPr>
          <a:xfrm>
            <a:off x="8549640" y="1572768"/>
            <a:ext cx="3044952" cy="914400"/>
          </a:xfrm>
          <a:prstGeom prst="roundRect">
            <a:avLst>
              <a:gd name="adj" fmla="val 10000"/>
            </a:avLst>
          </a:prstGeom>
          <a:solidFill>
            <a:srgbClr val="E0F3E3"/>
          </a:solidFill>
          <a:ln w="15875">
            <a:solidFill>
              <a:srgbClr val="2F8F48"/>
            </a:solidFill>
            <a:prstDash val="solid"/>
          </a:ln>
          <a:effectLst>
            <a:outerShdw sx="100000" sy="100000" kx="0" ky="0" algn="bl" rotWithShape="0" blurRad="101600" dist="19050" dir="5400000">
              <a:srgbClr val="9FB0C2">
                <a:alpha val="24000"/>
              </a:srgbClr>
            </a:outerShdw>
          </a:effectLst>
        </p:spPr>
      </p:sp>
      <p:sp>
        <p:nvSpPr>
          <p:cNvPr id="28" name="Shape 20"/>
          <p:cNvSpPr/>
          <p:nvPr/>
        </p:nvSpPr>
        <p:spPr>
          <a:xfrm>
            <a:off x="8686800" y="1837944"/>
            <a:ext cx="384048" cy="384048"/>
          </a:xfrm>
          <a:prstGeom prst="roundRect">
            <a:avLst>
              <a:gd name="adj" fmla="val 23810"/>
            </a:avLst>
          </a:prstGeom>
          <a:solidFill>
            <a:srgbClr val="2F8F48"/>
          </a:solidFill>
          <a:ln/>
        </p:spPr>
      </p:sp>
      <p:pic>
        <p:nvPicPr>
          <p:cNvPr id="29" name="Image 6" descr="preencoded.png">    </p:cNvPr>
          <p:cNvPicPr>
            <a:picLocks noChangeAspect="1"/>
          </p:cNvPicPr>
          <p:nvPr/>
        </p:nvPicPr>
        <p:blipFill>
          <a:blip r:embed="rId7"/>
          <a:stretch>
            <a:fillRect/>
          </a:stretch>
        </p:blipFill>
        <p:spPr>
          <a:xfrm>
            <a:off x="8771291" y="1922435"/>
            <a:ext cx="215067" cy="215067"/>
          </a:xfrm>
          <a:prstGeom prst="rect">
            <a:avLst/>
          </a:prstGeom>
        </p:spPr>
      </p:pic>
      <p:sp>
        <p:nvSpPr>
          <p:cNvPr id="30" name="Text 21"/>
          <p:cNvSpPr txBox="1"/>
          <p:nvPr/>
        </p:nvSpPr>
        <p:spPr>
          <a:xfrm>
            <a:off x="9208008" y="1572768"/>
            <a:ext cx="2276856" cy="914400"/>
          </a:xfrm>
          <a:prstGeom prst="rect">
            <a:avLst/>
          </a:prstGeom>
          <a:noFill/>
          <a:ln/>
        </p:spPr>
        <p:txBody>
          <a:bodyPr wrap="square" lIns="0" tIns="0" rIns="0" bIns="0" rtlCol="0" anchor="ctr"/>
          <a:lstStyle/>
          <a:p>
            <a:pPr algn="l" indent="0" marL="0">
              <a:lnSpc>
                <a:spcPct val="104000"/>
              </a:lnSpc>
              <a:buNone/>
            </a:pPr>
            <a:r>
              <a:rPr lang="en-US" sz="1150" b="1" dirty="0">
                <a:solidFill>
                  <a:srgbClr val="17431F"/>
                </a:solidFill>
                <a:latin typeface="Calibri" pitchFamily="34" charset="0"/>
                <a:ea typeface="Calibri" pitchFamily="34" charset="-122"/>
                <a:cs typeface="Calibri" pitchFamily="34" charset="-120"/>
              </a:rPr>
              <a:t>Business segments</a:t>
            </a:r>
            <a:endParaRPr lang="en-US" sz="1150" dirty="0"/>
          </a:p>
          <a:p>
            <a:pPr algn="l" indent="0" marL="0">
              <a:lnSpc>
                <a:spcPct val="104000"/>
              </a:lnSpc>
              <a:buNone/>
            </a:pPr>
            <a:r>
              <a:rPr lang="en-US" sz="800" dirty="0">
                <a:solidFill>
                  <a:srgbClr val="17431F"/>
                </a:solidFill>
                <a:latin typeface="Calibri" pitchFamily="34" charset="0"/>
                <a:ea typeface="Calibri" pitchFamily="34" charset="-122"/>
                <a:cs typeface="Calibri" pitchFamily="34" charset="-120"/>
              </a:rPr>
              <a:t>name, description, revenue, operating income, assets</a:t>
            </a:r>
            <a:endParaRPr lang="en-US" sz="1150" dirty="0"/>
          </a:p>
        </p:txBody>
      </p:sp>
      <p:sp>
        <p:nvSpPr>
          <p:cNvPr id="31" name="Shape 22"/>
          <p:cNvSpPr/>
          <p:nvPr/>
        </p:nvSpPr>
        <p:spPr>
          <a:xfrm flipV="1">
            <a:off x="7498080" y="2029968"/>
            <a:ext cx="996696" cy="694944"/>
          </a:xfrm>
          <a:prstGeom prst="line">
            <a:avLst/>
          </a:prstGeom>
          <a:noFill/>
          <a:ln w="16510">
            <a:solidFill>
              <a:srgbClr val="2F8F48"/>
            </a:solidFill>
            <a:prstDash val="solid"/>
            <a:headEnd type="none"/>
            <a:tailEnd type="triangle"/>
          </a:ln>
        </p:spPr>
      </p:sp>
      <p:sp>
        <p:nvSpPr>
          <p:cNvPr id="32" name="Shape 23"/>
          <p:cNvSpPr/>
          <p:nvPr/>
        </p:nvSpPr>
        <p:spPr>
          <a:xfrm>
            <a:off x="8549640" y="2697480"/>
            <a:ext cx="3044952" cy="914400"/>
          </a:xfrm>
          <a:prstGeom prst="roundRect">
            <a:avLst>
              <a:gd name="adj" fmla="val 10000"/>
            </a:avLst>
          </a:prstGeom>
          <a:solidFill>
            <a:srgbClr val="E0F3E3"/>
          </a:solidFill>
          <a:ln w="15875">
            <a:solidFill>
              <a:srgbClr val="2F8F48"/>
            </a:solidFill>
            <a:prstDash val="solid"/>
          </a:ln>
          <a:effectLst>
            <a:outerShdw sx="100000" sy="100000" kx="0" ky="0" algn="bl" rotWithShape="0" blurRad="101600" dist="19050" dir="5400000">
              <a:srgbClr val="9FB0C2">
                <a:alpha val="24000"/>
              </a:srgbClr>
            </a:outerShdw>
          </a:effectLst>
        </p:spPr>
      </p:sp>
      <p:sp>
        <p:nvSpPr>
          <p:cNvPr id="33" name="Shape 24"/>
          <p:cNvSpPr/>
          <p:nvPr/>
        </p:nvSpPr>
        <p:spPr>
          <a:xfrm>
            <a:off x="8686800" y="2962656"/>
            <a:ext cx="384048" cy="384048"/>
          </a:xfrm>
          <a:prstGeom prst="roundRect">
            <a:avLst>
              <a:gd name="adj" fmla="val 23810"/>
            </a:avLst>
          </a:prstGeom>
          <a:solidFill>
            <a:srgbClr val="2F8F48"/>
          </a:solidFill>
          <a:ln/>
        </p:spPr>
      </p:sp>
      <p:pic>
        <p:nvPicPr>
          <p:cNvPr id="34" name="Image 7" descr="preencoded.png">    </p:cNvPr>
          <p:cNvPicPr>
            <a:picLocks noChangeAspect="1"/>
          </p:cNvPicPr>
          <p:nvPr/>
        </p:nvPicPr>
        <p:blipFill>
          <a:blip r:embed="rId8"/>
          <a:stretch>
            <a:fillRect/>
          </a:stretch>
        </p:blipFill>
        <p:spPr>
          <a:xfrm>
            <a:off x="8771291" y="3047147"/>
            <a:ext cx="215067" cy="215067"/>
          </a:xfrm>
          <a:prstGeom prst="rect">
            <a:avLst/>
          </a:prstGeom>
        </p:spPr>
      </p:pic>
      <p:sp>
        <p:nvSpPr>
          <p:cNvPr id="35" name="Text 25"/>
          <p:cNvSpPr txBox="1"/>
          <p:nvPr/>
        </p:nvSpPr>
        <p:spPr>
          <a:xfrm>
            <a:off x="9208008" y="2697480"/>
            <a:ext cx="2276856" cy="914400"/>
          </a:xfrm>
          <a:prstGeom prst="rect">
            <a:avLst/>
          </a:prstGeom>
          <a:noFill/>
          <a:ln/>
        </p:spPr>
        <p:txBody>
          <a:bodyPr wrap="square" lIns="0" tIns="0" rIns="0" bIns="0" rtlCol="0" anchor="ctr"/>
          <a:lstStyle/>
          <a:p>
            <a:pPr algn="l" indent="0" marL="0">
              <a:lnSpc>
                <a:spcPct val="104000"/>
              </a:lnSpc>
              <a:buNone/>
            </a:pPr>
            <a:r>
              <a:rPr lang="en-US" sz="1150" b="1" dirty="0">
                <a:solidFill>
                  <a:srgbClr val="17431F"/>
                </a:solidFill>
                <a:latin typeface="Calibri" pitchFamily="34" charset="0"/>
                <a:ea typeface="Calibri" pitchFamily="34" charset="-122"/>
                <a:cs typeface="Calibri" pitchFamily="34" charset="-120"/>
              </a:rPr>
              <a:t>Capital expenditure</a:t>
            </a:r>
            <a:endParaRPr lang="en-US" sz="1150" dirty="0"/>
          </a:p>
          <a:p>
            <a:pPr algn="l" indent="0" marL="0">
              <a:lnSpc>
                <a:spcPct val="104000"/>
              </a:lnSpc>
              <a:buNone/>
            </a:pPr>
            <a:r>
              <a:rPr lang="en-US" sz="800" dirty="0">
                <a:solidFill>
                  <a:srgbClr val="17431F"/>
                </a:solidFill>
                <a:latin typeface="Calibri" pitchFamily="34" charset="0"/>
                <a:ea typeface="Calibri" pitchFamily="34" charset="-122"/>
                <a:cs typeface="Calibri" pitchFamily="34" charset="-120"/>
              </a:rPr>
              <a:t>total + what it is going toward + disclosed split</a:t>
            </a:r>
            <a:endParaRPr lang="en-US" sz="1150" dirty="0"/>
          </a:p>
        </p:txBody>
      </p:sp>
      <p:sp>
        <p:nvSpPr>
          <p:cNvPr id="36" name="Shape 26"/>
          <p:cNvSpPr/>
          <p:nvPr/>
        </p:nvSpPr>
        <p:spPr>
          <a:xfrm>
            <a:off x="7498080" y="2724912"/>
            <a:ext cx="996696" cy="429768"/>
          </a:xfrm>
          <a:prstGeom prst="line">
            <a:avLst/>
          </a:prstGeom>
          <a:noFill/>
          <a:ln w="16510">
            <a:solidFill>
              <a:srgbClr val="2F8F48"/>
            </a:solidFill>
            <a:prstDash val="solid"/>
            <a:headEnd type="none"/>
            <a:tailEnd type="triangle"/>
          </a:ln>
        </p:spPr>
      </p:sp>
      <p:sp>
        <p:nvSpPr>
          <p:cNvPr id="37" name="Shape 27"/>
          <p:cNvSpPr/>
          <p:nvPr/>
        </p:nvSpPr>
        <p:spPr>
          <a:xfrm>
            <a:off x="8549640" y="3822192"/>
            <a:ext cx="3044952" cy="914400"/>
          </a:xfrm>
          <a:prstGeom prst="roundRect">
            <a:avLst>
              <a:gd name="adj" fmla="val 10000"/>
            </a:avLst>
          </a:prstGeom>
          <a:solidFill>
            <a:srgbClr val="E0F3E3"/>
          </a:solidFill>
          <a:ln w="15875">
            <a:solidFill>
              <a:srgbClr val="2F8F48"/>
            </a:solidFill>
            <a:prstDash val="solid"/>
          </a:ln>
          <a:effectLst>
            <a:outerShdw sx="100000" sy="100000" kx="0" ky="0" algn="bl" rotWithShape="0" blurRad="101600" dist="19050" dir="5400000">
              <a:srgbClr val="9FB0C2">
                <a:alpha val="24000"/>
              </a:srgbClr>
            </a:outerShdw>
          </a:effectLst>
        </p:spPr>
      </p:sp>
      <p:sp>
        <p:nvSpPr>
          <p:cNvPr id="38" name="Shape 28"/>
          <p:cNvSpPr/>
          <p:nvPr/>
        </p:nvSpPr>
        <p:spPr>
          <a:xfrm>
            <a:off x="8686800" y="4087368"/>
            <a:ext cx="384048" cy="384048"/>
          </a:xfrm>
          <a:prstGeom prst="roundRect">
            <a:avLst>
              <a:gd name="adj" fmla="val 23810"/>
            </a:avLst>
          </a:prstGeom>
          <a:solidFill>
            <a:srgbClr val="2F8F48"/>
          </a:solidFill>
          <a:ln/>
        </p:spPr>
      </p:sp>
      <p:pic>
        <p:nvPicPr>
          <p:cNvPr id="39" name="Image 8" descr="preencoded.png">    </p:cNvPr>
          <p:cNvPicPr>
            <a:picLocks noChangeAspect="1"/>
          </p:cNvPicPr>
          <p:nvPr/>
        </p:nvPicPr>
        <p:blipFill>
          <a:blip r:embed="rId9"/>
          <a:stretch>
            <a:fillRect/>
          </a:stretch>
        </p:blipFill>
        <p:spPr>
          <a:xfrm>
            <a:off x="8771291" y="4171859"/>
            <a:ext cx="215067" cy="215067"/>
          </a:xfrm>
          <a:prstGeom prst="rect">
            <a:avLst/>
          </a:prstGeom>
        </p:spPr>
      </p:pic>
      <p:sp>
        <p:nvSpPr>
          <p:cNvPr id="40" name="Text 29"/>
          <p:cNvSpPr txBox="1"/>
          <p:nvPr/>
        </p:nvSpPr>
        <p:spPr>
          <a:xfrm>
            <a:off x="9208008" y="3822192"/>
            <a:ext cx="2276856" cy="914400"/>
          </a:xfrm>
          <a:prstGeom prst="rect">
            <a:avLst/>
          </a:prstGeom>
          <a:noFill/>
          <a:ln/>
        </p:spPr>
        <p:txBody>
          <a:bodyPr wrap="square" lIns="0" tIns="0" rIns="0" bIns="0" rtlCol="0" anchor="ctr"/>
          <a:lstStyle/>
          <a:p>
            <a:pPr algn="l" indent="0" marL="0">
              <a:lnSpc>
                <a:spcPct val="104000"/>
              </a:lnSpc>
              <a:buNone/>
            </a:pPr>
            <a:r>
              <a:rPr lang="en-US" sz="1150" b="1" dirty="0">
                <a:solidFill>
                  <a:srgbClr val="17431F"/>
                </a:solidFill>
                <a:latin typeface="Calibri" pitchFamily="34" charset="0"/>
                <a:ea typeface="Calibri" pitchFamily="34" charset="-122"/>
                <a:cs typeface="Calibri" pitchFamily="34" charset="-120"/>
              </a:rPr>
              <a:t>Research &amp; development</a:t>
            </a:r>
            <a:endParaRPr lang="en-US" sz="1150" dirty="0"/>
          </a:p>
          <a:p>
            <a:pPr algn="l" indent="0" marL="0">
              <a:lnSpc>
                <a:spcPct val="104000"/>
              </a:lnSpc>
              <a:buNone/>
            </a:pPr>
            <a:r>
              <a:rPr lang="en-US" sz="800" dirty="0">
                <a:solidFill>
                  <a:srgbClr val="17431F"/>
                </a:solidFill>
                <a:latin typeface="Calibri" pitchFamily="34" charset="0"/>
                <a:ea typeface="Calibri" pitchFamily="34" charset="-122"/>
                <a:cs typeface="Calibri" pitchFamily="34" charset="-120"/>
              </a:rPr>
              <a:t>total + the disclosed focus areas</a:t>
            </a:r>
            <a:endParaRPr lang="en-US" sz="1150" dirty="0"/>
          </a:p>
        </p:txBody>
      </p:sp>
      <p:sp>
        <p:nvSpPr>
          <p:cNvPr id="41" name="Shape 30"/>
          <p:cNvSpPr/>
          <p:nvPr/>
        </p:nvSpPr>
        <p:spPr>
          <a:xfrm>
            <a:off x="7498080" y="2724912"/>
            <a:ext cx="996696" cy="1554480"/>
          </a:xfrm>
          <a:prstGeom prst="line">
            <a:avLst/>
          </a:prstGeom>
          <a:noFill/>
          <a:ln w="16510">
            <a:solidFill>
              <a:srgbClr val="2F8F48"/>
            </a:solidFill>
            <a:prstDash val="solid"/>
            <a:headEnd type="none"/>
            <a:tailEnd type="triangle"/>
          </a:ln>
        </p:spPr>
      </p:sp>
      <p:sp>
        <p:nvSpPr>
          <p:cNvPr id="42" name="Shape 31"/>
          <p:cNvSpPr/>
          <p:nvPr/>
        </p:nvSpPr>
        <p:spPr>
          <a:xfrm>
            <a:off x="5074920" y="4160520"/>
            <a:ext cx="2377440" cy="822960"/>
          </a:xfrm>
          <a:prstGeom prst="roundRect">
            <a:avLst>
              <a:gd name="adj" fmla="val 11111"/>
            </a:avLst>
          </a:prstGeom>
          <a:solidFill>
            <a:srgbClr val="DCF2F4"/>
          </a:solidFill>
          <a:ln w="15875">
            <a:solidFill>
              <a:srgbClr val="108494"/>
            </a:solidFill>
            <a:prstDash val="solid"/>
          </a:ln>
          <a:effectLst>
            <a:outerShdw sx="100000" sy="100000" kx="0" ky="0" algn="bl" rotWithShape="0" blurRad="101600" dist="19050" dir="5400000">
              <a:srgbClr val="9FB0C2">
                <a:alpha val="24000"/>
              </a:srgbClr>
            </a:outerShdw>
          </a:effectLst>
        </p:spPr>
      </p:sp>
      <p:pic>
        <p:nvPicPr>
          <p:cNvPr id="43" name="Image 9" descr="preencoded.png">    </p:cNvPr>
          <p:cNvPicPr>
            <a:picLocks noChangeAspect="1"/>
          </p:cNvPicPr>
          <p:nvPr/>
        </p:nvPicPr>
        <p:blipFill>
          <a:blip r:embed="rId10"/>
          <a:stretch>
            <a:fillRect/>
          </a:stretch>
        </p:blipFill>
        <p:spPr>
          <a:xfrm>
            <a:off x="5193792" y="4261104"/>
            <a:ext cx="182880" cy="182880"/>
          </a:xfrm>
          <a:prstGeom prst="rect">
            <a:avLst/>
          </a:prstGeom>
        </p:spPr>
      </p:pic>
      <p:sp>
        <p:nvSpPr>
          <p:cNvPr id="44" name="Text 32"/>
          <p:cNvSpPr txBox="1"/>
          <p:nvPr/>
        </p:nvSpPr>
        <p:spPr>
          <a:xfrm>
            <a:off x="5166360" y="4160520"/>
            <a:ext cx="2194560" cy="822960"/>
          </a:xfrm>
          <a:prstGeom prst="rect">
            <a:avLst/>
          </a:prstGeom>
          <a:noFill/>
          <a:ln/>
        </p:spPr>
        <p:txBody>
          <a:bodyPr wrap="square" lIns="0" tIns="0" rIns="0" bIns="0" rtlCol="0" anchor="ctr"/>
          <a:lstStyle/>
          <a:p>
            <a:pPr algn="ctr" indent="0" marL="0">
              <a:lnSpc>
                <a:spcPct val="104000"/>
              </a:lnSpc>
              <a:buNone/>
            </a:pPr>
            <a:r>
              <a:rPr lang="en-US" sz="750" b="1" spc="110" kern="0" dirty="0">
                <a:solidFill>
                  <a:srgbClr val="108494"/>
                </a:solidFill>
                <a:latin typeface="Calibri" pitchFamily="34" charset="0"/>
                <a:ea typeface="Calibri" pitchFamily="34" charset="-122"/>
                <a:cs typeface="Calibri" pitchFamily="34" charset="-120"/>
              </a:rPr>
              <a:t>PATH 0</a:t>
            </a:r>
            <a:endParaRPr lang="en-US" sz="750" dirty="0"/>
          </a:p>
          <a:p>
            <a:pPr algn="ctr" indent="0" marL="0">
              <a:lnSpc>
                <a:spcPct val="104000"/>
              </a:lnSpc>
              <a:buNone/>
            </a:pPr>
            <a:r>
              <a:rPr lang="en-US" sz="1050" b="1" dirty="0">
                <a:solidFill>
                  <a:srgbClr val="0A4451"/>
                </a:solidFill>
                <a:latin typeface="Calibri" pitchFamily="34" charset="0"/>
                <a:ea typeface="Calibri" pitchFamily="34" charset="-122"/>
                <a:cs typeface="Calibri" pitchFamily="34" charset="-120"/>
              </a:rPr>
              <a:t>SEC XBRL facts</a:t>
            </a:r>
            <a:endParaRPr lang="en-US" sz="750" dirty="0"/>
          </a:p>
          <a:p>
            <a:pPr algn="ctr" indent="0" marL="0">
              <a:lnSpc>
                <a:spcPct val="104000"/>
              </a:lnSpc>
              <a:buNone/>
            </a:pPr>
            <a:r>
              <a:rPr lang="en-US" sz="780" dirty="0">
                <a:solidFill>
                  <a:srgbClr val="0A4451"/>
                </a:solidFill>
                <a:latin typeface="Calibri" pitchFamily="34" charset="0"/>
                <a:ea typeface="Calibri" pitchFamily="34" charset="-122"/>
                <a:cs typeface="Calibri" pitchFamily="34" charset="-120"/>
              </a:rPr>
              <a:t>machine-tagged totals replace the model's read of prose</a:t>
            </a:r>
            <a:endParaRPr lang="en-US" sz="750" dirty="0"/>
          </a:p>
        </p:txBody>
      </p:sp>
      <p:sp>
        <p:nvSpPr>
          <p:cNvPr id="45" name="Shape 33"/>
          <p:cNvSpPr/>
          <p:nvPr/>
        </p:nvSpPr>
        <p:spPr>
          <a:xfrm>
            <a:off x="7488936" y="4572000"/>
            <a:ext cx="832104" cy="0"/>
          </a:xfrm>
          <a:prstGeom prst="line">
            <a:avLst/>
          </a:prstGeom>
          <a:noFill/>
          <a:ln w="17780">
            <a:solidFill>
              <a:srgbClr val="108494"/>
            </a:solidFill>
            <a:prstDash val="dash"/>
            <a:headEnd type="none"/>
            <a:tailEnd type="none"/>
          </a:ln>
        </p:spPr>
      </p:sp>
      <p:sp>
        <p:nvSpPr>
          <p:cNvPr id="46" name="Shape 34"/>
          <p:cNvSpPr/>
          <p:nvPr/>
        </p:nvSpPr>
        <p:spPr>
          <a:xfrm flipV="1">
            <a:off x="8321040" y="3154680"/>
            <a:ext cx="0" cy="1417320"/>
          </a:xfrm>
          <a:prstGeom prst="line">
            <a:avLst/>
          </a:prstGeom>
          <a:noFill/>
          <a:ln w="17780">
            <a:solidFill>
              <a:srgbClr val="108494"/>
            </a:solidFill>
            <a:prstDash val="dash"/>
            <a:headEnd type="none"/>
            <a:tailEnd type="none"/>
          </a:ln>
        </p:spPr>
      </p:sp>
      <p:sp>
        <p:nvSpPr>
          <p:cNvPr id="47" name="Shape 35"/>
          <p:cNvSpPr/>
          <p:nvPr/>
        </p:nvSpPr>
        <p:spPr>
          <a:xfrm>
            <a:off x="8321040" y="3154680"/>
            <a:ext cx="173736" cy="0"/>
          </a:xfrm>
          <a:prstGeom prst="line">
            <a:avLst/>
          </a:prstGeom>
          <a:noFill/>
          <a:ln w="17780">
            <a:solidFill>
              <a:srgbClr val="108494"/>
            </a:solidFill>
            <a:prstDash val="dash"/>
            <a:headEnd type="none"/>
            <a:tailEnd type="triangle"/>
          </a:ln>
        </p:spPr>
      </p:sp>
      <p:sp>
        <p:nvSpPr>
          <p:cNvPr id="48" name="Shape 36"/>
          <p:cNvSpPr/>
          <p:nvPr/>
        </p:nvSpPr>
        <p:spPr>
          <a:xfrm>
            <a:off x="8321040" y="4279392"/>
            <a:ext cx="173736" cy="0"/>
          </a:xfrm>
          <a:prstGeom prst="line">
            <a:avLst/>
          </a:prstGeom>
          <a:noFill/>
          <a:ln w="17780">
            <a:solidFill>
              <a:srgbClr val="108494"/>
            </a:solidFill>
            <a:prstDash val="dash"/>
            <a:headEnd type="none"/>
            <a:tailEnd type="triangle"/>
          </a:ln>
        </p:spPr>
      </p:sp>
      <p:sp>
        <p:nvSpPr>
          <p:cNvPr id="49" name="Text 37"/>
          <p:cNvSpPr txBox="1"/>
          <p:nvPr/>
        </p:nvSpPr>
        <p:spPr>
          <a:xfrm>
            <a:off x="7498080" y="4681728"/>
            <a:ext cx="1463040" cy="182880"/>
          </a:xfrm>
          <a:prstGeom prst="rect">
            <a:avLst/>
          </a:prstGeom>
          <a:noFill/>
          <a:ln/>
        </p:spPr>
        <p:txBody>
          <a:bodyPr wrap="square" lIns="0" tIns="0" rIns="0" bIns="0" rtlCol="0" anchor="ctr"/>
          <a:lstStyle/>
          <a:p>
            <a:pPr algn="ctr" indent="0" marL="0">
              <a:buNone/>
            </a:pPr>
            <a:r>
              <a:rPr lang="en-US" sz="750" i="1" dirty="0">
                <a:solidFill>
                  <a:srgbClr val="108494"/>
                </a:solidFill>
                <a:latin typeface="Calibri" pitchFamily="34" charset="0"/>
                <a:ea typeface="Calibri" pitchFamily="34" charset="-122"/>
                <a:cs typeface="Calibri" pitchFamily="34" charset="-120"/>
              </a:rPr>
              <a:t>overlay</a:t>
            </a:r>
            <a:endParaRPr lang="en-US" sz="750" dirty="0"/>
          </a:p>
        </p:txBody>
      </p:sp>
      <p:sp>
        <p:nvSpPr>
          <p:cNvPr id="50" name="Shape 38"/>
          <p:cNvSpPr/>
          <p:nvPr/>
        </p:nvSpPr>
        <p:spPr>
          <a:xfrm>
            <a:off x="594360" y="4160520"/>
            <a:ext cx="4251960" cy="822960"/>
          </a:xfrm>
          <a:prstGeom prst="roundRect">
            <a:avLst>
              <a:gd name="adj" fmla="val 4444"/>
            </a:avLst>
          </a:prstGeom>
          <a:solidFill>
            <a:srgbClr val="F4F7FA"/>
          </a:solidFill>
          <a:ln w="15875">
            <a:solidFill>
              <a:srgbClr val="DDE5ED"/>
            </a:solidFill>
            <a:prstDash val="solid"/>
          </a:ln>
        </p:spPr>
      </p:sp>
      <p:sp>
        <p:nvSpPr>
          <p:cNvPr id="51" name="Text 39"/>
          <p:cNvSpPr txBox="1"/>
          <p:nvPr/>
        </p:nvSpPr>
        <p:spPr>
          <a:xfrm>
            <a:off x="777240" y="4160520"/>
            <a:ext cx="3886200" cy="822960"/>
          </a:xfrm>
          <a:prstGeom prst="rect">
            <a:avLst/>
          </a:prstGeom>
          <a:noFill/>
          <a:ln/>
        </p:spPr>
        <p:txBody>
          <a:bodyPr wrap="square" lIns="0" tIns="0" rIns="0" bIns="0" rtlCol="0" anchor="ctr"/>
          <a:lstStyle/>
          <a:p>
            <a:pPr indent="0" marL="0">
              <a:buNone/>
            </a:pPr>
            <a:r>
              <a:rPr lang="en-US" sz="920" b="1" dirty="0">
                <a:solidFill>
                  <a:srgbClr val="108494"/>
                </a:solidFill>
                <a:latin typeface="Calibri" pitchFamily="34" charset="0"/>
                <a:ea typeface="Calibri" pitchFamily="34" charset="-122"/>
                <a:cs typeface="Calibri" pitchFamily="34" charset="-120"/>
              </a:rPr>
              <a:t>Why combined:  </a:t>
            </a:r>
            <a:pPr indent="0" marL="0">
              <a:buNone/>
            </a:pPr>
            <a:r>
              <a:rPr lang="en-US" sz="920" dirty="0">
                <a:solidFill>
                  <a:srgbClr val="43566B"/>
                </a:solidFill>
                <a:latin typeface="Calibri" pitchFamily="34" charset="0"/>
                <a:ea typeface="Calibri" pitchFamily="34" charset="-122"/>
                <a:cs typeface="Calibri" pitchFamily="34" charset="-120"/>
              </a:rPr>
              <a:t>these three are almost always wanted together. Extracting them separately would mean three fetches, three evidence steps and six model calls per company instead of two.</a:t>
            </a:r>
            <a:endParaRPr lang="en-US" sz="920" dirty="0"/>
          </a:p>
        </p:txBody>
      </p:sp>
      <p:sp>
        <p:nvSpPr>
          <p:cNvPr id="52" name="Shape 40"/>
          <p:cNvSpPr/>
          <p:nvPr/>
        </p:nvSpPr>
        <p:spPr>
          <a:xfrm>
            <a:off x="594360" y="5193792"/>
            <a:ext cx="11000232" cy="566928"/>
          </a:xfrm>
          <a:prstGeom prst="roundRect">
            <a:avLst>
              <a:gd name="adj" fmla="val 6452"/>
            </a:avLst>
          </a:prstGeom>
          <a:solidFill>
            <a:srgbClr val="F4F7FA"/>
          </a:solidFill>
          <a:ln w="15875">
            <a:solidFill>
              <a:srgbClr val="DDE5ED"/>
            </a:solidFill>
            <a:prstDash val="solid"/>
          </a:ln>
        </p:spPr>
      </p:sp>
      <p:sp>
        <p:nvSpPr>
          <p:cNvPr id="53" name="Text 41"/>
          <p:cNvSpPr txBox="1"/>
          <p:nvPr/>
        </p:nvSpPr>
        <p:spPr>
          <a:xfrm>
            <a:off x="795528" y="5193792"/>
            <a:ext cx="10597896" cy="566928"/>
          </a:xfrm>
          <a:prstGeom prst="rect">
            <a:avLst/>
          </a:prstGeom>
          <a:noFill/>
          <a:ln/>
        </p:spPr>
        <p:txBody>
          <a:bodyPr wrap="square" lIns="0" tIns="0" rIns="0" bIns="0" rtlCol="0" anchor="ctr"/>
          <a:lstStyle/>
          <a:p>
            <a:pPr indent="0" marL="0">
              <a:buNone/>
            </a:pPr>
            <a:r>
              <a:rPr lang="en-US" sz="950" b="1" dirty="0">
                <a:solidFill>
                  <a:srgbClr val="CE3D64"/>
                </a:solidFill>
                <a:latin typeface="Calibri" pitchFamily="34" charset="0"/>
                <a:ea typeface="Calibri" pitchFamily="34" charset="-122"/>
                <a:cs typeface="Calibri" pitchFamily="34" charset="-120"/>
              </a:rPr>
              <a:t>Nothing is backed into.  </a:t>
            </a:r>
            <a:pPr indent="0" marL="0">
              <a:buNone/>
            </a:pPr>
            <a:r>
              <a:rPr lang="en-US" sz="950" dirty="0">
                <a:solidFill>
                  <a:srgbClr val="43566B"/>
                </a:solidFill>
                <a:latin typeface="Calibri" pitchFamily="34" charset="0"/>
                <a:ea typeface="Calibri" pitchFamily="34" charset="-122"/>
                <a:cs typeface="Calibri" pitchFamily="34" charset="-120"/>
              </a:rPr>
              <a:t>A segment or figure the company did not explicitly disclose stays null rather than being derived from a group total — and each of the three sections carries its own review flag, so one weak section never blocks the others.</a:t>
            </a:r>
            <a:endParaRPr lang="en-US" sz="950" dirty="0"/>
          </a:p>
        </p:txBody>
      </p:sp>
      <p:sp>
        <p:nvSpPr>
          <p:cNvPr id="54" name="Shape 42"/>
          <p:cNvSpPr/>
          <p:nvPr/>
        </p:nvSpPr>
        <p:spPr>
          <a:xfrm>
            <a:off x="594360" y="6172200"/>
            <a:ext cx="155448" cy="155448"/>
          </a:xfrm>
          <a:prstGeom prst="roundRect">
            <a:avLst>
              <a:gd name="adj" fmla="val 29412"/>
            </a:avLst>
          </a:prstGeom>
          <a:solidFill>
            <a:srgbClr val="2F6FD0"/>
          </a:solidFill>
          <a:ln/>
        </p:spPr>
      </p:sp>
      <p:sp>
        <p:nvSpPr>
          <p:cNvPr id="55" name="Text 43"/>
          <p:cNvSpPr txBox="1"/>
          <p:nvPr/>
        </p:nvSpPr>
        <p:spPr>
          <a:xfrm>
            <a:off x="813816" y="6144768"/>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source / input</a:t>
            </a:r>
            <a:endParaRPr lang="en-US" sz="880" dirty="0"/>
          </a:p>
        </p:txBody>
      </p:sp>
      <p:sp>
        <p:nvSpPr>
          <p:cNvPr id="56" name="Shape 44"/>
          <p:cNvSpPr/>
          <p:nvPr/>
        </p:nvSpPr>
        <p:spPr>
          <a:xfrm>
            <a:off x="2427732" y="6172200"/>
            <a:ext cx="155448" cy="155448"/>
          </a:xfrm>
          <a:prstGeom prst="roundRect">
            <a:avLst>
              <a:gd name="adj" fmla="val 29412"/>
            </a:avLst>
          </a:prstGeom>
          <a:solidFill>
            <a:srgbClr val="108494"/>
          </a:solidFill>
          <a:ln/>
        </p:spPr>
      </p:sp>
      <p:sp>
        <p:nvSpPr>
          <p:cNvPr id="57" name="Text 45"/>
          <p:cNvSpPr txBox="1"/>
          <p:nvPr/>
        </p:nvSpPr>
        <p:spPr>
          <a:xfrm>
            <a:off x="2647188" y="6144768"/>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deterministic step</a:t>
            </a:r>
            <a:endParaRPr lang="en-US" sz="880" dirty="0"/>
          </a:p>
        </p:txBody>
      </p:sp>
      <p:sp>
        <p:nvSpPr>
          <p:cNvPr id="58" name="Shape 46"/>
          <p:cNvSpPr/>
          <p:nvPr/>
        </p:nvSpPr>
        <p:spPr>
          <a:xfrm>
            <a:off x="4261104" y="6172200"/>
            <a:ext cx="155448" cy="155448"/>
          </a:xfrm>
          <a:prstGeom prst="roundRect">
            <a:avLst>
              <a:gd name="adj" fmla="val 29412"/>
            </a:avLst>
          </a:prstGeom>
          <a:solidFill>
            <a:srgbClr val="6D4DD1"/>
          </a:solidFill>
          <a:ln/>
        </p:spPr>
      </p:sp>
      <p:sp>
        <p:nvSpPr>
          <p:cNvPr id="59" name="Text 47"/>
          <p:cNvSpPr txBox="1"/>
          <p:nvPr/>
        </p:nvSpPr>
        <p:spPr>
          <a:xfrm>
            <a:off x="4480560" y="6144768"/>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LLM agent</a:t>
            </a:r>
            <a:endParaRPr lang="en-US" sz="880" dirty="0"/>
          </a:p>
        </p:txBody>
      </p:sp>
      <p:sp>
        <p:nvSpPr>
          <p:cNvPr id="60" name="Shape 48"/>
          <p:cNvSpPr/>
          <p:nvPr/>
        </p:nvSpPr>
        <p:spPr>
          <a:xfrm>
            <a:off x="6094476" y="6172200"/>
            <a:ext cx="155448" cy="155448"/>
          </a:xfrm>
          <a:prstGeom prst="roundRect">
            <a:avLst>
              <a:gd name="adj" fmla="val 29412"/>
            </a:avLst>
          </a:prstGeom>
          <a:solidFill>
            <a:srgbClr val="C9871B"/>
          </a:solidFill>
          <a:ln/>
        </p:spPr>
      </p:sp>
      <p:sp>
        <p:nvSpPr>
          <p:cNvPr id="61" name="Text 49"/>
          <p:cNvSpPr txBox="1"/>
          <p:nvPr/>
        </p:nvSpPr>
        <p:spPr>
          <a:xfrm>
            <a:off x="6313932" y="6144768"/>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gate or check</a:t>
            </a:r>
            <a:endParaRPr lang="en-US" sz="880" dirty="0"/>
          </a:p>
        </p:txBody>
      </p:sp>
      <p:sp>
        <p:nvSpPr>
          <p:cNvPr id="62" name="Shape 50"/>
          <p:cNvSpPr/>
          <p:nvPr/>
        </p:nvSpPr>
        <p:spPr>
          <a:xfrm>
            <a:off x="7927848" y="6172200"/>
            <a:ext cx="155448" cy="155448"/>
          </a:xfrm>
          <a:prstGeom prst="roundRect">
            <a:avLst>
              <a:gd name="adj" fmla="val 29412"/>
            </a:avLst>
          </a:prstGeom>
          <a:solidFill>
            <a:srgbClr val="CE3D64"/>
          </a:solidFill>
          <a:ln/>
        </p:spPr>
      </p:sp>
      <p:sp>
        <p:nvSpPr>
          <p:cNvPr id="63" name="Text 51"/>
          <p:cNvSpPr txBox="1"/>
          <p:nvPr/>
        </p:nvSpPr>
        <p:spPr>
          <a:xfrm>
            <a:off x="8147304" y="6144768"/>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human decision</a:t>
            </a:r>
            <a:endParaRPr lang="en-US" sz="880" dirty="0"/>
          </a:p>
        </p:txBody>
      </p:sp>
      <p:sp>
        <p:nvSpPr>
          <p:cNvPr id="64" name="Shape 52"/>
          <p:cNvSpPr/>
          <p:nvPr/>
        </p:nvSpPr>
        <p:spPr>
          <a:xfrm>
            <a:off x="9761220" y="6172200"/>
            <a:ext cx="155448" cy="155448"/>
          </a:xfrm>
          <a:prstGeom prst="roundRect">
            <a:avLst>
              <a:gd name="adj" fmla="val 29412"/>
            </a:avLst>
          </a:prstGeom>
          <a:solidFill>
            <a:srgbClr val="2F8F48"/>
          </a:solidFill>
          <a:ln/>
        </p:spPr>
      </p:sp>
      <p:sp>
        <p:nvSpPr>
          <p:cNvPr id="65" name="Text 53"/>
          <p:cNvSpPr txBox="1"/>
          <p:nvPr/>
        </p:nvSpPr>
        <p:spPr>
          <a:xfrm>
            <a:off x="9980676" y="6144768"/>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stored output</a:t>
            </a:r>
            <a:endParaRPr lang="en-US" sz="88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438912"/>
            <a:ext cx="10085832" cy="201168"/>
          </a:xfrm>
          <a:prstGeom prst="rect">
            <a:avLst/>
          </a:prstGeom>
          <a:noFill/>
          <a:ln/>
        </p:spPr>
        <p:txBody>
          <a:bodyPr wrap="square" lIns="0" tIns="0" rIns="0" bIns="0" rtlCol="0" anchor="ctr"/>
          <a:lstStyle/>
          <a:p>
            <a:pPr indent="0" marL="0">
              <a:buNone/>
            </a:pPr>
            <a:r>
              <a:rPr lang="en-US" sz="1050" b="1" spc="200" kern="0" dirty="0">
                <a:solidFill>
                  <a:srgbClr val="108494"/>
                </a:solidFill>
                <a:latin typeface="Calibri" pitchFamily="34" charset="0"/>
                <a:ea typeface="Calibri" pitchFamily="34" charset="-122"/>
                <a:cs typeface="Calibri" pitchFamily="34" charset="-120"/>
              </a:rPr>
              <a:t>04   ·   ARCHITECTURE &amp; PROCESS</a:t>
            </a:r>
            <a:endParaRPr lang="en-US" sz="1050" dirty="0"/>
          </a:p>
        </p:txBody>
      </p:sp>
      <p:sp>
        <p:nvSpPr>
          <p:cNvPr id="3" name="Text 1"/>
          <p:cNvSpPr txBox="1"/>
          <p:nvPr/>
        </p:nvSpPr>
        <p:spPr>
          <a:xfrm>
            <a:off x="594360" y="640080"/>
            <a:ext cx="10085832" cy="484632"/>
          </a:xfrm>
          <a:prstGeom prst="rect">
            <a:avLst/>
          </a:prstGeom>
          <a:noFill/>
          <a:ln/>
        </p:spPr>
        <p:txBody>
          <a:bodyPr wrap="square" lIns="0" tIns="0" rIns="0" bIns="0" rtlCol="0" anchor="ctr"/>
          <a:lstStyle/>
          <a:p>
            <a:pPr indent="0" marL="0">
              <a:buNone/>
            </a:pPr>
            <a:r>
              <a:rPr lang="en-US" sz="3000" b="1" dirty="0">
                <a:solidFill>
                  <a:srgbClr val="10243A"/>
                </a:solidFill>
                <a:latin typeface="Cambria" pitchFamily="34" charset="0"/>
                <a:ea typeface="Cambria" pitchFamily="34" charset="-122"/>
                <a:cs typeface="Cambria" pitchFamily="34" charset="-120"/>
              </a:rPr>
              <a:t>Financials: one fetch, one verified pass</a:t>
            </a:r>
            <a:endParaRPr lang="en-US" sz="3000" dirty="0"/>
          </a:p>
        </p:txBody>
      </p:sp>
      <p:sp>
        <p:nvSpPr>
          <p:cNvPr id="4" name="Text 2"/>
          <p:cNvSpPr txBox="1"/>
          <p:nvPr/>
        </p:nvSpPr>
        <p:spPr>
          <a:xfrm>
            <a:off x="594360" y="1143000"/>
            <a:ext cx="9994392" cy="274320"/>
          </a:xfrm>
          <a:prstGeom prst="rect">
            <a:avLst/>
          </a:prstGeom>
          <a:noFill/>
          <a:ln/>
        </p:spPr>
        <p:txBody>
          <a:bodyPr wrap="square" lIns="0" tIns="0" rIns="0" bIns="0" rtlCol="0" anchor="ctr"/>
          <a:lstStyle/>
          <a:p>
            <a:pPr indent="0" marL="0">
              <a:buNone/>
            </a:pPr>
            <a:r>
              <a:rPr lang="en-US" sz="1200" dirty="0">
                <a:solidFill>
                  <a:srgbClr val="58697A"/>
                </a:solidFill>
                <a:latin typeface="Calibri" pitchFamily="34" charset="0"/>
                <a:ea typeface="Calibri" pitchFamily="34" charset="-122"/>
                <a:cs typeface="Calibri" pitchFamily="34" charset="-120"/>
              </a:rPr>
              <a:t>The same graph shape as data-point extraction, widened to three sections and overlaid with SEC's own facts.</a:t>
            </a:r>
            <a:endParaRPr lang="en-US" sz="1200" dirty="0"/>
          </a:p>
        </p:txBody>
      </p:sp>
      <p:sp>
        <p:nvSpPr>
          <p:cNvPr id="5" name="Shape 3"/>
          <p:cNvSpPr/>
          <p:nvPr/>
        </p:nvSpPr>
        <p:spPr>
          <a:xfrm>
            <a:off x="10881360" y="475488"/>
            <a:ext cx="713232" cy="713232"/>
          </a:xfrm>
          <a:prstGeom prst="roundRect">
            <a:avLst>
              <a:gd name="adj" fmla="val 20513"/>
            </a:avLst>
          </a:prstGeom>
          <a:solidFill>
            <a:srgbClr val="10243A"/>
          </a:solidFill>
          <a:ln/>
        </p:spPr>
      </p:sp>
      <p:pic>
        <p:nvPicPr>
          <p:cNvPr id="6" name="Image 0" descr="preencoded.png">    </p:cNvPr>
          <p:cNvPicPr>
            <a:picLocks noChangeAspect="1"/>
          </p:cNvPicPr>
          <p:nvPr/>
        </p:nvPicPr>
        <p:blipFill>
          <a:blip r:embed="rId1"/>
          <a:stretch>
            <a:fillRect/>
          </a:stretch>
        </p:blipFill>
        <p:spPr>
          <a:xfrm>
            <a:off x="11038271" y="632399"/>
            <a:ext cx="399410" cy="399410"/>
          </a:xfrm>
          <a:prstGeom prst="rect">
            <a:avLst/>
          </a:prstGeom>
        </p:spPr>
      </p:pic>
      <p:sp>
        <p:nvSpPr>
          <p:cNvPr id="7" name="Shape 4"/>
          <p:cNvSpPr/>
          <p:nvPr/>
        </p:nvSpPr>
        <p:spPr>
          <a:xfrm>
            <a:off x="594360" y="1572768"/>
            <a:ext cx="1907438" cy="749808"/>
          </a:xfrm>
          <a:prstGeom prst="roundRect">
            <a:avLst>
              <a:gd name="adj" fmla="val 12195"/>
            </a:avLst>
          </a:prstGeom>
          <a:solidFill>
            <a:srgbClr val="EAF0F5"/>
          </a:solidFill>
          <a:ln w="15875">
            <a:solidFill>
              <a:srgbClr val="64798F"/>
            </a:solidFill>
            <a:prstDash val="solid"/>
          </a:ln>
          <a:effectLst>
            <a:outerShdw sx="100000" sy="100000" kx="0" ky="0" algn="bl" rotWithShape="0" blurRad="101600" dist="19050" dir="5400000">
              <a:srgbClr val="9FB0C2">
                <a:alpha val="24000"/>
              </a:srgbClr>
            </a:outerShdw>
          </a:effectLst>
        </p:spPr>
      </p:sp>
      <p:pic>
        <p:nvPicPr>
          <p:cNvPr id="8" name="Image 1" descr="preencoded.png">    </p:cNvPr>
          <p:cNvPicPr>
            <a:picLocks noChangeAspect="1"/>
          </p:cNvPicPr>
          <p:nvPr/>
        </p:nvPicPr>
        <p:blipFill>
          <a:blip r:embed="rId2"/>
          <a:stretch>
            <a:fillRect/>
          </a:stretch>
        </p:blipFill>
        <p:spPr>
          <a:xfrm>
            <a:off x="713232" y="1673352"/>
            <a:ext cx="182880" cy="182880"/>
          </a:xfrm>
          <a:prstGeom prst="rect">
            <a:avLst/>
          </a:prstGeom>
        </p:spPr>
      </p:pic>
      <p:sp>
        <p:nvSpPr>
          <p:cNvPr id="9" name="Text 5"/>
          <p:cNvSpPr txBox="1"/>
          <p:nvPr/>
        </p:nvSpPr>
        <p:spPr>
          <a:xfrm>
            <a:off x="685800" y="1572768"/>
            <a:ext cx="1724558" cy="749808"/>
          </a:xfrm>
          <a:prstGeom prst="rect">
            <a:avLst/>
          </a:prstGeom>
          <a:noFill/>
          <a:ln/>
        </p:spPr>
        <p:txBody>
          <a:bodyPr wrap="square" lIns="0" tIns="0" rIns="0" bIns="0" rtlCol="0" anchor="ctr"/>
          <a:lstStyle/>
          <a:p>
            <a:pPr algn="ctr" indent="0" marL="0">
              <a:lnSpc>
                <a:spcPct val="104000"/>
              </a:lnSpc>
              <a:buNone/>
            </a:pPr>
            <a:r>
              <a:rPr lang="en-US" sz="1050" b="1" dirty="0">
                <a:solidFill>
                  <a:srgbClr val="24354A"/>
                </a:solidFill>
                <a:latin typeface="Calibri" pitchFamily="34" charset="0"/>
                <a:ea typeface="Calibri" pitchFamily="34" charset="-122"/>
                <a:cs typeface="Calibri" pitchFamily="34" charset="-120"/>
              </a:rPr>
              <a:t>Run created</a:t>
            </a:r>
            <a:endParaRPr lang="en-US" sz="1050" dirty="0"/>
          </a:p>
          <a:p>
            <a:pPr algn="ctr" indent="0" marL="0">
              <a:lnSpc>
                <a:spcPct val="104000"/>
              </a:lnSpc>
              <a:buNone/>
            </a:pPr>
            <a:r>
              <a:rPr lang="en-US" sz="800" dirty="0">
                <a:solidFill>
                  <a:srgbClr val="24354A"/>
                </a:solidFill>
                <a:latin typeface="Calibri" pitchFamily="34" charset="0"/>
                <a:ea typeface="Calibri" pitchFamily="34" charset="-122"/>
                <a:cs typeface="Calibri" pitchFamily="34" charset="-120"/>
              </a:rPr>
              <a:t>arp extract financials-run</a:t>
            </a:r>
            <a:endParaRPr lang="en-US" sz="1050" dirty="0"/>
          </a:p>
        </p:txBody>
      </p:sp>
      <p:sp>
        <p:nvSpPr>
          <p:cNvPr id="10" name="Shape 6"/>
          <p:cNvSpPr/>
          <p:nvPr/>
        </p:nvSpPr>
        <p:spPr>
          <a:xfrm>
            <a:off x="2556662" y="1947672"/>
            <a:ext cx="256032" cy="0"/>
          </a:xfrm>
          <a:prstGeom prst="line">
            <a:avLst/>
          </a:prstGeom>
          <a:noFill/>
          <a:ln w="21590">
            <a:solidFill>
              <a:srgbClr val="64798F"/>
            </a:solidFill>
            <a:prstDash val="solid"/>
            <a:headEnd type="none"/>
            <a:tailEnd type="triangle"/>
          </a:ln>
        </p:spPr>
      </p:sp>
      <p:sp>
        <p:nvSpPr>
          <p:cNvPr id="11" name="Shape 7"/>
          <p:cNvSpPr/>
          <p:nvPr/>
        </p:nvSpPr>
        <p:spPr>
          <a:xfrm>
            <a:off x="2867558" y="1572768"/>
            <a:ext cx="1907438" cy="749808"/>
          </a:xfrm>
          <a:prstGeom prst="roundRect">
            <a:avLst>
              <a:gd name="adj" fmla="val 12195"/>
            </a:avLst>
          </a:prstGeom>
          <a:solidFill>
            <a:srgbClr val="E3EDFC"/>
          </a:solidFill>
          <a:ln w="15875">
            <a:solidFill>
              <a:srgbClr val="2F6FD0"/>
            </a:solidFill>
            <a:prstDash val="solid"/>
          </a:ln>
          <a:effectLst>
            <a:outerShdw sx="100000" sy="100000" kx="0" ky="0" algn="bl" rotWithShape="0" blurRad="101600" dist="19050" dir="5400000">
              <a:srgbClr val="9FB0C2">
                <a:alpha val="24000"/>
              </a:srgbClr>
            </a:outerShdw>
          </a:effectLst>
        </p:spPr>
      </p:sp>
      <p:pic>
        <p:nvPicPr>
          <p:cNvPr id="12" name="Image 2" descr="preencoded.png">    </p:cNvPr>
          <p:cNvPicPr>
            <a:picLocks noChangeAspect="1"/>
          </p:cNvPicPr>
          <p:nvPr/>
        </p:nvPicPr>
        <p:blipFill>
          <a:blip r:embed="rId3"/>
          <a:stretch>
            <a:fillRect/>
          </a:stretch>
        </p:blipFill>
        <p:spPr>
          <a:xfrm>
            <a:off x="2986430" y="1673352"/>
            <a:ext cx="182880" cy="182880"/>
          </a:xfrm>
          <a:prstGeom prst="rect">
            <a:avLst/>
          </a:prstGeom>
        </p:spPr>
      </p:pic>
      <p:sp>
        <p:nvSpPr>
          <p:cNvPr id="13" name="Text 8"/>
          <p:cNvSpPr txBox="1"/>
          <p:nvPr/>
        </p:nvSpPr>
        <p:spPr>
          <a:xfrm>
            <a:off x="2958998" y="1572768"/>
            <a:ext cx="1724558" cy="749808"/>
          </a:xfrm>
          <a:prstGeom prst="rect">
            <a:avLst/>
          </a:prstGeom>
          <a:noFill/>
          <a:ln/>
        </p:spPr>
        <p:txBody>
          <a:bodyPr wrap="square" lIns="0" tIns="0" rIns="0" bIns="0" rtlCol="0" anchor="ctr"/>
          <a:lstStyle/>
          <a:p>
            <a:pPr algn="ctr" indent="0" marL="0">
              <a:lnSpc>
                <a:spcPct val="104000"/>
              </a:lnSpc>
              <a:buNone/>
            </a:pPr>
            <a:r>
              <a:rPr lang="en-US" sz="1050" b="1" dirty="0">
                <a:solidFill>
                  <a:srgbClr val="153A61"/>
                </a:solidFill>
                <a:latin typeface="Calibri" pitchFamily="34" charset="0"/>
                <a:ea typeface="Calibri" pitchFamily="34" charset="-122"/>
                <a:cs typeface="Calibri" pitchFamily="34" charset="-120"/>
              </a:rPr>
              <a:t>Fetch documents</a:t>
            </a:r>
            <a:endParaRPr lang="en-US" sz="1050" dirty="0"/>
          </a:p>
          <a:p>
            <a:pPr algn="ctr" indent="0" marL="0">
              <a:lnSpc>
                <a:spcPct val="104000"/>
              </a:lnSpc>
              <a:buNone/>
            </a:pPr>
            <a:r>
              <a:rPr lang="en-US" sz="800" dirty="0">
                <a:solidFill>
                  <a:srgbClr val="153A61"/>
                </a:solidFill>
                <a:latin typeface="Calibri" pitchFamily="34" charset="0"/>
                <a:ea typeface="Calibri" pitchFamily="34" charset="-122"/>
                <a:cs typeface="Calibri" pitchFamily="34" charset="-120"/>
              </a:rPr>
              <a:t>one registry call per company</a:t>
            </a:r>
            <a:endParaRPr lang="en-US" sz="1050" dirty="0"/>
          </a:p>
        </p:txBody>
      </p:sp>
      <p:sp>
        <p:nvSpPr>
          <p:cNvPr id="14" name="Shape 9"/>
          <p:cNvSpPr/>
          <p:nvPr/>
        </p:nvSpPr>
        <p:spPr>
          <a:xfrm>
            <a:off x="4829861" y="1947672"/>
            <a:ext cx="256032" cy="0"/>
          </a:xfrm>
          <a:prstGeom prst="line">
            <a:avLst/>
          </a:prstGeom>
          <a:noFill/>
          <a:ln w="21590">
            <a:solidFill>
              <a:srgbClr val="64798F"/>
            </a:solidFill>
            <a:prstDash val="solid"/>
            <a:headEnd type="none"/>
            <a:tailEnd type="triangle"/>
          </a:ln>
        </p:spPr>
      </p:sp>
      <p:sp>
        <p:nvSpPr>
          <p:cNvPr id="15" name="Shape 10"/>
          <p:cNvSpPr/>
          <p:nvPr/>
        </p:nvSpPr>
        <p:spPr>
          <a:xfrm>
            <a:off x="5140757" y="1572768"/>
            <a:ext cx="1907438" cy="749808"/>
          </a:xfrm>
          <a:prstGeom prst="roundRect">
            <a:avLst>
              <a:gd name="adj" fmla="val 12195"/>
            </a:avLst>
          </a:prstGeom>
          <a:solidFill>
            <a:srgbClr val="DCF2F4"/>
          </a:solidFill>
          <a:ln w="15875">
            <a:solidFill>
              <a:srgbClr val="108494"/>
            </a:solidFill>
            <a:prstDash val="solid"/>
          </a:ln>
          <a:effectLst>
            <a:outerShdw sx="100000" sy="100000" kx="0" ky="0" algn="bl" rotWithShape="0" blurRad="101600" dist="19050" dir="5400000">
              <a:srgbClr val="9FB0C2">
                <a:alpha val="24000"/>
              </a:srgbClr>
            </a:outerShdw>
          </a:effectLst>
        </p:spPr>
      </p:sp>
      <p:pic>
        <p:nvPicPr>
          <p:cNvPr id="16" name="Image 3" descr="preencoded.png">    </p:cNvPr>
          <p:cNvPicPr>
            <a:picLocks noChangeAspect="1"/>
          </p:cNvPicPr>
          <p:nvPr/>
        </p:nvPicPr>
        <p:blipFill>
          <a:blip r:embed="rId4"/>
          <a:stretch>
            <a:fillRect/>
          </a:stretch>
        </p:blipFill>
        <p:spPr>
          <a:xfrm>
            <a:off x="5259629" y="1673352"/>
            <a:ext cx="182880" cy="182880"/>
          </a:xfrm>
          <a:prstGeom prst="rect">
            <a:avLst/>
          </a:prstGeom>
        </p:spPr>
      </p:pic>
      <p:sp>
        <p:nvSpPr>
          <p:cNvPr id="17" name="Text 11"/>
          <p:cNvSpPr txBox="1"/>
          <p:nvPr/>
        </p:nvSpPr>
        <p:spPr>
          <a:xfrm>
            <a:off x="5232197" y="1572768"/>
            <a:ext cx="1724558" cy="749808"/>
          </a:xfrm>
          <a:prstGeom prst="rect">
            <a:avLst/>
          </a:prstGeom>
          <a:noFill/>
          <a:ln/>
        </p:spPr>
        <p:txBody>
          <a:bodyPr wrap="square" lIns="0" tIns="0" rIns="0" bIns="0" rtlCol="0" anchor="ctr"/>
          <a:lstStyle/>
          <a:p>
            <a:pPr algn="ctr" indent="0" marL="0">
              <a:lnSpc>
                <a:spcPct val="104000"/>
              </a:lnSpc>
              <a:buNone/>
            </a:pPr>
            <a:r>
              <a:rPr lang="en-US" sz="1050" b="1" dirty="0">
                <a:solidFill>
                  <a:srgbClr val="0A4451"/>
                </a:solidFill>
                <a:latin typeface="Calibri" pitchFamily="34" charset="0"/>
                <a:ea typeface="Calibri" pitchFamily="34" charset="-122"/>
                <a:cs typeface="Calibri" pitchFamily="34" charset="-120"/>
              </a:rPr>
              <a:t>Gather evidence</a:t>
            </a:r>
            <a:endParaRPr lang="en-US" sz="1050" dirty="0"/>
          </a:p>
          <a:p>
            <a:pPr algn="ctr" indent="0" marL="0">
              <a:lnSpc>
                <a:spcPct val="104000"/>
              </a:lnSpc>
              <a:buNone/>
            </a:pPr>
            <a:r>
              <a:rPr lang="en-US" sz="800" dirty="0">
                <a:solidFill>
                  <a:srgbClr val="0A4451"/>
                </a:solidFill>
                <a:latin typeface="Calibri" pitchFamily="34" charset="0"/>
                <a:ea typeface="Calibri" pitchFamily="34" charset="-122"/>
                <a:cs typeface="Calibri" pitchFamily="34" charset="-120"/>
              </a:rPr>
              <a:t>once, for all three sections</a:t>
            </a:r>
            <a:endParaRPr lang="en-US" sz="1050" dirty="0"/>
          </a:p>
        </p:txBody>
      </p:sp>
      <p:sp>
        <p:nvSpPr>
          <p:cNvPr id="18" name="Shape 12"/>
          <p:cNvSpPr/>
          <p:nvPr/>
        </p:nvSpPr>
        <p:spPr>
          <a:xfrm>
            <a:off x="7103059" y="1947672"/>
            <a:ext cx="256032" cy="0"/>
          </a:xfrm>
          <a:prstGeom prst="line">
            <a:avLst/>
          </a:prstGeom>
          <a:noFill/>
          <a:ln w="21590">
            <a:solidFill>
              <a:srgbClr val="64798F"/>
            </a:solidFill>
            <a:prstDash val="solid"/>
            <a:headEnd type="none"/>
            <a:tailEnd type="triangle"/>
          </a:ln>
        </p:spPr>
      </p:sp>
      <p:sp>
        <p:nvSpPr>
          <p:cNvPr id="19" name="Shape 13"/>
          <p:cNvSpPr/>
          <p:nvPr/>
        </p:nvSpPr>
        <p:spPr>
          <a:xfrm>
            <a:off x="7413955" y="1572768"/>
            <a:ext cx="1907438" cy="749808"/>
          </a:xfrm>
          <a:prstGeom prst="roundRect">
            <a:avLst>
              <a:gd name="adj" fmla="val 12195"/>
            </a:avLst>
          </a:prstGeom>
          <a:solidFill>
            <a:srgbClr val="EBE5FC"/>
          </a:solidFill>
          <a:ln w="15875">
            <a:solidFill>
              <a:srgbClr val="6D4DD1"/>
            </a:solidFill>
            <a:prstDash val="solid"/>
          </a:ln>
          <a:effectLst>
            <a:outerShdw sx="100000" sy="100000" kx="0" ky="0" algn="bl" rotWithShape="0" blurRad="101600" dist="19050" dir="5400000">
              <a:srgbClr val="9FB0C2">
                <a:alpha val="24000"/>
              </a:srgbClr>
            </a:outerShdw>
          </a:effectLst>
        </p:spPr>
      </p:sp>
      <p:pic>
        <p:nvPicPr>
          <p:cNvPr id="20" name="Image 4" descr="preencoded.png">    </p:cNvPr>
          <p:cNvPicPr>
            <a:picLocks noChangeAspect="1"/>
          </p:cNvPicPr>
          <p:nvPr/>
        </p:nvPicPr>
        <p:blipFill>
          <a:blip r:embed="rId5"/>
          <a:stretch>
            <a:fillRect/>
          </a:stretch>
        </p:blipFill>
        <p:spPr>
          <a:xfrm>
            <a:off x="7532827" y="1673352"/>
            <a:ext cx="182880" cy="182880"/>
          </a:xfrm>
          <a:prstGeom prst="rect">
            <a:avLst/>
          </a:prstGeom>
        </p:spPr>
      </p:pic>
      <p:sp>
        <p:nvSpPr>
          <p:cNvPr id="21" name="Text 14"/>
          <p:cNvSpPr txBox="1"/>
          <p:nvPr/>
        </p:nvSpPr>
        <p:spPr>
          <a:xfrm>
            <a:off x="7505395" y="1572768"/>
            <a:ext cx="1724558" cy="749808"/>
          </a:xfrm>
          <a:prstGeom prst="rect">
            <a:avLst/>
          </a:prstGeom>
          <a:noFill/>
          <a:ln/>
        </p:spPr>
        <p:txBody>
          <a:bodyPr wrap="square" lIns="0" tIns="0" rIns="0" bIns="0" rtlCol="0" anchor="ctr"/>
          <a:lstStyle/>
          <a:p>
            <a:pPr algn="ctr" indent="0" marL="0">
              <a:lnSpc>
                <a:spcPct val="104000"/>
              </a:lnSpc>
              <a:buNone/>
            </a:pPr>
            <a:r>
              <a:rPr lang="en-US" sz="1050" b="1" dirty="0">
                <a:solidFill>
                  <a:srgbClr val="35236E"/>
                </a:solidFill>
                <a:latin typeface="Calibri" pitchFamily="34" charset="0"/>
                <a:ea typeface="Calibri" pitchFamily="34" charset="-122"/>
                <a:cs typeface="Calibri" pitchFamily="34" charset="-120"/>
              </a:rPr>
              <a:t>Extract → verify</a:t>
            </a:r>
            <a:endParaRPr lang="en-US" sz="1050" dirty="0"/>
          </a:p>
          <a:p>
            <a:pPr algn="ctr" indent="0" marL="0">
              <a:lnSpc>
                <a:spcPct val="104000"/>
              </a:lnSpc>
              <a:buNone/>
            </a:pPr>
            <a:r>
              <a:rPr lang="en-US" sz="800" dirty="0">
                <a:solidFill>
                  <a:srgbClr val="35236E"/>
                </a:solidFill>
                <a:latin typeface="Calibri" pitchFamily="34" charset="0"/>
                <a:ea typeface="Calibri" pitchFamily="34" charset="-122"/>
                <a:cs typeface="Calibri" pitchFamily="34" charset="-120"/>
              </a:rPr>
              <a:t>financials_graph, two models</a:t>
            </a:r>
            <a:endParaRPr lang="en-US" sz="1050" dirty="0"/>
          </a:p>
        </p:txBody>
      </p:sp>
      <p:sp>
        <p:nvSpPr>
          <p:cNvPr id="22" name="Shape 15"/>
          <p:cNvSpPr/>
          <p:nvPr/>
        </p:nvSpPr>
        <p:spPr>
          <a:xfrm>
            <a:off x="9376258" y="1947672"/>
            <a:ext cx="256032" cy="0"/>
          </a:xfrm>
          <a:prstGeom prst="line">
            <a:avLst/>
          </a:prstGeom>
          <a:noFill/>
          <a:ln w="21590">
            <a:solidFill>
              <a:srgbClr val="64798F"/>
            </a:solidFill>
            <a:prstDash val="solid"/>
            <a:headEnd type="none"/>
            <a:tailEnd type="triangle"/>
          </a:ln>
        </p:spPr>
      </p:sp>
      <p:sp>
        <p:nvSpPr>
          <p:cNvPr id="23" name="Shape 16"/>
          <p:cNvSpPr/>
          <p:nvPr/>
        </p:nvSpPr>
        <p:spPr>
          <a:xfrm>
            <a:off x="9687154" y="1572768"/>
            <a:ext cx="1907438" cy="749808"/>
          </a:xfrm>
          <a:prstGeom prst="roundRect">
            <a:avLst>
              <a:gd name="adj" fmla="val 12195"/>
            </a:avLst>
          </a:prstGeom>
          <a:solidFill>
            <a:srgbClr val="FCEDD4"/>
          </a:solidFill>
          <a:ln w="15875">
            <a:solidFill>
              <a:srgbClr val="C9871B"/>
            </a:solidFill>
            <a:prstDash val="solid"/>
          </a:ln>
          <a:effectLst>
            <a:outerShdw sx="100000" sy="100000" kx="0" ky="0" algn="bl" rotWithShape="0" blurRad="101600" dist="19050" dir="5400000">
              <a:srgbClr val="9FB0C2">
                <a:alpha val="24000"/>
              </a:srgbClr>
            </a:outerShdw>
          </a:effectLst>
        </p:spPr>
      </p:sp>
      <p:pic>
        <p:nvPicPr>
          <p:cNvPr id="24" name="Image 5" descr="preencoded.png">    </p:cNvPr>
          <p:cNvPicPr>
            <a:picLocks noChangeAspect="1"/>
          </p:cNvPicPr>
          <p:nvPr/>
        </p:nvPicPr>
        <p:blipFill>
          <a:blip r:embed="rId6"/>
          <a:stretch>
            <a:fillRect/>
          </a:stretch>
        </p:blipFill>
        <p:spPr>
          <a:xfrm>
            <a:off x="9806026" y="1673352"/>
            <a:ext cx="182880" cy="182880"/>
          </a:xfrm>
          <a:prstGeom prst="rect">
            <a:avLst/>
          </a:prstGeom>
        </p:spPr>
      </p:pic>
      <p:sp>
        <p:nvSpPr>
          <p:cNvPr id="25" name="Text 17"/>
          <p:cNvSpPr txBox="1"/>
          <p:nvPr/>
        </p:nvSpPr>
        <p:spPr>
          <a:xfrm>
            <a:off x="9778594" y="1572768"/>
            <a:ext cx="1724558" cy="749808"/>
          </a:xfrm>
          <a:prstGeom prst="rect">
            <a:avLst/>
          </a:prstGeom>
          <a:noFill/>
          <a:ln/>
        </p:spPr>
        <p:txBody>
          <a:bodyPr wrap="square" lIns="0" tIns="0" rIns="0" bIns="0" rtlCol="0" anchor="ctr"/>
          <a:lstStyle/>
          <a:p>
            <a:pPr algn="ctr" indent="0" marL="0">
              <a:lnSpc>
                <a:spcPct val="104000"/>
              </a:lnSpc>
              <a:buNone/>
            </a:pPr>
            <a:r>
              <a:rPr lang="en-US" sz="1050" b="1" dirty="0">
                <a:solidFill>
                  <a:srgbClr val="64430A"/>
                </a:solidFill>
                <a:latin typeface="Calibri" pitchFamily="34" charset="0"/>
                <a:ea typeface="Calibri" pitchFamily="34" charset="-122"/>
                <a:cs typeface="Calibri" pitchFamily="34" charset="-120"/>
              </a:rPr>
              <a:t>Ground citations</a:t>
            </a:r>
            <a:endParaRPr lang="en-US" sz="1050" dirty="0"/>
          </a:p>
          <a:p>
            <a:pPr algn="ctr" indent="0" marL="0">
              <a:lnSpc>
                <a:spcPct val="104000"/>
              </a:lnSpc>
              <a:buNone/>
            </a:pPr>
            <a:r>
              <a:rPr lang="en-US" sz="800" dirty="0">
                <a:solidFill>
                  <a:srgbClr val="64430A"/>
                </a:solidFill>
                <a:latin typeface="Calibri" pitchFamily="34" charset="0"/>
                <a:ea typeface="Calibri" pitchFamily="34" charset="-122"/>
                <a:cs typeface="Calibri" pitchFamily="34" charset="-120"/>
              </a:rPr>
              <a:t>quote matched against the source</a:t>
            </a:r>
            <a:endParaRPr lang="en-US" sz="1050" dirty="0"/>
          </a:p>
        </p:txBody>
      </p:sp>
      <p:sp>
        <p:nvSpPr>
          <p:cNvPr id="26" name="Shape 18"/>
          <p:cNvSpPr/>
          <p:nvPr/>
        </p:nvSpPr>
        <p:spPr>
          <a:xfrm>
            <a:off x="594360" y="2743200"/>
            <a:ext cx="3200400" cy="914400"/>
          </a:xfrm>
          <a:prstGeom prst="roundRect">
            <a:avLst>
              <a:gd name="adj" fmla="val 10000"/>
            </a:avLst>
          </a:prstGeom>
          <a:solidFill>
            <a:srgbClr val="DCF2F4"/>
          </a:solidFill>
          <a:ln w="15875">
            <a:solidFill>
              <a:srgbClr val="108494"/>
            </a:solidFill>
            <a:prstDash val="solid"/>
          </a:ln>
          <a:effectLst>
            <a:outerShdw sx="100000" sy="100000" kx="0" ky="0" algn="bl" rotWithShape="0" blurRad="101600" dist="19050" dir="5400000">
              <a:srgbClr val="9FB0C2">
                <a:alpha val="24000"/>
              </a:srgbClr>
            </a:outerShdw>
          </a:effectLst>
        </p:spPr>
      </p:sp>
      <p:pic>
        <p:nvPicPr>
          <p:cNvPr id="27" name="Image 6" descr="preencoded.png">    </p:cNvPr>
          <p:cNvPicPr>
            <a:picLocks noChangeAspect="1"/>
          </p:cNvPicPr>
          <p:nvPr/>
        </p:nvPicPr>
        <p:blipFill>
          <a:blip r:embed="rId7"/>
          <a:stretch>
            <a:fillRect/>
          </a:stretch>
        </p:blipFill>
        <p:spPr>
          <a:xfrm>
            <a:off x="713232" y="2843784"/>
            <a:ext cx="182880" cy="182880"/>
          </a:xfrm>
          <a:prstGeom prst="rect">
            <a:avLst/>
          </a:prstGeom>
        </p:spPr>
      </p:pic>
      <p:sp>
        <p:nvSpPr>
          <p:cNvPr id="28" name="Text 19"/>
          <p:cNvSpPr txBox="1"/>
          <p:nvPr/>
        </p:nvSpPr>
        <p:spPr>
          <a:xfrm>
            <a:off x="685800" y="2743200"/>
            <a:ext cx="3017520" cy="914400"/>
          </a:xfrm>
          <a:prstGeom prst="rect">
            <a:avLst/>
          </a:prstGeom>
          <a:noFill/>
          <a:ln/>
        </p:spPr>
        <p:txBody>
          <a:bodyPr wrap="square" lIns="0" tIns="0" rIns="0" bIns="0" rtlCol="0" anchor="ctr"/>
          <a:lstStyle/>
          <a:p>
            <a:pPr algn="ctr" indent="0" marL="0">
              <a:lnSpc>
                <a:spcPct val="104000"/>
              </a:lnSpc>
              <a:buNone/>
            </a:pPr>
            <a:r>
              <a:rPr lang="en-US" sz="700" b="1" spc="110" kern="0" dirty="0">
                <a:solidFill>
                  <a:srgbClr val="108494"/>
                </a:solidFill>
                <a:latin typeface="Calibri" pitchFamily="34" charset="0"/>
                <a:ea typeface="Calibri" pitchFamily="34" charset="-122"/>
                <a:cs typeface="Calibri" pitchFamily="34" charset="-120"/>
              </a:rPr>
              <a:t>OVERLAY, EDGAR FILERS ONLY</a:t>
            </a:r>
            <a:endParaRPr lang="en-US" sz="700" dirty="0"/>
          </a:p>
          <a:p>
            <a:pPr algn="ctr" indent="0" marL="0">
              <a:lnSpc>
                <a:spcPct val="104000"/>
              </a:lnSpc>
              <a:buNone/>
            </a:pPr>
            <a:r>
              <a:rPr lang="en-US" sz="1100" b="1" dirty="0">
                <a:solidFill>
                  <a:srgbClr val="0A4451"/>
                </a:solidFill>
                <a:latin typeface="Calibri" pitchFamily="34" charset="0"/>
                <a:ea typeface="Calibri" pitchFamily="34" charset="-122"/>
                <a:cs typeface="Calibri" pitchFamily="34" charset="-120"/>
              </a:rPr>
              <a:t>SEC companyfacts (XBRL)</a:t>
            </a:r>
            <a:endParaRPr lang="en-US" sz="700" dirty="0"/>
          </a:p>
          <a:p>
            <a:pPr algn="ctr" indent="0" marL="0">
              <a:lnSpc>
                <a:spcPct val="104000"/>
              </a:lnSpc>
              <a:buNone/>
            </a:pPr>
            <a:r>
              <a:rPr lang="en-US" sz="800" dirty="0">
                <a:solidFill>
                  <a:srgbClr val="0A4451"/>
                </a:solidFill>
                <a:latin typeface="Calibri" pitchFamily="34" charset="0"/>
                <a:ea typeface="Calibri" pitchFamily="34" charset="-122"/>
                <a:cs typeface="Calibri" pitchFamily="34" charset="-120"/>
              </a:rPr>
              <a:t>resolve CIK → fetch tagged CapEx / R&amp;D totals</a:t>
            </a:r>
            <a:endParaRPr lang="en-US" sz="700" dirty="0"/>
          </a:p>
        </p:txBody>
      </p:sp>
      <p:sp>
        <p:nvSpPr>
          <p:cNvPr id="29" name="Shape 20"/>
          <p:cNvSpPr/>
          <p:nvPr/>
        </p:nvSpPr>
        <p:spPr>
          <a:xfrm>
            <a:off x="3931920" y="2743200"/>
            <a:ext cx="3291840" cy="914400"/>
          </a:xfrm>
          <a:prstGeom prst="diamond">
            <a:avLst/>
          </a:prstGeom>
          <a:solidFill>
            <a:srgbClr val="FCEDD4"/>
          </a:solidFill>
          <a:ln w="15875">
            <a:solidFill>
              <a:srgbClr val="C9871B"/>
            </a:solidFill>
            <a:prstDash val="solid"/>
          </a:ln>
        </p:spPr>
      </p:sp>
      <p:sp>
        <p:nvSpPr>
          <p:cNvPr id="30" name="Text 21"/>
          <p:cNvSpPr txBox="1"/>
          <p:nvPr/>
        </p:nvSpPr>
        <p:spPr>
          <a:xfrm>
            <a:off x="4023360" y="2743200"/>
            <a:ext cx="3108960" cy="914400"/>
          </a:xfrm>
          <a:prstGeom prst="rect">
            <a:avLst/>
          </a:prstGeom>
          <a:noFill/>
          <a:ln/>
        </p:spPr>
        <p:txBody>
          <a:bodyPr wrap="square" lIns="0" tIns="0" rIns="0" bIns="0" rtlCol="0" anchor="ctr"/>
          <a:lstStyle/>
          <a:p>
            <a:pPr algn="ctr" indent="0" marL="0">
              <a:lnSpc>
                <a:spcPct val="104000"/>
              </a:lnSpc>
              <a:buNone/>
            </a:pPr>
            <a:r>
              <a:rPr lang="en-US" sz="950" b="1" dirty="0">
                <a:solidFill>
                  <a:srgbClr val="64430A"/>
                </a:solidFill>
                <a:latin typeface="Calibri" pitchFamily="34" charset="0"/>
                <a:ea typeface="Calibri" pitchFamily="34" charset="-122"/>
                <a:cs typeface="Calibri" pitchFamily="34" charset="-120"/>
              </a:rPr>
              <a:t>tagged figure present?</a:t>
            </a:r>
            <a:endParaRPr lang="en-US" sz="950" dirty="0"/>
          </a:p>
        </p:txBody>
      </p:sp>
      <p:sp>
        <p:nvSpPr>
          <p:cNvPr id="31" name="Shape 22"/>
          <p:cNvSpPr/>
          <p:nvPr/>
        </p:nvSpPr>
        <p:spPr>
          <a:xfrm>
            <a:off x="3822192" y="3200400"/>
            <a:ext cx="338328" cy="0"/>
          </a:xfrm>
          <a:prstGeom prst="line">
            <a:avLst/>
          </a:prstGeom>
          <a:noFill/>
          <a:ln w="17780">
            <a:solidFill>
              <a:srgbClr val="108494"/>
            </a:solidFill>
            <a:prstDash val="solid"/>
            <a:headEnd type="none"/>
            <a:tailEnd type="triangle"/>
          </a:ln>
        </p:spPr>
      </p:sp>
      <p:sp>
        <p:nvSpPr>
          <p:cNvPr id="32" name="Shape 23"/>
          <p:cNvSpPr/>
          <p:nvPr/>
        </p:nvSpPr>
        <p:spPr>
          <a:xfrm>
            <a:off x="7955280" y="2542032"/>
            <a:ext cx="3639312" cy="548640"/>
          </a:xfrm>
          <a:prstGeom prst="roundRect">
            <a:avLst>
              <a:gd name="adj" fmla="val 16667"/>
            </a:avLst>
          </a:prstGeom>
          <a:solidFill>
            <a:srgbClr val="E0F3E3"/>
          </a:solidFill>
          <a:ln w="15875">
            <a:solidFill>
              <a:srgbClr val="2F8F48"/>
            </a:solidFill>
            <a:prstDash val="solid"/>
          </a:ln>
          <a:effectLst>
            <a:outerShdw sx="100000" sy="100000" kx="0" ky="0" algn="bl" rotWithShape="0" blurRad="101600" dist="19050" dir="5400000">
              <a:srgbClr val="9FB0C2">
                <a:alpha val="24000"/>
              </a:srgbClr>
            </a:outerShdw>
          </a:effectLst>
        </p:spPr>
      </p:sp>
      <p:sp>
        <p:nvSpPr>
          <p:cNvPr id="33" name="Text 24"/>
          <p:cNvSpPr txBox="1"/>
          <p:nvPr/>
        </p:nvSpPr>
        <p:spPr>
          <a:xfrm>
            <a:off x="8046720" y="2542032"/>
            <a:ext cx="3456432" cy="548640"/>
          </a:xfrm>
          <a:prstGeom prst="rect">
            <a:avLst/>
          </a:prstGeom>
          <a:noFill/>
          <a:ln/>
        </p:spPr>
        <p:txBody>
          <a:bodyPr wrap="square" lIns="0" tIns="0" rIns="0" bIns="0" rtlCol="0" anchor="ctr"/>
          <a:lstStyle/>
          <a:p>
            <a:pPr algn="ctr" indent="0" marL="0">
              <a:lnSpc>
                <a:spcPct val="104000"/>
              </a:lnSpc>
              <a:buNone/>
            </a:pPr>
            <a:r>
              <a:rPr lang="en-US" sz="950" b="1" dirty="0">
                <a:solidFill>
                  <a:srgbClr val="17431F"/>
                </a:solidFill>
                <a:latin typeface="Calibri" pitchFamily="34" charset="0"/>
                <a:ea typeface="Calibri" pitchFamily="34" charset="-122"/>
                <a:cs typeface="Calibri" pitchFamily="34" charset="-120"/>
              </a:rPr>
              <a:t>Scalar total replaced, marked grounded, confidence 1.0</a:t>
            </a:r>
            <a:endParaRPr lang="en-US" sz="950" dirty="0"/>
          </a:p>
        </p:txBody>
      </p:sp>
      <p:sp>
        <p:nvSpPr>
          <p:cNvPr id="34" name="Shape 25"/>
          <p:cNvSpPr/>
          <p:nvPr/>
        </p:nvSpPr>
        <p:spPr>
          <a:xfrm>
            <a:off x="7955280" y="3310128"/>
            <a:ext cx="3639312" cy="548640"/>
          </a:xfrm>
          <a:prstGeom prst="roundRect">
            <a:avLst>
              <a:gd name="adj" fmla="val 16667"/>
            </a:avLst>
          </a:prstGeom>
          <a:solidFill>
            <a:srgbClr val="EBE5FC"/>
          </a:solidFill>
          <a:ln w="15875">
            <a:solidFill>
              <a:srgbClr val="6D4DD1"/>
            </a:solidFill>
            <a:prstDash val="solid"/>
          </a:ln>
          <a:effectLst>
            <a:outerShdw sx="100000" sy="100000" kx="0" ky="0" algn="bl" rotWithShape="0" blurRad="101600" dist="19050" dir="5400000">
              <a:srgbClr val="9FB0C2">
                <a:alpha val="24000"/>
              </a:srgbClr>
            </a:outerShdw>
          </a:effectLst>
        </p:spPr>
      </p:sp>
      <p:sp>
        <p:nvSpPr>
          <p:cNvPr id="35" name="Text 26"/>
          <p:cNvSpPr txBox="1"/>
          <p:nvPr/>
        </p:nvSpPr>
        <p:spPr>
          <a:xfrm>
            <a:off x="8046720" y="3310128"/>
            <a:ext cx="3456432" cy="548640"/>
          </a:xfrm>
          <a:prstGeom prst="rect">
            <a:avLst/>
          </a:prstGeom>
          <a:noFill/>
          <a:ln/>
        </p:spPr>
        <p:txBody>
          <a:bodyPr wrap="square" lIns="0" tIns="0" rIns="0" bIns="0" rtlCol="0" anchor="ctr"/>
          <a:lstStyle/>
          <a:p>
            <a:pPr algn="ctr" indent="0" marL="0">
              <a:lnSpc>
                <a:spcPct val="104000"/>
              </a:lnSpc>
              <a:buNone/>
            </a:pPr>
            <a:r>
              <a:rPr lang="en-US" sz="950" b="1" dirty="0">
                <a:solidFill>
                  <a:srgbClr val="35236E"/>
                </a:solidFill>
                <a:latin typeface="Calibri" pitchFamily="34" charset="0"/>
                <a:ea typeface="Calibri" pitchFamily="34" charset="-122"/>
                <a:cs typeface="Calibri" pitchFamily="34" charset="-120"/>
              </a:rPr>
              <a:t>The pipeline's own extracted total stands</a:t>
            </a:r>
            <a:endParaRPr lang="en-US" sz="950" dirty="0"/>
          </a:p>
        </p:txBody>
      </p:sp>
      <p:sp>
        <p:nvSpPr>
          <p:cNvPr id="36" name="Shape 27"/>
          <p:cNvSpPr/>
          <p:nvPr/>
        </p:nvSpPr>
        <p:spPr>
          <a:xfrm flipV="1">
            <a:off x="7086600" y="2816352"/>
            <a:ext cx="813816" cy="182880"/>
          </a:xfrm>
          <a:prstGeom prst="line">
            <a:avLst/>
          </a:prstGeom>
          <a:noFill/>
          <a:ln w="16510">
            <a:solidFill>
              <a:srgbClr val="2F8F48"/>
            </a:solidFill>
            <a:prstDash val="solid"/>
            <a:headEnd type="none"/>
            <a:tailEnd type="triangle"/>
          </a:ln>
        </p:spPr>
      </p:sp>
      <p:sp>
        <p:nvSpPr>
          <p:cNvPr id="37" name="Shape 28"/>
          <p:cNvSpPr/>
          <p:nvPr/>
        </p:nvSpPr>
        <p:spPr>
          <a:xfrm>
            <a:off x="7086600" y="3401568"/>
            <a:ext cx="813816" cy="182880"/>
          </a:xfrm>
          <a:prstGeom prst="line">
            <a:avLst/>
          </a:prstGeom>
          <a:noFill/>
          <a:ln w="16510">
            <a:solidFill>
              <a:srgbClr val="64798F"/>
            </a:solidFill>
            <a:prstDash val="solid"/>
            <a:headEnd type="none"/>
            <a:tailEnd type="triangle"/>
          </a:ln>
        </p:spPr>
      </p:sp>
      <p:sp>
        <p:nvSpPr>
          <p:cNvPr id="38" name="Text 29"/>
          <p:cNvSpPr txBox="1"/>
          <p:nvPr/>
        </p:nvSpPr>
        <p:spPr>
          <a:xfrm>
            <a:off x="7132320" y="2633472"/>
            <a:ext cx="731520" cy="182880"/>
          </a:xfrm>
          <a:prstGeom prst="rect">
            <a:avLst/>
          </a:prstGeom>
          <a:noFill/>
          <a:ln/>
        </p:spPr>
        <p:txBody>
          <a:bodyPr wrap="square" lIns="0" tIns="0" rIns="0" bIns="0" rtlCol="0" anchor="ctr"/>
          <a:lstStyle/>
          <a:p>
            <a:pPr algn="ctr" indent="0" marL="0">
              <a:buNone/>
            </a:pPr>
            <a:r>
              <a:rPr lang="en-US" sz="800" i="1" dirty="0">
                <a:solidFill>
                  <a:srgbClr val="2F8F48"/>
                </a:solidFill>
                <a:latin typeface="Calibri" pitchFamily="34" charset="0"/>
                <a:ea typeface="Calibri" pitchFamily="34" charset="-122"/>
                <a:cs typeface="Calibri" pitchFamily="34" charset="-120"/>
              </a:rPr>
              <a:t>yes</a:t>
            </a:r>
            <a:endParaRPr lang="en-US" sz="800" dirty="0"/>
          </a:p>
        </p:txBody>
      </p:sp>
      <p:sp>
        <p:nvSpPr>
          <p:cNvPr id="39" name="Text 30"/>
          <p:cNvSpPr txBox="1"/>
          <p:nvPr/>
        </p:nvSpPr>
        <p:spPr>
          <a:xfrm>
            <a:off x="7132320" y="3657600"/>
            <a:ext cx="731520" cy="182880"/>
          </a:xfrm>
          <a:prstGeom prst="rect">
            <a:avLst/>
          </a:prstGeom>
          <a:noFill/>
          <a:ln/>
        </p:spPr>
        <p:txBody>
          <a:bodyPr wrap="square" lIns="0" tIns="0" rIns="0" bIns="0" rtlCol="0" anchor="ctr"/>
          <a:lstStyle/>
          <a:p>
            <a:pPr algn="ctr" indent="0" marL="0">
              <a:buNone/>
            </a:pPr>
            <a:r>
              <a:rPr lang="en-US" sz="800" i="1" dirty="0">
                <a:solidFill>
                  <a:srgbClr val="58697A"/>
                </a:solidFill>
                <a:latin typeface="Calibri" pitchFamily="34" charset="0"/>
                <a:ea typeface="Calibri" pitchFamily="34" charset="-122"/>
                <a:cs typeface="Calibri" pitchFamily="34" charset="-120"/>
              </a:rPr>
              <a:t>no</a:t>
            </a:r>
            <a:endParaRPr lang="en-US" sz="800" dirty="0"/>
          </a:p>
        </p:txBody>
      </p:sp>
      <p:sp>
        <p:nvSpPr>
          <p:cNvPr id="40" name="Text 31"/>
          <p:cNvSpPr txBox="1"/>
          <p:nvPr/>
        </p:nvSpPr>
        <p:spPr>
          <a:xfrm>
            <a:off x="594360" y="3703320"/>
            <a:ext cx="3200400" cy="219456"/>
          </a:xfrm>
          <a:prstGeom prst="rect">
            <a:avLst/>
          </a:prstGeom>
          <a:noFill/>
          <a:ln/>
        </p:spPr>
        <p:txBody>
          <a:bodyPr wrap="square" lIns="0" tIns="0" rIns="0" bIns="0" rtlCol="0" anchor="ctr"/>
          <a:lstStyle/>
          <a:p>
            <a:pPr algn="ctr" indent="0" marL="0">
              <a:buNone/>
            </a:pPr>
            <a:r>
              <a:rPr lang="en-US" sz="800" i="1" dirty="0">
                <a:solidFill>
                  <a:srgbClr val="58697A"/>
                </a:solidFill>
                <a:latin typeface="Calibri" pitchFamily="34" charset="0"/>
                <a:ea typeface="Calibri" pitchFamily="34" charset="-122"/>
                <a:cs typeface="Calibri" pitchFamily="34" charset="-120"/>
              </a:rPr>
              <a:t>descriptions and category splits always stay with the LLM pass</a:t>
            </a:r>
            <a:endParaRPr lang="en-US" sz="800" dirty="0"/>
          </a:p>
        </p:txBody>
      </p:sp>
      <p:sp>
        <p:nvSpPr>
          <p:cNvPr id="41" name="Shape 32"/>
          <p:cNvSpPr/>
          <p:nvPr/>
        </p:nvSpPr>
        <p:spPr>
          <a:xfrm>
            <a:off x="594360" y="4160520"/>
            <a:ext cx="11000232" cy="914400"/>
          </a:xfrm>
          <a:prstGeom prst="roundRect">
            <a:avLst>
              <a:gd name="adj" fmla="val 4000"/>
            </a:avLst>
          </a:prstGeom>
          <a:solidFill>
            <a:srgbClr val="F4F7FA"/>
          </a:solidFill>
          <a:ln w="15875">
            <a:solidFill>
              <a:srgbClr val="9FB2C4"/>
            </a:solidFill>
            <a:prstDash val="dash"/>
          </a:ln>
        </p:spPr>
      </p:sp>
      <p:sp>
        <p:nvSpPr>
          <p:cNvPr id="42" name="Shape 33"/>
          <p:cNvSpPr/>
          <p:nvPr/>
        </p:nvSpPr>
        <p:spPr>
          <a:xfrm>
            <a:off x="740664" y="4041648"/>
            <a:ext cx="2165299" cy="274320"/>
          </a:xfrm>
          <a:prstGeom prst="roundRect">
            <a:avLst>
              <a:gd name="adj" fmla="val 50000"/>
            </a:avLst>
          </a:prstGeom>
          <a:solidFill>
            <a:srgbClr val="64798F"/>
          </a:solidFill>
          <a:ln/>
        </p:spPr>
      </p:sp>
      <p:pic>
        <p:nvPicPr>
          <p:cNvPr id="43" name="Image 7" descr="preencoded.png">    </p:cNvPr>
          <p:cNvPicPr>
            <a:picLocks noChangeAspect="1"/>
          </p:cNvPicPr>
          <p:nvPr/>
        </p:nvPicPr>
        <p:blipFill>
          <a:blip r:embed="rId8"/>
          <a:stretch>
            <a:fillRect/>
          </a:stretch>
        </p:blipFill>
        <p:spPr>
          <a:xfrm>
            <a:off x="859536" y="4110228"/>
            <a:ext cx="132588" cy="132588"/>
          </a:xfrm>
          <a:prstGeom prst="rect">
            <a:avLst/>
          </a:prstGeom>
        </p:spPr>
      </p:pic>
      <p:sp>
        <p:nvSpPr>
          <p:cNvPr id="44" name="Text 34"/>
          <p:cNvSpPr txBox="1"/>
          <p:nvPr/>
        </p:nvSpPr>
        <p:spPr>
          <a:xfrm>
            <a:off x="1014984" y="4041648"/>
            <a:ext cx="1890979" cy="274320"/>
          </a:xfrm>
          <a:prstGeom prst="rect">
            <a:avLst/>
          </a:prstGeom>
          <a:noFill/>
          <a:ln/>
        </p:spPr>
        <p:txBody>
          <a:bodyPr wrap="square" lIns="0" tIns="0" rIns="0" bIns="0" rtlCol="0" anchor="ctr"/>
          <a:lstStyle/>
          <a:p>
            <a:pPr algn="ctr" indent="0" marL="0">
              <a:buNone/>
            </a:pPr>
            <a:r>
              <a:rPr lang="en-US" sz="850" b="1" spc="110" kern="0" dirty="0">
                <a:solidFill>
                  <a:srgbClr val="FFFFFF"/>
                </a:solidFill>
                <a:latin typeface="Calibri" pitchFamily="34" charset="0"/>
                <a:ea typeface="Calibri" pitchFamily="34" charset="-122"/>
                <a:cs typeface="Calibri" pitchFamily="34" charset="-120"/>
              </a:rPr>
              <a:t>PER-SECTION REVIEW FLAGS</a:t>
            </a:r>
            <a:endParaRPr lang="en-US" sz="850" dirty="0"/>
          </a:p>
        </p:txBody>
      </p:sp>
      <p:sp>
        <p:nvSpPr>
          <p:cNvPr id="45" name="Shape 35"/>
          <p:cNvSpPr/>
          <p:nvPr/>
        </p:nvSpPr>
        <p:spPr>
          <a:xfrm>
            <a:off x="822960" y="4526280"/>
            <a:ext cx="3291840" cy="411480"/>
          </a:xfrm>
          <a:prstGeom prst="roundRect">
            <a:avLst>
              <a:gd name="adj" fmla="val 22222"/>
            </a:avLst>
          </a:prstGeom>
          <a:solidFill>
            <a:srgbClr val="FBE2E8"/>
          </a:solidFill>
          <a:ln w="15875">
            <a:solidFill>
              <a:srgbClr val="CE3D64"/>
            </a:solidFill>
            <a:prstDash val="solid"/>
          </a:ln>
        </p:spPr>
      </p:sp>
      <p:sp>
        <p:nvSpPr>
          <p:cNvPr id="46" name="Text 36"/>
          <p:cNvSpPr txBox="1"/>
          <p:nvPr/>
        </p:nvSpPr>
        <p:spPr>
          <a:xfrm>
            <a:off x="914400" y="4526280"/>
            <a:ext cx="3108960" cy="411480"/>
          </a:xfrm>
          <a:prstGeom prst="rect">
            <a:avLst/>
          </a:prstGeom>
          <a:noFill/>
          <a:ln/>
        </p:spPr>
        <p:txBody>
          <a:bodyPr wrap="square" lIns="0" tIns="0" rIns="0" bIns="0" rtlCol="0" anchor="ctr"/>
          <a:lstStyle/>
          <a:p>
            <a:pPr algn="ctr" indent="0" marL="0">
              <a:lnSpc>
                <a:spcPct val="104000"/>
              </a:lnSpc>
              <a:buNone/>
            </a:pPr>
            <a:r>
              <a:rPr lang="en-US" sz="920" b="1" dirty="0">
                <a:solidFill>
                  <a:srgbClr val="68182F"/>
                </a:solidFill>
                <a:latin typeface="Calibri" pitchFamily="34" charset="0"/>
                <a:ea typeface="Calibri" pitchFamily="34" charset="-122"/>
                <a:cs typeface="Calibri" pitchFamily="34" charset="-120"/>
              </a:rPr>
              <a:t>Segments — its own needs_review flag</a:t>
            </a:r>
            <a:endParaRPr lang="en-US" sz="920" dirty="0"/>
          </a:p>
        </p:txBody>
      </p:sp>
      <p:sp>
        <p:nvSpPr>
          <p:cNvPr id="47" name="Shape 37"/>
          <p:cNvSpPr/>
          <p:nvPr/>
        </p:nvSpPr>
        <p:spPr>
          <a:xfrm>
            <a:off x="4434840" y="4526280"/>
            <a:ext cx="3291840" cy="411480"/>
          </a:xfrm>
          <a:prstGeom prst="roundRect">
            <a:avLst>
              <a:gd name="adj" fmla="val 22222"/>
            </a:avLst>
          </a:prstGeom>
          <a:solidFill>
            <a:srgbClr val="FBE2E8"/>
          </a:solidFill>
          <a:ln w="15875">
            <a:solidFill>
              <a:srgbClr val="CE3D64"/>
            </a:solidFill>
            <a:prstDash val="solid"/>
          </a:ln>
        </p:spPr>
      </p:sp>
      <p:sp>
        <p:nvSpPr>
          <p:cNvPr id="48" name="Text 38"/>
          <p:cNvSpPr txBox="1"/>
          <p:nvPr/>
        </p:nvSpPr>
        <p:spPr>
          <a:xfrm>
            <a:off x="4526280" y="4526280"/>
            <a:ext cx="3108960" cy="411480"/>
          </a:xfrm>
          <a:prstGeom prst="rect">
            <a:avLst/>
          </a:prstGeom>
          <a:noFill/>
          <a:ln/>
        </p:spPr>
        <p:txBody>
          <a:bodyPr wrap="square" lIns="0" tIns="0" rIns="0" bIns="0" rtlCol="0" anchor="ctr"/>
          <a:lstStyle/>
          <a:p>
            <a:pPr algn="ctr" indent="0" marL="0">
              <a:lnSpc>
                <a:spcPct val="104000"/>
              </a:lnSpc>
              <a:buNone/>
            </a:pPr>
            <a:r>
              <a:rPr lang="en-US" sz="920" b="1" dirty="0">
                <a:solidFill>
                  <a:srgbClr val="68182F"/>
                </a:solidFill>
                <a:latin typeface="Calibri" pitchFamily="34" charset="0"/>
                <a:ea typeface="Calibri" pitchFamily="34" charset="-122"/>
                <a:cs typeface="Calibri" pitchFamily="34" charset="-120"/>
              </a:rPr>
              <a:t>CapEx — its own needs_review flag</a:t>
            </a:r>
            <a:endParaRPr lang="en-US" sz="920" dirty="0"/>
          </a:p>
        </p:txBody>
      </p:sp>
      <p:sp>
        <p:nvSpPr>
          <p:cNvPr id="49" name="Shape 39"/>
          <p:cNvSpPr/>
          <p:nvPr/>
        </p:nvSpPr>
        <p:spPr>
          <a:xfrm>
            <a:off x="8046720" y="4526280"/>
            <a:ext cx="3291840" cy="411480"/>
          </a:xfrm>
          <a:prstGeom prst="roundRect">
            <a:avLst>
              <a:gd name="adj" fmla="val 22222"/>
            </a:avLst>
          </a:prstGeom>
          <a:solidFill>
            <a:srgbClr val="FBE2E8"/>
          </a:solidFill>
          <a:ln w="15875">
            <a:solidFill>
              <a:srgbClr val="CE3D64"/>
            </a:solidFill>
            <a:prstDash val="solid"/>
          </a:ln>
        </p:spPr>
      </p:sp>
      <p:sp>
        <p:nvSpPr>
          <p:cNvPr id="50" name="Text 40"/>
          <p:cNvSpPr txBox="1"/>
          <p:nvPr/>
        </p:nvSpPr>
        <p:spPr>
          <a:xfrm>
            <a:off x="8138160" y="4526280"/>
            <a:ext cx="3108960" cy="411480"/>
          </a:xfrm>
          <a:prstGeom prst="rect">
            <a:avLst/>
          </a:prstGeom>
          <a:noFill/>
          <a:ln/>
        </p:spPr>
        <p:txBody>
          <a:bodyPr wrap="square" lIns="0" tIns="0" rIns="0" bIns="0" rtlCol="0" anchor="ctr"/>
          <a:lstStyle/>
          <a:p>
            <a:pPr algn="ctr" indent="0" marL="0">
              <a:lnSpc>
                <a:spcPct val="104000"/>
              </a:lnSpc>
              <a:buNone/>
            </a:pPr>
            <a:r>
              <a:rPr lang="en-US" sz="920" b="1" dirty="0">
                <a:solidFill>
                  <a:srgbClr val="68182F"/>
                </a:solidFill>
                <a:latin typeface="Calibri" pitchFamily="34" charset="0"/>
                <a:ea typeface="Calibri" pitchFamily="34" charset="-122"/>
                <a:cs typeface="Calibri" pitchFamily="34" charset="-120"/>
              </a:rPr>
              <a:t>R&amp;D — its own needs_review flag</a:t>
            </a:r>
            <a:endParaRPr lang="en-US" sz="920" dirty="0"/>
          </a:p>
        </p:txBody>
      </p:sp>
      <p:sp>
        <p:nvSpPr>
          <p:cNvPr id="51" name="Shape 41"/>
          <p:cNvSpPr/>
          <p:nvPr/>
        </p:nvSpPr>
        <p:spPr>
          <a:xfrm>
            <a:off x="594360" y="5321808"/>
            <a:ext cx="3532632" cy="941832"/>
          </a:xfrm>
          <a:prstGeom prst="roundRect">
            <a:avLst>
              <a:gd name="adj" fmla="val 3883"/>
            </a:avLst>
          </a:prstGeom>
          <a:solidFill>
            <a:srgbClr val="F4F7FA"/>
          </a:solidFill>
          <a:ln w="15875">
            <a:solidFill>
              <a:srgbClr val="DDE5ED"/>
            </a:solidFill>
            <a:prstDash val="solid"/>
          </a:ln>
        </p:spPr>
      </p:sp>
      <p:sp>
        <p:nvSpPr>
          <p:cNvPr id="52" name="Text 42"/>
          <p:cNvSpPr txBox="1"/>
          <p:nvPr/>
        </p:nvSpPr>
        <p:spPr>
          <a:xfrm>
            <a:off x="758952" y="5422392"/>
            <a:ext cx="3203448" cy="201168"/>
          </a:xfrm>
          <a:prstGeom prst="rect">
            <a:avLst/>
          </a:prstGeom>
          <a:noFill/>
          <a:ln/>
        </p:spPr>
        <p:txBody>
          <a:bodyPr wrap="square" lIns="0" tIns="0" rIns="0" bIns="0" rtlCol="0" anchor="ctr"/>
          <a:lstStyle/>
          <a:p>
            <a:pPr indent="0" marL="0">
              <a:buNone/>
            </a:pPr>
            <a:r>
              <a:rPr lang="en-US" sz="850" b="1" spc="140" kern="0" dirty="0">
                <a:solidFill>
                  <a:srgbClr val="6D4DD1"/>
                </a:solidFill>
                <a:latin typeface="Calibri" pitchFamily="34" charset="0"/>
                <a:ea typeface="Calibri" pitchFamily="34" charset="-122"/>
                <a:cs typeface="Calibri" pitchFamily="34" charset="-120"/>
              </a:rPr>
              <a:t>MODULES</a:t>
            </a:r>
            <a:endParaRPr lang="en-US" sz="850" dirty="0"/>
          </a:p>
        </p:txBody>
      </p:sp>
      <p:sp>
        <p:nvSpPr>
          <p:cNvPr id="53" name="Text 43"/>
          <p:cNvSpPr txBox="1"/>
          <p:nvPr/>
        </p:nvSpPr>
        <p:spPr>
          <a:xfrm>
            <a:off x="758952" y="5641848"/>
            <a:ext cx="3203448" cy="548640"/>
          </a:xfrm>
          <a:prstGeom prst="rect">
            <a:avLst/>
          </a:prstGeom>
          <a:noFill/>
          <a:ln/>
        </p:spPr>
        <p:txBody>
          <a:bodyPr wrap="square" lIns="0" tIns="0" rIns="0" bIns="0" rtlCol="0" anchor="ctr"/>
          <a:lstStyle/>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arp/extraction/{financials_pipeline,financials_graph}.py</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arp/extraction/segment_*.py, spend_*.py</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arp/ingestion/xbrl.py (free SEC endpoint, no key)</a:t>
            </a:r>
            <a:endParaRPr lang="en-US" sz="860" dirty="0"/>
          </a:p>
        </p:txBody>
      </p:sp>
      <p:sp>
        <p:nvSpPr>
          <p:cNvPr id="54" name="Shape 44"/>
          <p:cNvSpPr/>
          <p:nvPr/>
        </p:nvSpPr>
        <p:spPr>
          <a:xfrm>
            <a:off x="4328160" y="5321808"/>
            <a:ext cx="3532632" cy="941832"/>
          </a:xfrm>
          <a:prstGeom prst="roundRect">
            <a:avLst>
              <a:gd name="adj" fmla="val 3883"/>
            </a:avLst>
          </a:prstGeom>
          <a:solidFill>
            <a:srgbClr val="F4F7FA"/>
          </a:solidFill>
          <a:ln w="15875">
            <a:solidFill>
              <a:srgbClr val="DDE5ED"/>
            </a:solidFill>
            <a:prstDash val="solid"/>
          </a:ln>
        </p:spPr>
      </p:sp>
      <p:sp>
        <p:nvSpPr>
          <p:cNvPr id="55" name="Text 45"/>
          <p:cNvSpPr txBox="1"/>
          <p:nvPr/>
        </p:nvSpPr>
        <p:spPr>
          <a:xfrm>
            <a:off x="4492752" y="5422392"/>
            <a:ext cx="3203448" cy="201168"/>
          </a:xfrm>
          <a:prstGeom prst="rect">
            <a:avLst/>
          </a:prstGeom>
          <a:noFill/>
          <a:ln/>
        </p:spPr>
        <p:txBody>
          <a:bodyPr wrap="square" lIns="0" tIns="0" rIns="0" bIns="0" rtlCol="0" anchor="ctr"/>
          <a:lstStyle/>
          <a:p>
            <a:pPr indent="0" marL="0">
              <a:buNone/>
            </a:pPr>
            <a:r>
              <a:rPr lang="en-US" sz="850" b="1" spc="140" kern="0" dirty="0">
                <a:solidFill>
                  <a:srgbClr val="2F6FD0"/>
                </a:solidFill>
                <a:latin typeface="Calibri" pitchFamily="34" charset="0"/>
                <a:ea typeface="Calibri" pitchFamily="34" charset="-122"/>
                <a:cs typeface="Calibri" pitchFamily="34" charset="-120"/>
              </a:rPr>
              <a:t>IN → OUT</a:t>
            </a:r>
            <a:endParaRPr lang="en-US" sz="850" dirty="0"/>
          </a:p>
        </p:txBody>
      </p:sp>
      <p:sp>
        <p:nvSpPr>
          <p:cNvPr id="56" name="Text 46"/>
          <p:cNvSpPr txBox="1"/>
          <p:nvPr/>
        </p:nvSpPr>
        <p:spPr>
          <a:xfrm>
            <a:off x="4492752" y="5641848"/>
            <a:ext cx="3203448" cy="548640"/>
          </a:xfrm>
          <a:prstGeom prst="rect">
            <a:avLst/>
          </a:prstGeom>
          <a:noFill/>
          <a:ln/>
        </p:spPr>
        <p:txBody>
          <a:bodyPr wrap="square" lIns="0" tIns="0" rIns="0" bIns="0" rtlCol="0" anchor="ctr"/>
          <a:lstStyle/>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In: company universe (company_id, name, ticker, cik).</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Out: CompanyFinancialsRecord — segments, capex, rnd,</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each with citations, confidence and provenance.</a:t>
            </a:r>
            <a:endParaRPr lang="en-US" sz="860" dirty="0"/>
          </a:p>
        </p:txBody>
      </p:sp>
      <p:sp>
        <p:nvSpPr>
          <p:cNvPr id="57" name="Shape 47"/>
          <p:cNvSpPr/>
          <p:nvPr/>
        </p:nvSpPr>
        <p:spPr>
          <a:xfrm>
            <a:off x="8061960" y="5321808"/>
            <a:ext cx="3532632" cy="941832"/>
          </a:xfrm>
          <a:prstGeom prst="roundRect">
            <a:avLst>
              <a:gd name="adj" fmla="val 3883"/>
            </a:avLst>
          </a:prstGeom>
          <a:solidFill>
            <a:srgbClr val="F4F7FA"/>
          </a:solidFill>
          <a:ln w="15875">
            <a:solidFill>
              <a:srgbClr val="DDE5ED"/>
            </a:solidFill>
            <a:prstDash val="solid"/>
          </a:ln>
        </p:spPr>
      </p:sp>
      <p:sp>
        <p:nvSpPr>
          <p:cNvPr id="58" name="Text 48"/>
          <p:cNvSpPr txBox="1"/>
          <p:nvPr/>
        </p:nvSpPr>
        <p:spPr>
          <a:xfrm>
            <a:off x="8226552" y="5422392"/>
            <a:ext cx="3203448" cy="201168"/>
          </a:xfrm>
          <a:prstGeom prst="rect">
            <a:avLst/>
          </a:prstGeom>
          <a:noFill/>
          <a:ln/>
        </p:spPr>
        <p:txBody>
          <a:bodyPr wrap="square" lIns="0" tIns="0" rIns="0" bIns="0" rtlCol="0" anchor="ctr"/>
          <a:lstStyle/>
          <a:p>
            <a:pPr indent="0" marL="0">
              <a:buNone/>
            </a:pPr>
            <a:r>
              <a:rPr lang="en-US" sz="850" b="1" spc="140" kern="0" dirty="0">
                <a:solidFill>
                  <a:srgbClr val="C9871B"/>
                </a:solidFill>
                <a:latin typeface="Calibri" pitchFamily="34" charset="0"/>
                <a:ea typeface="Calibri" pitchFamily="34" charset="-122"/>
                <a:cs typeface="Calibri" pitchFamily="34" charset="-120"/>
              </a:rPr>
              <a:t>CONTROLS</a:t>
            </a:r>
            <a:endParaRPr lang="en-US" sz="850" dirty="0"/>
          </a:p>
        </p:txBody>
      </p:sp>
      <p:sp>
        <p:nvSpPr>
          <p:cNvPr id="59" name="Text 49"/>
          <p:cNvSpPr txBox="1"/>
          <p:nvPr/>
        </p:nvSpPr>
        <p:spPr>
          <a:xfrm>
            <a:off x="8226552" y="5641848"/>
            <a:ext cx="3203448" cy="548640"/>
          </a:xfrm>
          <a:prstGeom prst="rect">
            <a:avLst/>
          </a:prstGeom>
          <a:noFill/>
          <a:ln/>
        </p:spPr>
        <p:txBody>
          <a:bodyPr wrap="square" lIns="0" tIns="0" rIns="0" bIns="0" rtlCol="0" anchor="ctr"/>
          <a:lstStyle/>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An undisclosed figure stays null, never derived from a total.</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XBRL replaces only the scalar, never the narrative.</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One weak section does not invalidate the other two.</a:t>
            </a:r>
            <a:endParaRPr lang="en-US" sz="86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438912"/>
            <a:ext cx="10085832" cy="201168"/>
          </a:xfrm>
          <a:prstGeom prst="rect">
            <a:avLst/>
          </a:prstGeom>
          <a:noFill/>
          <a:ln/>
        </p:spPr>
        <p:txBody>
          <a:bodyPr wrap="square" lIns="0" tIns="0" rIns="0" bIns="0" rtlCol="0" anchor="ctr"/>
          <a:lstStyle/>
          <a:p>
            <a:pPr indent="0" marL="0">
              <a:buNone/>
            </a:pPr>
            <a:r>
              <a:rPr lang="en-US" sz="1050" b="1" spc="200" kern="0" dirty="0">
                <a:solidFill>
                  <a:srgbClr val="108494"/>
                </a:solidFill>
                <a:latin typeface="Calibri" pitchFamily="34" charset="0"/>
                <a:ea typeface="Calibri" pitchFamily="34" charset="-122"/>
                <a:cs typeface="Calibri" pitchFamily="34" charset="-120"/>
              </a:rPr>
              <a:t>05   ·   DOCUMENT DISCOVERY</a:t>
            </a:r>
            <a:endParaRPr lang="en-US" sz="1050" dirty="0"/>
          </a:p>
        </p:txBody>
      </p:sp>
      <p:sp>
        <p:nvSpPr>
          <p:cNvPr id="3" name="Text 1"/>
          <p:cNvSpPr txBox="1"/>
          <p:nvPr/>
        </p:nvSpPr>
        <p:spPr>
          <a:xfrm>
            <a:off x="594360" y="640080"/>
            <a:ext cx="10085832" cy="484632"/>
          </a:xfrm>
          <a:prstGeom prst="rect">
            <a:avLst/>
          </a:prstGeom>
          <a:noFill/>
          <a:ln/>
        </p:spPr>
        <p:txBody>
          <a:bodyPr wrap="square" lIns="0" tIns="0" rIns="0" bIns="0" rtlCol="0" anchor="ctr"/>
          <a:lstStyle/>
          <a:p>
            <a:pPr indent="0" marL="0">
              <a:buNone/>
            </a:pPr>
            <a:r>
              <a:rPr lang="en-US" sz="3000" b="1" dirty="0">
                <a:solidFill>
                  <a:srgbClr val="10243A"/>
                </a:solidFill>
                <a:latin typeface="Cambria" pitchFamily="34" charset="0"/>
                <a:ea typeface="Cambria" pitchFamily="34" charset="-122"/>
                <a:cs typeface="Cambria" pitchFamily="34" charset="-120"/>
              </a:rPr>
              <a:t>Finding the documents</a:t>
            </a:r>
            <a:endParaRPr lang="en-US" sz="3000" dirty="0"/>
          </a:p>
        </p:txBody>
      </p:sp>
      <p:sp>
        <p:nvSpPr>
          <p:cNvPr id="4" name="Text 2"/>
          <p:cNvSpPr txBox="1"/>
          <p:nvPr/>
        </p:nvSpPr>
        <p:spPr>
          <a:xfrm>
            <a:off x="594360" y="1143000"/>
            <a:ext cx="9994392" cy="274320"/>
          </a:xfrm>
          <a:prstGeom prst="rect">
            <a:avLst/>
          </a:prstGeom>
          <a:noFill/>
          <a:ln/>
        </p:spPr>
        <p:txBody>
          <a:bodyPr wrap="square" lIns="0" tIns="0" rIns="0" bIns="0" rtlCol="0" anchor="ctr"/>
          <a:lstStyle/>
          <a:p>
            <a:pPr indent="0" marL="0">
              <a:buNone/>
            </a:pPr>
            <a:r>
              <a:rPr lang="en-US" sz="1200" dirty="0">
                <a:solidFill>
                  <a:srgbClr val="58697A"/>
                </a:solidFill>
                <a:latin typeface="Calibri" pitchFamily="34" charset="0"/>
                <a:ea typeface="Calibri" pitchFamily="34" charset="-122"/>
                <a:cs typeface="Calibri" pitchFamily="34" charset="-120"/>
              </a:rPr>
              <a:t>Locate each company's investor-relations site, crawl it politely, and raise an event the moment something new appears.</a:t>
            </a:r>
            <a:endParaRPr lang="en-US" sz="1200" dirty="0"/>
          </a:p>
        </p:txBody>
      </p:sp>
      <p:sp>
        <p:nvSpPr>
          <p:cNvPr id="5" name="Shape 3"/>
          <p:cNvSpPr/>
          <p:nvPr/>
        </p:nvSpPr>
        <p:spPr>
          <a:xfrm>
            <a:off x="10881360" y="475488"/>
            <a:ext cx="713232" cy="713232"/>
          </a:xfrm>
          <a:prstGeom prst="roundRect">
            <a:avLst>
              <a:gd name="adj" fmla="val 20513"/>
            </a:avLst>
          </a:prstGeom>
          <a:solidFill>
            <a:srgbClr val="10243A"/>
          </a:solidFill>
          <a:ln/>
        </p:spPr>
      </p:sp>
      <p:pic>
        <p:nvPicPr>
          <p:cNvPr id="6" name="Image 0" descr="preencoded.png">    </p:cNvPr>
          <p:cNvPicPr>
            <a:picLocks noChangeAspect="1"/>
          </p:cNvPicPr>
          <p:nvPr/>
        </p:nvPicPr>
        <p:blipFill>
          <a:blip r:embed="rId1"/>
          <a:stretch>
            <a:fillRect/>
          </a:stretch>
        </p:blipFill>
        <p:spPr>
          <a:xfrm>
            <a:off x="11038271" y="632399"/>
            <a:ext cx="399410" cy="399410"/>
          </a:xfrm>
          <a:prstGeom prst="rect">
            <a:avLst/>
          </a:prstGeom>
        </p:spPr>
      </p:pic>
      <p:sp>
        <p:nvSpPr>
          <p:cNvPr id="7" name="Text 4"/>
          <p:cNvSpPr txBox="1"/>
          <p:nvPr/>
        </p:nvSpPr>
        <p:spPr>
          <a:xfrm>
            <a:off x="1097280" y="1463040"/>
            <a:ext cx="3017520" cy="201168"/>
          </a:xfrm>
          <a:prstGeom prst="rect">
            <a:avLst/>
          </a:prstGeom>
          <a:noFill/>
          <a:ln/>
        </p:spPr>
        <p:txBody>
          <a:bodyPr wrap="square" lIns="0" tIns="0" rIns="0" bIns="0" rtlCol="0" anchor="ctr"/>
          <a:lstStyle/>
          <a:p>
            <a:pPr algn="ctr" indent="0" marL="0">
              <a:buNone/>
            </a:pPr>
            <a:r>
              <a:rPr lang="en-US" sz="900" b="1" spc="140" kern="0" dirty="0">
                <a:solidFill>
                  <a:srgbClr val="2F6FD0"/>
                </a:solidFill>
                <a:latin typeface="Calibri" pitchFamily="34" charset="0"/>
                <a:ea typeface="Calibri" pitchFamily="34" charset="-122"/>
                <a:cs typeface="Calibri" pitchFamily="34" charset="-120"/>
              </a:rPr>
              <a:t>PER COMPANY</a:t>
            </a:r>
            <a:endParaRPr lang="en-US" sz="900" dirty="0"/>
          </a:p>
        </p:txBody>
      </p:sp>
      <p:sp>
        <p:nvSpPr>
          <p:cNvPr id="8" name="Shape 5"/>
          <p:cNvSpPr/>
          <p:nvPr/>
        </p:nvSpPr>
        <p:spPr>
          <a:xfrm>
            <a:off x="1097280" y="1627632"/>
            <a:ext cx="3017520" cy="749808"/>
          </a:xfrm>
          <a:prstGeom prst="roundRect">
            <a:avLst>
              <a:gd name="adj" fmla="val 12195"/>
            </a:avLst>
          </a:prstGeom>
          <a:solidFill>
            <a:srgbClr val="E3EDFC"/>
          </a:solidFill>
          <a:ln w="15875">
            <a:solidFill>
              <a:srgbClr val="2F6FD0"/>
            </a:solidFill>
            <a:prstDash val="solid"/>
          </a:ln>
          <a:effectLst>
            <a:outerShdw sx="100000" sy="100000" kx="0" ky="0" algn="bl" rotWithShape="0" blurRad="101600" dist="19050" dir="5400000">
              <a:srgbClr val="9FB0C2">
                <a:alpha val="24000"/>
              </a:srgbClr>
            </a:outerShdw>
          </a:effectLst>
        </p:spPr>
      </p:sp>
      <p:sp>
        <p:nvSpPr>
          <p:cNvPr id="9" name="Shape 6"/>
          <p:cNvSpPr/>
          <p:nvPr/>
        </p:nvSpPr>
        <p:spPr>
          <a:xfrm>
            <a:off x="1234440" y="1810512"/>
            <a:ext cx="384048" cy="384048"/>
          </a:xfrm>
          <a:prstGeom prst="roundRect">
            <a:avLst>
              <a:gd name="adj" fmla="val 23810"/>
            </a:avLst>
          </a:prstGeom>
          <a:solidFill>
            <a:srgbClr val="2F6FD0"/>
          </a:solidFill>
          <a:ln/>
        </p:spPr>
      </p:sp>
      <p:pic>
        <p:nvPicPr>
          <p:cNvPr id="10" name="Image 1" descr="preencoded.png">    </p:cNvPr>
          <p:cNvPicPr>
            <a:picLocks noChangeAspect="1"/>
          </p:cNvPicPr>
          <p:nvPr/>
        </p:nvPicPr>
        <p:blipFill>
          <a:blip r:embed="rId2"/>
          <a:stretch>
            <a:fillRect/>
          </a:stretch>
        </p:blipFill>
        <p:spPr>
          <a:xfrm>
            <a:off x="1318931" y="1895003"/>
            <a:ext cx="215067" cy="215067"/>
          </a:xfrm>
          <a:prstGeom prst="rect">
            <a:avLst/>
          </a:prstGeom>
        </p:spPr>
      </p:pic>
      <p:sp>
        <p:nvSpPr>
          <p:cNvPr id="11" name="Text 7"/>
          <p:cNvSpPr txBox="1"/>
          <p:nvPr/>
        </p:nvSpPr>
        <p:spPr>
          <a:xfrm>
            <a:off x="1755648" y="1627632"/>
            <a:ext cx="2249424" cy="749808"/>
          </a:xfrm>
          <a:prstGeom prst="rect">
            <a:avLst/>
          </a:prstGeom>
          <a:noFill/>
          <a:ln/>
        </p:spPr>
        <p:txBody>
          <a:bodyPr wrap="square" lIns="0" tIns="0" rIns="0" bIns="0" rtlCol="0" anchor="ctr"/>
          <a:lstStyle/>
          <a:p>
            <a:pPr algn="l" indent="0" marL="0">
              <a:lnSpc>
                <a:spcPct val="104000"/>
              </a:lnSpc>
              <a:buNone/>
            </a:pPr>
            <a:r>
              <a:rPr lang="en-US" sz="1150" b="1" dirty="0">
                <a:solidFill>
                  <a:srgbClr val="153A61"/>
                </a:solidFill>
                <a:latin typeface="Calibri" pitchFamily="34" charset="0"/>
                <a:ea typeface="Calibri" pitchFamily="34" charset="-122"/>
                <a:cs typeface="Calibri" pitchFamily="34" charset="-120"/>
              </a:rPr>
              <a:t>Resolve</a:t>
            </a:r>
            <a:endParaRPr lang="en-US" sz="1150" dirty="0"/>
          </a:p>
          <a:p>
            <a:pPr algn="l" indent="0" marL="0">
              <a:lnSpc>
                <a:spcPct val="104000"/>
              </a:lnSpc>
              <a:buNone/>
            </a:pPr>
            <a:r>
              <a:rPr lang="en-US" sz="800" dirty="0">
                <a:solidFill>
                  <a:srgbClr val="153A61"/>
                </a:solidFill>
                <a:latin typeface="Calibri" pitchFamily="34" charset="0"/>
                <a:ea typeface="Calibri" pitchFamily="34" charset="-122"/>
                <a:cs typeface="Calibri" pitchFamily="34" charset="-120"/>
              </a:rPr>
              <a:t>the supplied IR URL, or a free web-search fallback</a:t>
            </a:r>
            <a:endParaRPr lang="en-US" sz="1150" dirty="0"/>
          </a:p>
        </p:txBody>
      </p:sp>
      <p:sp>
        <p:nvSpPr>
          <p:cNvPr id="12" name="Shape 8"/>
          <p:cNvSpPr/>
          <p:nvPr/>
        </p:nvSpPr>
        <p:spPr>
          <a:xfrm>
            <a:off x="2606040" y="2395728"/>
            <a:ext cx="0" cy="146304"/>
          </a:xfrm>
          <a:prstGeom prst="line">
            <a:avLst/>
          </a:prstGeom>
          <a:noFill/>
          <a:ln w="19050">
            <a:solidFill>
              <a:srgbClr val="64798F"/>
            </a:solidFill>
            <a:prstDash val="solid"/>
            <a:headEnd type="none"/>
            <a:tailEnd type="triangle"/>
          </a:ln>
        </p:spPr>
      </p:sp>
      <p:sp>
        <p:nvSpPr>
          <p:cNvPr id="13" name="Shape 9"/>
          <p:cNvSpPr/>
          <p:nvPr/>
        </p:nvSpPr>
        <p:spPr>
          <a:xfrm>
            <a:off x="1097280" y="2560320"/>
            <a:ext cx="3017520" cy="749808"/>
          </a:xfrm>
          <a:prstGeom prst="roundRect">
            <a:avLst>
              <a:gd name="adj" fmla="val 12195"/>
            </a:avLst>
          </a:prstGeom>
          <a:solidFill>
            <a:srgbClr val="FCEDD4"/>
          </a:solidFill>
          <a:ln w="15875">
            <a:solidFill>
              <a:srgbClr val="C9871B"/>
            </a:solidFill>
            <a:prstDash val="solid"/>
          </a:ln>
          <a:effectLst>
            <a:outerShdw sx="100000" sy="100000" kx="0" ky="0" algn="bl" rotWithShape="0" blurRad="101600" dist="19050" dir="5400000">
              <a:srgbClr val="9FB0C2">
                <a:alpha val="24000"/>
              </a:srgbClr>
            </a:outerShdw>
          </a:effectLst>
        </p:spPr>
      </p:sp>
      <p:sp>
        <p:nvSpPr>
          <p:cNvPr id="14" name="Shape 10"/>
          <p:cNvSpPr/>
          <p:nvPr/>
        </p:nvSpPr>
        <p:spPr>
          <a:xfrm>
            <a:off x="1234440" y="2743200"/>
            <a:ext cx="384048" cy="384048"/>
          </a:xfrm>
          <a:prstGeom prst="roundRect">
            <a:avLst>
              <a:gd name="adj" fmla="val 23810"/>
            </a:avLst>
          </a:prstGeom>
          <a:solidFill>
            <a:srgbClr val="C9871B"/>
          </a:solidFill>
          <a:ln/>
        </p:spPr>
      </p:sp>
      <p:pic>
        <p:nvPicPr>
          <p:cNvPr id="15" name="Image 2" descr="preencoded.png">    </p:cNvPr>
          <p:cNvPicPr>
            <a:picLocks noChangeAspect="1"/>
          </p:cNvPicPr>
          <p:nvPr/>
        </p:nvPicPr>
        <p:blipFill>
          <a:blip r:embed="rId3"/>
          <a:stretch>
            <a:fillRect/>
          </a:stretch>
        </p:blipFill>
        <p:spPr>
          <a:xfrm>
            <a:off x="1318931" y="2827691"/>
            <a:ext cx="215067" cy="215067"/>
          </a:xfrm>
          <a:prstGeom prst="rect">
            <a:avLst/>
          </a:prstGeom>
        </p:spPr>
      </p:pic>
      <p:sp>
        <p:nvSpPr>
          <p:cNvPr id="16" name="Text 11"/>
          <p:cNvSpPr txBox="1"/>
          <p:nvPr/>
        </p:nvSpPr>
        <p:spPr>
          <a:xfrm>
            <a:off x="1755648" y="2560320"/>
            <a:ext cx="2249424" cy="749808"/>
          </a:xfrm>
          <a:prstGeom prst="rect">
            <a:avLst/>
          </a:prstGeom>
          <a:noFill/>
          <a:ln/>
        </p:spPr>
        <p:txBody>
          <a:bodyPr wrap="square" lIns="0" tIns="0" rIns="0" bIns="0" rtlCol="0" anchor="ctr"/>
          <a:lstStyle/>
          <a:p>
            <a:pPr algn="l" indent="0" marL="0">
              <a:lnSpc>
                <a:spcPct val="104000"/>
              </a:lnSpc>
              <a:buNone/>
            </a:pPr>
            <a:r>
              <a:rPr lang="en-US" sz="1150" b="1" dirty="0">
                <a:solidFill>
                  <a:srgbClr val="64430A"/>
                </a:solidFill>
                <a:latin typeface="Calibri" pitchFamily="34" charset="0"/>
                <a:ea typeface="Calibri" pitchFamily="34" charset="-122"/>
                <a:cs typeface="Calibri" pitchFamily="34" charset="-120"/>
              </a:rPr>
              <a:t>Crawl</a:t>
            </a:r>
            <a:endParaRPr lang="en-US" sz="1150" dirty="0"/>
          </a:p>
          <a:p>
            <a:pPr algn="l" indent="0" marL="0">
              <a:lnSpc>
                <a:spcPct val="104000"/>
              </a:lnSpc>
              <a:buNone/>
            </a:pPr>
            <a:r>
              <a:rPr lang="en-US" sz="800" dirty="0">
                <a:solidFill>
                  <a:srgbClr val="64430A"/>
                </a:solidFill>
                <a:latin typeface="Calibri" pitchFamily="34" charset="0"/>
                <a:ea typeface="Calibri" pitchFamily="34" charset="-122"/>
                <a:cs typeface="Calibri" pitchFamily="34" charset="-120"/>
              </a:rPr>
              <a:t>same domain, robots.txt, depth caps, SSRF guard</a:t>
            </a:r>
            <a:endParaRPr lang="en-US" sz="1150" dirty="0"/>
          </a:p>
        </p:txBody>
      </p:sp>
      <p:sp>
        <p:nvSpPr>
          <p:cNvPr id="17" name="Shape 12"/>
          <p:cNvSpPr/>
          <p:nvPr/>
        </p:nvSpPr>
        <p:spPr>
          <a:xfrm>
            <a:off x="2606040" y="3328416"/>
            <a:ext cx="0" cy="146304"/>
          </a:xfrm>
          <a:prstGeom prst="line">
            <a:avLst/>
          </a:prstGeom>
          <a:noFill/>
          <a:ln w="19050">
            <a:solidFill>
              <a:srgbClr val="64798F"/>
            </a:solidFill>
            <a:prstDash val="solid"/>
            <a:headEnd type="none"/>
            <a:tailEnd type="triangle"/>
          </a:ln>
        </p:spPr>
      </p:sp>
      <p:sp>
        <p:nvSpPr>
          <p:cNvPr id="18" name="Shape 13"/>
          <p:cNvSpPr/>
          <p:nvPr/>
        </p:nvSpPr>
        <p:spPr>
          <a:xfrm>
            <a:off x="1097280" y="3493008"/>
            <a:ext cx="3017520" cy="749808"/>
          </a:xfrm>
          <a:prstGeom prst="roundRect">
            <a:avLst>
              <a:gd name="adj" fmla="val 12195"/>
            </a:avLst>
          </a:prstGeom>
          <a:solidFill>
            <a:srgbClr val="DCF2F4"/>
          </a:solidFill>
          <a:ln w="15875">
            <a:solidFill>
              <a:srgbClr val="108494"/>
            </a:solidFill>
            <a:prstDash val="solid"/>
          </a:ln>
          <a:effectLst>
            <a:outerShdw sx="100000" sy="100000" kx="0" ky="0" algn="bl" rotWithShape="0" blurRad="101600" dist="19050" dir="5400000">
              <a:srgbClr val="9FB0C2">
                <a:alpha val="24000"/>
              </a:srgbClr>
            </a:outerShdw>
          </a:effectLst>
        </p:spPr>
      </p:sp>
      <p:sp>
        <p:nvSpPr>
          <p:cNvPr id="19" name="Shape 14"/>
          <p:cNvSpPr/>
          <p:nvPr/>
        </p:nvSpPr>
        <p:spPr>
          <a:xfrm>
            <a:off x="1234440" y="3675888"/>
            <a:ext cx="384048" cy="384048"/>
          </a:xfrm>
          <a:prstGeom prst="roundRect">
            <a:avLst>
              <a:gd name="adj" fmla="val 23810"/>
            </a:avLst>
          </a:prstGeom>
          <a:solidFill>
            <a:srgbClr val="108494"/>
          </a:solidFill>
          <a:ln/>
        </p:spPr>
      </p:sp>
      <p:pic>
        <p:nvPicPr>
          <p:cNvPr id="20" name="Image 3" descr="preencoded.png">    </p:cNvPr>
          <p:cNvPicPr>
            <a:picLocks noChangeAspect="1"/>
          </p:cNvPicPr>
          <p:nvPr/>
        </p:nvPicPr>
        <p:blipFill>
          <a:blip r:embed="rId4"/>
          <a:stretch>
            <a:fillRect/>
          </a:stretch>
        </p:blipFill>
        <p:spPr>
          <a:xfrm>
            <a:off x="1318931" y="3760379"/>
            <a:ext cx="215067" cy="215067"/>
          </a:xfrm>
          <a:prstGeom prst="rect">
            <a:avLst/>
          </a:prstGeom>
        </p:spPr>
      </p:pic>
      <p:sp>
        <p:nvSpPr>
          <p:cNvPr id="21" name="Text 15"/>
          <p:cNvSpPr txBox="1"/>
          <p:nvPr/>
        </p:nvSpPr>
        <p:spPr>
          <a:xfrm>
            <a:off x="1755648" y="3493008"/>
            <a:ext cx="2249424" cy="749808"/>
          </a:xfrm>
          <a:prstGeom prst="rect">
            <a:avLst/>
          </a:prstGeom>
          <a:noFill/>
          <a:ln/>
        </p:spPr>
        <p:txBody>
          <a:bodyPr wrap="square" lIns="0" tIns="0" rIns="0" bIns="0" rtlCol="0" anchor="ctr"/>
          <a:lstStyle/>
          <a:p>
            <a:pPr algn="l" indent="0" marL="0">
              <a:lnSpc>
                <a:spcPct val="104000"/>
              </a:lnSpc>
              <a:buNone/>
            </a:pPr>
            <a:r>
              <a:rPr lang="en-US" sz="1150" b="1" dirty="0">
                <a:solidFill>
                  <a:srgbClr val="0A4451"/>
                </a:solidFill>
                <a:latin typeface="Calibri" pitchFamily="34" charset="0"/>
                <a:ea typeface="Calibri" pitchFamily="34" charset="-122"/>
                <a:cs typeface="Calibri" pitchFamily="34" charset="-120"/>
              </a:rPr>
              <a:t>Classify</a:t>
            </a:r>
            <a:endParaRPr lang="en-US" sz="1150" dirty="0"/>
          </a:p>
          <a:p>
            <a:pPr algn="l" indent="0" marL="0">
              <a:lnSpc>
                <a:spcPct val="104000"/>
              </a:lnSpc>
              <a:buNone/>
            </a:pPr>
            <a:r>
              <a:rPr lang="en-US" sz="800" dirty="0">
                <a:solidFill>
                  <a:srgbClr val="0A4451"/>
                </a:solidFill>
                <a:latin typeface="Calibri" pitchFamily="34" charset="0"/>
                <a:ea typeface="Calibri" pitchFamily="34" charset="-122"/>
                <a:cs typeface="Calibri" pitchFamily="34" charset="-120"/>
              </a:rPr>
              <a:t>link text and href → document type, first match wins</a:t>
            </a:r>
            <a:endParaRPr lang="en-US" sz="1150" dirty="0"/>
          </a:p>
        </p:txBody>
      </p:sp>
      <p:sp>
        <p:nvSpPr>
          <p:cNvPr id="22" name="Shape 16"/>
          <p:cNvSpPr/>
          <p:nvPr/>
        </p:nvSpPr>
        <p:spPr>
          <a:xfrm>
            <a:off x="2606040" y="4261104"/>
            <a:ext cx="0" cy="146304"/>
          </a:xfrm>
          <a:prstGeom prst="line">
            <a:avLst/>
          </a:prstGeom>
          <a:noFill/>
          <a:ln w="19050">
            <a:solidFill>
              <a:srgbClr val="64798F"/>
            </a:solidFill>
            <a:prstDash val="solid"/>
            <a:headEnd type="none"/>
            <a:tailEnd type="triangle"/>
          </a:ln>
        </p:spPr>
      </p:sp>
      <p:sp>
        <p:nvSpPr>
          <p:cNvPr id="23" name="Shape 17"/>
          <p:cNvSpPr/>
          <p:nvPr/>
        </p:nvSpPr>
        <p:spPr>
          <a:xfrm>
            <a:off x="1097280" y="4425696"/>
            <a:ext cx="3017520" cy="749808"/>
          </a:xfrm>
          <a:prstGeom prst="roundRect">
            <a:avLst>
              <a:gd name="adj" fmla="val 12195"/>
            </a:avLst>
          </a:prstGeom>
          <a:solidFill>
            <a:srgbClr val="E0F3E3"/>
          </a:solidFill>
          <a:ln w="15875">
            <a:solidFill>
              <a:srgbClr val="2F8F48"/>
            </a:solidFill>
            <a:prstDash val="solid"/>
          </a:ln>
          <a:effectLst>
            <a:outerShdw sx="100000" sy="100000" kx="0" ky="0" algn="bl" rotWithShape="0" blurRad="101600" dist="19050" dir="5400000">
              <a:srgbClr val="9FB0C2">
                <a:alpha val="24000"/>
              </a:srgbClr>
            </a:outerShdw>
          </a:effectLst>
        </p:spPr>
      </p:sp>
      <p:sp>
        <p:nvSpPr>
          <p:cNvPr id="24" name="Shape 18"/>
          <p:cNvSpPr/>
          <p:nvPr/>
        </p:nvSpPr>
        <p:spPr>
          <a:xfrm>
            <a:off x="1234440" y="4608576"/>
            <a:ext cx="384048" cy="384048"/>
          </a:xfrm>
          <a:prstGeom prst="roundRect">
            <a:avLst>
              <a:gd name="adj" fmla="val 23810"/>
            </a:avLst>
          </a:prstGeom>
          <a:solidFill>
            <a:srgbClr val="2F8F48"/>
          </a:solidFill>
          <a:ln/>
        </p:spPr>
      </p:sp>
      <p:pic>
        <p:nvPicPr>
          <p:cNvPr id="25" name="Image 4" descr="preencoded.png">    </p:cNvPr>
          <p:cNvPicPr>
            <a:picLocks noChangeAspect="1"/>
          </p:cNvPicPr>
          <p:nvPr/>
        </p:nvPicPr>
        <p:blipFill>
          <a:blip r:embed="rId5"/>
          <a:stretch>
            <a:fillRect/>
          </a:stretch>
        </p:blipFill>
        <p:spPr>
          <a:xfrm>
            <a:off x="1318931" y="4693067"/>
            <a:ext cx="215067" cy="215067"/>
          </a:xfrm>
          <a:prstGeom prst="rect">
            <a:avLst/>
          </a:prstGeom>
        </p:spPr>
      </p:pic>
      <p:sp>
        <p:nvSpPr>
          <p:cNvPr id="26" name="Text 19"/>
          <p:cNvSpPr txBox="1"/>
          <p:nvPr/>
        </p:nvSpPr>
        <p:spPr>
          <a:xfrm>
            <a:off x="1755648" y="4425696"/>
            <a:ext cx="2249424" cy="749808"/>
          </a:xfrm>
          <a:prstGeom prst="rect">
            <a:avLst/>
          </a:prstGeom>
          <a:noFill/>
          <a:ln/>
        </p:spPr>
        <p:txBody>
          <a:bodyPr wrap="square" lIns="0" tIns="0" rIns="0" bIns="0" rtlCol="0" anchor="ctr"/>
          <a:lstStyle/>
          <a:p>
            <a:pPr algn="l" indent="0" marL="0">
              <a:lnSpc>
                <a:spcPct val="104000"/>
              </a:lnSpc>
              <a:buNone/>
            </a:pPr>
            <a:r>
              <a:rPr lang="en-US" sz="1150" b="1" dirty="0">
                <a:solidFill>
                  <a:srgbClr val="17431F"/>
                </a:solidFill>
                <a:latin typeface="Calibri" pitchFamily="34" charset="0"/>
                <a:ea typeface="Calibri" pitchFamily="34" charset="-122"/>
                <a:cs typeface="Calibri" pitchFamily="34" charset="-120"/>
              </a:rPr>
              <a:t>Download</a:t>
            </a:r>
            <a:endParaRPr lang="en-US" sz="1150" dirty="0"/>
          </a:p>
          <a:p>
            <a:pPr algn="l" indent="0" marL="0">
              <a:lnSpc>
                <a:spcPct val="104000"/>
              </a:lnSpc>
              <a:buNone/>
            </a:pPr>
            <a:r>
              <a:rPr lang="en-US" sz="800" dirty="0">
                <a:solidFill>
                  <a:srgbClr val="17431F"/>
                </a:solidFill>
                <a:latin typeface="Calibri" pitchFamily="34" charset="0"/>
                <a:ea typeface="Calibri" pitchFamily="34" charset="-122"/>
                <a:cs typeface="Calibri" pitchFamily="34" charset="-120"/>
              </a:rPr>
              <a:t>into the store manual uploads already use</a:t>
            </a:r>
            <a:endParaRPr lang="en-US" sz="1150" dirty="0"/>
          </a:p>
        </p:txBody>
      </p:sp>
      <p:sp>
        <p:nvSpPr>
          <p:cNvPr id="27" name="Text 20"/>
          <p:cNvSpPr txBox="1"/>
          <p:nvPr/>
        </p:nvSpPr>
        <p:spPr>
          <a:xfrm>
            <a:off x="4617720" y="1463040"/>
            <a:ext cx="3611880" cy="201168"/>
          </a:xfrm>
          <a:prstGeom prst="rect">
            <a:avLst/>
          </a:prstGeom>
          <a:noFill/>
          <a:ln/>
        </p:spPr>
        <p:txBody>
          <a:bodyPr wrap="square" lIns="0" tIns="0" rIns="0" bIns="0" rtlCol="0" anchor="ctr"/>
          <a:lstStyle/>
          <a:p>
            <a:pPr algn="ctr" indent="0" marL="0">
              <a:buNone/>
            </a:pPr>
            <a:r>
              <a:rPr lang="en-US" sz="900" b="1" spc="140" kern="0" dirty="0">
                <a:solidFill>
                  <a:srgbClr val="108494"/>
                </a:solidFill>
                <a:latin typeface="Calibri" pitchFamily="34" charset="0"/>
                <a:ea typeface="Calibri" pitchFamily="34" charset="-122"/>
                <a:cs typeface="Calibri" pitchFamily="34" charset="-120"/>
              </a:rPr>
              <a:t>FIVE DOCUMENT TYPES, CLASSIFIED</a:t>
            </a:r>
            <a:endParaRPr lang="en-US" sz="900" dirty="0"/>
          </a:p>
        </p:txBody>
      </p:sp>
      <p:sp>
        <p:nvSpPr>
          <p:cNvPr id="28" name="Shape 21"/>
          <p:cNvSpPr/>
          <p:nvPr/>
        </p:nvSpPr>
        <p:spPr>
          <a:xfrm>
            <a:off x="4617720" y="1737360"/>
            <a:ext cx="1755648" cy="548640"/>
          </a:xfrm>
          <a:prstGeom prst="roundRect">
            <a:avLst>
              <a:gd name="adj" fmla="val 16667"/>
            </a:avLst>
          </a:prstGeom>
          <a:solidFill>
            <a:srgbClr val="E3EDFC"/>
          </a:solidFill>
          <a:ln w="15875">
            <a:solidFill>
              <a:srgbClr val="2F6FD0"/>
            </a:solidFill>
            <a:prstDash val="solid"/>
          </a:ln>
          <a:effectLst>
            <a:outerShdw sx="100000" sy="100000" kx="0" ky="0" algn="bl" rotWithShape="0" blurRad="101600" dist="19050" dir="5400000">
              <a:srgbClr val="9FB0C2">
                <a:alpha val="24000"/>
              </a:srgbClr>
            </a:outerShdw>
          </a:effectLst>
        </p:spPr>
      </p:sp>
      <p:sp>
        <p:nvSpPr>
          <p:cNvPr id="29" name="Shape 22"/>
          <p:cNvSpPr/>
          <p:nvPr/>
        </p:nvSpPr>
        <p:spPr>
          <a:xfrm>
            <a:off x="4754880" y="1892808"/>
            <a:ext cx="237744" cy="237744"/>
          </a:xfrm>
          <a:prstGeom prst="roundRect">
            <a:avLst>
              <a:gd name="adj" fmla="val 38462"/>
            </a:avLst>
          </a:prstGeom>
          <a:solidFill>
            <a:srgbClr val="2F6FD0"/>
          </a:solidFill>
          <a:ln/>
        </p:spPr>
      </p:sp>
      <p:pic>
        <p:nvPicPr>
          <p:cNvPr id="30" name="Image 5" descr="preencoded.png">    </p:cNvPr>
          <p:cNvPicPr>
            <a:picLocks noChangeAspect="1"/>
          </p:cNvPicPr>
          <p:nvPr/>
        </p:nvPicPr>
        <p:blipFill>
          <a:blip r:embed="rId6"/>
          <a:stretch>
            <a:fillRect/>
          </a:stretch>
        </p:blipFill>
        <p:spPr>
          <a:xfrm>
            <a:off x="4807184" y="1945112"/>
            <a:ext cx="133137" cy="133137"/>
          </a:xfrm>
          <a:prstGeom prst="rect">
            <a:avLst/>
          </a:prstGeom>
        </p:spPr>
      </p:pic>
      <p:sp>
        <p:nvSpPr>
          <p:cNvPr id="31" name="Text 23"/>
          <p:cNvSpPr txBox="1"/>
          <p:nvPr/>
        </p:nvSpPr>
        <p:spPr>
          <a:xfrm>
            <a:off x="5129784" y="1737360"/>
            <a:ext cx="1133856" cy="548640"/>
          </a:xfrm>
          <a:prstGeom prst="rect">
            <a:avLst/>
          </a:prstGeom>
          <a:noFill/>
          <a:ln/>
        </p:spPr>
        <p:txBody>
          <a:bodyPr wrap="square" lIns="0" tIns="0" rIns="0" bIns="0" rtlCol="0" anchor="ctr"/>
          <a:lstStyle/>
          <a:p>
            <a:pPr algn="l" indent="0" marL="0">
              <a:lnSpc>
                <a:spcPct val="104000"/>
              </a:lnSpc>
              <a:buNone/>
            </a:pPr>
            <a:r>
              <a:rPr lang="en-US" sz="900" b="1" dirty="0">
                <a:solidFill>
                  <a:srgbClr val="153A61"/>
                </a:solidFill>
                <a:latin typeface="Calibri" pitchFamily="34" charset="0"/>
                <a:ea typeface="Calibri" pitchFamily="34" charset="-122"/>
                <a:cs typeface="Calibri" pitchFamily="34" charset="-120"/>
              </a:rPr>
              <a:t>10-K / annual report</a:t>
            </a:r>
            <a:endParaRPr lang="en-US" sz="900" dirty="0"/>
          </a:p>
        </p:txBody>
      </p:sp>
      <p:sp>
        <p:nvSpPr>
          <p:cNvPr id="32" name="Shape 24"/>
          <p:cNvSpPr/>
          <p:nvPr/>
        </p:nvSpPr>
        <p:spPr>
          <a:xfrm>
            <a:off x="6473952" y="1737360"/>
            <a:ext cx="1755648" cy="548640"/>
          </a:xfrm>
          <a:prstGeom prst="roundRect">
            <a:avLst>
              <a:gd name="adj" fmla="val 16667"/>
            </a:avLst>
          </a:prstGeom>
          <a:solidFill>
            <a:srgbClr val="EBE5FC"/>
          </a:solidFill>
          <a:ln w="15875">
            <a:solidFill>
              <a:srgbClr val="6D4DD1"/>
            </a:solidFill>
            <a:prstDash val="solid"/>
          </a:ln>
          <a:effectLst>
            <a:outerShdw sx="100000" sy="100000" kx="0" ky="0" algn="bl" rotWithShape="0" blurRad="101600" dist="19050" dir="5400000">
              <a:srgbClr val="9FB0C2">
                <a:alpha val="24000"/>
              </a:srgbClr>
            </a:outerShdw>
          </a:effectLst>
        </p:spPr>
      </p:sp>
      <p:sp>
        <p:nvSpPr>
          <p:cNvPr id="33" name="Shape 25"/>
          <p:cNvSpPr/>
          <p:nvPr/>
        </p:nvSpPr>
        <p:spPr>
          <a:xfrm>
            <a:off x="6611112" y="1892808"/>
            <a:ext cx="237744" cy="237744"/>
          </a:xfrm>
          <a:prstGeom prst="roundRect">
            <a:avLst>
              <a:gd name="adj" fmla="val 38462"/>
            </a:avLst>
          </a:prstGeom>
          <a:solidFill>
            <a:srgbClr val="6D4DD1"/>
          </a:solidFill>
          <a:ln/>
        </p:spPr>
      </p:sp>
      <p:pic>
        <p:nvPicPr>
          <p:cNvPr id="34" name="Image 6" descr="preencoded.png">    </p:cNvPr>
          <p:cNvPicPr>
            <a:picLocks noChangeAspect="1"/>
          </p:cNvPicPr>
          <p:nvPr/>
        </p:nvPicPr>
        <p:blipFill>
          <a:blip r:embed="rId7"/>
          <a:stretch>
            <a:fillRect/>
          </a:stretch>
        </p:blipFill>
        <p:spPr>
          <a:xfrm>
            <a:off x="6663416" y="1945112"/>
            <a:ext cx="133137" cy="133137"/>
          </a:xfrm>
          <a:prstGeom prst="rect">
            <a:avLst/>
          </a:prstGeom>
        </p:spPr>
      </p:pic>
      <p:sp>
        <p:nvSpPr>
          <p:cNvPr id="35" name="Text 26"/>
          <p:cNvSpPr txBox="1"/>
          <p:nvPr/>
        </p:nvSpPr>
        <p:spPr>
          <a:xfrm>
            <a:off x="6986016" y="1737360"/>
            <a:ext cx="1133856" cy="548640"/>
          </a:xfrm>
          <a:prstGeom prst="rect">
            <a:avLst/>
          </a:prstGeom>
          <a:noFill/>
          <a:ln/>
        </p:spPr>
        <p:txBody>
          <a:bodyPr wrap="square" lIns="0" tIns="0" rIns="0" bIns="0" rtlCol="0" anchor="ctr"/>
          <a:lstStyle/>
          <a:p>
            <a:pPr algn="l" indent="0" marL="0">
              <a:lnSpc>
                <a:spcPct val="104000"/>
              </a:lnSpc>
              <a:buNone/>
            </a:pPr>
            <a:r>
              <a:rPr lang="en-US" sz="900" b="1" dirty="0">
                <a:solidFill>
                  <a:srgbClr val="35236E"/>
                </a:solidFill>
                <a:latin typeface="Calibri" pitchFamily="34" charset="0"/>
                <a:ea typeface="Calibri" pitchFamily="34" charset="-122"/>
                <a:cs typeface="Calibri" pitchFamily="34" charset="-120"/>
              </a:rPr>
              <a:t>DEF 14A proxy</a:t>
            </a:r>
            <a:endParaRPr lang="en-US" sz="900" dirty="0"/>
          </a:p>
        </p:txBody>
      </p:sp>
      <p:sp>
        <p:nvSpPr>
          <p:cNvPr id="36" name="Shape 27"/>
          <p:cNvSpPr/>
          <p:nvPr/>
        </p:nvSpPr>
        <p:spPr>
          <a:xfrm>
            <a:off x="4617720" y="2432304"/>
            <a:ext cx="1755648" cy="548640"/>
          </a:xfrm>
          <a:prstGeom prst="roundRect">
            <a:avLst>
              <a:gd name="adj" fmla="val 16667"/>
            </a:avLst>
          </a:prstGeom>
          <a:solidFill>
            <a:srgbClr val="E0F3E3"/>
          </a:solidFill>
          <a:ln w="15875">
            <a:solidFill>
              <a:srgbClr val="2F8F48"/>
            </a:solidFill>
            <a:prstDash val="solid"/>
          </a:ln>
          <a:effectLst>
            <a:outerShdw sx="100000" sy="100000" kx="0" ky="0" algn="bl" rotWithShape="0" blurRad="101600" dist="19050" dir="5400000">
              <a:srgbClr val="9FB0C2">
                <a:alpha val="24000"/>
              </a:srgbClr>
            </a:outerShdw>
          </a:effectLst>
        </p:spPr>
      </p:sp>
      <p:sp>
        <p:nvSpPr>
          <p:cNvPr id="37" name="Shape 28"/>
          <p:cNvSpPr/>
          <p:nvPr/>
        </p:nvSpPr>
        <p:spPr>
          <a:xfrm>
            <a:off x="4754880" y="2587752"/>
            <a:ext cx="237744" cy="237744"/>
          </a:xfrm>
          <a:prstGeom prst="roundRect">
            <a:avLst>
              <a:gd name="adj" fmla="val 38462"/>
            </a:avLst>
          </a:prstGeom>
          <a:solidFill>
            <a:srgbClr val="2F8F48"/>
          </a:solidFill>
          <a:ln/>
        </p:spPr>
      </p:sp>
      <p:pic>
        <p:nvPicPr>
          <p:cNvPr id="38" name="Image 7" descr="preencoded.png">    </p:cNvPr>
          <p:cNvPicPr>
            <a:picLocks noChangeAspect="1"/>
          </p:cNvPicPr>
          <p:nvPr/>
        </p:nvPicPr>
        <p:blipFill>
          <a:blip r:embed="rId8"/>
          <a:stretch>
            <a:fillRect/>
          </a:stretch>
        </p:blipFill>
        <p:spPr>
          <a:xfrm>
            <a:off x="4807184" y="2640056"/>
            <a:ext cx="133137" cy="133137"/>
          </a:xfrm>
          <a:prstGeom prst="rect">
            <a:avLst/>
          </a:prstGeom>
        </p:spPr>
      </p:pic>
      <p:sp>
        <p:nvSpPr>
          <p:cNvPr id="39" name="Text 29"/>
          <p:cNvSpPr txBox="1"/>
          <p:nvPr/>
        </p:nvSpPr>
        <p:spPr>
          <a:xfrm>
            <a:off x="5129784" y="2432304"/>
            <a:ext cx="1133856" cy="548640"/>
          </a:xfrm>
          <a:prstGeom prst="rect">
            <a:avLst/>
          </a:prstGeom>
          <a:noFill/>
          <a:ln/>
        </p:spPr>
        <p:txBody>
          <a:bodyPr wrap="square" lIns="0" tIns="0" rIns="0" bIns="0" rtlCol="0" anchor="ctr"/>
          <a:lstStyle/>
          <a:p>
            <a:pPr algn="l" indent="0" marL="0">
              <a:lnSpc>
                <a:spcPct val="104000"/>
              </a:lnSpc>
              <a:buNone/>
            </a:pPr>
            <a:r>
              <a:rPr lang="en-US" sz="900" b="1" dirty="0">
                <a:solidFill>
                  <a:srgbClr val="17431F"/>
                </a:solidFill>
                <a:latin typeface="Calibri" pitchFamily="34" charset="0"/>
                <a:ea typeface="Calibri" pitchFamily="34" charset="-122"/>
                <a:cs typeface="Calibri" pitchFamily="34" charset="-120"/>
              </a:rPr>
              <a:t>Sustainability report</a:t>
            </a:r>
            <a:endParaRPr lang="en-US" sz="900" dirty="0"/>
          </a:p>
        </p:txBody>
      </p:sp>
      <p:sp>
        <p:nvSpPr>
          <p:cNvPr id="40" name="Shape 30"/>
          <p:cNvSpPr/>
          <p:nvPr/>
        </p:nvSpPr>
        <p:spPr>
          <a:xfrm>
            <a:off x="6473952" y="2432304"/>
            <a:ext cx="1755648" cy="548640"/>
          </a:xfrm>
          <a:prstGeom prst="roundRect">
            <a:avLst>
              <a:gd name="adj" fmla="val 16667"/>
            </a:avLst>
          </a:prstGeom>
          <a:solidFill>
            <a:srgbClr val="FCEDD4"/>
          </a:solidFill>
          <a:ln w="15875">
            <a:solidFill>
              <a:srgbClr val="C9871B"/>
            </a:solidFill>
            <a:prstDash val="solid"/>
          </a:ln>
          <a:effectLst>
            <a:outerShdw sx="100000" sy="100000" kx="0" ky="0" algn="bl" rotWithShape="0" blurRad="101600" dist="19050" dir="5400000">
              <a:srgbClr val="9FB0C2">
                <a:alpha val="24000"/>
              </a:srgbClr>
            </a:outerShdw>
          </a:effectLst>
        </p:spPr>
      </p:sp>
      <p:sp>
        <p:nvSpPr>
          <p:cNvPr id="41" name="Shape 31"/>
          <p:cNvSpPr/>
          <p:nvPr/>
        </p:nvSpPr>
        <p:spPr>
          <a:xfrm>
            <a:off x="6611112" y="2587752"/>
            <a:ext cx="237744" cy="237744"/>
          </a:xfrm>
          <a:prstGeom prst="roundRect">
            <a:avLst>
              <a:gd name="adj" fmla="val 38462"/>
            </a:avLst>
          </a:prstGeom>
          <a:solidFill>
            <a:srgbClr val="C9871B"/>
          </a:solidFill>
          <a:ln/>
        </p:spPr>
      </p:sp>
      <p:pic>
        <p:nvPicPr>
          <p:cNvPr id="42" name="Image 8" descr="preencoded.png">    </p:cNvPr>
          <p:cNvPicPr>
            <a:picLocks noChangeAspect="1"/>
          </p:cNvPicPr>
          <p:nvPr/>
        </p:nvPicPr>
        <p:blipFill>
          <a:blip r:embed="rId9"/>
          <a:stretch>
            <a:fillRect/>
          </a:stretch>
        </p:blipFill>
        <p:spPr>
          <a:xfrm>
            <a:off x="6663416" y="2640056"/>
            <a:ext cx="133137" cy="133137"/>
          </a:xfrm>
          <a:prstGeom prst="rect">
            <a:avLst/>
          </a:prstGeom>
        </p:spPr>
      </p:pic>
      <p:sp>
        <p:nvSpPr>
          <p:cNvPr id="43" name="Text 32"/>
          <p:cNvSpPr txBox="1"/>
          <p:nvPr/>
        </p:nvSpPr>
        <p:spPr>
          <a:xfrm>
            <a:off x="6986016" y="2432304"/>
            <a:ext cx="1133856" cy="548640"/>
          </a:xfrm>
          <a:prstGeom prst="rect">
            <a:avLst/>
          </a:prstGeom>
          <a:noFill/>
          <a:ln/>
        </p:spPr>
        <p:txBody>
          <a:bodyPr wrap="square" lIns="0" tIns="0" rIns="0" bIns="0" rtlCol="0" anchor="ctr"/>
          <a:lstStyle/>
          <a:p>
            <a:pPr algn="l" indent="0" marL="0">
              <a:lnSpc>
                <a:spcPct val="104000"/>
              </a:lnSpc>
              <a:buNone/>
            </a:pPr>
            <a:r>
              <a:rPr lang="en-US" sz="900" b="1" dirty="0">
                <a:solidFill>
                  <a:srgbClr val="64430A"/>
                </a:solidFill>
                <a:latin typeface="Calibri" pitchFamily="34" charset="0"/>
                <a:ea typeface="Calibri" pitchFamily="34" charset="-122"/>
                <a:cs typeface="Calibri" pitchFamily="34" charset="-120"/>
              </a:rPr>
              <a:t>Investor presentation</a:t>
            </a:r>
            <a:endParaRPr lang="en-US" sz="900" dirty="0"/>
          </a:p>
        </p:txBody>
      </p:sp>
      <p:sp>
        <p:nvSpPr>
          <p:cNvPr id="44" name="Shape 33"/>
          <p:cNvSpPr/>
          <p:nvPr/>
        </p:nvSpPr>
        <p:spPr>
          <a:xfrm>
            <a:off x="4617720" y="3127248"/>
            <a:ext cx="3611880" cy="548640"/>
          </a:xfrm>
          <a:prstGeom prst="roundRect">
            <a:avLst>
              <a:gd name="adj" fmla="val 16667"/>
            </a:avLst>
          </a:prstGeom>
          <a:solidFill>
            <a:srgbClr val="DCF2F4"/>
          </a:solidFill>
          <a:ln w="15875">
            <a:solidFill>
              <a:srgbClr val="108494"/>
            </a:solidFill>
            <a:prstDash val="solid"/>
          </a:ln>
          <a:effectLst>
            <a:outerShdw sx="100000" sy="100000" kx="0" ky="0" algn="bl" rotWithShape="0" blurRad="101600" dist="19050" dir="5400000">
              <a:srgbClr val="9FB0C2">
                <a:alpha val="24000"/>
              </a:srgbClr>
            </a:outerShdw>
          </a:effectLst>
        </p:spPr>
      </p:sp>
      <p:sp>
        <p:nvSpPr>
          <p:cNvPr id="45" name="Shape 34"/>
          <p:cNvSpPr/>
          <p:nvPr/>
        </p:nvSpPr>
        <p:spPr>
          <a:xfrm>
            <a:off x="4754880" y="3282696"/>
            <a:ext cx="237744" cy="237744"/>
          </a:xfrm>
          <a:prstGeom prst="roundRect">
            <a:avLst>
              <a:gd name="adj" fmla="val 38462"/>
            </a:avLst>
          </a:prstGeom>
          <a:solidFill>
            <a:srgbClr val="108494"/>
          </a:solidFill>
          <a:ln/>
        </p:spPr>
      </p:sp>
      <p:pic>
        <p:nvPicPr>
          <p:cNvPr id="46" name="Image 9" descr="preencoded.png">    </p:cNvPr>
          <p:cNvPicPr>
            <a:picLocks noChangeAspect="1"/>
          </p:cNvPicPr>
          <p:nvPr/>
        </p:nvPicPr>
        <p:blipFill>
          <a:blip r:embed="rId10"/>
          <a:stretch>
            <a:fillRect/>
          </a:stretch>
        </p:blipFill>
        <p:spPr>
          <a:xfrm>
            <a:off x="4807184" y="3335000"/>
            <a:ext cx="133137" cy="133137"/>
          </a:xfrm>
          <a:prstGeom prst="rect">
            <a:avLst/>
          </a:prstGeom>
        </p:spPr>
      </p:pic>
      <p:sp>
        <p:nvSpPr>
          <p:cNvPr id="47" name="Text 35"/>
          <p:cNvSpPr txBox="1"/>
          <p:nvPr/>
        </p:nvSpPr>
        <p:spPr>
          <a:xfrm>
            <a:off x="5129784" y="3127248"/>
            <a:ext cx="2990088" cy="548640"/>
          </a:xfrm>
          <a:prstGeom prst="rect">
            <a:avLst/>
          </a:prstGeom>
          <a:noFill/>
          <a:ln/>
        </p:spPr>
        <p:txBody>
          <a:bodyPr wrap="square" lIns="0" tIns="0" rIns="0" bIns="0" rtlCol="0" anchor="ctr"/>
          <a:lstStyle/>
          <a:p>
            <a:pPr algn="l" indent="0" marL="0">
              <a:lnSpc>
                <a:spcPct val="104000"/>
              </a:lnSpc>
              <a:buNone/>
            </a:pPr>
            <a:r>
              <a:rPr lang="en-US" sz="900" b="1" dirty="0">
                <a:solidFill>
                  <a:srgbClr val="0A4451"/>
                </a:solidFill>
                <a:latin typeface="Calibri" pitchFamily="34" charset="0"/>
                <a:ea typeface="Calibri" pitchFamily="34" charset="-122"/>
                <a:cs typeface="Calibri" pitchFamily="34" charset="-120"/>
              </a:rPr>
              <a:t>Earnings-call transcript</a:t>
            </a:r>
            <a:endParaRPr lang="en-US" sz="900" dirty="0"/>
          </a:p>
        </p:txBody>
      </p:sp>
      <p:sp>
        <p:nvSpPr>
          <p:cNvPr id="48" name="Shape 36"/>
          <p:cNvSpPr/>
          <p:nvPr/>
        </p:nvSpPr>
        <p:spPr>
          <a:xfrm>
            <a:off x="4151376" y="3867912"/>
            <a:ext cx="219456" cy="0"/>
          </a:xfrm>
          <a:prstGeom prst="line">
            <a:avLst/>
          </a:prstGeom>
          <a:noFill/>
          <a:ln w="17780">
            <a:solidFill>
              <a:srgbClr val="108494"/>
            </a:solidFill>
            <a:prstDash val="solid"/>
            <a:headEnd type="none"/>
            <a:tailEnd type="none"/>
          </a:ln>
        </p:spPr>
      </p:sp>
      <p:sp>
        <p:nvSpPr>
          <p:cNvPr id="49" name="Shape 37"/>
          <p:cNvSpPr/>
          <p:nvPr/>
        </p:nvSpPr>
        <p:spPr>
          <a:xfrm flipV="1">
            <a:off x="4370832" y="2432304"/>
            <a:ext cx="0" cy="1435608"/>
          </a:xfrm>
          <a:prstGeom prst="line">
            <a:avLst/>
          </a:prstGeom>
          <a:noFill/>
          <a:ln w="17780">
            <a:solidFill>
              <a:srgbClr val="108494"/>
            </a:solidFill>
            <a:prstDash val="solid"/>
            <a:headEnd type="none"/>
            <a:tailEnd type="none"/>
          </a:ln>
        </p:spPr>
      </p:sp>
      <p:sp>
        <p:nvSpPr>
          <p:cNvPr id="50" name="Shape 38"/>
          <p:cNvSpPr/>
          <p:nvPr/>
        </p:nvSpPr>
        <p:spPr>
          <a:xfrm>
            <a:off x="4370832" y="2432304"/>
            <a:ext cx="192024" cy="0"/>
          </a:xfrm>
          <a:prstGeom prst="line">
            <a:avLst/>
          </a:prstGeom>
          <a:noFill/>
          <a:ln w="17780">
            <a:solidFill>
              <a:srgbClr val="108494"/>
            </a:solidFill>
            <a:prstDash val="solid"/>
            <a:headEnd type="none"/>
            <a:tailEnd type="triangle"/>
          </a:ln>
        </p:spPr>
      </p:sp>
      <p:sp>
        <p:nvSpPr>
          <p:cNvPr id="51" name="Shape 39"/>
          <p:cNvSpPr/>
          <p:nvPr/>
        </p:nvSpPr>
        <p:spPr>
          <a:xfrm>
            <a:off x="4617720" y="4425696"/>
            <a:ext cx="3611880" cy="749808"/>
          </a:xfrm>
          <a:prstGeom prst="roundRect">
            <a:avLst>
              <a:gd name="adj" fmla="val 12195"/>
            </a:avLst>
          </a:prstGeom>
          <a:solidFill>
            <a:srgbClr val="FCEDD4"/>
          </a:solidFill>
          <a:ln w="15875">
            <a:solidFill>
              <a:srgbClr val="C9871B"/>
            </a:solidFill>
            <a:prstDash val="solid"/>
          </a:ln>
          <a:effectLst>
            <a:outerShdw sx="100000" sy="100000" kx="0" ky="0" algn="bl" rotWithShape="0" blurRad="101600" dist="19050" dir="5400000">
              <a:srgbClr val="9FB0C2">
                <a:alpha val="24000"/>
              </a:srgbClr>
            </a:outerShdw>
          </a:effectLst>
        </p:spPr>
      </p:sp>
      <p:pic>
        <p:nvPicPr>
          <p:cNvPr id="52" name="Image 10" descr="preencoded.png">    </p:cNvPr>
          <p:cNvPicPr>
            <a:picLocks noChangeAspect="1"/>
          </p:cNvPicPr>
          <p:nvPr/>
        </p:nvPicPr>
        <p:blipFill>
          <a:blip r:embed="rId11"/>
          <a:stretch>
            <a:fillRect/>
          </a:stretch>
        </p:blipFill>
        <p:spPr>
          <a:xfrm>
            <a:off x="4736592" y="4526280"/>
            <a:ext cx="182880" cy="182880"/>
          </a:xfrm>
          <a:prstGeom prst="rect">
            <a:avLst/>
          </a:prstGeom>
        </p:spPr>
      </p:pic>
      <p:sp>
        <p:nvSpPr>
          <p:cNvPr id="53" name="Text 40"/>
          <p:cNvSpPr txBox="1"/>
          <p:nvPr/>
        </p:nvSpPr>
        <p:spPr>
          <a:xfrm>
            <a:off x="4709160" y="4425696"/>
            <a:ext cx="3429000" cy="749808"/>
          </a:xfrm>
          <a:prstGeom prst="rect">
            <a:avLst/>
          </a:prstGeom>
          <a:noFill/>
          <a:ln/>
        </p:spPr>
        <p:txBody>
          <a:bodyPr wrap="square" lIns="0" tIns="0" rIns="0" bIns="0" rtlCol="0" anchor="ctr"/>
          <a:lstStyle/>
          <a:p>
            <a:pPr algn="ctr" indent="0" marL="0">
              <a:lnSpc>
                <a:spcPct val="104000"/>
              </a:lnSpc>
              <a:buNone/>
            </a:pPr>
            <a:r>
              <a:rPr lang="en-US" sz="750" b="1" spc="110" kern="0" dirty="0">
                <a:solidFill>
                  <a:srgbClr val="C9871B"/>
                </a:solidFill>
                <a:latin typeface="Calibri" pitchFamily="34" charset="0"/>
                <a:ea typeface="Calibri" pitchFamily="34" charset="-122"/>
                <a:cs typeface="Calibri" pitchFamily="34" charset="-120"/>
              </a:rPr>
              <a:t>CHANGE DETECTOR</a:t>
            </a:r>
            <a:endParaRPr lang="en-US" sz="750" dirty="0"/>
          </a:p>
          <a:p>
            <a:pPr algn="ctr" indent="0" marL="0">
              <a:lnSpc>
                <a:spcPct val="104000"/>
              </a:lnSpc>
              <a:buNone/>
            </a:pPr>
            <a:r>
              <a:rPr lang="en-US" sz="1050" b="1" dirty="0">
                <a:solidFill>
                  <a:srgbClr val="64430A"/>
                </a:solidFill>
                <a:latin typeface="Calibri" pitchFamily="34" charset="0"/>
                <a:ea typeface="Calibri" pitchFamily="34" charset="-122"/>
                <a:cs typeface="Calibri" pitchFamily="34" charset="-120"/>
              </a:rPr>
              <a:t>URL + content-hash manifest</a:t>
            </a:r>
            <a:endParaRPr lang="en-US" sz="750" dirty="0"/>
          </a:p>
          <a:p>
            <a:pPr algn="ctr" indent="0" marL="0">
              <a:lnSpc>
                <a:spcPct val="104000"/>
              </a:lnSpc>
              <a:buNone/>
            </a:pPr>
            <a:r>
              <a:rPr lang="en-US" sz="800" dirty="0">
                <a:solidFill>
                  <a:srgbClr val="64430A"/>
                </a:solidFill>
                <a:latin typeface="Calibri" pitchFamily="34" charset="0"/>
                <a:ea typeface="Calibri" pitchFamily="34" charset="-122"/>
                <a:cs typeface="Calibri" pitchFamily="34" charset="-120"/>
              </a:rPr>
              <a:t>only genuinely new or changed documents raise an event</a:t>
            </a:r>
            <a:endParaRPr lang="en-US" sz="750" dirty="0"/>
          </a:p>
        </p:txBody>
      </p:sp>
      <p:sp>
        <p:nvSpPr>
          <p:cNvPr id="54" name="Shape 41"/>
          <p:cNvSpPr/>
          <p:nvPr/>
        </p:nvSpPr>
        <p:spPr>
          <a:xfrm>
            <a:off x="4151376" y="4800600"/>
            <a:ext cx="411480" cy="0"/>
          </a:xfrm>
          <a:prstGeom prst="line">
            <a:avLst/>
          </a:prstGeom>
          <a:noFill/>
          <a:ln w="19050">
            <a:solidFill>
              <a:srgbClr val="64798F"/>
            </a:solidFill>
            <a:prstDash val="solid"/>
            <a:headEnd type="none"/>
            <a:tailEnd type="triangle"/>
          </a:ln>
        </p:spPr>
      </p:sp>
      <p:sp>
        <p:nvSpPr>
          <p:cNvPr id="55" name="Shape 42"/>
          <p:cNvSpPr/>
          <p:nvPr/>
        </p:nvSpPr>
        <p:spPr>
          <a:xfrm>
            <a:off x="8549640" y="1737360"/>
            <a:ext cx="3044952" cy="914400"/>
          </a:xfrm>
          <a:prstGeom prst="roundRect">
            <a:avLst>
              <a:gd name="adj" fmla="val 10000"/>
            </a:avLst>
          </a:prstGeom>
          <a:solidFill>
            <a:srgbClr val="EAF0F5"/>
          </a:solidFill>
          <a:ln w="15875">
            <a:solidFill>
              <a:srgbClr val="64798F"/>
            </a:solidFill>
            <a:prstDash val="solid"/>
          </a:ln>
          <a:effectLst>
            <a:outerShdw sx="100000" sy="100000" kx="0" ky="0" algn="bl" rotWithShape="0" blurRad="101600" dist="19050" dir="5400000">
              <a:srgbClr val="9FB0C2">
                <a:alpha val="24000"/>
              </a:srgbClr>
            </a:outerShdw>
          </a:effectLst>
        </p:spPr>
      </p:sp>
      <p:pic>
        <p:nvPicPr>
          <p:cNvPr id="56" name="Image 11" descr="preencoded.png">    </p:cNvPr>
          <p:cNvPicPr>
            <a:picLocks noChangeAspect="1"/>
          </p:cNvPicPr>
          <p:nvPr/>
        </p:nvPicPr>
        <p:blipFill>
          <a:blip r:embed="rId12"/>
          <a:stretch>
            <a:fillRect/>
          </a:stretch>
        </p:blipFill>
        <p:spPr>
          <a:xfrm>
            <a:off x="8668512" y="1837944"/>
            <a:ext cx="182880" cy="182880"/>
          </a:xfrm>
          <a:prstGeom prst="rect">
            <a:avLst/>
          </a:prstGeom>
        </p:spPr>
      </p:pic>
      <p:sp>
        <p:nvSpPr>
          <p:cNvPr id="57" name="Text 43"/>
          <p:cNvSpPr txBox="1"/>
          <p:nvPr/>
        </p:nvSpPr>
        <p:spPr>
          <a:xfrm>
            <a:off x="8641080" y="1737360"/>
            <a:ext cx="2862072" cy="914400"/>
          </a:xfrm>
          <a:prstGeom prst="rect">
            <a:avLst/>
          </a:prstGeom>
          <a:noFill/>
          <a:ln/>
        </p:spPr>
        <p:txBody>
          <a:bodyPr wrap="square" lIns="0" tIns="0" rIns="0" bIns="0" rtlCol="0" anchor="ctr"/>
          <a:lstStyle/>
          <a:p>
            <a:pPr algn="ctr" indent="0" marL="0">
              <a:lnSpc>
                <a:spcPct val="104000"/>
              </a:lnSpc>
              <a:buNone/>
            </a:pPr>
            <a:r>
              <a:rPr lang="en-US" sz="750" b="1" spc="110" kern="0" dirty="0">
                <a:solidFill>
                  <a:srgbClr val="64798F"/>
                </a:solidFill>
                <a:latin typeface="Calibri" pitchFamily="34" charset="0"/>
                <a:ea typeface="Calibri" pitchFamily="34" charset="-122"/>
                <a:cs typeface="Calibri" pitchFamily="34" charset="-120"/>
              </a:rPr>
              <a:t>SCHEDULER</a:t>
            </a:r>
            <a:endParaRPr lang="en-US" sz="750" dirty="0"/>
          </a:p>
          <a:p>
            <a:pPr algn="ctr" indent="0" marL="0">
              <a:lnSpc>
                <a:spcPct val="104000"/>
              </a:lnSpc>
              <a:buNone/>
            </a:pPr>
            <a:r>
              <a:rPr lang="en-US" sz="1050" b="1" dirty="0">
                <a:solidFill>
                  <a:srgbClr val="24354A"/>
                </a:solidFill>
                <a:latin typeface="Calibri" pitchFamily="34" charset="0"/>
                <a:ea typeface="Calibri" pitchFamily="34" charset="-122"/>
                <a:cs typeface="Calibri" pitchFamily="34" charset="-120"/>
              </a:rPr>
              <a:t>Same entry point as “run now”</a:t>
            </a:r>
            <a:endParaRPr lang="en-US" sz="750" dirty="0"/>
          </a:p>
          <a:p>
            <a:pPr algn="ctr" indent="0" marL="0">
              <a:lnSpc>
                <a:spcPct val="104000"/>
              </a:lnSpc>
              <a:buNone/>
            </a:pPr>
            <a:r>
              <a:rPr lang="en-US" sz="800" dirty="0">
                <a:solidFill>
                  <a:srgbClr val="24354A"/>
                </a:solidFill>
                <a:latin typeface="Calibri" pitchFamily="34" charset="0"/>
                <a:ea typeface="Calibri" pitchFamily="34" charset="-122"/>
                <a:cs typeface="Calibri" pitchFamily="34" charset="-120"/>
              </a:rPr>
              <a:t>APScheduler, 24h by default</a:t>
            </a:r>
            <a:endParaRPr lang="en-US" sz="750" dirty="0"/>
          </a:p>
        </p:txBody>
      </p:sp>
      <p:sp>
        <p:nvSpPr>
          <p:cNvPr id="58" name="Shape 44"/>
          <p:cNvSpPr/>
          <p:nvPr/>
        </p:nvSpPr>
        <p:spPr>
          <a:xfrm>
            <a:off x="8549640" y="3017520"/>
            <a:ext cx="3044952" cy="868680"/>
          </a:xfrm>
          <a:prstGeom prst="roundRect">
            <a:avLst>
              <a:gd name="adj" fmla="val 10526"/>
            </a:avLst>
          </a:prstGeom>
          <a:solidFill>
            <a:srgbClr val="E0F3E3"/>
          </a:solidFill>
          <a:ln w="15875">
            <a:solidFill>
              <a:srgbClr val="2F8F48"/>
            </a:solidFill>
            <a:prstDash val="solid"/>
          </a:ln>
          <a:effectLst>
            <a:outerShdw sx="100000" sy="100000" kx="0" ky="0" algn="bl" rotWithShape="0" blurRad="101600" dist="19050" dir="5400000">
              <a:srgbClr val="9FB0C2">
                <a:alpha val="24000"/>
              </a:srgbClr>
            </a:outerShdw>
          </a:effectLst>
        </p:spPr>
      </p:sp>
      <p:pic>
        <p:nvPicPr>
          <p:cNvPr id="59" name="Image 12" descr="preencoded.png">    </p:cNvPr>
          <p:cNvPicPr>
            <a:picLocks noChangeAspect="1"/>
          </p:cNvPicPr>
          <p:nvPr/>
        </p:nvPicPr>
        <p:blipFill>
          <a:blip r:embed="rId13"/>
          <a:stretch>
            <a:fillRect/>
          </a:stretch>
        </p:blipFill>
        <p:spPr>
          <a:xfrm>
            <a:off x="8668512" y="3118104"/>
            <a:ext cx="182880" cy="182880"/>
          </a:xfrm>
          <a:prstGeom prst="rect">
            <a:avLst/>
          </a:prstGeom>
        </p:spPr>
      </p:pic>
      <p:sp>
        <p:nvSpPr>
          <p:cNvPr id="60" name="Text 45"/>
          <p:cNvSpPr txBox="1"/>
          <p:nvPr/>
        </p:nvSpPr>
        <p:spPr>
          <a:xfrm>
            <a:off x="8641080" y="3017520"/>
            <a:ext cx="2862072" cy="868680"/>
          </a:xfrm>
          <a:prstGeom prst="rect">
            <a:avLst/>
          </a:prstGeom>
          <a:noFill/>
          <a:ln/>
        </p:spPr>
        <p:txBody>
          <a:bodyPr wrap="square" lIns="0" tIns="0" rIns="0" bIns="0" rtlCol="0" anchor="ctr"/>
          <a:lstStyle/>
          <a:p>
            <a:pPr algn="ctr" indent="0" marL="0">
              <a:lnSpc>
                <a:spcPct val="104000"/>
              </a:lnSpc>
              <a:buNone/>
            </a:pPr>
            <a:r>
              <a:rPr lang="en-US" sz="1100" b="1" dirty="0">
                <a:solidFill>
                  <a:srgbClr val="17431F"/>
                </a:solidFill>
                <a:latin typeface="Calibri" pitchFamily="34" charset="0"/>
                <a:ea typeface="Calibri" pitchFamily="34" charset="-122"/>
                <a:cs typeface="Calibri" pitchFamily="34" charset="-120"/>
              </a:rPr>
              <a:t>events.jsonl feed</a:t>
            </a:r>
            <a:endParaRPr lang="en-US" sz="1100" dirty="0"/>
          </a:p>
          <a:p>
            <a:pPr algn="ctr" indent="0" marL="0">
              <a:lnSpc>
                <a:spcPct val="104000"/>
              </a:lnSpc>
              <a:buNone/>
            </a:pPr>
            <a:r>
              <a:rPr lang="en-US" sz="800" dirty="0">
                <a:solidFill>
                  <a:srgbClr val="17431F"/>
                </a:solidFill>
                <a:latin typeface="Calibri" pitchFamily="34" charset="0"/>
                <a:ea typeface="Calibri" pitchFamily="34" charset="-122"/>
                <a:cs typeface="Calibri" pitchFamily="34" charset="-120"/>
              </a:rPr>
              <a:t>a rolling feed the UI and API poll</a:t>
            </a:r>
            <a:endParaRPr lang="en-US" sz="1100" dirty="0"/>
          </a:p>
        </p:txBody>
      </p:sp>
      <p:sp>
        <p:nvSpPr>
          <p:cNvPr id="61" name="Shape 46"/>
          <p:cNvSpPr/>
          <p:nvPr/>
        </p:nvSpPr>
        <p:spPr>
          <a:xfrm>
            <a:off x="8549640" y="4160520"/>
            <a:ext cx="3044952" cy="868680"/>
          </a:xfrm>
          <a:prstGeom prst="roundRect">
            <a:avLst>
              <a:gd name="adj" fmla="val 10526"/>
            </a:avLst>
          </a:prstGeom>
          <a:solidFill>
            <a:srgbClr val="E0F3E3"/>
          </a:solidFill>
          <a:ln w="15875">
            <a:solidFill>
              <a:srgbClr val="2F8F48"/>
            </a:solidFill>
            <a:prstDash val="solid"/>
          </a:ln>
          <a:effectLst>
            <a:outerShdw sx="100000" sy="100000" kx="0" ky="0" algn="bl" rotWithShape="0" blurRad="101600" dist="19050" dir="5400000">
              <a:srgbClr val="9FB0C2">
                <a:alpha val="24000"/>
              </a:srgbClr>
            </a:outerShdw>
          </a:effectLst>
        </p:spPr>
      </p:sp>
      <p:pic>
        <p:nvPicPr>
          <p:cNvPr id="62" name="Image 13" descr="preencoded.png">    </p:cNvPr>
          <p:cNvPicPr>
            <a:picLocks noChangeAspect="1"/>
          </p:cNvPicPr>
          <p:nvPr/>
        </p:nvPicPr>
        <p:blipFill>
          <a:blip r:embed="rId14"/>
          <a:stretch>
            <a:fillRect/>
          </a:stretch>
        </p:blipFill>
        <p:spPr>
          <a:xfrm>
            <a:off x="8668512" y="4261104"/>
            <a:ext cx="182880" cy="182880"/>
          </a:xfrm>
          <a:prstGeom prst="rect">
            <a:avLst/>
          </a:prstGeom>
        </p:spPr>
      </p:pic>
      <p:sp>
        <p:nvSpPr>
          <p:cNvPr id="63" name="Text 47"/>
          <p:cNvSpPr txBox="1"/>
          <p:nvPr/>
        </p:nvSpPr>
        <p:spPr>
          <a:xfrm>
            <a:off x="8641080" y="4160520"/>
            <a:ext cx="2862072" cy="868680"/>
          </a:xfrm>
          <a:prstGeom prst="rect">
            <a:avLst/>
          </a:prstGeom>
          <a:noFill/>
          <a:ln/>
        </p:spPr>
        <p:txBody>
          <a:bodyPr wrap="square" lIns="0" tIns="0" rIns="0" bIns="0" rtlCol="0" anchor="ctr"/>
          <a:lstStyle/>
          <a:p>
            <a:pPr algn="ctr" indent="0" marL="0">
              <a:lnSpc>
                <a:spcPct val="104000"/>
              </a:lnSpc>
              <a:buNone/>
            </a:pPr>
            <a:r>
              <a:rPr lang="en-US" sz="1100" b="1" dirty="0">
                <a:solidFill>
                  <a:srgbClr val="17431F"/>
                </a:solidFill>
                <a:latin typeface="Calibri" pitchFamily="34" charset="0"/>
                <a:ea typeface="Calibri" pitchFamily="34" charset="-122"/>
                <a:cs typeface="Calibri" pitchFamily="34" charset="-120"/>
              </a:rPr>
              <a:t>Webhook POST</a:t>
            </a:r>
            <a:endParaRPr lang="en-US" sz="1100" dirty="0"/>
          </a:p>
          <a:p>
            <a:pPr algn="ctr" indent="0" marL="0">
              <a:lnSpc>
                <a:spcPct val="104000"/>
              </a:lnSpc>
              <a:buNone/>
            </a:pPr>
            <a:r>
              <a:rPr lang="en-US" sz="800" dirty="0">
                <a:solidFill>
                  <a:srgbClr val="17431F"/>
                </a:solidFill>
                <a:latin typeface="Calibri" pitchFamily="34" charset="0"/>
                <a:ea typeface="Calibri" pitchFamily="34" charset="-122"/>
                <a:cs typeface="Calibri" pitchFamily="34" charset="-120"/>
              </a:rPr>
              <a:t>best-effort, to a configured endpoint</a:t>
            </a:r>
            <a:endParaRPr lang="en-US" sz="1100" dirty="0"/>
          </a:p>
        </p:txBody>
      </p:sp>
      <p:sp>
        <p:nvSpPr>
          <p:cNvPr id="64" name="Shape 48"/>
          <p:cNvSpPr/>
          <p:nvPr/>
        </p:nvSpPr>
        <p:spPr>
          <a:xfrm flipV="1">
            <a:off x="8266176" y="3520440"/>
            <a:ext cx="228600" cy="1143000"/>
          </a:xfrm>
          <a:prstGeom prst="line">
            <a:avLst/>
          </a:prstGeom>
          <a:noFill/>
          <a:ln w="16510">
            <a:solidFill>
              <a:srgbClr val="2F8F48"/>
            </a:solidFill>
            <a:prstDash val="solid"/>
            <a:headEnd type="none"/>
            <a:tailEnd type="triangle"/>
          </a:ln>
        </p:spPr>
      </p:sp>
      <p:sp>
        <p:nvSpPr>
          <p:cNvPr id="65" name="Shape 49"/>
          <p:cNvSpPr/>
          <p:nvPr/>
        </p:nvSpPr>
        <p:spPr>
          <a:xfrm flipV="1">
            <a:off x="8266176" y="4572000"/>
            <a:ext cx="228600" cy="274320"/>
          </a:xfrm>
          <a:prstGeom prst="line">
            <a:avLst/>
          </a:prstGeom>
          <a:noFill/>
          <a:ln w="16510">
            <a:solidFill>
              <a:srgbClr val="2F8F48"/>
            </a:solidFill>
            <a:prstDash val="solid"/>
            <a:headEnd type="none"/>
            <a:tailEnd type="triangle"/>
          </a:ln>
        </p:spPr>
      </p:sp>
      <p:sp>
        <p:nvSpPr>
          <p:cNvPr id="66" name="Shape 50"/>
          <p:cNvSpPr/>
          <p:nvPr/>
        </p:nvSpPr>
        <p:spPr>
          <a:xfrm flipH="1">
            <a:off x="8394192" y="2194560"/>
            <a:ext cx="118872" cy="0"/>
          </a:xfrm>
          <a:prstGeom prst="line">
            <a:avLst/>
          </a:prstGeom>
          <a:noFill/>
          <a:ln w="15240">
            <a:solidFill>
              <a:srgbClr val="64798F"/>
            </a:solidFill>
            <a:prstDash val="dash"/>
            <a:headEnd type="none"/>
            <a:tailEnd type="none"/>
          </a:ln>
        </p:spPr>
      </p:sp>
      <p:sp>
        <p:nvSpPr>
          <p:cNvPr id="67" name="Shape 51"/>
          <p:cNvSpPr/>
          <p:nvPr/>
        </p:nvSpPr>
        <p:spPr>
          <a:xfrm>
            <a:off x="8394192" y="2194560"/>
            <a:ext cx="0" cy="3246120"/>
          </a:xfrm>
          <a:prstGeom prst="line">
            <a:avLst/>
          </a:prstGeom>
          <a:noFill/>
          <a:ln w="15240">
            <a:solidFill>
              <a:srgbClr val="64798F"/>
            </a:solidFill>
            <a:prstDash val="dash"/>
            <a:headEnd type="none"/>
            <a:tailEnd type="none"/>
          </a:ln>
        </p:spPr>
      </p:sp>
      <p:sp>
        <p:nvSpPr>
          <p:cNvPr id="68" name="Shape 52"/>
          <p:cNvSpPr/>
          <p:nvPr/>
        </p:nvSpPr>
        <p:spPr>
          <a:xfrm flipH="1">
            <a:off x="777240" y="5440680"/>
            <a:ext cx="7616952" cy="0"/>
          </a:xfrm>
          <a:prstGeom prst="line">
            <a:avLst/>
          </a:prstGeom>
          <a:noFill/>
          <a:ln w="15240">
            <a:solidFill>
              <a:srgbClr val="64798F"/>
            </a:solidFill>
            <a:prstDash val="dash"/>
            <a:headEnd type="none"/>
            <a:tailEnd type="none"/>
          </a:ln>
        </p:spPr>
      </p:sp>
      <p:sp>
        <p:nvSpPr>
          <p:cNvPr id="69" name="Shape 53"/>
          <p:cNvSpPr/>
          <p:nvPr/>
        </p:nvSpPr>
        <p:spPr>
          <a:xfrm flipV="1">
            <a:off x="777240" y="2002536"/>
            <a:ext cx="0" cy="3438144"/>
          </a:xfrm>
          <a:prstGeom prst="line">
            <a:avLst/>
          </a:prstGeom>
          <a:noFill/>
          <a:ln w="15240">
            <a:solidFill>
              <a:srgbClr val="64798F"/>
            </a:solidFill>
            <a:prstDash val="dash"/>
            <a:headEnd type="none"/>
            <a:tailEnd type="none"/>
          </a:ln>
        </p:spPr>
      </p:sp>
      <p:sp>
        <p:nvSpPr>
          <p:cNvPr id="70" name="Shape 54"/>
          <p:cNvSpPr/>
          <p:nvPr/>
        </p:nvSpPr>
        <p:spPr>
          <a:xfrm>
            <a:off x="777240" y="2002536"/>
            <a:ext cx="265176" cy="0"/>
          </a:xfrm>
          <a:prstGeom prst="line">
            <a:avLst/>
          </a:prstGeom>
          <a:noFill/>
          <a:ln w="15240">
            <a:solidFill>
              <a:srgbClr val="64798F"/>
            </a:solidFill>
            <a:prstDash val="dash"/>
            <a:headEnd type="none"/>
            <a:tailEnd type="triangle"/>
          </a:ln>
        </p:spPr>
      </p:sp>
      <p:sp>
        <p:nvSpPr>
          <p:cNvPr id="71" name="Text 55"/>
          <p:cNvSpPr txBox="1"/>
          <p:nvPr/>
        </p:nvSpPr>
        <p:spPr>
          <a:xfrm>
            <a:off x="1828800" y="5193792"/>
            <a:ext cx="3108960" cy="201168"/>
          </a:xfrm>
          <a:prstGeom prst="rect">
            <a:avLst/>
          </a:prstGeom>
          <a:noFill/>
          <a:ln/>
        </p:spPr>
        <p:txBody>
          <a:bodyPr wrap="square" lIns="0" tIns="0" rIns="0" bIns="0" rtlCol="0" anchor="ctr"/>
          <a:lstStyle/>
          <a:p>
            <a:pPr algn="l" indent="0" marL="0">
              <a:buNone/>
            </a:pPr>
            <a:r>
              <a:rPr lang="en-US" sz="800" i="1" dirty="0">
                <a:solidFill>
                  <a:srgbClr val="58697A"/>
                </a:solidFill>
                <a:latin typeface="Calibri" pitchFamily="34" charset="0"/>
                <a:ea typeface="Calibri" pitchFamily="34" charset="-122"/>
                <a:cs typeface="Calibri" pitchFamily="34" charset="-120"/>
              </a:rPr>
              <a:t>the scheduled run is the same run</a:t>
            </a:r>
            <a:endParaRPr lang="en-US" sz="800" dirty="0"/>
          </a:p>
        </p:txBody>
      </p:sp>
      <p:sp>
        <p:nvSpPr>
          <p:cNvPr id="72" name="Shape 56"/>
          <p:cNvSpPr/>
          <p:nvPr/>
        </p:nvSpPr>
        <p:spPr>
          <a:xfrm>
            <a:off x="594360" y="5669280"/>
            <a:ext cx="11000232" cy="411480"/>
          </a:xfrm>
          <a:prstGeom prst="roundRect">
            <a:avLst>
              <a:gd name="adj" fmla="val 8889"/>
            </a:avLst>
          </a:prstGeom>
          <a:solidFill>
            <a:srgbClr val="F4F7FA"/>
          </a:solidFill>
          <a:ln w="15875">
            <a:solidFill>
              <a:srgbClr val="DDE5ED"/>
            </a:solidFill>
            <a:prstDash val="solid"/>
          </a:ln>
        </p:spPr>
      </p:sp>
      <p:sp>
        <p:nvSpPr>
          <p:cNvPr id="73" name="Text 57"/>
          <p:cNvSpPr txBox="1"/>
          <p:nvPr/>
        </p:nvSpPr>
        <p:spPr>
          <a:xfrm>
            <a:off x="795528" y="5669280"/>
            <a:ext cx="10597896" cy="411480"/>
          </a:xfrm>
          <a:prstGeom prst="rect">
            <a:avLst/>
          </a:prstGeom>
          <a:noFill/>
          <a:ln/>
        </p:spPr>
        <p:txBody>
          <a:bodyPr wrap="square" lIns="0" tIns="0" rIns="0" bIns="0" rtlCol="0" anchor="ctr"/>
          <a:lstStyle/>
          <a:p>
            <a:pPr indent="0" marL="0">
              <a:buNone/>
            </a:pPr>
            <a:r>
              <a:rPr lang="en-US" sz="930" b="1" dirty="0">
                <a:solidFill>
                  <a:srgbClr val="CE3D64"/>
                </a:solidFill>
                <a:latin typeface="Calibri" pitchFamily="34" charset="0"/>
                <a:ea typeface="Calibri" pitchFamily="34" charset="-122"/>
                <a:cs typeface="Calibri" pitchFamily="34" charset="-120"/>
              </a:rPr>
              <a:t>Unreachable is not empty.  </a:t>
            </a:r>
            <a:pPr indent="0" marL="0">
              <a:buNone/>
            </a:pPr>
            <a:r>
              <a:rPr lang="en-US" sz="930" dirty="0">
                <a:solidFill>
                  <a:srgbClr val="43566B"/>
                </a:solidFill>
                <a:latin typeface="Calibri" pitchFamily="34" charset="0"/>
                <a:ea typeface="Calibri" pitchFamily="34" charset="-122"/>
                <a:cs typeface="Calibri" pitchFamily="34" charset="-120"/>
              </a:rPr>
              <a:t>A known homepage that could not be fetched is reported as homepage_unreachable and routed to review — deliberately distinct from “crawled fine, nothing matched.”</a:t>
            </a:r>
            <a:endParaRPr lang="en-US" sz="930" dirty="0"/>
          </a:p>
        </p:txBody>
      </p:sp>
      <p:sp>
        <p:nvSpPr>
          <p:cNvPr id="74" name="Shape 58"/>
          <p:cNvSpPr/>
          <p:nvPr/>
        </p:nvSpPr>
        <p:spPr>
          <a:xfrm>
            <a:off x="594360" y="6199632"/>
            <a:ext cx="155448" cy="155448"/>
          </a:xfrm>
          <a:prstGeom prst="roundRect">
            <a:avLst>
              <a:gd name="adj" fmla="val 29412"/>
            </a:avLst>
          </a:prstGeom>
          <a:solidFill>
            <a:srgbClr val="2F6FD0"/>
          </a:solidFill>
          <a:ln/>
        </p:spPr>
      </p:sp>
      <p:sp>
        <p:nvSpPr>
          <p:cNvPr id="75" name="Text 59"/>
          <p:cNvSpPr txBox="1"/>
          <p:nvPr/>
        </p:nvSpPr>
        <p:spPr>
          <a:xfrm>
            <a:off x="813816" y="6172200"/>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source / input</a:t>
            </a:r>
            <a:endParaRPr lang="en-US" sz="880" dirty="0"/>
          </a:p>
        </p:txBody>
      </p:sp>
      <p:sp>
        <p:nvSpPr>
          <p:cNvPr id="76" name="Shape 60"/>
          <p:cNvSpPr/>
          <p:nvPr/>
        </p:nvSpPr>
        <p:spPr>
          <a:xfrm>
            <a:off x="2427732" y="6199632"/>
            <a:ext cx="155448" cy="155448"/>
          </a:xfrm>
          <a:prstGeom prst="roundRect">
            <a:avLst>
              <a:gd name="adj" fmla="val 29412"/>
            </a:avLst>
          </a:prstGeom>
          <a:solidFill>
            <a:srgbClr val="108494"/>
          </a:solidFill>
          <a:ln/>
        </p:spPr>
      </p:sp>
      <p:sp>
        <p:nvSpPr>
          <p:cNvPr id="77" name="Text 61"/>
          <p:cNvSpPr txBox="1"/>
          <p:nvPr/>
        </p:nvSpPr>
        <p:spPr>
          <a:xfrm>
            <a:off x="2647188" y="6172200"/>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deterministic step</a:t>
            </a:r>
            <a:endParaRPr lang="en-US" sz="880" dirty="0"/>
          </a:p>
        </p:txBody>
      </p:sp>
      <p:sp>
        <p:nvSpPr>
          <p:cNvPr id="78" name="Shape 62"/>
          <p:cNvSpPr/>
          <p:nvPr/>
        </p:nvSpPr>
        <p:spPr>
          <a:xfrm>
            <a:off x="4261104" y="6199632"/>
            <a:ext cx="155448" cy="155448"/>
          </a:xfrm>
          <a:prstGeom prst="roundRect">
            <a:avLst>
              <a:gd name="adj" fmla="val 29412"/>
            </a:avLst>
          </a:prstGeom>
          <a:solidFill>
            <a:srgbClr val="6D4DD1"/>
          </a:solidFill>
          <a:ln/>
        </p:spPr>
      </p:sp>
      <p:sp>
        <p:nvSpPr>
          <p:cNvPr id="79" name="Text 63"/>
          <p:cNvSpPr txBox="1"/>
          <p:nvPr/>
        </p:nvSpPr>
        <p:spPr>
          <a:xfrm>
            <a:off x="4480560" y="6172200"/>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LLM agent</a:t>
            </a:r>
            <a:endParaRPr lang="en-US" sz="880" dirty="0"/>
          </a:p>
        </p:txBody>
      </p:sp>
      <p:sp>
        <p:nvSpPr>
          <p:cNvPr id="80" name="Shape 64"/>
          <p:cNvSpPr/>
          <p:nvPr/>
        </p:nvSpPr>
        <p:spPr>
          <a:xfrm>
            <a:off x="6094476" y="6199632"/>
            <a:ext cx="155448" cy="155448"/>
          </a:xfrm>
          <a:prstGeom prst="roundRect">
            <a:avLst>
              <a:gd name="adj" fmla="val 29412"/>
            </a:avLst>
          </a:prstGeom>
          <a:solidFill>
            <a:srgbClr val="C9871B"/>
          </a:solidFill>
          <a:ln/>
        </p:spPr>
      </p:sp>
      <p:sp>
        <p:nvSpPr>
          <p:cNvPr id="81" name="Text 65"/>
          <p:cNvSpPr txBox="1"/>
          <p:nvPr/>
        </p:nvSpPr>
        <p:spPr>
          <a:xfrm>
            <a:off x="6313932" y="6172200"/>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gate or check</a:t>
            </a:r>
            <a:endParaRPr lang="en-US" sz="880" dirty="0"/>
          </a:p>
        </p:txBody>
      </p:sp>
      <p:sp>
        <p:nvSpPr>
          <p:cNvPr id="82" name="Shape 66"/>
          <p:cNvSpPr/>
          <p:nvPr/>
        </p:nvSpPr>
        <p:spPr>
          <a:xfrm>
            <a:off x="7927848" y="6199632"/>
            <a:ext cx="155448" cy="155448"/>
          </a:xfrm>
          <a:prstGeom prst="roundRect">
            <a:avLst>
              <a:gd name="adj" fmla="val 29412"/>
            </a:avLst>
          </a:prstGeom>
          <a:solidFill>
            <a:srgbClr val="CE3D64"/>
          </a:solidFill>
          <a:ln/>
        </p:spPr>
      </p:sp>
      <p:sp>
        <p:nvSpPr>
          <p:cNvPr id="83" name="Text 67"/>
          <p:cNvSpPr txBox="1"/>
          <p:nvPr/>
        </p:nvSpPr>
        <p:spPr>
          <a:xfrm>
            <a:off x="8147304" y="6172200"/>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human decision</a:t>
            </a:r>
            <a:endParaRPr lang="en-US" sz="880" dirty="0"/>
          </a:p>
        </p:txBody>
      </p:sp>
      <p:sp>
        <p:nvSpPr>
          <p:cNvPr id="84" name="Shape 68"/>
          <p:cNvSpPr/>
          <p:nvPr/>
        </p:nvSpPr>
        <p:spPr>
          <a:xfrm>
            <a:off x="9761220" y="6199632"/>
            <a:ext cx="155448" cy="155448"/>
          </a:xfrm>
          <a:prstGeom prst="roundRect">
            <a:avLst>
              <a:gd name="adj" fmla="val 29412"/>
            </a:avLst>
          </a:prstGeom>
          <a:solidFill>
            <a:srgbClr val="2F8F48"/>
          </a:solidFill>
          <a:ln/>
        </p:spPr>
      </p:sp>
      <p:sp>
        <p:nvSpPr>
          <p:cNvPr id="85" name="Text 69"/>
          <p:cNvSpPr txBox="1"/>
          <p:nvPr/>
        </p:nvSpPr>
        <p:spPr>
          <a:xfrm>
            <a:off x="9980676" y="6172200"/>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stored output</a:t>
            </a:r>
            <a:endParaRPr lang="en-US" sz="88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438912"/>
            <a:ext cx="10085832" cy="201168"/>
          </a:xfrm>
          <a:prstGeom prst="rect">
            <a:avLst/>
          </a:prstGeom>
          <a:noFill/>
          <a:ln/>
        </p:spPr>
        <p:txBody>
          <a:bodyPr wrap="square" lIns="0" tIns="0" rIns="0" bIns="0" rtlCol="0" anchor="ctr"/>
          <a:lstStyle/>
          <a:p>
            <a:pPr indent="0" marL="0">
              <a:buNone/>
            </a:pPr>
            <a:r>
              <a:rPr lang="en-US" sz="1050" b="1" spc="200" kern="0" dirty="0">
                <a:solidFill>
                  <a:srgbClr val="108494"/>
                </a:solidFill>
                <a:latin typeface="Calibri" pitchFamily="34" charset="0"/>
                <a:ea typeface="Calibri" pitchFamily="34" charset="-122"/>
                <a:cs typeface="Calibri" pitchFamily="34" charset="-120"/>
              </a:rPr>
              <a:t>05   ·   ARCHITECTURE &amp; PROCESS</a:t>
            </a:r>
            <a:endParaRPr lang="en-US" sz="1050" dirty="0"/>
          </a:p>
        </p:txBody>
      </p:sp>
      <p:sp>
        <p:nvSpPr>
          <p:cNvPr id="3" name="Text 1"/>
          <p:cNvSpPr txBox="1"/>
          <p:nvPr/>
        </p:nvSpPr>
        <p:spPr>
          <a:xfrm>
            <a:off x="594360" y="640080"/>
            <a:ext cx="10085832" cy="484632"/>
          </a:xfrm>
          <a:prstGeom prst="rect">
            <a:avLst/>
          </a:prstGeom>
          <a:noFill/>
          <a:ln/>
        </p:spPr>
        <p:txBody>
          <a:bodyPr wrap="square" lIns="0" tIns="0" rIns="0" bIns="0" rtlCol="0" anchor="ctr"/>
          <a:lstStyle/>
          <a:p>
            <a:pPr indent="0" marL="0">
              <a:buNone/>
            </a:pPr>
            <a:r>
              <a:rPr lang="en-US" sz="3000" b="1" dirty="0">
                <a:solidFill>
                  <a:srgbClr val="10243A"/>
                </a:solidFill>
                <a:latin typeface="Cambria" pitchFamily="34" charset="0"/>
                <a:ea typeface="Cambria" pitchFamily="34" charset="-122"/>
                <a:cs typeface="Cambria" pitchFamily="34" charset="-120"/>
              </a:rPr>
              <a:t>Discovery: crawl, classify, notify</a:t>
            </a:r>
            <a:endParaRPr lang="en-US" sz="3000" dirty="0"/>
          </a:p>
        </p:txBody>
      </p:sp>
      <p:sp>
        <p:nvSpPr>
          <p:cNvPr id="4" name="Text 2"/>
          <p:cNvSpPr txBox="1"/>
          <p:nvPr/>
        </p:nvSpPr>
        <p:spPr>
          <a:xfrm>
            <a:off x="594360" y="1143000"/>
            <a:ext cx="9994392" cy="274320"/>
          </a:xfrm>
          <a:prstGeom prst="rect">
            <a:avLst/>
          </a:prstGeom>
          <a:noFill/>
          <a:ln/>
        </p:spPr>
        <p:txBody>
          <a:bodyPr wrap="square" lIns="0" tIns="0" rIns="0" bIns="0" rtlCol="0" anchor="ctr"/>
          <a:lstStyle/>
          <a:p>
            <a:pPr indent="0" marL="0">
              <a:buNone/>
            </a:pPr>
            <a:r>
              <a:rPr lang="en-US" sz="1200" dirty="0">
                <a:solidFill>
                  <a:srgbClr val="58697A"/>
                </a:solidFill>
                <a:latin typeface="Calibri" pitchFamily="34" charset="0"/>
                <a:ea typeface="Calibri" pitchFamily="34" charset="-122"/>
                <a:cs typeface="Calibri" pitchFamily="34" charset="-120"/>
              </a:rPr>
              <a:t>The only pipeline here that reaches out to the open web — so the guards are part of the architecture.</a:t>
            </a:r>
            <a:endParaRPr lang="en-US" sz="1200" dirty="0"/>
          </a:p>
        </p:txBody>
      </p:sp>
      <p:sp>
        <p:nvSpPr>
          <p:cNvPr id="5" name="Shape 3"/>
          <p:cNvSpPr/>
          <p:nvPr/>
        </p:nvSpPr>
        <p:spPr>
          <a:xfrm>
            <a:off x="10881360" y="475488"/>
            <a:ext cx="713232" cy="713232"/>
          </a:xfrm>
          <a:prstGeom prst="roundRect">
            <a:avLst>
              <a:gd name="adj" fmla="val 20513"/>
            </a:avLst>
          </a:prstGeom>
          <a:solidFill>
            <a:srgbClr val="10243A"/>
          </a:solidFill>
          <a:ln/>
        </p:spPr>
      </p:sp>
      <p:pic>
        <p:nvPicPr>
          <p:cNvPr id="6" name="Image 0" descr="preencoded.png">    </p:cNvPr>
          <p:cNvPicPr>
            <a:picLocks noChangeAspect="1"/>
          </p:cNvPicPr>
          <p:nvPr/>
        </p:nvPicPr>
        <p:blipFill>
          <a:blip r:embed="rId1"/>
          <a:stretch>
            <a:fillRect/>
          </a:stretch>
        </p:blipFill>
        <p:spPr>
          <a:xfrm>
            <a:off x="11038271" y="632399"/>
            <a:ext cx="399410" cy="399410"/>
          </a:xfrm>
          <a:prstGeom prst="rect">
            <a:avLst/>
          </a:prstGeom>
        </p:spPr>
      </p:pic>
      <p:sp>
        <p:nvSpPr>
          <p:cNvPr id="7" name="Shape 4"/>
          <p:cNvSpPr/>
          <p:nvPr/>
        </p:nvSpPr>
        <p:spPr>
          <a:xfrm>
            <a:off x="594360" y="1572768"/>
            <a:ext cx="1907438" cy="749808"/>
          </a:xfrm>
          <a:prstGeom prst="roundRect">
            <a:avLst>
              <a:gd name="adj" fmla="val 12195"/>
            </a:avLst>
          </a:prstGeom>
          <a:solidFill>
            <a:srgbClr val="E3EDFC"/>
          </a:solidFill>
          <a:ln w="15875">
            <a:solidFill>
              <a:srgbClr val="2F6FD0"/>
            </a:solidFill>
            <a:prstDash val="solid"/>
          </a:ln>
          <a:effectLst>
            <a:outerShdw sx="100000" sy="100000" kx="0" ky="0" algn="bl" rotWithShape="0" blurRad="101600" dist="19050" dir="5400000">
              <a:srgbClr val="9FB0C2">
                <a:alpha val="24000"/>
              </a:srgbClr>
            </a:outerShdw>
          </a:effectLst>
        </p:spPr>
      </p:sp>
      <p:pic>
        <p:nvPicPr>
          <p:cNvPr id="8" name="Image 1" descr="preencoded.png">    </p:cNvPr>
          <p:cNvPicPr>
            <a:picLocks noChangeAspect="1"/>
          </p:cNvPicPr>
          <p:nvPr/>
        </p:nvPicPr>
        <p:blipFill>
          <a:blip r:embed="rId2"/>
          <a:stretch>
            <a:fillRect/>
          </a:stretch>
        </p:blipFill>
        <p:spPr>
          <a:xfrm>
            <a:off x="713232" y="1673352"/>
            <a:ext cx="182880" cy="182880"/>
          </a:xfrm>
          <a:prstGeom prst="rect">
            <a:avLst/>
          </a:prstGeom>
        </p:spPr>
      </p:pic>
      <p:sp>
        <p:nvSpPr>
          <p:cNvPr id="9" name="Text 5"/>
          <p:cNvSpPr txBox="1"/>
          <p:nvPr/>
        </p:nvSpPr>
        <p:spPr>
          <a:xfrm>
            <a:off x="685800" y="1572768"/>
            <a:ext cx="1724558" cy="749808"/>
          </a:xfrm>
          <a:prstGeom prst="rect">
            <a:avLst/>
          </a:prstGeom>
          <a:noFill/>
          <a:ln/>
        </p:spPr>
        <p:txBody>
          <a:bodyPr wrap="square" lIns="0" tIns="0" rIns="0" bIns="0" rtlCol="0" anchor="ctr"/>
          <a:lstStyle/>
          <a:p>
            <a:pPr algn="ctr" indent="0" marL="0">
              <a:lnSpc>
                <a:spcPct val="104000"/>
              </a:lnSpc>
              <a:buNone/>
            </a:pPr>
            <a:r>
              <a:rPr lang="en-US" sz="1050" b="1" dirty="0">
                <a:solidFill>
                  <a:srgbClr val="153A61"/>
                </a:solidFill>
                <a:latin typeface="Calibri" pitchFamily="34" charset="0"/>
                <a:ea typeface="Calibri" pitchFamily="34" charset="-122"/>
                <a:cs typeface="Calibri" pitchFamily="34" charset="-120"/>
              </a:rPr>
              <a:t>Resolve site</a:t>
            </a:r>
            <a:endParaRPr lang="en-US" sz="1050" dirty="0"/>
          </a:p>
          <a:p>
            <a:pPr algn="ctr" indent="0" marL="0">
              <a:lnSpc>
                <a:spcPct val="104000"/>
              </a:lnSpc>
              <a:buNone/>
            </a:pPr>
            <a:r>
              <a:rPr lang="en-US" sz="800" dirty="0">
                <a:solidFill>
                  <a:srgbClr val="153A61"/>
                </a:solidFill>
                <a:latin typeface="Calibri" pitchFamily="34" charset="0"/>
                <a:ea typeface="Calibri" pitchFamily="34" charset="-122"/>
                <a:cs typeface="Calibri" pitchFamily="34" charset="-120"/>
              </a:rPr>
              <a:t>supplied URL, else search</a:t>
            </a:r>
            <a:endParaRPr lang="en-US" sz="1050" dirty="0"/>
          </a:p>
        </p:txBody>
      </p:sp>
      <p:sp>
        <p:nvSpPr>
          <p:cNvPr id="10" name="Shape 6"/>
          <p:cNvSpPr/>
          <p:nvPr/>
        </p:nvSpPr>
        <p:spPr>
          <a:xfrm>
            <a:off x="2556662" y="1947672"/>
            <a:ext cx="256032" cy="0"/>
          </a:xfrm>
          <a:prstGeom prst="line">
            <a:avLst/>
          </a:prstGeom>
          <a:noFill/>
          <a:ln w="21590">
            <a:solidFill>
              <a:srgbClr val="64798F"/>
            </a:solidFill>
            <a:prstDash val="solid"/>
            <a:headEnd type="none"/>
            <a:tailEnd type="triangle"/>
          </a:ln>
        </p:spPr>
      </p:sp>
      <p:sp>
        <p:nvSpPr>
          <p:cNvPr id="11" name="Shape 7"/>
          <p:cNvSpPr/>
          <p:nvPr/>
        </p:nvSpPr>
        <p:spPr>
          <a:xfrm>
            <a:off x="2867558" y="1572768"/>
            <a:ext cx="1907438" cy="749808"/>
          </a:xfrm>
          <a:prstGeom prst="roundRect">
            <a:avLst>
              <a:gd name="adj" fmla="val 12195"/>
            </a:avLst>
          </a:prstGeom>
          <a:solidFill>
            <a:srgbClr val="FCEDD4"/>
          </a:solidFill>
          <a:ln w="15875">
            <a:solidFill>
              <a:srgbClr val="C9871B"/>
            </a:solidFill>
            <a:prstDash val="solid"/>
          </a:ln>
          <a:effectLst>
            <a:outerShdw sx="100000" sy="100000" kx="0" ky="0" algn="bl" rotWithShape="0" blurRad="101600" dist="19050" dir="5400000">
              <a:srgbClr val="9FB0C2">
                <a:alpha val="24000"/>
              </a:srgbClr>
            </a:outerShdw>
          </a:effectLst>
        </p:spPr>
      </p:sp>
      <p:pic>
        <p:nvPicPr>
          <p:cNvPr id="12" name="Image 2" descr="preencoded.png">    </p:cNvPr>
          <p:cNvPicPr>
            <a:picLocks noChangeAspect="1"/>
          </p:cNvPicPr>
          <p:nvPr/>
        </p:nvPicPr>
        <p:blipFill>
          <a:blip r:embed="rId3"/>
          <a:stretch>
            <a:fillRect/>
          </a:stretch>
        </p:blipFill>
        <p:spPr>
          <a:xfrm>
            <a:off x="2986430" y="1673352"/>
            <a:ext cx="182880" cy="182880"/>
          </a:xfrm>
          <a:prstGeom prst="rect">
            <a:avLst/>
          </a:prstGeom>
        </p:spPr>
      </p:pic>
      <p:sp>
        <p:nvSpPr>
          <p:cNvPr id="13" name="Text 8"/>
          <p:cNvSpPr txBox="1"/>
          <p:nvPr/>
        </p:nvSpPr>
        <p:spPr>
          <a:xfrm>
            <a:off x="2958998" y="1572768"/>
            <a:ext cx="1724558" cy="749808"/>
          </a:xfrm>
          <a:prstGeom prst="rect">
            <a:avLst/>
          </a:prstGeom>
          <a:noFill/>
          <a:ln/>
        </p:spPr>
        <p:txBody>
          <a:bodyPr wrap="square" lIns="0" tIns="0" rIns="0" bIns="0" rtlCol="0" anchor="ctr"/>
          <a:lstStyle/>
          <a:p>
            <a:pPr algn="ctr" indent="0" marL="0">
              <a:lnSpc>
                <a:spcPct val="104000"/>
              </a:lnSpc>
              <a:buNone/>
            </a:pPr>
            <a:r>
              <a:rPr lang="en-US" sz="1050" b="1" dirty="0">
                <a:solidFill>
                  <a:srgbClr val="64430A"/>
                </a:solidFill>
                <a:latin typeface="Calibri" pitchFamily="34" charset="0"/>
                <a:ea typeface="Calibri" pitchFamily="34" charset="-122"/>
                <a:cs typeface="Calibri" pitchFamily="34" charset="-120"/>
              </a:rPr>
              <a:t>Fetch root</a:t>
            </a:r>
            <a:endParaRPr lang="en-US" sz="1050" dirty="0"/>
          </a:p>
          <a:p>
            <a:pPr algn="ctr" indent="0" marL="0">
              <a:lnSpc>
                <a:spcPct val="104000"/>
              </a:lnSpc>
              <a:buNone/>
            </a:pPr>
            <a:r>
              <a:rPr lang="en-US" sz="800" dirty="0">
                <a:solidFill>
                  <a:srgbClr val="64430A"/>
                </a:solidFill>
                <a:latin typeface="Calibri" pitchFamily="34" charset="0"/>
                <a:ea typeface="Calibri" pitchFamily="34" charset="-122"/>
                <a:cs typeface="Calibri" pitchFamily="34" charset="-120"/>
              </a:rPr>
              <a:t>guarded by the SSRF hook</a:t>
            </a:r>
            <a:endParaRPr lang="en-US" sz="1050" dirty="0"/>
          </a:p>
        </p:txBody>
      </p:sp>
      <p:sp>
        <p:nvSpPr>
          <p:cNvPr id="14" name="Shape 9"/>
          <p:cNvSpPr/>
          <p:nvPr/>
        </p:nvSpPr>
        <p:spPr>
          <a:xfrm>
            <a:off x="4829861" y="1947672"/>
            <a:ext cx="256032" cy="0"/>
          </a:xfrm>
          <a:prstGeom prst="line">
            <a:avLst/>
          </a:prstGeom>
          <a:noFill/>
          <a:ln w="21590">
            <a:solidFill>
              <a:srgbClr val="64798F"/>
            </a:solidFill>
            <a:prstDash val="solid"/>
            <a:headEnd type="none"/>
            <a:tailEnd type="triangle"/>
          </a:ln>
        </p:spPr>
      </p:sp>
      <p:sp>
        <p:nvSpPr>
          <p:cNvPr id="15" name="Shape 10"/>
          <p:cNvSpPr/>
          <p:nvPr/>
        </p:nvSpPr>
        <p:spPr>
          <a:xfrm>
            <a:off x="5140757" y="1572768"/>
            <a:ext cx="1907438" cy="749808"/>
          </a:xfrm>
          <a:prstGeom prst="roundRect">
            <a:avLst>
              <a:gd name="adj" fmla="val 12195"/>
            </a:avLst>
          </a:prstGeom>
          <a:solidFill>
            <a:srgbClr val="FCEDD4"/>
          </a:solidFill>
          <a:ln w="15875">
            <a:solidFill>
              <a:srgbClr val="C9871B"/>
            </a:solidFill>
            <a:prstDash val="solid"/>
          </a:ln>
          <a:effectLst>
            <a:outerShdw sx="100000" sy="100000" kx="0" ky="0" algn="bl" rotWithShape="0" blurRad="101600" dist="19050" dir="5400000">
              <a:srgbClr val="9FB0C2">
                <a:alpha val="24000"/>
              </a:srgbClr>
            </a:outerShdw>
          </a:effectLst>
        </p:spPr>
      </p:sp>
      <p:pic>
        <p:nvPicPr>
          <p:cNvPr id="16" name="Image 3" descr="preencoded.png">    </p:cNvPr>
          <p:cNvPicPr>
            <a:picLocks noChangeAspect="1"/>
          </p:cNvPicPr>
          <p:nvPr/>
        </p:nvPicPr>
        <p:blipFill>
          <a:blip r:embed="rId4"/>
          <a:stretch>
            <a:fillRect/>
          </a:stretch>
        </p:blipFill>
        <p:spPr>
          <a:xfrm>
            <a:off x="5259629" y="1673352"/>
            <a:ext cx="182880" cy="182880"/>
          </a:xfrm>
          <a:prstGeom prst="rect">
            <a:avLst/>
          </a:prstGeom>
        </p:spPr>
      </p:pic>
      <p:sp>
        <p:nvSpPr>
          <p:cNvPr id="17" name="Text 11"/>
          <p:cNvSpPr txBox="1"/>
          <p:nvPr/>
        </p:nvSpPr>
        <p:spPr>
          <a:xfrm>
            <a:off x="5232197" y="1572768"/>
            <a:ext cx="1724558" cy="749808"/>
          </a:xfrm>
          <a:prstGeom prst="rect">
            <a:avLst/>
          </a:prstGeom>
          <a:noFill/>
          <a:ln/>
        </p:spPr>
        <p:txBody>
          <a:bodyPr wrap="square" lIns="0" tIns="0" rIns="0" bIns="0" rtlCol="0" anchor="ctr"/>
          <a:lstStyle/>
          <a:p>
            <a:pPr algn="ctr" indent="0" marL="0">
              <a:lnSpc>
                <a:spcPct val="104000"/>
              </a:lnSpc>
              <a:buNone/>
            </a:pPr>
            <a:r>
              <a:rPr lang="en-US" sz="1050" b="1" dirty="0">
                <a:solidFill>
                  <a:srgbClr val="64430A"/>
                </a:solidFill>
                <a:latin typeface="Calibri" pitchFamily="34" charset="0"/>
                <a:ea typeface="Calibri" pitchFamily="34" charset="-122"/>
                <a:cs typeface="Calibri" pitchFamily="34" charset="-120"/>
              </a:rPr>
              <a:t>Crawl</a:t>
            </a:r>
            <a:endParaRPr lang="en-US" sz="1050" dirty="0"/>
          </a:p>
          <a:p>
            <a:pPr algn="ctr" indent="0" marL="0">
              <a:lnSpc>
                <a:spcPct val="104000"/>
              </a:lnSpc>
              <a:buNone/>
            </a:pPr>
            <a:r>
              <a:rPr lang="en-US" sz="800" dirty="0">
                <a:solidFill>
                  <a:srgbClr val="64430A"/>
                </a:solidFill>
                <a:latin typeface="Calibri" pitchFamily="34" charset="0"/>
                <a:ea typeface="Calibri" pitchFamily="34" charset="-122"/>
                <a:cs typeface="Calibri" pitchFamily="34" charset="-120"/>
              </a:rPr>
              <a:t>same domain, robots, depth cap</a:t>
            </a:r>
            <a:endParaRPr lang="en-US" sz="1050" dirty="0"/>
          </a:p>
        </p:txBody>
      </p:sp>
      <p:sp>
        <p:nvSpPr>
          <p:cNvPr id="18" name="Shape 12"/>
          <p:cNvSpPr/>
          <p:nvPr/>
        </p:nvSpPr>
        <p:spPr>
          <a:xfrm>
            <a:off x="7103059" y="1947672"/>
            <a:ext cx="256032" cy="0"/>
          </a:xfrm>
          <a:prstGeom prst="line">
            <a:avLst/>
          </a:prstGeom>
          <a:noFill/>
          <a:ln w="21590">
            <a:solidFill>
              <a:srgbClr val="64798F"/>
            </a:solidFill>
            <a:prstDash val="solid"/>
            <a:headEnd type="none"/>
            <a:tailEnd type="triangle"/>
          </a:ln>
        </p:spPr>
      </p:sp>
      <p:sp>
        <p:nvSpPr>
          <p:cNvPr id="19" name="Shape 13"/>
          <p:cNvSpPr/>
          <p:nvPr/>
        </p:nvSpPr>
        <p:spPr>
          <a:xfrm>
            <a:off x="7413955" y="1572768"/>
            <a:ext cx="1907438" cy="749808"/>
          </a:xfrm>
          <a:prstGeom prst="roundRect">
            <a:avLst>
              <a:gd name="adj" fmla="val 12195"/>
            </a:avLst>
          </a:prstGeom>
          <a:solidFill>
            <a:srgbClr val="DCF2F4"/>
          </a:solidFill>
          <a:ln w="15875">
            <a:solidFill>
              <a:srgbClr val="108494"/>
            </a:solidFill>
            <a:prstDash val="solid"/>
          </a:ln>
          <a:effectLst>
            <a:outerShdw sx="100000" sy="100000" kx="0" ky="0" algn="bl" rotWithShape="0" blurRad="101600" dist="19050" dir="5400000">
              <a:srgbClr val="9FB0C2">
                <a:alpha val="24000"/>
              </a:srgbClr>
            </a:outerShdw>
          </a:effectLst>
        </p:spPr>
      </p:sp>
      <p:pic>
        <p:nvPicPr>
          <p:cNvPr id="20" name="Image 4" descr="preencoded.png">    </p:cNvPr>
          <p:cNvPicPr>
            <a:picLocks noChangeAspect="1"/>
          </p:cNvPicPr>
          <p:nvPr/>
        </p:nvPicPr>
        <p:blipFill>
          <a:blip r:embed="rId5"/>
          <a:stretch>
            <a:fillRect/>
          </a:stretch>
        </p:blipFill>
        <p:spPr>
          <a:xfrm>
            <a:off x="7532827" y="1673352"/>
            <a:ext cx="182880" cy="182880"/>
          </a:xfrm>
          <a:prstGeom prst="rect">
            <a:avLst/>
          </a:prstGeom>
        </p:spPr>
      </p:pic>
      <p:sp>
        <p:nvSpPr>
          <p:cNvPr id="21" name="Text 14"/>
          <p:cNvSpPr txBox="1"/>
          <p:nvPr/>
        </p:nvSpPr>
        <p:spPr>
          <a:xfrm>
            <a:off x="7505395" y="1572768"/>
            <a:ext cx="1724558" cy="749808"/>
          </a:xfrm>
          <a:prstGeom prst="rect">
            <a:avLst/>
          </a:prstGeom>
          <a:noFill/>
          <a:ln/>
        </p:spPr>
        <p:txBody>
          <a:bodyPr wrap="square" lIns="0" tIns="0" rIns="0" bIns="0" rtlCol="0" anchor="ctr"/>
          <a:lstStyle/>
          <a:p>
            <a:pPr algn="ctr" indent="0" marL="0">
              <a:lnSpc>
                <a:spcPct val="104000"/>
              </a:lnSpc>
              <a:buNone/>
            </a:pPr>
            <a:r>
              <a:rPr lang="en-US" sz="1050" b="1" dirty="0">
                <a:solidFill>
                  <a:srgbClr val="0A4451"/>
                </a:solidFill>
                <a:latin typeface="Calibri" pitchFamily="34" charset="0"/>
                <a:ea typeface="Calibri" pitchFamily="34" charset="-122"/>
                <a:cs typeface="Calibri" pitchFamily="34" charset="-120"/>
              </a:rPr>
              <a:t>Classify links</a:t>
            </a:r>
            <a:endParaRPr lang="en-US" sz="1050" dirty="0"/>
          </a:p>
          <a:p>
            <a:pPr algn="ctr" indent="0" marL="0">
              <a:lnSpc>
                <a:spcPct val="104000"/>
              </a:lnSpc>
              <a:buNone/>
            </a:pPr>
            <a:r>
              <a:rPr lang="en-US" sz="800" dirty="0">
                <a:solidFill>
                  <a:srgbClr val="0A4451"/>
                </a:solidFill>
                <a:latin typeface="Calibri" pitchFamily="34" charset="0"/>
                <a:ea typeface="Calibri" pitchFamily="34" charset="-122"/>
                <a:cs typeface="Calibri" pitchFamily="34" charset="-120"/>
              </a:rPr>
              <a:t>ordered keyword patterns</a:t>
            </a:r>
            <a:endParaRPr lang="en-US" sz="1050" dirty="0"/>
          </a:p>
        </p:txBody>
      </p:sp>
      <p:sp>
        <p:nvSpPr>
          <p:cNvPr id="22" name="Shape 15"/>
          <p:cNvSpPr/>
          <p:nvPr/>
        </p:nvSpPr>
        <p:spPr>
          <a:xfrm>
            <a:off x="9376258" y="1947672"/>
            <a:ext cx="256032" cy="0"/>
          </a:xfrm>
          <a:prstGeom prst="line">
            <a:avLst/>
          </a:prstGeom>
          <a:noFill/>
          <a:ln w="21590">
            <a:solidFill>
              <a:srgbClr val="64798F"/>
            </a:solidFill>
            <a:prstDash val="solid"/>
            <a:headEnd type="none"/>
            <a:tailEnd type="triangle"/>
          </a:ln>
        </p:spPr>
      </p:sp>
      <p:sp>
        <p:nvSpPr>
          <p:cNvPr id="23" name="Shape 16"/>
          <p:cNvSpPr/>
          <p:nvPr/>
        </p:nvSpPr>
        <p:spPr>
          <a:xfrm>
            <a:off x="9687154" y="1572768"/>
            <a:ext cx="1907438" cy="749808"/>
          </a:xfrm>
          <a:prstGeom prst="roundRect">
            <a:avLst>
              <a:gd name="adj" fmla="val 12195"/>
            </a:avLst>
          </a:prstGeom>
          <a:solidFill>
            <a:srgbClr val="E0F3E3"/>
          </a:solidFill>
          <a:ln w="15875">
            <a:solidFill>
              <a:srgbClr val="2F8F48"/>
            </a:solidFill>
            <a:prstDash val="solid"/>
          </a:ln>
          <a:effectLst>
            <a:outerShdw sx="100000" sy="100000" kx="0" ky="0" algn="bl" rotWithShape="0" blurRad="101600" dist="19050" dir="5400000">
              <a:srgbClr val="9FB0C2">
                <a:alpha val="24000"/>
              </a:srgbClr>
            </a:outerShdw>
          </a:effectLst>
        </p:spPr>
      </p:sp>
      <p:pic>
        <p:nvPicPr>
          <p:cNvPr id="24" name="Image 5" descr="preencoded.png">    </p:cNvPr>
          <p:cNvPicPr>
            <a:picLocks noChangeAspect="1"/>
          </p:cNvPicPr>
          <p:nvPr/>
        </p:nvPicPr>
        <p:blipFill>
          <a:blip r:embed="rId6"/>
          <a:stretch>
            <a:fillRect/>
          </a:stretch>
        </p:blipFill>
        <p:spPr>
          <a:xfrm>
            <a:off x="9806026" y="1673352"/>
            <a:ext cx="182880" cy="182880"/>
          </a:xfrm>
          <a:prstGeom prst="rect">
            <a:avLst/>
          </a:prstGeom>
        </p:spPr>
      </p:pic>
      <p:sp>
        <p:nvSpPr>
          <p:cNvPr id="25" name="Text 17"/>
          <p:cNvSpPr txBox="1"/>
          <p:nvPr/>
        </p:nvSpPr>
        <p:spPr>
          <a:xfrm>
            <a:off x="9778594" y="1572768"/>
            <a:ext cx="1724558" cy="749808"/>
          </a:xfrm>
          <a:prstGeom prst="rect">
            <a:avLst/>
          </a:prstGeom>
          <a:noFill/>
          <a:ln/>
        </p:spPr>
        <p:txBody>
          <a:bodyPr wrap="square" lIns="0" tIns="0" rIns="0" bIns="0" rtlCol="0" anchor="ctr"/>
          <a:lstStyle/>
          <a:p>
            <a:pPr algn="ctr" indent="0" marL="0">
              <a:lnSpc>
                <a:spcPct val="104000"/>
              </a:lnSpc>
              <a:buNone/>
            </a:pPr>
            <a:r>
              <a:rPr lang="en-US" sz="1050" b="1" dirty="0">
                <a:solidFill>
                  <a:srgbClr val="17431F"/>
                </a:solidFill>
                <a:latin typeface="Calibri" pitchFamily="34" charset="0"/>
                <a:ea typeface="Calibri" pitchFamily="34" charset="-122"/>
                <a:cs typeface="Calibri" pitchFamily="34" charset="-120"/>
              </a:rPr>
              <a:t>Download</a:t>
            </a:r>
            <a:endParaRPr lang="en-US" sz="1050" dirty="0"/>
          </a:p>
          <a:p>
            <a:pPr algn="ctr" indent="0" marL="0">
              <a:lnSpc>
                <a:spcPct val="104000"/>
              </a:lnSpc>
              <a:buNone/>
            </a:pPr>
            <a:r>
              <a:rPr lang="en-US" sz="800" dirty="0">
                <a:solidFill>
                  <a:srgbClr val="17431F"/>
                </a:solidFill>
                <a:latin typeface="Calibri" pitchFamily="34" charset="0"/>
                <a:ea typeface="Calibri" pitchFamily="34" charset="-122"/>
                <a:cs typeface="Calibri" pitchFamily="34" charset="-120"/>
              </a:rPr>
              <a:t>into the shared document store</a:t>
            </a:r>
            <a:endParaRPr lang="en-US" sz="1050" dirty="0"/>
          </a:p>
        </p:txBody>
      </p:sp>
      <p:sp>
        <p:nvSpPr>
          <p:cNvPr id="26" name="Shape 18"/>
          <p:cNvSpPr/>
          <p:nvPr/>
        </p:nvSpPr>
        <p:spPr>
          <a:xfrm>
            <a:off x="2377440" y="2852928"/>
            <a:ext cx="2331720" cy="713232"/>
          </a:xfrm>
          <a:prstGeom prst="diamond">
            <a:avLst/>
          </a:prstGeom>
          <a:solidFill>
            <a:srgbClr val="FCEDD4"/>
          </a:solidFill>
          <a:ln w="15875">
            <a:solidFill>
              <a:srgbClr val="C9871B"/>
            </a:solidFill>
            <a:prstDash val="solid"/>
          </a:ln>
        </p:spPr>
      </p:sp>
      <p:sp>
        <p:nvSpPr>
          <p:cNvPr id="27" name="Text 19"/>
          <p:cNvSpPr txBox="1"/>
          <p:nvPr/>
        </p:nvSpPr>
        <p:spPr>
          <a:xfrm>
            <a:off x="2468880" y="2852928"/>
            <a:ext cx="2148840" cy="713232"/>
          </a:xfrm>
          <a:prstGeom prst="rect">
            <a:avLst/>
          </a:prstGeom>
          <a:noFill/>
          <a:ln/>
        </p:spPr>
        <p:txBody>
          <a:bodyPr wrap="square" lIns="0" tIns="0" rIns="0" bIns="0" rtlCol="0" anchor="ctr"/>
          <a:lstStyle/>
          <a:p>
            <a:pPr algn="ctr" indent="0" marL="0">
              <a:lnSpc>
                <a:spcPct val="104000"/>
              </a:lnSpc>
              <a:buNone/>
            </a:pPr>
            <a:r>
              <a:rPr lang="en-US" sz="950" b="1" dirty="0">
                <a:solidFill>
                  <a:srgbClr val="64430A"/>
                </a:solidFill>
                <a:latin typeface="Calibri" pitchFamily="34" charset="0"/>
                <a:ea typeface="Calibri" pitchFamily="34" charset="-122"/>
                <a:cs typeface="Calibri" pitchFamily="34" charset="-120"/>
              </a:rPr>
              <a:t>root reachable?</a:t>
            </a:r>
            <a:endParaRPr lang="en-US" sz="950" dirty="0"/>
          </a:p>
        </p:txBody>
      </p:sp>
      <p:sp>
        <p:nvSpPr>
          <p:cNvPr id="28" name="Shape 20"/>
          <p:cNvSpPr/>
          <p:nvPr/>
        </p:nvSpPr>
        <p:spPr>
          <a:xfrm>
            <a:off x="3547872" y="2359152"/>
            <a:ext cx="0" cy="457200"/>
          </a:xfrm>
          <a:prstGeom prst="line">
            <a:avLst/>
          </a:prstGeom>
          <a:noFill/>
          <a:ln w="16510">
            <a:solidFill>
              <a:srgbClr val="64798F"/>
            </a:solidFill>
            <a:prstDash val="solid"/>
            <a:headEnd type="none"/>
            <a:tailEnd type="triangle"/>
          </a:ln>
        </p:spPr>
      </p:sp>
      <p:sp>
        <p:nvSpPr>
          <p:cNvPr id="29" name="Shape 21"/>
          <p:cNvSpPr/>
          <p:nvPr/>
        </p:nvSpPr>
        <p:spPr>
          <a:xfrm>
            <a:off x="594360" y="3840480"/>
            <a:ext cx="2834640" cy="777240"/>
          </a:xfrm>
          <a:prstGeom prst="roundRect">
            <a:avLst>
              <a:gd name="adj" fmla="val 11765"/>
            </a:avLst>
          </a:prstGeom>
          <a:solidFill>
            <a:srgbClr val="FBE2E8"/>
          </a:solidFill>
          <a:ln w="15875">
            <a:solidFill>
              <a:srgbClr val="CE3D64"/>
            </a:solidFill>
            <a:prstDash val="solid"/>
          </a:ln>
          <a:effectLst>
            <a:outerShdw sx="100000" sy="100000" kx="0" ky="0" algn="bl" rotWithShape="0" blurRad="101600" dist="19050" dir="5400000">
              <a:srgbClr val="9FB0C2">
                <a:alpha val="24000"/>
              </a:srgbClr>
            </a:outerShdw>
          </a:effectLst>
        </p:spPr>
      </p:sp>
      <p:pic>
        <p:nvPicPr>
          <p:cNvPr id="30" name="Image 6" descr="preencoded.png">    </p:cNvPr>
          <p:cNvPicPr>
            <a:picLocks noChangeAspect="1"/>
          </p:cNvPicPr>
          <p:nvPr/>
        </p:nvPicPr>
        <p:blipFill>
          <a:blip r:embed="rId7"/>
          <a:stretch>
            <a:fillRect/>
          </a:stretch>
        </p:blipFill>
        <p:spPr>
          <a:xfrm>
            <a:off x="713232" y="3941064"/>
            <a:ext cx="182880" cy="182880"/>
          </a:xfrm>
          <a:prstGeom prst="rect">
            <a:avLst/>
          </a:prstGeom>
        </p:spPr>
      </p:pic>
      <p:sp>
        <p:nvSpPr>
          <p:cNvPr id="31" name="Text 22"/>
          <p:cNvSpPr txBox="1"/>
          <p:nvPr/>
        </p:nvSpPr>
        <p:spPr>
          <a:xfrm>
            <a:off x="685800" y="3840480"/>
            <a:ext cx="2651760" cy="777240"/>
          </a:xfrm>
          <a:prstGeom prst="rect">
            <a:avLst/>
          </a:prstGeom>
          <a:noFill/>
          <a:ln/>
        </p:spPr>
        <p:txBody>
          <a:bodyPr wrap="square" lIns="0" tIns="0" rIns="0" bIns="0" rtlCol="0" anchor="ctr"/>
          <a:lstStyle/>
          <a:p>
            <a:pPr algn="ctr" indent="0" marL="0">
              <a:lnSpc>
                <a:spcPct val="104000"/>
              </a:lnSpc>
              <a:buNone/>
            </a:pPr>
            <a:r>
              <a:rPr lang="en-US" sz="1000" b="1" dirty="0">
                <a:solidFill>
                  <a:srgbClr val="68182F"/>
                </a:solidFill>
                <a:latin typeface="Calibri" pitchFamily="34" charset="0"/>
                <a:ea typeface="Calibri" pitchFamily="34" charset="-122"/>
                <a:cs typeface="Calibri" pitchFamily="34" charset="-120"/>
              </a:rPr>
              <a:t>homepage_unreachable</a:t>
            </a:r>
            <a:endParaRPr lang="en-US" sz="1000" dirty="0"/>
          </a:p>
          <a:p>
            <a:pPr algn="ctr" indent="0" marL="0">
              <a:lnSpc>
                <a:spcPct val="104000"/>
              </a:lnSpc>
              <a:buNone/>
            </a:pPr>
            <a:r>
              <a:rPr lang="en-US" sz="800" dirty="0">
                <a:solidFill>
                  <a:srgbClr val="68182F"/>
                </a:solidFill>
                <a:latin typeface="Calibri" pitchFamily="34" charset="0"/>
                <a:ea typeface="Calibri" pitchFamily="34" charset="-122"/>
                <a:cs typeface="Calibri" pitchFamily="34" charset="-120"/>
              </a:rPr>
              <a:t>crawl_error recorded → review queue</a:t>
            </a:r>
            <a:endParaRPr lang="en-US" sz="1000" dirty="0"/>
          </a:p>
        </p:txBody>
      </p:sp>
      <p:sp>
        <p:nvSpPr>
          <p:cNvPr id="32" name="Shape 23"/>
          <p:cNvSpPr/>
          <p:nvPr/>
        </p:nvSpPr>
        <p:spPr>
          <a:xfrm flipH="1">
            <a:off x="2011680" y="3209544"/>
            <a:ext cx="365760" cy="0"/>
          </a:xfrm>
          <a:prstGeom prst="line">
            <a:avLst/>
          </a:prstGeom>
          <a:noFill/>
          <a:ln w="16510">
            <a:solidFill>
              <a:srgbClr val="CE3D64"/>
            </a:solidFill>
            <a:prstDash val="solid"/>
            <a:headEnd type="none"/>
            <a:tailEnd type="none"/>
          </a:ln>
        </p:spPr>
      </p:sp>
      <p:sp>
        <p:nvSpPr>
          <p:cNvPr id="33" name="Shape 24"/>
          <p:cNvSpPr/>
          <p:nvPr/>
        </p:nvSpPr>
        <p:spPr>
          <a:xfrm>
            <a:off x="2011680" y="3209544"/>
            <a:ext cx="0" cy="594360"/>
          </a:xfrm>
          <a:prstGeom prst="line">
            <a:avLst/>
          </a:prstGeom>
          <a:noFill/>
          <a:ln w="16510">
            <a:solidFill>
              <a:srgbClr val="CE3D64"/>
            </a:solidFill>
            <a:prstDash val="solid"/>
            <a:headEnd type="none"/>
            <a:tailEnd type="triangle"/>
          </a:ln>
        </p:spPr>
      </p:sp>
      <p:sp>
        <p:nvSpPr>
          <p:cNvPr id="34" name="Text 25"/>
          <p:cNvSpPr txBox="1"/>
          <p:nvPr/>
        </p:nvSpPr>
        <p:spPr>
          <a:xfrm>
            <a:off x="1417320" y="3310128"/>
            <a:ext cx="640080" cy="182880"/>
          </a:xfrm>
          <a:prstGeom prst="rect">
            <a:avLst/>
          </a:prstGeom>
          <a:noFill/>
          <a:ln/>
        </p:spPr>
        <p:txBody>
          <a:bodyPr wrap="square" lIns="0" tIns="0" rIns="0" bIns="0" rtlCol="0" anchor="ctr"/>
          <a:lstStyle/>
          <a:p>
            <a:pPr algn="ctr" indent="0" marL="0">
              <a:buNone/>
            </a:pPr>
            <a:r>
              <a:rPr lang="en-US" sz="800" i="1" dirty="0">
                <a:solidFill>
                  <a:srgbClr val="CE3D64"/>
                </a:solidFill>
                <a:latin typeface="Calibri" pitchFamily="34" charset="0"/>
                <a:ea typeface="Calibri" pitchFamily="34" charset="-122"/>
                <a:cs typeface="Calibri" pitchFamily="34" charset="-120"/>
              </a:rPr>
              <a:t>no</a:t>
            </a:r>
            <a:endParaRPr lang="en-US" sz="800" dirty="0"/>
          </a:p>
        </p:txBody>
      </p:sp>
      <p:sp>
        <p:nvSpPr>
          <p:cNvPr id="35" name="Shape 26"/>
          <p:cNvSpPr/>
          <p:nvPr/>
        </p:nvSpPr>
        <p:spPr>
          <a:xfrm>
            <a:off x="5166360" y="2852928"/>
            <a:ext cx="2834640" cy="713232"/>
          </a:xfrm>
          <a:prstGeom prst="roundRect">
            <a:avLst>
              <a:gd name="adj" fmla="val 12821"/>
            </a:avLst>
          </a:prstGeom>
          <a:solidFill>
            <a:srgbClr val="EAF0F5"/>
          </a:solidFill>
          <a:ln w="15875">
            <a:solidFill>
              <a:srgbClr val="64798F"/>
            </a:solidFill>
            <a:prstDash val="solid"/>
          </a:ln>
          <a:effectLst>
            <a:outerShdw sx="100000" sy="100000" kx="0" ky="0" algn="bl" rotWithShape="0" blurRad="101600" dist="19050" dir="5400000">
              <a:srgbClr val="9FB0C2">
                <a:alpha val="24000"/>
              </a:srgbClr>
            </a:outerShdw>
          </a:effectLst>
        </p:spPr>
      </p:sp>
      <p:pic>
        <p:nvPicPr>
          <p:cNvPr id="36" name="Image 7" descr="preencoded.png">    </p:cNvPr>
          <p:cNvPicPr>
            <a:picLocks noChangeAspect="1"/>
          </p:cNvPicPr>
          <p:nvPr/>
        </p:nvPicPr>
        <p:blipFill>
          <a:blip r:embed="rId8"/>
          <a:stretch>
            <a:fillRect/>
          </a:stretch>
        </p:blipFill>
        <p:spPr>
          <a:xfrm>
            <a:off x="5285232" y="2953512"/>
            <a:ext cx="182880" cy="182880"/>
          </a:xfrm>
          <a:prstGeom prst="rect">
            <a:avLst/>
          </a:prstGeom>
        </p:spPr>
      </p:pic>
      <p:sp>
        <p:nvSpPr>
          <p:cNvPr id="37" name="Text 27"/>
          <p:cNvSpPr txBox="1"/>
          <p:nvPr/>
        </p:nvSpPr>
        <p:spPr>
          <a:xfrm>
            <a:off x="5257800" y="2852928"/>
            <a:ext cx="2651760" cy="713232"/>
          </a:xfrm>
          <a:prstGeom prst="rect">
            <a:avLst/>
          </a:prstGeom>
          <a:noFill/>
          <a:ln/>
        </p:spPr>
        <p:txBody>
          <a:bodyPr wrap="square" lIns="0" tIns="0" rIns="0" bIns="0" rtlCol="0" anchor="ctr"/>
          <a:lstStyle/>
          <a:p>
            <a:pPr algn="ctr" indent="0" marL="0">
              <a:lnSpc>
                <a:spcPct val="104000"/>
              </a:lnSpc>
              <a:buNone/>
            </a:pPr>
            <a:r>
              <a:rPr lang="en-US" sz="1000" b="1" dirty="0">
                <a:solidFill>
                  <a:srgbClr val="24354A"/>
                </a:solidFill>
                <a:latin typeface="Calibri" pitchFamily="34" charset="0"/>
                <a:ea typeface="Calibri" pitchFamily="34" charset="-122"/>
                <a:cs typeface="Calibri" pitchFamily="34" charset="-120"/>
              </a:rPr>
              <a:t>Crawled, nothing matched</a:t>
            </a:r>
            <a:endParaRPr lang="en-US" sz="1000" dirty="0"/>
          </a:p>
          <a:p>
            <a:pPr algn="ctr" indent="0" marL="0">
              <a:lnSpc>
                <a:spcPct val="104000"/>
              </a:lnSpc>
              <a:buNone/>
            </a:pPr>
            <a:r>
              <a:rPr lang="en-US" sz="800" dirty="0">
                <a:solidFill>
                  <a:srgbClr val="24354A"/>
                </a:solidFill>
                <a:latin typeface="Calibri" pitchFamily="34" charset="0"/>
                <a:ea typeface="Calibri" pitchFamily="34" charset="-122"/>
                <a:cs typeface="Calibri" pitchFamily="34" charset="-120"/>
              </a:rPr>
              <a:t>a real result, not an error</a:t>
            </a:r>
            <a:endParaRPr lang="en-US" sz="1000" dirty="0"/>
          </a:p>
        </p:txBody>
      </p:sp>
      <p:sp>
        <p:nvSpPr>
          <p:cNvPr id="38" name="Shape 28"/>
          <p:cNvSpPr/>
          <p:nvPr/>
        </p:nvSpPr>
        <p:spPr>
          <a:xfrm>
            <a:off x="5166360" y="3840480"/>
            <a:ext cx="2834640" cy="777240"/>
          </a:xfrm>
          <a:prstGeom prst="roundRect">
            <a:avLst>
              <a:gd name="adj" fmla="val 11765"/>
            </a:avLst>
          </a:prstGeom>
          <a:solidFill>
            <a:srgbClr val="FCEDD4"/>
          </a:solidFill>
          <a:ln w="15875">
            <a:solidFill>
              <a:srgbClr val="C9871B"/>
            </a:solidFill>
            <a:prstDash val="solid"/>
          </a:ln>
          <a:effectLst>
            <a:outerShdw sx="100000" sy="100000" kx="0" ky="0" algn="bl" rotWithShape="0" blurRad="101600" dist="19050" dir="5400000">
              <a:srgbClr val="9FB0C2">
                <a:alpha val="24000"/>
              </a:srgbClr>
            </a:outerShdw>
          </a:effectLst>
        </p:spPr>
      </p:sp>
      <p:pic>
        <p:nvPicPr>
          <p:cNvPr id="39" name="Image 8" descr="preencoded.png">    </p:cNvPr>
          <p:cNvPicPr>
            <a:picLocks noChangeAspect="1"/>
          </p:cNvPicPr>
          <p:nvPr/>
        </p:nvPicPr>
        <p:blipFill>
          <a:blip r:embed="rId9"/>
          <a:stretch>
            <a:fillRect/>
          </a:stretch>
        </p:blipFill>
        <p:spPr>
          <a:xfrm>
            <a:off x="5285232" y="3941064"/>
            <a:ext cx="182880" cy="182880"/>
          </a:xfrm>
          <a:prstGeom prst="rect">
            <a:avLst/>
          </a:prstGeom>
        </p:spPr>
      </p:pic>
      <p:sp>
        <p:nvSpPr>
          <p:cNvPr id="40" name="Text 29"/>
          <p:cNvSpPr txBox="1"/>
          <p:nvPr/>
        </p:nvSpPr>
        <p:spPr>
          <a:xfrm>
            <a:off x="5257800" y="3840480"/>
            <a:ext cx="2651760" cy="777240"/>
          </a:xfrm>
          <a:prstGeom prst="rect">
            <a:avLst/>
          </a:prstGeom>
          <a:noFill/>
          <a:ln/>
        </p:spPr>
        <p:txBody>
          <a:bodyPr wrap="square" lIns="0" tIns="0" rIns="0" bIns="0" rtlCol="0" anchor="ctr"/>
          <a:lstStyle/>
          <a:p>
            <a:pPr algn="ctr" indent="0" marL="0">
              <a:lnSpc>
                <a:spcPct val="104000"/>
              </a:lnSpc>
              <a:buNone/>
            </a:pPr>
            <a:r>
              <a:rPr lang="en-US" sz="700" b="1" spc="110" kern="0" dirty="0">
                <a:solidFill>
                  <a:srgbClr val="C9871B"/>
                </a:solidFill>
                <a:latin typeface="Calibri" pitchFamily="34" charset="0"/>
                <a:ea typeface="Calibri" pitchFamily="34" charset="-122"/>
                <a:cs typeface="Calibri" pitchFamily="34" charset="-120"/>
              </a:rPr>
              <a:t>DIFF</a:t>
            </a:r>
            <a:endParaRPr lang="en-US" sz="700" dirty="0"/>
          </a:p>
          <a:p>
            <a:pPr algn="ctr" indent="0" marL="0">
              <a:lnSpc>
                <a:spcPct val="104000"/>
              </a:lnSpc>
              <a:buNone/>
            </a:pPr>
            <a:r>
              <a:rPr lang="en-US" sz="1000" b="1" dirty="0">
                <a:solidFill>
                  <a:srgbClr val="64430A"/>
                </a:solidFill>
                <a:latin typeface="Calibri" pitchFamily="34" charset="0"/>
                <a:ea typeface="Calibri" pitchFamily="34" charset="-122"/>
                <a:cs typeface="Calibri" pitchFamily="34" charset="-120"/>
              </a:rPr>
              <a:t>URL + content hash</a:t>
            </a:r>
            <a:endParaRPr lang="en-US" sz="700" dirty="0"/>
          </a:p>
          <a:p>
            <a:pPr algn="ctr" indent="0" marL="0">
              <a:lnSpc>
                <a:spcPct val="104000"/>
              </a:lnSpc>
              <a:buNone/>
            </a:pPr>
            <a:r>
              <a:rPr lang="en-US" sz="800" dirty="0">
                <a:solidFill>
                  <a:srgbClr val="64430A"/>
                </a:solidFill>
                <a:latin typeface="Calibri" pitchFamily="34" charset="0"/>
                <a:ea typeface="Calibri" pitchFamily="34" charset="-122"/>
                <a:cs typeface="Calibri" pitchFamily="34" charset="-120"/>
              </a:rPr>
              <a:t>per-company manifest</a:t>
            </a:r>
            <a:endParaRPr lang="en-US" sz="700" dirty="0"/>
          </a:p>
        </p:txBody>
      </p:sp>
      <p:sp>
        <p:nvSpPr>
          <p:cNvPr id="41" name="Shape 30"/>
          <p:cNvSpPr/>
          <p:nvPr/>
        </p:nvSpPr>
        <p:spPr>
          <a:xfrm>
            <a:off x="6583680" y="3584448"/>
            <a:ext cx="0" cy="219456"/>
          </a:xfrm>
          <a:prstGeom prst="line">
            <a:avLst/>
          </a:prstGeom>
          <a:noFill/>
          <a:ln w="16510">
            <a:solidFill>
              <a:srgbClr val="64798F"/>
            </a:solidFill>
            <a:prstDash val="solid"/>
            <a:headEnd type="none"/>
            <a:tailEnd type="triangle"/>
          </a:ln>
        </p:spPr>
      </p:sp>
      <p:sp>
        <p:nvSpPr>
          <p:cNvPr id="42" name="Shape 31"/>
          <p:cNvSpPr/>
          <p:nvPr/>
        </p:nvSpPr>
        <p:spPr>
          <a:xfrm>
            <a:off x="8503920" y="2852928"/>
            <a:ext cx="3090672" cy="713232"/>
          </a:xfrm>
          <a:prstGeom prst="roundRect">
            <a:avLst>
              <a:gd name="adj" fmla="val 12821"/>
            </a:avLst>
          </a:prstGeom>
          <a:solidFill>
            <a:srgbClr val="E0F3E3"/>
          </a:solidFill>
          <a:ln w="15875">
            <a:solidFill>
              <a:srgbClr val="2F8F48"/>
            </a:solidFill>
            <a:prstDash val="solid"/>
          </a:ln>
          <a:effectLst>
            <a:outerShdw sx="100000" sy="100000" kx="0" ky="0" algn="bl" rotWithShape="0" blurRad="101600" dist="19050" dir="5400000">
              <a:srgbClr val="9FB0C2">
                <a:alpha val="24000"/>
              </a:srgbClr>
            </a:outerShdw>
          </a:effectLst>
        </p:spPr>
      </p:sp>
      <p:pic>
        <p:nvPicPr>
          <p:cNvPr id="43" name="Image 9" descr="preencoded.png">    </p:cNvPr>
          <p:cNvPicPr>
            <a:picLocks noChangeAspect="1"/>
          </p:cNvPicPr>
          <p:nvPr/>
        </p:nvPicPr>
        <p:blipFill>
          <a:blip r:embed="rId10"/>
          <a:stretch>
            <a:fillRect/>
          </a:stretch>
        </p:blipFill>
        <p:spPr>
          <a:xfrm>
            <a:off x="8622792" y="2953512"/>
            <a:ext cx="182880" cy="182880"/>
          </a:xfrm>
          <a:prstGeom prst="rect">
            <a:avLst/>
          </a:prstGeom>
        </p:spPr>
      </p:pic>
      <p:sp>
        <p:nvSpPr>
          <p:cNvPr id="44" name="Text 32"/>
          <p:cNvSpPr txBox="1"/>
          <p:nvPr/>
        </p:nvSpPr>
        <p:spPr>
          <a:xfrm>
            <a:off x="8595360" y="2852928"/>
            <a:ext cx="2907792" cy="713232"/>
          </a:xfrm>
          <a:prstGeom prst="rect">
            <a:avLst/>
          </a:prstGeom>
          <a:noFill/>
          <a:ln/>
        </p:spPr>
        <p:txBody>
          <a:bodyPr wrap="square" lIns="0" tIns="0" rIns="0" bIns="0" rtlCol="0" anchor="ctr"/>
          <a:lstStyle/>
          <a:p>
            <a:pPr algn="ctr" indent="0" marL="0">
              <a:lnSpc>
                <a:spcPct val="104000"/>
              </a:lnSpc>
              <a:buNone/>
            </a:pPr>
            <a:r>
              <a:rPr lang="en-US" sz="1050" b="1" dirty="0">
                <a:solidFill>
                  <a:srgbClr val="17431F"/>
                </a:solidFill>
                <a:latin typeface="Calibri" pitchFamily="34" charset="0"/>
                <a:ea typeface="Calibri" pitchFamily="34" charset="-122"/>
                <a:cs typeface="Calibri" pitchFamily="34" charset="-120"/>
              </a:rPr>
              <a:t>DocumentEvent</a:t>
            </a:r>
            <a:endParaRPr lang="en-US" sz="1050" dirty="0"/>
          </a:p>
          <a:p>
            <a:pPr algn="ctr" indent="0" marL="0">
              <a:lnSpc>
                <a:spcPct val="104000"/>
              </a:lnSpc>
              <a:buNone/>
            </a:pPr>
            <a:r>
              <a:rPr lang="en-US" sz="800" dirty="0">
                <a:solidFill>
                  <a:srgbClr val="17431F"/>
                </a:solidFill>
                <a:latin typeface="Calibri" pitchFamily="34" charset="0"/>
                <a:ea typeface="Calibri" pitchFamily="34" charset="-122"/>
                <a:cs typeface="Calibri" pitchFamily="34" charset="-120"/>
              </a:rPr>
              <a:t>new or updated, per document</a:t>
            </a:r>
            <a:endParaRPr lang="en-US" sz="1050" dirty="0"/>
          </a:p>
        </p:txBody>
      </p:sp>
      <p:sp>
        <p:nvSpPr>
          <p:cNvPr id="45" name="Shape 33"/>
          <p:cNvSpPr/>
          <p:nvPr/>
        </p:nvSpPr>
        <p:spPr>
          <a:xfrm>
            <a:off x="8503920" y="3840480"/>
            <a:ext cx="3090672" cy="777240"/>
          </a:xfrm>
          <a:prstGeom prst="roundRect">
            <a:avLst>
              <a:gd name="adj" fmla="val 11765"/>
            </a:avLst>
          </a:prstGeom>
          <a:solidFill>
            <a:srgbClr val="E0F3E3"/>
          </a:solidFill>
          <a:ln w="15875">
            <a:solidFill>
              <a:srgbClr val="2F8F48"/>
            </a:solidFill>
            <a:prstDash val="solid"/>
          </a:ln>
          <a:effectLst>
            <a:outerShdw sx="100000" sy="100000" kx="0" ky="0" algn="bl" rotWithShape="0" blurRad="101600" dist="19050" dir="5400000">
              <a:srgbClr val="9FB0C2">
                <a:alpha val="24000"/>
              </a:srgbClr>
            </a:outerShdw>
          </a:effectLst>
        </p:spPr>
      </p:sp>
      <p:pic>
        <p:nvPicPr>
          <p:cNvPr id="46" name="Image 10" descr="preencoded.png">    </p:cNvPr>
          <p:cNvPicPr>
            <a:picLocks noChangeAspect="1"/>
          </p:cNvPicPr>
          <p:nvPr/>
        </p:nvPicPr>
        <p:blipFill>
          <a:blip r:embed="rId11"/>
          <a:stretch>
            <a:fillRect/>
          </a:stretch>
        </p:blipFill>
        <p:spPr>
          <a:xfrm>
            <a:off x="8622792" y="3941064"/>
            <a:ext cx="182880" cy="182880"/>
          </a:xfrm>
          <a:prstGeom prst="rect">
            <a:avLst/>
          </a:prstGeom>
        </p:spPr>
      </p:pic>
      <p:sp>
        <p:nvSpPr>
          <p:cNvPr id="47" name="Text 34"/>
          <p:cNvSpPr txBox="1"/>
          <p:nvPr/>
        </p:nvSpPr>
        <p:spPr>
          <a:xfrm>
            <a:off x="8595360" y="3840480"/>
            <a:ext cx="2907792" cy="777240"/>
          </a:xfrm>
          <a:prstGeom prst="rect">
            <a:avLst/>
          </a:prstGeom>
          <a:noFill/>
          <a:ln/>
        </p:spPr>
        <p:txBody>
          <a:bodyPr wrap="square" lIns="0" tIns="0" rIns="0" bIns="0" rtlCol="0" anchor="ctr"/>
          <a:lstStyle/>
          <a:p>
            <a:pPr algn="ctr" indent="0" marL="0">
              <a:lnSpc>
                <a:spcPct val="104000"/>
              </a:lnSpc>
              <a:buNone/>
            </a:pPr>
            <a:r>
              <a:rPr lang="en-US" sz="1050" b="1" dirty="0">
                <a:solidFill>
                  <a:srgbClr val="17431F"/>
                </a:solidFill>
                <a:latin typeface="Calibri" pitchFamily="34" charset="0"/>
                <a:ea typeface="Calibri" pitchFamily="34" charset="-122"/>
                <a:cs typeface="Calibri" pitchFamily="34" charset="-120"/>
              </a:rPr>
              <a:t>events.jsonl  +  webhook POST</a:t>
            </a:r>
            <a:endParaRPr lang="en-US" sz="1050" dirty="0"/>
          </a:p>
          <a:p>
            <a:pPr algn="ctr" indent="0" marL="0">
              <a:lnSpc>
                <a:spcPct val="104000"/>
              </a:lnSpc>
              <a:buNone/>
            </a:pPr>
            <a:r>
              <a:rPr lang="en-US" sz="800" dirty="0">
                <a:solidFill>
                  <a:srgbClr val="17431F"/>
                </a:solidFill>
                <a:latin typeface="Calibri" pitchFamily="34" charset="0"/>
                <a:ea typeface="Calibri" pitchFamily="34" charset="-122"/>
                <a:cs typeface="Calibri" pitchFamily="34" charset="-120"/>
              </a:rPr>
              <a:t>polled by the UI and API; the webhook is best-effort</a:t>
            </a:r>
            <a:endParaRPr lang="en-US" sz="1050" dirty="0"/>
          </a:p>
        </p:txBody>
      </p:sp>
      <p:sp>
        <p:nvSpPr>
          <p:cNvPr id="48" name="Shape 35"/>
          <p:cNvSpPr/>
          <p:nvPr/>
        </p:nvSpPr>
        <p:spPr>
          <a:xfrm flipV="1">
            <a:off x="8046720" y="3209544"/>
            <a:ext cx="402336" cy="1014984"/>
          </a:xfrm>
          <a:prstGeom prst="line">
            <a:avLst/>
          </a:prstGeom>
          <a:noFill/>
          <a:ln w="16510">
            <a:solidFill>
              <a:srgbClr val="2F8F48"/>
            </a:solidFill>
            <a:prstDash val="solid"/>
            <a:headEnd type="none"/>
            <a:tailEnd type="triangle"/>
          </a:ln>
        </p:spPr>
      </p:sp>
      <p:sp>
        <p:nvSpPr>
          <p:cNvPr id="49" name="Shape 36"/>
          <p:cNvSpPr/>
          <p:nvPr/>
        </p:nvSpPr>
        <p:spPr>
          <a:xfrm>
            <a:off x="10049256" y="3584448"/>
            <a:ext cx="0" cy="219456"/>
          </a:xfrm>
          <a:prstGeom prst="line">
            <a:avLst/>
          </a:prstGeom>
          <a:noFill/>
          <a:ln w="16510">
            <a:solidFill>
              <a:srgbClr val="2F8F48"/>
            </a:solidFill>
            <a:prstDash val="solid"/>
            <a:headEnd type="none"/>
            <a:tailEnd type="triangle"/>
          </a:ln>
        </p:spPr>
      </p:sp>
      <p:sp>
        <p:nvSpPr>
          <p:cNvPr id="50" name="Shape 37"/>
          <p:cNvSpPr/>
          <p:nvPr/>
        </p:nvSpPr>
        <p:spPr>
          <a:xfrm>
            <a:off x="594360" y="4846320"/>
            <a:ext cx="11000232" cy="384048"/>
          </a:xfrm>
          <a:prstGeom prst="roundRect">
            <a:avLst>
              <a:gd name="adj" fmla="val 9524"/>
            </a:avLst>
          </a:prstGeom>
          <a:solidFill>
            <a:srgbClr val="FCEBCD"/>
          </a:solidFill>
          <a:ln w="15875">
            <a:solidFill>
              <a:srgbClr val="D2932A"/>
            </a:solidFill>
            <a:prstDash val="solid"/>
          </a:ln>
        </p:spPr>
      </p:sp>
      <p:sp>
        <p:nvSpPr>
          <p:cNvPr id="51" name="Text 38"/>
          <p:cNvSpPr txBox="1"/>
          <p:nvPr/>
        </p:nvSpPr>
        <p:spPr>
          <a:xfrm>
            <a:off x="795528" y="4846320"/>
            <a:ext cx="10597896" cy="384048"/>
          </a:xfrm>
          <a:prstGeom prst="rect">
            <a:avLst/>
          </a:prstGeom>
          <a:noFill/>
          <a:ln/>
        </p:spPr>
        <p:txBody>
          <a:bodyPr wrap="square" lIns="0" tIns="0" rIns="0" bIns="0" rtlCol="0" anchor="ctr"/>
          <a:lstStyle/>
          <a:p>
            <a:pPr indent="0" marL="0">
              <a:buNone/>
            </a:pPr>
            <a:r>
              <a:rPr lang="en-US" sz="920" b="1" dirty="0">
                <a:solidFill>
                  <a:srgbClr val="64430A"/>
                </a:solidFill>
                <a:latin typeface="Calibri" pitchFamily="34" charset="0"/>
                <a:ea typeface="Calibri" pitchFamily="34" charset="-122"/>
                <a:cs typeface="Calibri" pitchFamily="34" charset="-120"/>
              </a:rPr>
              <a:t>Guards run on every request:  </a:t>
            </a:r>
            <a:pPr indent="0" marL="0">
              <a:buNone/>
            </a:pPr>
            <a:r>
              <a:rPr lang="en-US" sz="920" dirty="0">
                <a:solidFill>
                  <a:srgbClr val="6B4A05"/>
                </a:solidFill>
                <a:latin typeface="Calibri" pitchFamily="34" charset="0"/>
                <a:ea typeface="Calibri" pitchFamily="34" charset="-122"/>
                <a:cs typeface="Calibri" pitchFamily="34" charset="-120"/>
              </a:rPr>
              <a:t>robots.txt parsed and respected  ·  same-domain only  ·  depth and page caps  ·  SSRF guard as an httpx request hook, so a redirect to an internal address cannot be followed.</a:t>
            </a:r>
            <a:endParaRPr lang="en-US" sz="920" dirty="0"/>
          </a:p>
        </p:txBody>
      </p:sp>
      <p:sp>
        <p:nvSpPr>
          <p:cNvPr id="52" name="Shape 39"/>
          <p:cNvSpPr/>
          <p:nvPr/>
        </p:nvSpPr>
        <p:spPr>
          <a:xfrm>
            <a:off x="594360" y="5349240"/>
            <a:ext cx="3532632" cy="941832"/>
          </a:xfrm>
          <a:prstGeom prst="roundRect">
            <a:avLst>
              <a:gd name="adj" fmla="val 3883"/>
            </a:avLst>
          </a:prstGeom>
          <a:solidFill>
            <a:srgbClr val="F4F7FA"/>
          </a:solidFill>
          <a:ln w="15875">
            <a:solidFill>
              <a:srgbClr val="DDE5ED"/>
            </a:solidFill>
            <a:prstDash val="solid"/>
          </a:ln>
        </p:spPr>
      </p:sp>
      <p:sp>
        <p:nvSpPr>
          <p:cNvPr id="53" name="Text 40"/>
          <p:cNvSpPr txBox="1"/>
          <p:nvPr/>
        </p:nvSpPr>
        <p:spPr>
          <a:xfrm>
            <a:off x="758952" y="5449824"/>
            <a:ext cx="3203448" cy="201168"/>
          </a:xfrm>
          <a:prstGeom prst="rect">
            <a:avLst/>
          </a:prstGeom>
          <a:noFill/>
          <a:ln/>
        </p:spPr>
        <p:txBody>
          <a:bodyPr wrap="square" lIns="0" tIns="0" rIns="0" bIns="0" rtlCol="0" anchor="ctr"/>
          <a:lstStyle/>
          <a:p>
            <a:pPr indent="0" marL="0">
              <a:buNone/>
            </a:pPr>
            <a:r>
              <a:rPr lang="en-US" sz="850" b="1" spc="140" kern="0" dirty="0">
                <a:solidFill>
                  <a:srgbClr val="6D4DD1"/>
                </a:solidFill>
                <a:latin typeface="Calibri" pitchFamily="34" charset="0"/>
                <a:ea typeface="Calibri" pitchFamily="34" charset="-122"/>
                <a:cs typeface="Calibri" pitchFamily="34" charset="-120"/>
              </a:rPr>
              <a:t>MODULES</a:t>
            </a:r>
            <a:endParaRPr lang="en-US" sz="850" dirty="0"/>
          </a:p>
        </p:txBody>
      </p:sp>
      <p:sp>
        <p:nvSpPr>
          <p:cNvPr id="54" name="Text 41"/>
          <p:cNvSpPr txBox="1"/>
          <p:nvPr/>
        </p:nvSpPr>
        <p:spPr>
          <a:xfrm>
            <a:off x="758952" y="5669280"/>
            <a:ext cx="3203448" cy="548640"/>
          </a:xfrm>
          <a:prstGeom prst="rect">
            <a:avLst/>
          </a:prstGeom>
          <a:noFill/>
          <a:ln/>
        </p:spPr>
        <p:txBody>
          <a:bodyPr wrap="square" lIns="0" tIns="0" rIns="0" bIns="0" rtlCol="0" anchor="ctr"/>
          <a:lstStyle/>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arp/discovery/{pipeline,site_finder,crawler}.py</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arp/discovery/{downloader,change_detector,scheduler}.py</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arp/net_safety.py · arp/ingestion/{registry,parsing}.py</a:t>
            </a:r>
            <a:endParaRPr lang="en-US" sz="860" dirty="0"/>
          </a:p>
        </p:txBody>
      </p:sp>
      <p:sp>
        <p:nvSpPr>
          <p:cNvPr id="55" name="Shape 42"/>
          <p:cNvSpPr/>
          <p:nvPr/>
        </p:nvSpPr>
        <p:spPr>
          <a:xfrm>
            <a:off x="4328160" y="5349240"/>
            <a:ext cx="3532632" cy="941832"/>
          </a:xfrm>
          <a:prstGeom prst="roundRect">
            <a:avLst>
              <a:gd name="adj" fmla="val 3883"/>
            </a:avLst>
          </a:prstGeom>
          <a:solidFill>
            <a:srgbClr val="F4F7FA"/>
          </a:solidFill>
          <a:ln w="15875">
            <a:solidFill>
              <a:srgbClr val="DDE5ED"/>
            </a:solidFill>
            <a:prstDash val="solid"/>
          </a:ln>
        </p:spPr>
      </p:sp>
      <p:sp>
        <p:nvSpPr>
          <p:cNvPr id="56" name="Text 43"/>
          <p:cNvSpPr txBox="1"/>
          <p:nvPr/>
        </p:nvSpPr>
        <p:spPr>
          <a:xfrm>
            <a:off x="4492752" y="5449824"/>
            <a:ext cx="3203448" cy="201168"/>
          </a:xfrm>
          <a:prstGeom prst="rect">
            <a:avLst/>
          </a:prstGeom>
          <a:noFill/>
          <a:ln/>
        </p:spPr>
        <p:txBody>
          <a:bodyPr wrap="square" lIns="0" tIns="0" rIns="0" bIns="0" rtlCol="0" anchor="ctr"/>
          <a:lstStyle/>
          <a:p>
            <a:pPr indent="0" marL="0">
              <a:buNone/>
            </a:pPr>
            <a:r>
              <a:rPr lang="en-US" sz="850" b="1" spc="140" kern="0" dirty="0">
                <a:solidFill>
                  <a:srgbClr val="2F6FD0"/>
                </a:solidFill>
                <a:latin typeface="Calibri" pitchFamily="34" charset="0"/>
                <a:ea typeface="Calibri" pitchFamily="34" charset="-122"/>
                <a:cs typeface="Calibri" pitchFamily="34" charset="-120"/>
              </a:rPr>
              <a:t>IN → OUT</a:t>
            </a:r>
            <a:endParaRPr lang="en-US" sz="850" dirty="0"/>
          </a:p>
        </p:txBody>
      </p:sp>
      <p:sp>
        <p:nvSpPr>
          <p:cNvPr id="57" name="Text 44"/>
          <p:cNvSpPr txBox="1"/>
          <p:nvPr/>
        </p:nvSpPr>
        <p:spPr>
          <a:xfrm>
            <a:off x="4492752" y="5669280"/>
            <a:ext cx="3203448" cy="548640"/>
          </a:xfrm>
          <a:prstGeom prst="rect">
            <a:avLst/>
          </a:prstGeom>
          <a:noFill/>
          <a:ln/>
        </p:spPr>
        <p:txBody>
          <a:bodyPr wrap="square" lIns="0" tIns="0" rIns="0" bIns="0" rtlCol="0" anchor="ctr"/>
          <a:lstStyle/>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In: company universe (ideally with website),</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optional document-type filter.</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Out: DiscoveryCompanyResult, files on disk, an event feed.</a:t>
            </a:r>
            <a:endParaRPr lang="en-US" sz="860" dirty="0"/>
          </a:p>
        </p:txBody>
      </p:sp>
      <p:sp>
        <p:nvSpPr>
          <p:cNvPr id="58" name="Shape 45"/>
          <p:cNvSpPr/>
          <p:nvPr/>
        </p:nvSpPr>
        <p:spPr>
          <a:xfrm>
            <a:off x="8061960" y="5349240"/>
            <a:ext cx="3532632" cy="941832"/>
          </a:xfrm>
          <a:prstGeom prst="roundRect">
            <a:avLst>
              <a:gd name="adj" fmla="val 3883"/>
            </a:avLst>
          </a:prstGeom>
          <a:solidFill>
            <a:srgbClr val="F4F7FA"/>
          </a:solidFill>
          <a:ln w="15875">
            <a:solidFill>
              <a:srgbClr val="DDE5ED"/>
            </a:solidFill>
            <a:prstDash val="solid"/>
          </a:ln>
        </p:spPr>
      </p:sp>
      <p:sp>
        <p:nvSpPr>
          <p:cNvPr id="59" name="Text 46"/>
          <p:cNvSpPr txBox="1"/>
          <p:nvPr/>
        </p:nvSpPr>
        <p:spPr>
          <a:xfrm>
            <a:off x="8226552" y="5449824"/>
            <a:ext cx="3203448" cy="201168"/>
          </a:xfrm>
          <a:prstGeom prst="rect">
            <a:avLst/>
          </a:prstGeom>
          <a:noFill/>
          <a:ln/>
        </p:spPr>
        <p:txBody>
          <a:bodyPr wrap="square" lIns="0" tIns="0" rIns="0" bIns="0" rtlCol="0" anchor="ctr"/>
          <a:lstStyle/>
          <a:p>
            <a:pPr indent="0" marL="0">
              <a:buNone/>
            </a:pPr>
            <a:r>
              <a:rPr lang="en-US" sz="850" b="1" spc="140" kern="0" dirty="0">
                <a:solidFill>
                  <a:srgbClr val="C9871B"/>
                </a:solidFill>
                <a:latin typeface="Calibri" pitchFamily="34" charset="0"/>
                <a:ea typeface="Calibri" pitchFamily="34" charset="-122"/>
                <a:cs typeface="Calibri" pitchFamily="34" charset="-120"/>
              </a:rPr>
              <a:t>CONTROLS</a:t>
            </a:r>
            <a:endParaRPr lang="en-US" sz="850" dirty="0"/>
          </a:p>
        </p:txBody>
      </p:sp>
      <p:sp>
        <p:nvSpPr>
          <p:cNvPr id="60" name="Text 47"/>
          <p:cNvSpPr txBox="1"/>
          <p:nvPr/>
        </p:nvSpPr>
        <p:spPr>
          <a:xfrm>
            <a:off x="8226552" y="5669280"/>
            <a:ext cx="3203448" cy="548640"/>
          </a:xfrm>
          <a:prstGeom prst="rect">
            <a:avLst/>
          </a:prstGeom>
          <a:noFill/>
          <a:ln/>
        </p:spPr>
        <p:txBody>
          <a:bodyPr wrap="square" lIns="0" tIns="0" rIns="0" bIns="0" rtlCol="0" anchor="ctr"/>
          <a:lstStyle/>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An unreachable homepage is a status, never a silent zero.</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Deep-link failures are expected and stay silent skips.</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The search backend is an interface a paid API can replace.</a:t>
            </a:r>
            <a:endParaRPr lang="en-US" sz="86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438912"/>
            <a:ext cx="10085832" cy="201168"/>
          </a:xfrm>
          <a:prstGeom prst="rect">
            <a:avLst/>
          </a:prstGeom>
          <a:noFill/>
          <a:ln/>
        </p:spPr>
        <p:txBody>
          <a:bodyPr wrap="square" lIns="0" tIns="0" rIns="0" bIns="0" rtlCol="0" anchor="ctr"/>
          <a:lstStyle/>
          <a:p>
            <a:pPr indent="0" marL="0">
              <a:buNone/>
            </a:pPr>
            <a:r>
              <a:rPr lang="en-US" sz="1050" b="1" spc="200" kern="0" dirty="0">
                <a:solidFill>
                  <a:srgbClr val="108494"/>
                </a:solidFill>
                <a:latin typeface="Calibri" pitchFamily="34" charset="0"/>
                <a:ea typeface="Calibri" pitchFamily="34" charset="-122"/>
                <a:cs typeface="Calibri" pitchFamily="34" charset="-120"/>
              </a:rPr>
              <a:t>06   ·   COMPANY IDENTITY RESOLUTION</a:t>
            </a:r>
            <a:endParaRPr lang="en-US" sz="1050" dirty="0"/>
          </a:p>
        </p:txBody>
      </p:sp>
      <p:sp>
        <p:nvSpPr>
          <p:cNvPr id="3" name="Text 1"/>
          <p:cNvSpPr txBox="1"/>
          <p:nvPr/>
        </p:nvSpPr>
        <p:spPr>
          <a:xfrm>
            <a:off x="594360" y="640080"/>
            <a:ext cx="10085832" cy="484632"/>
          </a:xfrm>
          <a:prstGeom prst="rect">
            <a:avLst/>
          </a:prstGeom>
          <a:noFill/>
          <a:ln/>
        </p:spPr>
        <p:txBody>
          <a:bodyPr wrap="square" lIns="0" tIns="0" rIns="0" bIns="0" rtlCol="0" anchor="ctr"/>
          <a:lstStyle/>
          <a:p>
            <a:pPr indent="0" marL="0">
              <a:buNone/>
            </a:pPr>
            <a:r>
              <a:rPr lang="en-US" sz="3000" b="1" dirty="0">
                <a:solidFill>
                  <a:srgbClr val="10243A"/>
                </a:solidFill>
                <a:latin typeface="Cambria" pitchFamily="34" charset="0"/>
                <a:ea typeface="Cambria" pitchFamily="34" charset="-122"/>
                <a:cs typeface="Cambria" pitchFamily="34" charset="-120"/>
              </a:rPr>
              <a:t>Which company is this?</a:t>
            </a:r>
            <a:endParaRPr lang="en-US" sz="3000" dirty="0"/>
          </a:p>
        </p:txBody>
      </p:sp>
      <p:sp>
        <p:nvSpPr>
          <p:cNvPr id="4" name="Text 2"/>
          <p:cNvSpPr txBox="1"/>
          <p:nvPr/>
        </p:nvSpPr>
        <p:spPr>
          <a:xfrm>
            <a:off x="594360" y="1143000"/>
            <a:ext cx="9994392" cy="274320"/>
          </a:xfrm>
          <a:prstGeom prst="rect">
            <a:avLst/>
          </a:prstGeom>
          <a:noFill/>
          <a:ln/>
        </p:spPr>
        <p:txBody>
          <a:bodyPr wrap="square" lIns="0" tIns="0" rIns="0" bIns="0" rtlCol="0" anchor="ctr"/>
          <a:lstStyle/>
          <a:p>
            <a:pPr indent="0" marL="0">
              <a:buNone/>
            </a:pPr>
            <a:r>
              <a:rPr lang="en-US" sz="1200" dirty="0">
                <a:solidFill>
                  <a:srgbClr val="58697A"/>
                </a:solidFill>
                <a:latin typeface="Calibri" pitchFamily="34" charset="0"/>
                <a:ea typeface="Calibri" pitchFamily="34" charset="-122"/>
                <a:cs typeface="Calibri" pitchFamily="34" charset="-120"/>
              </a:rPr>
              <a:t>A name on a list is not an identity. This resolves it — cheaply where it can, carefully where it cannot.</a:t>
            </a:r>
            <a:endParaRPr lang="en-US" sz="1200" dirty="0"/>
          </a:p>
        </p:txBody>
      </p:sp>
      <p:sp>
        <p:nvSpPr>
          <p:cNvPr id="5" name="Shape 3"/>
          <p:cNvSpPr/>
          <p:nvPr/>
        </p:nvSpPr>
        <p:spPr>
          <a:xfrm>
            <a:off x="10881360" y="475488"/>
            <a:ext cx="713232" cy="713232"/>
          </a:xfrm>
          <a:prstGeom prst="roundRect">
            <a:avLst>
              <a:gd name="adj" fmla="val 20513"/>
            </a:avLst>
          </a:prstGeom>
          <a:solidFill>
            <a:srgbClr val="10243A"/>
          </a:solidFill>
          <a:ln/>
        </p:spPr>
      </p:sp>
      <p:pic>
        <p:nvPicPr>
          <p:cNvPr id="6" name="Image 0" descr="preencoded.png">    </p:cNvPr>
          <p:cNvPicPr>
            <a:picLocks noChangeAspect="1"/>
          </p:cNvPicPr>
          <p:nvPr/>
        </p:nvPicPr>
        <p:blipFill>
          <a:blip r:embed="rId1"/>
          <a:stretch>
            <a:fillRect/>
          </a:stretch>
        </p:blipFill>
        <p:spPr>
          <a:xfrm>
            <a:off x="11038271" y="632399"/>
            <a:ext cx="399410" cy="399410"/>
          </a:xfrm>
          <a:prstGeom prst="rect">
            <a:avLst/>
          </a:prstGeom>
        </p:spPr>
      </p:pic>
      <p:sp>
        <p:nvSpPr>
          <p:cNvPr id="7" name="Text 4"/>
          <p:cNvSpPr txBox="1"/>
          <p:nvPr/>
        </p:nvSpPr>
        <p:spPr>
          <a:xfrm>
            <a:off x="594360" y="1463040"/>
            <a:ext cx="6949440" cy="201168"/>
          </a:xfrm>
          <a:prstGeom prst="rect">
            <a:avLst/>
          </a:prstGeom>
          <a:noFill/>
          <a:ln/>
        </p:spPr>
        <p:txBody>
          <a:bodyPr wrap="square" lIns="0" tIns="0" rIns="0" bIns="0" rtlCol="0" anchor="ctr"/>
          <a:lstStyle/>
          <a:p>
            <a:pPr algn="ctr" indent="0" marL="0">
              <a:buNone/>
            </a:pPr>
            <a:r>
              <a:rPr lang="en-US" sz="900" b="1" spc="140" kern="0" dirty="0">
                <a:solidFill>
                  <a:srgbClr val="108494"/>
                </a:solidFill>
                <a:latin typeface="Calibri" pitchFamily="34" charset="0"/>
                <a:ea typeface="Calibri" pitchFamily="34" charset="-122"/>
                <a:cs typeface="Calibri" pitchFamily="34" charset="-120"/>
              </a:rPr>
              <a:t>THE CHEAP PATHS, TAKEN FIRST — MOST COMPANIES NEVER REACH A MODEL CALL</a:t>
            </a:r>
            <a:endParaRPr lang="en-US" sz="900" dirty="0"/>
          </a:p>
        </p:txBody>
      </p:sp>
      <p:sp>
        <p:nvSpPr>
          <p:cNvPr id="8" name="Shape 5"/>
          <p:cNvSpPr/>
          <p:nvPr/>
        </p:nvSpPr>
        <p:spPr>
          <a:xfrm>
            <a:off x="594360" y="2331720"/>
            <a:ext cx="1737360" cy="731520"/>
          </a:xfrm>
          <a:prstGeom prst="roundRect">
            <a:avLst>
              <a:gd name="adj" fmla="val 12500"/>
            </a:avLst>
          </a:prstGeom>
          <a:solidFill>
            <a:srgbClr val="EAF0F5"/>
          </a:solidFill>
          <a:ln w="15875">
            <a:solidFill>
              <a:srgbClr val="64798F"/>
            </a:solidFill>
            <a:prstDash val="solid"/>
          </a:ln>
          <a:effectLst>
            <a:outerShdw sx="100000" sy="100000" kx="0" ky="0" algn="bl" rotWithShape="0" blurRad="101600" dist="19050" dir="5400000">
              <a:srgbClr val="9FB0C2">
                <a:alpha val="24000"/>
              </a:srgbClr>
            </a:outerShdw>
          </a:effectLst>
        </p:spPr>
      </p:sp>
      <p:pic>
        <p:nvPicPr>
          <p:cNvPr id="9" name="Image 1" descr="preencoded.png">    </p:cNvPr>
          <p:cNvPicPr>
            <a:picLocks noChangeAspect="1"/>
          </p:cNvPicPr>
          <p:nvPr/>
        </p:nvPicPr>
        <p:blipFill>
          <a:blip r:embed="rId2"/>
          <a:stretch>
            <a:fillRect/>
          </a:stretch>
        </p:blipFill>
        <p:spPr>
          <a:xfrm>
            <a:off x="713232" y="2432304"/>
            <a:ext cx="182880" cy="182880"/>
          </a:xfrm>
          <a:prstGeom prst="rect">
            <a:avLst/>
          </a:prstGeom>
        </p:spPr>
      </p:pic>
      <p:sp>
        <p:nvSpPr>
          <p:cNvPr id="10" name="Text 6"/>
          <p:cNvSpPr txBox="1"/>
          <p:nvPr/>
        </p:nvSpPr>
        <p:spPr>
          <a:xfrm>
            <a:off x="685800" y="2331720"/>
            <a:ext cx="1554480" cy="731520"/>
          </a:xfrm>
          <a:prstGeom prst="rect">
            <a:avLst/>
          </a:prstGeom>
          <a:noFill/>
          <a:ln/>
        </p:spPr>
        <p:txBody>
          <a:bodyPr wrap="square" lIns="0" tIns="0" rIns="0" bIns="0" rtlCol="0" anchor="ctr"/>
          <a:lstStyle/>
          <a:p>
            <a:pPr algn="ctr" indent="0" marL="0">
              <a:lnSpc>
                <a:spcPct val="104000"/>
              </a:lnSpc>
              <a:buNone/>
            </a:pPr>
            <a:r>
              <a:rPr lang="en-US" sz="1000" b="1" dirty="0">
                <a:solidFill>
                  <a:srgbClr val="24354A"/>
                </a:solidFill>
                <a:latin typeface="Calibri" pitchFamily="34" charset="0"/>
                <a:ea typeface="Calibri" pitchFamily="34" charset="-122"/>
                <a:cs typeface="Calibri" pitchFamily="34" charset="-120"/>
              </a:rPr>
              <a:t>A row in the universe</a:t>
            </a:r>
            <a:endParaRPr lang="en-US" sz="1000" dirty="0"/>
          </a:p>
          <a:p>
            <a:pPr algn="ctr" indent="0" marL="0">
              <a:lnSpc>
                <a:spcPct val="104000"/>
              </a:lnSpc>
              <a:buNone/>
            </a:pPr>
            <a:r>
              <a:rPr lang="en-US" sz="800" dirty="0">
                <a:solidFill>
                  <a:srgbClr val="24354A"/>
                </a:solidFill>
                <a:latin typeface="Calibri" pitchFamily="34" charset="0"/>
                <a:ea typeface="Calibri" pitchFamily="34" charset="-122"/>
                <a:cs typeface="Calibri" pitchFamily="34" charset="-120"/>
              </a:rPr>
              <a:t>name, maybe a ticker</a:t>
            </a:r>
            <a:endParaRPr lang="en-US" sz="1000" dirty="0"/>
          </a:p>
        </p:txBody>
      </p:sp>
      <p:sp>
        <p:nvSpPr>
          <p:cNvPr id="11" name="Shape 7"/>
          <p:cNvSpPr/>
          <p:nvPr/>
        </p:nvSpPr>
        <p:spPr>
          <a:xfrm>
            <a:off x="2697480" y="2240280"/>
            <a:ext cx="2103120" cy="914400"/>
          </a:xfrm>
          <a:prstGeom prst="diamond">
            <a:avLst/>
          </a:prstGeom>
          <a:solidFill>
            <a:srgbClr val="FCEDD4"/>
          </a:solidFill>
          <a:ln w="15875">
            <a:solidFill>
              <a:srgbClr val="C9871B"/>
            </a:solidFill>
            <a:prstDash val="solid"/>
          </a:ln>
        </p:spPr>
      </p:sp>
      <p:sp>
        <p:nvSpPr>
          <p:cNvPr id="12" name="Text 8"/>
          <p:cNvSpPr txBox="1"/>
          <p:nvPr/>
        </p:nvSpPr>
        <p:spPr>
          <a:xfrm>
            <a:off x="2788920" y="2240280"/>
            <a:ext cx="1920240" cy="914400"/>
          </a:xfrm>
          <a:prstGeom prst="rect">
            <a:avLst/>
          </a:prstGeom>
          <a:noFill/>
          <a:ln/>
        </p:spPr>
        <p:txBody>
          <a:bodyPr wrap="square" lIns="0" tIns="0" rIns="0" bIns="0" rtlCol="0" anchor="ctr"/>
          <a:lstStyle/>
          <a:p>
            <a:pPr algn="ctr" indent="0" marL="0">
              <a:lnSpc>
                <a:spcPct val="104000"/>
              </a:lnSpc>
              <a:buNone/>
            </a:pPr>
            <a:r>
              <a:rPr lang="en-US" sz="950" b="1" dirty="0">
                <a:solidFill>
                  <a:srgbClr val="64430A"/>
                </a:solidFill>
                <a:latin typeface="Calibri" pitchFamily="34" charset="0"/>
                <a:ea typeface="Calibri" pitchFamily="34" charset="-122"/>
                <a:cs typeface="Calibri" pitchFamily="34" charset="-120"/>
              </a:rPr>
              <a:t>CIK or website supplied?</a:t>
            </a:r>
            <a:endParaRPr lang="en-US" sz="950" dirty="0"/>
          </a:p>
        </p:txBody>
      </p:sp>
      <p:sp>
        <p:nvSpPr>
          <p:cNvPr id="13" name="Shape 9"/>
          <p:cNvSpPr/>
          <p:nvPr/>
        </p:nvSpPr>
        <p:spPr>
          <a:xfrm>
            <a:off x="5166360" y="2240280"/>
            <a:ext cx="2103120" cy="914400"/>
          </a:xfrm>
          <a:prstGeom prst="diamond">
            <a:avLst/>
          </a:prstGeom>
          <a:solidFill>
            <a:srgbClr val="FCEDD4"/>
          </a:solidFill>
          <a:ln w="15875">
            <a:solidFill>
              <a:srgbClr val="C9871B"/>
            </a:solidFill>
            <a:prstDash val="solid"/>
          </a:ln>
        </p:spPr>
      </p:sp>
      <p:sp>
        <p:nvSpPr>
          <p:cNvPr id="14" name="Text 10"/>
          <p:cNvSpPr txBox="1"/>
          <p:nvPr/>
        </p:nvSpPr>
        <p:spPr>
          <a:xfrm>
            <a:off x="5257800" y="2240280"/>
            <a:ext cx="1920240" cy="914400"/>
          </a:xfrm>
          <a:prstGeom prst="rect">
            <a:avLst/>
          </a:prstGeom>
          <a:noFill/>
          <a:ln/>
        </p:spPr>
        <p:txBody>
          <a:bodyPr wrap="square" lIns="0" tIns="0" rIns="0" bIns="0" rtlCol="0" anchor="ctr"/>
          <a:lstStyle/>
          <a:p>
            <a:pPr algn="ctr" indent="0" marL="0">
              <a:lnSpc>
                <a:spcPct val="104000"/>
              </a:lnSpc>
              <a:buNone/>
            </a:pPr>
            <a:r>
              <a:rPr lang="en-US" sz="950" b="1" dirty="0">
                <a:solidFill>
                  <a:srgbClr val="64430A"/>
                </a:solidFill>
                <a:latin typeface="Calibri" pitchFamily="34" charset="0"/>
                <a:ea typeface="Calibri" pitchFamily="34" charset="-122"/>
                <a:cs typeface="Calibri" pitchFamily="34" charset="-120"/>
              </a:rPr>
              <a:t>one clean EDGAR match?</a:t>
            </a:r>
            <a:endParaRPr lang="en-US" sz="950" dirty="0"/>
          </a:p>
        </p:txBody>
      </p:sp>
      <p:sp>
        <p:nvSpPr>
          <p:cNvPr id="15" name="Shape 11"/>
          <p:cNvSpPr/>
          <p:nvPr/>
        </p:nvSpPr>
        <p:spPr>
          <a:xfrm>
            <a:off x="2377440" y="2697480"/>
            <a:ext cx="274320" cy="0"/>
          </a:xfrm>
          <a:prstGeom prst="line">
            <a:avLst/>
          </a:prstGeom>
          <a:noFill/>
          <a:ln w="17780">
            <a:solidFill>
              <a:srgbClr val="64798F"/>
            </a:solidFill>
            <a:prstDash val="solid"/>
            <a:headEnd type="none"/>
            <a:tailEnd type="triangle"/>
          </a:ln>
        </p:spPr>
      </p:sp>
      <p:sp>
        <p:nvSpPr>
          <p:cNvPr id="16" name="Shape 12"/>
          <p:cNvSpPr/>
          <p:nvPr/>
        </p:nvSpPr>
        <p:spPr>
          <a:xfrm>
            <a:off x="4828032" y="2697480"/>
            <a:ext cx="292608" cy="0"/>
          </a:xfrm>
          <a:prstGeom prst="line">
            <a:avLst/>
          </a:prstGeom>
          <a:noFill/>
          <a:ln w="17780">
            <a:solidFill>
              <a:srgbClr val="64798F"/>
            </a:solidFill>
            <a:prstDash val="solid"/>
            <a:headEnd type="none"/>
            <a:tailEnd type="triangle"/>
          </a:ln>
        </p:spPr>
      </p:sp>
      <p:sp>
        <p:nvSpPr>
          <p:cNvPr id="17" name="Text 13"/>
          <p:cNvSpPr txBox="1"/>
          <p:nvPr/>
        </p:nvSpPr>
        <p:spPr>
          <a:xfrm>
            <a:off x="4069080" y="2468880"/>
            <a:ext cx="1005840" cy="182880"/>
          </a:xfrm>
          <a:prstGeom prst="rect">
            <a:avLst/>
          </a:prstGeom>
          <a:noFill/>
          <a:ln/>
        </p:spPr>
        <p:txBody>
          <a:bodyPr wrap="square" lIns="0" tIns="0" rIns="0" bIns="0" rtlCol="0" anchor="ctr"/>
          <a:lstStyle/>
          <a:p>
            <a:pPr algn="ctr" indent="0" marL="0">
              <a:buNone/>
            </a:pPr>
            <a:r>
              <a:rPr lang="en-US" sz="800" i="1" dirty="0">
                <a:solidFill>
                  <a:srgbClr val="58697A"/>
                </a:solidFill>
                <a:latin typeface="Calibri" pitchFamily="34" charset="0"/>
                <a:ea typeface="Calibri" pitchFamily="34" charset="-122"/>
                <a:cs typeface="Calibri" pitchFamily="34" charset="-120"/>
              </a:rPr>
              <a:t>no</a:t>
            </a:r>
            <a:endParaRPr lang="en-US" sz="800" dirty="0"/>
          </a:p>
        </p:txBody>
      </p:sp>
      <p:sp>
        <p:nvSpPr>
          <p:cNvPr id="18" name="Text 14"/>
          <p:cNvSpPr txBox="1"/>
          <p:nvPr/>
        </p:nvSpPr>
        <p:spPr>
          <a:xfrm>
            <a:off x="6537960" y="2468880"/>
            <a:ext cx="1005840" cy="182880"/>
          </a:xfrm>
          <a:prstGeom prst="rect">
            <a:avLst/>
          </a:prstGeom>
          <a:noFill/>
          <a:ln/>
        </p:spPr>
        <p:txBody>
          <a:bodyPr wrap="square" lIns="0" tIns="0" rIns="0" bIns="0" rtlCol="0" anchor="ctr"/>
          <a:lstStyle/>
          <a:p>
            <a:pPr algn="ctr" indent="0" marL="0">
              <a:buNone/>
            </a:pPr>
            <a:r>
              <a:rPr lang="en-US" sz="800" i="1" dirty="0">
                <a:solidFill>
                  <a:srgbClr val="58697A"/>
                </a:solidFill>
                <a:latin typeface="Calibri" pitchFamily="34" charset="0"/>
                <a:ea typeface="Calibri" pitchFamily="34" charset="-122"/>
                <a:cs typeface="Calibri" pitchFamily="34" charset="-120"/>
              </a:rPr>
              <a:t>no</a:t>
            </a:r>
            <a:endParaRPr lang="en-US" sz="800" dirty="0"/>
          </a:p>
        </p:txBody>
      </p:sp>
      <p:sp>
        <p:nvSpPr>
          <p:cNvPr id="19" name="Text 15"/>
          <p:cNvSpPr txBox="1"/>
          <p:nvPr/>
        </p:nvSpPr>
        <p:spPr>
          <a:xfrm>
            <a:off x="2697480" y="4206240"/>
            <a:ext cx="2103120" cy="402336"/>
          </a:xfrm>
          <a:prstGeom prst="rect">
            <a:avLst/>
          </a:prstGeom>
          <a:noFill/>
          <a:ln/>
        </p:spPr>
        <p:txBody>
          <a:bodyPr wrap="square" lIns="0" tIns="0" rIns="0" bIns="0" rtlCol="0" anchor="ctr"/>
          <a:lstStyle/>
          <a:p>
            <a:pPr algn="ctr" indent="0" marL="0">
              <a:buNone/>
            </a:pPr>
            <a:r>
              <a:rPr lang="en-US" sz="800" dirty="0">
                <a:solidFill>
                  <a:srgbClr val="58697A"/>
                </a:solidFill>
                <a:latin typeface="Calibri" pitchFamily="34" charset="0"/>
                <a:ea typeface="Calibri" pitchFamily="34" charset="-122"/>
                <a:cs typeface="Calibri" pitchFamily="34" charset="-120"/>
              </a:rPr>
              <a:t>a supplied identity is an identity — no search, no call</a:t>
            </a:r>
            <a:endParaRPr lang="en-US" sz="800" dirty="0"/>
          </a:p>
        </p:txBody>
      </p:sp>
      <p:sp>
        <p:nvSpPr>
          <p:cNvPr id="20" name="Text 16"/>
          <p:cNvSpPr txBox="1"/>
          <p:nvPr/>
        </p:nvSpPr>
        <p:spPr>
          <a:xfrm>
            <a:off x="5166360" y="4206240"/>
            <a:ext cx="2103120" cy="402336"/>
          </a:xfrm>
          <a:prstGeom prst="rect">
            <a:avLst/>
          </a:prstGeom>
          <a:noFill/>
          <a:ln/>
        </p:spPr>
        <p:txBody>
          <a:bodyPr wrap="square" lIns="0" tIns="0" rIns="0" bIns="0" rtlCol="0" anchor="ctr"/>
          <a:lstStyle/>
          <a:p>
            <a:pPr algn="ctr" indent="0" marL="0">
              <a:buNone/>
            </a:pPr>
            <a:r>
              <a:rPr lang="en-US" sz="800" dirty="0">
                <a:solidFill>
                  <a:srgbClr val="58697A"/>
                </a:solidFill>
                <a:latin typeface="Calibri" pitchFamily="34" charset="0"/>
                <a:ea typeface="Calibri" pitchFamily="34" charset="-122"/>
                <a:cs typeface="Calibri" pitchFamily="34" charset="-120"/>
              </a:rPr>
              <a:t>EDGAR's own fuzzy name search settles the common case</a:t>
            </a:r>
            <a:endParaRPr lang="en-US" sz="800" dirty="0"/>
          </a:p>
        </p:txBody>
      </p:sp>
      <p:sp>
        <p:nvSpPr>
          <p:cNvPr id="21" name="Shape 17"/>
          <p:cNvSpPr/>
          <p:nvPr/>
        </p:nvSpPr>
        <p:spPr>
          <a:xfrm>
            <a:off x="7635240" y="2103120"/>
            <a:ext cx="3959352" cy="868680"/>
          </a:xfrm>
          <a:prstGeom prst="roundRect">
            <a:avLst>
              <a:gd name="adj" fmla="val 10526"/>
            </a:avLst>
          </a:prstGeom>
          <a:solidFill>
            <a:srgbClr val="EBE5FC"/>
          </a:solidFill>
          <a:ln w="15875">
            <a:solidFill>
              <a:srgbClr val="6D4DD1"/>
            </a:solidFill>
            <a:prstDash val="solid"/>
          </a:ln>
          <a:effectLst>
            <a:outerShdw sx="100000" sy="100000" kx="0" ky="0" algn="bl" rotWithShape="0" blurRad="101600" dist="19050" dir="5400000">
              <a:srgbClr val="9FB0C2">
                <a:alpha val="24000"/>
              </a:srgbClr>
            </a:outerShdw>
          </a:effectLst>
        </p:spPr>
      </p:sp>
      <p:sp>
        <p:nvSpPr>
          <p:cNvPr id="22" name="Shape 18"/>
          <p:cNvSpPr/>
          <p:nvPr/>
        </p:nvSpPr>
        <p:spPr>
          <a:xfrm>
            <a:off x="7772400" y="2345436"/>
            <a:ext cx="384048" cy="384048"/>
          </a:xfrm>
          <a:prstGeom prst="roundRect">
            <a:avLst>
              <a:gd name="adj" fmla="val 23810"/>
            </a:avLst>
          </a:prstGeom>
          <a:solidFill>
            <a:srgbClr val="6D4DD1"/>
          </a:solidFill>
          <a:ln/>
        </p:spPr>
      </p:sp>
      <p:pic>
        <p:nvPicPr>
          <p:cNvPr id="23" name="Image 2" descr="preencoded.png">    </p:cNvPr>
          <p:cNvPicPr>
            <a:picLocks noChangeAspect="1"/>
          </p:cNvPicPr>
          <p:nvPr/>
        </p:nvPicPr>
        <p:blipFill>
          <a:blip r:embed="rId3"/>
          <a:stretch>
            <a:fillRect/>
          </a:stretch>
        </p:blipFill>
        <p:spPr>
          <a:xfrm>
            <a:off x="7856891" y="2429927"/>
            <a:ext cx="215067" cy="215067"/>
          </a:xfrm>
          <a:prstGeom prst="rect">
            <a:avLst/>
          </a:prstGeom>
        </p:spPr>
      </p:pic>
      <p:sp>
        <p:nvSpPr>
          <p:cNvPr id="24" name="Text 19"/>
          <p:cNvSpPr txBox="1"/>
          <p:nvPr/>
        </p:nvSpPr>
        <p:spPr>
          <a:xfrm>
            <a:off x="8293608" y="2103120"/>
            <a:ext cx="3191256" cy="868680"/>
          </a:xfrm>
          <a:prstGeom prst="rect">
            <a:avLst/>
          </a:prstGeom>
          <a:noFill/>
          <a:ln/>
        </p:spPr>
        <p:txBody>
          <a:bodyPr wrap="square" lIns="0" tIns="0" rIns="0" bIns="0" rtlCol="0" anchor="ctr"/>
          <a:lstStyle/>
          <a:p>
            <a:pPr algn="l" indent="0" marL="0">
              <a:lnSpc>
                <a:spcPct val="104000"/>
              </a:lnSpc>
              <a:buNone/>
            </a:pPr>
            <a:r>
              <a:rPr lang="en-US" sz="700" b="1" spc="110" kern="0" dirty="0">
                <a:solidFill>
                  <a:srgbClr val="6D4DD1"/>
                </a:solidFill>
                <a:latin typeface="Calibri" pitchFamily="34" charset="0"/>
                <a:ea typeface="Calibri" pitchFamily="34" charset="-122"/>
                <a:cs typeface="Calibri" pitchFamily="34" charset="-120"/>
              </a:rPr>
              <a:t>ONE CALL, ONLY HERE</a:t>
            </a:r>
            <a:endParaRPr lang="en-US" sz="700" dirty="0"/>
          </a:p>
          <a:p>
            <a:pPr algn="l" indent="0" marL="0">
              <a:lnSpc>
                <a:spcPct val="104000"/>
              </a:lnSpc>
              <a:buNone/>
            </a:pPr>
            <a:r>
              <a:rPr lang="en-US" sz="1100" b="1" dirty="0">
                <a:solidFill>
                  <a:srgbClr val="35236E"/>
                </a:solidFill>
                <a:latin typeface="Calibri" pitchFamily="34" charset="0"/>
                <a:ea typeface="Calibri" pitchFamily="34" charset="-122"/>
                <a:cs typeface="Calibri" pitchFamily="34" charset="-120"/>
              </a:rPr>
              <a:t>Adjudication over real signals</a:t>
            </a:r>
            <a:endParaRPr lang="en-US" sz="700" dirty="0"/>
          </a:p>
          <a:p>
            <a:pPr algn="l" indent="0" marL="0">
              <a:lnSpc>
                <a:spcPct val="104000"/>
              </a:lnSpc>
              <a:buNone/>
            </a:pPr>
            <a:r>
              <a:rPr lang="en-US" sz="800" dirty="0">
                <a:solidFill>
                  <a:srgbClr val="35236E"/>
                </a:solidFill>
                <a:latin typeface="Calibri" pitchFamily="34" charset="0"/>
                <a:ea typeface="Calibri" pitchFamily="34" charset="-122"/>
                <a:cs typeface="Calibri" pitchFamily="34" charset="-120"/>
              </a:rPr>
              <a:t>EDGAR candidates + web hits; website and CIK must be copied verbatim, never composed</a:t>
            </a:r>
            <a:endParaRPr lang="en-US" sz="700" dirty="0"/>
          </a:p>
        </p:txBody>
      </p:sp>
      <p:sp>
        <p:nvSpPr>
          <p:cNvPr id="25" name="Shape 20"/>
          <p:cNvSpPr/>
          <p:nvPr/>
        </p:nvSpPr>
        <p:spPr>
          <a:xfrm flipV="1">
            <a:off x="7296912" y="2560320"/>
            <a:ext cx="283464" cy="137160"/>
          </a:xfrm>
          <a:prstGeom prst="line">
            <a:avLst/>
          </a:prstGeom>
          <a:noFill/>
          <a:ln w="17780">
            <a:solidFill>
              <a:srgbClr val="6D4DD1"/>
            </a:solidFill>
            <a:prstDash val="solid"/>
            <a:headEnd type="none"/>
            <a:tailEnd type="triangle"/>
          </a:ln>
        </p:spPr>
      </p:sp>
      <p:sp>
        <p:nvSpPr>
          <p:cNvPr id="26" name="Shape 21"/>
          <p:cNvSpPr/>
          <p:nvPr/>
        </p:nvSpPr>
        <p:spPr>
          <a:xfrm>
            <a:off x="7635240" y="3154680"/>
            <a:ext cx="3959352" cy="640080"/>
          </a:xfrm>
          <a:prstGeom prst="roundRect">
            <a:avLst>
              <a:gd name="adj" fmla="val 14286"/>
            </a:avLst>
          </a:prstGeom>
          <a:solidFill>
            <a:srgbClr val="FCEDD4"/>
          </a:solidFill>
          <a:ln w="15875">
            <a:solidFill>
              <a:srgbClr val="C9871B"/>
            </a:solidFill>
            <a:prstDash val="solid"/>
          </a:ln>
          <a:effectLst>
            <a:outerShdw sx="100000" sy="100000" kx="0" ky="0" algn="bl" rotWithShape="0" blurRad="101600" dist="19050" dir="5400000">
              <a:srgbClr val="9FB0C2">
                <a:alpha val="24000"/>
              </a:srgbClr>
            </a:outerShdw>
          </a:effectLst>
        </p:spPr>
      </p:sp>
      <p:sp>
        <p:nvSpPr>
          <p:cNvPr id="27" name="Shape 22"/>
          <p:cNvSpPr/>
          <p:nvPr/>
        </p:nvSpPr>
        <p:spPr>
          <a:xfrm>
            <a:off x="7772400" y="3282696"/>
            <a:ext cx="384048" cy="384048"/>
          </a:xfrm>
          <a:prstGeom prst="roundRect">
            <a:avLst>
              <a:gd name="adj" fmla="val 23810"/>
            </a:avLst>
          </a:prstGeom>
          <a:solidFill>
            <a:srgbClr val="C9871B"/>
          </a:solidFill>
          <a:ln/>
        </p:spPr>
      </p:sp>
      <p:pic>
        <p:nvPicPr>
          <p:cNvPr id="28" name="Image 3" descr="preencoded.png">    </p:cNvPr>
          <p:cNvPicPr>
            <a:picLocks noChangeAspect="1"/>
          </p:cNvPicPr>
          <p:nvPr/>
        </p:nvPicPr>
        <p:blipFill>
          <a:blip r:embed="rId4"/>
          <a:stretch>
            <a:fillRect/>
          </a:stretch>
        </p:blipFill>
        <p:spPr>
          <a:xfrm>
            <a:off x="7856891" y="3367187"/>
            <a:ext cx="215067" cy="215067"/>
          </a:xfrm>
          <a:prstGeom prst="rect">
            <a:avLst/>
          </a:prstGeom>
        </p:spPr>
      </p:pic>
      <p:sp>
        <p:nvSpPr>
          <p:cNvPr id="29" name="Text 23"/>
          <p:cNvSpPr txBox="1"/>
          <p:nvPr/>
        </p:nvSpPr>
        <p:spPr>
          <a:xfrm>
            <a:off x="8293608" y="3154680"/>
            <a:ext cx="3191256" cy="640080"/>
          </a:xfrm>
          <a:prstGeom prst="rect">
            <a:avLst/>
          </a:prstGeom>
          <a:noFill/>
          <a:ln/>
        </p:spPr>
        <p:txBody>
          <a:bodyPr wrap="square" lIns="0" tIns="0" rIns="0" bIns="0" rtlCol="0" anchor="ctr"/>
          <a:lstStyle/>
          <a:p>
            <a:pPr algn="l" indent="0" marL="0">
              <a:lnSpc>
                <a:spcPct val="104000"/>
              </a:lnSpc>
              <a:buNone/>
            </a:pPr>
            <a:r>
              <a:rPr lang="en-US" sz="1000" b="1" dirty="0">
                <a:solidFill>
                  <a:srgbClr val="64430A"/>
                </a:solidFill>
                <a:latin typeface="Calibri" pitchFamily="34" charset="0"/>
                <a:ea typeface="Calibri" pitchFamily="34" charset="-122"/>
                <a:cs typeface="Calibri" pitchFamily="34" charset="-120"/>
              </a:rPr>
              <a:t>Then checked in code against those signals</a:t>
            </a:r>
            <a:endParaRPr lang="en-US" sz="1000" dirty="0"/>
          </a:p>
          <a:p>
            <a:pPr algn="l" indent="0" marL="0">
              <a:lnSpc>
                <a:spcPct val="104000"/>
              </a:lnSpc>
              <a:buNone/>
            </a:pPr>
            <a:r>
              <a:rPr lang="en-US" sz="800" dirty="0">
                <a:solidFill>
                  <a:srgbClr val="64430A"/>
                </a:solidFill>
                <a:latin typeface="Calibri" pitchFamily="34" charset="0"/>
                <a:ea typeface="Calibri" pitchFamily="34" charset="-122"/>
                <a:cs typeface="Calibri" pitchFamily="34" charset="-120"/>
              </a:rPr>
              <a:t>there is no quote to ground, so the claim itself is verified</a:t>
            </a:r>
            <a:endParaRPr lang="en-US" sz="1000" dirty="0"/>
          </a:p>
        </p:txBody>
      </p:sp>
      <p:sp>
        <p:nvSpPr>
          <p:cNvPr id="30" name="Shape 24"/>
          <p:cNvSpPr/>
          <p:nvPr/>
        </p:nvSpPr>
        <p:spPr>
          <a:xfrm>
            <a:off x="9601200" y="2999232"/>
            <a:ext cx="0" cy="118872"/>
          </a:xfrm>
          <a:prstGeom prst="line">
            <a:avLst/>
          </a:prstGeom>
          <a:noFill/>
          <a:ln w="16510">
            <a:solidFill>
              <a:srgbClr val="64798F"/>
            </a:solidFill>
            <a:prstDash val="solid"/>
            <a:headEnd type="none"/>
            <a:tailEnd type="triangle"/>
          </a:ln>
        </p:spPr>
      </p:sp>
      <p:sp>
        <p:nvSpPr>
          <p:cNvPr id="31" name="Shape 25"/>
          <p:cNvSpPr/>
          <p:nvPr/>
        </p:nvSpPr>
        <p:spPr>
          <a:xfrm>
            <a:off x="2697480" y="3703320"/>
            <a:ext cx="2103120" cy="457200"/>
          </a:xfrm>
          <a:prstGeom prst="roundRect">
            <a:avLst>
              <a:gd name="adj" fmla="val 20000"/>
            </a:avLst>
          </a:prstGeom>
          <a:solidFill>
            <a:srgbClr val="E0F3E3"/>
          </a:solidFill>
          <a:ln w="15875">
            <a:solidFill>
              <a:srgbClr val="2F8F48"/>
            </a:solidFill>
            <a:prstDash val="solid"/>
          </a:ln>
        </p:spPr>
      </p:sp>
      <p:sp>
        <p:nvSpPr>
          <p:cNvPr id="32" name="Text 26"/>
          <p:cNvSpPr txBox="1"/>
          <p:nvPr/>
        </p:nvSpPr>
        <p:spPr>
          <a:xfrm>
            <a:off x="2788920" y="3703320"/>
            <a:ext cx="1920240" cy="457200"/>
          </a:xfrm>
          <a:prstGeom prst="rect">
            <a:avLst/>
          </a:prstGeom>
          <a:noFill/>
          <a:ln/>
        </p:spPr>
        <p:txBody>
          <a:bodyPr wrap="square" lIns="0" tIns="0" rIns="0" bIns="0" rtlCol="0" anchor="ctr"/>
          <a:lstStyle/>
          <a:p>
            <a:pPr algn="ctr" indent="0" marL="0">
              <a:lnSpc>
                <a:spcPct val="104000"/>
              </a:lnSpc>
              <a:buNone/>
            </a:pPr>
            <a:r>
              <a:rPr lang="en-US" sz="950" b="1" dirty="0">
                <a:solidFill>
                  <a:srgbClr val="17431F"/>
                </a:solidFill>
                <a:latin typeface="Calibri" pitchFamily="34" charset="0"/>
                <a:ea typeface="Calibri" pitchFamily="34" charset="-122"/>
                <a:cs typeface="Calibri" pitchFamily="34" charset="-120"/>
              </a:rPr>
              <a:t>Resolved — 0 LLM calls</a:t>
            </a:r>
            <a:endParaRPr lang="en-US" sz="950" dirty="0"/>
          </a:p>
        </p:txBody>
      </p:sp>
      <p:sp>
        <p:nvSpPr>
          <p:cNvPr id="33" name="Shape 27"/>
          <p:cNvSpPr/>
          <p:nvPr/>
        </p:nvSpPr>
        <p:spPr>
          <a:xfrm>
            <a:off x="3749040" y="3200400"/>
            <a:ext cx="0" cy="466344"/>
          </a:xfrm>
          <a:prstGeom prst="line">
            <a:avLst/>
          </a:prstGeom>
          <a:noFill/>
          <a:ln w="16510">
            <a:solidFill>
              <a:srgbClr val="2F8F48"/>
            </a:solidFill>
            <a:prstDash val="solid"/>
            <a:headEnd type="none"/>
            <a:tailEnd type="triangle"/>
          </a:ln>
        </p:spPr>
      </p:sp>
      <p:sp>
        <p:nvSpPr>
          <p:cNvPr id="34" name="Shape 28"/>
          <p:cNvSpPr/>
          <p:nvPr/>
        </p:nvSpPr>
        <p:spPr>
          <a:xfrm>
            <a:off x="5166360" y="3703320"/>
            <a:ext cx="2103120" cy="457200"/>
          </a:xfrm>
          <a:prstGeom prst="roundRect">
            <a:avLst>
              <a:gd name="adj" fmla="val 20000"/>
            </a:avLst>
          </a:prstGeom>
          <a:solidFill>
            <a:srgbClr val="E0F3E3"/>
          </a:solidFill>
          <a:ln w="15875">
            <a:solidFill>
              <a:srgbClr val="2F8F48"/>
            </a:solidFill>
            <a:prstDash val="solid"/>
          </a:ln>
        </p:spPr>
      </p:sp>
      <p:sp>
        <p:nvSpPr>
          <p:cNvPr id="35" name="Text 29"/>
          <p:cNvSpPr txBox="1"/>
          <p:nvPr/>
        </p:nvSpPr>
        <p:spPr>
          <a:xfrm>
            <a:off x="5257800" y="3703320"/>
            <a:ext cx="1920240" cy="457200"/>
          </a:xfrm>
          <a:prstGeom prst="rect">
            <a:avLst/>
          </a:prstGeom>
          <a:noFill/>
          <a:ln/>
        </p:spPr>
        <p:txBody>
          <a:bodyPr wrap="square" lIns="0" tIns="0" rIns="0" bIns="0" rtlCol="0" anchor="ctr"/>
          <a:lstStyle/>
          <a:p>
            <a:pPr algn="ctr" indent="0" marL="0">
              <a:lnSpc>
                <a:spcPct val="104000"/>
              </a:lnSpc>
              <a:buNone/>
            </a:pPr>
            <a:r>
              <a:rPr lang="en-US" sz="950" b="1" dirty="0">
                <a:solidFill>
                  <a:srgbClr val="17431F"/>
                </a:solidFill>
                <a:latin typeface="Calibri" pitchFamily="34" charset="0"/>
                <a:ea typeface="Calibri" pitchFamily="34" charset="-122"/>
                <a:cs typeface="Calibri" pitchFamily="34" charset="-120"/>
              </a:rPr>
              <a:t>Resolved — 0 LLM calls</a:t>
            </a:r>
            <a:endParaRPr lang="en-US" sz="950" dirty="0"/>
          </a:p>
        </p:txBody>
      </p:sp>
      <p:sp>
        <p:nvSpPr>
          <p:cNvPr id="36" name="Shape 30"/>
          <p:cNvSpPr/>
          <p:nvPr/>
        </p:nvSpPr>
        <p:spPr>
          <a:xfrm>
            <a:off x="6217920" y="3200400"/>
            <a:ext cx="0" cy="466344"/>
          </a:xfrm>
          <a:prstGeom prst="line">
            <a:avLst/>
          </a:prstGeom>
          <a:noFill/>
          <a:ln w="16510">
            <a:solidFill>
              <a:srgbClr val="2F8F48"/>
            </a:solidFill>
            <a:prstDash val="solid"/>
            <a:headEnd type="none"/>
            <a:tailEnd type="triangle"/>
          </a:ln>
        </p:spPr>
      </p:sp>
      <p:sp>
        <p:nvSpPr>
          <p:cNvPr id="37" name="Text 31"/>
          <p:cNvSpPr txBox="1"/>
          <p:nvPr/>
        </p:nvSpPr>
        <p:spPr>
          <a:xfrm>
            <a:off x="2880360" y="3346704"/>
            <a:ext cx="548640" cy="182880"/>
          </a:xfrm>
          <a:prstGeom prst="rect">
            <a:avLst/>
          </a:prstGeom>
          <a:noFill/>
          <a:ln/>
        </p:spPr>
        <p:txBody>
          <a:bodyPr wrap="square" lIns="0" tIns="0" rIns="0" bIns="0" rtlCol="0" anchor="ctr"/>
          <a:lstStyle/>
          <a:p>
            <a:pPr algn="ctr" indent="0" marL="0">
              <a:buNone/>
            </a:pPr>
            <a:r>
              <a:rPr lang="en-US" sz="800" i="1" dirty="0">
                <a:solidFill>
                  <a:srgbClr val="2F8F48"/>
                </a:solidFill>
                <a:latin typeface="Calibri" pitchFamily="34" charset="0"/>
                <a:ea typeface="Calibri" pitchFamily="34" charset="-122"/>
                <a:cs typeface="Calibri" pitchFamily="34" charset="-120"/>
              </a:rPr>
              <a:t>yes</a:t>
            </a:r>
            <a:endParaRPr lang="en-US" sz="800" dirty="0"/>
          </a:p>
        </p:txBody>
      </p:sp>
      <p:sp>
        <p:nvSpPr>
          <p:cNvPr id="38" name="Text 32"/>
          <p:cNvSpPr txBox="1"/>
          <p:nvPr/>
        </p:nvSpPr>
        <p:spPr>
          <a:xfrm>
            <a:off x="5349240" y="3346704"/>
            <a:ext cx="548640" cy="182880"/>
          </a:xfrm>
          <a:prstGeom prst="rect">
            <a:avLst/>
          </a:prstGeom>
          <a:noFill/>
          <a:ln/>
        </p:spPr>
        <p:txBody>
          <a:bodyPr wrap="square" lIns="0" tIns="0" rIns="0" bIns="0" rtlCol="0" anchor="ctr"/>
          <a:lstStyle/>
          <a:p>
            <a:pPr algn="ctr" indent="0" marL="0">
              <a:buNone/>
            </a:pPr>
            <a:r>
              <a:rPr lang="en-US" sz="800" i="1" dirty="0">
                <a:solidFill>
                  <a:srgbClr val="2F8F48"/>
                </a:solidFill>
                <a:latin typeface="Calibri" pitchFamily="34" charset="0"/>
                <a:ea typeface="Calibri" pitchFamily="34" charset="-122"/>
                <a:cs typeface="Calibri" pitchFamily="34" charset="-120"/>
              </a:rPr>
              <a:t>yes</a:t>
            </a:r>
            <a:endParaRPr lang="en-US" sz="800" dirty="0"/>
          </a:p>
        </p:txBody>
      </p:sp>
      <p:sp>
        <p:nvSpPr>
          <p:cNvPr id="39" name="Text 33"/>
          <p:cNvSpPr txBox="1"/>
          <p:nvPr/>
        </p:nvSpPr>
        <p:spPr>
          <a:xfrm>
            <a:off x="7635240" y="3913632"/>
            <a:ext cx="3959352" cy="201168"/>
          </a:xfrm>
          <a:prstGeom prst="rect">
            <a:avLst/>
          </a:prstGeom>
          <a:noFill/>
          <a:ln/>
        </p:spPr>
        <p:txBody>
          <a:bodyPr wrap="square" lIns="0" tIns="0" rIns="0" bIns="0" rtlCol="0" anchor="ctr"/>
          <a:lstStyle/>
          <a:p>
            <a:pPr algn="ctr" indent="0" marL="0">
              <a:buNone/>
            </a:pPr>
            <a:r>
              <a:rPr lang="en-US" sz="900" b="1" spc="140" kern="0" dirty="0">
                <a:solidFill>
                  <a:srgbClr val="64798F"/>
                </a:solidFill>
                <a:latin typeface="Calibri" pitchFamily="34" charset="0"/>
                <a:ea typeface="Calibri" pitchFamily="34" charset="-122"/>
                <a:cs typeface="Calibri" pitchFamily="34" charset="-120"/>
              </a:rPr>
              <a:t>THREE VERDICTS, ONE OF THEM PROCEEDS</a:t>
            </a:r>
            <a:endParaRPr lang="en-US" sz="900" dirty="0"/>
          </a:p>
        </p:txBody>
      </p:sp>
      <p:sp>
        <p:nvSpPr>
          <p:cNvPr id="40" name="Shape 34"/>
          <p:cNvSpPr/>
          <p:nvPr/>
        </p:nvSpPr>
        <p:spPr>
          <a:xfrm>
            <a:off x="7635240" y="4169664"/>
            <a:ext cx="1234440" cy="347472"/>
          </a:xfrm>
          <a:prstGeom prst="roundRect">
            <a:avLst>
              <a:gd name="adj" fmla="val 36842"/>
            </a:avLst>
          </a:prstGeom>
          <a:solidFill>
            <a:srgbClr val="E0F3E3"/>
          </a:solidFill>
          <a:ln w="12700">
            <a:solidFill>
              <a:srgbClr val="2F8F48"/>
            </a:solidFill>
            <a:prstDash val="solid"/>
          </a:ln>
        </p:spPr>
      </p:sp>
      <p:sp>
        <p:nvSpPr>
          <p:cNvPr id="41" name="Text 35"/>
          <p:cNvSpPr txBox="1"/>
          <p:nvPr/>
        </p:nvSpPr>
        <p:spPr>
          <a:xfrm>
            <a:off x="7635240" y="4169664"/>
            <a:ext cx="1234440" cy="347472"/>
          </a:xfrm>
          <a:prstGeom prst="rect">
            <a:avLst/>
          </a:prstGeom>
          <a:noFill/>
          <a:ln/>
        </p:spPr>
        <p:txBody>
          <a:bodyPr wrap="square" lIns="0" tIns="0" rIns="0" bIns="0" rtlCol="0" anchor="ctr"/>
          <a:lstStyle/>
          <a:p>
            <a:pPr algn="ctr" indent="0" marL="0">
              <a:buNone/>
            </a:pPr>
            <a:r>
              <a:rPr lang="en-US" sz="900" b="1" dirty="0">
                <a:solidFill>
                  <a:srgbClr val="17431F"/>
                </a:solidFill>
                <a:latin typeface="Calibri" pitchFamily="34" charset="0"/>
                <a:ea typeface="Calibri" pitchFamily="34" charset="-122"/>
                <a:cs typeface="Calibri" pitchFamily="34" charset="-120"/>
              </a:rPr>
              <a:t>Resolved</a:t>
            </a:r>
            <a:endParaRPr lang="en-US" sz="900" dirty="0"/>
          </a:p>
        </p:txBody>
      </p:sp>
      <p:sp>
        <p:nvSpPr>
          <p:cNvPr id="42" name="Shape 36"/>
          <p:cNvSpPr/>
          <p:nvPr/>
        </p:nvSpPr>
        <p:spPr>
          <a:xfrm>
            <a:off x="8997696" y="4169664"/>
            <a:ext cx="1234440" cy="347472"/>
          </a:xfrm>
          <a:prstGeom prst="roundRect">
            <a:avLst>
              <a:gd name="adj" fmla="val 36842"/>
            </a:avLst>
          </a:prstGeom>
          <a:solidFill>
            <a:srgbClr val="FCEDD4"/>
          </a:solidFill>
          <a:ln w="12700">
            <a:solidFill>
              <a:srgbClr val="C9871B"/>
            </a:solidFill>
            <a:prstDash val="solid"/>
          </a:ln>
        </p:spPr>
      </p:sp>
      <p:sp>
        <p:nvSpPr>
          <p:cNvPr id="43" name="Text 37"/>
          <p:cNvSpPr txBox="1"/>
          <p:nvPr/>
        </p:nvSpPr>
        <p:spPr>
          <a:xfrm>
            <a:off x="8997696" y="4169664"/>
            <a:ext cx="1234440" cy="347472"/>
          </a:xfrm>
          <a:prstGeom prst="rect">
            <a:avLst/>
          </a:prstGeom>
          <a:noFill/>
          <a:ln/>
        </p:spPr>
        <p:txBody>
          <a:bodyPr wrap="square" lIns="0" tIns="0" rIns="0" bIns="0" rtlCol="0" anchor="ctr"/>
          <a:lstStyle/>
          <a:p>
            <a:pPr algn="ctr" indent="0" marL="0">
              <a:buNone/>
            </a:pPr>
            <a:r>
              <a:rPr lang="en-US" sz="900" b="1" dirty="0">
                <a:solidFill>
                  <a:srgbClr val="64430A"/>
                </a:solidFill>
                <a:latin typeface="Calibri" pitchFamily="34" charset="0"/>
                <a:ea typeface="Calibri" pitchFamily="34" charset="-122"/>
                <a:cs typeface="Calibri" pitchFamily="34" charset="-120"/>
              </a:rPr>
              <a:t>Uncertain</a:t>
            </a:r>
            <a:endParaRPr lang="en-US" sz="900" dirty="0"/>
          </a:p>
        </p:txBody>
      </p:sp>
      <p:sp>
        <p:nvSpPr>
          <p:cNvPr id="44" name="Shape 38"/>
          <p:cNvSpPr/>
          <p:nvPr/>
        </p:nvSpPr>
        <p:spPr>
          <a:xfrm>
            <a:off x="10360152" y="4169664"/>
            <a:ext cx="1234440" cy="347472"/>
          </a:xfrm>
          <a:prstGeom prst="roundRect">
            <a:avLst>
              <a:gd name="adj" fmla="val 36842"/>
            </a:avLst>
          </a:prstGeom>
          <a:solidFill>
            <a:srgbClr val="FBE2E8"/>
          </a:solidFill>
          <a:ln w="12700">
            <a:solidFill>
              <a:srgbClr val="CE3D64"/>
            </a:solidFill>
            <a:prstDash val="solid"/>
          </a:ln>
        </p:spPr>
      </p:sp>
      <p:sp>
        <p:nvSpPr>
          <p:cNvPr id="45" name="Text 39"/>
          <p:cNvSpPr txBox="1"/>
          <p:nvPr/>
        </p:nvSpPr>
        <p:spPr>
          <a:xfrm>
            <a:off x="10360152" y="4169664"/>
            <a:ext cx="1234440" cy="347472"/>
          </a:xfrm>
          <a:prstGeom prst="rect">
            <a:avLst/>
          </a:prstGeom>
          <a:noFill/>
          <a:ln/>
        </p:spPr>
        <p:txBody>
          <a:bodyPr wrap="square" lIns="0" tIns="0" rIns="0" bIns="0" rtlCol="0" anchor="ctr"/>
          <a:lstStyle/>
          <a:p>
            <a:pPr algn="ctr" indent="0" marL="0">
              <a:buNone/>
            </a:pPr>
            <a:r>
              <a:rPr lang="en-US" sz="900" b="1" dirty="0">
                <a:solidFill>
                  <a:srgbClr val="68182F"/>
                </a:solidFill>
                <a:latin typeface="Calibri" pitchFamily="34" charset="0"/>
                <a:ea typeface="Calibri" pitchFamily="34" charset="-122"/>
                <a:cs typeface="Calibri" pitchFamily="34" charset="-120"/>
              </a:rPr>
              <a:t>Unresolved</a:t>
            </a:r>
            <a:endParaRPr lang="en-US" sz="900" dirty="0"/>
          </a:p>
        </p:txBody>
      </p:sp>
      <p:sp>
        <p:nvSpPr>
          <p:cNvPr id="46" name="Shape 40"/>
          <p:cNvSpPr/>
          <p:nvPr/>
        </p:nvSpPr>
        <p:spPr>
          <a:xfrm>
            <a:off x="7635240" y="4572000"/>
            <a:ext cx="3959352" cy="457200"/>
          </a:xfrm>
          <a:prstGeom prst="roundRect">
            <a:avLst>
              <a:gd name="adj" fmla="val 20000"/>
            </a:avLst>
          </a:prstGeom>
          <a:solidFill>
            <a:srgbClr val="FBE2E8"/>
          </a:solidFill>
          <a:ln w="15875">
            <a:solidFill>
              <a:srgbClr val="CE3D64"/>
            </a:solidFill>
            <a:prstDash val="solid"/>
          </a:ln>
        </p:spPr>
      </p:sp>
      <p:sp>
        <p:nvSpPr>
          <p:cNvPr id="47" name="Text 41"/>
          <p:cNvSpPr txBox="1"/>
          <p:nvPr/>
        </p:nvSpPr>
        <p:spPr>
          <a:xfrm>
            <a:off x="7726680" y="4572000"/>
            <a:ext cx="3776472" cy="457200"/>
          </a:xfrm>
          <a:prstGeom prst="rect">
            <a:avLst/>
          </a:prstGeom>
          <a:noFill/>
          <a:ln/>
        </p:spPr>
        <p:txBody>
          <a:bodyPr wrap="square" lIns="0" tIns="0" rIns="0" bIns="0" rtlCol="0" anchor="ctr"/>
          <a:lstStyle/>
          <a:p>
            <a:pPr algn="ctr" indent="0" marL="0">
              <a:lnSpc>
                <a:spcPct val="104000"/>
              </a:lnSpc>
              <a:buNone/>
            </a:pPr>
            <a:r>
              <a:rPr lang="en-US" sz="950" b="1" dirty="0">
                <a:solidFill>
                  <a:srgbClr val="68182F"/>
                </a:solidFill>
                <a:latin typeface="Calibri" pitchFamily="34" charset="0"/>
                <a:ea typeface="Calibri" pitchFamily="34" charset="-122"/>
                <a:cs typeface="Calibri" pitchFamily="34" charset="-120"/>
              </a:rPr>
              <a:t>uncertain and unresolved → review queue</a:t>
            </a:r>
            <a:endParaRPr lang="en-US" sz="950" dirty="0"/>
          </a:p>
        </p:txBody>
      </p:sp>
      <p:sp>
        <p:nvSpPr>
          <p:cNvPr id="48" name="Shape 42"/>
          <p:cNvSpPr/>
          <p:nvPr/>
        </p:nvSpPr>
        <p:spPr>
          <a:xfrm>
            <a:off x="594360" y="5257800"/>
            <a:ext cx="11000232" cy="566928"/>
          </a:xfrm>
          <a:prstGeom prst="roundRect">
            <a:avLst>
              <a:gd name="adj" fmla="val 6452"/>
            </a:avLst>
          </a:prstGeom>
          <a:solidFill>
            <a:srgbClr val="F4F7FA"/>
          </a:solidFill>
          <a:ln w="15875">
            <a:solidFill>
              <a:srgbClr val="DDE5ED"/>
            </a:solidFill>
            <a:prstDash val="solid"/>
          </a:ln>
        </p:spPr>
      </p:sp>
      <p:sp>
        <p:nvSpPr>
          <p:cNvPr id="49" name="Text 43"/>
          <p:cNvSpPr txBox="1"/>
          <p:nvPr/>
        </p:nvSpPr>
        <p:spPr>
          <a:xfrm>
            <a:off x="795528" y="5257800"/>
            <a:ext cx="10597896" cy="566928"/>
          </a:xfrm>
          <a:prstGeom prst="rect">
            <a:avLst/>
          </a:prstGeom>
          <a:noFill/>
          <a:ln/>
        </p:spPr>
        <p:txBody>
          <a:bodyPr wrap="square" lIns="0" tIns="0" rIns="0" bIns="0" rtlCol="0" anchor="ctr"/>
          <a:lstStyle/>
          <a:p>
            <a:pPr indent="0" marL="0">
              <a:buNone/>
            </a:pPr>
            <a:r>
              <a:rPr lang="en-US" sz="930" b="1" dirty="0">
                <a:solidFill>
                  <a:srgbClr val="6D4DD1"/>
                </a:solidFill>
                <a:latin typeface="Calibri" pitchFamily="34" charset="0"/>
                <a:ea typeface="Calibri" pitchFamily="34" charset="-122"/>
                <a:cs typeface="Calibri" pitchFamily="34" charset="-120"/>
              </a:rPr>
              <a:t>Deliberately not a three-agent debate.  </a:t>
            </a:r>
            <a:pPr indent="0" marL="0">
              <a:buNone/>
            </a:pPr>
            <a:r>
              <a:rPr lang="en-US" sz="930" dirty="0">
                <a:solidFill>
                  <a:srgbClr val="43566B"/>
                </a:solidFill>
                <a:latin typeface="Calibri" pitchFamily="34" charset="0"/>
                <a:ea typeface="Calibri" pitchFamily="34" charset="-122"/>
                <a:cs typeface="Calibri" pitchFamily="34" charset="-120"/>
              </a:rPr>
              <a:t>Unlike thematic classification, “which company is this” rarely has two defensible sides, and EDGAR's own name search already resolves the common case with no model involved at all. An earlier version mirrored the Advocate/Opposing/Adjudicator triad here and was cut back to one call.</a:t>
            </a:r>
            <a:endParaRPr lang="en-US" sz="930" dirty="0"/>
          </a:p>
        </p:txBody>
      </p:sp>
      <p:sp>
        <p:nvSpPr>
          <p:cNvPr id="50" name="Shape 44"/>
          <p:cNvSpPr/>
          <p:nvPr/>
        </p:nvSpPr>
        <p:spPr>
          <a:xfrm>
            <a:off x="594360" y="6172200"/>
            <a:ext cx="155448" cy="155448"/>
          </a:xfrm>
          <a:prstGeom prst="roundRect">
            <a:avLst>
              <a:gd name="adj" fmla="val 29412"/>
            </a:avLst>
          </a:prstGeom>
          <a:solidFill>
            <a:srgbClr val="2F6FD0"/>
          </a:solidFill>
          <a:ln/>
        </p:spPr>
      </p:sp>
      <p:sp>
        <p:nvSpPr>
          <p:cNvPr id="51" name="Text 45"/>
          <p:cNvSpPr txBox="1"/>
          <p:nvPr/>
        </p:nvSpPr>
        <p:spPr>
          <a:xfrm>
            <a:off x="813816" y="6144768"/>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source / input</a:t>
            </a:r>
            <a:endParaRPr lang="en-US" sz="880" dirty="0"/>
          </a:p>
        </p:txBody>
      </p:sp>
      <p:sp>
        <p:nvSpPr>
          <p:cNvPr id="52" name="Shape 46"/>
          <p:cNvSpPr/>
          <p:nvPr/>
        </p:nvSpPr>
        <p:spPr>
          <a:xfrm>
            <a:off x="2427732" y="6172200"/>
            <a:ext cx="155448" cy="155448"/>
          </a:xfrm>
          <a:prstGeom prst="roundRect">
            <a:avLst>
              <a:gd name="adj" fmla="val 29412"/>
            </a:avLst>
          </a:prstGeom>
          <a:solidFill>
            <a:srgbClr val="108494"/>
          </a:solidFill>
          <a:ln/>
        </p:spPr>
      </p:sp>
      <p:sp>
        <p:nvSpPr>
          <p:cNvPr id="53" name="Text 47"/>
          <p:cNvSpPr txBox="1"/>
          <p:nvPr/>
        </p:nvSpPr>
        <p:spPr>
          <a:xfrm>
            <a:off x="2647188" y="6144768"/>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deterministic step</a:t>
            </a:r>
            <a:endParaRPr lang="en-US" sz="880" dirty="0"/>
          </a:p>
        </p:txBody>
      </p:sp>
      <p:sp>
        <p:nvSpPr>
          <p:cNvPr id="54" name="Shape 48"/>
          <p:cNvSpPr/>
          <p:nvPr/>
        </p:nvSpPr>
        <p:spPr>
          <a:xfrm>
            <a:off x="4261104" y="6172200"/>
            <a:ext cx="155448" cy="155448"/>
          </a:xfrm>
          <a:prstGeom prst="roundRect">
            <a:avLst>
              <a:gd name="adj" fmla="val 29412"/>
            </a:avLst>
          </a:prstGeom>
          <a:solidFill>
            <a:srgbClr val="6D4DD1"/>
          </a:solidFill>
          <a:ln/>
        </p:spPr>
      </p:sp>
      <p:sp>
        <p:nvSpPr>
          <p:cNvPr id="55" name="Text 49"/>
          <p:cNvSpPr txBox="1"/>
          <p:nvPr/>
        </p:nvSpPr>
        <p:spPr>
          <a:xfrm>
            <a:off x="4480560" y="6144768"/>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LLM agent</a:t>
            </a:r>
            <a:endParaRPr lang="en-US" sz="880" dirty="0"/>
          </a:p>
        </p:txBody>
      </p:sp>
      <p:sp>
        <p:nvSpPr>
          <p:cNvPr id="56" name="Shape 50"/>
          <p:cNvSpPr/>
          <p:nvPr/>
        </p:nvSpPr>
        <p:spPr>
          <a:xfrm>
            <a:off x="6094476" y="6172200"/>
            <a:ext cx="155448" cy="155448"/>
          </a:xfrm>
          <a:prstGeom prst="roundRect">
            <a:avLst>
              <a:gd name="adj" fmla="val 29412"/>
            </a:avLst>
          </a:prstGeom>
          <a:solidFill>
            <a:srgbClr val="C9871B"/>
          </a:solidFill>
          <a:ln/>
        </p:spPr>
      </p:sp>
      <p:sp>
        <p:nvSpPr>
          <p:cNvPr id="57" name="Text 51"/>
          <p:cNvSpPr txBox="1"/>
          <p:nvPr/>
        </p:nvSpPr>
        <p:spPr>
          <a:xfrm>
            <a:off x="6313932" y="6144768"/>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gate or check</a:t>
            </a:r>
            <a:endParaRPr lang="en-US" sz="880" dirty="0"/>
          </a:p>
        </p:txBody>
      </p:sp>
      <p:sp>
        <p:nvSpPr>
          <p:cNvPr id="58" name="Shape 52"/>
          <p:cNvSpPr/>
          <p:nvPr/>
        </p:nvSpPr>
        <p:spPr>
          <a:xfrm>
            <a:off x="7927848" y="6172200"/>
            <a:ext cx="155448" cy="155448"/>
          </a:xfrm>
          <a:prstGeom prst="roundRect">
            <a:avLst>
              <a:gd name="adj" fmla="val 29412"/>
            </a:avLst>
          </a:prstGeom>
          <a:solidFill>
            <a:srgbClr val="CE3D64"/>
          </a:solidFill>
          <a:ln/>
        </p:spPr>
      </p:sp>
      <p:sp>
        <p:nvSpPr>
          <p:cNvPr id="59" name="Text 53"/>
          <p:cNvSpPr txBox="1"/>
          <p:nvPr/>
        </p:nvSpPr>
        <p:spPr>
          <a:xfrm>
            <a:off x="8147304" y="6144768"/>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human decision</a:t>
            </a:r>
            <a:endParaRPr lang="en-US" sz="880" dirty="0"/>
          </a:p>
        </p:txBody>
      </p:sp>
      <p:sp>
        <p:nvSpPr>
          <p:cNvPr id="60" name="Shape 54"/>
          <p:cNvSpPr/>
          <p:nvPr/>
        </p:nvSpPr>
        <p:spPr>
          <a:xfrm>
            <a:off x="9761220" y="6172200"/>
            <a:ext cx="155448" cy="155448"/>
          </a:xfrm>
          <a:prstGeom prst="roundRect">
            <a:avLst>
              <a:gd name="adj" fmla="val 29412"/>
            </a:avLst>
          </a:prstGeom>
          <a:solidFill>
            <a:srgbClr val="2F8F48"/>
          </a:solidFill>
          <a:ln/>
        </p:spPr>
      </p:sp>
      <p:sp>
        <p:nvSpPr>
          <p:cNvPr id="61" name="Text 55"/>
          <p:cNvSpPr txBox="1"/>
          <p:nvPr/>
        </p:nvSpPr>
        <p:spPr>
          <a:xfrm>
            <a:off x="9980676" y="6144768"/>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stored output</a:t>
            </a:r>
            <a:endParaRPr lang="en-US" sz="88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438912"/>
            <a:ext cx="10085832" cy="201168"/>
          </a:xfrm>
          <a:prstGeom prst="rect">
            <a:avLst/>
          </a:prstGeom>
          <a:noFill/>
          <a:ln/>
        </p:spPr>
        <p:txBody>
          <a:bodyPr wrap="square" lIns="0" tIns="0" rIns="0" bIns="0" rtlCol="0" anchor="ctr"/>
          <a:lstStyle/>
          <a:p>
            <a:pPr indent="0" marL="0">
              <a:buNone/>
            </a:pPr>
            <a:r>
              <a:rPr lang="en-US" sz="1050" b="1" spc="200" kern="0" dirty="0">
                <a:solidFill>
                  <a:srgbClr val="108494"/>
                </a:solidFill>
                <a:latin typeface="Calibri" pitchFamily="34" charset="0"/>
                <a:ea typeface="Calibri" pitchFamily="34" charset="-122"/>
                <a:cs typeface="Calibri" pitchFamily="34" charset="-120"/>
              </a:rPr>
              <a:t>06   ·   ARCHITECTURE &amp; PROCESS</a:t>
            </a:r>
            <a:endParaRPr lang="en-US" sz="1050" dirty="0"/>
          </a:p>
        </p:txBody>
      </p:sp>
      <p:sp>
        <p:nvSpPr>
          <p:cNvPr id="3" name="Text 1"/>
          <p:cNvSpPr txBox="1"/>
          <p:nvPr/>
        </p:nvSpPr>
        <p:spPr>
          <a:xfrm>
            <a:off x="594360" y="640080"/>
            <a:ext cx="10085832" cy="484632"/>
          </a:xfrm>
          <a:prstGeom prst="rect">
            <a:avLst/>
          </a:prstGeom>
          <a:noFill/>
          <a:ln/>
        </p:spPr>
        <p:txBody>
          <a:bodyPr wrap="square" lIns="0" tIns="0" rIns="0" bIns="0" rtlCol="0" anchor="ctr"/>
          <a:lstStyle/>
          <a:p>
            <a:pPr indent="0" marL="0">
              <a:buNone/>
            </a:pPr>
            <a:r>
              <a:rPr lang="en-US" sz="3000" b="1" dirty="0">
                <a:solidFill>
                  <a:srgbClr val="10243A"/>
                </a:solidFill>
                <a:latin typeface="Cambria" pitchFamily="34" charset="0"/>
                <a:ea typeface="Cambria" pitchFamily="34" charset="-122"/>
                <a:cs typeface="Cambria" pitchFamily="34" charset="-120"/>
              </a:rPr>
              <a:t>Identity: a graph built to short-circuit</a:t>
            </a:r>
            <a:endParaRPr lang="en-US" sz="3000" dirty="0"/>
          </a:p>
        </p:txBody>
      </p:sp>
      <p:sp>
        <p:nvSpPr>
          <p:cNvPr id="4" name="Text 2"/>
          <p:cNvSpPr txBox="1"/>
          <p:nvPr/>
        </p:nvSpPr>
        <p:spPr>
          <a:xfrm>
            <a:off x="594360" y="1143000"/>
            <a:ext cx="9994392" cy="274320"/>
          </a:xfrm>
          <a:prstGeom prst="rect">
            <a:avLst/>
          </a:prstGeom>
          <a:noFill/>
          <a:ln/>
        </p:spPr>
        <p:txBody>
          <a:bodyPr wrap="square" lIns="0" tIns="0" rIns="0" bIns="0" rtlCol="0" anchor="ctr"/>
          <a:lstStyle/>
          <a:p>
            <a:pPr indent="0" marL="0">
              <a:buNone/>
            </a:pPr>
            <a:r>
              <a:rPr lang="en-US" sz="1200" dirty="0">
                <a:solidFill>
                  <a:srgbClr val="58697A"/>
                </a:solidFill>
                <a:latin typeface="Calibri" pitchFamily="34" charset="0"/>
                <a:ea typeface="Calibri" pitchFamily="34" charset="-122"/>
                <a:cs typeface="Calibri" pitchFamily="34" charset="-120"/>
              </a:rPr>
              <a:t>Conditional edges leave the graph early wherever a factual lookup already answers the question.</a:t>
            </a:r>
            <a:endParaRPr lang="en-US" sz="1200" dirty="0"/>
          </a:p>
        </p:txBody>
      </p:sp>
      <p:sp>
        <p:nvSpPr>
          <p:cNvPr id="5" name="Shape 3"/>
          <p:cNvSpPr/>
          <p:nvPr/>
        </p:nvSpPr>
        <p:spPr>
          <a:xfrm>
            <a:off x="10881360" y="475488"/>
            <a:ext cx="713232" cy="713232"/>
          </a:xfrm>
          <a:prstGeom prst="roundRect">
            <a:avLst>
              <a:gd name="adj" fmla="val 20513"/>
            </a:avLst>
          </a:prstGeom>
          <a:solidFill>
            <a:srgbClr val="10243A"/>
          </a:solidFill>
          <a:ln/>
        </p:spPr>
      </p:sp>
      <p:pic>
        <p:nvPicPr>
          <p:cNvPr id="6" name="Image 0" descr="preencoded.png">    </p:cNvPr>
          <p:cNvPicPr>
            <a:picLocks noChangeAspect="1"/>
          </p:cNvPicPr>
          <p:nvPr/>
        </p:nvPicPr>
        <p:blipFill>
          <a:blip r:embed="rId1"/>
          <a:stretch>
            <a:fillRect/>
          </a:stretch>
        </p:blipFill>
        <p:spPr>
          <a:xfrm>
            <a:off x="11038271" y="632399"/>
            <a:ext cx="399410" cy="399410"/>
          </a:xfrm>
          <a:prstGeom prst="rect">
            <a:avLst/>
          </a:prstGeom>
        </p:spPr>
      </p:pic>
      <p:sp>
        <p:nvSpPr>
          <p:cNvPr id="7" name="Shape 4"/>
          <p:cNvSpPr/>
          <p:nvPr/>
        </p:nvSpPr>
        <p:spPr>
          <a:xfrm>
            <a:off x="594360" y="1536192"/>
            <a:ext cx="11000232" cy="3291840"/>
          </a:xfrm>
          <a:prstGeom prst="roundRect">
            <a:avLst>
              <a:gd name="adj" fmla="val 1111"/>
            </a:avLst>
          </a:prstGeom>
          <a:solidFill>
            <a:srgbClr val="F7FAFC"/>
          </a:solidFill>
          <a:ln w="15875">
            <a:solidFill>
              <a:srgbClr val="9FB2C4"/>
            </a:solidFill>
            <a:prstDash val="dash"/>
          </a:ln>
        </p:spPr>
      </p:sp>
      <p:sp>
        <p:nvSpPr>
          <p:cNvPr id="8" name="Shape 5"/>
          <p:cNvSpPr/>
          <p:nvPr/>
        </p:nvSpPr>
        <p:spPr>
          <a:xfrm>
            <a:off x="740664" y="1417320"/>
            <a:ext cx="3218688" cy="274320"/>
          </a:xfrm>
          <a:prstGeom prst="roundRect">
            <a:avLst>
              <a:gd name="adj" fmla="val 50000"/>
            </a:avLst>
          </a:prstGeom>
          <a:solidFill>
            <a:srgbClr val="64798F"/>
          </a:solidFill>
          <a:ln/>
        </p:spPr>
      </p:sp>
      <p:pic>
        <p:nvPicPr>
          <p:cNvPr id="9" name="Image 1" descr="preencoded.png">    </p:cNvPr>
          <p:cNvPicPr>
            <a:picLocks noChangeAspect="1"/>
          </p:cNvPicPr>
          <p:nvPr/>
        </p:nvPicPr>
        <p:blipFill>
          <a:blip r:embed="rId2"/>
          <a:stretch>
            <a:fillRect/>
          </a:stretch>
        </p:blipFill>
        <p:spPr>
          <a:xfrm>
            <a:off x="859536" y="1485900"/>
            <a:ext cx="132588" cy="132588"/>
          </a:xfrm>
          <a:prstGeom prst="rect">
            <a:avLst/>
          </a:prstGeom>
        </p:spPr>
      </p:pic>
      <p:sp>
        <p:nvSpPr>
          <p:cNvPr id="10" name="Text 6"/>
          <p:cNvSpPr txBox="1"/>
          <p:nvPr/>
        </p:nvSpPr>
        <p:spPr>
          <a:xfrm>
            <a:off x="1014984" y="1417320"/>
            <a:ext cx="2944368" cy="274320"/>
          </a:xfrm>
          <a:prstGeom prst="rect">
            <a:avLst/>
          </a:prstGeom>
          <a:noFill/>
          <a:ln/>
        </p:spPr>
        <p:txBody>
          <a:bodyPr wrap="square" lIns="0" tIns="0" rIns="0" bIns="0" rtlCol="0" anchor="ctr"/>
          <a:lstStyle/>
          <a:p>
            <a:pPr algn="ctr" indent="0" marL="0">
              <a:buNone/>
            </a:pPr>
            <a:r>
              <a:rPr lang="en-US" sz="850" b="1" spc="110" kern="0" dirty="0">
                <a:solidFill>
                  <a:srgbClr val="FFFFFF"/>
                </a:solidFill>
                <a:latin typeface="Calibri" pitchFamily="34" charset="0"/>
                <a:ea typeface="Calibri" pitchFamily="34" charset="-122"/>
                <a:cs typeface="Calibri" pitchFamily="34" charset="-120"/>
              </a:rPr>
              <a:t>identity_graph  ·  LangGraph state graph</a:t>
            </a:r>
            <a:endParaRPr lang="en-US" sz="850" dirty="0"/>
          </a:p>
        </p:txBody>
      </p:sp>
      <p:sp>
        <p:nvSpPr>
          <p:cNvPr id="11" name="Shape 7"/>
          <p:cNvSpPr/>
          <p:nvPr/>
        </p:nvSpPr>
        <p:spPr>
          <a:xfrm>
            <a:off x="914400" y="2103120"/>
            <a:ext cx="2011680" cy="777240"/>
          </a:xfrm>
          <a:prstGeom prst="roundRect">
            <a:avLst>
              <a:gd name="adj" fmla="val 11765"/>
            </a:avLst>
          </a:prstGeom>
          <a:solidFill>
            <a:srgbClr val="DCF2F4"/>
          </a:solidFill>
          <a:ln w="15875">
            <a:solidFill>
              <a:srgbClr val="108494"/>
            </a:solidFill>
            <a:prstDash val="solid"/>
          </a:ln>
          <a:effectLst>
            <a:outerShdw sx="100000" sy="100000" kx="0" ky="0" algn="bl" rotWithShape="0" blurRad="101600" dist="19050" dir="5400000">
              <a:srgbClr val="9FB0C2">
                <a:alpha val="24000"/>
              </a:srgbClr>
            </a:outerShdw>
          </a:effectLst>
        </p:spPr>
      </p:sp>
      <p:pic>
        <p:nvPicPr>
          <p:cNvPr id="12" name="Image 2" descr="preencoded.png">    </p:cNvPr>
          <p:cNvPicPr>
            <a:picLocks noChangeAspect="1"/>
          </p:cNvPicPr>
          <p:nvPr/>
        </p:nvPicPr>
        <p:blipFill>
          <a:blip r:embed="rId3"/>
          <a:stretch>
            <a:fillRect/>
          </a:stretch>
        </p:blipFill>
        <p:spPr>
          <a:xfrm>
            <a:off x="1033272" y="2203704"/>
            <a:ext cx="182880" cy="182880"/>
          </a:xfrm>
          <a:prstGeom prst="rect">
            <a:avLst/>
          </a:prstGeom>
        </p:spPr>
      </p:pic>
      <p:sp>
        <p:nvSpPr>
          <p:cNvPr id="13" name="Text 8"/>
          <p:cNvSpPr txBox="1"/>
          <p:nvPr/>
        </p:nvSpPr>
        <p:spPr>
          <a:xfrm>
            <a:off x="1005840" y="2103120"/>
            <a:ext cx="1828800" cy="777240"/>
          </a:xfrm>
          <a:prstGeom prst="rect">
            <a:avLst/>
          </a:prstGeom>
          <a:noFill/>
          <a:ln/>
        </p:spPr>
        <p:txBody>
          <a:bodyPr wrap="square" lIns="0" tIns="0" rIns="0" bIns="0" rtlCol="0" anchor="ctr"/>
          <a:lstStyle/>
          <a:p>
            <a:pPr algn="ctr" indent="0" marL="0">
              <a:lnSpc>
                <a:spcPct val="104000"/>
              </a:lnSpc>
              <a:buNone/>
            </a:pPr>
            <a:r>
              <a:rPr lang="en-US" sz="1050" b="1" dirty="0">
                <a:solidFill>
                  <a:srgbClr val="0A4451"/>
                </a:solidFill>
                <a:latin typeface="Calibri" pitchFamily="34" charset="0"/>
                <a:ea typeface="Calibri" pitchFamily="34" charset="-122"/>
                <a:cs typeface="Calibri" pitchFamily="34" charset="-120"/>
              </a:rPr>
              <a:t>check_known</a:t>
            </a:r>
            <a:endParaRPr lang="en-US" sz="1050" dirty="0"/>
          </a:p>
          <a:p>
            <a:pPr algn="ctr" indent="0" marL="0">
              <a:lnSpc>
                <a:spcPct val="104000"/>
              </a:lnSpc>
              <a:buNone/>
            </a:pPr>
            <a:r>
              <a:rPr lang="en-US" sz="800" dirty="0">
                <a:solidFill>
                  <a:srgbClr val="0A4451"/>
                </a:solidFill>
                <a:latin typeface="Calibri" pitchFamily="34" charset="0"/>
                <a:ea typeface="Calibri" pitchFamily="34" charset="-122"/>
                <a:cs typeface="Calibri" pitchFamily="34" charset="-120"/>
              </a:rPr>
              <a:t>supplied CIK or website</a:t>
            </a:r>
            <a:endParaRPr lang="en-US" sz="1050" dirty="0"/>
          </a:p>
        </p:txBody>
      </p:sp>
      <p:sp>
        <p:nvSpPr>
          <p:cNvPr id="14" name="Shape 9"/>
          <p:cNvSpPr/>
          <p:nvPr/>
        </p:nvSpPr>
        <p:spPr>
          <a:xfrm>
            <a:off x="2962656" y="2487168"/>
            <a:ext cx="292608" cy="0"/>
          </a:xfrm>
          <a:prstGeom prst="line">
            <a:avLst/>
          </a:prstGeom>
          <a:noFill/>
          <a:ln w="19050">
            <a:solidFill>
              <a:srgbClr val="64798F"/>
            </a:solidFill>
            <a:prstDash val="solid"/>
            <a:headEnd type="none"/>
            <a:tailEnd type="triangle"/>
          </a:ln>
        </p:spPr>
      </p:sp>
      <p:sp>
        <p:nvSpPr>
          <p:cNvPr id="15" name="Shape 10"/>
          <p:cNvSpPr/>
          <p:nvPr/>
        </p:nvSpPr>
        <p:spPr>
          <a:xfrm>
            <a:off x="3291840" y="2103120"/>
            <a:ext cx="2011680" cy="777240"/>
          </a:xfrm>
          <a:prstGeom prst="roundRect">
            <a:avLst>
              <a:gd name="adj" fmla="val 11765"/>
            </a:avLst>
          </a:prstGeom>
          <a:solidFill>
            <a:srgbClr val="E3EDFC"/>
          </a:solidFill>
          <a:ln w="15875">
            <a:solidFill>
              <a:srgbClr val="2F6FD0"/>
            </a:solidFill>
            <a:prstDash val="solid"/>
          </a:ln>
          <a:effectLst>
            <a:outerShdw sx="100000" sy="100000" kx="0" ky="0" algn="bl" rotWithShape="0" blurRad="101600" dist="19050" dir="5400000">
              <a:srgbClr val="9FB0C2">
                <a:alpha val="24000"/>
              </a:srgbClr>
            </a:outerShdw>
          </a:effectLst>
        </p:spPr>
      </p:sp>
      <p:pic>
        <p:nvPicPr>
          <p:cNvPr id="16" name="Image 3" descr="preencoded.png">    </p:cNvPr>
          <p:cNvPicPr>
            <a:picLocks noChangeAspect="1"/>
          </p:cNvPicPr>
          <p:nvPr/>
        </p:nvPicPr>
        <p:blipFill>
          <a:blip r:embed="rId4"/>
          <a:stretch>
            <a:fillRect/>
          </a:stretch>
        </p:blipFill>
        <p:spPr>
          <a:xfrm>
            <a:off x="3410712" y="2203704"/>
            <a:ext cx="182880" cy="182880"/>
          </a:xfrm>
          <a:prstGeom prst="rect">
            <a:avLst/>
          </a:prstGeom>
        </p:spPr>
      </p:pic>
      <p:sp>
        <p:nvSpPr>
          <p:cNvPr id="17" name="Text 11"/>
          <p:cNvSpPr txBox="1"/>
          <p:nvPr/>
        </p:nvSpPr>
        <p:spPr>
          <a:xfrm>
            <a:off x="3383280" y="2103120"/>
            <a:ext cx="1828800" cy="777240"/>
          </a:xfrm>
          <a:prstGeom prst="rect">
            <a:avLst/>
          </a:prstGeom>
          <a:noFill/>
          <a:ln/>
        </p:spPr>
        <p:txBody>
          <a:bodyPr wrap="square" lIns="0" tIns="0" rIns="0" bIns="0" rtlCol="0" anchor="ctr"/>
          <a:lstStyle/>
          <a:p>
            <a:pPr algn="ctr" indent="0" marL="0">
              <a:lnSpc>
                <a:spcPct val="104000"/>
              </a:lnSpc>
              <a:buNone/>
            </a:pPr>
            <a:r>
              <a:rPr lang="en-US" sz="1050" b="1" dirty="0">
                <a:solidFill>
                  <a:srgbClr val="153A61"/>
                </a:solidFill>
                <a:latin typeface="Calibri" pitchFamily="34" charset="0"/>
                <a:ea typeface="Calibri" pitchFamily="34" charset="-122"/>
                <a:cs typeface="Calibri" pitchFamily="34" charset="-120"/>
              </a:rPr>
              <a:t>gather_signals</a:t>
            </a:r>
            <a:endParaRPr lang="en-US" sz="1050" dirty="0"/>
          </a:p>
          <a:p>
            <a:pPr algn="ctr" indent="0" marL="0">
              <a:lnSpc>
                <a:spcPct val="104000"/>
              </a:lnSpc>
              <a:buNone/>
            </a:pPr>
            <a:r>
              <a:rPr lang="en-US" sz="800" dirty="0">
                <a:solidFill>
                  <a:srgbClr val="153A61"/>
                </a:solidFill>
                <a:latin typeface="Calibri" pitchFamily="34" charset="0"/>
                <a:ea typeface="Calibri" pitchFamily="34" charset="-122"/>
                <a:cs typeface="Calibri" pitchFamily="34" charset="-120"/>
              </a:rPr>
              <a:t>EDGAR name search + web hits</a:t>
            </a:r>
            <a:endParaRPr lang="en-US" sz="1050" dirty="0"/>
          </a:p>
        </p:txBody>
      </p:sp>
      <p:sp>
        <p:nvSpPr>
          <p:cNvPr id="18" name="Shape 12"/>
          <p:cNvSpPr/>
          <p:nvPr/>
        </p:nvSpPr>
        <p:spPr>
          <a:xfrm>
            <a:off x="5340096" y="2487168"/>
            <a:ext cx="475488" cy="0"/>
          </a:xfrm>
          <a:prstGeom prst="line">
            <a:avLst/>
          </a:prstGeom>
          <a:noFill/>
          <a:ln w="19050">
            <a:solidFill>
              <a:srgbClr val="64798F"/>
            </a:solidFill>
            <a:prstDash val="solid"/>
            <a:headEnd type="none"/>
            <a:tailEnd type="triangle"/>
          </a:ln>
        </p:spPr>
      </p:sp>
      <p:sp>
        <p:nvSpPr>
          <p:cNvPr id="19" name="Shape 13"/>
          <p:cNvSpPr/>
          <p:nvPr/>
        </p:nvSpPr>
        <p:spPr>
          <a:xfrm>
            <a:off x="5852160" y="2103120"/>
            <a:ext cx="2011680" cy="777240"/>
          </a:xfrm>
          <a:prstGeom prst="roundRect">
            <a:avLst>
              <a:gd name="adj" fmla="val 11765"/>
            </a:avLst>
          </a:prstGeom>
          <a:solidFill>
            <a:srgbClr val="EBE5FC"/>
          </a:solidFill>
          <a:ln w="15875">
            <a:solidFill>
              <a:srgbClr val="6D4DD1"/>
            </a:solidFill>
            <a:prstDash val="solid"/>
          </a:ln>
          <a:effectLst>
            <a:outerShdw sx="100000" sy="100000" kx="0" ky="0" algn="bl" rotWithShape="0" blurRad="101600" dist="19050" dir="5400000">
              <a:srgbClr val="9FB0C2">
                <a:alpha val="24000"/>
              </a:srgbClr>
            </a:outerShdw>
          </a:effectLst>
        </p:spPr>
      </p:sp>
      <p:pic>
        <p:nvPicPr>
          <p:cNvPr id="20" name="Image 4" descr="preencoded.png">    </p:cNvPr>
          <p:cNvPicPr>
            <a:picLocks noChangeAspect="1"/>
          </p:cNvPicPr>
          <p:nvPr/>
        </p:nvPicPr>
        <p:blipFill>
          <a:blip r:embed="rId5"/>
          <a:stretch>
            <a:fillRect/>
          </a:stretch>
        </p:blipFill>
        <p:spPr>
          <a:xfrm>
            <a:off x="5971032" y="2203704"/>
            <a:ext cx="182880" cy="182880"/>
          </a:xfrm>
          <a:prstGeom prst="rect">
            <a:avLst/>
          </a:prstGeom>
        </p:spPr>
      </p:pic>
      <p:sp>
        <p:nvSpPr>
          <p:cNvPr id="21" name="Text 14"/>
          <p:cNvSpPr txBox="1"/>
          <p:nvPr/>
        </p:nvSpPr>
        <p:spPr>
          <a:xfrm>
            <a:off x="5943600" y="2103120"/>
            <a:ext cx="1828800" cy="777240"/>
          </a:xfrm>
          <a:prstGeom prst="rect">
            <a:avLst/>
          </a:prstGeom>
          <a:noFill/>
          <a:ln/>
        </p:spPr>
        <p:txBody>
          <a:bodyPr wrap="square" lIns="0" tIns="0" rIns="0" bIns="0" rtlCol="0" anchor="ctr"/>
          <a:lstStyle/>
          <a:p>
            <a:pPr algn="ctr" indent="0" marL="0">
              <a:lnSpc>
                <a:spcPct val="104000"/>
              </a:lnSpc>
              <a:buNone/>
            </a:pPr>
            <a:r>
              <a:rPr lang="en-US" sz="1050" b="1" dirty="0">
                <a:solidFill>
                  <a:srgbClr val="35236E"/>
                </a:solidFill>
                <a:latin typeface="Calibri" pitchFamily="34" charset="0"/>
                <a:ea typeface="Calibri" pitchFamily="34" charset="-122"/>
                <a:cs typeface="Calibri" pitchFamily="34" charset="-120"/>
              </a:rPr>
              <a:t>adjudicate</a:t>
            </a:r>
            <a:endParaRPr lang="en-US" sz="1050" dirty="0"/>
          </a:p>
          <a:p>
            <a:pPr algn="ctr" indent="0" marL="0">
              <a:lnSpc>
                <a:spcPct val="104000"/>
              </a:lnSpc>
              <a:buNone/>
            </a:pPr>
            <a:r>
              <a:rPr lang="en-US" sz="800" dirty="0">
                <a:solidFill>
                  <a:srgbClr val="35236E"/>
                </a:solidFill>
                <a:latin typeface="Calibri" pitchFamily="34" charset="0"/>
                <a:ea typeface="Calibri" pitchFamily="34" charset="-122"/>
                <a:cs typeface="Calibri" pitchFamily="34" charset="-120"/>
              </a:rPr>
              <a:t>one schema-first call</a:t>
            </a:r>
            <a:endParaRPr lang="en-US" sz="1050" dirty="0"/>
          </a:p>
        </p:txBody>
      </p:sp>
      <p:sp>
        <p:nvSpPr>
          <p:cNvPr id="22" name="Shape 15"/>
          <p:cNvSpPr/>
          <p:nvPr/>
        </p:nvSpPr>
        <p:spPr>
          <a:xfrm>
            <a:off x="7900416" y="2487168"/>
            <a:ext cx="475488" cy="0"/>
          </a:xfrm>
          <a:prstGeom prst="line">
            <a:avLst/>
          </a:prstGeom>
          <a:noFill/>
          <a:ln w="19050">
            <a:solidFill>
              <a:srgbClr val="64798F"/>
            </a:solidFill>
            <a:prstDash val="solid"/>
            <a:headEnd type="none"/>
            <a:tailEnd type="triangle"/>
          </a:ln>
        </p:spPr>
      </p:sp>
      <p:sp>
        <p:nvSpPr>
          <p:cNvPr id="23" name="Shape 16"/>
          <p:cNvSpPr/>
          <p:nvPr/>
        </p:nvSpPr>
        <p:spPr>
          <a:xfrm>
            <a:off x="8412480" y="2103120"/>
            <a:ext cx="2011680" cy="777240"/>
          </a:xfrm>
          <a:prstGeom prst="roundRect">
            <a:avLst>
              <a:gd name="adj" fmla="val 11765"/>
            </a:avLst>
          </a:prstGeom>
          <a:solidFill>
            <a:srgbClr val="FCEDD4"/>
          </a:solidFill>
          <a:ln w="15875">
            <a:solidFill>
              <a:srgbClr val="C9871B"/>
            </a:solidFill>
            <a:prstDash val="solid"/>
          </a:ln>
          <a:effectLst>
            <a:outerShdw sx="100000" sy="100000" kx="0" ky="0" algn="bl" rotWithShape="0" blurRad="101600" dist="19050" dir="5400000">
              <a:srgbClr val="9FB0C2">
                <a:alpha val="24000"/>
              </a:srgbClr>
            </a:outerShdw>
          </a:effectLst>
        </p:spPr>
      </p:sp>
      <p:pic>
        <p:nvPicPr>
          <p:cNvPr id="24" name="Image 5" descr="preencoded.png">    </p:cNvPr>
          <p:cNvPicPr>
            <a:picLocks noChangeAspect="1"/>
          </p:cNvPicPr>
          <p:nvPr/>
        </p:nvPicPr>
        <p:blipFill>
          <a:blip r:embed="rId6"/>
          <a:stretch>
            <a:fillRect/>
          </a:stretch>
        </p:blipFill>
        <p:spPr>
          <a:xfrm>
            <a:off x="8531352" y="2203704"/>
            <a:ext cx="182880" cy="182880"/>
          </a:xfrm>
          <a:prstGeom prst="rect">
            <a:avLst/>
          </a:prstGeom>
        </p:spPr>
      </p:pic>
      <p:sp>
        <p:nvSpPr>
          <p:cNvPr id="25" name="Text 17"/>
          <p:cNvSpPr txBox="1"/>
          <p:nvPr/>
        </p:nvSpPr>
        <p:spPr>
          <a:xfrm>
            <a:off x="8503920" y="2103120"/>
            <a:ext cx="1828800" cy="777240"/>
          </a:xfrm>
          <a:prstGeom prst="rect">
            <a:avLst/>
          </a:prstGeom>
          <a:noFill/>
          <a:ln/>
        </p:spPr>
        <p:txBody>
          <a:bodyPr wrap="square" lIns="0" tIns="0" rIns="0" bIns="0" rtlCol="0" anchor="ctr"/>
          <a:lstStyle/>
          <a:p>
            <a:pPr algn="ctr" indent="0" marL="0">
              <a:lnSpc>
                <a:spcPct val="104000"/>
              </a:lnSpc>
              <a:buNone/>
            </a:pPr>
            <a:r>
              <a:rPr lang="en-US" sz="1050" b="1" dirty="0">
                <a:solidFill>
                  <a:srgbClr val="64430A"/>
                </a:solidFill>
                <a:latin typeface="Calibri" pitchFamily="34" charset="0"/>
                <a:ea typeface="Calibri" pitchFamily="34" charset="-122"/>
                <a:cs typeface="Calibri" pitchFamily="34" charset="-120"/>
              </a:rPr>
              <a:t>finalize</a:t>
            </a:r>
            <a:endParaRPr lang="en-US" sz="1050" dirty="0"/>
          </a:p>
          <a:p>
            <a:pPr algn="ctr" indent="0" marL="0">
              <a:lnSpc>
                <a:spcPct val="104000"/>
              </a:lnSpc>
              <a:buNone/>
            </a:pPr>
            <a:r>
              <a:rPr lang="en-US" sz="800" dirty="0">
                <a:solidFill>
                  <a:srgbClr val="64430A"/>
                </a:solidFill>
                <a:latin typeface="Calibri" pitchFamily="34" charset="0"/>
                <a:ea typeface="Calibri" pitchFamily="34" charset="-122"/>
                <a:cs typeface="Calibri" pitchFamily="34" charset="-120"/>
              </a:rPr>
              <a:t>verdict, confidence, resolved ids</a:t>
            </a:r>
            <a:endParaRPr lang="en-US" sz="1050" dirty="0"/>
          </a:p>
        </p:txBody>
      </p:sp>
      <p:sp>
        <p:nvSpPr>
          <p:cNvPr id="26" name="Shape 18"/>
          <p:cNvSpPr/>
          <p:nvPr/>
        </p:nvSpPr>
        <p:spPr>
          <a:xfrm>
            <a:off x="10607040" y="2103120"/>
            <a:ext cx="914400" cy="777240"/>
          </a:xfrm>
          <a:prstGeom prst="roundRect">
            <a:avLst>
              <a:gd name="adj" fmla="val 11765"/>
            </a:avLst>
          </a:prstGeom>
          <a:solidFill>
            <a:srgbClr val="E0F3E3"/>
          </a:solidFill>
          <a:ln w="15875">
            <a:solidFill>
              <a:srgbClr val="2F8F48"/>
            </a:solidFill>
            <a:prstDash val="solid"/>
          </a:ln>
        </p:spPr>
      </p:sp>
      <p:sp>
        <p:nvSpPr>
          <p:cNvPr id="27" name="Text 19"/>
          <p:cNvSpPr txBox="1"/>
          <p:nvPr/>
        </p:nvSpPr>
        <p:spPr>
          <a:xfrm>
            <a:off x="10698480" y="2103120"/>
            <a:ext cx="731520" cy="777240"/>
          </a:xfrm>
          <a:prstGeom prst="rect">
            <a:avLst/>
          </a:prstGeom>
          <a:noFill/>
          <a:ln/>
        </p:spPr>
        <p:txBody>
          <a:bodyPr wrap="square" lIns="0" tIns="0" rIns="0" bIns="0" rtlCol="0" anchor="ctr"/>
          <a:lstStyle/>
          <a:p>
            <a:pPr algn="ctr" indent="0" marL="0">
              <a:lnSpc>
                <a:spcPct val="104000"/>
              </a:lnSpc>
              <a:buNone/>
            </a:pPr>
            <a:r>
              <a:rPr lang="en-US" sz="1000" b="1" dirty="0">
                <a:solidFill>
                  <a:srgbClr val="17431F"/>
                </a:solidFill>
                <a:latin typeface="Calibri" pitchFamily="34" charset="0"/>
                <a:ea typeface="Calibri" pitchFamily="34" charset="-122"/>
                <a:cs typeface="Calibri" pitchFamily="34" charset="-120"/>
              </a:rPr>
              <a:t>END</a:t>
            </a:r>
            <a:endParaRPr lang="en-US" sz="1000" dirty="0"/>
          </a:p>
        </p:txBody>
      </p:sp>
      <p:sp>
        <p:nvSpPr>
          <p:cNvPr id="28" name="Shape 20"/>
          <p:cNvSpPr/>
          <p:nvPr/>
        </p:nvSpPr>
        <p:spPr>
          <a:xfrm>
            <a:off x="10460736" y="2487168"/>
            <a:ext cx="109728" cy="0"/>
          </a:xfrm>
          <a:prstGeom prst="line">
            <a:avLst/>
          </a:prstGeom>
          <a:noFill/>
          <a:ln w="17780">
            <a:solidFill>
              <a:srgbClr val="2F8F48"/>
            </a:solidFill>
            <a:prstDash val="solid"/>
            <a:headEnd type="none"/>
            <a:tailEnd type="triangle"/>
          </a:ln>
        </p:spPr>
      </p:sp>
      <p:sp>
        <p:nvSpPr>
          <p:cNvPr id="29" name="Shape 21"/>
          <p:cNvSpPr/>
          <p:nvPr/>
        </p:nvSpPr>
        <p:spPr>
          <a:xfrm>
            <a:off x="914400" y="3611880"/>
            <a:ext cx="2011680" cy="640080"/>
          </a:xfrm>
          <a:prstGeom prst="roundRect">
            <a:avLst>
              <a:gd name="adj" fmla="val 14286"/>
            </a:avLst>
          </a:prstGeom>
          <a:solidFill>
            <a:srgbClr val="E0F3E3"/>
          </a:solidFill>
          <a:ln w="15875">
            <a:solidFill>
              <a:srgbClr val="2F8F48"/>
            </a:solidFill>
            <a:prstDash val="solid"/>
          </a:ln>
          <a:effectLst>
            <a:outerShdw sx="100000" sy="100000" kx="0" ky="0" algn="bl" rotWithShape="0" blurRad="101600" dist="19050" dir="5400000">
              <a:srgbClr val="9FB0C2">
                <a:alpha val="24000"/>
              </a:srgbClr>
            </a:outerShdw>
          </a:effectLst>
        </p:spPr>
      </p:sp>
      <p:pic>
        <p:nvPicPr>
          <p:cNvPr id="30" name="Image 6" descr="preencoded.png">    </p:cNvPr>
          <p:cNvPicPr>
            <a:picLocks noChangeAspect="1"/>
          </p:cNvPicPr>
          <p:nvPr/>
        </p:nvPicPr>
        <p:blipFill>
          <a:blip r:embed="rId7"/>
          <a:stretch>
            <a:fillRect/>
          </a:stretch>
        </p:blipFill>
        <p:spPr>
          <a:xfrm>
            <a:off x="1033272" y="3712464"/>
            <a:ext cx="182880" cy="182880"/>
          </a:xfrm>
          <a:prstGeom prst="rect">
            <a:avLst/>
          </a:prstGeom>
        </p:spPr>
      </p:pic>
      <p:sp>
        <p:nvSpPr>
          <p:cNvPr id="31" name="Text 22"/>
          <p:cNvSpPr txBox="1"/>
          <p:nvPr/>
        </p:nvSpPr>
        <p:spPr>
          <a:xfrm>
            <a:off x="1005840" y="3611880"/>
            <a:ext cx="1828800" cy="640080"/>
          </a:xfrm>
          <a:prstGeom prst="rect">
            <a:avLst/>
          </a:prstGeom>
          <a:noFill/>
          <a:ln/>
        </p:spPr>
        <p:txBody>
          <a:bodyPr wrap="square" lIns="0" tIns="0" rIns="0" bIns="0" rtlCol="0" anchor="ctr"/>
          <a:lstStyle/>
          <a:p>
            <a:pPr algn="ctr" indent="0" marL="0">
              <a:lnSpc>
                <a:spcPct val="104000"/>
              </a:lnSpc>
              <a:buNone/>
            </a:pPr>
            <a:r>
              <a:rPr lang="en-US" sz="1000" b="1" dirty="0">
                <a:solidFill>
                  <a:srgbClr val="17431F"/>
                </a:solidFill>
                <a:latin typeface="Calibri" pitchFamily="34" charset="0"/>
                <a:ea typeface="Calibri" pitchFamily="34" charset="-122"/>
                <a:cs typeface="Calibri" pitchFamily="34" charset="-120"/>
              </a:rPr>
              <a:t>finalize_known</a:t>
            </a:r>
            <a:endParaRPr lang="en-US" sz="1000" dirty="0"/>
          </a:p>
          <a:p>
            <a:pPr algn="ctr" indent="0" marL="0">
              <a:lnSpc>
                <a:spcPct val="104000"/>
              </a:lnSpc>
              <a:buNone/>
            </a:pPr>
            <a:r>
              <a:rPr lang="en-US" sz="800" dirty="0">
                <a:solidFill>
                  <a:srgbClr val="17431F"/>
                </a:solidFill>
                <a:latin typeface="Calibri" pitchFamily="34" charset="0"/>
                <a:ea typeface="Calibri" pitchFamily="34" charset="-122"/>
                <a:cs typeface="Calibri" pitchFamily="34" charset="-120"/>
              </a:rPr>
              <a:t>0 LLM calls</a:t>
            </a:r>
            <a:endParaRPr lang="en-US" sz="1000" dirty="0"/>
          </a:p>
        </p:txBody>
      </p:sp>
      <p:sp>
        <p:nvSpPr>
          <p:cNvPr id="32" name="Shape 23"/>
          <p:cNvSpPr/>
          <p:nvPr/>
        </p:nvSpPr>
        <p:spPr>
          <a:xfrm>
            <a:off x="3291840" y="3611880"/>
            <a:ext cx="2011680" cy="640080"/>
          </a:xfrm>
          <a:prstGeom prst="roundRect">
            <a:avLst>
              <a:gd name="adj" fmla="val 14286"/>
            </a:avLst>
          </a:prstGeom>
          <a:solidFill>
            <a:srgbClr val="E0F3E3"/>
          </a:solidFill>
          <a:ln w="15875">
            <a:solidFill>
              <a:srgbClr val="2F8F48"/>
            </a:solidFill>
            <a:prstDash val="solid"/>
          </a:ln>
          <a:effectLst>
            <a:outerShdw sx="100000" sy="100000" kx="0" ky="0" algn="bl" rotWithShape="0" blurRad="101600" dist="19050" dir="5400000">
              <a:srgbClr val="9FB0C2">
                <a:alpha val="24000"/>
              </a:srgbClr>
            </a:outerShdw>
          </a:effectLst>
        </p:spPr>
      </p:sp>
      <p:pic>
        <p:nvPicPr>
          <p:cNvPr id="33" name="Image 7" descr="preencoded.png">    </p:cNvPr>
          <p:cNvPicPr>
            <a:picLocks noChangeAspect="1"/>
          </p:cNvPicPr>
          <p:nvPr/>
        </p:nvPicPr>
        <p:blipFill>
          <a:blip r:embed="rId8"/>
          <a:stretch>
            <a:fillRect/>
          </a:stretch>
        </p:blipFill>
        <p:spPr>
          <a:xfrm>
            <a:off x="3410712" y="3712464"/>
            <a:ext cx="182880" cy="182880"/>
          </a:xfrm>
          <a:prstGeom prst="rect">
            <a:avLst/>
          </a:prstGeom>
        </p:spPr>
      </p:pic>
      <p:sp>
        <p:nvSpPr>
          <p:cNvPr id="34" name="Text 24"/>
          <p:cNvSpPr txBox="1"/>
          <p:nvPr/>
        </p:nvSpPr>
        <p:spPr>
          <a:xfrm>
            <a:off x="3383280" y="3611880"/>
            <a:ext cx="1828800" cy="640080"/>
          </a:xfrm>
          <a:prstGeom prst="rect">
            <a:avLst/>
          </a:prstGeom>
          <a:noFill/>
          <a:ln/>
        </p:spPr>
        <p:txBody>
          <a:bodyPr wrap="square" lIns="0" tIns="0" rIns="0" bIns="0" rtlCol="0" anchor="ctr"/>
          <a:lstStyle/>
          <a:p>
            <a:pPr algn="ctr" indent="0" marL="0">
              <a:lnSpc>
                <a:spcPct val="104000"/>
              </a:lnSpc>
              <a:buNone/>
            </a:pPr>
            <a:r>
              <a:rPr lang="en-US" sz="1000" b="1" dirty="0">
                <a:solidFill>
                  <a:srgbClr val="17431F"/>
                </a:solidFill>
                <a:latin typeface="Calibri" pitchFamily="34" charset="0"/>
                <a:ea typeface="Calibri" pitchFamily="34" charset="-122"/>
                <a:cs typeface="Calibri" pitchFamily="34" charset="-120"/>
              </a:rPr>
              <a:t>finalize_clean_match</a:t>
            </a:r>
            <a:endParaRPr lang="en-US" sz="1000" dirty="0"/>
          </a:p>
          <a:p>
            <a:pPr algn="ctr" indent="0" marL="0">
              <a:lnSpc>
                <a:spcPct val="104000"/>
              </a:lnSpc>
              <a:buNone/>
            </a:pPr>
            <a:r>
              <a:rPr lang="en-US" sz="800" dirty="0">
                <a:solidFill>
                  <a:srgbClr val="17431F"/>
                </a:solidFill>
                <a:latin typeface="Calibri" pitchFamily="34" charset="0"/>
                <a:ea typeface="Calibri" pitchFamily="34" charset="-122"/>
                <a:cs typeface="Calibri" pitchFamily="34" charset="-120"/>
              </a:rPr>
              <a:t>0 LLM calls</a:t>
            </a:r>
            <a:endParaRPr lang="en-US" sz="1000" dirty="0"/>
          </a:p>
        </p:txBody>
      </p:sp>
      <p:sp>
        <p:nvSpPr>
          <p:cNvPr id="35" name="Shape 25"/>
          <p:cNvSpPr/>
          <p:nvPr/>
        </p:nvSpPr>
        <p:spPr>
          <a:xfrm>
            <a:off x="1920240" y="2898648"/>
            <a:ext cx="0" cy="676656"/>
          </a:xfrm>
          <a:prstGeom prst="line">
            <a:avLst/>
          </a:prstGeom>
          <a:noFill/>
          <a:ln w="16510">
            <a:solidFill>
              <a:srgbClr val="2F8F48"/>
            </a:solidFill>
            <a:prstDash val="solid"/>
            <a:headEnd type="none"/>
            <a:tailEnd type="triangle"/>
          </a:ln>
        </p:spPr>
      </p:sp>
      <p:sp>
        <p:nvSpPr>
          <p:cNvPr id="36" name="Shape 26"/>
          <p:cNvSpPr/>
          <p:nvPr/>
        </p:nvSpPr>
        <p:spPr>
          <a:xfrm>
            <a:off x="4297680" y="2898648"/>
            <a:ext cx="0" cy="676656"/>
          </a:xfrm>
          <a:prstGeom prst="line">
            <a:avLst/>
          </a:prstGeom>
          <a:noFill/>
          <a:ln w="16510">
            <a:solidFill>
              <a:srgbClr val="2F8F48"/>
            </a:solidFill>
            <a:prstDash val="solid"/>
            <a:headEnd type="none"/>
            <a:tailEnd type="triangle"/>
          </a:ln>
        </p:spPr>
      </p:sp>
      <p:sp>
        <p:nvSpPr>
          <p:cNvPr id="37" name="Shape 27"/>
          <p:cNvSpPr/>
          <p:nvPr/>
        </p:nvSpPr>
        <p:spPr>
          <a:xfrm>
            <a:off x="1920240" y="4288536"/>
            <a:ext cx="0" cy="210312"/>
          </a:xfrm>
          <a:prstGeom prst="line">
            <a:avLst/>
          </a:prstGeom>
          <a:noFill/>
          <a:ln w="15240">
            <a:solidFill>
              <a:srgbClr val="2F8F48"/>
            </a:solidFill>
            <a:prstDash val="dash"/>
            <a:headEnd type="none"/>
            <a:tailEnd type="none"/>
          </a:ln>
        </p:spPr>
      </p:sp>
      <p:sp>
        <p:nvSpPr>
          <p:cNvPr id="38" name="Shape 28"/>
          <p:cNvSpPr/>
          <p:nvPr/>
        </p:nvSpPr>
        <p:spPr>
          <a:xfrm>
            <a:off x="1920240" y="4498848"/>
            <a:ext cx="8961120" cy="0"/>
          </a:xfrm>
          <a:prstGeom prst="line">
            <a:avLst/>
          </a:prstGeom>
          <a:noFill/>
          <a:ln w="15240">
            <a:solidFill>
              <a:srgbClr val="2F8F48"/>
            </a:solidFill>
            <a:prstDash val="dash"/>
            <a:headEnd type="none"/>
            <a:tailEnd type="none"/>
          </a:ln>
        </p:spPr>
      </p:sp>
      <p:sp>
        <p:nvSpPr>
          <p:cNvPr id="39" name="Shape 29"/>
          <p:cNvSpPr/>
          <p:nvPr/>
        </p:nvSpPr>
        <p:spPr>
          <a:xfrm flipV="1">
            <a:off x="10881360" y="2916936"/>
            <a:ext cx="0" cy="1581912"/>
          </a:xfrm>
          <a:prstGeom prst="line">
            <a:avLst/>
          </a:prstGeom>
          <a:noFill/>
          <a:ln w="15240">
            <a:solidFill>
              <a:srgbClr val="2F8F48"/>
            </a:solidFill>
            <a:prstDash val="dash"/>
            <a:headEnd type="none"/>
            <a:tailEnd type="triangle"/>
          </a:ln>
        </p:spPr>
      </p:sp>
      <p:sp>
        <p:nvSpPr>
          <p:cNvPr id="40" name="Shape 30"/>
          <p:cNvSpPr/>
          <p:nvPr/>
        </p:nvSpPr>
        <p:spPr>
          <a:xfrm>
            <a:off x="4297680" y="4288536"/>
            <a:ext cx="0" cy="210312"/>
          </a:xfrm>
          <a:prstGeom prst="line">
            <a:avLst/>
          </a:prstGeom>
          <a:noFill/>
          <a:ln w="15240">
            <a:solidFill>
              <a:srgbClr val="2F8F48"/>
            </a:solidFill>
            <a:prstDash val="dash"/>
            <a:headEnd type="none"/>
            <a:tailEnd type="none"/>
          </a:ln>
        </p:spPr>
      </p:sp>
      <p:sp>
        <p:nvSpPr>
          <p:cNvPr id="41" name="Text 31"/>
          <p:cNvSpPr txBox="1"/>
          <p:nvPr/>
        </p:nvSpPr>
        <p:spPr>
          <a:xfrm>
            <a:off x="5486400" y="4535424"/>
            <a:ext cx="3108960" cy="182880"/>
          </a:xfrm>
          <a:prstGeom prst="rect">
            <a:avLst/>
          </a:prstGeom>
          <a:noFill/>
          <a:ln/>
        </p:spPr>
        <p:txBody>
          <a:bodyPr wrap="square" lIns="0" tIns="0" rIns="0" bIns="0" rtlCol="0" anchor="ctr"/>
          <a:lstStyle/>
          <a:p>
            <a:pPr algn="ctr" indent="0" marL="0">
              <a:buNone/>
            </a:pPr>
            <a:r>
              <a:rPr lang="en-US" sz="750" i="1" dirty="0">
                <a:solidFill>
                  <a:srgbClr val="2F8F48"/>
                </a:solidFill>
                <a:latin typeface="Calibri" pitchFamily="34" charset="0"/>
                <a:ea typeface="Calibri" pitchFamily="34" charset="-122"/>
                <a:cs typeface="Calibri" pitchFamily="34" charset="-120"/>
              </a:rPr>
              <a:t>an early exit is still a finished run</a:t>
            </a:r>
            <a:endParaRPr lang="en-US" sz="750" dirty="0"/>
          </a:p>
        </p:txBody>
      </p:sp>
      <p:sp>
        <p:nvSpPr>
          <p:cNvPr id="42" name="Text 32"/>
          <p:cNvSpPr txBox="1"/>
          <p:nvPr/>
        </p:nvSpPr>
        <p:spPr>
          <a:xfrm>
            <a:off x="1051560" y="3310128"/>
            <a:ext cx="1737360" cy="182880"/>
          </a:xfrm>
          <a:prstGeom prst="rect">
            <a:avLst/>
          </a:prstGeom>
          <a:noFill/>
          <a:ln/>
        </p:spPr>
        <p:txBody>
          <a:bodyPr wrap="square" lIns="0" tIns="0" rIns="0" bIns="0" rtlCol="0" anchor="ctr"/>
          <a:lstStyle/>
          <a:p>
            <a:pPr algn="ctr" indent="0" marL="0">
              <a:buNone/>
            </a:pPr>
            <a:r>
              <a:rPr lang="en-US" sz="750" i="1" dirty="0">
                <a:solidFill>
                  <a:srgbClr val="58697A"/>
                </a:solidFill>
                <a:latin typeface="Calibri" pitchFamily="34" charset="0"/>
                <a:ea typeface="Calibri" pitchFamily="34" charset="-122"/>
                <a:cs typeface="Calibri" pitchFamily="34" charset="-120"/>
              </a:rPr>
              <a:t>conditional edge</a:t>
            </a:r>
            <a:endParaRPr lang="en-US" sz="750" dirty="0"/>
          </a:p>
        </p:txBody>
      </p:sp>
      <p:sp>
        <p:nvSpPr>
          <p:cNvPr id="43" name="Text 33"/>
          <p:cNvSpPr txBox="1"/>
          <p:nvPr/>
        </p:nvSpPr>
        <p:spPr>
          <a:xfrm>
            <a:off x="3429000" y="3310128"/>
            <a:ext cx="1737360" cy="182880"/>
          </a:xfrm>
          <a:prstGeom prst="rect">
            <a:avLst/>
          </a:prstGeom>
          <a:noFill/>
          <a:ln/>
        </p:spPr>
        <p:txBody>
          <a:bodyPr wrap="square" lIns="0" tIns="0" rIns="0" bIns="0" rtlCol="0" anchor="ctr"/>
          <a:lstStyle/>
          <a:p>
            <a:pPr algn="ctr" indent="0" marL="0">
              <a:buNone/>
            </a:pPr>
            <a:r>
              <a:rPr lang="en-US" sz="750" i="1" dirty="0">
                <a:solidFill>
                  <a:srgbClr val="58697A"/>
                </a:solidFill>
                <a:latin typeface="Calibri" pitchFamily="34" charset="0"/>
                <a:ea typeface="Calibri" pitchFamily="34" charset="-122"/>
                <a:cs typeface="Calibri" pitchFamily="34" charset="-120"/>
              </a:rPr>
              <a:t>conditional edge</a:t>
            </a:r>
            <a:endParaRPr lang="en-US" sz="750" dirty="0"/>
          </a:p>
        </p:txBody>
      </p:sp>
      <p:sp>
        <p:nvSpPr>
          <p:cNvPr id="44" name="Shape 34"/>
          <p:cNvSpPr/>
          <p:nvPr/>
        </p:nvSpPr>
        <p:spPr>
          <a:xfrm>
            <a:off x="5852160" y="3611880"/>
            <a:ext cx="4572000" cy="640080"/>
          </a:xfrm>
          <a:prstGeom prst="roundRect">
            <a:avLst>
              <a:gd name="adj" fmla="val 14286"/>
            </a:avLst>
          </a:prstGeom>
          <a:solidFill>
            <a:srgbClr val="FCEDD4"/>
          </a:solidFill>
          <a:ln w="15875">
            <a:solidFill>
              <a:srgbClr val="C9871B"/>
            </a:solidFill>
            <a:prstDash val="solid"/>
          </a:ln>
          <a:effectLst>
            <a:outerShdw sx="100000" sy="100000" kx="0" ky="0" algn="bl" rotWithShape="0" blurRad="101600" dist="19050" dir="5400000">
              <a:srgbClr val="9FB0C2">
                <a:alpha val="24000"/>
              </a:srgbClr>
            </a:outerShdw>
          </a:effectLst>
        </p:spPr>
      </p:sp>
      <p:pic>
        <p:nvPicPr>
          <p:cNvPr id="45" name="Image 8" descr="preencoded.png">    </p:cNvPr>
          <p:cNvPicPr>
            <a:picLocks noChangeAspect="1"/>
          </p:cNvPicPr>
          <p:nvPr/>
        </p:nvPicPr>
        <p:blipFill>
          <a:blip r:embed="rId9"/>
          <a:stretch>
            <a:fillRect/>
          </a:stretch>
        </p:blipFill>
        <p:spPr>
          <a:xfrm>
            <a:off x="5971032" y="3712464"/>
            <a:ext cx="182880" cy="182880"/>
          </a:xfrm>
          <a:prstGeom prst="rect">
            <a:avLst/>
          </a:prstGeom>
        </p:spPr>
      </p:pic>
      <p:sp>
        <p:nvSpPr>
          <p:cNvPr id="46" name="Text 35"/>
          <p:cNvSpPr txBox="1"/>
          <p:nvPr/>
        </p:nvSpPr>
        <p:spPr>
          <a:xfrm>
            <a:off x="5943600" y="3611880"/>
            <a:ext cx="4389120" cy="640080"/>
          </a:xfrm>
          <a:prstGeom prst="rect">
            <a:avLst/>
          </a:prstGeom>
          <a:noFill/>
          <a:ln/>
        </p:spPr>
        <p:txBody>
          <a:bodyPr wrap="square" lIns="0" tIns="0" rIns="0" bIns="0" rtlCol="0" anchor="ctr"/>
          <a:lstStyle/>
          <a:p>
            <a:pPr algn="ctr" indent="0" marL="0">
              <a:lnSpc>
                <a:spcPct val="104000"/>
              </a:lnSpc>
              <a:buNone/>
            </a:pPr>
            <a:r>
              <a:rPr lang="en-US" sz="950" b="1" dirty="0">
                <a:solidFill>
                  <a:srgbClr val="64430A"/>
                </a:solidFill>
                <a:latin typeface="Calibri" pitchFamily="34" charset="0"/>
                <a:ea typeface="Calibri" pitchFamily="34" charset="-122"/>
                <a:cs typeface="Calibri" pitchFamily="34" charset="-120"/>
              </a:rPr>
              <a:t>resolved_website / resolved_cik verified against the gathered signals, in code</a:t>
            </a:r>
            <a:endParaRPr lang="en-US" sz="950" dirty="0"/>
          </a:p>
          <a:p>
            <a:pPr algn="ctr" indent="0" marL="0">
              <a:lnSpc>
                <a:spcPct val="104000"/>
              </a:lnSpc>
              <a:buNone/>
            </a:pPr>
            <a:r>
              <a:rPr lang="en-US" sz="800" dirty="0">
                <a:solidFill>
                  <a:srgbClr val="64430A"/>
                </a:solidFill>
                <a:latin typeface="Calibri" pitchFamily="34" charset="0"/>
                <a:ea typeface="Calibri" pitchFamily="34" charset="-122"/>
                <a:cs typeface="Calibri" pitchFamily="34" charset="-120"/>
              </a:rPr>
              <a:t>an invented or paraphrased identifier cannot survive this step</a:t>
            </a:r>
            <a:endParaRPr lang="en-US" sz="950" dirty="0"/>
          </a:p>
        </p:txBody>
      </p:sp>
      <p:sp>
        <p:nvSpPr>
          <p:cNvPr id="47" name="Shape 36"/>
          <p:cNvSpPr/>
          <p:nvPr/>
        </p:nvSpPr>
        <p:spPr>
          <a:xfrm>
            <a:off x="6858000" y="2916936"/>
            <a:ext cx="0" cy="658368"/>
          </a:xfrm>
          <a:prstGeom prst="line">
            <a:avLst/>
          </a:prstGeom>
          <a:noFill/>
          <a:ln w="16510">
            <a:solidFill>
              <a:srgbClr val="C9871B"/>
            </a:solidFill>
            <a:prstDash val="solid"/>
            <a:headEnd type="none"/>
            <a:tailEnd type="triangle"/>
          </a:ln>
        </p:spPr>
      </p:sp>
      <p:sp>
        <p:nvSpPr>
          <p:cNvPr id="48" name="Shape 37"/>
          <p:cNvSpPr/>
          <p:nvPr/>
        </p:nvSpPr>
        <p:spPr>
          <a:xfrm>
            <a:off x="594360" y="5321808"/>
            <a:ext cx="3532632" cy="941832"/>
          </a:xfrm>
          <a:prstGeom prst="roundRect">
            <a:avLst>
              <a:gd name="adj" fmla="val 3883"/>
            </a:avLst>
          </a:prstGeom>
          <a:solidFill>
            <a:srgbClr val="F4F7FA"/>
          </a:solidFill>
          <a:ln w="15875">
            <a:solidFill>
              <a:srgbClr val="DDE5ED"/>
            </a:solidFill>
            <a:prstDash val="solid"/>
          </a:ln>
        </p:spPr>
      </p:sp>
      <p:sp>
        <p:nvSpPr>
          <p:cNvPr id="49" name="Text 38"/>
          <p:cNvSpPr txBox="1"/>
          <p:nvPr/>
        </p:nvSpPr>
        <p:spPr>
          <a:xfrm>
            <a:off x="758952" y="5422392"/>
            <a:ext cx="3203448" cy="201168"/>
          </a:xfrm>
          <a:prstGeom prst="rect">
            <a:avLst/>
          </a:prstGeom>
          <a:noFill/>
          <a:ln/>
        </p:spPr>
        <p:txBody>
          <a:bodyPr wrap="square" lIns="0" tIns="0" rIns="0" bIns="0" rtlCol="0" anchor="ctr"/>
          <a:lstStyle/>
          <a:p>
            <a:pPr indent="0" marL="0">
              <a:buNone/>
            </a:pPr>
            <a:r>
              <a:rPr lang="en-US" sz="850" b="1" spc="140" kern="0" dirty="0">
                <a:solidFill>
                  <a:srgbClr val="6D4DD1"/>
                </a:solidFill>
                <a:latin typeface="Calibri" pitchFamily="34" charset="0"/>
                <a:ea typeface="Calibri" pitchFamily="34" charset="-122"/>
                <a:cs typeface="Calibri" pitchFamily="34" charset="-120"/>
              </a:rPr>
              <a:t>MODULES</a:t>
            </a:r>
            <a:endParaRPr lang="en-US" sz="850" dirty="0"/>
          </a:p>
        </p:txBody>
      </p:sp>
      <p:sp>
        <p:nvSpPr>
          <p:cNvPr id="50" name="Text 39"/>
          <p:cNvSpPr txBox="1"/>
          <p:nvPr/>
        </p:nvSpPr>
        <p:spPr>
          <a:xfrm>
            <a:off x="758952" y="5641848"/>
            <a:ext cx="3203448" cy="548640"/>
          </a:xfrm>
          <a:prstGeom prst="rect">
            <a:avLst/>
          </a:prstGeom>
          <a:noFill/>
          <a:ln/>
        </p:spPr>
        <p:txBody>
          <a:bodyPr wrap="square" lIns="0" tIns="0" rIns="0" bIns="0" rtlCol="0" anchor="ctr"/>
          <a:lstStyle/>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arp/discovery/identity_pipeline.py</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arp/discovery/{identity_graph,identity_agents}.py</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arp/ingestion/edgar.py (search_by_name) · site_finder.py</a:t>
            </a:r>
            <a:endParaRPr lang="en-US" sz="860" dirty="0"/>
          </a:p>
        </p:txBody>
      </p:sp>
      <p:sp>
        <p:nvSpPr>
          <p:cNvPr id="51" name="Shape 40"/>
          <p:cNvSpPr/>
          <p:nvPr/>
        </p:nvSpPr>
        <p:spPr>
          <a:xfrm>
            <a:off x="4328160" y="5321808"/>
            <a:ext cx="3532632" cy="941832"/>
          </a:xfrm>
          <a:prstGeom prst="roundRect">
            <a:avLst>
              <a:gd name="adj" fmla="val 3883"/>
            </a:avLst>
          </a:prstGeom>
          <a:solidFill>
            <a:srgbClr val="F4F7FA"/>
          </a:solidFill>
          <a:ln w="15875">
            <a:solidFill>
              <a:srgbClr val="DDE5ED"/>
            </a:solidFill>
            <a:prstDash val="solid"/>
          </a:ln>
        </p:spPr>
      </p:sp>
      <p:sp>
        <p:nvSpPr>
          <p:cNvPr id="52" name="Text 41"/>
          <p:cNvSpPr txBox="1"/>
          <p:nvPr/>
        </p:nvSpPr>
        <p:spPr>
          <a:xfrm>
            <a:off x="4492752" y="5422392"/>
            <a:ext cx="3203448" cy="201168"/>
          </a:xfrm>
          <a:prstGeom prst="rect">
            <a:avLst/>
          </a:prstGeom>
          <a:noFill/>
          <a:ln/>
        </p:spPr>
        <p:txBody>
          <a:bodyPr wrap="square" lIns="0" tIns="0" rIns="0" bIns="0" rtlCol="0" anchor="ctr"/>
          <a:lstStyle/>
          <a:p>
            <a:pPr indent="0" marL="0">
              <a:buNone/>
            </a:pPr>
            <a:r>
              <a:rPr lang="en-US" sz="850" b="1" spc="140" kern="0" dirty="0">
                <a:solidFill>
                  <a:srgbClr val="2F6FD0"/>
                </a:solidFill>
                <a:latin typeface="Calibri" pitchFamily="34" charset="0"/>
                <a:ea typeface="Calibri" pitchFamily="34" charset="-122"/>
                <a:cs typeface="Calibri" pitchFamily="34" charset="-120"/>
              </a:rPr>
              <a:t>IN → OUT</a:t>
            </a:r>
            <a:endParaRPr lang="en-US" sz="850" dirty="0"/>
          </a:p>
        </p:txBody>
      </p:sp>
      <p:sp>
        <p:nvSpPr>
          <p:cNvPr id="53" name="Text 42"/>
          <p:cNvSpPr txBox="1"/>
          <p:nvPr/>
        </p:nvSpPr>
        <p:spPr>
          <a:xfrm>
            <a:off x="4492752" y="5641848"/>
            <a:ext cx="3203448" cy="548640"/>
          </a:xfrm>
          <a:prstGeom prst="rect">
            <a:avLst/>
          </a:prstGeom>
          <a:noFill/>
          <a:ln/>
        </p:spPr>
        <p:txBody>
          <a:bodyPr wrap="square" lIns="0" tIns="0" rIns="0" bIns="0" rtlCol="0" anchor="ctr"/>
          <a:lstStyle/>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In: universe rows — name, optional ticker, CIK, website.</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Out: IdentityResolutionResult — verdict, confidence,</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resolved website and CIK.</a:t>
            </a:r>
            <a:endParaRPr lang="en-US" sz="860" dirty="0"/>
          </a:p>
        </p:txBody>
      </p:sp>
      <p:sp>
        <p:nvSpPr>
          <p:cNvPr id="54" name="Shape 43"/>
          <p:cNvSpPr/>
          <p:nvPr/>
        </p:nvSpPr>
        <p:spPr>
          <a:xfrm>
            <a:off x="8061960" y="5321808"/>
            <a:ext cx="3532632" cy="941832"/>
          </a:xfrm>
          <a:prstGeom prst="roundRect">
            <a:avLst>
              <a:gd name="adj" fmla="val 3883"/>
            </a:avLst>
          </a:prstGeom>
          <a:solidFill>
            <a:srgbClr val="F4F7FA"/>
          </a:solidFill>
          <a:ln w="15875">
            <a:solidFill>
              <a:srgbClr val="DDE5ED"/>
            </a:solidFill>
            <a:prstDash val="solid"/>
          </a:ln>
        </p:spPr>
      </p:sp>
      <p:sp>
        <p:nvSpPr>
          <p:cNvPr id="55" name="Text 44"/>
          <p:cNvSpPr txBox="1"/>
          <p:nvPr/>
        </p:nvSpPr>
        <p:spPr>
          <a:xfrm>
            <a:off x="8226552" y="5422392"/>
            <a:ext cx="3203448" cy="201168"/>
          </a:xfrm>
          <a:prstGeom prst="rect">
            <a:avLst/>
          </a:prstGeom>
          <a:noFill/>
          <a:ln/>
        </p:spPr>
        <p:txBody>
          <a:bodyPr wrap="square" lIns="0" tIns="0" rIns="0" bIns="0" rtlCol="0" anchor="ctr"/>
          <a:lstStyle/>
          <a:p>
            <a:pPr indent="0" marL="0">
              <a:buNone/>
            </a:pPr>
            <a:r>
              <a:rPr lang="en-US" sz="850" b="1" spc="140" kern="0" dirty="0">
                <a:solidFill>
                  <a:srgbClr val="C9871B"/>
                </a:solidFill>
                <a:latin typeface="Calibri" pitchFamily="34" charset="0"/>
                <a:ea typeface="Calibri" pitchFamily="34" charset="-122"/>
                <a:cs typeface="Calibri" pitchFamily="34" charset="-120"/>
              </a:rPr>
              <a:t>CONTROLS</a:t>
            </a:r>
            <a:endParaRPr lang="en-US" sz="850" dirty="0"/>
          </a:p>
        </p:txBody>
      </p:sp>
      <p:sp>
        <p:nvSpPr>
          <p:cNvPr id="56" name="Text 45"/>
          <p:cNvSpPr txBox="1"/>
          <p:nvPr/>
        </p:nvSpPr>
        <p:spPr>
          <a:xfrm>
            <a:off x="8226552" y="5641848"/>
            <a:ext cx="3203448" cy="548640"/>
          </a:xfrm>
          <a:prstGeom prst="rect">
            <a:avLst/>
          </a:prstGeom>
          <a:noFill/>
          <a:ln/>
        </p:spPr>
        <p:txBody>
          <a:bodyPr wrap="square" lIns="0" tIns="0" rIns="0" bIns="0" rtlCol="0" anchor="ctr"/>
          <a:lstStyle/>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Low confidence is required for anything short of a clean match.</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Candidates come only from EDGAR and real search results.</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“Uncertain” is a routing decision, not a softened “resolved”.</a:t>
            </a:r>
            <a:endParaRPr lang="en-US" sz="86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438912"/>
            <a:ext cx="10085832" cy="201168"/>
          </a:xfrm>
          <a:prstGeom prst="rect">
            <a:avLst/>
          </a:prstGeom>
          <a:noFill/>
          <a:ln/>
        </p:spPr>
        <p:txBody>
          <a:bodyPr wrap="square" lIns="0" tIns="0" rIns="0" bIns="0" rtlCol="0" anchor="ctr"/>
          <a:lstStyle/>
          <a:p>
            <a:pPr indent="0" marL="0">
              <a:buNone/>
            </a:pPr>
            <a:r>
              <a:rPr lang="en-US" sz="1050" b="1" spc="200" kern="0" dirty="0">
                <a:solidFill>
                  <a:srgbClr val="108494"/>
                </a:solidFill>
                <a:latin typeface="Calibri" pitchFamily="34" charset="0"/>
                <a:ea typeface="Calibri" pitchFamily="34" charset="-122"/>
                <a:cs typeface="Calibri" pitchFamily="34" charset="-120"/>
              </a:rPr>
              <a:t>07   ·   INDIRECT EXPOSURE TIER</a:t>
            </a:r>
            <a:endParaRPr lang="en-US" sz="1050" dirty="0"/>
          </a:p>
        </p:txBody>
      </p:sp>
      <p:sp>
        <p:nvSpPr>
          <p:cNvPr id="3" name="Text 1"/>
          <p:cNvSpPr txBox="1"/>
          <p:nvPr/>
        </p:nvSpPr>
        <p:spPr>
          <a:xfrm>
            <a:off x="594360" y="640080"/>
            <a:ext cx="10085832" cy="484632"/>
          </a:xfrm>
          <a:prstGeom prst="rect">
            <a:avLst/>
          </a:prstGeom>
          <a:noFill/>
          <a:ln/>
        </p:spPr>
        <p:txBody>
          <a:bodyPr wrap="square" lIns="0" tIns="0" rIns="0" bIns="0" rtlCol="0" anchor="ctr"/>
          <a:lstStyle/>
          <a:p>
            <a:pPr indent="0" marL="0">
              <a:buNone/>
            </a:pPr>
            <a:r>
              <a:rPr lang="en-US" sz="3000" b="1" dirty="0">
                <a:solidFill>
                  <a:srgbClr val="10243A"/>
                </a:solidFill>
                <a:latin typeface="Cambria" pitchFamily="34" charset="0"/>
                <a:ea typeface="Cambria" pitchFamily="34" charset="-122"/>
                <a:cs typeface="Cambria" pitchFamily="34" charset="-120"/>
              </a:rPr>
              <a:t>Exposure a company never mentions</a:t>
            </a:r>
            <a:endParaRPr lang="en-US" sz="3000" dirty="0"/>
          </a:p>
        </p:txBody>
      </p:sp>
      <p:sp>
        <p:nvSpPr>
          <p:cNvPr id="4" name="Text 2"/>
          <p:cNvSpPr txBox="1"/>
          <p:nvPr/>
        </p:nvSpPr>
        <p:spPr>
          <a:xfrm>
            <a:off x="594360" y="1143000"/>
            <a:ext cx="9994392" cy="274320"/>
          </a:xfrm>
          <a:prstGeom prst="rect">
            <a:avLst/>
          </a:prstGeom>
          <a:noFill/>
          <a:ln/>
        </p:spPr>
        <p:txBody>
          <a:bodyPr wrap="square" lIns="0" tIns="0" rIns="0" bIns="0" rtlCol="0" anchor="ctr"/>
          <a:lstStyle/>
          <a:p>
            <a:pPr indent="0" marL="0">
              <a:buNone/>
            </a:pPr>
            <a:r>
              <a:rPr lang="en-US" sz="1200" dirty="0">
                <a:solidFill>
                  <a:srgbClr val="58697A"/>
                </a:solidFill>
                <a:latin typeface="Calibri" pitchFamily="34" charset="0"/>
                <a:ea typeface="Calibri" pitchFamily="34" charset="-122"/>
                <a:cs typeface="Calibri" pitchFamily="34" charset="-120"/>
              </a:rPr>
              <a:t>A structural, purely quantitative read on supply-chain exposure — for companies whose disclosures stay silent.</a:t>
            </a:r>
            <a:endParaRPr lang="en-US" sz="1200" dirty="0"/>
          </a:p>
        </p:txBody>
      </p:sp>
      <p:sp>
        <p:nvSpPr>
          <p:cNvPr id="5" name="Shape 3"/>
          <p:cNvSpPr/>
          <p:nvPr/>
        </p:nvSpPr>
        <p:spPr>
          <a:xfrm>
            <a:off x="10881360" y="475488"/>
            <a:ext cx="713232" cy="713232"/>
          </a:xfrm>
          <a:prstGeom prst="roundRect">
            <a:avLst>
              <a:gd name="adj" fmla="val 20513"/>
            </a:avLst>
          </a:prstGeom>
          <a:solidFill>
            <a:srgbClr val="10243A"/>
          </a:solidFill>
          <a:ln/>
        </p:spPr>
      </p:sp>
      <p:pic>
        <p:nvPicPr>
          <p:cNvPr id="6" name="Image 0" descr="preencoded.png">    </p:cNvPr>
          <p:cNvPicPr>
            <a:picLocks noChangeAspect="1"/>
          </p:cNvPicPr>
          <p:nvPr/>
        </p:nvPicPr>
        <p:blipFill>
          <a:blip r:embed="rId1"/>
          <a:stretch>
            <a:fillRect/>
          </a:stretch>
        </p:blipFill>
        <p:spPr>
          <a:xfrm>
            <a:off x="11038271" y="632399"/>
            <a:ext cx="399410" cy="399410"/>
          </a:xfrm>
          <a:prstGeom prst="rect">
            <a:avLst/>
          </a:prstGeom>
        </p:spPr>
      </p:pic>
      <p:sp>
        <p:nvSpPr>
          <p:cNvPr id="7" name="Shape 4"/>
          <p:cNvSpPr/>
          <p:nvPr/>
        </p:nvSpPr>
        <p:spPr>
          <a:xfrm>
            <a:off x="594360" y="1691640"/>
            <a:ext cx="3200400" cy="2788920"/>
          </a:xfrm>
          <a:prstGeom prst="roundRect">
            <a:avLst>
              <a:gd name="adj" fmla="val 1311"/>
            </a:avLst>
          </a:prstGeom>
          <a:solidFill>
            <a:srgbClr val="F4F7FA"/>
          </a:solidFill>
          <a:ln w="15875">
            <a:solidFill>
              <a:srgbClr val="9FB2C4"/>
            </a:solidFill>
            <a:prstDash val="solid"/>
          </a:ln>
        </p:spPr>
      </p:sp>
      <p:sp>
        <p:nvSpPr>
          <p:cNvPr id="8" name="Shape 5"/>
          <p:cNvSpPr/>
          <p:nvPr/>
        </p:nvSpPr>
        <p:spPr>
          <a:xfrm>
            <a:off x="740664" y="1572768"/>
            <a:ext cx="2231136" cy="274320"/>
          </a:xfrm>
          <a:prstGeom prst="roundRect">
            <a:avLst>
              <a:gd name="adj" fmla="val 50000"/>
            </a:avLst>
          </a:prstGeom>
          <a:solidFill>
            <a:srgbClr val="64798F"/>
          </a:solidFill>
          <a:ln/>
        </p:spPr>
      </p:sp>
      <p:pic>
        <p:nvPicPr>
          <p:cNvPr id="9" name="Image 1" descr="preencoded.png">    </p:cNvPr>
          <p:cNvPicPr>
            <a:picLocks noChangeAspect="1"/>
          </p:cNvPicPr>
          <p:nvPr/>
        </p:nvPicPr>
        <p:blipFill>
          <a:blip r:embed="rId2"/>
          <a:stretch>
            <a:fillRect/>
          </a:stretch>
        </p:blipFill>
        <p:spPr>
          <a:xfrm>
            <a:off x="859536" y="1641348"/>
            <a:ext cx="132588" cy="132588"/>
          </a:xfrm>
          <a:prstGeom prst="rect">
            <a:avLst/>
          </a:prstGeom>
        </p:spPr>
      </p:pic>
      <p:sp>
        <p:nvSpPr>
          <p:cNvPr id="10" name="Text 6"/>
          <p:cNvSpPr txBox="1"/>
          <p:nvPr/>
        </p:nvSpPr>
        <p:spPr>
          <a:xfrm>
            <a:off x="1014984" y="1572768"/>
            <a:ext cx="1956816" cy="274320"/>
          </a:xfrm>
          <a:prstGeom prst="rect">
            <a:avLst/>
          </a:prstGeom>
          <a:noFill/>
          <a:ln/>
        </p:spPr>
        <p:txBody>
          <a:bodyPr wrap="square" lIns="0" tIns="0" rIns="0" bIns="0" rtlCol="0" anchor="ctr"/>
          <a:lstStyle/>
          <a:p>
            <a:pPr algn="ctr" indent="0" marL="0">
              <a:buNone/>
            </a:pPr>
            <a:r>
              <a:rPr lang="en-US" sz="850" b="1" spc="110" kern="0" dirty="0">
                <a:solidFill>
                  <a:srgbClr val="FFFFFF"/>
                </a:solidFill>
                <a:latin typeface="Calibri" pitchFamily="34" charset="0"/>
                <a:ea typeface="Calibri" pitchFamily="34" charset="-122"/>
                <a:cs typeface="Calibri" pitchFamily="34" charset="-120"/>
              </a:rPr>
              <a:t>INDUSTRY × INDUSTRY FLOWS</a:t>
            </a:r>
            <a:endParaRPr lang="en-US" sz="850" dirty="0"/>
          </a:p>
        </p:txBody>
      </p:sp>
      <p:sp>
        <p:nvSpPr>
          <p:cNvPr id="11" name="Shape 7"/>
          <p:cNvSpPr/>
          <p:nvPr/>
        </p:nvSpPr>
        <p:spPr>
          <a:xfrm>
            <a:off x="1051560" y="2148840"/>
            <a:ext cx="429768" cy="429768"/>
          </a:xfrm>
          <a:prstGeom prst="rect">
            <a:avLst/>
          </a:prstGeom>
          <a:solidFill>
            <a:srgbClr val="108494"/>
          </a:solidFill>
          <a:ln w="9525">
            <a:solidFill>
              <a:srgbClr val="AFC0D0"/>
            </a:solidFill>
            <a:prstDash val="solid"/>
          </a:ln>
        </p:spPr>
      </p:sp>
      <p:sp>
        <p:nvSpPr>
          <p:cNvPr id="12" name="Shape 8"/>
          <p:cNvSpPr/>
          <p:nvPr/>
        </p:nvSpPr>
        <p:spPr>
          <a:xfrm>
            <a:off x="1554480" y="2148840"/>
            <a:ext cx="429768" cy="429768"/>
          </a:xfrm>
          <a:prstGeom prst="rect">
            <a:avLst/>
          </a:prstGeom>
          <a:solidFill>
            <a:srgbClr val="E3EDFC"/>
          </a:solidFill>
          <a:ln w="9525">
            <a:solidFill>
              <a:srgbClr val="AFC0D0"/>
            </a:solidFill>
            <a:prstDash val="solid"/>
          </a:ln>
        </p:spPr>
      </p:sp>
      <p:sp>
        <p:nvSpPr>
          <p:cNvPr id="13" name="Shape 9"/>
          <p:cNvSpPr/>
          <p:nvPr/>
        </p:nvSpPr>
        <p:spPr>
          <a:xfrm>
            <a:off x="2057400" y="2148840"/>
            <a:ext cx="429768" cy="429768"/>
          </a:xfrm>
          <a:prstGeom prst="rect">
            <a:avLst/>
          </a:prstGeom>
          <a:solidFill>
            <a:srgbClr val="EAF0F5"/>
          </a:solidFill>
          <a:ln w="9525">
            <a:solidFill>
              <a:srgbClr val="AFC0D0"/>
            </a:solidFill>
            <a:prstDash val="solid"/>
          </a:ln>
        </p:spPr>
      </p:sp>
      <p:sp>
        <p:nvSpPr>
          <p:cNvPr id="14" name="Shape 10"/>
          <p:cNvSpPr/>
          <p:nvPr/>
        </p:nvSpPr>
        <p:spPr>
          <a:xfrm>
            <a:off x="2560320" y="2148840"/>
            <a:ext cx="429768" cy="429768"/>
          </a:xfrm>
          <a:prstGeom prst="rect">
            <a:avLst/>
          </a:prstGeom>
          <a:solidFill>
            <a:srgbClr val="DCF2F4"/>
          </a:solidFill>
          <a:ln w="9525">
            <a:solidFill>
              <a:srgbClr val="AFC0D0"/>
            </a:solidFill>
            <a:prstDash val="solid"/>
          </a:ln>
        </p:spPr>
      </p:sp>
      <p:sp>
        <p:nvSpPr>
          <p:cNvPr id="15" name="Shape 11"/>
          <p:cNvSpPr/>
          <p:nvPr/>
        </p:nvSpPr>
        <p:spPr>
          <a:xfrm>
            <a:off x="1051560" y="2651760"/>
            <a:ext cx="429768" cy="429768"/>
          </a:xfrm>
          <a:prstGeom prst="rect">
            <a:avLst/>
          </a:prstGeom>
          <a:solidFill>
            <a:srgbClr val="EAF0F5"/>
          </a:solidFill>
          <a:ln w="9525">
            <a:solidFill>
              <a:srgbClr val="AFC0D0"/>
            </a:solidFill>
            <a:prstDash val="solid"/>
          </a:ln>
        </p:spPr>
      </p:sp>
      <p:sp>
        <p:nvSpPr>
          <p:cNvPr id="16" name="Shape 12"/>
          <p:cNvSpPr/>
          <p:nvPr/>
        </p:nvSpPr>
        <p:spPr>
          <a:xfrm>
            <a:off x="1554480" y="2651760"/>
            <a:ext cx="429768" cy="429768"/>
          </a:xfrm>
          <a:prstGeom prst="rect">
            <a:avLst/>
          </a:prstGeom>
          <a:solidFill>
            <a:srgbClr val="2F6FD0"/>
          </a:solidFill>
          <a:ln w="9525">
            <a:solidFill>
              <a:srgbClr val="AFC0D0"/>
            </a:solidFill>
            <a:prstDash val="solid"/>
          </a:ln>
        </p:spPr>
      </p:sp>
      <p:sp>
        <p:nvSpPr>
          <p:cNvPr id="17" name="Shape 13"/>
          <p:cNvSpPr/>
          <p:nvPr/>
        </p:nvSpPr>
        <p:spPr>
          <a:xfrm>
            <a:off x="2057400" y="2651760"/>
            <a:ext cx="429768" cy="429768"/>
          </a:xfrm>
          <a:prstGeom prst="rect">
            <a:avLst/>
          </a:prstGeom>
          <a:solidFill>
            <a:srgbClr val="E0F3E3"/>
          </a:solidFill>
          <a:ln w="9525">
            <a:solidFill>
              <a:srgbClr val="AFC0D0"/>
            </a:solidFill>
            <a:prstDash val="solid"/>
          </a:ln>
        </p:spPr>
      </p:sp>
      <p:sp>
        <p:nvSpPr>
          <p:cNvPr id="18" name="Shape 14"/>
          <p:cNvSpPr/>
          <p:nvPr/>
        </p:nvSpPr>
        <p:spPr>
          <a:xfrm>
            <a:off x="2560320" y="2651760"/>
            <a:ext cx="429768" cy="429768"/>
          </a:xfrm>
          <a:prstGeom prst="rect">
            <a:avLst/>
          </a:prstGeom>
          <a:solidFill>
            <a:srgbClr val="EAF0F5"/>
          </a:solidFill>
          <a:ln w="9525">
            <a:solidFill>
              <a:srgbClr val="AFC0D0"/>
            </a:solidFill>
            <a:prstDash val="solid"/>
          </a:ln>
        </p:spPr>
      </p:sp>
      <p:sp>
        <p:nvSpPr>
          <p:cNvPr id="19" name="Shape 15"/>
          <p:cNvSpPr/>
          <p:nvPr/>
        </p:nvSpPr>
        <p:spPr>
          <a:xfrm>
            <a:off x="1051560" y="3154680"/>
            <a:ext cx="429768" cy="429768"/>
          </a:xfrm>
          <a:prstGeom prst="rect">
            <a:avLst/>
          </a:prstGeom>
          <a:solidFill>
            <a:srgbClr val="DCF2F4"/>
          </a:solidFill>
          <a:ln w="9525">
            <a:solidFill>
              <a:srgbClr val="AFC0D0"/>
            </a:solidFill>
            <a:prstDash val="solid"/>
          </a:ln>
        </p:spPr>
      </p:sp>
      <p:sp>
        <p:nvSpPr>
          <p:cNvPr id="20" name="Shape 16"/>
          <p:cNvSpPr/>
          <p:nvPr/>
        </p:nvSpPr>
        <p:spPr>
          <a:xfrm>
            <a:off x="1554480" y="3154680"/>
            <a:ext cx="429768" cy="429768"/>
          </a:xfrm>
          <a:prstGeom prst="rect">
            <a:avLst/>
          </a:prstGeom>
          <a:solidFill>
            <a:srgbClr val="EAF0F5"/>
          </a:solidFill>
          <a:ln w="9525">
            <a:solidFill>
              <a:srgbClr val="AFC0D0"/>
            </a:solidFill>
            <a:prstDash val="solid"/>
          </a:ln>
        </p:spPr>
      </p:sp>
      <p:sp>
        <p:nvSpPr>
          <p:cNvPr id="21" name="Shape 17"/>
          <p:cNvSpPr/>
          <p:nvPr/>
        </p:nvSpPr>
        <p:spPr>
          <a:xfrm>
            <a:off x="2057400" y="3154680"/>
            <a:ext cx="429768" cy="429768"/>
          </a:xfrm>
          <a:prstGeom prst="rect">
            <a:avLst/>
          </a:prstGeom>
          <a:solidFill>
            <a:srgbClr val="108494"/>
          </a:solidFill>
          <a:ln w="9525">
            <a:solidFill>
              <a:srgbClr val="AFC0D0"/>
            </a:solidFill>
            <a:prstDash val="solid"/>
          </a:ln>
        </p:spPr>
      </p:sp>
      <p:sp>
        <p:nvSpPr>
          <p:cNvPr id="22" name="Shape 18"/>
          <p:cNvSpPr/>
          <p:nvPr/>
        </p:nvSpPr>
        <p:spPr>
          <a:xfrm>
            <a:off x="2560320" y="3154680"/>
            <a:ext cx="429768" cy="429768"/>
          </a:xfrm>
          <a:prstGeom prst="rect">
            <a:avLst/>
          </a:prstGeom>
          <a:solidFill>
            <a:srgbClr val="E3EDFC"/>
          </a:solidFill>
          <a:ln w="9525">
            <a:solidFill>
              <a:srgbClr val="AFC0D0"/>
            </a:solidFill>
            <a:prstDash val="solid"/>
          </a:ln>
        </p:spPr>
      </p:sp>
      <p:sp>
        <p:nvSpPr>
          <p:cNvPr id="23" name="Shape 19"/>
          <p:cNvSpPr/>
          <p:nvPr/>
        </p:nvSpPr>
        <p:spPr>
          <a:xfrm>
            <a:off x="1051560" y="3657600"/>
            <a:ext cx="429768" cy="429768"/>
          </a:xfrm>
          <a:prstGeom prst="rect">
            <a:avLst/>
          </a:prstGeom>
          <a:solidFill>
            <a:srgbClr val="EAF0F5"/>
          </a:solidFill>
          <a:ln w="9525">
            <a:solidFill>
              <a:srgbClr val="AFC0D0"/>
            </a:solidFill>
            <a:prstDash val="solid"/>
          </a:ln>
        </p:spPr>
      </p:sp>
      <p:sp>
        <p:nvSpPr>
          <p:cNvPr id="24" name="Shape 20"/>
          <p:cNvSpPr/>
          <p:nvPr/>
        </p:nvSpPr>
        <p:spPr>
          <a:xfrm>
            <a:off x="1554480" y="3657600"/>
            <a:ext cx="429768" cy="429768"/>
          </a:xfrm>
          <a:prstGeom prst="rect">
            <a:avLst/>
          </a:prstGeom>
          <a:solidFill>
            <a:srgbClr val="E0F3E3"/>
          </a:solidFill>
          <a:ln w="9525">
            <a:solidFill>
              <a:srgbClr val="AFC0D0"/>
            </a:solidFill>
            <a:prstDash val="solid"/>
          </a:ln>
        </p:spPr>
      </p:sp>
      <p:sp>
        <p:nvSpPr>
          <p:cNvPr id="25" name="Shape 21"/>
          <p:cNvSpPr/>
          <p:nvPr/>
        </p:nvSpPr>
        <p:spPr>
          <a:xfrm>
            <a:off x="2057400" y="3657600"/>
            <a:ext cx="429768" cy="429768"/>
          </a:xfrm>
          <a:prstGeom prst="rect">
            <a:avLst/>
          </a:prstGeom>
          <a:solidFill>
            <a:srgbClr val="EAF0F5"/>
          </a:solidFill>
          <a:ln w="9525">
            <a:solidFill>
              <a:srgbClr val="AFC0D0"/>
            </a:solidFill>
            <a:prstDash val="solid"/>
          </a:ln>
        </p:spPr>
      </p:sp>
      <p:sp>
        <p:nvSpPr>
          <p:cNvPr id="26" name="Shape 22"/>
          <p:cNvSpPr/>
          <p:nvPr/>
        </p:nvSpPr>
        <p:spPr>
          <a:xfrm>
            <a:off x="2560320" y="3657600"/>
            <a:ext cx="429768" cy="429768"/>
          </a:xfrm>
          <a:prstGeom prst="rect">
            <a:avLst/>
          </a:prstGeom>
          <a:solidFill>
            <a:srgbClr val="108494"/>
          </a:solidFill>
          <a:ln w="9525">
            <a:solidFill>
              <a:srgbClr val="AFC0D0"/>
            </a:solidFill>
            <a:prstDash val="solid"/>
          </a:ln>
        </p:spPr>
      </p:sp>
      <p:sp>
        <p:nvSpPr>
          <p:cNvPr id="27" name="Text 23"/>
          <p:cNvSpPr txBox="1"/>
          <p:nvPr/>
        </p:nvSpPr>
        <p:spPr>
          <a:xfrm>
            <a:off x="704088" y="2148840"/>
            <a:ext cx="384048" cy="2011680"/>
          </a:xfrm>
          <a:prstGeom prst="rect">
            <a:avLst/>
          </a:prstGeom>
          <a:noFill/>
          <a:ln/>
        </p:spPr>
        <p:txBody>
          <a:bodyPr wrap="square" lIns="0" tIns="0" rIns="0" bIns="0" rtlCol="0" anchor="ctr"/>
          <a:lstStyle/>
          <a:p>
            <a:pPr algn="ctr" indent="0" marL="0">
              <a:buNone/>
            </a:pPr>
            <a:r>
              <a:rPr lang="en-US" sz="750" dirty="0">
                <a:solidFill>
                  <a:srgbClr val="58697A"/>
                </a:solidFill>
                <a:latin typeface="Calibri" pitchFamily="34" charset="0"/>
                <a:ea typeface="Calibri" pitchFamily="34" charset="-122"/>
                <a:cs typeface="Calibri" pitchFamily="34" charset="-120"/>
              </a:rPr>
              <a:t>supplying</a:t>
            </a:r>
            <a:endParaRPr lang="en-US" sz="750" dirty="0"/>
          </a:p>
          <a:p>
            <a:pPr algn="ctr" indent="0" marL="0">
              <a:buNone/>
            </a:pPr>
            <a:r>
              <a:rPr lang="en-US" sz="750" dirty="0">
                <a:solidFill>
                  <a:srgbClr val="58697A"/>
                </a:solidFill>
                <a:latin typeface="Calibri" pitchFamily="34" charset="0"/>
                <a:ea typeface="Calibri" pitchFamily="34" charset="-122"/>
                <a:cs typeface="Calibri" pitchFamily="34" charset="-120"/>
              </a:rPr>
              <a:t>industry</a:t>
            </a:r>
            <a:endParaRPr lang="en-US" sz="750" dirty="0"/>
          </a:p>
        </p:txBody>
      </p:sp>
      <p:sp>
        <p:nvSpPr>
          <p:cNvPr id="28" name="Text 24"/>
          <p:cNvSpPr txBox="1"/>
          <p:nvPr/>
        </p:nvSpPr>
        <p:spPr>
          <a:xfrm>
            <a:off x="1051560" y="4187952"/>
            <a:ext cx="2011680" cy="219456"/>
          </a:xfrm>
          <a:prstGeom prst="rect">
            <a:avLst/>
          </a:prstGeom>
          <a:noFill/>
          <a:ln/>
        </p:spPr>
        <p:txBody>
          <a:bodyPr wrap="square" lIns="0" tIns="0" rIns="0" bIns="0" rtlCol="0" anchor="ctr"/>
          <a:lstStyle/>
          <a:p>
            <a:pPr algn="ctr" indent="0" marL="0">
              <a:buNone/>
            </a:pPr>
            <a:r>
              <a:rPr lang="en-US" sz="750" dirty="0">
                <a:solidFill>
                  <a:srgbClr val="58697A"/>
                </a:solidFill>
                <a:latin typeface="Calibri" pitchFamily="34" charset="0"/>
                <a:ea typeface="Calibri" pitchFamily="34" charset="-122"/>
                <a:cs typeface="Calibri" pitchFamily="34" charset="-120"/>
              </a:rPr>
              <a:t>using industry</a:t>
            </a:r>
            <a:endParaRPr lang="en-US" sz="750" dirty="0"/>
          </a:p>
        </p:txBody>
      </p:sp>
      <p:sp>
        <p:nvSpPr>
          <p:cNvPr id="29" name="Shape 25"/>
          <p:cNvSpPr/>
          <p:nvPr/>
        </p:nvSpPr>
        <p:spPr>
          <a:xfrm>
            <a:off x="4069080" y="2103120"/>
            <a:ext cx="2834640" cy="914400"/>
          </a:xfrm>
          <a:prstGeom prst="roundRect">
            <a:avLst>
              <a:gd name="adj" fmla="val 10000"/>
            </a:avLst>
          </a:prstGeom>
          <a:solidFill>
            <a:srgbClr val="DCF2F4"/>
          </a:solidFill>
          <a:ln w="15875">
            <a:solidFill>
              <a:srgbClr val="108494"/>
            </a:solidFill>
            <a:prstDash val="solid"/>
          </a:ln>
          <a:effectLst>
            <a:outerShdw sx="100000" sy="100000" kx="0" ky="0" algn="bl" rotWithShape="0" blurRad="101600" dist="19050" dir="5400000">
              <a:srgbClr val="9FB0C2">
                <a:alpha val="24000"/>
              </a:srgbClr>
            </a:outerShdw>
          </a:effectLst>
        </p:spPr>
      </p:sp>
      <p:pic>
        <p:nvPicPr>
          <p:cNvPr id="30" name="Image 2" descr="preencoded.png">    </p:cNvPr>
          <p:cNvPicPr>
            <a:picLocks noChangeAspect="1"/>
          </p:cNvPicPr>
          <p:nvPr/>
        </p:nvPicPr>
        <p:blipFill>
          <a:blip r:embed="rId3"/>
          <a:stretch>
            <a:fillRect/>
          </a:stretch>
        </p:blipFill>
        <p:spPr>
          <a:xfrm>
            <a:off x="4187952" y="2203704"/>
            <a:ext cx="182880" cy="182880"/>
          </a:xfrm>
          <a:prstGeom prst="rect">
            <a:avLst/>
          </a:prstGeom>
        </p:spPr>
      </p:pic>
      <p:sp>
        <p:nvSpPr>
          <p:cNvPr id="31" name="Text 26"/>
          <p:cNvSpPr txBox="1"/>
          <p:nvPr/>
        </p:nvSpPr>
        <p:spPr>
          <a:xfrm>
            <a:off x="4160520" y="2103120"/>
            <a:ext cx="2651760" cy="914400"/>
          </a:xfrm>
          <a:prstGeom prst="rect">
            <a:avLst/>
          </a:prstGeom>
          <a:noFill/>
          <a:ln/>
        </p:spPr>
        <p:txBody>
          <a:bodyPr wrap="square" lIns="0" tIns="0" rIns="0" bIns="0" rtlCol="0" anchor="ctr"/>
          <a:lstStyle/>
          <a:p>
            <a:pPr algn="ctr" indent="0" marL="0">
              <a:lnSpc>
                <a:spcPct val="104000"/>
              </a:lnSpc>
              <a:buNone/>
            </a:pPr>
            <a:r>
              <a:rPr lang="en-US" sz="700" b="1" spc="110" kern="0" dirty="0">
                <a:solidFill>
                  <a:srgbClr val="108494"/>
                </a:solidFill>
                <a:latin typeface="Calibri" pitchFamily="34" charset="0"/>
                <a:ea typeface="Calibri" pitchFamily="34" charset="-122"/>
                <a:cs typeface="Calibri" pitchFamily="34" charset="-120"/>
              </a:rPr>
              <a:t>TECHNICAL COEFFICIENTS</a:t>
            </a:r>
            <a:endParaRPr lang="en-US" sz="700" dirty="0"/>
          </a:p>
          <a:p>
            <a:pPr algn="ctr" indent="0" marL="0">
              <a:lnSpc>
                <a:spcPct val="104000"/>
              </a:lnSpc>
              <a:buNone/>
            </a:pPr>
            <a:r>
              <a:rPr lang="en-US" sz="1150" b="1" dirty="0">
                <a:solidFill>
                  <a:srgbClr val="0A4451"/>
                </a:solidFill>
                <a:latin typeface="Calibri" pitchFamily="34" charset="0"/>
                <a:ea typeface="Calibri" pitchFamily="34" charset="-122"/>
                <a:cs typeface="Calibri" pitchFamily="34" charset="-120"/>
              </a:rPr>
              <a:t>A[i,j] = flow[i,j] ÷ output[j]</a:t>
            </a:r>
            <a:endParaRPr lang="en-US" sz="700" dirty="0"/>
          </a:p>
          <a:p>
            <a:pPr algn="ctr" indent="0" marL="0">
              <a:lnSpc>
                <a:spcPct val="104000"/>
              </a:lnSpc>
              <a:buNone/>
            </a:pPr>
            <a:r>
              <a:rPr lang="en-US" sz="800" dirty="0">
                <a:solidFill>
                  <a:srgbClr val="0A4451"/>
                </a:solidFill>
                <a:latin typeface="Calibri" pitchFamily="34" charset="0"/>
                <a:ea typeface="Calibri" pitchFamily="34" charset="-122"/>
                <a:cs typeface="Calibri" pitchFamily="34" charset="-120"/>
              </a:rPr>
              <a:t>computed once per run</a:t>
            </a:r>
            <a:endParaRPr lang="en-US" sz="700" dirty="0"/>
          </a:p>
        </p:txBody>
      </p:sp>
      <p:sp>
        <p:nvSpPr>
          <p:cNvPr id="32" name="Shape 27"/>
          <p:cNvSpPr/>
          <p:nvPr/>
        </p:nvSpPr>
        <p:spPr>
          <a:xfrm flipV="1">
            <a:off x="3840480" y="2560320"/>
            <a:ext cx="182880" cy="502920"/>
          </a:xfrm>
          <a:prstGeom prst="line">
            <a:avLst/>
          </a:prstGeom>
          <a:noFill/>
          <a:ln w="17780">
            <a:solidFill>
              <a:srgbClr val="108494"/>
            </a:solidFill>
            <a:prstDash val="solid"/>
            <a:headEnd type="none"/>
            <a:tailEnd type="triangle"/>
          </a:ln>
        </p:spPr>
      </p:sp>
      <p:sp>
        <p:nvSpPr>
          <p:cNvPr id="33" name="Shape 28"/>
          <p:cNvSpPr/>
          <p:nvPr/>
        </p:nvSpPr>
        <p:spPr>
          <a:xfrm>
            <a:off x="4069080" y="3246120"/>
            <a:ext cx="2834640" cy="1234440"/>
          </a:xfrm>
          <a:prstGeom prst="roundRect">
            <a:avLst>
              <a:gd name="adj" fmla="val 7407"/>
            </a:avLst>
          </a:prstGeom>
          <a:solidFill>
            <a:srgbClr val="E8E1FB"/>
          </a:solidFill>
          <a:ln w="15875">
            <a:solidFill>
              <a:srgbClr val="7B5BD6"/>
            </a:solidFill>
            <a:prstDash val="solid"/>
          </a:ln>
          <a:effectLst>
            <a:outerShdw sx="100000" sy="100000" kx="0" ky="0" algn="bl" rotWithShape="0" blurRad="101600" dist="19050" dir="5400000">
              <a:srgbClr val="9FB0C2">
                <a:alpha val="24000"/>
              </a:srgbClr>
            </a:outerShdw>
          </a:effectLst>
        </p:spPr>
      </p:sp>
      <p:sp>
        <p:nvSpPr>
          <p:cNvPr id="34" name="Text 29"/>
          <p:cNvSpPr txBox="1"/>
          <p:nvPr/>
        </p:nvSpPr>
        <p:spPr>
          <a:xfrm>
            <a:off x="4160520" y="3346704"/>
            <a:ext cx="2651760" cy="182880"/>
          </a:xfrm>
          <a:prstGeom prst="rect">
            <a:avLst/>
          </a:prstGeom>
          <a:noFill/>
          <a:ln/>
        </p:spPr>
        <p:txBody>
          <a:bodyPr wrap="square" lIns="0" tIns="0" rIns="0" bIns="0" rtlCol="0" anchor="ctr"/>
          <a:lstStyle/>
          <a:p>
            <a:pPr algn="ctr" indent="0" marL="0">
              <a:buNone/>
            </a:pPr>
            <a:r>
              <a:rPr lang="en-US" sz="750" b="1" spc="110" kern="0" dirty="0">
                <a:solidFill>
                  <a:srgbClr val="6D4DD1"/>
                </a:solidFill>
                <a:latin typeface="Calibri" pitchFamily="34" charset="0"/>
                <a:ea typeface="Calibri" pitchFamily="34" charset="-122"/>
                <a:cs typeface="Calibri" pitchFamily="34" charset="-120"/>
              </a:rPr>
              <a:t>LEONTIEF INVERSE</a:t>
            </a:r>
            <a:endParaRPr lang="en-US" sz="750" dirty="0"/>
          </a:p>
        </p:txBody>
      </p:sp>
      <p:sp>
        <p:nvSpPr>
          <p:cNvPr id="35" name="Text 30"/>
          <p:cNvSpPr txBox="1"/>
          <p:nvPr/>
        </p:nvSpPr>
        <p:spPr>
          <a:xfrm>
            <a:off x="4160520" y="3566160"/>
            <a:ext cx="2651760" cy="457200"/>
          </a:xfrm>
          <a:prstGeom prst="rect">
            <a:avLst/>
          </a:prstGeom>
          <a:noFill/>
          <a:ln/>
        </p:spPr>
        <p:txBody>
          <a:bodyPr wrap="square" lIns="0" tIns="0" rIns="0" bIns="0" rtlCol="0" anchor="ctr"/>
          <a:lstStyle/>
          <a:p>
            <a:pPr algn="ctr" indent="0" marL="0">
              <a:buNone/>
            </a:pPr>
            <a:r>
              <a:rPr lang="en-US" sz="2400" b="1" dirty="0">
                <a:solidFill>
                  <a:srgbClr val="35236E"/>
                </a:solidFill>
                <a:latin typeface="Cambria" pitchFamily="34" charset="0"/>
                <a:ea typeface="Cambria" pitchFamily="34" charset="-122"/>
                <a:cs typeface="Cambria" pitchFamily="34" charset="-120"/>
              </a:rPr>
              <a:t>L = (I − A)</a:t>
            </a:r>
            <a:pPr algn="ctr" indent="0" marL="0">
              <a:buNone/>
            </a:pPr>
            <a:r>
              <a:rPr lang="en-US" sz="2400" b="1" baseline="30000" dirty="0">
                <a:solidFill>
                  <a:srgbClr val="35236E"/>
                </a:solidFill>
                <a:latin typeface="Cambria" pitchFamily="34" charset="0"/>
                <a:ea typeface="Cambria" pitchFamily="34" charset="-122"/>
                <a:cs typeface="Cambria" pitchFamily="34" charset="-120"/>
              </a:rPr>
              <a:t>−1</a:t>
            </a:r>
            <a:endParaRPr lang="en-US" sz="2400" dirty="0"/>
          </a:p>
        </p:txBody>
      </p:sp>
      <p:sp>
        <p:nvSpPr>
          <p:cNvPr id="36" name="Text 31"/>
          <p:cNvSpPr txBox="1"/>
          <p:nvPr/>
        </p:nvSpPr>
        <p:spPr>
          <a:xfrm>
            <a:off x="4206240" y="4005072"/>
            <a:ext cx="2560320" cy="365760"/>
          </a:xfrm>
          <a:prstGeom prst="rect">
            <a:avLst/>
          </a:prstGeom>
          <a:noFill/>
          <a:ln/>
        </p:spPr>
        <p:txBody>
          <a:bodyPr wrap="square" lIns="0" tIns="0" rIns="0" bIns="0" rtlCol="0" anchor="ctr"/>
          <a:lstStyle/>
          <a:p>
            <a:pPr algn="ctr" indent="0" marL="0">
              <a:buNone/>
            </a:pPr>
            <a:r>
              <a:rPr lang="en-US" sz="820" dirty="0">
                <a:solidFill>
                  <a:srgbClr val="35236E"/>
                </a:solidFill>
                <a:latin typeface="Calibri" pitchFamily="34" charset="0"/>
                <a:ea typeface="Calibri" pitchFamily="34" charset="-122"/>
                <a:cs typeface="Calibri" pitchFamily="34" charset="-120"/>
              </a:rPr>
              <a:t>direct plus indirect share of an industry's inputs or outputs tracing to the theme's core sectors</a:t>
            </a:r>
            <a:endParaRPr lang="en-US" sz="820" dirty="0"/>
          </a:p>
        </p:txBody>
      </p:sp>
      <p:sp>
        <p:nvSpPr>
          <p:cNvPr id="37" name="Shape 32"/>
          <p:cNvSpPr/>
          <p:nvPr/>
        </p:nvSpPr>
        <p:spPr>
          <a:xfrm>
            <a:off x="5486400" y="3035808"/>
            <a:ext cx="0" cy="173736"/>
          </a:xfrm>
          <a:prstGeom prst="line">
            <a:avLst/>
          </a:prstGeom>
          <a:noFill/>
          <a:ln w="17780">
            <a:solidFill>
              <a:srgbClr val="108494"/>
            </a:solidFill>
            <a:prstDash val="solid"/>
            <a:headEnd type="none"/>
            <a:tailEnd type="triangle"/>
          </a:ln>
        </p:spPr>
      </p:sp>
      <p:sp>
        <p:nvSpPr>
          <p:cNvPr id="38" name="Shape 33"/>
          <p:cNvSpPr/>
          <p:nvPr/>
        </p:nvSpPr>
        <p:spPr>
          <a:xfrm>
            <a:off x="7635240" y="1691640"/>
            <a:ext cx="3959352" cy="777240"/>
          </a:xfrm>
          <a:prstGeom prst="roundRect">
            <a:avLst>
              <a:gd name="adj" fmla="val 11765"/>
            </a:avLst>
          </a:prstGeom>
          <a:solidFill>
            <a:srgbClr val="E3EDFC"/>
          </a:solidFill>
          <a:ln w="15875">
            <a:solidFill>
              <a:srgbClr val="2F6FD0"/>
            </a:solidFill>
            <a:prstDash val="solid"/>
          </a:ln>
          <a:effectLst>
            <a:outerShdw sx="100000" sy="100000" kx="0" ky="0" algn="bl" rotWithShape="0" blurRad="101600" dist="19050" dir="5400000">
              <a:srgbClr val="9FB0C2">
                <a:alpha val="24000"/>
              </a:srgbClr>
            </a:outerShdw>
          </a:effectLst>
        </p:spPr>
      </p:sp>
      <p:pic>
        <p:nvPicPr>
          <p:cNvPr id="39" name="Image 3" descr="preencoded.png">    </p:cNvPr>
          <p:cNvPicPr>
            <a:picLocks noChangeAspect="1"/>
          </p:cNvPicPr>
          <p:nvPr/>
        </p:nvPicPr>
        <p:blipFill>
          <a:blip r:embed="rId4"/>
          <a:stretch>
            <a:fillRect/>
          </a:stretch>
        </p:blipFill>
        <p:spPr>
          <a:xfrm>
            <a:off x="7754112" y="1792224"/>
            <a:ext cx="182880" cy="182880"/>
          </a:xfrm>
          <a:prstGeom prst="rect">
            <a:avLst/>
          </a:prstGeom>
        </p:spPr>
      </p:pic>
      <p:sp>
        <p:nvSpPr>
          <p:cNvPr id="40" name="Text 34"/>
          <p:cNvSpPr txBox="1"/>
          <p:nvPr/>
        </p:nvSpPr>
        <p:spPr>
          <a:xfrm>
            <a:off x="7726680" y="1691640"/>
            <a:ext cx="3776472" cy="777240"/>
          </a:xfrm>
          <a:prstGeom prst="rect">
            <a:avLst/>
          </a:prstGeom>
          <a:noFill/>
          <a:ln/>
        </p:spPr>
        <p:txBody>
          <a:bodyPr wrap="square" lIns="0" tIns="0" rIns="0" bIns="0" rtlCol="0" anchor="ctr"/>
          <a:lstStyle/>
          <a:p>
            <a:pPr algn="ctr" indent="0" marL="0">
              <a:lnSpc>
                <a:spcPct val="104000"/>
              </a:lnSpc>
              <a:buNone/>
            </a:pPr>
            <a:r>
              <a:rPr lang="en-US" sz="700" b="1" spc="110" kern="0" dirty="0">
                <a:solidFill>
                  <a:srgbClr val="2F6FD0"/>
                </a:solidFill>
                <a:latin typeface="Calibri" pitchFamily="34" charset="0"/>
                <a:ea typeface="Calibri" pitchFamily="34" charset="-122"/>
                <a:cs typeface="Calibri" pitchFamily="34" charset="-120"/>
              </a:rPr>
              <a:t>UPSTREAM</a:t>
            </a:r>
            <a:endParaRPr lang="en-US" sz="700" dirty="0"/>
          </a:p>
          <a:p>
            <a:pPr algn="ctr" indent="0" marL="0">
              <a:lnSpc>
                <a:spcPct val="104000"/>
              </a:lnSpc>
              <a:buNone/>
            </a:pPr>
            <a:r>
              <a:rPr lang="en-US" sz="1050" b="1" dirty="0">
                <a:solidFill>
                  <a:srgbClr val="153A61"/>
                </a:solidFill>
                <a:latin typeface="Calibri" pitchFamily="34" charset="0"/>
                <a:ea typeface="Calibri" pitchFamily="34" charset="-122"/>
                <a:cs typeface="Calibri" pitchFamily="34" charset="-120"/>
              </a:rPr>
              <a:t>Its inputs trace back to the theme</a:t>
            </a:r>
            <a:endParaRPr lang="en-US" sz="700" dirty="0"/>
          </a:p>
          <a:p>
            <a:pPr algn="ctr" indent="0" marL="0">
              <a:lnSpc>
                <a:spcPct val="104000"/>
              </a:lnSpc>
              <a:buNone/>
            </a:pPr>
            <a:r>
              <a:rPr lang="en-US" sz="800" dirty="0">
                <a:solidFill>
                  <a:srgbClr val="153A61"/>
                </a:solidFill>
                <a:latin typeface="Calibri" pitchFamily="34" charset="0"/>
                <a:ea typeface="Calibri" pitchFamily="34" charset="-122"/>
                <a:cs typeface="Calibri" pitchFamily="34" charset="-120"/>
              </a:rPr>
              <a:t>a miner supplying battery manufacturing</a:t>
            </a:r>
            <a:endParaRPr lang="en-US" sz="700" dirty="0"/>
          </a:p>
        </p:txBody>
      </p:sp>
      <p:sp>
        <p:nvSpPr>
          <p:cNvPr id="41" name="Shape 35"/>
          <p:cNvSpPr/>
          <p:nvPr/>
        </p:nvSpPr>
        <p:spPr>
          <a:xfrm>
            <a:off x="7635240" y="2633472"/>
            <a:ext cx="3959352" cy="777240"/>
          </a:xfrm>
          <a:prstGeom prst="roundRect">
            <a:avLst>
              <a:gd name="adj" fmla="val 11765"/>
            </a:avLst>
          </a:prstGeom>
          <a:solidFill>
            <a:srgbClr val="E0F3E3"/>
          </a:solidFill>
          <a:ln w="15875">
            <a:solidFill>
              <a:srgbClr val="2F8F48"/>
            </a:solidFill>
            <a:prstDash val="solid"/>
          </a:ln>
          <a:effectLst>
            <a:outerShdw sx="100000" sy="100000" kx="0" ky="0" algn="bl" rotWithShape="0" blurRad="101600" dist="19050" dir="5400000">
              <a:srgbClr val="9FB0C2">
                <a:alpha val="24000"/>
              </a:srgbClr>
            </a:outerShdw>
          </a:effectLst>
        </p:spPr>
      </p:sp>
      <p:pic>
        <p:nvPicPr>
          <p:cNvPr id="42" name="Image 4" descr="preencoded.png">    </p:cNvPr>
          <p:cNvPicPr>
            <a:picLocks noChangeAspect="1"/>
          </p:cNvPicPr>
          <p:nvPr/>
        </p:nvPicPr>
        <p:blipFill>
          <a:blip r:embed="rId5"/>
          <a:stretch>
            <a:fillRect/>
          </a:stretch>
        </p:blipFill>
        <p:spPr>
          <a:xfrm>
            <a:off x="7754112" y="2734056"/>
            <a:ext cx="182880" cy="182880"/>
          </a:xfrm>
          <a:prstGeom prst="rect">
            <a:avLst/>
          </a:prstGeom>
        </p:spPr>
      </p:pic>
      <p:sp>
        <p:nvSpPr>
          <p:cNvPr id="43" name="Text 36"/>
          <p:cNvSpPr txBox="1"/>
          <p:nvPr/>
        </p:nvSpPr>
        <p:spPr>
          <a:xfrm>
            <a:off x="7726680" y="2633472"/>
            <a:ext cx="3776472" cy="777240"/>
          </a:xfrm>
          <a:prstGeom prst="rect">
            <a:avLst/>
          </a:prstGeom>
          <a:noFill/>
          <a:ln/>
        </p:spPr>
        <p:txBody>
          <a:bodyPr wrap="square" lIns="0" tIns="0" rIns="0" bIns="0" rtlCol="0" anchor="ctr"/>
          <a:lstStyle/>
          <a:p>
            <a:pPr algn="ctr" indent="0" marL="0">
              <a:lnSpc>
                <a:spcPct val="104000"/>
              </a:lnSpc>
              <a:buNone/>
            </a:pPr>
            <a:r>
              <a:rPr lang="en-US" sz="700" b="1" spc="110" kern="0" dirty="0">
                <a:solidFill>
                  <a:srgbClr val="2F8F48"/>
                </a:solidFill>
                <a:latin typeface="Calibri" pitchFamily="34" charset="0"/>
                <a:ea typeface="Calibri" pitchFamily="34" charset="-122"/>
                <a:cs typeface="Calibri" pitchFamily="34" charset="-120"/>
              </a:rPr>
              <a:t>DOWNSTREAM</a:t>
            </a:r>
            <a:endParaRPr lang="en-US" sz="700" dirty="0"/>
          </a:p>
          <a:p>
            <a:pPr algn="ctr" indent="0" marL="0">
              <a:lnSpc>
                <a:spcPct val="104000"/>
              </a:lnSpc>
              <a:buNone/>
            </a:pPr>
            <a:r>
              <a:rPr lang="en-US" sz="1050" b="1" dirty="0">
                <a:solidFill>
                  <a:srgbClr val="17431F"/>
                </a:solidFill>
                <a:latin typeface="Calibri" pitchFamily="34" charset="0"/>
                <a:ea typeface="Calibri" pitchFamily="34" charset="-122"/>
                <a:cs typeface="Calibri" pitchFamily="34" charset="-120"/>
              </a:rPr>
              <a:t>Its output flows into the theme</a:t>
            </a:r>
            <a:endParaRPr lang="en-US" sz="700" dirty="0"/>
          </a:p>
          <a:p>
            <a:pPr algn="ctr" indent="0" marL="0">
              <a:lnSpc>
                <a:spcPct val="104000"/>
              </a:lnSpc>
              <a:buNone/>
            </a:pPr>
            <a:r>
              <a:rPr lang="en-US" sz="800" dirty="0">
                <a:solidFill>
                  <a:srgbClr val="17431F"/>
                </a:solidFill>
                <a:latin typeface="Calibri" pitchFamily="34" charset="0"/>
                <a:ea typeface="Calibri" pitchFamily="34" charset="-122"/>
                <a:cs typeface="Calibri" pitchFamily="34" charset="-120"/>
              </a:rPr>
              <a:t>a utility whose demand is driven by EV charging</a:t>
            </a:r>
            <a:endParaRPr lang="en-US" sz="700" dirty="0"/>
          </a:p>
        </p:txBody>
      </p:sp>
      <p:sp>
        <p:nvSpPr>
          <p:cNvPr id="44" name="Shape 37"/>
          <p:cNvSpPr/>
          <p:nvPr/>
        </p:nvSpPr>
        <p:spPr>
          <a:xfrm flipV="1">
            <a:off x="6949440" y="2103120"/>
            <a:ext cx="630936" cy="1463040"/>
          </a:xfrm>
          <a:prstGeom prst="line">
            <a:avLst/>
          </a:prstGeom>
          <a:noFill/>
          <a:ln w="17780">
            <a:solidFill>
              <a:srgbClr val="2F6FD0"/>
            </a:solidFill>
            <a:prstDash val="solid"/>
            <a:headEnd type="none"/>
            <a:tailEnd type="triangle"/>
          </a:ln>
        </p:spPr>
      </p:sp>
      <p:sp>
        <p:nvSpPr>
          <p:cNvPr id="45" name="Shape 38"/>
          <p:cNvSpPr/>
          <p:nvPr/>
        </p:nvSpPr>
        <p:spPr>
          <a:xfrm flipV="1">
            <a:off x="6949440" y="3017520"/>
            <a:ext cx="630936" cy="731520"/>
          </a:xfrm>
          <a:prstGeom prst="line">
            <a:avLst/>
          </a:prstGeom>
          <a:noFill/>
          <a:ln w="17780">
            <a:solidFill>
              <a:srgbClr val="2F8F48"/>
            </a:solidFill>
            <a:prstDash val="solid"/>
            <a:headEnd type="none"/>
            <a:tailEnd type="triangle"/>
          </a:ln>
        </p:spPr>
      </p:sp>
      <p:sp>
        <p:nvSpPr>
          <p:cNvPr id="46" name="Text 39"/>
          <p:cNvSpPr txBox="1"/>
          <p:nvPr/>
        </p:nvSpPr>
        <p:spPr>
          <a:xfrm>
            <a:off x="6995160" y="3456432"/>
            <a:ext cx="640080" cy="182880"/>
          </a:xfrm>
          <a:prstGeom prst="rect">
            <a:avLst/>
          </a:prstGeom>
          <a:noFill/>
          <a:ln/>
        </p:spPr>
        <p:txBody>
          <a:bodyPr wrap="square" lIns="0" tIns="0" rIns="0" bIns="0" rtlCol="0" anchor="ctr"/>
          <a:lstStyle/>
          <a:p>
            <a:pPr algn="ctr" indent="0" marL="0">
              <a:buNone/>
            </a:pPr>
            <a:endParaRPr lang="en-US" sz="750" dirty="0"/>
          </a:p>
        </p:txBody>
      </p:sp>
      <p:sp>
        <p:nvSpPr>
          <p:cNvPr id="47" name="Shape 40"/>
          <p:cNvSpPr/>
          <p:nvPr/>
        </p:nvSpPr>
        <p:spPr>
          <a:xfrm>
            <a:off x="7635240" y="3703320"/>
            <a:ext cx="3959352" cy="777240"/>
          </a:xfrm>
          <a:prstGeom prst="roundRect">
            <a:avLst>
              <a:gd name="adj" fmla="val 11765"/>
            </a:avLst>
          </a:prstGeom>
          <a:solidFill>
            <a:srgbClr val="FCEDD4"/>
          </a:solidFill>
          <a:ln w="15875">
            <a:solidFill>
              <a:srgbClr val="C9871B"/>
            </a:solidFill>
            <a:prstDash val="solid"/>
          </a:ln>
          <a:effectLst>
            <a:outerShdw sx="100000" sy="100000" kx="0" ky="0" algn="bl" rotWithShape="0" blurRad="101600" dist="19050" dir="5400000">
              <a:srgbClr val="9FB0C2">
                <a:alpha val="24000"/>
              </a:srgbClr>
            </a:outerShdw>
          </a:effectLst>
        </p:spPr>
      </p:sp>
      <p:pic>
        <p:nvPicPr>
          <p:cNvPr id="48" name="Image 5" descr="preencoded.png">    </p:cNvPr>
          <p:cNvPicPr>
            <a:picLocks noChangeAspect="1"/>
          </p:cNvPicPr>
          <p:nvPr/>
        </p:nvPicPr>
        <p:blipFill>
          <a:blip r:embed="rId6"/>
          <a:stretch>
            <a:fillRect/>
          </a:stretch>
        </p:blipFill>
        <p:spPr>
          <a:xfrm>
            <a:off x="7754112" y="3803904"/>
            <a:ext cx="182880" cy="182880"/>
          </a:xfrm>
          <a:prstGeom prst="rect">
            <a:avLst/>
          </a:prstGeom>
        </p:spPr>
      </p:pic>
      <p:sp>
        <p:nvSpPr>
          <p:cNvPr id="49" name="Text 41"/>
          <p:cNvSpPr txBox="1"/>
          <p:nvPr/>
        </p:nvSpPr>
        <p:spPr>
          <a:xfrm>
            <a:off x="7726680" y="3703320"/>
            <a:ext cx="3776472" cy="777240"/>
          </a:xfrm>
          <a:prstGeom prst="rect">
            <a:avLst/>
          </a:prstGeom>
          <a:noFill/>
          <a:ln/>
        </p:spPr>
        <p:txBody>
          <a:bodyPr wrap="square" lIns="0" tIns="0" rIns="0" bIns="0" rtlCol="0" anchor="ctr"/>
          <a:lstStyle/>
          <a:p>
            <a:pPr algn="ctr" indent="0" marL="0">
              <a:lnSpc>
                <a:spcPct val="104000"/>
              </a:lnSpc>
              <a:buNone/>
            </a:pPr>
            <a:r>
              <a:rPr lang="en-US" sz="700" b="1" spc="110" kern="0" dirty="0">
                <a:solidFill>
                  <a:srgbClr val="C9871B"/>
                </a:solidFill>
                <a:latin typeface="Calibri" pitchFamily="34" charset="0"/>
                <a:ea typeface="Calibri" pitchFamily="34" charset="-122"/>
                <a:cs typeface="Calibri" pitchFamily="34" charset="-120"/>
              </a:rPr>
              <a:t>WHAT IT ACTUALLY CHANGES</a:t>
            </a:r>
            <a:endParaRPr lang="en-US" sz="700" dirty="0"/>
          </a:p>
          <a:p>
            <a:pPr algn="ctr" indent="0" marL="0">
              <a:lnSpc>
                <a:spcPct val="104000"/>
              </a:lnSpc>
              <a:buNone/>
            </a:pPr>
            <a:r>
              <a:rPr lang="en-US" sz="1050" b="1" dirty="0">
                <a:solidFill>
                  <a:srgbClr val="64430A"/>
                </a:solidFill>
                <a:latin typeface="Calibri" pitchFamily="34" charset="0"/>
                <a:ea typeface="Calibri" pitchFamily="34" charset="-122"/>
                <a:cs typeface="Calibri" pitchFamily="34" charset="-120"/>
              </a:rPr>
              <a:t>The no-evidence path</a:t>
            </a:r>
            <a:endParaRPr lang="en-US" sz="700" dirty="0"/>
          </a:p>
          <a:p>
            <a:pPr algn="ctr" indent="0" marL="0">
              <a:lnSpc>
                <a:spcPct val="104000"/>
              </a:lnSpc>
              <a:buNone/>
            </a:pPr>
            <a:r>
              <a:rPr lang="en-US" sz="800" dirty="0">
                <a:solidFill>
                  <a:srgbClr val="64430A"/>
                </a:solidFill>
                <a:latin typeface="Calibri" pitchFamily="34" charset="0"/>
                <a:ea typeface="Calibri" pitchFamily="34" charset="-122"/>
                <a:cs typeface="Calibri" pitchFamily="34" charset="-120"/>
              </a:rPr>
              <a:t>above the threshold, a silent company is queued for review instead of dropped</a:t>
            </a:r>
            <a:endParaRPr lang="en-US" sz="700" dirty="0"/>
          </a:p>
        </p:txBody>
      </p:sp>
      <p:sp>
        <p:nvSpPr>
          <p:cNvPr id="50" name="Shape 42"/>
          <p:cNvSpPr/>
          <p:nvPr/>
        </p:nvSpPr>
        <p:spPr>
          <a:xfrm>
            <a:off x="594360" y="4709160"/>
            <a:ext cx="11000232" cy="1097280"/>
          </a:xfrm>
          <a:prstGeom prst="roundRect">
            <a:avLst>
              <a:gd name="adj" fmla="val 3333"/>
            </a:avLst>
          </a:prstGeom>
          <a:solidFill>
            <a:srgbClr val="F4F7FA"/>
          </a:solidFill>
          <a:ln w="15875">
            <a:solidFill>
              <a:srgbClr val="DDE5ED"/>
            </a:solidFill>
            <a:prstDash val="solid"/>
          </a:ln>
        </p:spPr>
      </p:sp>
      <p:sp>
        <p:nvSpPr>
          <p:cNvPr id="51" name="Text 43"/>
          <p:cNvSpPr txBox="1"/>
          <p:nvPr/>
        </p:nvSpPr>
        <p:spPr>
          <a:xfrm>
            <a:off x="813816" y="4782312"/>
            <a:ext cx="10561320" cy="950976"/>
          </a:xfrm>
          <a:prstGeom prst="rect">
            <a:avLst/>
          </a:prstGeom>
          <a:noFill/>
          <a:ln/>
        </p:spPr>
        <p:txBody>
          <a:bodyPr wrap="square" lIns="0" tIns="0" rIns="0" bIns="0" rtlCol="0" anchor="ctr"/>
          <a:lstStyle/>
          <a:p>
            <a:pPr indent="0" marL="0">
              <a:lnSpc>
                <a:spcPct val="106000"/>
              </a:lnSpc>
              <a:buNone/>
            </a:pPr>
            <a:r>
              <a:rPr lang="en-US" sz="940" b="1" dirty="0">
                <a:solidFill>
                  <a:srgbClr val="108494"/>
                </a:solidFill>
                <a:latin typeface="Calibri" pitchFamily="34" charset="0"/>
                <a:ea typeface="Calibri" pitchFamily="34" charset="-122"/>
                <a:cs typeface="Calibri" pitchFamily="34" charset="-120"/>
              </a:rPr>
              <a:t>No LLM in the mathematics.  </a:t>
            </a:r>
            <a:pPr indent="0" marL="0">
              <a:lnSpc>
                <a:spcPct val="106000"/>
              </a:lnSpc>
              <a:buNone/>
            </a:pPr>
            <a:r>
              <a:rPr lang="en-US" sz="940" dirty="0">
                <a:solidFill>
                  <a:srgbClr val="43566B"/>
                </a:solidFill>
                <a:latin typeface="Calibri" pitchFamily="34" charset="0"/>
                <a:ea typeface="Calibri" pitchFamily="34" charset="-122"/>
                <a:cs typeface="Calibri" pitchFamily="34" charset="-120"/>
              </a:rPr>
              <a:t>The only model calls are two cheap, one-off classification steps around it: mapping each taxonomy activity to ISIC codes, and mapping each company to its industry — both skippable by supplying codes in the universe file, and both reusable across the whole run. A code the loaded model does not contain is rejected outright rather than coerced, because a wrong industry code would corrupt every number computed from it.
</a:t>
            </a:r>
            <a:pPr indent="0" marL="0">
              <a:lnSpc>
                <a:spcPct val="106000"/>
              </a:lnSpc>
              <a:buNone/>
            </a:pPr>
            <a:r>
              <a:rPr lang="en-US" sz="940" b="1" dirty="0">
                <a:solidFill>
                  <a:srgbClr val="C9871B"/>
                </a:solidFill>
                <a:latin typeface="Calibri" pitchFamily="34" charset="0"/>
                <a:ea typeface="Calibri" pitchFamily="34" charset="-122"/>
                <a:cs typeface="Calibri" pitchFamily="34" charset="-120"/>
              </a:rPr>
              <a:t>Opt-in: </a:t>
            </a:r>
            <a:pPr indent="0" marL="0">
              <a:lnSpc>
                <a:spcPct val="106000"/>
              </a:lnSpc>
              <a:buNone/>
            </a:pPr>
            <a:r>
              <a:rPr lang="en-US" sz="940" dirty="0">
                <a:solidFill>
                  <a:srgbClr val="43566B"/>
                </a:solidFill>
                <a:latin typeface="Calibri" pitchFamily="34" charset="0"/>
                <a:ea typeface="Calibri" pitchFamily="34" charset="-122"/>
                <a:cs typeface="Calibri" pitchFamily="34" charset="-120"/>
              </a:rPr>
              <a:t>off unless an input-output dataset is configured, and carried in its own field — never blended into the qualitative verdict the debate produced.</a:t>
            </a:r>
            <a:endParaRPr lang="en-US" sz="940" dirty="0"/>
          </a:p>
        </p:txBody>
      </p:sp>
      <p:sp>
        <p:nvSpPr>
          <p:cNvPr id="52" name="Shape 44"/>
          <p:cNvSpPr/>
          <p:nvPr/>
        </p:nvSpPr>
        <p:spPr>
          <a:xfrm>
            <a:off x="594360" y="6062472"/>
            <a:ext cx="155448" cy="155448"/>
          </a:xfrm>
          <a:prstGeom prst="roundRect">
            <a:avLst>
              <a:gd name="adj" fmla="val 29412"/>
            </a:avLst>
          </a:prstGeom>
          <a:solidFill>
            <a:srgbClr val="2F6FD0"/>
          </a:solidFill>
          <a:ln/>
        </p:spPr>
      </p:sp>
      <p:sp>
        <p:nvSpPr>
          <p:cNvPr id="53" name="Text 45"/>
          <p:cNvSpPr txBox="1"/>
          <p:nvPr/>
        </p:nvSpPr>
        <p:spPr>
          <a:xfrm>
            <a:off x="813816" y="6035040"/>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source / input</a:t>
            </a:r>
            <a:endParaRPr lang="en-US" sz="880" dirty="0"/>
          </a:p>
        </p:txBody>
      </p:sp>
      <p:sp>
        <p:nvSpPr>
          <p:cNvPr id="54" name="Shape 46"/>
          <p:cNvSpPr/>
          <p:nvPr/>
        </p:nvSpPr>
        <p:spPr>
          <a:xfrm>
            <a:off x="2427732" y="6062472"/>
            <a:ext cx="155448" cy="155448"/>
          </a:xfrm>
          <a:prstGeom prst="roundRect">
            <a:avLst>
              <a:gd name="adj" fmla="val 29412"/>
            </a:avLst>
          </a:prstGeom>
          <a:solidFill>
            <a:srgbClr val="108494"/>
          </a:solidFill>
          <a:ln/>
        </p:spPr>
      </p:sp>
      <p:sp>
        <p:nvSpPr>
          <p:cNvPr id="55" name="Text 47"/>
          <p:cNvSpPr txBox="1"/>
          <p:nvPr/>
        </p:nvSpPr>
        <p:spPr>
          <a:xfrm>
            <a:off x="2647188" y="6035040"/>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deterministic step</a:t>
            </a:r>
            <a:endParaRPr lang="en-US" sz="880" dirty="0"/>
          </a:p>
        </p:txBody>
      </p:sp>
      <p:sp>
        <p:nvSpPr>
          <p:cNvPr id="56" name="Shape 48"/>
          <p:cNvSpPr/>
          <p:nvPr/>
        </p:nvSpPr>
        <p:spPr>
          <a:xfrm>
            <a:off x="4261104" y="6062472"/>
            <a:ext cx="155448" cy="155448"/>
          </a:xfrm>
          <a:prstGeom prst="roundRect">
            <a:avLst>
              <a:gd name="adj" fmla="val 29412"/>
            </a:avLst>
          </a:prstGeom>
          <a:solidFill>
            <a:srgbClr val="6D4DD1"/>
          </a:solidFill>
          <a:ln/>
        </p:spPr>
      </p:sp>
      <p:sp>
        <p:nvSpPr>
          <p:cNvPr id="57" name="Text 49"/>
          <p:cNvSpPr txBox="1"/>
          <p:nvPr/>
        </p:nvSpPr>
        <p:spPr>
          <a:xfrm>
            <a:off x="4480560" y="6035040"/>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LLM agent</a:t>
            </a:r>
            <a:endParaRPr lang="en-US" sz="880" dirty="0"/>
          </a:p>
        </p:txBody>
      </p:sp>
      <p:sp>
        <p:nvSpPr>
          <p:cNvPr id="58" name="Shape 50"/>
          <p:cNvSpPr/>
          <p:nvPr/>
        </p:nvSpPr>
        <p:spPr>
          <a:xfrm>
            <a:off x="6094476" y="6062472"/>
            <a:ext cx="155448" cy="155448"/>
          </a:xfrm>
          <a:prstGeom prst="roundRect">
            <a:avLst>
              <a:gd name="adj" fmla="val 29412"/>
            </a:avLst>
          </a:prstGeom>
          <a:solidFill>
            <a:srgbClr val="C9871B"/>
          </a:solidFill>
          <a:ln/>
        </p:spPr>
      </p:sp>
      <p:sp>
        <p:nvSpPr>
          <p:cNvPr id="59" name="Text 51"/>
          <p:cNvSpPr txBox="1"/>
          <p:nvPr/>
        </p:nvSpPr>
        <p:spPr>
          <a:xfrm>
            <a:off x="6313932" y="6035040"/>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gate or check</a:t>
            </a:r>
            <a:endParaRPr lang="en-US" sz="880" dirty="0"/>
          </a:p>
        </p:txBody>
      </p:sp>
      <p:sp>
        <p:nvSpPr>
          <p:cNvPr id="60" name="Shape 52"/>
          <p:cNvSpPr/>
          <p:nvPr/>
        </p:nvSpPr>
        <p:spPr>
          <a:xfrm>
            <a:off x="7927848" y="6062472"/>
            <a:ext cx="155448" cy="155448"/>
          </a:xfrm>
          <a:prstGeom prst="roundRect">
            <a:avLst>
              <a:gd name="adj" fmla="val 29412"/>
            </a:avLst>
          </a:prstGeom>
          <a:solidFill>
            <a:srgbClr val="CE3D64"/>
          </a:solidFill>
          <a:ln/>
        </p:spPr>
      </p:sp>
      <p:sp>
        <p:nvSpPr>
          <p:cNvPr id="61" name="Text 53"/>
          <p:cNvSpPr txBox="1"/>
          <p:nvPr/>
        </p:nvSpPr>
        <p:spPr>
          <a:xfrm>
            <a:off x="8147304" y="6035040"/>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human decision</a:t>
            </a:r>
            <a:endParaRPr lang="en-US" sz="880" dirty="0"/>
          </a:p>
        </p:txBody>
      </p:sp>
      <p:sp>
        <p:nvSpPr>
          <p:cNvPr id="62" name="Shape 54"/>
          <p:cNvSpPr/>
          <p:nvPr/>
        </p:nvSpPr>
        <p:spPr>
          <a:xfrm>
            <a:off x="9761220" y="6062472"/>
            <a:ext cx="155448" cy="155448"/>
          </a:xfrm>
          <a:prstGeom prst="roundRect">
            <a:avLst>
              <a:gd name="adj" fmla="val 29412"/>
            </a:avLst>
          </a:prstGeom>
          <a:solidFill>
            <a:srgbClr val="2F8F48"/>
          </a:solidFill>
          <a:ln/>
        </p:spPr>
      </p:sp>
      <p:sp>
        <p:nvSpPr>
          <p:cNvPr id="63" name="Text 55"/>
          <p:cNvSpPr txBox="1"/>
          <p:nvPr/>
        </p:nvSpPr>
        <p:spPr>
          <a:xfrm>
            <a:off x="9980676" y="6035040"/>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stored output</a:t>
            </a:r>
            <a:endParaRPr lang="en-US" sz="88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438912"/>
            <a:ext cx="10085832" cy="201168"/>
          </a:xfrm>
          <a:prstGeom prst="rect">
            <a:avLst/>
          </a:prstGeom>
          <a:noFill/>
          <a:ln/>
        </p:spPr>
        <p:txBody>
          <a:bodyPr wrap="square" lIns="0" tIns="0" rIns="0" bIns="0" rtlCol="0" anchor="ctr"/>
          <a:lstStyle/>
          <a:p>
            <a:pPr indent="0" marL="0">
              <a:buNone/>
            </a:pPr>
            <a:r>
              <a:rPr lang="en-US" sz="1050" b="1" spc="200" kern="0" dirty="0">
                <a:solidFill>
                  <a:srgbClr val="108494"/>
                </a:solidFill>
                <a:latin typeface="Calibri" pitchFamily="34" charset="0"/>
                <a:ea typeface="Calibri" pitchFamily="34" charset="-122"/>
                <a:cs typeface="Calibri" pitchFamily="34" charset="-120"/>
              </a:rPr>
              <a:t>07   ·   ARCHITECTURE &amp; PROCESS</a:t>
            </a:r>
            <a:endParaRPr lang="en-US" sz="1050" dirty="0"/>
          </a:p>
        </p:txBody>
      </p:sp>
      <p:sp>
        <p:nvSpPr>
          <p:cNvPr id="3" name="Text 1"/>
          <p:cNvSpPr txBox="1"/>
          <p:nvPr/>
        </p:nvSpPr>
        <p:spPr>
          <a:xfrm>
            <a:off x="594360" y="640080"/>
            <a:ext cx="10085832" cy="484632"/>
          </a:xfrm>
          <a:prstGeom prst="rect">
            <a:avLst/>
          </a:prstGeom>
          <a:noFill/>
          <a:ln/>
        </p:spPr>
        <p:txBody>
          <a:bodyPr wrap="square" lIns="0" tIns="0" rIns="0" bIns="0" rtlCol="0" anchor="ctr"/>
          <a:lstStyle/>
          <a:p>
            <a:pPr indent="0" marL="0">
              <a:buNone/>
            </a:pPr>
            <a:r>
              <a:rPr lang="en-US" sz="3000" b="1" dirty="0">
                <a:solidFill>
                  <a:srgbClr val="10243A"/>
                </a:solidFill>
                <a:latin typeface="Cambria" pitchFamily="34" charset="0"/>
                <a:ea typeface="Cambria" pitchFamily="34" charset="-122"/>
                <a:cs typeface="Cambria" pitchFamily="34" charset="-120"/>
              </a:rPr>
              <a:t>Input-output: classification around the maths</a:t>
            </a:r>
            <a:endParaRPr lang="en-US" sz="3000" dirty="0"/>
          </a:p>
        </p:txBody>
      </p:sp>
      <p:sp>
        <p:nvSpPr>
          <p:cNvPr id="4" name="Text 2"/>
          <p:cNvSpPr txBox="1"/>
          <p:nvPr/>
        </p:nvSpPr>
        <p:spPr>
          <a:xfrm>
            <a:off x="594360" y="1143000"/>
            <a:ext cx="9994392" cy="274320"/>
          </a:xfrm>
          <a:prstGeom prst="rect">
            <a:avLst/>
          </a:prstGeom>
          <a:noFill/>
          <a:ln/>
        </p:spPr>
        <p:txBody>
          <a:bodyPr wrap="square" lIns="0" tIns="0" rIns="0" bIns="0" rtlCol="0" anchor="ctr"/>
          <a:lstStyle/>
          <a:p>
            <a:pPr indent="0" marL="0">
              <a:buNone/>
            </a:pPr>
            <a:r>
              <a:rPr lang="en-US" sz="1200" dirty="0">
                <a:solidFill>
                  <a:srgbClr val="58697A"/>
                </a:solidFill>
                <a:latin typeface="Calibri" pitchFamily="34" charset="0"/>
                <a:ea typeface="Calibri" pitchFamily="34" charset="-122"/>
                <a:cs typeface="Calibri" pitchFamily="34" charset="-120"/>
              </a:rPr>
              <a:t>Two one-off classification steps bracket a computation that has no model inside it at all.</a:t>
            </a:r>
            <a:endParaRPr lang="en-US" sz="1200" dirty="0"/>
          </a:p>
        </p:txBody>
      </p:sp>
      <p:sp>
        <p:nvSpPr>
          <p:cNvPr id="5" name="Shape 3"/>
          <p:cNvSpPr/>
          <p:nvPr/>
        </p:nvSpPr>
        <p:spPr>
          <a:xfrm>
            <a:off x="10881360" y="475488"/>
            <a:ext cx="713232" cy="713232"/>
          </a:xfrm>
          <a:prstGeom prst="roundRect">
            <a:avLst>
              <a:gd name="adj" fmla="val 20513"/>
            </a:avLst>
          </a:prstGeom>
          <a:solidFill>
            <a:srgbClr val="10243A"/>
          </a:solidFill>
          <a:ln/>
        </p:spPr>
      </p:sp>
      <p:pic>
        <p:nvPicPr>
          <p:cNvPr id="6" name="Image 0" descr="preencoded.png">    </p:cNvPr>
          <p:cNvPicPr>
            <a:picLocks noChangeAspect="1"/>
          </p:cNvPicPr>
          <p:nvPr/>
        </p:nvPicPr>
        <p:blipFill>
          <a:blip r:embed="rId1"/>
          <a:stretch>
            <a:fillRect/>
          </a:stretch>
        </p:blipFill>
        <p:spPr>
          <a:xfrm>
            <a:off x="11038271" y="632399"/>
            <a:ext cx="399410" cy="399410"/>
          </a:xfrm>
          <a:prstGeom prst="rect">
            <a:avLst/>
          </a:prstGeom>
        </p:spPr>
      </p:pic>
      <p:sp>
        <p:nvSpPr>
          <p:cNvPr id="7" name="Shape 4"/>
          <p:cNvSpPr/>
          <p:nvPr/>
        </p:nvSpPr>
        <p:spPr>
          <a:xfrm>
            <a:off x="594360" y="1536192"/>
            <a:ext cx="6949440" cy="1828800"/>
          </a:xfrm>
          <a:prstGeom prst="roundRect">
            <a:avLst>
              <a:gd name="adj" fmla="val 2000"/>
            </a:avLst>
          </a:prstGeom>
          <a:solidFill>
            <a:srgbClr val="EAF8FA"/>
          </a:solidFill>
          <a:ln w="15875">
            <a:solidFill>
              <a:srgbClr val="1C93A4"/>
            </a:solidFill>
            <a:prstDash val="solid"/>
          </a:ln>
        </p:spPr>
      </p:sp>
      <p:sp>
        <p:nvSpPr>
          <p:cNvPr id="8" name="Shape 5"/>
          <p:cNvSpPr/>
          <p:nvPr/>
        </p:nvSpPr>
        <p:spPr>
          <a:xfrm>
            <a:off x="740664" y="1417320"/>
            <a:ext cx="2691994" cy="274320"/>
          </a:xfrm>
          <a:prstGeom prst="roundRect">
            <a:avLst>
              <a:gd name="adj" fmla="val 50000"/>
            </a:avLst>
          </a:prstGeom>
          <a:solidFill>
            <a:srgbClr val="108494"/>
          </a:solidFill>
          <a:ln/>
        </p:spPr>
      </p:sp>
      <p:pic>
        <p:nvPicPr>
          <p:cNvPr id="9" name="Image 1" descr="preencoded.png">    </p:cNvPr>
          <p:cNvPicPr>
            <a:picLocks noChangeAspect="1"/>
          </p:cNvPicPr>
          <p:nvPr/>
        </p:nvPicPr>
        <p:blipFill>
          <a:blip r:embed="rId2"/>
          <a:stretch>
            <a:fillRect/>
          </a:stretch>
        </p:blipFill>
        <p:spPr>
          <a:xfrm>
            <a:off x="859536" y="1485900"/>
            <a:ext cx="132588" cy="132588"/>
          </a:xfrm>
          <a:prstGeom prst="rect">
            <a:avLst/>
          </a:prstGeom>
        </p:spPr>
      </p:pic>
      <p:sp>
        <p:nvSpPr>
          <p:cNvPr id="10" name="Text 6"/>
          <p:cNvSpPr txBox="1"/>
          <p:nvPr/>
        </p:nvSpPr>
        <p:spPr>
          <a:xfrm>
            <a:off x="1014984" y="1417320"/>
            <a:ext cx="2417674" cy="274320"/>
          </a:xfrm>
          <a:prstGeom prst="rect">
            <a:avLst/>
          </a:prstGeom>
          <a:noFill/>
          <a:ln/>
        </p:spPr>
        <p:txBody>
          <a:bodyPr wrap="square" lIns="0" tIns="0" rIns="0" bIns="0" rtlCol="0" anchor="ctr"/>
          <a:lstStyle/>
          <a:p>
            <a:pPr algn="ctr" indent="0" marL="0">
              <a:buNone/>
            </a:pPr>
            <a:r>
              <a:rPr lang="en-US" sz="850" b="1" spc="110" kern="0" dirty="0">
                <a:solidFill>
                  <a:srgbClr val="FFFFFF"/>
                </a:solidFill>
                <a:latin typeface="Calibri" pitchFamily="34" charset="0"/>
                <a:ea typeface="Calibri" pitchFamily="34" charset="-122"/>
                <a:cs typeface="Calibri" pitchFamily="34" charset="-120"/>
              </a:rPr>
              <a:t>ONCE PER RUN — NO MODEL INVOLVED</a:t>
            </a:r>
            <a:endParaRPr lang="en-US" sz="850" dirty="0"/>
          </a:p>
        </p:txBody>
      </p:sp>
      <p:sp>
        <p:nvSpPr>
          <p:cNvPr id="11" name="Shape 7"/>
          <p:cNvSpPr/>
          <p:nvPr/>
        </p:nvSpPr>
        <p:spPr>
          <a:xfrm>
            <a:off x="822960" y="2011680"/>
            <a:ext cx="1950720" cy="1005840"/>
          </a:xfrm>
          <a:prstGeom prst="roundRect">
            <a:avLst>
              <a:gd name="adj" fmla="val 9091"/>
            </a:avLst>
          </a:prstGeom>
          <a:solidFill>
            <a:srgbClr val="DCF2F4"/>
          </a:solidFill>
          <a:ln w="15875">
            <a:solidFill>
              <a:srgbClr val="108494"/>
            </a:solidFill>
            <a:prstDash val="solid"/>
          </a:ln>
          <a:effectLst>
            <a:outerShdw sx="100000" sy="100000" kx="0" ky="0" algn="bl" rotWithShape="0" blurRad="101600" dist="19050" dir="5400000">
              <a:srgbClr val="9FB0C2">
                <a:alpha val="24000"/>
              </a:srgbClr>
            </a:outerShdw>
          </a:effectLst>
        </p:spPr>
      </p:sp>
      <p:pic>
        <p:nvPicPr>
          <p:cNvPr id="12" name="Image 2" descr="preencoded.png">    </p:cNvPr>
          <p:cNvPicPr>
            <a:picLocks noChangeAspect="1"/>
          </p:cNvPicPr>
          <p:nvPr/>
        </p:nvPicPr>
        <p:blipFill>
          <a:blip r:embed="rId3"/>
          <a:stretch>
            <a:fillRect/>
          </a:stretch>
        </p:blipFill>
        <p:spPr>
          <a:xfrm>
            <a:off x="941832" y="2112264"/>
            <a:ext cx="182880" cy="182880"/>
          </a:xfrm>
          <a:prstGeom prst="rect">
            <a:avLst/>
          </a:prstGeom>
        </p:spPr>
      </p:pic>
      <p:sp>
        <p:nvSpPr>
          <p:cNvPr id="13" name="Text 8"/>
          <p:cNvSpPr txBox="1"/>
          <p:nvPr/>
        </p:nvSpPr>
        <p:spPr>
          <a:xfrm>
            <a:off x="914400" y="2011680"/>
            <a:ext cx="1767840" cy="1005840"/>
          </a:xfrm>
          <a:prstGeom prst="rect">
            <a:avLst/>
          </a:prstGeom>
          <a:noFill/>
          <a:ln/>
        </p:spPr>
        <p:txBody>
          <a:bodyPr wrap="square" lIns="0" tIns="0" rIns="0" bIns="0" rtlCol="0" anchor="ctr"/>
          <a:lstStyle/>
          <a:p>
            <a:pPr algn="ctr" indent="0" marL="0">
              <a:lnSpc>
                <a:spcPct val="104000"/>
              </a:lnSpc>
              <a:buNone/>
            </a:pPr>
            <a:r>
              <a:rPr lang="en-US" sz="1050" b="1" dirty="0">
                <a:solidFill>
                  <a:srgbClr val="0A4451"/>
                </a:solidFill>
                <a:latin typeface="Calibri" pitchFamily="34" charset="0"/>
                <a:ea typeface="Calibri" pitchFamily="34" charset="-122"/>
                <a:cs typeface="Calibri" pitchFamily="34" charset="-120"/>
              </a:rPr>
              <a:t>Load the tables</a:t>
            </a:r>
            <a:endParaRPr lang="en-US" sz="1050" dirty="0"/>
          </a:p>
          <a:p>
            <a:pPr algn="ctr" indent="0" marL="0">
              <a:lnSpc>
                <a:spcPct val="104000"/>
              </a:lnSpc>
              <a:buNone/>
            </a:pPr>
            <a:r>
              <a:rPr lang="en-US" sz="800" dirty="0">
                <a:solidFill>
                  <a:srgbClr val="0A4451"/>
                </a:solidFill>
                <a:latin typeface="Calibri" pitchFamily="34" charset="0"/>
                <a:ea typeface="Calibri" pitchFamily="34" charset="-122"/>
                <a:cs typeface="Calibri" pitchFamily="34" charset="-120"/>
              </a:rPr>
              <a:t>industries.csv + icio_matrix.csv</a:t>
            </a:r>
            <a:endParaRPr lang="en-US" sz="1050" dirty="0"/>
          </a:p>
        </p:txBody>
      </p:sp>
      <p:sp>
        <p:nvSpPr>
          <p:cNvPr id="14" name="Shape 9"/>
          <p:cNvSpPr/>
          <p:nvPr/>
        </p:nvSpPr>
        <p:spPr>
          <a:xfrm>
            <a:off x="2828544" y="2514600"/>
            <a:ext cx="210312" cy="0"/>
          </a:xfrm>
          <a:prstGeom prst="line">
            <a:avLst/>
          </a:prstGeom>
          <a:noFill/>
          <a:ln w="21590">
            <a:solidFill>
              <a:srgbClr val="64798F"/>
            </a:solidFill>
            <a:prstDash val="solid"/>
            <a:headEnd type="none"/>
            <a:tailEnd type="triangle"/>
          </a:ln>
        </p:spPr>
      </p:sp>
      <p:sp>
        <p:nvSpPr>
          <p:cNvPr id="15" name="Shape 10"/>
          <p:cNvSpPr/>
          <p:nvPr/>
        </p:nvSpPr>
        <p:spPr>
          <a:xfrm>
            <a:off x="3093720" y="2011680"/>
            <a:ext cx="1950720" cy="1005840"/>
          </a:xfrm>
          <a:prstGeom prst="roundRect">
            <a:avLst>
              <a:gd name="adj" fmla="val 9091"/>
            </a:avLst>
          </a:prstGeom>
          <a:solidFill>
            <a:srgbClr val="DCF2F4"/>
          </a:solidFill>
          <a:ln w="15875">
            <a:solidFill>
              <a:srgbClr val="108494"/>
            </a:solidFill>
            <a:prstDash val="solid"/>
          </a:ln>
          <a:effectLst>
            <a:outerShdw sx="100000" sy="100000" kx="0" ky="0" algn="bl" rotWithShape="0" blurRad="101600" dist="19050" dir="5400000">
              <a:srgbClr val="9FB0C2">
                <a:alpha val="24000"/>
              </a:srgbClr>
            </a:outerShdw>
          </a:effectLst>
        </p:spPr>
      </p:sp>
      <p:pic>
        <p:nvPicPr>
          <p:cNvPr id="16" name="Image 3" descr="preencoded.png">    </p:cNvPr>
          <p:cNvPicPr>
            <a:picLocks noChangeAspect="1"/>
          </p:cNvPicPr>
          <p:nvPr/>
        </p:nvPicPr>
        <p:blipFill>
          <a:blip r:embed="rId4"/>
          <a:stretch>
            <a:fillRect/>
          </a:stretch>
        </p:blipFill>
        <p:spPr>
          <a:xfrm>
            <a:off x="3212592" y="2112264"/>
            <a:ext cx="182880" cy="182880"/>
          </a:xfrm>
          <a:prstGeom prst="rect">
            <a:avLst/>
          </a:prstGeom>
        </p:spPr>
      </p:pic>
      <p:sp>
        <p:nvSpPr>
          <p:cNvPr id="17" name="Text 11"/>
          <p:cNvSpPr txBox="1"/>
          <p:nvPr/>
        </p:nvSpPr>
        <p:spPr>
          <a:xfrm>
            <a:off x="3185160" y="2011680"/>
            <a:ext cx="1767840" cy="1005840"/>
          </a:xfrm>
          <a:prstGeom prst="rect">
            <a:avLst/>
          </a:prstGeom>
          <a:noFill/>
          <a:ln/>
        </p:spPr>
        <p:txBody>
          <a:bodyPr wrap="square" lIns="0" tIns="0" rIns="0" bIns="0" rtlCol="0" anchor="ctr"/>
          <a:lstStyle/>
          <a:p>
            <a:pPr algn="ctr" indent="0" marL="0">
              <a:lnSpc>
                <a:spcPct val="104000"/>
              </a:lnSpc>
              <a:buNone/>
            </a:pPr>
            <a:r>
              <a:rPr lang="en-US" sz="1050" b="1" dirty="0">
                <a:solidFill>
                  <a:srgbClr val="0A4451"/>
                </a:solidFill>
                <a:latin typeface="Calibri" pitchFamily="34" charset="0"/>
                <a:ea typeface="Calibri" pitchFamily="34" charset="-122"/>
                <a:cs typeface="Calibri" pitchFamily="34" charset="-120"/>
              </a:rPr>
              <a:t>Build coefficients</a:t>
            </a:r>
            <a:endParaRPr lang="en-US" sz="1050" dirty="0"/>
          </a:p>
          <a:p>
            <a:pPr algn="ctr" indent="0" marL="0">
              <a:lnSpc>
                <a:spcPct val="104000"/>
              </a:lnSpc>
              <a:buNone/>
            </a:pPr>
            <a:r>
              <a:rPr lang="en-US" sz="800" dirty="0">
                <a:solidFill>
                  <a:srgbClr val="0A4451"/>
                </a:solidFill>
                <a:latin typeface="Calibri" pitchFamily="34" charset="0"/>
                <a:ea typeface="Calibri" pitchFamily="34" charset="-122"/>
                <a:cs typeface="Calibri" pitchFamily="34" charset="-120"/>
              </a:rPr>
              <a:t>A[i,j] = flow ÷ total output</a:t>
            </a:r>
            <a:endParaRPr lang="en-US" sz="1050" dirty="0"/>
          </a:p>
        </p:txBody>
      </p:sp>
      <p:sp>
        <p:nvSpPr>
          <p:cNvPr id="18" name="Shape 12"/>
          <p:cNvSpPr/>
          <p:nvPr/>
        </p:nvSpPr>
        <p:spPr>
          <a:xfrm>
            <a:off x="5099304" y="2514600"/>
            <a:ext cx="210312" cy="0"/>
          </a:xfrm>
          <a:prstGeom prst="line">
            <a:avLst/>
          </a:prstGeom>
          <a:noFill/>
          <a:ln w="21590">
            <a:solidFill>
              <a:srgbClr val="64798F"/>
            </a:solidFill>
            <a:prstDash val="solid"/>
            <a:headEnd type="none"/>
            <a:tailEnd type="triangle"/>
          </a:ln>
        </p:spPr>
      </p:sp>
      <p:sp>
        <p:nvSpPr>
          <p:cNvPr id="19" name="Shape 13"/>
          <p:cNvSpPr/>
          <p:nvPr/>
        </p:nvSpPr>
        <p:spPr>
          <a:xfrm>
            <a:off x="5364480" y="2011680"/>
            <a:ext cx="1950720" cy="1005840"/>
          </a:xfrm>
          <a:prstGeom prst="roundRect">
            <a:avLst>
              <a:gd name="adj" fmla="val 9091"/>
            </a:avLst>
          </a:prstGeom>
          <a:solidFill>
            <a:srgbClr val="DCF2F4"/>
          </a:solidFill>
          <a:ln w="15875">
            <a:solidFill>
              <a:srgbClr val="108494"/>
            </a:solidFill>
            <a:prstDash val="solid"/>
          </a:ln>
          <a:effectLst>
            <a:outerShdw sx="100000" sy="100000" kx="0" ky="0" algn="bl" rotWithShape="0" blurRad="101600" dist="19050" dir="5400000">
              <a:srgbClr val="9FB0C2">
                <a:alpha val="24000"/>
              </a:srgbClr>
            </a:outerShdw>
          </a:effectLst>
        </p:spPr>
      </p:sp>
      <p:pic>
        <p:nvPicPr>
          <p:cNvPr id="20" name="Image 4" descr="preencoded.png">    </p:cNvPr>
          <p:cNvPicPr>
            <a:picLocks noChangeAspect="1"/>
          </p:cNvPicPr>
          <p:nvPr/>
        </p:nvPicPr>
        <p:blipFill>
          <a:blip r:embed="rId5"/>
          <a:stretch>
            <a:fillRect/>
          </a:stretch>
        </p:blipFill>
        <p:spPr>
          <a:xfrm>
            <a:off x="5483352" y="2112264"/>
            <a:ext cx="182880" cy="182880"/>
          </a:xfrm>
          <a:prstGeom prst="rect">
            <a:avLst/>
          </a:prstGeom>
        </p:spPr>
      </p:pic>
      <p:sp>
        <p:nvSpPr>
          <p:cNvPr id="21" name="Text 14"/>
          <p:cNvSpPr txBox="1"/>
          <p:nvPr/>
        </p:nvSpPr>
        <p:spPr>
          <a:xfrm>
            <a:off x="5455920" y="2011680"/>
            <a:ext cx="1767840" cy="1005840"/>
          </a:xfrm>
          <a:prstGeom prst="rect">
            <a:avLst/>
          </a:prstGeom>
          <a:noFill/>
          <a:ln/>
        </p:spPr>
        <p:txBody>
          <a:bodyPr wrap="square" lIns="0" tIns="0" rIns="0" bIns="0" rtlCol="0" anchor="ctr"/>
          <a:lstStyle/>
          <a:p>
            <a:pPr algn="ctr" indent="0" marL="0">
              <a:lnSpc>
                <a:spcPct val="104000"/>
              </a:lnSpc>
              <a:buNone/>
            </a:pPr>
            <a:r>
              <a:rPr lang="en-US" sz="1050" b="1" dirty="0">
                <a:solidFill>
                  <a:srgbClr val="0A4451"/>
                </a:solidFill>
                <a:latin typeface="Calibri" pitchFamily="34" charset="0"/>
                <a:ea typeface="Calibri" pitchFamily="34" charset="-122"/>
                <a:cs typeface="Calibri" pitchFamily="34" charset="-120"/>
              </a:rPr>
              <a:t>Invert once</a:t>
            </a:r>
            <a:endParaRPr lang="en-US" sz="1050" dirty="0"/>
          </a:p>
          <a:p>
            <a:pPr algn="ctr" indent="0" marL="0">
              <a:lnSpc>
                <a:spcPct val="104000"/>
              </a:lnSpc>
              <a:buNone/>
            </a:pPr>
            <a:r>
              <a:rPr lang="en-US" sz="800" dirty="0">
                <a:solidFill>
                  <a:srgbClr val="0A4451"/>
                </a:solidFill>
                <a:latin typeface="Calibri" pitchFamily="34" charset="0"/>
                <a:ea typeface="Calibri" pitchFamily="34" charset="-122"/>
                <a:cs typeface="Calibri" pitchFamily="34" charset="-120"/>
              </a:rPr>
              <a:t>the Leontief inverse, per run</a:t>
            </a:r>
            <a:endParaRPr lang="en-US" sz="1050" dirty="0"/>
          </a:p>
        </p:txBody>
      </p:sp>
      <p:sp>
        <p:nvSpPr>
          <p:cNvPr id="22" name="Shape 15"/>
          <p:cNvSpPr/>
          <p:nvPr/>
        </p:nvSpPr>
        <p:spPr>
          <a:xfrm>
            <a:off x="7818120" y="1536192"/>
            <a:ext cx="3776472" cy="1828800"/>
          </a:xfrm>
          <a:prstGeom prst="roundRect">
            <a:avLst>
              <a:gd name="adj" fmla="val 2000"/>
            </a:avLst>
          </a:prstGeom>
          <a:solidFill>
            <a:srgbClr val="F1ECFD"/>
          </a:solidFill>
          <a:ln w="15875">
            <a:solidFill>
              <a:srgbClr val="7B5BD6"/>
            </a:solidFill>
            <a:prstDash val="solid"/>
          </a:ln>
        </p:spPr>
      </p:sp>
      <p:sp>
        <p:nvSpPr>
          <p:cNvPr id="23" name="Shape 16"/>
          <p:cNvSpPr/>
          <p:nvPr/>
        </p:nvSpPr>
        <p:spPr>
          <a:xfrm>
            <a:off x="7964424" y="1417320"/>
            <a:ext cx="2033626" cy="274320"/>
          </a:xfrm>
          <a:prstGeom prst="roundRect">
            <a:avLst>
              <a:gd name="adj" fmla="val 50000"/>
            </a:avLst>
          </a:prstGeom>
          <a:solidFill>
            <a:srgbClr val="6D4DD1"/>
          </a:solidFill>
          <a:ln/>
        </p:spPr>
      </p:sp>
      <p:pic>
        <p:nvPicPr>
          <p:cNvPr id="24" name="Image 5" descr="preencoded.png">    </p:cNvPr>
          <p:cNvPicPr>
            <a:picLocks noChangeAspect="1"/>
          </p:cNvPicPr>
          <p:nvPr/>
        </p:nvPicPr>
        <p:blipFill>
          <a:blip r:embed="rId6"/>
          <a:stretch>
            <a:fillRect/>
          </a:stretch>
        </p:blipFill>
        <p:spPr>
          <a:xfrm>
            <a:off x="8083296" y="1485900"/>
            <a:ext cx="132588" cy="132588"/>
          </a:xfrm>
          <a:prstGeom prst="rect">
            <a:avLst/>
          </a:prstGeom>
        </p:spPr>
      </p:pic>
      <p:sp>
        <p:nvSpPr>
          <p:cNvPr id="25" name="Text 17"/>
          <p:cNvSpPr txBox="1"/>
          <p:nvPr/>
        </p:nvSpPr>
        <p:spPr>
          <a:xfrm>
            <a:off x="8238744" y="1417320"/>
            <a:ext cx="1759306" cy="274320"/>
          </a:xfrm>
          <a:prstGeom prst="rect">
            <a:avLst/>
          </a:prstGeom>
          <a:noFill/>
          <a:ln/>
        </p:spPr>
        <p:txBody>
          <a:bodyPr wrap="square" lIns="0" tIns="0" rIns="0" bIns="0" rtlCol="0" anchor="ctr"/>
          <a:lstStyle/>
          <a:p>
            <a:pPr algn="ctr" indent="0" marL="0">
              <a:buNone/>
            </a:pPr>
            <a:r>
              <a:rPr lang="en-US" sz="850" b="1" spc="110" kern="0" dirty="0">
                <a:solidFill>
                  <a:srgbClr val="FFFFFF"/>
                </a:solidFill>
                <a:latin typeface="Calibri" pitchFamily="34" charset="0"/>
                <a:ea typeface="Calibri" pitchFamily="34" charset="-122"/>
                <a:cs typeface="Calibri" pitchFamily="34" charset="-120"/>
              </a:rPr>
              <a:t>ONE CALL EACH, OR ZERO</a:t>
            </a:r>
            <a:endParaRPr lang="en-US" sz="850" dirty="0"/>
          </a:p>
        </p:txBody>
      </p:sp>
      <p:sp>
        <p:nvSpPr>
          <p:cNvPr id="26" name="Shape 18"/>
          <p:cNvSpPr/>
          <p:nvPr/>
        </p:nvSpPr>
        <p:spPr>
          <a:xfrm>
            <a:off x="8046720" y="2011680"/>
            <a:ext cx="3319272" cy="457200"/>
          </a:xfrm>
          <a:prstGeom prst="roundRect">
            <a:avLst>
              <a:gd name="adj" fmla="val 20000"/>
            </a:avLst>
          </a:prstGeom>
          <a:solidFill>
            <a:srgbClr val="EBE5FC"/>
          </a:solidFill>
          <a:ln w="15875">
            <a:solidFill>
              <a:srgbClr val="6D4DD1"/>
            </a:solidFill>
            <a:prstDash val="solid"/>
          </a:ln>
        </p:spPr>
      </p:sp>
      <p:sp>
        <p:nvSpPr>
          <p:cNvPr id="27" name="Text 19"/>
          <p:cNvSpPr txBox="1"/>
          <p:nvPr/>
        </p:nvSpPr>
        <p:spPr>
          <a:xfrm>
            <a:off x="8138160" y="2011680"/>
            <a:ext cx="3136392" cy="457200"/>
          </a:xfrm>
          <a:prstGeom prst="rect">
            <a:avLst/>
          </a:prstGeom>
          <a:noFill/>
          <a:ln/>
        </p:spPr>
        <p:txBody>
          <a:bodyPr wrap="square" lIns="0" tIns="0" rIns="0" bIns="0" rtlCol="0" anchor="ctr"/>
          <a:lstStyle/>
          <a:p>
            <a:pPr algn="ctr" indent="0" marL="0">
              <a:lnSpc>
                <a:spcPct val="104000"/>
              </a:lnSpc>
              <a:buNone/>
            </a:pPr>
            <a:r>
              <a:rPr lang="en-US" sz="980" b="1" dirty="0">
                <a:solidFill>
                  <a:srgbClr val="35236E"/>
                </a:solidFill>
                <a:latin typeface="Calibri" pitchFamily="34" charset="0"/>
                <a:ea typeface="Calibri" pitchFamily="34" charset="-122"/>
                <a:cs typeface="Calibri" pitchFamily="34" charset="-120"/>
              </a:rPr>
              <a:t>activity → core ISIC codes</a:t>
            </a:r>
            <a:endParaRPr lang="en-US" sz="980" dirty="0"/>
          </a:p>
        </p:txBody>
      </p:sp>
      <p:sp>
        <p:nvSpPr>
          <p:cNvPr id="28" name="Shape 20"/>
          <p:cNvSpPr/>
          <p:nvPr/>
        </p:nvSpPr>
        <p:spPr>
          <a:xfrm>
            <a:off x="8046720" y="2560320"/>
            <a:ext cx="3319272" cy="457200"/>
          </a:xfrm>
          <a:prstGeom prst="roundRect">
            <a:avLst>
              <a:gd name="adj" fmla="val 20000"/>
            </a:avLst>
          </a:prstGeom>
          <a:solidFill>
            <a:srgbClr val="EBE5FC"/>
          </a:solidFill>
          <a:ln w="15875">
            <a:solidFill>
              <a:srgbClr val="6D4DD1"/>
            </a:solidFill>
            <a:prstDash val="solid"/>
          </a:ln>
        </p:spPr>
      </p:sp>
      <p:sp>
        <p:nvSpPr>
          <p:cNvPr id="29" name="Text 21"/>
          <p:cNvSpPr txBox="1"/>
          <p:nvPr/>
        </p:nvSpPr>
        <p:spPr>
          <a:xfrm>
            <a:off x="8138160" y="2560320"/>
            <a:ext cx="3136392" cy="457200"/>
          </a:xfrm>
          <a:prstGeom prst="rect">
            <a:avLst/>
          </a:prstGeom>
          <a:noFill/>
          <a:ln/>
        </p:spPr>
        <p:txBody>
          <a:bodyPr wrap="square" lIns="0" tIns="0" rIns="0" bIns="0" rtlCol="0" anchor="ctr"/>
          <a:lstStyle/>
          <a:p>
            <a:pPr algn="ctr" indent="0" marL="0">
              <a:lnSpc>
                <a:spcPct val="104000"/>
              </a:lnSpc>
              <a:buNone/>
            </a:pPr>
            <a:r>
              <a:rPr lang="en-US" sz="980" b="1" dirty="0">
                <a:solidFill>
                  <a:srgbClr val="35236E"/>
                </a:solidFill>
                <a:latin typeface="Calibri" pitchFamily="34" charset="0"/>
                <a:ea typeface="Calibri" pitchFamily="34" charset="-122"/>
                <a:cs typeface="Calibri" pitchFamily="34" charset="-120"/>
              </a:rPr>
              <a:t>company → its own ISIC code</a:t>
            </a:r>
            <a:endParaRPr lang="en-US" sz="980" dirty="0"/>
          </a:p>
        </p:txBody>
      </p:sp>
      <p:sp>
        <p:nvSpPr>
          <p:cNvPr id="30" name="Text 22"/>
          <p:cNvSpPr txBox="1"/>
          <p:nvPr/>
        </p:nvSpPr>
        <p:spPr>
          <a:xfrm>
            <a:off x="8046720" y="3017520"/>
            <a:ext cx="3319272" cy="219456"/>
          </a:xfrm>
          <a:prstGeom prst="rect">
            <a:avLst/>
          </a:prstGeom>
          <a:noFill/>
          <a:ln/>
        </p:spPr>
        <p:txBody>
          <a:bodyPr wrap="square" lIns="0" tIns="0" rIns="0" bIns="0" rtlCol="0" anchor="ctr"/>
          <a:lstStyle/>
          <a:p>
            <a:pPr algn="ctr" indent="0" marL="0">
              <a:buNone/>
            </a:pPr>
            <a:r>
              <a:rPr lang="en-US" sz="800" i="1" dirty="0">
                <a:solidFill>
                  <a:srgbClr val="35236E"/>
                </a:solidFill>
                <a:latin typeface="Calibri" pitchFamily="34" charset="0"/>
                <a:ea typeface="Calibri" pitchFamily="34" charset="-122"/>
                <a:cs typeface="Calibri" pitchFamily="34" charset="-120"/>
              </a:rPr>
              <a:t>zero calls when the universe file supplies isic_code</a:t>
            </a:r>
            <a:endParaRPr lang="en-US" sz="800" dirty="0"/>
          </a:p>
        </p:txBody>
      </p:sp>
      <p:sp>
        <p:nvSpPr>
          <p:cNvPr id="31" name="Shape 23"/>
          <p:cNvSpPr/>
          <p:nvPr/>
        </p:nvSpPr>
        <p:spPr>
          <a:xfrm>
            <a:off x="2377440" y="3703320"/>
            <a:ext cx="2743200" cy="777240"/>
          </a:xfrm>
          <a:prstGeom prst="roundRect">
            <a:avLst>
              <a:gd name="adj" fmla="val 11765"/>
            </a:avLst>
          </a:prstGeom>
          <a:solidFill>
            <a:srgbClr val="E3EDFC"/>
          </a:solidFill>
          <a:ln w="15875">
            <a:solidFill>
              <a:srgbClr val="2F6FD0"/>
            </a:solidFill>
            <a:prstDash val="solid"/>
          </a:ln>
          <a:effectLst>
            <a:outerShdw sx="100000" sy="100000" kx="0" ky="0" algn="bl" rotWithShape="0" blurRad="101600" dist="19050" dir="5400000">
              <a:srgbClr val="9FB0C2">
                <a:alpha val="24000"/>
              </a:srgbClr>
            </a:outerShdw>
          </a:effectLst>
        </p:spPr>
      </p:sp>
      <p:pic>
        <p:nvPicPr>
          <p:cNvPr id="32" name="Image 6" descr="preencoded.png">    </p:cNvPr>
          <p:cNvPicPr>
            <a:picLocks noChangeAspect="1"/>
          </p:cNvPicPr>
          <p:nvPr/>
        </p:nvPicPr>
        <p:blipFill>
          <a:blip r:embed="rId7"/>
          <a:stretch>
            <a:fillRect/>
          </a:stretch>
        </p:blipFill>
        <p:spPr>
          <a:xfrm>
            <a:off x="2496312" y="3803904"/>
            <a:ext cx="182880" cy="182880"/>
          </a:xfrm>
          <a:prstGeom prst="rect">
            <a:avLst/>
          </a:prstGeom>
        </p:spPr>
      </p:pic>
      <p:sp>
        <p:nvSpPr>
          <p:cNvPr id="33" name="Text 24"/>
          <p:cNvSpPr txBox="1"/>
          <p:nvPr/>
        </p:nvSpPr>
        <p:spPr>
          <a:xfrm>
            <a:off x="2468880" y="3703320"/>
            <a:ext cx="2560320" cy="777240"/>
          </a:xfrm>
          <a:prstGeom prst="rect">
            <a:avLst/>
          </a:prstGeom>
          <a:noFill/>
          <a:ln/>
        </p:spPr>
        <p:txBody>
          <a:bodyPr wrap="square" lIns="0" tIns="0" rIns="0" bIns="0" rtlCol="0" anchor="ctr"/>
          <a:lstStyle/>
          <a:p>
            <a:pPr algn="ctr" indent="0" marL="0">
              <a:lnSpc>
                <a:spcPct val="104000"/>
              </a:lnSpc>
              <a:buNone/>
            </a:pPr>
            <a:r>
              <a:rPr lang="en-US" sz="1050" b="1" dirty="0">
                <a:solidFill>
                  <a:srgbClr val="153A61"/>
                </a:solidFill>
                <a:latin typeface="Calibri" pitchFamily="34" charset="0"/>
                <a:ea typeface="Calibri" pitchFamily="34" charset="-122"/>
                <a:cs typeface="Calibri" pitchFamily="34" charset="-120"/>
              </a:rPr>
              <a:t>Upstream exposure</a:t>
            </a:r>
            <a:endParaRPr lang="en-US" sz="1050" dirty="0"/>
          </a:p>
          <a:p>
            <a:pPr algn="ctr" indent="0" marL="0">
              <a:lnSpc>
                <a:spcPct val="104000"/>
              </a:lnSpc>
              <a:buNone/>
            </a:pPr>
            <a:r>
              <a:rPr lang="en-US" sz="800" dirty="0">
                <a:solidFill>
                  <a:srgbClr val="153A61"/>
                </a:solidFill>
                <a:latin typeface="Calibri" pitchFamily="34" charset="0"/>
                <a:ea typeface="Calibri" pitchFamily="34" charset="-122"/>
                <a:cs typeface="Calibri" pitchFamily="34" charset="-120"/>
              </a:rPr>
              <a:t>inputs tracing to the core sectors</a:t>
            </a:r>
            <a:endParaRPr lang="en-US" sz="1050" dirty="0"/>
          </a:p>
        </p:txBody>
      </p:sp>
      <p:sp>
        <p:nvSpPr>
          <p:cNvPr id="34" name="Shape 25"/>
          <p:cNvSpPr/>
          <p:nvPr/>
        </p:nvSpPr>
        <p:spPr>
          <a:xfrm>
            <a:off x="5577840" y="3703320"/>
            <a:ext cx="2743200" cy="777240"/>
          </a:xfrm>
          <a:prstGeom prst="roundRect">
            <a:avLst>
              <a:gd name="adj" fmla="val 11765"/>
            </a:avLst>
          </a:prstGeom>
          <a:solidFill>
            <a:srgbClr val="E0F3E3"/>
          </a:solidFill>
          <a:ln w="15875">
            <a:solidFill>
              <a:srgbClr val="2F8F48"/>
            </a:solidFill>
            <a:prstDash val="solid"/>
          </a:ln>
          <a:effectLst>
            <a:outerShdw sx="100000" sy="100000" kx="0" ky="0" algn="bl" rotWithShape="0" blurRad="101600" dist="19050" dir="5400000">
              <a:srgbClr val="9FB0C2">
                <a:alpha val="24000"/>
              </a:srgbClr>
            </a:outerShdw>
          </a:effectLst>
        </p:spPr>
      </p:sp>
      <p:pic>
        <p:nvPicPr>
          <p:cNvPr id="35" name="Image 7" descr="preencoded.png">    </p:cNvPr>
          <p:cNvPicPr>
            <a:picLocks noChangeAspect="1"/>
          </p:cNvPicPr>
          <p:nvPr/>
        </p:nvPicPr>
        <p:blipFill>
          <a:blip r:embed="rId8"/>
          <a:stretch>
            <a:fillRect/>
          </a:stretch>
        </p:blipFill>
        <p:spPr>
          <a:xfrm>
            <a:off x="5696712" y="3803904"/>
            <a:ext cx="182880" cy="182880"/>
          </a:xfrm>
          <a:prstGeom prst="rect">
            <a:avLst/>
          </a:prstGeom>
        </p:spPr>
      </p:pic>
      <p:sp>
        <p:nvSpPr>
          <p:cNvPr id="36" name="Text 26"/>
          <p:cNvSpPr txBox="1"/>
          <p:nvPr/>
        </p:nvSpPr>
        <p:spPr>
          <a:xfrm>
            <a:off x="5669280" y="3703320"/>
            <a:ext cx="2560320" cy="777240"/>
          </a:xfrm>
          <a:prstGeom prst="rect">
            <a:avLst/>
          </a:prstGeom>
          <a:noFill/>
          <a:ln/>
        </p:spPr>
        <p:txBody>
          <a:bodyPr wrap="square" lIns="0" tIns="0" rIns="0" bIns="0" rtlCol="0" anchor="ctr"/>
          <a:lstStyle/>
          <a:p>
            <a:pPr algn="ctr" indent="0" marL="0">
              <a:lnSpc>
                <a:spcPct val="104000"/>
              </a:lnSpc>
              <a:buNone/>
            </a:pPr>
            <a:r>
              <a:rPr lang="en-US" sz="1050" b="1" dirty="0">
                <a:solidFill>
                  <a:srgbClr val="17431F"/>
                </a:solidFill>
                <a:latin typeface="Calibri" pitchFamily="34" charset="0"/>
                <a:ea typeface="Calibri" pitchFamily="34" charset="-122"/>
                <a:cs typeface="Calibri" pitchFamily="34" charset="-120"/>
              </a:rPr>
              <a:t>Downstream exposure</a:t>
            </a:r>
            <a:endParaRPr lang="en-US" sz="1050" dirty="0"/>
          </a:p>
          <a:p>
            <a:pPr algn="ctr" indent="0" marL="0">
              <a:lnSpc>
                <a:spcPct val="104000"/>
              </a:lnSpc>
              <a:buNone/>
            </a:pPr>
            <a:r>
              <a:rPr lang="en-US" sz="800" dirty="0">
                <a:solidFill>
                  <a:srgbClr val="17431F"/>
                </a:solidFill>
                <a:latin typeface="Calibri" pitchFamily="34" charset="0"/>
                <a:ea typeface="Calibri" pitchFamily="34" charset="-122"/>
                <a:cs typeface="Calibri" pitchFamily="34" charset="-120"/>
              </a:rPr>
              <a:t>output flowing into them</a:t>
            </a:r>
            <a:endParaRPr lang="en-US" sz="1050" dirty="0"/>
          </a:p>
        </p:txBody>
      </p:sp>
      <p:sp>
        <p:nvSpPr>
          <p:cNvPr id="37" name="Shape 27"/>
          <p:cNvSpPr/>
          <p:nvPr/>
        </p:nvSpPr>
        <p:spPr>
          <a:xfrm>
            <a:off x="3749040" y="3401568"/>
            <a:ext cx="0" cy="265176"/>
          </a:xfrm>
          <a:prstGeom prst="line">
            <a:avLst/>
          </a:prstGeom>
          <a:noFill/>
          <a:ln w="17780">
            <a:solidFill>
              <a:srgbClr val="108494"/>
            </a:solidFill>
            <a:prstDash val="solid"/>
            <a:headEnd type="none"/>
            <a:tailEnd type="triangle"/>
          </a:ln>
        </p:spPr>
      </p:sp>
      <p:sp>
        <p:nvSpPr>
          <p:cNvPr id="38" name="Shape 28"/>
          <p:cNvSpPr/>
          <p:nvPr/>
        </p:nvSpPr>
        <p:spPr>
          <a:xfrm>
            <a:off x="6949440" y="3401568"/>
            <a:ext cx="0" cy="265176"/>
          </a:xfrm>
          <a:prstGeom prst="line">
            <a:avLst/>
          </a:prstGeom>
          <a:noFill/>
          <a:ln w="17780">
            <a:solidFill>
              <a:srgbClr val="108494"/>
            </a:solidFill>
            <a:prstDash val="solid"/>
            <a:headEnd type="none"/>
            <a:tailEnd type="triangle"/>
          </a:ln>
        </p:spPr>
      </p:sp>
      <p:sp>
        <p:nvSpPr>
          <p:cNvPr id="39" name="Shape 29"/>
          <p:cNvSpPr/>
          <p:nvPr/>
        </p:nvSpPr>
        <p:spPr>
          <a:xfrm flipH="1">
            <a:off x="7589520" y="2697480"/>
            <a:ext cx="585216" cy="0"/>
          </a:xfrm>
          <a:prstGeom prst="line">
            <a:avLst/>
          </a:prstGeom>
          <a:noFill/>
          <a:ln w="16510">
            <a:solidFill>
              <a:srgbClr val="6D4DD1"/>
            </a:solidFill>
            <a:prstDash val="dash"/>
            <a:headEnd type="none"/>
            <a:tailEnd type="triangle"/>
          </a:ln>
        </p:spPr>
      </p:sp>
      <p:sp>
        <p:nvSpPr>
          <p:cNvPr id="40" name="Shape 30"/>
          <p:cNvSpPr/>
          <p:nvPr/>
        </p:nvSpPr>
        <p:spPr>
          <a:xfrm>
            <a:off x="2377440" y="4663440"/>
            <a:ext cx="5943600" cy="502920"/>
          </a:xfrm>
          <a:prstGeom prst="roundRect">
            <a:avLst>
              <a:gd name="adj" fmla="val 18182"/>
            </a:avLst>
          </a:prstGeom>
          <a:solidFill>
            <a:srgbClr val="E0F3E3"/>
          </a:solidFill>
          <a:ln w="15875">
            <a:solidFill>
              <a:srgbClr val="2F8F48"/>
            </a:solidFill>
            <a:prstDash val="solid"/>
          </a:ln>
        </p:spPr>
      </p:sp>
      <p:sp>
        <p:nvSpPr>
          <p:cNvPr id="41" name="Text 31"/>
          <p:cNvSpPr txBox="1"/>
          <p:nvPr/>
        </p:nvSpPr>
        <p:spPr>
          <a:xfrm>
            <a:off x="2468880" y="4663440"/>
            <a:ext cx="5760720" cy="502920"/>
          </a:xfrm>
          <a:prstGeom prst="rect">
            <a:avLst/>
          </a:prstGeom>
          <a:noFill/>
          <a:ln/>
        </p:spPr>
        <p:txBody>
          <a:bodyPr wrap="square" lIns="0" tIns="0" rIns="0" bIns="0" rtlCol="0" anchor="ctr"/>
          <a:lstStyle/>
          <a:p>
            <a:pPr algn="ctr" indent="0" marL="0">
              <a:lnSpc>
                <a:spcPct val="104000"/>
              </a:lnSpc>
              <a:buNone/>
            </a:pPr>
            <a:r>
              <a:rPr lang="en-US" sz="1000" b="1" dirty="0">
                <a:solidFill>
                  <a:srgbClr val="17431F"/>
                </a:solidFill>
                <a:latin typeface="Calibri" pitchFamily="34" charset="0"/>
                <a:ea typeface="Calibri" pitchFamily="34" charset="-122"/>
                <a:cs typeface="Calibri" pitchFamily="34" charset="-120"/>
              </a:rPr>
              <a:t>attached to CompanyMatch.indirect_exposure — kept separate from the qualitative verdict</a:t>
            </a:r>
            <a:endParaRPr lang="en-US" sz="1000" dirty="0"/>
          </a:p>
        </p:txBody>
      </p:sp>
      <p:sp>
        <p:nvSpPr>
          <p:cNvPr id="42" name="Shape 32"/>
          <p:cNvSpPr/>
          <p:nvPr/>
        </p:nvSpPr>
        <p:spPr>
          <a:xfrm>
            <a:off x="3749040" y="4517136"/>
            <a:ext cx="0" cy="109728"/>
          </a:xfrm>
          <a:prstGeom prst="line">
            <a:avLst/>
          </a:prstGeom>
          <a:noFill/>
          <a:ln w="17780">
            <a:solidFill>
              <a:srgbClr val="2F8F48"/>
            </a:solidFill>
            <a:prstDash val="solid"/>
            <a:headEnd type="none"/>
            <a:tailEnd type="triangle"/>
          </a:ln>
        </p:spPr>
      </p:sp>
      <p:sp>
        <p:nvSpPr>
          <p:cNvPr id="43" name="Shape 33"/>
          <p:cNvSpPr/>
          <p:nvPr/>
        </p:nvSpPr>
        <p:spPr>
          <a:xfrm>
            <a:off x="6949440" y="4517136"/>
            <a:ext cx="0" cy="109728"/>
          </a:xfrm>
          <a:prstGeom prst="line">
            <a:avLst/>
          </a:prstGeom>
          <a:noFill/>
          <a:ln w="17780">
            <a:solidFill>
              <a:srgbClr val="2F8F48"/>
            </a:solidFill>
            <a:prstDash val="solid"/>
            <a:headEnd type="none"/>
            <a:tailEnd type="triangle"/>
          </a:ln>
        </p:spPr>
      </p:sp>
      <p:sp>
        <p:nvSpPr>
          <p:cNvPr id="44" name="Shape 34"/>
          <p:cNvSpPr/>
          <p:nvPr/>
        </p:nvSpPr>
        <p:spPr>
          <a:xfrm>
            <a:off x="8732520" y="3703320"/>
            <a:ext cx="2862072" cy="1463040"/>
          </a:xfrm>
          <a:prstGeom prst="roundRect">
            <a:avLst>
              <a:gd name="adj" fmla="val 6250"/>
            </a:avLst>
          </a:prstGeom>
          <a:solidFill>
            <a:srgbClr val="FCEDD4"/>
          </a:solidFill>
          <a:ln w="15875">
            <a:solidFill>
              <a:srgbClr val="C9871B"/>
            </a:solidFill>
            <a:prstDash val="solid"/>
          </a:ln>
          <a:effectLst>
            <a:outerShdw sx="100000" sy="100000" kx="0" ky="0" algn="bl" rotWithShape="0" blurRad="101600" dist="19050" dir="5400000">
              <a:srgbClr val="9FB0C2">
                <a:alpha val="24000"/>
              </a:srgbClr>
            </a:outerShdw>
          </a:effectLst>
        </p:spPr>
      </p:sp>
      <p:pic>
        <p:nvPicPr>
          <p:cNvPr id="45" name="Image 8" descr="preencoded.png">    </p:cNvPr>
          <p:cNvPicPr>
            <a:picLocks noChangeAspect="1"/>
          </p:cNvPicPr>
          <p:nvPr/>
        </p:nvPicPr>
        <p:blipFill>
          <a:blip r:embed="rId9"/>
          <a:stretch>
            <a:fillRect/>
          </a:stretch>
        </p:blipFill>
        <p:spPr>
          <a:xfrm>
            <a:off x="8851392" y="3803904"/>
            <a:ext cx="182880" cy="182880"/>
          </a:xfrm>
          <a:prstGeom prst="rect">
            <a:avLst/>
          </a:prstGeom>
        </p:spPr>
      </p:pic>
      <p:sp>
        <p:nvSpPr>
          <p:cNvPr id="46" name="Text 35"/>
          <p:cNvSpPr txBox="1"/>
          <p:nvPr/>
        </p:nvSpPr>
        <p:spPr>
          <a:xfrm>
            <a:off x="8823960" y="3703320"/>
            <a:ext cx="2679192" cy="1463040"/>
          </a:xfrm>
          <a:prstGeom prst="rect">
            <a:avLst/>
          </a:prstGeom>
          <a:noFill/>
          <a:ln/>
        </p:spPr>
        <p:txBody>
          <a:bodyPr wrap="square" lIns="0" tIns="0" rIns="0" bIns="0" rtlCol="0" anchor="ctr"/>
          <a:lstStyle/>
          <a:p>
            <a:pPr algn="ctr" indent="0" marL="0">
              <a:lnSpc>
                <a:spcPct val="104000"/>
              </a:lnSpc>
              <a:buNone/>
            </a:pPr>
            <a:r>
              <a:rPr lang="en-US" sz="700" b="1" spc="110" kern="0" dirty="0">
                <a:solidFill>
                  <a:srgbClr val="C9871B"/>
                </a:solidFill>
                <a:latin typeface="Calibri" pitchFamily="34" charset="0"/>
                <a:ea typeface="Calibri" pitchFamily="34" charset="-122"/>
                <a:cs typeface="Calibri" pitchFamily="34" charset="-120"/>
              </a:rPr>
              <a:t>REJECT, NEVER COERCE</a:t>
            </a:r>
            <a:endParaRPr lang="en-US" sz="700" dirty="0"/>
          </a:p>
          <a:p>
            <a:pPr algn="ctr" indent="0" marL="0">
              <a:lnSpc>
                <a:spcPct val="104000"/>
              </a:lnSpc>
              <a:buNone/>
            </a:pPr>
            <a:r>
              <a:rPr lang="en-US" sz="1050" b="1" dirty="0">
                <a:solidFill>
                  <a:srgbClr val="64430A"/>
                </a:solidFill>
                <a:latin typeface="Calibri" pitchFamily="34" charset="0"/>
                <a:ea typeface="Calibri" pitchFamily="34" charset="-122"/>
                <a:cs typeface="Calibri" pitchFamily="34" charset="-120"/>
              </a:rPr>
              <a:t>A code the model does not contain fails</a:t>
            </a:r>
            <a:endParaRPr lang="en-US" sz="700" dirty="0"/>
          </a:p>
          <a:p>
            <a:pPr algn="ctr" indent="0" marL="0">
              <a:lnSpc>
                <a:spcPct val="104000"/>
              </a:lnSpc>
              <a:buNone/>
            </a:pPr>
            <a:endParaRPr lang="en-US" sz="700" dirty="0"/>
          </a:p>
          <a:p>
            <a:pPr algn="ctr" indent="0" marL="0">
              <a:lnSpc>
                <a:spcPct val="104000"/>
              </a:lnSpc>
              <a:buNone/>
            </a:pPr>
            <a:r>
              <a:rPr lang="en-US" sz="800" dirty="0">
                <a:solidFill>
                  <a:srgbClr val="64430A"/>
                </a:solidFill>
                <a:latin typeface="Calibri" pitchFamily="34" charset="0"/>
                <a:ea typeface="Calibri" pitchFamily="34" charset="-122"/>
                <a:cs typeface="Calibri" pitchFamily="34" charset="-120"/>
              </a:rPr>
              <a:t>a wrong industry code would corrupt every number computed from it, so the mapping step refuses rather than guesses</a:t>
            </a:r>
            <a:endParaRPr lang="en-US" sz="700" dirty="0"/>
          </a:p>
        </p:txBody>
      </p:sp>
      <p:sp>
        <p:nvSpPr>
          <p:cNvPr id="47" name="Shape 36"/>
          <p:cNvSpPr/>
          <p:nvPr/>
        </p:nvSpPr>
        <p:spPr>
          <a:xfrm>
            <a:off x="594360" y="5321808"/>
            <a:ext cx="3532632" cy="941832"/>
          </a:xfrm>
          <a:prstGeom prst="roundRect">
            <a:avLst>
              <a:gd name="adj" fmla="val 3883"/>
            </a:avLst>
          </a:prstGeom>
          <a:solidFill>
            <a:srgbClr val="F4F7FA"/>
          </a:solidFill>
          <a:ln w="15875">
            <a:solidFill>
              <a:srgbClr val="DDE5ED"/>
            </a:solidFill>
            <a:prstDash val="solid"/>
          </a:ln>
        </p:spPr>
      </p:sp>
      <p:sp>
        <p:nvSpPr>
          <p:cNvPr id="48" name="Text 37"/>
          <p:cNvSpPr txBox="1"/>
          <p:nvPr/>
        </p:nvSpPr>
        <p:spPr>
          <a:xfrm>
            <a:off x="758952" y="5422392"/>
            <a:ext cx="3203448" cy="201168"/>
          </a:xfrm>
          <a:prstGeom prst="rect">
            <a:avLst/>
          </a:prstGeom>
          <a:noFill/>
          <a:ln/>
        </p:spPr>
        <p:txBody>
          <a:bodyPr wrap="square" lIns="0" tIns="0" rIns="0" bIns="0" rtlCol="0" anchor="ctr"/>
          <a:lstStyle/>
          <a:p>
            <a:pPr indent="0" marL="0">
              <a:buNone/>
            </a:pPr>
            <a:r>
              <a:rPr lang="en-US" sz="850" b="1" spc="140" kern="0" dirty="0">
                <a:solidFill>
                  <a:srgbClr val="6D4DD1"/>
                </a:solidFill>
                <a:latin typeface="Calibri" pitchFamily="34" charset="0"/>
                <a:ea typeface="Calibri" pitchFamily="34" charset="-122"/>
                <a:cs typeface="Calibri" pitchFamily="34" charset="-120"/>
              </a:rPr>
              <a:t>MODULES</a:t>
            </a:r>
            <a:endParaRPr lang="en-US" sz="850" dirty="0"/>
          </a:p>
        </p:txBody>
      </p:sp>
      <p:sp>
        <p:nvSpPr>
          <p:cNvPr id="49" name="Text 38"/>
          <p:cNvSpPr txBox="1"/>
          <p:nvPr/>
        </p:nvSpPr>
        <p:spPr>
          <a:xfrm>
            <a:off x="758952" y="5641848"/>
            <a:ext cx="3203448" cy="548640"/>
          </a:xfrm>
          <a:prstGeom prst="rect">
            <a:avLst/>
          </a:prstGeom>
          <a:noFill/>
          <a:ln/>
        </p:spPr>
        <p:txBody>
          <a:bodyPr wrap="square" lIns="0" tIns="0" rIns="0" bIns="0" rtlCol="0" anchor="ctr"/>
          <a:lstStyle/>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arp/research/indirect_exposure/leontief.py</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arp/research/indirect_exposure/{icio_loader,factory}.py</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core_sectors.py · company_mapper.py · sample_data/</a:t>
            </a:r>
            <a:endParaRPr lang="en-US" sz="860" dirty="0"/>
          </a:p>
        </p:txBody>
      </p:sp>
      <p:sp>
        <p:nvSpPr>
          <p:cNvPr id="50" name="Shape 39"/>
          <p:cNvSpPr/>
          <p:nvPr/>
        </p:nvSpPr>
        <p:spPr>
          <a:xfrm>
            <a:off x="4328160" y="5321808"/>
            <a:ext cx="3532632" cy="941832"/>
          </a:xfrm>
          <a:prstGeom prst="roundRect">
            <a:avLst>
              <a:gd name="adj" fmla="val 3883"/>
            </a:avLst>
          </a:prstGeom>
          <a:solidFill>
            <a:srgbClr val="F4F7FA"/>
          </a:solidFill>
          <a:ln w="15875">
            <a:solidFill>
              <a:srgbClr val="DDE5ED"/>
            </a:solidFill>
            <a:prstDash val="solid"/>
          </a:ln>
        </p:spPr>
      </p:sp>
      <p:sp>
        <p:nvSpPr>
          <p:cNvPr id="51" name="Text 40"/>
          <p:cNvSpPr txBox="1"/>
          <p:nvPr/>
        </p:nvSpPr>
        <p:spPr>
          <a:xfrm>
            <a:off x="4492752" y="5422392"/>
            <a:ext cx="3203448" cy="201168"/>
          </a:xfrm>
          <a:prstGeom prst="rect">
            <a:avLst/>
          </a:prstGeom>
          <a:noFill/>
          <a:ln/>
        </p:spPr>
        <p:txBody>
          <a:bodyPr wrap="square" lIns="0" tIns="0" rIns="0" bIns="0" rtlCol="0" anchor="ctr"/>
          <a:lstStyle/>
          <a:p>
            <a:pPr indent="0" marL="0">
              <a:buNone/>
            </a:pPr>
            <a:r>
              <a:rPr lang="en-US" sz="850" b="1" spc="140" kern="0" dirty="0">
                <a:solidFill>
                  <a:srgbClr val="2F6FD0"/>
                </a:solidFill>
                <a:latin typeface="Calibri" pitchFamily="34" charset="0"/>
                <a:ea typeface="Calibri" pitchFamily="34" charset="-122"/>
                <a:cs typeface="Calibri" pitchFamily="34" charset="-120"/>
              </a:rPr>
              <a:t>IN → OUT</a:t>
            </a:r>
            <a:endParaRPr lang="en-US" sz="850" dirty="0"/>
          </a:p>
        </p:txBody>
      </p:sp>
      <p:sp>
        <p:nvSpPr>
          <p:cNvPr id="52" name="Text 41"/>
          <p:cNvSpPr txBox="1"/>
          <p:nvPr/>
        </p:nvSpPr>
        <p:spPr>
          <a:xfrm>
            <a:off x="4492752" y="5641848"/>
            <a:ext cx="3203448" cy="548640"/>
          </a:xfrm>
          <a:prstGeom prst="rect">
            <a:avLst/>
          </a:prstGeom>
          <a:noFill/>
          <a:ln/>
        </p:spPr>
        <p:txBody>
          <a:bodyPr wrap="square" lIns="0" tIns="0" rIns="0" bIns="0" rtlCol="0" anchor="ctr"/>
          <a:lstStyle/>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In: a pre-aggregated ICIO matrix + industries table,</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a taxonomy, a company universe.</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Out: IndirectExposureResult on each CompanyMatch.</a:t>
            </a:r>
            <a:endParaRPr lang="en-US" sz="860" dirty="0"/>
          </a:p>
        </p:txBody>
      </p:sp>
      <p:sp>
        <p:nvSpPr>
          <p:cNvPr id="53" name="Shape 42"/>
          <p:cNvSpPr/>
          <p:nvPr/>
        </p:nvSpPr>
        <p:spPr>
          <a:xfrm>
            <a:off x="8061960" y="5321808"/>
            <a:ext cx="3532632" cy="941832"/>
          </a:xfrm>
          <a:prstGeom prst="roundRect">
            <a:avLst>
              <a:gd name="adj" fmla="val 3883"/>
            </a:avLst>
          </a:prstGeom>
          <a:solidFill>
            <a:srgbClr val="F4F7FA"/>
          </a:solidFill>
          <a:ln w="15875">
            <a:solidFill>
              <a:srgbClr val="DDE5ED"/>
            </a:solidFill>
            <a:prstDash val="solid"/>
          </a:ln>
        </p:spPr>
      </p:sp>
      <p:sp>
        <p:nvSpPr>
          <p:cNvPr id="54" name="Text 43"/>
          <p:cNvSpPr txBox="1"/>
          <p:nvPr/>
        </p:nvSpPr>
        <p:spPr>
          <a:xfrm>
            <a:off x="8226552" y="5422392"/>
            <a:ext cx="3203448" cy="201168"/>
          </a:xfrm>
          <a:prstGeom prst="rect">
            <a:avLst/>
          </a:prstGeom>
          <a:noFill/>
          <a:ln/>
        </p:spPr>
        <p:txBody>
          <a:bodyPr wrap="square" lIns="0" tIns="0" rIns="0" bIns="0" rtlCol="0" anchor="ctr"/>
          <a:lstStyle/>
          <a:p>
            <a:pPr indent="0" marL="0">
              <a:buNone/>
            </a:pPr>
            <a:r>
              <a:rPr lang="en-US" sz="850" b="1" spc="140" kern="0" dirty="0">
                <a:solidFill>
                  <a:srgbClr val="C9871B"/>
                </a:solidFill>
                <a:latin typeface="Calibri" pitchFamily="34" charset="0"/>
                <a:ea typeface="Calibri" pitchFamily="34" charset="-122"/>
                <a:cs typeface="Calibri" pitchFamily="34" charset="-120"/>
              </a:rPr>
              <a:t>CONTROLS</a:t>
            </a:r>
            <a:endParaRPr lang="en-US" sz="850" dirty="0"/>
          </a:p>
        </p:txBody>
      </p:sp>
      <p:sp>
        <p:nvSpPr>
          <p:cNvPr id="55" name="Text 44"/>
          <p:cNvSpPr txBox="1"/>
          <p:nvPr/>
        </p:nvSpPr>
        <p:spPr>
          <a:xfrm>
            <a:off x="8226552" y="5641848"/>
            <a:ext cx="3203448" cy="548640"/>
          </a:xfrm>
          <a:prstGeom prst="rect">
            <a:avLst/>
          </a:prstGeom>
          <a:noFill/>
          <a:ln/>
        </p:spPr>
        <p:txBody>
          <a:bodyPr wrap="square" lIns="0" tIns="0" rIns="0" bIns="0" rtlCol="0" anchor="ctr"/>
          <a:lstStyle/>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ARP_ICIO_* paths or --use-sample-icio; off entirely when unset.</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Upstream and downstream are never blended into one score.</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Results are labelled structural, never disclosed.</a:t>
            </a:r>
            <a:endParaRPr lang="en-US" sz="86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438912"/>
            <a:ext cx="10085832" cy="201168"/>
          </a:xfrm>
          <a:prstGeom prst="rect">
            <a:avLst/>
          </a:prstGeom>
          <a:noFill/>
          <a:ln/>
        </p:spPr>
        <p:txBody>
          <a:bodyPr wrap="square" lIns="0" tIns="0" rIns="0" bIns="0" rtlCol="0" anchor="ctr"/>
          <a:lstStyle/>
          <a:p>
            <a:pPr indent="0" marL="0">
              <a:buNone/>
            </a:pPr>
            <a:r>
              <a:rPr lang="en-US" sz="1050" b="1" spc="200" kern="0" dirty="0">
                <a:solidFill>
                  <a:srgbClr val="108494"/>
                </a:solidFill>
                <a:latin typeface="Calibri" pitchFamily="34" charset="0"/>
                <a:ea typeface="Calibri" pitchFamily="34" charset="-122"/>
                <a:cs typeface="Calibri" pitchFamily="34" charset="-120"/>
              </a:rPr>
              <a:t>08   ·   TRANSITION PLAN ASSESSMENT</a:t>
            </a:r>
            <a:endParaRPr lang="en-US" sz="1050" dirty="0"/>
          </a:p>
        </p:txBody>
      </p:sp>
      <p:sp>
        <p:nvSpPr>
          <p:cNvPr id="3" name="Text 1"/>
          <p:cNvSpPr txBox="1"/>
          <p:nvPr/>
        </p:nvSpPr>
        <p:spPr>
          <a:xfrm>
            <a:off x="594360" y="640080"/>
            <a:ext cx="10085832" cy="484632"/>
          </a:xfrm>
          <a:prstGeom prst="rect">
            <a:avLst/>
          </a:prstGeom>
          <a:noFill/>
          <a:ln/>
        </p:spPr>
        <p:txBody>
          <a:bodyPr wrap="square" lIns="0" tIns="0" rIns="0" bIns="0" rtlCol="0" anchor="ctr"/>
          <a:lstStyle/>
          <a:p>
            <a:pPr indent="0" marL="0">
              <a:buNone/>
            </a:pPr>
            <a:r>
              <a:rPr lang="en-US" sz="3000" b="1" dirty="0">
                <a:solidFill>
                  <a:srgbClr val="10243A"/>
                </a:solidFill>
                <a:latin typeface="Cambria" pitchFamily="34" charset="0"/>
                <a:ea typeface="Cambria" pitchFamily="34" charset="-122"/>
                <a:cs typeface="Cambria" pitchFamily="34" charset="-120"/>
              </a:rPr>
              <a:t>Walk versus talk</a:t>
            </a:r>
            <a:endParaRPr lang="en-US" sz="3000" dirty="0"/>
          </a:p>
        </p:txBody>
      </p:sp>
      <p:sp>
        <p:nvSpPr>
          <p:cNvPr id="4" name="Text 2"/>
          <p:cNvSpPr txBox="1"/>
          <p:nvPr/>
        </p:nvSpPr>
        <p:spPr>
          <a:xfrm>
            <a:off x="594360" y="1143000"/>
            <a:ext cx="9994392" cy="274320"/>
          </a:xfrm>
          <a:prstGeom prst="rect">
            <a:avLst/>
          </a:prstGeom>
          <a:noFill/>
          <a:ln/>
        </p:spPr>
        <p:txBody>
          <a:bodyPr wrap="square" lIns="0" tIns="0" rIns="0" bIns="0" rtlCol="0" anchor="ctr"/>
          <a:lstStyle/>
          <a:p>
            <a:pPr indent="0" marL="0">
              <a:buNone/>
            </a:pPr>
            <a:r>
              <a:rPr lang="en-US" sz="1200" dirty="0">
                <a:solidFill>
                  <a:srgbClr val="58697A"/>
                </a:solidFill>
                <a:latin typeface="Calibri" pitchFamily="34" charset="0"/>
                <a:ea typeface="Calibri" pitchFamily="34" charset="-122"/>
                <a:cs typeface="Calibri" pitchFamily="34" charset="-120"/>
              </a:rPr>
              <a:t>A direct replication of Colesanti Senni, Schimanski, Bingler, Ni &amp; Leippold (2024) — with citations checked, not trusted.</a:t>
            </a:r>
            <a:endParaRPr lang="en-US" sz="1200" dirty="0"/>
          </a:p>
        </p:txBody>
      </p:sp>
      <p:sp>
        <p:nvSpPr>
          <p:cNvPr id="5" name="Shape 3"/>
          <p:cNvSpPr/>
          <p:nvPr/>
        </p:nvSpPr>
        <p:spPr>
          <a:xfrm>
            <a:off x="10881360" y="475488"/>
            <a:ext cx="713232" cy="713232"/>
          </a:xfrm>
          <a:prstGeom prst="roundRect">
            <a:avLst>
              <a:gd name="adj" fmla="val 20513"/>
            </a:avLst>
          </a:prstGeom>
          <a:solidFill>
            <a:srgbClr val="10243A"/>
          </a:solidFill>
          <a:ln/>
        </p:spPr>
      </p:sp>
      <p:pic>
        <p:nvPicPr>
          <p:cNvPr id="6" name="Image 0" descr="preencoded.png">    </p:cNvPr>
          <p:cNvPicPr>
            <a:picLocks noChangeAspect="1"/>
          </p:cNvPicPr>
          <p:nvPr/>
        </p:nvPicPr>
        <p:blipFill>
          <a:blip r:embed="rId1"/>
          <a:stretch>
            <a:fillRect/>
          </a:stretch>
        </p:blipFill>
        <p:spPr>
          <a:xfrm>
            <a:off x="11038271" y="632399"/>
            <a:ext cx="399410" cy="399410"/>
          </a:xfrm>
          <a:prstGeom prst="rect">
            <a:avLst/>
          </a:prstGeom>
        </p:spPr>
      </p:pic>
      <p:sp>
        <p:nvSpPr>
          <p:cNvPr id="7" name="Shape 4"/>
          <p:cNvSpPr/>
          <p:nvPr/>
        </p:nvSpPr>
        <p:spPr>
          <a:xfrm>
            <a:off x="594360" y="1664208"/>
            <a:ext cx="3383280" cy="3291840"/>
          </a:xfrm>
          <a:prstGeom prst="roundRect">
            <a:avLst>
              <a:gd name="adj" fmla="val 1111"/>
            </a:avLst>
          </a:prstGeom>
          <a:solidFill>
            <a:srgbClr val="F4F7FA"/>
          </a:solidFill>
          <a:ln w="15875">
            <a:solidFill>
              <a:srgbClr val="9FB2C4"/>
            </a:solidFill>
            <a:prstDash val="solid"/>
          </a:ln>
        </p:spPr>
      </p:sp>
      <p:sp>
        <p:nvSpPr>
          <p:cNvPr id="8" name="Shape 5"/>
          <p:cNvSpPr/>
          <p:nvPr/>
        </p:nvSpPr>
        <p:spPr>
          <a:xfrm>
            <a:off x="740664" y="1545336"/>
            <a:ext cx="1836115" cy="274320"/>
          </a:xfrm>
          <a:prstGeom prst="roundRect">
            <a:avLst>
              <a:gd name="adj" fmla="val 50000"/>
            </a:avLst>
          </a:prstGeom>
          <a:solidFill>
            <a:srgbClr val="64798F"/>
          </a:solidFill>
          <a:ln/>
        </p:spPr>
      </p:sp>
      <p:pic>
        <p:nvPicPr>
          <p:cNvPr id="9" name="Image 1" descr="preencoded.png">    </p:cNvPr>
          <p:cNvPicPr>
            <a:picLocks noChangeAspect="1"/>
          </p:cNvPicPr>
          <p:nvPr/>
        </p:nvPicPr>
        <p:blipFill>
          <a:blip r:embed="rId2"/>
          <a:stretch>
            <a:fillRect/>
          </a:stretch>
        </p:blipFill>
        <p:spPr>
          <a:xfrm>
            <a:off x="859536" y="1613916"/>
            <a:ext cx="132588" cy="132588"/>
          </a:xfrm>
          <a:prstGeom prst="rect">
            <a:avLst/>
          </a:prstGeom>
        </p:spPr>
      </p:pic>
      <p:sp>
        <p:nvSpPr>
          <p:cNvPr id="10" name="Text 6"/>
          <p:cNvSpPr txBox="1"/>
          <p:nvPr/>
        </p:nvSpPr>
        <p:spPr>
          <a:xfrm>
            <a:off x="1014984" y="1545336"/>
            <a:ext cx="1561795" cy="274320"/>
          </a:xfrm>
          <a:prstGeom prst="rect">
            <a:avLst/>
          </a:prstGeom>
          <a:noFill/>
          <a:ln/>
        </p:spPr>
        <p:txBody>
          <a:bodyPr wrap="square" lIns="0" tIns="0" rIns="0" bIns="0" rtlCol="0" anchor="ctr"/>
          <a:lstStyle/>
          <a:p>
            <a:pPr algn="ctr" indent="0" marL="0">
              <a:buNone/>
            </a:pPr>
            <a:r>
              <a:rPr lang="en-US" sz="850" b="1" spc="110" kern="0" dirty="0">
                <a:solidFill>
                  <a:srgbClr val="FFFFFF"/>
                </a:solidFill>
                <a:latin typeface="Calibri" pitchFamily="34" charset="0"/>
                <a:ea typeface="Calibri" pitchFamily="34" charset="-122"/>
                <a:cs typeface="Calibri" pitchFamily="34" charset="-120"/>
              </a:rPr>
              <a:t>64 FIXED INDICATORS</a:t>
            </a:r>
            <a:endParaRPr lang="en-US" sz="850" dirty="0"/>
          </a:p>
        </p:txBody>
      </p:sp>
      <p:sp>
        <p:nvSpPr>
          <p:cNvPr id="11" name="Shape 7"/>
          <p:cNvSpPr/>
          <p:nvPr/>
        </p:nvSpPr>
        <p:spPr>
          <a:xfrm>
            <a:off x="813816" y="2103120"/>
            <a:ext cx="1417320" cy="502920"/>
          </a:xfrm>
          <a:prstGeom prst="roundRect">
            <a:avLst>
              <a:gd name="adj" fmla="val 18182"/>
            </a:avLst>
          </a:prstGeom>
          <a:solidFill>
            <a:srgbClr val="E3EDFC"/>
          </a:solidFill>
          <a:ln w="15875">
            <a:solidFill>
              <a:srgbClr val="2F6FD0"/>
            </a:solidFill>
            <a:prstDash val="solid"/>
          </a:ln>
        </p:spPr>
      </p:sp>
      <p:sp>
        <p:nvSpPr>
          <p:cNvPr id="12" name="Text 8"/>
          <p:cNvSpPr txBox="1"/>
          <p:nvPr/>
        </p:nvSpPr>
        <p:spPr>
          <a:xfrm>
            <a:off x="905256" y="2103120"/>
            <a:ext cx="1234440" cy="502920"/>
          </a:xfrm>
          <a:prstGeom prst="rect">
            <a:avLst/>
          </a:prstGeom>
          <a:noFill/>
          <a:ln/>
        </p:spPr>
        <p:txBody>
          <a:bodyPr wrap="square" lIns="0" tIns="0" rIns="0" bIns="0" rtlCol="0" anchor="ctr"/>
          <a:lstStyle/>
          <a:p>
            <a:pPr algn="ctr" indent="0" marL="0">
              <a:lnSpc>
                <a:spcPct val="104000"/>
              </a:lnSpc>
              <a:buNone/>
            </a:pPr>
            <a:r>
              <a:rPr lang="en-US" sz="1000" b="1" dirty="0">
                <a:solidFill>
                  <a:srgbClr val="153A61"/>
                </a:solidFill>
                <a:latin typeface="Calibri" pitchFamily="34" charset="0"/>
                <a:ea typeface="Calibri" pitchFamily="34" charset="-122"/>
                <a:cs typeface="Calibri" pitchFamily="34" charset="-120"/>
              </a:rPr>
              <a:t>Target</a:t>
            </a:r>
            <a:endParaRPr lang="en-US" sz="1000" dirty="0"/>
          </a:p>
        </p:txBody>
      </p:sp>
      <p:sp>
        <p:nvSpPr>
          <p:cNvPr id="13" name="Shape 9"/>
          <p:cNvSpPr/>
          <p:nvPr/>
        </p:nvSpPr>
        <p:spPr>
          <a:xfrm>
            <a:off x="2423160" y="2221992"/>
            <a:ext cx="219456" cy="256032"/>
          </a:xfrm>
          <a:prstGeom prst="rect">
            <a:avLst/>
          </a:prstGeom>
          <a:solidFill>
            <a:srgbClr val="E0F3E3"/>
          </a:solidFill>
          <a:ln w="9525">
            <a:solidFill>
              <a:srgbClr val="2F8F48"/>
            </a:solidFill>
            <a:prstDash val="solid"/>
          </a:ln>
        </p:spPr>
      </p:sp>
      <p:sp>
        <p:nvSpPr>
          <p:cNvPr id="14" name="Shape 10"/>
          <p:cNvSpPr/>
          <p:nvPr/>
        </p:nvSpPr>
        <p:spPr>
          <a:xfrm>
            <a:off x="2715768" y="2221992"/>
            <a:ext cx="219456" cy="256032"/>
          </a:xfrm>
          <a:prstGeom prst="rect">
            <a:avLst/>
          </a:prstGeom>
          <a:solidFill>
            <a:srgbClr val="FCEDD4"/>
          </a:solidFill>
          <a:ln w="9525">
            <a:solidFill>
              <a:srgbClr val="C9871B"/>
            </a:solidFill>
            <a:prstDash val="solid"/>
          </a:ln>
        </p:spPr>
      </p:sp>
      <p:sp>
        <p:nvSpPr>
          <p:cNvPr id="15" name="Shape 11"/>
          <p:cNvSpPr/>
          <p:nvPr/>
        </p:nvSpPr>
        <p:spPr>
          <a:xfrm>
            <a:off x="3008376" y="2221992"/>
            <a:ext cx="219456" cy="256032"/>
          </a:xfrm>
          <a:prstGeom prst="rect">
            <a:avLst/>
          </a:prstGeom>
          <a:solidFill>
            <a:srgbClr val="E0F3E3"/>
          </a:solidFill>
          <a:ln w="9525">
            <a:solidFill>
              <a:srgbClr val="2F8F48"/>
            </a:solidFill>
            <a:prstDash val="solid"/>
          </a:ln>
        </p:spPr>
      </p:sp>
      <p:sp>
        <p:nvSpPr>
          <p:cNvPr id="16" name="Shape 12"/>
          <p:cNvSpPr/>
          <p:nvPr/>
        </p:nvSpPr>
        <p:spPr>
          <a:xfrm>
            <a:off x="3300984" y="2221992"/>
            <a:ext cx="219456" cy="256032"/>
          </a:xfrm>
          <a:prstGeom prst="rect">
            <a:avLst/>
          </a:prstGeom>
          <a:solidFill>
            <a:srgbClr val="FCEDD4"/>
          </a:solidFill>
          <a:ln w="9525">
            <a:solidFill>
              <a:srgbClr val="C9871B"/>
            </a:solidFill>
            <a:prstDash val="solid"/>
          </a:ln>
        </p:spPr>
      </p:sp>
      <p:sp>
        <p:nvSpPr>
          <p:cNvPr id="17" name="Shape 13"/>
          <p:cNvSpPr/>
          <p:nvPr/>
        </p:nvSpPr>
        <p:spPr>
          <a:xfrm>
            <a:off x="813816" y="2743200"/>
            <a:ext cx="1417320" cy="502920"/>
          </a:xfrm>
          <a:prstGeom prst="roundRect">
            <a:avLst>
              <a:gd name="adj" fmla="val 18182"/>
            </a:avLst>
          </a:prstGeom>
          <a:solidFill>
            <a:srgbClr val="EBE5FC"/>
          </a:solidFill>
          <a:ln w="15875">
            <a:solidFill>
              <a:srgbClr val="6D4DD1"/>
            </a:solidFill>
            <a:prstDash val="solid"/>
          </a:ln>
        </p:spPr>
      </p:sp>
      <p:sp>
        <p:nvSpPr>
          <p:cNvPr id="18" name="Text 14"/>
          <p:cNvSpPr txBox="1"/>
          <p:nvPr/>
        </p:nvSpPr>
        <p:spPr>
          <a:xfrm>
            <a:off x="905256" y="2743200"/>
            <a:ext cx="1234440" cy="502920"/>
          </a:xfrm>
          <a:prstGeom prst="rect">
            <a:avLst/>
          </a:prstGeom>
          <a:noFill/>
          <a:ln/>
        </p:spPr>
        <p:txBody>
          <a:bodyPr wrap="square" lIns="0" tIns="0" rIns="0" bIns="0" rtlCol="0" anchor="ctr"/>
          <a:lstStyle/>
          <a:p>
            <a:pPr algn="ctr" indent="0" marL="0">
              <a:lnSpc>
                <a:spcPct val="104000"/>
              </a:lnSpc>
              <a:buNone/>
            </a:pPr>
            <a:r>
              <a:rPr lang="en-US" sz="1000" b="1" dirty="0">
                <a:solidFill>
                  <a:srgbClr val="35236E"/>
                </a:solidFill>
                <a:latin typeface="Calibri" pitchFamily="34" charset="0"/>
                <a:ea typeface="Calibri" pitchFamily="34" charset="-122"/>
                <a:cs typeface="Calibri" pitchFamily="34" charset="-120"/>
              </a:rPr>
              <a:t>Governance</a:t>
            </a:r>
            <a:endParaRPr lang="en-US" sz="1000" dirty="0"/>
          </a:p>
        </p:txBody>
      </p:sp>
      <p:sp>
        <p:nvSpPr>
          <p:cNvPr id="19" name="Shape 15"/>
          <p:cNvSpPr/>
          <p:nvPr/>
        </p:nvSpPr>
        <p:spPr>
          <a:xfrm>
            <a:off x="2423160" y="2862072"/>
            <a:ext cx="219456" cy="256032"/>
          </a:xfrm>
          <a:prstGeom prst="rect">
            <a:avLst/>
          </a:prstGeom>
          <a:solidFill>
            <a:srgbClr val="E0F3E3"/>
          </a:solidFill>
          <a:ln w="9525">
            <a:solidFill>
              <a:srgbClr val="2F8F48"/>
            </a:solidFill>
            <a:prstDash val="solid"/>
          </a:ln>
        </p:spPr>
      </p:sp>
      <p:sp>
        <p:nvSpPr>
          <p:cNvPr id="20" name="Shape 16"/>
          <p:cNvSpPr/>
          <p:nvPr/>
        </p:nvSpPr>
        <p:spPr>
          <a:xfrm>
            <a:off x="2715768" y="2862072"/>
            <a:ext cx="219456" cy="256032"/>
          </a:xfrm>
          <a:prstGeom prst="rect">
            <a:avLst/>
          </a:prstGeom>
          <a:solidFill>
            <a:srgbClr val="FCEDD4"/>
          </a:solidFill>
          <a:ln w="9525">
            <a:solidFill>
              <a:srgbClr val="C9871B"/>
            </a:solidFill>
            <a:prstDash val="solid"/>
          </a:ln>
        </p:spPr>
      </p:sp>
      <p:sp>
        <p:nvSpPr>
          <p:cNvPr id="21" name="Shape 17"/>
          <p:cNvSpPr/>
          <p:nvPr/>
        </p:nvSpPr>
        <p:spPr>
          <a:xfrm>
            <a:off x="3008376" y="2862072"/>
            <a:ext cx="219456" cy="256032"/>
          </a:xfrm>
          <a:prstGeom prst="rect">
            <a:avLst/>
          </a:prstGeom>
          <a:solidFill>
            <a:srgbClr val="E0F3E3"/>
          </a:solidFill>
          <a:ln w="9525">
            <a:solidFill>
              <a:srgbClr val="2F8F48"/>
            </a:solidFill>
            <a:prstDash val="solid"/>
          </a:ln>
        </p:spPr>
      </p:sp>
      <p:sp>
        <p:nvSpPr>
          <p:cNvPr id="22" name="Shape 18"/>
          <p:cNvSpPr/>
          <p:nvPr/>
        </p:nvSpPr>
        <p:spPr>
          <a:xfrm>
            <a:off x="3300984" y="2862072"/>
            <a:ext cx="219456" cy="256032"/>
          </a:xfrm>
          <a:prstGeom prst="rect">
            <a:avLst/>
          </a:prstGeom>
          <a:solidFill>
            <a:srgbClr val="FCEDD4"/>
          </a:solidFill>
          <a:ln w="9525">
            <a:solidFill>
              <a:srgbClr val="C9871B"/>
            </a:solidFill>
            <a:prstDash val="solid"/>
          </a:ln>
        </p:spPr>
      </p:sp>
      <p:sp>
        <p:nvSpPr>
          <p:cNvPr id="23" name="Shape 19"/>
          <p:cNvSpPr/>
          <p:nvPr/>
        </p:nvSpPr>
        <p:spPr>
          <a:xfrm>
            <a:off x="813816" y="3383280"/>
            <a:ext cx="1417320" cy="502920"/>
          </a:xfrm>
          <a:prstGeom prst="roundRect">
            <a:avLst>
              <a:gd name="adj" fmla="val 18182"/>
            </a:avLst>
          </a:prstGeom>
          <a:solidFill>
            <a:srgbClr val="DCF2F4"/>
          </a:solidFill>
          <a:ln w="15875">
            <a:solidFill>
              <a:srgbClr val="108494"/>
            </a:solidFill>
            <a:prstDash val="solid"/>
          </a:ln>
        </p:spPr>
      </p:sp>
      <p:sp>
        <p:nvSpPr>
          <p:cNvPr id="24" name="Text 20"/>
          <p:cNvSpPr txBox="1"/>
          <p:nvPr/>
        </p:nvSpPr>
        <p:spPr>
          <a:xfrm>
            <a:off x="905256" y="3383280"/>
            <a:ext cx="1234440" cy="502920"/>
          </a:xfrm>
          <a:prstGeom prst="rect">
            <a:avLst/>
          </a:prstGeom>
          <a:noFill/>
          <a:ln/>
        </p:spPr>
        <p:txBody>
          <a:bodyPr wrap="square" lIns="0" tIns="0" rIns="0" bIns="0" rtlCol="0" anchor="ctr"/>
          <a:lstStyle/>
          <a:p>
            <a:pPr algn="ctr" indent="0" marL="0">
              <a:lnSpc>
                <a:spcPct val="104000"/>
              </a:lnSpc>
              <a:buNone/>
            </a:pPr>
            <a:r>
              <a:rPr lang="en-US" sz="1000" b="1" dirty="0">
                <a:solidFill>
                  <a:srgbClr val="0A4451"/>
                </a:solidFill>
                <a:latin typeface="Calibri" pitchFamily="34" charset="0"/>
                <a:ea typeface="Calibri" pitchFamily="34" charset="-122"/>
                <a:cs typeface="Calibri" pitchFamily="34" charset="-120"/>
              </a:rPr>
              <a:t>Strategy</a:t>
            </a:r>
            <a:endParaRPr lang="en-US" sz="1000" dirty="0"/>
          </a:p>
        </p:txBody>
      </p:sp>
      <p:sp>
        <p:nvSpPr>
          <p:cNvPr id="25" name="Shape 21"/>
          <p:cNvSpPr/>
          <p:nvPr/>
        </p:nvSpPr>
        <p:spPr>
          <a:xfrm>
            <a:off x="2423160" y="3502152"/>
            <a:ext cx="219456" cy="256032"/>
          </a:xfrm>
          <a:prstGeom prst="rect">
            <a:avLst/>
          </a:prstGeom>
          <a:solidFill>
            <a:srgbClr val="E0F3E3"/>
          </a:solidFill>
          <a:ln w="9525">
            <a:solidFill>
              <a:srgbClr val="2F8F48"/>
            </a:solidFill>
            <a:prstDash val="solid"/>
          </a:ln>
        </p:spPr>
      </p:sp>
      <p:sp>
        <p:nvSpPr>
          <p:cNvPr id="26" name="Shape 22"/>
          <p:cNvSpPr/>
          <p:nvPr/>
        </p:nvSpPr>
        <p:spPr>
          <a:xfrm>
            <a:off x="2715768" y="3502152"/>
            <a:ext cx="219456" cy="256032"/>
          </a:xfrm>
          <a:prstGeom prst="rect">
            <a:avLst/>
          </a:prstGeom>
          <a:solidFill>
            <a:srgbClr val="FCEDD4"/>
          </a:solidFill>
          <a:ln w="9525">
            <a:solidFill>
              <a:srgbClr val="C9871B"/>
            </a:solidFill>
            <a:prstDash val="solid"/>
          </a:ln>
        </p:spPr>
      </p:sp>
      <p:sp>
        <p:nvSpPr>
          <p:cNvPr id="27" name="Shape 23"/>
          <p:cNvSpPr/>
          <p:nvPr/>
        </p:nvSpPr>
        <p:spPr>
          <a:xfrm>
            <a:off x="3008376" y="3502152"/>
            <a:ext cx="219456" cy="256032"/>
          </a:xfrm>
          <a:prstGeom prst="rect">
            <a:avLst/>
          </a:prstGeom>
          <a:solidFill>
            <a:srgbClr val="E0F3E3"/>
          </a:solidFill>
          <a:ln w="9525">
            <a:solidFill>
              <a:srgbClr val="2F8F48"/>
            </a:solidFill>
            <a:prstDash val="solid"/>
          </a:ln>
        </p:spPr>
      </p:sp>
      <p:sp>
        <p:nvSpPr>
          <p:cNvPr id="28" name="Shape 24"/>
          <p:cNvSpPr/>
          <p:nvPr/>
        </p:nvSpPr>
        <p:spPr>
          <a:xfrm>
            <a:off x="3300984" y="3502152"/>
            <a:ext cx="219456" cy="256032"/>
          </a:xfrm>
          <a:prstGeom prst="rect">
            <a:avLst/>
          </a:prstGeom>
          <a:solidFill>
            <a:srgbClr val="FCEDD4"/>
          </a:solidFill>
          <a:ln w="9525">
            <a:solidFill>
              <a:srgbClr val="C9871B"/>
            </a:solidFill>
            <a:prstDash val="solid"/>
          </a:ln>
        </p:spPr>
      </p:sp>
      <p:sp>
        <p:nvSpPr>
          <p:cNvPr id="29" name="Shape 25"/>
          <p:cNvSpPr/>
          <p:nvPr/>
        </p:nvSpPr>
        <p:spPr>
          <a:xfrm>
            <a:off x="813816" y="4023360"/>
            <a:ext cx="1417320" cy="502920"/>
          </a:xfrm>
          <a:prstGeom prst="roundRect">
            <a:avLst>
              <a:gd name="adj" fmla="val 18182"/>
            </a:avLst>
          </a:prstGeom>
          <a:solidFill>
            <a:srgbClr val="E0F3E3"/>
          </a:solidFill>
          <a:ln w="15875">
            <a:solidFill>
              <a:srgbClr val="2F8F48"/>
            </a:solidFill>
            <a:prstDash val="solid"/>
          </a:ln>
        </p:spPr>
      </p:sp>
      <p:sp>
        <p:nvSpPr>
          <p:cNvPr id="30" name="Text 26"/>
          <p:cNvSpPr txBox="1"/>
          <p:nvPr/>
        </p:nvSpPr>
        <p:spPr>
          <a:xfrm>
            <a:off x="905256" y="4023360"/>
            <a:ext cx="1234440" cy="502920"/>
          </a:xfrm>
          <a:prstGeom prst="rect">
            <a:avLst/>
          </a:prstGeom>
          <a:noFill/>
          <a:ln/>
        </p:spPr>
        <p:txBody>
          <a:bodyPr wrap="square" lIns="0" tIns="0" rIns="0" bIns="0" rtlCol="0" anchor="ctr"/>
          <a:lstStyle/>
          <a:p>
            <a:pPr algn="ctr" indent="0" marL="0">
              <a:lnSpc>
                <a:spcPct val="104000"/>
              </a:lnSpc>
              <a:buNone/>
            </a:pPr>
            <a:r>
              <a:rPr lang="en-US" sz="1000" b="1" dirty="0">
                <a:solidFill>
                  <a:srgbClr val="17431F"/>
                </a:solidFill>
                <a:latin typeface="Calibri" pitchFamily="34" charset="0"/>
                <a:ea typeface="Calibri" pitchFamily="34" charset="-122"/>
                <a:cs typeface="Calibri" pitchFamily="34" charset="-120"/>
              </a:rPr>
              <a:t>Tracking</a:t>
            </a:r>
            <a:endParaRPr lang="en-US" sz="1000" dirty="0"/>
          </a:p>
        </p:txBody>
      </p:sp>
      <p:sp>
        <p:nvSpPr>
          <p:cNvPr id="31" name="Shape 27"/>
          <p:cNvSpPr/>
          <p:nvPr/>
        </p:nvSpPr>
        <p:spPr>
          <a:xfrm>
            <a:off x="2423160" y="4142232"/>
            <a:ext cx="219456" cy="256032"/>
          </a:xfrm>
          <a:prstGeom prst="rect">
            <a:avLst/>
          </a:prstGeom>
          <a:solidFill>
            <a:srgbClr val="E0F3E3"/>
          </a:solidFill>
          <a:ln w="9525">
            <a:solidFill>
              <a:srgbClr val="2F8F48"/>
            </a:solidFill>
            <a:prstDash val="solid"/>
          </a:ln>
        </p:spPr>
      </p:sp>
      <p:sp>
        <p:nvSpPr>
          <p:cNvPr id="32" name="Shape 28"/>
          <p:cNvSpPr/>
          <p:nvPr/>
        </p:nvSpPr>
        <p:spPr>
          <a:xfrm>
            <a:off x="2715768" y="4142232"/>
            <a:ext cx="219456" cy="256032"/>
          </a:xfrm>
          <a:prstGeom prst="rect">
            <a:avLst/>
          </a:prstGeom>
          <a:solidFill>
            <a:srgbClr val="FCEDD4"/>
          </a:solidFill>
          <a:ln w="9525">
            <a:solidFill>
              <a:srgbClr val="C9871B"/>
            </a:solidFill>
            <a:prstDash val="solid"/>
          </a:ln>
        </p:spPr>
      </p:sp>
      <p:sp>
        <p:nvSpPr>
          <p:cNvPr id="33" name="Shape 29"/>
          <p:cNvSpPr/>
          <p:nvPr/>
        </p:nvSpPr>
        <p:spPr>
          <a:xfrm>
            <a:off x="3008376" y="4142232"/>
            <a:ext cx="219456" cy="256032"/>
          </a:xfrm>
          <a:prstGeom prst="rect">
            <a:avLst/>
          </a:prstGeom>
          <a:solidFill>
            <a:srgbClr val="E0F3E3"/>
          </a:solidFill>
          <a:ln w="9525">
            <a:solidFill>
              <a:srgbClr val="2F8F48"/>
            </a:solidFill>
            <a:prstDash val="solid"/>
          </a:ln>
        </p:spPr>
      </p:sp>
      <p:sp>
        <p:nvSpPr>
          <p:cNvPr id="34" name="Shape 30"/>
          <p:cNvSpPr/>
          <p:nvPr/>
        </p:nvSpPr>
        <p:spPr>
          <a:xfrm>
            <a:off x="3300984" y="4142232"/>
            <a:ext cx="219456" cy="256032"/>
          </a:xfrm>
          <a:prstGeom prst="rect">
            <a:avLst/>
          </a:prstGeom>
          <a:solidFill>
            <a:srgbClr val="FCEDD4"/>
          </a:solidFill>
          <a:ln w="9525">
            <a:solidFill>
              <a:srgbClr val="C9871B"/>
            </a:solidFill>
            <a:prstDash val="solid"/>
          </a:ln>
        </p:spPr>
      </p:sp>
      <p:sp>
        <p:nvSpPr>
          <p:cNvPr id="35" name="Shape 31"/>
          <p:cNvSpPr/>
          <p:nvPr/>
        </p:nvSpPr>
        <p:spPr>
          <a:xfrm>
            <a:off x="868680" y="4626864"/>
            <a:ext cx="182880" cy="182880"/>
          </a:xfrm>
          <a:prstGeom prst="rect">
            <a:avLst/>
          </a:prstGeom>
          <a:solidFill>
            <a:srgbClr val="E0F3E3"/>
          </a:solidFill>
          <a:ln w="9525">
            <a:solidFill>
              <a:srgbClr val="2F8F48"/>
            </a:solidFill>
            <a:prstDash val="solid"/>
          </a:ln>
        </p:spPr>
      </p:sp>
      <p:sp>
        <p:nvSpPr>
          <p:cNvPr id="36" name="Text 32"/>
          <p:cNvSpPr txBox="1"/>
          <p:nvPr/>
        </p:nvSpPr>
        <p:spPr>
          <a:xfrm>
            <a:off x="1106424" y="4590288"/>
            <a:ext cx="731520" cy="237744"/>
          </a:xfrm>
          <a:prstGeom prst="rect">
            <a:avLst/>
          </a:prstGeom>
          <a:noFill/>
          <a:ln/>
        </p:spPr>
        <p:txBody>
          <a:bodyPr wrap="square" lIns="0" tIns="0" rIns="0" bIns="0" rtlCol="0" anchor="ctr"/>
          <a:lstStyle/>
          <a:p>
            <a:pPr algn="l" indent="0" marL="0">
              <a:buNone/>
            </a:pPr>
            <a:r>
              <a:rPr lang="en-US" sz="850" dirty="0">
                <a:solidFill>
                  <a:srgbClr val="17431F"/>
                </a:solidFill>
                <a:latin typeface="Calibri" pitchFamily="34" charset="0"/>
                <a:ea typeface="Calibri" pitchFamily="34" charset="-122"/>
                <a:cs typeface="Calibri" pitchFamily="34" charset="-120"/>
              </a:rPr>
              <a:t>walk</a:t>
            </a:r>
            <a:endParaRPr lang="en-US" sz="850" dirty="0"/>
          </a:p>
        </p:txBody>
      </p:sp>
      <p:sp>
        <p:nvSpPr>
          <p:cNvPr id="37" name="Shape 33"/>
          <p:cNvSpPr/>
          <p:nvPr/>
        </p:nvSpPr>
        <p:spPr>
          <a:xfrm>
            <a:off x="1920240" y="4626864"/>
            <a:ext cx="182880" cy="182880"/>
          </a:xfrm>
          <a:prstGeom prst="rect">
            <a:avLst/>
          </a:prstGeom>
          <a:solidFill>
            <a:srgbClr val="FCEDD4"/>
          </a:solidFill>
          <a:ln w="9525">
            <a:solidFill>
              <a:srgbClr val="C9871B"/>
            </a:solidFill>
            <a:prstDash val="solid"/>
          </a:ln>
        </p:spPr>
      </p:sp>
      <p:sp>
        <p:nvSpPr>
          <p:cNvPr id="38" name="Text 34"/>
          <p:cNvSpPr txBox="1"/>
          <p:nvPr/>
        </p:nvSpPr>
        <p:spPr>
          <a:xfrm>
            <a:off x="2157984" y="4590288"/>
            <a:ext cx="731520" cy="237744"/>
          </a:xfrm>
          <a:prstGeom prst="rect">
            <a:avLst/>
          </a:prstGeom>
          <a:noFill/>
          <a:ln/>
        </p:spPr>
        <p:txBody>
          <a:bodyPr wrap="square" lIns="0" tIns="0" rIns="0" bIns="0" rtlCol="0" anchor="ctr"/>
          <a:lstStyle/>
          <a:p>
            <a:pPr algn="l" indent="0" marL="0">
              <a:buNone/>
            </a:pPr>
            <a:r>
              <a:rPr lang="en-US" sz="850" dirty="0">
                <a:solidFill>
                  <a:srgbClr val="64430A"/>
                </a:solidFill>
                <a:latin typeface="Calibri" pitchFamily="34" charset="0"/>
                <a:ea typeface="Calibri" pitchFamily="34" charset="-122"/>
                <a:cs typeface="Calibri" pitchFamily="34" charset="-120"/>
              </a:rPr>
              <a:t>talk</a:t>
            </a:r>
            <a:endParaRPr lang="en-US" sz="850" dirty="0"/>
          </a:p>
        </p:txBody>
      </p:sp>
      <p:sp>
        <p:nvSpPr>
          <p:cNvPr id="39" name="Text 35"/>
          <p:cNvSpPr txBox="1"/>
          <p:nvPr/>
        </p:nvSpPr>
        <p:spPr>
          <a:xfrm>
            <a:off x="2788920" y="4590288"/>
            <a:ext cx="1097280" cy="237744"/>
          </a:xfrm>
          <a:prstGeom prst="rect">
            <a:avLst/>
          </a:prstGeom>
          <a:noFill/>
          <a:ln/>
        </p:spPr>
        <p:txBody>
          <a:bodyPr wrap="square" lIns="0" tIns="0" rIns="0" bIns="0" rtlCol="0" anchor="ctr"/>
          <a:lstStyle/>
          <a:p>
            <a:pPr algn="r" indent="0" marL="0">
              <a:buNone/>
            </a:pPr>
            <a:r>
              <a:rPr lang="en-US" sz="800" dirty="0">
                <a:solidFill>
                  <a:srgbClr val="58697A"/>
                </a:solidFill>
                <a:latin typeface="Calibri" pitchFamily="34" charset="0"/>
                <a:ea typeface="Calibri" pitchFamily="34" charset="-122"/>
                <a:cs typeface="Calibri" pitchFamily="34" charset="-120"/>
              </a:rPr>
              <a:t>per indicator</a:t>
            </a:r>
            <a:endParaRPr lang="en-US" sz="800" dirty="0"/>
          </a:p>
        </p:txBody>
      </p:sp>
      <p:sp>
        <p:nvSpPr>
          <p:cNvPr id="40" name="Shape 36"/>
          <p:cNvSpPr/>
          <p:nvPr/>
        </p:nvSpPr>
        <p:spPr>
          <a:xfrm>
            <a:off x="4434840" y="1783080"/>
            <a:ext cx="3383280" cy="841248"/>
          </a:xfrm>
          <a:prstGeom prst="roundRect">
            <a:avLst>
              <a:gd name="adj" fmla="val 10870"/>
            </a:avLst>
          </a:prstGeom>
          <a:solidFill>
            <a:srgbClr val="DCF2F4"/>
          </a:solidFill>
          <a:ln w="15875">
            <a:solidFill>
              <a:srgbClr val="108494"/>
            </a:solidFill>
            <a:prstDash val="solid"/>
          </a:ln>
          <a:effectLst>
            <a:outerShdw sx="100000" sy="100000" kx="0" ky="0" algn="bl" rotWithShape="0" blurRad="101600" dist="19050" dir="5400000">
              <a:srgbClr val="9FB0C2">
                <a:alpha val="24000"/>
              </a:srgbClr>
            </a:outerShdw>
          </a:effectLst>
        </p:spPr>
      </p:sp>
      <p:sp>
        <p:nvSpPr>
          <p:cNvPr id="41" name="Shape 37"/>
          <p:cNvSpPr/>
          <p:nvPr/>
        </p:nvSpPr>
        <p:spPr>
          <a:xfrm>
            <a:off x="4572000" y="2011680"/>
            <a:ext cx="384048" cy="384048"/>
          </a:xfrm>
          <a:prstGeom prst="roundRect">
            <a:avLst>
              <a:gd name="adj" fmla="val 23810"/>
            </a:avLst>
          </a:prstGeom>
          <a:solidFill>
            <a:srgbClr val="108494"/>
          </a:solidFill>
          <a:ln/>
        </p:spPr>
      </p:sp>
      <p:pic>
        <p:nvPicPr>
          <p:cNvPr id="42" name="Image 2" descr="preencoded.png">    </p:cNvPr>
          <p:cNvPicPr>
            <a:picLocks noChangeAspect="1"/>
          </p:cNvPicPr>
          <p:nvPr/>
        </p:nvPicPr>
        <p:blipFill>
          <a:blip r:embed="rId3"/>
          <a:stretch>
            <a:fillRect/>
          </a:stretch>
        </p:blipFill>
        <p:spPr>
          <a:xfrm>
            <a:off x="4656491" y="2096171"/>
            <a:ext cx="215067" cy="215067"/>
          </a:xfrm>
          <a:prstGeom prst="rect">
            <a:avLst/>
          </a:prstGeom>
        </p:spPr>
      </p:pic>
      <p:sp>
        <p:nvSpPr>
          <p:cNvPr id="43" name="Text 38"/>
          <p:cNvSpPr txBox="1"/>
          <p:nvPr/>
        </p:nvSpPr>
        <p:spPr>
          <a:xfrm>
            <a:off x="5093208" y="1783080"/>
            <a:ext cx="2615184" cy="841248"/>
          </a:xfrm>
          <a:prstGeom prst="rect">
            <a:avLst/>
          </a:prstGeom>
          <a:noFill/>
          <a:ln/>
        </p:spPr>
        <p:txBody>
          <a:bodyPr wrap="square" lIns="0" tIns="0" rIns="0" bIns="0" rtlCol="0" anchor="ctr"/>
          <a:lstStyle/>
          <a:p>
            <a:pPr algn="l" indent="0" marL="0">
              <a:lnSpc>
                <a:spcPct val="104000"/>
              </a:lnSpc>
              <a:buNone/>
            </a:pPr>
            <a:r>
              <a:rPr lang="en-US" sz="1050" b="1" dirty="0">
                <a:solidFill>
                  <a:srgbClr val="0A4451"/>
                </a:solidFill>
                <a:latin typeface="Calibri" pitchFamily="34" charset="0"/>
                <a:ea typeface="Calibri" pitchFamily="34" charset="-122"/>
                <a:cs typeface="Calibri" pitchFamily="34" charset="-120"/>
              </a:rPr>
              <a:t>Retrieve top-8 chunks</a:t>
            </a:r>
            <a:endParaRPr lang="en-US" sz="1050" dirty="0"/>
          </a:p>
          <a:p>
            <a:pPr algn="l" indent="0" marL="0">
              <a:lnSpc>
                <a:spcPct val="104000"/>
              </a:lnSpc>
              <a:buNone/>
            </a:pPr>
            <a:r>
              <a:rPr lang="en-US" sz="800" dirty="0">
                <a:solidFill>
                  <a:srgbClr val="0A4451"/>
                </a:solidFill>
                <a:latin typeface="Calibri" pitchFamily="34" charset="0"/>
                <a:ea typeface="Calibri" pitchFamily="34" charset="-122"/>
                <a:cs typeface="Calibri" pitchFamily="34" charset="-120"/>
              </a:rPr>
              <a:t>BM25 only — hybrid retrieval deliberately off, to reproduce the paper's behaviour</a:t>
            </a:r>
            <a:endParaRPr lang="en-US" sz="1050" dirty="0"/>
          </a:p>
        </p:txBody>
      </p:sp>
      <p:sp>
        <p:nvSpPr>
          <p:cNvPr id="44" name="Shape 39"/>
          <p:cNvSpPr/>
          <p:nvPr/>
        </p:nvSpPr>
        <p:spPr>
          <a:xfrm>
            <a:off x="6126480" y="2642616"/>
            <a:ext cx="0" cy="146304"/>
          </a:xfrm>
          <a:prstGeom prst="line">
            <a:avLst/>
          </a:prstGeom>
          <a:noFill/>
          <a:ln w="17780">
            <a:solidFill>
              <a:srgbClr val="64798F"/>
            </a:solidFill>
            <a:prstDash val="solid"/>
            <a:headEnd type="none"/>
            <a:tailEnd type="triangle"/>
          </a:ln>
        </p:spPr>
      </p:sp>
      <p:sp>
        <p:nvSpPr>
          <p:cNvPr id="45" name="Shape 40"/>
          <p:cNvSpPr/>
          <p:nvPr/>
        </p:nvSpPr>
        <p:spPr>
          <a:xfrm>
            <a:off x="4434840" y="2807208"/>
            <a:ext cx="3383280" cy="841248"/>
          </a:xfrm>
          <a:prstGeom prst="roundRect">
            <a:avLst>
              <a:gd name="adj" fmla="val 10870"/>
            </a:avLst>
          </a:prstGeom>
          <a:solidFill>
            <a:srgbClr val="EBE5FC"/>
          </a:solidFill>
          <a:ln w="15875">
            <a:solidFill>
              <a:srgbClr val="6D4DD1"/>
            </a:solidFill>
            <a:prstDash val="solid"/>
          </a:ln>
          <a:effectLst>
            <a:outerShdw sx="100000" sy="100000" kx="0" ky="0" algn="bl" rotWithShape="0" blurRad="101600" dist="19050" dir="5400000">
              <a:srgbClr val="9FB0C2">
                <a:alpha val="24000"/>
              </a:srgbClr>
            </a:outerShdw>
          </a:effectLst>
        </p:spPr>
      </p:sp>
      <p:sp>
        <p:nvSpPr>
          <p:cNvPr id="46" name="Shape 41"/>
          <p:cNvSpPr/>
          <p:nvPr/>
        </p:nvSpPr>
        <p:spPr>
          <a:xfrm>
            <a:off x="4572000" y="3035808"/>
            <a:ext cx="384048" cy="384048"/>
          </a:xfrm>
          <a:prstGeom prst="roundRect">
            <a:avLst>
              <a:gd name="adj" fmla="val 23810"/>
            </a:avLst>
          </a:prstGeom>
          <a:solidFill>
            <a:srgbClr val="6D4DD1"/>
          </a:solidFill>
          <a:ln/>
        </p:spPr>
      </p:sp>
      <p:pic>
        <p:nvPicPr>
          <p:cNvPr id="47" name="Image 3" descr="preencoded.png">    </p:cNvPr>
          <p:cNvPicPr>
            <a:picLocks noChangeAspect="1"/>
          </p:cNvPicPr>
          <p:nvPr/>
        </p:nvPicPr>
        <p:blipFill>
          <a:blip r:embed="rId4"/>
          <a:stretch>
            <a:fillRect/>
          </a:stretch>
        </p:blipFill>
        <p:spPr>
          <a:xfrm>
            <a:off x="4656491" y="3120299"/>
            <a:ext cx="215067" cy="215067"/>
          </a:xfrm>
          <a:prstGeom prst="rect">
            <a:avLst/>
          </a:prstGeom>
        </p:spPr>
      </p:pic>
      <p:sp>
        <p:nvSpPr>
          <p:cNvPr id="48" name="Text 42"/>
          <p:cNvSpPr txBox="1"/>
          <p:nvPr/>
        </p:nvSpPr>
        <p:spPr>
          <a:xfrm>
            <a:off x="5093208" y="2807208"/>
            <a:ext cx="2615184" cy="841248"/>
          </a:xfrm>
          <a:prstGeom prst="rect">
            <a:avLst/>
          </a:prstGeom>
          <a:noFill/>
          <a:ln/>
        </p:spPr>
        <p:txBody>
          <a:bodyPr wrap="square" lIns="0" tIns="0" rIns="0" bIns="0" rtlCol="0" anchor="ctr"/>
          <a:lstStyle/>
          <a:p>
            <a:pPr algn="l" indent="0" marL="0">
              <a:lnSpc>
                <a:spcPct val="104000"/>
              </a:lnSpc>
              <a:buNone/>
            </a:pPr>
            <a:r>
              <a:rPr lang="en-US" sz="1050" b="1" dirty="0">
                <a:solidFill>
                  <a:srgbClr val="35236E"/>
                </a:solidFill>
                <a:latin typeface="Calibri" pitchFamily="34" charset="0"/>
                <a:ea typeface="Calibri" pitchFamily="34" charset="-122"/>
                <a:cs typeface="Calibri" pitchFamily="34" charset="-120"/>
              </a:rPr>
              <a:t>Ask once</a:t>
            </a:r>
            <a:endParaRPr lang="en-US" sz="1050" dirty="0"/>
          </a:p>
          <a:p>
            <a:pPr algn="l" indent="0" marL="0">
              <a:lnSpc>
                <a:spcPct val="104000"/>
              </a:lnSpc>
              <a:buNone/>
            </a:pPr>
            <a:r>
              <a:rPr lang="en-US" sz="800" dirty="0">
                <a:solidFill>
                  <a:srgbClr val="35236E"/>
                </a:solidFill>
                <a:latin typeface="Calibri" pitchFamily="34" charset="0"/>
                <a:ea typeface="Calibri" pitchFamily="34" charset="-122"/>
                <a:cs typeface="Calibri" pitchFamily="34" charset="-120"/>
              </a:rPr>
              <a:t>the paper's senior-analyst persona, sceptical of cheap talk, 200-word cap</a:t>
            </a:r>
            <a:endParaRPr lang="en-US" sz="1050" dirty="0"/>
          </a:p>
        </p:txBody>
      </p:sp>
      <p:sp>
        <p:nvSpPr>
          <p:cNvPr id="49" name="Shape 43"/>
          <p:cNvSpPr/>
          <p:nvPr/>
        </p:nvSpPr>
        <p:spPr>
          <a:xfrm>
            <a:off x="6126480" y="3666744"/>
            <a:ext cx="0" cy="146304"/>
          </a:xfrm>
          <a:prstGeom prst="line">
            <a:avLst/>
          </a:prstGeom>
          <a:noFill/>
          <a:ln w="17780">
            <a:solidFill>
              <a:srgbClr val="64798F"/>
            </a:solidFill>
            <a:prstDash val="solid"/>
            <a:headEnd type="none"/>
            <a:tailEnd type="triangle"/>
          </a:ln>
        </p:spPr>
      </p:sp>
      <p:sp>
        <p:nvSpPr>
          <p:cNvPr id="50" name="Shape 44"/>
          <p:cNvSpPr/>
          <p:nvPr/>
        </p:nvSpPr>
        <p:spPr>
          <a:xfrm>
            <a:off x="4434840" y="3831336"/>
            <a:ext cx="3383280" cy="841248"/>
          </a:xfrm>
          <a:prstGeom prst="roundRect">
            <a:avLst>
              <a:gd name="adj" fmla="val 10870"/>
            </a:avLst>
          </a:prstGeom>
          <a:solidFill>
            <a:srgbClr val="FCEDD4"/>
          </a:solidFill>
          <a:ln w="15875">
            <a:solidFill>
              <a:srgbClr val="C9871B"/>
            </a:solidFill>
            <a:prstDash val="solid"/>
          </a:ln>
          <a:effectLst>
            <a:outerShdw sx="100000" sy="100000" kx="0" ky="0" algn="bl" rotWithShape="0" blurRad="101600" dist="19050" dir="5400000">
              <a:srgbClr val="9FB0C2">
                <a:alpha val="24000"/>
              </a:srgbClr>
            </a:outerShdw>
          </a:effectLst>
        </p:spPr>
      </p:sp>
      <p:sp>
        <p:nvSpPr>
          <p:cNvPr id="51" name="Shape 45"/>
          <p:cNvSpPr/>
          <p:nvPr/>
        </p:nvSpPr>
        <p:spPr>
          <a:xfrm>
            <a:off x="4572000" y="4059936"/>
            <a:ext cx="384048" cy="384048"/>
          </a:xfrm>
          <a:prstGeom prst="roundRect">
            <a:avLst>
              <a:gd name="adj" fmla="val 23810"/>
            </a:avLst>
          </a:prstGeom>
          <a:solidFill>
            <a:srgbClr val="C9871B"/>
          </a:solidFill>
          <a:ln/>
        </p:spPr>
      </p:sp>
      <p:pic>
        <p:nvPicPr>
          <p:cNvPr id="52" name="Image 4" descr="preencoded.png">    </p:cNvPr>
          <p:cNvPicPr>
            <a:picLocks noChangeAspect="1"/>
          </p:cNvPicPr>
          <p:nvPr/>
        </p:nvPicPr>
        <p:blipFill>
          <a:blip r:embed="rId5"/>
          <a:stretch>
            <a:fillRect/>
          </a:stretch>
        </p:blipFill>
        <p:spPr>
          <a:xfrm>
            <a:off x="4656491" y="4144427"/>
            <a:ext cx="215067" cy="215067"/>
          </a:xfrm>
          <a:prstGeom prst="rect">
            <a:avLst/>
          </a:prstGeom>
        </p:spPr>
      </p:pic>
      <p:sp>
        <p:nvSpPr>
          <p:cNvPr id="53" name="Text 46"/>
          <p:cNvSpPr txBox="1"/>
          <p:nvPr/>
        </p:nvSpPr>
        <p:spPr>
          <a:xfrm>
            <a:off x="5093208" y="3831336"/>
            <a:ext cx="2615184" cy="841248"/>
          </a:xfrm>
          <a:prstGeom prst="rect">
            <a:avLst/>
          </a:prstGeom>
          <a:noFill/>
          <a:ln/>
        </p:spPr>
        <p:txBody>
          <a:bodyPr wrap="square" lIns="0" tIns="0" rIns="0" bIns="0" rtlCol="0" anchor="ctr"/>
          <a:lstStyle/>
          <a:p>
            <a:pPr algn="l" indent="0" marL="0">
              <a:lnSpc>
                <a:spcPct val="104000"/>
              </a:lnSpc>
              <a:buNone/>
            </a:pPr>
            <a:r>
              <a:rPr lang="en-US" sz="1050" b="1" dirty="0">
                <a:solidFill>
                  <a:srgbClr val="64430A"/>
                </a:solidFill>
                <a:latin typeface="Calibri" pitchFamily="34" charset="0"/>
                <a:ea typeface="Calibri" pitchFamily="34" charset="-122"/>
                <a:cs typeface="Calibri" pitchFamily="34" charset="-120"/>
              </a:rPr>
              <a:t>Ground the citation</a:t>
            </a:r>
            <a:endParaRPr lang="en-US" sz="1050" dirty="0"/>
          </a:p>
          <a:p>
            <a:pPr algn="l" indent="0" marL="0">
              <a:lnSpc>
                <a:spcPct val="104000"/>
              </a:lnSpc>
              <a:buNone/>
            </a:pPr>
            <a:r>
              <a:rPr lang="en-US" sz="800" dirty="0">
                <a:solidFill>
                  <a:srgbClr val="64430A"/>
                </a:solidFill>
                <a:latin typeface="Calibri" pitchFamily="34" charset="0"/>
                <a:ea typeface="Calibri" pitchFamily="34" charset="-122"/>
                <a:cs typeface="Calibri" pitchFamily="34" charset="-120"/>
              </a:rPr>
              <a:t>quote re-verified against the source document, in code</a:t>
            </a:r>
            <a:endParaRPr lang="en-US" sz="1050" dirty="0"/>
          </a:p>
        </p:txBody>
      </p:sp>
      <p:sp>
        <p:nvSpPr>
          <p:cNvPr id="54" name="Shape 47"/>
          <p:cNvSpPr/>
          <p:nvPr/>
        </p:nvSpPr>
        <p:spPr>
          <a:xfrm>
            <a:off x="4023360" y="3200400"/>
            <a:ext cx="356616" cy="0"/>
          </a:xfrm>
          <a:prstGeom prst="line">
            <a:avLst/>
          </a:prstGeom>
          <a:noFill/>
          <a:ln w="19050">
            <a:solidFill>
              <a:srgbClr val="64798F"/>
            </a:solidFill>
            <a:prstDash val="solid"/>
            <a:headEnd type="none"/>
            <a:tailEnd type="triangle"/>
          </a:ln>
        </p:spPr>
      </p:sp>
      <p:sp>
        <p:nvSpPr>
          <p:cNvPr id="55" name="Shape 48"/>
          <p:cNvSpPr/>
          <p:nvPr/>
        </p:nvSpPr>
        <p:spPr>
          <a:xfrm flipH="1">
            <a:off x="4160520" y="4572000"/>
            <a:ext cx="274320" cy="0"/>
          </a:xfrm>
          <a:prstGeom prst="line">
            <a:avLst/>
          </a:prstGeom>
          <a:noFill/>
          <a:ln w="15240">
            <a:solidFill>
              <a:srgbClr val="64798F"/>
            </a:solidFill>
            <a:prstDash val="dash"/>
            <a:headEnd type="none"/>
            <a:tailEnd type="none"/>
          </a:ln>
        </p:spPr>
      </p:sp>
      <p:sp>
        <p:nvSpPr>
          <p:cNvPr id="56" name="Shape 49"/>
          <p:cNvSpPr/>
          <p:nvPr/>
        </p:nvSpPr>
        <p:spPr>
          <a:xfrm flipV="1">
            <a:off x="4160520" y="2203704"/>
            <a:ext cx="0" cy="2368296"/>
          </a:xfrm>
          <a:prstGeom prst="line">
            <a:avLst/>
          </a:prstGeom>
          <a:noFill/>
          <a:ln w="15240">
            <a:solidFill>
              <a:srgbClr val="64798F"/>
            </a:solidFill>
            <a:prstDash val="dash"/>
            <a:headEnd type="none"/>
            <a:tailEnd type="none"/>
          </a:ln>
        </p:spPr>
      </p:sp>
      <p:sp>
        <p:nvSpPr>
          <p:cNvPr id="57" name="Shape 50"/>
          <p:cNvSpPr/>
          <p:nvPr/>
        </p:nvSpPr>
        <p:spPr>
          <a:xfrm>
            <a:off x="4160520" y="2203704"/>
            <a:ext cx="237744" cy="0"/>
          </a:xfrm>
          <a:prstGeom prst="line">
            <a:avLst/>
          </a:prstGeom>
          <a:noFill/>
          <a:ln w="15240">
            <a:solidFill>
              <a:srgbClr val="64798F"/>
            </a:solidFill>
            <a:prstDash val="dash"/>
            <a:headEnd type="none"/>
            <a:tailEnd type="triangle"/>
          </a:ln>
        </p:spPr>
      </p:sp>
      <p:sp>
        <p:nvSpPr>
          <p:cNvPr id="58" name="Text 51"/>
          <p:cNvSpPr txBox="1"/>
          <p:nvPr/>
        </p:nvSpPr>
        <p:spPr>
          <a:xfrm>
            <a:off x="4206240" y="4754880"/>
            <a:ext cx="2743200" cy="201168"/>
          </a:xfrm>
          <a:prstGeom prst="rect">
            <a:avLst/>
          </a:prstGeom>
          <a:noFill/>
          <a:ln/>
        </p:spPr>
        <p:txBody>
          <a:bodyPr wrap="square" lIns="0" tIns="0" rIns="0" bIns="0" rtlCol="0" anchor="ctr"/>
          <a:lstStyle/>
          <a:p>
            <a:pPr algn="l" indent="0" marL="0">
              <a:buNone/>
            </a:pPr>
            <a:r>
              <a:rPr lang="en-US" sz="800" i="1" dirty="0">
                <a:solidFill>
                  <a:srgbClr val="58697A"/>
                </a:solidFill>
                <a:latin typeface="Calibri" pitchFamily="34" charset="0"/>
                <a:ea typeface="Calibri" pitchFamily="34" charset="-122"/>
                <a:cs typeface="Calibri" pitchFamily="34" charset="-120"/>
              </a:rPr>
              <a:t>repeated for all 64 indicators</a:t>
            </a:r>
            <a:endParaRPr lang="en-US" sz="800" dirty="0"/>
          </a:p>
        </p:txBody>
      </p:sp>
      <p:sp>
        <p:nvSpPr>
          <p:cNvPr id="59" name="Shape 52"/>
          <p:cNvSpPr/>
          <p:nvPr/>
        </p:nvSpPr>
        <p:spPr>
          <a:xfrm>
            <a:off x="8229600" y="1783080"/>
            <a:ext cx="3364992" cy="731520"/>
          </a:xfrm>
          <a:prstGeom prst="roundRect">
            <a:avLst>
              <a:gd name="adj" fmla="val 12500"/>
            </a:avLst>
          </a:prstGeom>
          <a:solidFill>
            <a:srgbClr val="E0F3E3"/>
          </a:solidFill>
          <a:ln w="15875">
            <a:solidFill>
              <a:srgbClr val="2F8F48"/>
            </a:solidFill>
            <a:prstDash val="solid"/>
          </a:ln>
          <a:effectLst>
            <a:outerShdw sx="100000" sy="100000" kx="0" ky="0" algn="bl" rotWithShape="0" blurRad="101600" dist="19050" dir="5400000">
              <a:srgbClr val="9FB0C2">
                <a:alpha val="24000"/>
              </a:srgbClr>
            </a:outerShdw>
          </a:effectLst>
        </p:spPr>
      </p:sp>
      <p:pic>
        <p:nvPicPr>
          <p:cNvPr id="60" name="Image 5" descr="preencoded.png">    </p:cNvPr>
          <p:cNvPicPr>
            <a:picLocks noChangeAspect="1"/>
          </p:cNvPicPr>
          <p:nvPr/>
        </p:nvPicPr>
        <p:blipFill>
          <a:blip r:embed="rId6"/>
          <a:stretch>
            <a:fillRect/>
          </a:stretch>
        </p:blipFill>
        <p:spPr>
          <a:xfrm>
            <a:off x="8348472" y="1883664"/>
            <a:ext cx="182880" cy="182880"/>
          </a:xfrm>
          <a:prstGeom prst="rect">
            <a:avLst/>
          </a:prstGeom>
        </p:spPr>
      </p:pic>
      <p:sp>
        <p:nvSpPr>
          <p:cNvPr id="61" name="Text 53"/>
          <p:cNvSpPr txBox="1"/>
          <p:nvPr/>
        </p:nvSpPr>
        <p:spPr>
          <a:xfrm>
            <a:off x="8321040" y="1783080"/>
            <a:ext cx="3182112" cy="731520"/>
          </a:xfrm>
          <a:prstGeom prst="rect">
            <a:avLst/>
          </a:prstGeom>
          <a:noFill/>
          <a:ln/>
        </p:spPr>
        <p:txBody>
          <a:bodyPr wrap="square" lIns="0" tIns="0" rIns="0" bIns="0" rtlCol="0" anchor="ctr"/>
          <a:lstStyle/>
          <a:p>
            <a:pPr algn="ctr" indent="0" marL="0">
              <a:lnSpc>
                <a:spcPct val="104000"/>
              </a:lnSpc>
              <a:buNone/>
            </a:pPr>
            <a:r>
              <a:rPr lang="en-US" sz="1050" b="1" dirty="0">
                <a:solidFill>
                  <a:srgbClr val="17431F"/>
                </a:solidFill>
                <a:latin typeface="Calibri" pitchFamily="34" charset="0"/>
                <a:ea typeface="Calibri" pitchFamily="34" charset="-122"/>
                <a:cs typeface="Calibri" pitchFamily="34" charset="-120"/>
              </a:rPr>
              <a:t>YES / NO / NA + explanation</a:t>
            </a:r>
            <a:endParaRPr lang="en-US" sz="1050" dirty="0"/>
          </a:p>
          <a:p>
            <a:pPr algn="ctr" indent="0" marL="0">
              <a:lnSpc>
                <a:spcPct val="104000"/>
              </a:lnSpc>
              <a:buNone/>
            </a:pPr>
            <a:r>
              <a:rPr lang="en-US" sz="800" dirty="0">
                <a:solidFill>
                  <a:srgbClr val="17431F"/>
                </a:solidFill>
                <a:latin typeface="Calibri" pitchFamily="34" charset="0"/>
                <a:ea typeface="Calibri" pitchFamily="34" charset="-122"/>
                <a:cs typeface="Calibri" pitchFamily="34" charset="-120"/>
              </a:rPr>
              <a:t>NA is a real answer, not a skip</a:t>
            </a:r>
            <a:endParaRPr lang="en-US" sz="1050" dirty="0"/>
          </a:p>
        </p:txBody>
      </p:sp>
      <p:sp>
        <p:nvSpPr>
          <p:cNvPr id="62" name="Shape 54"/>
          <p:cNvSpPr/>
          <p:nvPr/>
        </p:nvSpPr>
        <p:spPr>
          <a:xfrm>
            <a:off x="8229600" y="2697480"/>
            <a:ext cx="3364992" cy="731520"/>
          </a:xfrm>
          <a:prstGeom prst="roundRect">
            <a:avLst>
              <a:gd name="adj" fmla="val 12500"/>
            </a:avLst>
          </a:prstGeom>
          <a:solidFill>
            <a:srgbClr val="FBE2E8"/>
          </a:solidFill>
          <a:ln w="15875">
            <a:solidFill>
              <a:srgbClr val="CE3D64"/>
            </a:solidFill>
            <a:prstDash val="solid"/>
          </a:ln>
          <a:effectLst>
            <a:outerShdw sx="100000" sy="100000" kx="0" ky="0" algn="bl" rotWithShape="0" blurRad="101600" dist="19050" dir="5400000">
              <a:srgbClr val="9FB0C2">
                <a:alpha val="24000"/>
              </a:srgbClr>
            </a:outerShdw>
          </a:effectLst>
        </p:spPr>
      </p:sp>
      <p:pic>
        <p:nvPicPr>
          <p:cNvPr id="63" name="Image 6" descr="preencoded.png">    </p:cNvPr>
          <p:cNvPicPr>
            <a:picLocks noChangeAspect="1"/>
          </p:cNvPicPr>
          <p:nvPr/>
        </p:nvPicPr>
        <p:blipFill>
          <a:blip r:embed="rId7"/>
          <a:stretch>
            <a:fillRect/>
          </a:stretch>
        </p:blipFill>
        <p:spPr>
          <a:xfrm>
            <a:off x="8348472" y="2798064"/>
            <a:ext cx="182880" cy="182880"/>
          </a:xfrm>
          <a:prstGeom prst="rect">
            <a:avLst/>
          </a:prstGeom>
        </p:spPr>
      </p:pic>
      <p:sp>
        <p:nvSpPr>
          <p:cNvPr id="64" name="Text 55"/>
          <p:cNvSpPr txBox="1"/>
          <p:nvPr/>
        </p:nvSpPr>
        <p:spPr>
          <a:xfrm>
            <a:off x="8321040" y="2697480"/>
            <a:ext cx="3182112" cy="731520"/>
          </a:xfrm>
          <a:prstGeom prst="rect">
            <a:avLst/>
          </a:prstGeom>
          <a:noFill/>
          <a:ln/>
        </p:spPr>
        <p:txBody>
          <a:bodyPr wrap="square" lIns="0" tIns="0" rIns="0" bIns="0" rtlCol="0" anchor="ctr"/>
          <a:lstStyle/>
          <a:p>
            <a:pPr algn="ctr" indent="0" marL="0">
              <a:lnSpc>
                <a:spcPct val="104000"/>
              </a:lnSpc>
              <a:buNone/>
            </a:pPr>
            <a:r>
              <a:rPr lang="en-US" sz="1050" b="1" dirty="0">
                <a:solidFill>
                  <a:srgbClr val="68182F"/>
                </a:solidFill>
                <a:latin typeface="Calibri" pitchFamily="34" charset="0"/>
                <a:ea typeface="Calibri" pitchFamily="34" charset="-122"/>
                <a:cs typeface="Calibri" pitchFamily="34" charset="-120"/>
              </a:rPr>
              <a:t>Ungrounded verdict → review</a:t>
            </a:r>
            <a:endParaRPr lang="en-US" sz="1050" dirty="0"/>
          </a:p>
          <a:p>
            <a:pPr algn="ctr" indent="0" marL="0">
              <a:lnSpc>
                <a:spcPct val="104000"/>
              </a:lnSpc>
              <a:buNone/>
            </a:pPr>
            <a:r>
              <a:rPr lang="en-US" sz="800" dirty="0">
                <a:solidFill>
                  <a:srgbClr val="68182F"/>
                </a:solidFill>
                <a:latin typeface="Calibri" pitchFamily="34" charset="0"/>
                <a:ea typeface="Calibri" pitchFamily="34" charset="-122"/>
                <a:cs typeface="Calibri" pitchFamily="34" charset="-120"/>
              </a:rPr>
              <a:t>not accepted at face value</a:t>
            </a:r>
            <a:endParaRPr lang="en-US" sz="1050" dirty="0"/>
          </a:p>
        </p:txBody>
      </p:sp>
      <p:sp>
        <p:nvSpPr>
          <p:cNvPr id="65" name="Shape 56"/>
          <p:cNvSpPr/>
          <p:nvPr/>
        </p:nvSpPr>
        <p:spPr>
          <a:xfrm>
            <a:off x="8229600" y="3611880"/>
            <a:ext cx="3364992" cy="1115568"/>
          </a:xfrm>
          <a:prstGeom prst="roundRect">
            <a:avLst>
              <a:gd name="adj" fmla="val 8197"/>
            </a:avLst>
          </a:prstGeom>
          <a:solidFill>
            <a:srgbClr val="E0F3E3"/>
          </a:solidFill>
          <a:ln w="15875">
            <a:solidFill>
              <a:srgbClr val="2F8F48"/>
            </a:solidFill>
            <a:prstDash val="solid"/>
          </a:ln>
          <a:effectLst>
            <a:outerShdw sx="100000" sy="100000" kx="0" ky="0" algn="bl" rotWithShape="0" blurRad="101600" dist="19050" dir="5400000">
              <a:srgbClr val="9FB0C2">
                <a:alpha val="24000"/>
              </a:srgbClr>
            </a:outerShdw>
          </a:effectLst>
        </p:spPr>
      </p:sp>
      <p:pic>
        <p:nvPicPr>
          <p:cNvPr id="66" name="Image 7" descr="preencoded.png">    </p:cNvPr>
          <p:cNvPicPr>
            <a:picLocks noChangeAspect="1"/>
          </p:cNvPicPr>
          <p:nvPr/>
        </p:nvPicPr>
        <p:blipFill>
          <a:blip r:embed="rId8"/>
          <a:stretch>
            <a:fillRect/>
          </a:stretch>
        </p:blipFill>
        <p:spPr>
          <a:xfrm>
            <a:off x="8348472" y="3712464"/>
            <a:ext cx="182880" cy="182880"/>
          </a:xfrm>
          <a:prstGeom prst="rect">
            <a:avLst/>
          </a:prstGeom>
        </p:spPr>
      </p:pic>
      <p:sp>
        <p:nvSpPr>
          <p:cNvPr id="67" name="Text 57"/>
          <p:cNvSpPr txBox="1"/>
          <p:nvPr/>
        </p:nvSpPr>
        <p:spPr>
          <a:xfrm>
            <a:off x="8321040" y="3611880"/>
            <a:ext cx="3182112" cy="1115568"/>
          </a:xfrm>
          <a:prstGeom prst="rect">
            <a:avLst/>
          </a:prstGeom>
          <a:noFill/>
          <a:ln/>
        </p:spPr>
        <p:txBody>
          <a:bodyPr wrap="square" lIns="0" tIns="0" rIns="0" bIns="0" rtlCol="0" anchor="ctr"/>
          <a:lstStyle/>
          <a:p>
            <a:pPr algn="ctr" indent="0" marL="0">
              <a:lnSpc>
                <a:spcPct val="104000"/>
              </a:lnSpc>
              <a:buNone/>
            </a:pPr>
            <a:r>
              <a:rPr lang="en-US" sz="700" b="1" spc="110" kern="0" dirty="0">
                <a:solidFill>
                  <a:srgbClr val="2F8F48"/>
                </a:solidFill>
                <a:latin typeface="Calibri" pitchFamily="34" charset="0"/>
                <a:ea typeface="Calibri" pitchFamily="34" charset="-122"/>
                <a:cs typeface="Calibri" pitchFamily="34" charset="-120"/>
              </a:rPr>
              <a:t>HEADLINE METRIC</a:t>
            </a:r>
            <a:endParaRPr lang="en-US" sz="700" dirty="0"/>
          </a:p>
          <a:p>
            <a:pPr algn="ctr" indent="0" marL="0">
              <a:lnSpc>
                <a:spcPct val="104000"/>
              </a:lnSpc>
              <a:buNone/>
            </a:pPr>
            <a:r>
              <a:rPr lang="en-US" sz="1150" b="1" dirty="0">
                <a:solidFill>
                  <a:srgbClr val="17431F"/>
                </a:solidFill>
                <a:latin typeface="Calibri" pitchFamily="34" charset="0"/>
                <a:ea typeface="Calibri" pitchFamily="34" charset="-122"/>
                <a:cs typeface="Calibri" pitchFamily="34" charset="-120"/>
              </a:rPr>
              <a:t>Walk / talk grid</a:t>
            </a:r>
            <a:endParaRPr lang="en-US" sz="700" dirty="0"/>
          </a:p>
          <a:p>
            <a:pPr algn="ctr" indent="0" marL="0">
              <a:lnSpc>
                <a:spcPct val="104000"/>
              </a:lnSpc>
              <a:buNone/>
            </a:pPr>
            <a:r>
              <a:rPr lang="en-US" sz="800" dirty="0">
                <a:solidFill>
                  <a:srgbClr val="17431F"/>
                </a:solidFill>
                <a:latin typeface="Calibri" pitchFamily="34" charset="0"/>
                <a:ea typeface="Calibri" pitchFamily="34" charset="-122"/>
                <a:cs typeface="Calibri" pitchFamily="34" charset="-120"/>
              </a:rPr>
              <a:t>disclosed count out of 64, per category — the paper's disclosure-completeness score</a:t>
            </a:r>
            <a:endParaRPr lang="en-US" sz="700" dirty="0"/>
          </a:p>
        </p:txBody>
      </p:sp>
      <p:sp>
        <p:nvSpPr>
          <p:cNvPr id="68" name="Shape 58"/>
          <p:cNvSpPr/>
          <p:nvPr/>
        </p:nvSpPr>
        <p:spPr>
          <a:xfrm flipV="1">
            <a:off x="7863840" y="2148840"/>
            <a:ext cx="310896" cy="777240"/>
          </a:xfrm>
          <a:prstGeom prst="line">
            <a:avLst/>
          </a:prstGeom>
          <a:noFill/>
          <a:ln w="16510">
            <a:solidFill>
              <a:srgbClr val="2F8F48"/>
            </a:solidFill>
            <a:prstDash val="solid"/>
            <a:headEnd type="none"/>
            <a:tailEnd type="triangle"/>
          </a:ln>
        </p:spPr>
      </p:sp>
      <p:sp>
        <p:nvSpPr>
          <p:cNvPr id="69" name="Shape 59"/>
          <p:cNvSpPr/>
          <p:nvPr/>
        </p:nvSpPr>
        <p:spPr>
          <a:xfrm flipV="1">
            <a:off x="7863840" y="3063240"/>
            <a:ext cx="310896" cy="137160"/>
          </a:xfrm>
          <a:prstGeom prst="line">
            <a:avLst/>
          </a:prstGeom>
          <a:noFill/>
          <a:ln w="16510">
            <a:solidFill>
              <a:srgbClr val="CE3D64"/>
            </a:solidFill>
            <a:prstDash val="solid"/>
            <a:headEnd type="none"/>
            <a:tailEnd type="triangle"/>
          </a:ln>
        </p:spPr>
      </p:sp>
      <p:sp>
        <p:nvSpPr>
          <p:cNvPr id="70" name="Shape 60"/>
          <p:cNvSpPr/>
          <p:nvPr/>
        </p:nvSpPr>
        <p:spPr>
          <a:xfrm>
            <a:off x="7863840" y="3474720"/>
            <a:ext cx="310896" cy="457200"/>
          </a:xfrm>
          <a:prstGeom prst="line">
            <a:avLst/>
          </a:prstGeom>
          <a:noFill/>
          <a:ln w="16510">
            <a:solidFill>
              <a:srgbClr val="2F8F48"/>
            </a:solidFill>
            <a:prstDash val="solid"/>
            <a:headEnd type="none"/>
            <a:tailEnd type="triangle"/>
          </a:ln>
        </p:spPr>
      </p:sp>
      <p:sp>
        <p:nvSpPr>
          <p:cNvPr id="71" name="Shape 61"/>
          <p:cNvSpPr/>
          <p:nvPr/>
        </p:nvSpPr>
        <p:spPr>
          <a:xfrm>
            <a:off x="594360" y="5120640"/>
            <a:ext cx="11000232" cy="658368"/>
          </a:xfrm>
          <a:prstGeom prst="roundRect">
            <a:avLst>
              <a:gd name="adj" fmla="val 5556"/>
            </a:avLst>
          </a:prstGeom>
          <a:solidFill>
            <a:srgbClr val="F4F7FA"/>
          </a:solidFill>
          <a:ln w="15875">
            <a:solidFill>
              <a:srgbClr val="DDE5ED"/>
            </a:solidFill>
            <a:prstDash val="solid"/>
          </a:ln>
        </p:spPr>
      </p:sp>
      <p:sp>
        <p:nvSpPr>
          <p:cNvPr id="72" name="Text 62"/>
          <p:cNvSpPr txBox="1"/>
          <p:nvPr/>
        </p:nvSpPr>
        <p:spPr>
          <a:xfrm>
            <a:off x="795528" y="5120640"/>
            <a:ext cx="10597896" cy="658368"/>
          </a:xfrm>
          <a:prstGeom prst="rect">
            <a:avLst/>
          </a:prstGeom>
          <a:noFill/>
          <a:ln/>
        </p:spPr>
        <p:txBody>
          <a:bodyPr wrap="square" lIns="0" tIns="0" rIns="0" bIns="0" rtlCol="0" anchor="ctr"/>
          <a:lstStyle/>
          <a:p>
            <a:pPr indent="0" marL="0">
              <a:buNone/>
            </a:pPr>
            <a:r>
              <a:rPr lang="en-US" sz="930" b="1" dirty="0">
                <a:solidFill>
                  <a:srgbClr val="C9871B"/>
                </a:solidFill>
                <a:latin typeface="Calibri" pitchFamily="34" charset="0"/>
                <a:ea typeface="Calibri" pitchFamily="34" charset="-122"/>
                <a:cs typeface="Calibri" pitchFamily="34" charset="-120"/>
              </a:rPr>
              <a:t>Two deliberate deviations from the paper, both about not trusting a self-report.  </a:t>
            </a:r>
            <a:pPr indent="0" marL="0">
              <a:buNone/>
            </a:pPr>
            <a:r>
              <a:rPr lang="en-US" sz="930" dirty="0">
                <a:solidFill>
                  <a:srgbClr val="43566B"/>
                </a:solidFill>
                <a:latin typeface="Calibri" pitchFamily="34" charset="0"/>
                <a:ea typeface="Calibri" pitchFamily="34" charset="-122"/>
                <a:cs typeface="Calibri" pitchFamily="34" charset="-120"/>
              </a:rPr>
              <a:t>The paper's tool asks the model which source chunk it used; this asks for verbatim quotes and re-verifies each one. And BM25 stands in for the paper's OpenAI embeddings — behaviourally equivalent top-8 retrieval, consistent with the rest of this codebase, at no extra API cost. Everything else, including the single-pass shape with no verifier, is kept as published.</a:t>
            </a:r>
            <a:endParaRPr lang="en-US" sz="930" dirty="0"/>
          </a:p>
        </p:txBody>
      </p:sp>
      <p:sp>
        <p:nvSpPr>
          <p:cNvPr id="73" name="Shape 63"/>
          <p:cNvSpPr/>
          <p:nvPr/>
        </p:nvSpPr>
        <p:spPr>
          <a:xfrm>
            <a:off x="594360" y="6172200"/>
            <a:ext cx="155448" cy="155448"/>
          </a:xfrm>
          <a:prstGeom prst="roundRect">
            <a:avLst>
              <a:gd name="adj" fmla="val 29412"/>
            </a:avLst>
          </a:prstGeom>
          <a:solidFill>
            <a:srgbClr val="2F6FD0"/>
          </a:solidFill>
          <a:ln/>
        </p:spPr>
      </p:sp>
      <p:sp>
        <p:nvSpPr>
          <p:cNvPr id="74" name="Text 64"/>
          <p:cNvSpPr txBox="1"/>
          <p:nvPr/>
        </p:nvSpPr>
        <p:spPr>
          <a:xfrm>
            <a:off x="813816" y="6144768"/>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source / input</a:t>
            </a:r>
            <a:endParaRPr lang="en-US" sz="880" dirty="0"/>
          </a:p>
        </p:txBody>
      </p:sp>
      <p:sp>
        <p:nvSpPr>
          <p:cNvPr id="75" name="Shape 65"/>
          <p:cNvSpPr/>
          <p:nvPr/>
        </p:nvSpPr>
        <p:spPr>
          <a:xfrm>
            <a:off x="2427732" y="6172200"/>
            <a:ext cx="155448" cy="155448"/>
          </a:xfrm>
          <a:prstGeom prst="roundRect">
            <a:avLst>
              <a:gd name="adj" fmla="val 29412"/>
            </a:avLst>
          </a:prstGeom>
          <a:solidFill>
            <a:srgbClr val="108494"/>
          </a:solidFill>
          <a:ln/>
        </p:spPr>
      </p:sp>
      <p:sp>
        <p:nvSpPr>
          <p:cNvPr id="76" name="Text 66"/>
          <p:cNvSpPr txBox="1"/>
          <p:nvPr/>
        </p:nvSpPr>
        <p:spPr>
          <a:xfrm>
            <a:off x="2647188" y="6144768"/>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deterministic step</a:t>
            </a:r>
            <a:endParaRPr lang="en-US" sz="880" dirty="0"/>
          </a:p>
        </p:txBody>
      </p:sp>
      <p:sp>
        <p:nvSpPr>
          <p:cNvPr id="77" name="Shape 67"/>
          <p:cNvSpPr/>
          <p:nvPr/>
        </p:nvSpPr>
        <p:spPr>
          <a:xfrm>
            <a:off x="4261104" y="6172200"/>
            <a:ext cx="155448" cy="155448"/>
          </a:xfrm>
          <a:prstGeom prst="roundRect">
            <a:avLst>
              <a:gd name="adj" fmla="val 29412"/>
            </a:avLst>
          </a:prstGeom>
          <a:solidFill>
            <a:srgbClr val="6D4DD1"/>
          </a:solidFill>
          <a:ln/>
        </p:spPr>
      </p:sp>
      <p:sp>
        <p:nvSpPr>
          <p:cNvPr id="78" name="Text 68"/>
          <p:cNvSpPr txBox="1"/>
          <p:nvPr/>
        </p:nvSpPr>
        <p:spPr>
          <a:xfrm>
            <a:off x="4480560" y="6144768"/>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LLM agent</a:t>
            </a:r>
            <a:endParaRPr lang="en-US" sz="880" dirty="0"/>
          </a:p>
        </p:txBody>
      </p:sp>
      <p:sp>
        <p:nvSpPr>
          <p:cNvPr id="79" name="Shape 69"/>
          <p:cNvSpPr/>
          <p:nvPr/>
        </p:nvSpPr>
        <p:spPr>
          <a:xfrm>
            <a:off x="6094476" y="6172200"/>
            <a:ext cx="155448" cy="155448"/>
          </a:xfrm>
          <a:prstGeom prst="roundRect">
            <a:avLst>
              <a:gd name="adj" fmla="val 29412"/>
            </a:avLst>
          </a:prstGeom>
          <a:solidFill>
            <a:srgbClr val="C9871B"/>
          </a:solidFill>
          <a:ln/>
        </p:spPr>
      </p:sp>
      <p:sp>
        <p:nvSpPr>
          <p:cNvPr id="80" name="Text 70"/>
          <p:cNvSpPr txBox="1"/>
          <p:nvPr/>
        </p:nvSpPr>
        <p:spPr>
          <a:xfrm>
            <a:off x="6313932" y="6144768"/>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gate or check</a:t>
            </a:r>
            <a:endParaRPr lang="en-US" sz="880" dirty="0"/>
          </a:p>
        </p:txBody>
      </p:sp>
      <p:sp>
        <p:nvSpPr>
          <p:cNvPr id="81" name="Shape 71"/>
          <p:cNvSpPr/>
          <p:nvPr/>
        </p:nvSpPr>
        <p:spPr>
          <a:xfrm>
            <a:off x="7927848" y="6172200"/>
            <a:ext cx="155448" cy="155448"/>
          </a:xfrm>
          <a:prstGeom prst="roundRect">
            <a:avLst>
              <a:gd name="adj" fmla="val 29412"/>
            </a:avLst>
          </a:prstGeom>
          <a:solidFill>
            <a:srgbClr val="CE3D64"/>
          </a:solidFill>
          <a:ln/>
        </p:spPr>
      </p:sp>
      <p:sp>
        <p:nvSpPr>
          <p:cNvPr id="82" name="Text 72"/>
          <p:cNvSpPr txBox="1"/>
          <p:nvPr/>
        </p:nvSpPr>
        <p:spPr>
          <a:xfrm>
            <a:off x="8147304" y="6144768"/>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human decision</a:t>
            </a:r>
            <a:endParaRPr lang="en-US" sz="880" dirty="0"/>
          </a:p>
        </p:txBody>
      </p:sp>
      <p:sp>
        <p:nvSpPr>
          <p:cNvPr id="83" name="Shape 73"/>
          <p:cNvSpPr/>
          <p:nvPr/>
        </p:nvSpPr>
        <p:spPr>
          <a:xfrm>
            <a:off x="9761220" y="6172200"/>
            <a:ext cx="155448" cy="155448"/>
          </a:xfrm>
          <a:prstGeom prst="roundRect">
            <a:avLst>
              <a:gd name="adj" fmla="val 29412"/>
            </a:avLst>
          </a:prstGeom>
          <a:solidFill>
            <a:srgbClr val="2F8F48"/>
          </a:solidFill>
          <a:ln/>
        </p:spPr>
      </p:sp>
      <p:sp>
        <p:nvSpPr>
          <p:cNvPr id="84" name="Text 74"/>
          <p:cNvSpPr txBox="1"/>
          <p:nvPr/>
        </p:nvSpPr>
        <p:spPr>
          <a:xfrm>
            <a:off x="9980676" y="6144768"/>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stored output</a:t>
            </a:r>
            <a:endParaRPr lang="en-US" sz="88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438912"/>
            <a:ext cx="10085832" cy="201168"/>
          </a:xfrm>
          <a:prstGeom prst="rect">
            <a:avLst/>
          </a:prstGeom>
          <a:noFill/>
          <a:ln/>
        </p:spPr>
        <p:txBody>
          <a:bodyPr wrap="square" lIns="0" tIns="0" rIns="0" bIns="0" rtlCol="0" anchor="ctr"/>
          <a:lstStyle/>
          <a:p>
            <a:pPr indent="0" marL="0">
              <a:buNone/>
            </a:pPr>
            <a:r>
              <a:rPr lang="en-US" sz="1050" b="1" spc="200" kern="0" dirty="0">
                <a:solidFill>
                  <a:srgbClr val="108494"/>
                </a:solidFill>
                <a:latin typeface="Calibri" pitchFamily="34" charset="0"/>
                <a:ea typeface="Calibri" pitchFamily="34" charset="-122"/>
                <a:cs typeface="Calibri" pitchFamily="34" charset="-120"/>
              </a:rPr>
              <a:t>08   ·   ARCHITECTURE &amp; PROCESS</a:t>
            </a:r>
            <a:endParaRPr lang="en-US" sz="1050" dirty="0"/>
          </a:p>
        </p:txBody>
      </p:sp>
      <p:sp>
        <p:nvSpPr>
          <p:cNvPr id="3" name="Text 1"/>
          <p:cNvSpPr txBox="1"/>
          <p:nvPr/>
        </p:nvSpPr>
        <p:spPr>
          <a:xfrm>
            <a:off x="594360" y="640080"/>
            <a:ext cx="10085832" cy="484632"/>
          </a:xfrm>
          <a:prstGeom prst="rect">
            <a:avLst/>
          </a:prstGeom>
          <a:noFill/>
          <a:ln/>
        </p:spPr>
        <p:txBody>
          <a:bodyPr wrap="square" lIns="0" tIns="0" rIns="0" bIns="0" rtlCol="0" anchor="ctr"/>
          <a:lstStyle/>
          <a:p>
            <a:pPr indent="0" marL="0">
              <a:buNone/>
            </a:pPr>
            <a:r>
              <a:rPr lang="en-US" sz="3000" b="1" dirty="0">
                <a:solidFill>
                  <a:srgbClr val="10243A"/>
                </a:solidFill>
                <a:latin typeface="Cambria" pitchFamily="34" charset="0"/>
                <a:ea typeface="Cambria" pitchFamily="34" charset="-122"/>
                <a:cs typeface="Cambria" pitchFamily="34" charset="-120"/>
              </a:rPr>
              <a:t>Transition plan: 64 indicators, one at a time</a:t>
            </a:r>
            <a:endParaRPr lang="en-US" sz="3000" dirty="0"/>
          </a:p>
        </p:txBody>
      </p:sp>
      <p:sp>
        <p:nvSpPr>
          <p:cNvPr id="4" name="Text 2"/>
          <p:cNvSpPr txBox="1"/>
          <p:nvPr/>
        </p:nvSpPr>
        <p:spPr>
          <a:xfrm>
            <a:off x="594360" y="1143000"/>
            <a:ext cx="9994392" cy="274320"/>
          </a:xfrm>
          <a:prstGeom prst="rect">
            <a:avLst/>
          </a:prstGeom>
          <a:noFill/>
          <a:ln/>
        </p:spPr>
        <p:txBody>
          <a:bodyPr wrap="square" lIns="0" tIns="0" rIns="0" bIns="0" rtlCol="0" anchor="ctr"/>
          <a:lstStyle/>
          <a:p>
            <a:pPr indent="0" marL="0">
              <a:buNone/>
            </a:pPr>
            <a:r>
              <a:rPr lang="en-US" sz="1200" dirty="0">
                <a:solidFill>
                  <a:srgbClr val="58697A"/>
                </a:solidFill>
                <a:latin typeface="Calibri" pitchFamily="34" charset="0"/>
                <a:ea typeface="Calibri" pitchFamily="34" charset="-122"/>
                <a:cs typeface="Calibri" pitchFamily="34" charset="-120"/>
              </a:rPr>
              <a:t>A faithful single-pass RAG replication, wrapped in this codebase's grounding and review machinery.</a:t>
            </a:r>
            <a:endParaRPr lang="en-US" sz="1200" dirty="0"/>
          </a:p>
        </p:txBody>
      </p:sp>
      <p:sp>
        <p:nvSpPr>
          <p:cNvPr id="5" name="Shape 3"/>
          <p:cNvSpPr/>
          <p:nvPr/>
        </p:nvSpPr>
        <p:spPr>
          <a:xfrm>
            <a:off x="10881360" y="475488"/>
            <a:ext cx="713232" cy="713232"/>
          </a:xfrm>
          <a:prstGeom prst="roundRect">
            <a:avLst>
              <a:gd name="adj" fmla="val 20513"/>
            </a:avLst>
          </a:prstGeom>
          <a:solidFill>
            <a:srgbClr val="10243A"/>
          </a:solidFill>
          <a:ln/>
        </p:spPr>
      </p:sp>
      <p:pic>
        <p:nvPicPr>
          <p:cNvPr id="6" name="Image 0" descr="preencoded.png">    </p:cNvPr>
          <p:cNvPicPr>
            <a:picLocks noChangeAspect="1"/>
          </p:cNvPicPr>
          <p:nvPr/>
        </p:nvPicPr>
        <p:blipFill>
          <a:blip r:embed="rId1"/>
          <a:stretch>
            <a:fillRect/>
          </a:stretch>
        </p:blipFill>
        <p:spPr>
          <a:xfrm>
            <a:off x="11038271" y="632399"/>
            <a:ext cx="399410" cy="399410"/>
          </a:xfrm>
          <a:prstGeom prst="rect">
            <a:avLst/>
          </a:prstGeom>
        </p:spPr>
      </p:pic>
      <p:sp>
        <p:nvSpPr>
          <p:cNvPr id="7" name="Shape 4"/>
          <p:cNvSpPr/>
          <p:nvPr/>
        </p:nvSpPr>
        <p:spPr>
          <a:xfrm>
            <a:off x="594360" y="1572768"/>
            <a:ext cx="1907438" cy="749808"/>
          </a:xfrm>
          <a:prstGeom prst="roundRect">
            <a:avLst>
              <a:gd name="adj" fmla="val 12195"/>
            </a:avLst>
          </a:prstGeom>
          <a:solidFill>
            <a:srgbClr val="E3EDFC"/>
          </a:solidFill>
          <a:ln w="15875">
            <a:solidFill>
              <a:srgbClr val="2F6FD0"/>
            </a:solidFill>
            <a:prstDash val="solid"/>
          </a:ln>
          <a:effectLst>
            <a:outerShdw sx="100000" sy="100000" kx="0" ky="0" algn="bl" rotWithShape="0" blurRad="101600" dist="19050" dir="5400000">
              <a:srgbClr val="9FB0C2">
                <a:alpha val="24000"/>
              </a:srgbClr>
            </a:outerShdw>
          </a:effectLst>
        </p:spPr>
      </p:sp>
      <p:pic>
        <p:nvPicPr>
          <p:cNvPr id="8" name="Image 1" descr="preencoded.png">    </p:cNvPr>
          <p:cNvPicPr>
            <a:picLocks noChangeAspect="1"/>
          </p:cNvPicPr>
          <p:nvPr/>
        </p:nvPicPr>
        <p:blipFill>
          <a:blip r:embed="rId2"/>
          <a:stretch>
            <a:fillRect/>
          </a:stretch>
        </p:blipFill>
        <p:spPr>
          <a:xfrm>
            <a:off x="713232" y="1673352"/>
            <a:ext cx="182880" cy="182880"/>
          </a:xfrm>
          <a:prstGeom prst="rect">
            <a:avLst/>
          </a:prstGeom>
        </p:spPr>
      </p:pic>
      <p:sp>
        <p:nvSpPr>
          <p:cNvPr id="9" name="Text 5"/>
          <p:cNvSpPr txBox="1"/>
          <p:nvPr/>
        </p:nvSpPr>
        <p:spPr>
          <a:xfrm>
            <a:off x="685800" y="1572768"/>
            <a:ext cx="1724558" cy="749808"/>
          </a:xfrm>
          <a:prstGeom prst="rect">
            <a:avLst/>
          </a:prstGeom>
          <a:noFill/>
          <a:ln/>
        </p:spPr>
        <p:txBody>
          <a:bodyPr wrap="square" lIns="0" tIns="0" rIns="0" bIns="0" rtlCol="0" anchor="ctr"/>
          <a:lstStyle/>
          <a:p>
            <a:pPr algn="ctr" indent="0" marL="0">
              <a:lnSpc>
                <a:spcPct val="104000"/>
              </a:lnSpc>
              <a:buNone/>
            </a:pPr>
            <a:r>
              <a:rPr lang="en-US" sz="1050" b="1" dirty="0">
                <a:solidFill>
                  <a:srgbClr val="153A61"/>
                </a:solidFill>
                <a:latin typeface="Calibri" pitchFamily="34" charset="0"/>
                <a:ea typeface="Calibri" pitchFamily="34" charset="-122"/>
                <a:cs typeface="Calibri" pitchFamily="34" charset="-120"/>
              </a:rPr>
              <a:t>Load indicators</a:t>
            </a:r>
            <a:endParaRPr lang="en-US" sz="1050" dirty="0"/>
          </a:p>
          <a:p>
            <a:pPr algn="ctr" indent="0" marL="0">
              <a:lnSpc>
                <a:spcPct val="104000"/>
              </a:lnSpc>
              <a:buNone/>
            </a:pPr>
            <a:r>
              <a:rPr lang="en-US" sz="800" dirty="0">
                <a:solidFill>
                  <a:srgbClr val="153A61"/>
                </a:solidFill>
                <a:latin typeface="Calibri" pitchFamily="34" charset="0"/>
                <a:ea typeface="Calibri" pitchFamily="34" charset="-122"/>
                <a:cs typeface="Calibri" pitchFamily="34" charset="-120"/>
              </a:rPr>
              <a:t>verbatim from the paper's repo</a:t>
            </a:r>
            <a:endParaRPr lang="en-US" sz="1050" dirty="0"/>
          </a:p>
        </p:txBody>
      </p:sp>
      <p:sp>
        <p:nvSpPr>
          <p:cNvPr id="10" name="Shape 6"/>
          <p:cNvSpPr/>
          <p:nvPr/>
        </p:nvSpPr>
        <p:spPr>
          <a:xfrm>
            <a:off x="2556662" y="1947672"/>
            <a:ext cx="256032" cy="0"/>
          </a:xfrm>
          <a:prstGeom prst="line">
            <a:avLst/>
          </a:prstGeom>
          <a:noFill/>
          <a:ln w="21590">
            <a:solidFill>
              <a:srgbClr val="64798F"/>
            </a:solidFill>
            <a:prstDash val="solid"/>
            <a:headEnd type="none"/>
            <a:tailEnd type="triangle"/>
          </a:ln>
        </p:spPr>
      </p:sp>
      <p:sp>
        <p:nvSpPr>
          <p:cNvPr id="11" name="Shape 7"/>
          <p:cNvSpPr/>
          <p:nvPr/>
        </p:nvSpPr>
        <p:spPr>
          <a:xfrm>
            <a:off x="2867558" y="1572768"/>
            <a:ext cx="1907438" cy="749808"/>
          </a:xfrm>
          <a:prstGeom prst="roundRect">
            <a:avLst>
              <a:gd name="adj" fmla="val 12195"/>
            </a:avLst>
          </a:prstGeom>
          <a:solidFill>
            <a:srgbClr val="E3EDFC"/>
          </a:solidFill>
          <a:ln w="15875">
            <a:solidFill>
              <a:srgbClr val="2F6FD0"/>
            </a:solidFill>
            <a:prstDash val="solid"/>
          </a:ln>
          <a:effectLst>
            <a:outerShdw sx="100000" sy="100000" kx="0" ky="0" algn="bl" rotWithShape="0" blurRad="101600" dist="19050" dir="5400000">
              <a:srgbClr val="9FB0C2">
                <a:alpha val="24000"/>
              </a:srgbClr>
            </a:outerShdw>
          </a:effectLst>
        </p:spPr>
      </p:sp>
      <p:pic>
        <p:nvPicPr>
          <p:cNvPr id="12" name="Image 2" descr="preencoded.png">    </p:cNvPr>
          <p:cNvPicPr>
            <a:picLocks noChangeAspect="1"/>
          </p:cNvPicPr>
          <p:nvPr/>
        </p:nvPicPr>
        <p:blipFill>
          <a:blip r:embed="rId3"/>
          <a:stretch>
            <a:fillRect/>
          </a:stretch>
        </p:blipFill>
        <p:spPr>
          <a:xfrm>
            <a:off x="2986430" y="1673352"/>
            <a:ext cx="182880" cy="182880"/>
          </a:xfrm>
          <a:prstGeom prst="rect">
            <a:avLst/>
          </a:prstGeom>
        </p:spPr>
      </p:pic>
      <p:sp>
        <p:nvSpPr>
          <p:cNvPr id="13" name="Text 8"/>
          <p:cNvSpPr txBox="1"/>
          <p:nvPr/>
        </p:nvSpPr>
        <p:spPr>
          <a:xfrm>
            <a:off x="2958998" y="1572768"/>
            <a:ext cx="1724558" cy="749808"/>
          </a:xfrm>
          <a:prstGeom prst="rect">
            <a:avLst/>
          </a:prstGeom>
          <a:noFill/>
          <a:ln/>
        </p:spPr>
        <p:txBody>
          <a:bodyPr wrap="square" lIns="0" tIns="0" rIns="0" bIns="0" rtlCol="0" anchor="ctr"/>
          <a:lstStyle/>
          <a:p>
            <a:pPr algn="ctr" indent="0" marL="0">
              <a:lnSpc>
                <a:spcPct val="104000"/>
              </a:lnSpc>
              <a:buNone/>
            </a:pPr>
            <a:r>
              <a:rPr lang="en-US" sz="1050" b="1" dirty="0">
                <a:solidFill>
                  <a:srgbClr val="153A61"/>
                </a:solidFill>
                <a:latin typeface="Calibri" pitchFamily="34" charset="0"/>
                <a:ea typeface="Calibri" pitchFamily="34" charset="-122"/>
                <a:cs typeface="Calibri" pitchFamily="34" charset="-120"/>
              </a:rPr>
              <a:t>Fetch reports</a:t>
            </a:r>
            <a:endParaRPr lang="en-US" sz="1050" dirty="0"/>
          </a:p>
          <a:p>
            <a:pPr algn="ctr" indent="0" marL="0">
              <a:lnSpc>
                <a:spcPct val="104000"/>
              </a:lnSpc>
              <a:buNone/>
            </a:pPr>
            <a:r>
              <a:rPr lang="en-US" sz="800" dirty="0">
                <a:solidFill>
                  <a:srgbClr val="153A61"/>
                </a:solidFill>
                <a:latin typeface="Calibri" pitchFamily="34" charset="0"/>
                <a:ea typeface="Calibri" pitchFamily="34" charset="-122"/>
                <a:cs typeface="Calibri" pitchFamily="34" charset="-120"/>
              </a:rPr>
              <a:t>the shared document registry</a:t>
            </a:r>
            <a:endParaRPr lang="en-US" sz="1050" dirty="0"/>
          </a:p>
        </p:txBody>
      </p:sp>
      <p:sp>
        <p:nvSpPr>
          <p:cNvPr id="14" name="Shape 9"/>
          <p:cNvSpPr/>
          <p:nvPr/>
        </p:nvSpPr>
        <p:spPr>
          <a:xfrm>
            <a:off x="4829861" y="1947672"/>
            <a:ext cx="256032" cy="0"/>
          </a:xfrm>
          <a:prstGeom prst="line">
            <a:avLst/>
          </a:prstGeom>
          <a:noFill/>
          <a:ln w="21590">
            <a:solidFill>
              <a:srgbClr val="64798F"/>
            </a:solidFill>
            <a:prstDash val="solid"/>
            <a:headEnd type="none"/>
            <a:tailEnd type="triangle"/>
          </a:ln>
        </p:spPr>
      </p:sp>
      <p:sp>
        <p:nvSpPr>
          <p:cNvPr id="15" name="Shape 10"/>
          <p:cNvSpPr/>
          <p:nvPr/>
        </p:nvSpPr>
        <p:spPr>
          <a:xfrm>
            <a:off x="5140757" y="1572768"/>
            <a:ext cx="1907438" cy="749808"/>
          </a:xfrm>
          <a:prstGeom prst="roundRect">
            <a:avLst>
              <a:gd name="adj" fmla="val 12195"/>
            </a:avLst>
          </a:prstGeom>
          <a:solidFill>
            <a:srgbClr val="DCF2F4"/>
          </a:solidFill>
          <a:ln w="15875">
            <a:solidFill>
              <a:srgbClr val="108494"/>
            </a:solidFill>
            <a:prstDash val="solid"/>
          </a:ln>
          <a:effectLst>
            <a:outerShdw sx="100000" sy="100000" kx="0" ky="0" algn="bl" rotWithShape="0" blurRad="101600" dist="19050" dir="5400000">
              <a:srgbClr val="9FB0C2">
                <a:alpha val="24000"/>
              </a:srgbClr>
            </a:outerShdw>
          </a:effectLst>
        </p:spPr>
      </p:sp>
      <p:pic>
        <p:nvPicPr>
          <p:cNvPr id="16" name="Image 3" descr="preencoded.png">    </p:cNvPr>
          <p:cNvPicPr>
            <a:picLocks noChangeAspect="1"/>
          </p:cNvPicPr>
          <p:nvPr/>
        </p:nvPicPr>
        <p:blipFill>
          <a:blip r:embed="rId4"/>
          <a:stretch>
            <a:fillRect/>
          </a:stretch>
        </p:blipFill>
        <p:spPr>
          <a:xfrm>
            <a:off x="5259629" y="1673352"/>
            <a:ext cx="182880" cy="182880"/>
          </a:xfrm>
          <a:prstGeom prst="rect">
            <a:avLst/>
          </a:prstGeom>
        </p:spPr>
      </p:pic>
      <p:sp>
        <p:nvSpPr>
          <p:cNvPr id="17" name="Text 11"/>
          <p:cNvSpPr txBox="1"/>
          <p:nvPr/>
        </p:nvSpPr>
        <p:spPr>
          <a:xfrm>
            <a:off x="5232197" y="1572768"/>
            <a:ext cx="1724558" cy="749808"/>
          </a:xfrm>
          <a:prstGeom prst="rect">
            <a:avLst/>
          </a:prstGeom>
          <a:noFill/>
          <a:ln/>
        </p:spPr>
        <p:txBody>
          <a:bodyPr wrap="square" lIns="0" tIns="0" rIns="0" bIns="0" rtlCol="0" anchor="ctr"/>
          <a:lstStyle/>
          <a:p>
            <a:pPr algn="ctr" indent="0" marL="0">
              <a:lnSpc>
                <a:spcPct val="104000"/>
              </a:lnSpc>
              <a:buNone/>
            </a:pPr>
            <a:r>
              <a:rPr lang="en-US" sz="1050" b="1" dirty="0">
                <a:solidFill>
                  <a:srgbClr val="0A4451"/>
                </a:solidFill>
                <a:latin typeface="Calibri" pitchFamily="34" charset="0"/>
                <a:ea typeface="Calibri" pitchFamily="34" charset="-122"/>
                <a:cs typeface="Calibri" pitchFamily="34" charset="-120"/>
              </a:rPr>
              <a:t>Per-indicator RAG</a:t>
            </a:r>
            <a:endParaRPr lang="en-US" sz="1050" dirty="0"/>
          </a:p>
          <a:p>
            <a:pPr algn="ctr" indent="0" marL="0">
              <a:lnSpc>
                <a:spcPct val="104000"/>
              </a:lnSpc>
              <a:buNone/>
            </a:pPr>
            <a:r>
              <a:rPr lang="en-US" sz="800" dirty="0">
                <a:solidFill>
                  <a:srgbClr val="0A4451"/>
                </a:solidFill>
                <a:latin typeface="Calibri" pitchFamily="34" charset="0"/>
                <a:ea typeface="Calibri" pitchFamily="34" charset="-122"/>
                <a:cs typeface="Calibri" pitchFamily="34" charset="-120"/>
              </a:rPr>
              <a:t>top-8 BM25 chunks, always</a:t>
            </a:r>
            <a:endParaRPr lang="en-US" sz="1050" dirty="0"/>
          </a:p>
        </p:txBody>
      </p:sp>
      <p:sp>
        <p:nvSpPr>
          <p:cNvPr id="18" name="Shape 12"/>
          <p:cNvSpPr/>
          <p:nvPr/>
        </p:nvSpPr>
        <p:spPr>
          <a:xfrm>
            <a:off x="7103059" y="1947672"/>
            <a:ext cx="256032" cy="0"/>
          </a:xfrm>
          <a:prstGeom prst="line">
            <a:avLst/>
          </a:prstGeom>
          <a:noFill/>
          <a:ln w="21590">
            <a:solidFill>
              <a:srgbClr val="64798F"/>
            </a:solidFill>
            <a:prstDash val="solid"/>
            <a:headEnd type="none"/>
            <a:tailEnd type="triangle"/>
          </a:ln>
        </p:spPr>
      </p:sp>
      <p:sp>
        <p:nvSpPr>
          <p:cNvPr id="19" name="Shape 13"/>
          <p:cNvSpPr/>
          <p:nvPr/>
        </p:nvSpPr>
        <p:spPr>
          <a:xfrm>
            <a:off x="7413955" y="1572768"/>
            <a:ext cx="1907438" cy="749808"/>
          </a:xfrm>
          <a:prstGeom prst="roundRect">
            <a:avLst>
              <a:gd name="adj" fmla="val 12195"/>
            </a:avLst>
          </a:prstGeom>
          <a:solidFill>
            <a:srgbClr val="EBE5FC"/>
          </a:solidFill>
          <a:ln w="15875">
            <a:solidFill>
              <a:srgbClr val="6D4DD1"/>
            </a:solidFill>
            <a:prstDash val="solid"/>
          </a:ln>
          <a:effectLst>
            <a:outerShdw sx="100000" sy="100000" kx="0" ky="0" algn="bl" rotWithShape="0" blurRad="101600" dist="19050" dir="5400000">
              <a:srgbClr val="9FB0C2">
                <a:alpha val="24000"/>
              </a:srgbClr>
            </a:outerShdw>
          </a:effectLst>
        </p:spPr>
      </p:sp>
      <p:pic>
        <p:nvPicPr>
          <p:cNvPr id="20" name="Image 4" descr="preencoded.png">    </p:cNvPr>
          <p:cNvPicPr>
            <a:picLocks noChangeAspect="1"/>
          </p:cNvPicPr>
          <p:nvPr/>
        </p:nvPicPr>
        <p:blipFill>
          <a:blip r:embed="rId5"/>
          <a:stretch>
            <a:fillRect/>
          </a:stretch>
        </p:blipFill>
        <p:spPr>
          <a:xfrm>
            <a:off x="7532827" y="1673352"/>
            <a:ext cx="182880" cy="182880"/>
          </a:xfrm>
          <a:prstGeom prst="rect">
            <a:avLst/>
          </a:prstGeom>
        </p:spPr>
      </p:pic>
      <p:sp>
        <p:nvSpPr>
          <p:cNvPr id="21" name="Text 14"/>
          <p:cNvSpPr txBox="1"/>
          <p:nvPr/>
        </p:nvSpPr>
        <p:spPr>
          <a:xfrm>
            <a:off x="7505395" y="1572768"/>
            <a:ext cx="1724558" cy="749808"/>
          </a:xfrm>
          <a:prstGeom prst="rect">
            <a:avLst/>
          </a:prstGeom>
          <a:noFill/>
          <a:ln/>
        </p:spPr>
        <p:txBody>
          <a:bodyPr wrap="square" lIns="0" tIns="0" rIns="0" bIns="0" rtlCol="0" anchor="ctr"/>
          <a:lstStyle/>
          <a:p>
            <a:pPr algn="ctr" indent="0" marL="0">
              <a:lnSpc>
                <a:spcPct val="104000"/>
              </a:lnSpc>
              <a:buNone/>
            </a:pPr>
            <a:r>
              <a:rPr lang="en-US" sz="1050" b="1" dirty="0">
                <a:solidFill>
                  <a:srgbClr val="35236E"/>
                </a:solidFill>
                <a:latin typeface="Calibri" pitchFamily="34" charset="0"/>
                <a:ea typeface="Calibri" pitchFamily="34" charset="-122"/>
                <a:cs typeface="Calibri" pitchFamily="34" charset="-120"/>
              </a:rPr>
              <a:t>One call</a:t>
            </a:r>
            <a:endParaRPr lang="en-US" sz="1050" dirty="0"/>
          </a:p>
          <a:p>
            <a:pPr algn="ctr" indent="0" marL="0">
              <a:lnSpc>
                <a:spcPct val="104000"/>
              </a:lnSpc>
              <a:buNone/>
            </a:pPr>
            <a:r>
              <a:rPr lang="en-US" sz="800" dirty="0">
                <a:solidFill>
                  <a:srgbClr val="35236E"/>
                </a:solidFill>
                <a:latin typeface="Calibri" pitchFamily="34" charset="0"/>
                <a:ea typeface="Calibri" pitchFamily="34" charset="-122"/>
                <a:cs typeface="Calibri" pitchFamily="34" charset="-120"/>
              </a:rPr>
              <a:t>persona + guideline, 200 words</a:t>
            </a:r>
            <a:endParaRPr lang="en-US" sz="1050" dirty="0"/>
          </a:p>
        </p:txBody>
      </p:sp>
      <p:sp>
        <p:nvSpPr>
          <p:cNvPr id="22" name="Shape 15"/>
          <p:cNvSpPr/>
          <p:nvPr/>
        </p:nvSpPr>
        <p:spPr>
          <a:xfrm>
            <a:off x="9376258" y="1947672"/>
            <a:ext cx="256032" cy="0"/>
          </a:xfrm>
          <a:prstGeom prst="line">
            <a:avLst/>
          </a:prstGeom>
          <a:noFill/>
          <a:ln w="21590">
            <a:solidFill>
              <a:srgbClr val="64798F"/>
            </a:solidFill>
            <a:prstDash val="solid"/>
            <a:headEnd type="none"/>
            <a:tailEnd type="triangle"/>
          </a:ln>
        </p:spPr>
      </p:sp>
      <p:sp>
        <p:nvSpPr>
          <p:cNvPr id="23" name="Shape 16"/>
          <p:cNvSpPr/>
          <p:nvPr/>
        </p:nvSpPr>
        <p:spPr>
          <a:xfrm>
            <a:off x="9687154" y="1572768"/>
            <a:ext cx="1907438" cy="749808"/>
          </a:xfrm>
          <a:prstGeom prst="roundRect">
            <a:avLst>
              <a:gd name="adj" fmla="val 12195"/>
            </a:avLst>
          </a:prstGeom>
          <a:solidFill>
            <a:srgbClr val="E0F3E3"/>
          </a:solidFill>
          <a:ln w="15875">
            <a:solidFill>
              <a:srgbClr val="2F8F48"/>
            </a:solidFill>
            <a:prstDash val="solid"/>
          </a:ln>
          <a:effectLst>
            <a:outerShdw sx="100000" sy="100000" kx="0" ky="0" algn="bl" rotWithShape="0" blurRad="101600" dist="19050" dir="5400000">
              <a:srgbClr val="9FB0C2">
                <a:alpha val="24000"/>
              </a:srgbClr>
            </a:outerShdw>
          </a:effectLst>
        </p:spPr>
      </p:sp>
      <p:pic>
        <p:nvPicPr>
          <p:cNvPr id="24" name="Image 5" descr="preencoded.png">    </p:cNvPr>
          <p:cNvPicPr>
            <a:picLocks noChangeAspect="1"/>
          </p:cNvPicPr>
          <p:nvPr/>
        </p:nvPicPr>
        <p:blipFill>
          <a:blip r:embed="rId6"/>
          <a:stretch>
            <a:fillRect/>
          </a:stretch>
        </p:blipFill>
        <p:spPr>
          <a:xfrm>
            <a:off x="9806026" y="1673352"/>
            <a:ext cx="182880" cy="182880"/>
          </a:xfrm>
          <a:prstGeom prst="rect">
            <a:avLst/>
          </a:prstGeom>
        </p:spPr>
      </p:pic>
      <p:sp>
        <p:nvSpPr>
          <p:cNvPr id="25" name="Text 17"/>
          <p:cNvSpPr txBox="1"/>
          <p:nvPr/>
        </p:nvSpPr>
        <p:spPr>
          <a:xfrm>
            <a:off x="9778594" y="1572768"/>
            <a:ext cx="1724558" cy="749808"/>
          </a:xfrm>
          <a:prstGeom prst="rect">
            <a:avLst/>
          </a:prstGeom>
          <a:noFill/>
          <a:ln/>
        </p:spPr>
        <p:txBody>
          <a:bodyPr wrap="square" lIns="0" tIns="0" rIns="0" bIns="0" rtlCol="0" anchor="ctr"/>
          <a:lstStyle/>
          <a:p>
            <a:pPr algn="ctr" indent="0" marL="0">
              <a:lnSpc>
                <a:spcPct val="104000"/>
              </a:lnSpc>
              <a:buNone/>
            </a:pPr>
            <a:r>
              <a:rPr lang="en-US" sz="1050" b="1" dirty="0">
                <a:solidFill>
                  <a:srgbClr val="17431F"/>
                </a:solidFill>
                <a:latin typeface="Calibri" pitchFamily="34" charset="0"/>
                <a:ea typeface="Calibri" pitchFamily="34" charset="-122"/>
                <a:cs typeface="Calibri" pitchFamily="34" charset="-120"/>
              </a:rPr>
              <a:t>Aggregate</a:t>
            </a:r>
            <a:endParaRPr lang="en-US" sz="1050" dirty="0"/>
          </a:p>
          <a:p>
            <a:pPr algn="ctr" indent="0" marL="0">
              <a:lnSpc>
                <a:spcPct val="104000"/>
              </a:lnSpc>
              <a:buNone/>
            </a:pPr>
            <a:r>
              <a:rPr lang="en-US" sz="800" dirty="0">
                <a:solidFill>
                  <a:srgbClr val="17431F"/>
                </a:solidFill>
                <a:latin typeface="Calibri" pitchFamily="34" charset="0"/>
                <a:ea typeface="Calibri" pitchFamily="34" charset="-122"/>
                <a:cs typeface="Calibri" pitchFamily="34" charset="-120"/>
              </a:rPr>
              <a:t>walk/talk grid and score</a:t>
            </a:r>
            <a:endParaRPr lang="en-US" sz="1050" dirty="0"/>
          </a:p>
        </p:txBody>
      </p:sp>
      <p:sp>
        <p:nvSpPr>
          <p:cNvPr id="26" name="Shape 18"/>
          <p:cNvSpPr/>
          <p:nvPr/>
        </p:nvSpPr>
        <p:spPr>
          <a:xfrm>
            <a:off x="4480560" y="2880360"/>
            <a:ext cx="3108960" cy="777240"/>
          </a:xfrm>
          <a:prstGeom prst="diamond">
            <a:avLst/>
          </a:prstGeom>
          <a:solidFill>
            <a:srgbClr val="FCEDD4"/>
          </a:solidFill>
          <a:ln w="15875">
            <a:solidFill>
              <a:srgbClr val="C9871B"/>
            </a:solidFill>
            <a:prstDash val="solid"/>
          </a:ln>
        </p:spPr>
      </p:sp>
      <p:sp>
        <p:nvSpPr>
          <p:cNvPr id="27" name="Text 19"/>
          <p:cNvSpPr txBox="1"/>
          <p:nvPr/>
        </p:nvSpPr>
        <p:spPr>
          <a:xfrm>
            <a:off x="4572000" y="2880360"/>
            <a:ext cx="2926080" cy="777240"/>
          </a:xfrm>
          <a:prstGeom prst="rect">
            <a:avLst/>
          </a:prstGeom>
          <a:noFill/>
          <a:ln/>
        </p:spPr>
        <p:txBody>
          <a:bodyPr wrap="square" lIns="0" tIns="0" rIns="0" bIns="0" rtlCol="0" anchor="ctr"/>
          <a:lstStyle/>
          <a:p>
            <a:pPr algn="ctr" indent="0" marL="0">
              <a:lnSpc>
                <a:spcPct val="104000"/>
              </a:lnSpc>
              <a:buNone/>
            </a:pPr>
            <a:r>
              <a:rPr lang="en-US" sz="1000" b="1" dirty="0">
                <a:solidFill>
                  <a:srgbClr val="64430A"/>
                </a:solidFill>
                <a:latin typeface="Calibri" pitchFamily="34" charset="0"/>
                <a:ea typeface="Calibri" pitchFamily="34" charset="-122"/>
                <a:cs typeface="Calibri" pitchFamily="34" charset="-120"/>
              </a:rPr>
              <a:t>citation grounded?</a:t>
            </a:r>
            <a:endParaRPr lang="en-US" sz="1000" dirty="0"/>
          </a:p>
        </p:txBody>
      </p:sp>
      <p:sp>
        <p:nvSpPr>
          <p:cNvPr id="28" name="Shape 20"/>
          <p:cNvSpPr/>
          <p:nvPr/>
        </p:nvSpPr>
        <p:spPr>
          <a:xfrm>
            <a:off x="6035040" y="2359152"/>
            <a:ext cx="0" cy="484632"/>
          </a:xfrm>
          <a:prstGeom prst="line">
            <a:avLst/>
          </a:prstGeom>
          <a:noFill/>
          <a:ln w="17780">
            <a:solidFill>
              <a:srgbClr val="6D4DD1"/>
            </a:solidFill>
            <a:prstDash val="solid"/>
            <a:headEnd type="none"/>
            <a:tailEnd type="triangle"/>
          </a:ln>
        </p:spPr>
      </p:sp>
      <p:sp>
        <p:nvSpPr>
          <p:cNvPr id="29" name="Shape 21"/>
          <p:cNvSpPr/>
          <p:nvPr/>
        </p:nvSpPr>
        <p:spPr>
          <a:xfrm>
            <a:off x="1463040" y="4023360"/>
            <a:ext cx="3291840" cy="777240"/>
          </a:xfrm>
          <a:prstGeom prst="roundRect">
            <a:avLst>
              <a:gd name="adj" fmla="val 11765"/>
            </a:avLst>
          </a:prstGeom>
          <a:solidFill>
            <a:srgbClr val="E0F3E3"/>
          </a:solidFill>
          <a:ln w="15875">
            <a:solidFill>
              <a:srgbClr val="2F8F48"/>
            </a:solidFill>
            <a:prstDash val="solid"/>
          </a:ln>
          <a:effectLst>
            <a:outerShdw sx="100000" sy="100000" kx="0" ky="0" algn="bl" rotWithShape="0" blurRad="101600" dist="19050" dir="5400000">
              <a:srgbClr val="9FB0C2">
                <a:alpha val="24000"/>
              </a:srgbClr>
            </a:outerShdw>
          </a:effectLst>
        </p:spPr>
      </p:sp>
      <p:pic>
        <p:nvPicPr>
          <p:cNvPr id="30" name="Image 6" descr="preencoded.png">    </p:cNvPr>
          <p:cNvPicPr>
            <a:picLocks noChangeAspect="1"/>
          </p:cNvPicPr>
          <p:nvPr/>
        </p:nvPicPr>
        <p:blipFill>
          <a:blip r:embed="rId7"/>
          <a:stretch>
            <a:fillRect/>
          </a:stretch>
        </p:blipFill>
        <p:spPr>
          <a:xfrm>
            <a:off x="1581912" y="4123944"/>
            <a:ext cx="182880" cy="182880"/>
          </a:xfrm>
          <a:prstGeom prst="rect">
            <a:avLst/>
          </a:prstGeom>
        </p:spPr>
      </p:pic>
      <p:sp>
        <p:nvSpPr>
          <p:cNvPr id="31" name="Text 22"/>
          <p:cNvSpPr txBox="1"/>
          <p:nvPr/>
        </p:nvSpPr>
        <p:spPr>
          <a:xfrm>
            <a:off x="1554480" y="4023360"/>
            <a:ext cx="3108960" cy="777240"/>
          </a:xfrm>
          <a:prstGeom prst="rect">
            <a:avLst/>
          </a:prstGeom>
          <a:noFill/>
          <a:ln/>
        </p:spPr>
        <p:txBody>
          <a:bodyPr wrap="square" lIns="0" tIns="0" rIns="0" bIns="0" rtlCol="0" anchor="ctr"/>
          <a:lstStyle/>
          <a:p>
            <a:pPr algn="ctr" indent="0" marL="0">
              <a:lnSpc>
                <a:spcPct val="104000"/>
              </a:lnSpc>
              <a:buNone/>
            </a:pPr>
            <a:r>
              <a:rPr lang="en-US" sz="1050" b="1" dirty="0">
                <a:solidFill>
                  <a:srgbClr val="17431F"/>
                </a:solidFill>
                <a:latin typeface="Calibri" pitchFamily="34" charset="0"/>
                <a:ea typeface="Calibri" pitchFamily="34" charset="-122"/>
                <a:cs typeface="Calibri" pitchFamily="34" charset="-120"/>
              </a:rPr>
              <a:t>Verdict accepted</a:t>
            </a:r>
            <a:endParaRPr lang="en-US" sz="1050" dirty="0"/>
          </a:p>
          <a:p>
            <a:pPr algn="ctr" indent="0" marL="0">
              <a:lnSpc>
                <a:spcPct val="104000"/>
              </a:lnSpc>
              <a:buNone/>
            </a:pPr>
            <a:r>
              <a:rPr lang="en-US" sz="800" dirty="0">
                <a:solidFill>
                  <a:srgbClr val="17431F"/>
                </a:solidFill>
                <a:latin typeface="Calibri" pitchFamily="34" charset="0"/>
                <a:ea typeface="Calibri" pitchFamily="34" charset="-122"/>
                <a:cs typeface="Calibri" pitchFamily="34" charset="-120"/>
              </a:rPr>
              <a:t>YES / NO / NA with its explanation</a:t>
            </a:r>
            <a:endParaRPr lang="en-US" sz="1050" dirty="0"/>
          </a:p>
        </p:txBody>
      </p:sp>
      <p:sp>
        <p:nvSpPr>
          <p:cNvPr id="32" name="Shape 23"/>
          <p:cNvSpPr/>
          <p:nvPr/>
        </p:nvSpPr>
        <p:spPr>
          <a:xfrm>
            <a:off x="7406640" y="4023360"/>
            <a:ext cx="3291840" cy="777240"/>
          </a:xfrm>
          <a:prstGeom prst="roundRect">
            <a:avLst>
              <a:gd name="adj" fmla="val 11765"/>
            </a:avLst>
          </a:prstGeom>
          <a:solidFill>
            <a:srgbClr val="FBE2E8"/>
          </a:solidFill>
          <a:ln w="15875">
            <a:solidFill>
              <a:srgbClr val="CE3D64"/>
            </a:solidFill>
            <a:prstDash val="solid"/>
          </a:ln>
          <a:effectLst>
            <a:outerShdw sx="100000" sy="100000" kx="0" ky="0" algn="bl" rotWithShape="0" blurRad="101600" dist="19050" dir="5400000">
              <a:srgbClr val="9FB0C2">
                <a:alpha val="24000"/>
              </a:srgbClr>
            </a:outerShdw>
          </a:effectLst>
        </p:spPr>
      </p:sp>
      <p:pic>
        <p:nvPicPr>
          <p:cNvPr id="33" name="Image 7" descr="preencoded.png">    </p:cNvPr>
          <p:cNvPicPr>
            <a:picLocks noChangeAspect="1"/>
          </p:cNvPicPr>
          <p:nvPr/>
        </p:nvPicPr>
        <p:blipFill>
          <a:blip r:embed="rId8"/>
          <a:stretch>
            <a:fillRect/>
          </a:stretch>
        </p:blipFill>
        <p:spPr>
          <a:xfrm>
            <a:off x="7525512" y="4123944"/>
            <a:ext cx="182880" cy="182880"/>
          </a:xfrm>
          <a:prstGeom prst="rect">
            <a:avLst/>
          </a:prstGeom>
        </p:spPr>
      </p:pic>
      <p:sp>
        <p:nvSpPr>
          <p:cNvPr id="34" name="Text 24"/>
          <p:cNvSpPr txBox="1"/>
          <p:nvPr/>
        </p:nvSpPr>
        <p:spPr>
          <a:xfrm>
            <a:off x="7498080" y="4023360"/>
            <a:ext cx="3108960" cy="777240"/>
          </a:xfrm>
          <a:prstGeom prst="rect">
            <a:avLst/>
          </a:prstGeom>
          <a:noFill/>
          <a:ln/>
        </p:spPr>
        <p:txBody>
          <a:bodyPr wrap="square" lIns="0" tIns="0" rIns="0" bIns="0" rtlCol="0" anchor="ctr"/>
          <a:lstStyle/>
          <a:p>
            <a:pPr algn="ctr" indent="0" marL="0">
              <a:lnSpc>
                <a:spcPct val="104000"/>
              </a:lnSpc>
              <a:buNone/>
            </a:pPr>
            <a:r>
              <a:rPr lang="en-US" sz="1050" b="1" dirty="0">
                <a:solidFill>
                  <a:srgbClr val="68182F"/>
                </a:solidFill>
                <a:latin typeface="Calibri" pitchFamily="34" charset="0"/>
                <a:ea typeface="Calibri" pitchFamily="34" charset="-122"/>
                <a:cs typeface="Calibri" pitchFamily="34" charset="-120"/>
              </a:rPr>
              <a:t>Routed to review</a:t>
            </a:r>
            <a:endParaRPr lang="en-US" sz="1050" dirty="0"/>
          </a:p>
          <a:p>
            <a:pPr algn="ctr" indent="0" marL="0">
              <a:lnSpc>
                <a:spcPct val="104000"/>
              </a:lnSpc>
              <a:buNone/>
            </a:pPr>
            <a:r>
              <a:rPr lang="en-US" sz="800" dirty="0">
                <a:solidFill>
                  <a:srgbClr val="68182F"/>
                </a:solidFill>
                <a:latin typeface="Calibri" pitchFamily="34" charset="0"/>
                <a:ea typeface="Calibri" pitchFamily="34" charset="-122"/>
                <a:cs typeface="Calibri" pitchFamily="34" charset="-120"/>
              </a:rPr>
              <a:t>a YES or NO with nothing verifiable behind it</a:t>
            </a:r>
            <a:endParaRPr lang="en-US" sz="1050" dirty="0"/>
          </a:p>
        </p:txBody>
      </p:sp>
      <p:sp>
        <p:nvSpPr>
          <p:cNvPr id="35" name="Shape 25"/>
          <p:cNvSpPr/>
          <p:nvPr/>
        </p:nvSpPr>
        <p:spPr>
          <a:xfrm>
            <a:off x="6035040" y="3694176"/>
            <a:ext cx="0" cy="109728"/>
          </a:xfrm>
          <a:prstGeom prst="line">
            <a:avLst/>
          </a:prstGeom>
          <a:noFill/>
          <a:ln w="16510">
            <a:solidFill>
              <a:srgbClr val="2F8F48"/>
            </a:solidFill>
            <a:prstDash val="solid"/>
            <a:headEnd type="none"/>
            <a:tailEnd type="none"/>
          </a:ln>
        </p:spPr>
      </p:sp>
      <p:sp>
        <p:nvSpPr>
          <p:cNvPr id="36" name="Shape 26"/>
          <p:cNvSpPr/>
          <p:nvPr/>
        </p:nvSpPr>
        <p:spPr>
          <a:xfrm flipH="1">
            <a:off x="3108960" y="3803904"/>
            <a:ext cx="2926080" cy="0"/>
          </a:xfrm>
          <a:prstGeom prst="line">
            <a:avLst/>
          </a:prstGeom>
          <a:noFill/>
          <a:ln w="16510">
            <a:solidFill>
              <a:srgbClr val="2F8F48"/>
            </a:solidFill>
            <a:prstDash val="solid"/>
            <a:headEnd type="none"/>
            <a:tailEnd type="none"/>
          </a:ln>
        </p:spPr>
      </p:sp>
      <p:sp>
        <p:nvSpPr>
          <p:cNvPr id="37" name="Shape 27"/>
          <p:cNvSpPr/>
          <p:nvPr/>
        </p:nvSpPr>
        <p:spPr>
          <a:xfrm>
            <a:off x="3108960" y="3803904"/>
            <a:ext cx="0" cy="182880"/>
          </a:xfrm>
          <a:prstGeom prst="line">
            <a:avLst/>
          </a:prstGeom>
          <a:noFill/>
          <a:ln w="16510">
            <a:solidFill>
              <a:srgbClr val="2F8F48"/>
            </a:solidFill>
            <a:prstDash val="solid"/>
            <a:headEnd type="none"/>
            <a:tailEnd type="triangle"/>
          </a:ln>
        </p:spPr>
      </p:sp>
      <p:sp>
        <p:nvSpPr>
          <p:cNvPr id="38" name="Shape 28"/>
          <p:cNvSpPr/>
          <p:nvPr/>
        </p:nvSpPr>
        <p:spPr>
          <a:xfrm>
            <a:off x="6035040" y="3803904"/>
            <a:ext cx="3017520" cy="0"/>
          </a:xfrm>
          <a:prstGeom prst="line">
            <a:avLst/>
          </a:prstGeom>
          <a:noFill/>
          <a:ln w="16510">
            <a:solidFill>
              <a:srgbClr val="CE3D64"/>
            </a:solidFill>
            <a:prstDash val="solid"/>
            <a:headEnd type="none"/>
            <a:tailEnd type="none"/>
          </a:ln>
        </p:spPr>
      </p:sp>
      <p:sp>
        <p:nvSpPr>
          <p:cNvPr id="39" name="Shape 29"/>
          <p:cNvSpPr/>
          <p:nvPr/>
        </p:nvSpPr>
        <p:spPr>
          <a:xfrm>
            <a:off x="9052560" y="3803904"/>
            <a:ext cx="0" cy="182880"/>
          </a:xfrm>
          <a:prstGeom prst="line">
            <a:avLst/>
          </a:prstGeom>
          <a:noFill/>
          <a:ln w="16510">
            <a:solidFill>
              <a:srgbClr val="CE3D64"/>
            </a:solidFill>
            <a:prstDash val="solid"/>
            <a:headEnd type="none"/>
            <a:tailEnd type="triangle"/>
          </a:ln>
        </p:spPr>
      </p:sp>
      <p:sp>
        <p:nvSpPr>
          <p:cNvPr id="40" name="Text 30"/>
          <p:cNvSpPr txBox="1"/>
          <p:nvPr/>
        </p:nvSpPr>
        <p:spPr>
          <a:xfrm>
            <a:off x="3200400" y="3803904"/>
            <a:ext cx="1188720" cy="182880"/>
          </a:xfrm>
          <a:prstGeom prst="rect">
            <a:avLst/>
          </a:prstGeom>
          <a:noFill/>
          <a:ln/>
        </p:spPr>
        <p:txBody>
          <a:bodyPr wrap="square" lIns="0" tIns="0" rIns="0" bIns="0" rtlCol="0" anchor="ctr"/>
          <a:lstStyle/>
          <a:p>
            <a:pPr algn="l" indent="0" marL="0">
              <a:buNone/>
            </a:pPr>
            <a:r>
              <a:rPr lang="en-US" sz="800" i="1" dirty="0">
                <a:solidFill>
                  <a:srgbClr val="2F8F48"/>
                </a:solidFill>
                <a:latin typeface="Calibri" pitchFamily="34" charset="0"/>
                <a:ea typeface="Calibri" pitchFamily="34" charset="-122"/>
                <a:cs typeface="Calibri" pitchFamily="34" charset="-120"/>
              </a:rPr>
              <a:t>grounded</a:t>
            </a:r>
            <a:endParaRPr lang="en-US" sz="800" dirty="0"/>
          </a:p>
        </p:txBody>
      </p:sp>
      <p:sp>
        <p:nvSpPr>
          <p:cNvPr id="41" name="Text 31"/>
          <p:cNvSpPr txBox="1"/>
          <p:nvPr/>
        </p:nvSpPr>
        <p:spPr>
          <a:xfrm>
            <a:off x="7772400" y="3803904"/>
            <a:ext cx="1188720" cy="182880"/>
          </a:xfrm>
          <a:prstGeom prst="rect">
            <a:avLst/>
          </a:prstGeom>
          <a:noFill/>
          <a:ln/>
        </p:spPr>
        <p:txBody>
          <a:bodyPr wrap="square" lIns="0" tIns="0" rIns="0" bIns="0" rtlCol="0" anchor="ctr"/>
          <a:lstStyle/>
          <a:p>
            <a:pPr algn="r" indent="0" marL="0">
              <a:buNone/>
            </a:pPr>
            <a:r>
              <a:rPr lang="en-US" sz="800" i="1" dirty="0">
                <a:solidFill>
                  <a:srgbClr val="CE3D64"/>
                </a:solidFill>
                <a:latin typeface="Calibri" pitchFamily="34" charset="0"/>
                <a:ea typeface="Calibri" pitchFamily="34" charset="-122"/>
                <a:cs typeface="Calibri" pitchFamily="34" charset="-120"/>
              </a:rPr>
              <a:t>not grounded</a:t>
            </a:r>
            <a:endParaRPr lang="en-US" sz="800" dirty="0"/>
          </a:p>
        </p:txBody>
      </p:sp>
      <p:sp>
        <p:nvSpPr>
          <p:cNvPr id="42" name="Shape 32"/>
          <p:cNvSpPr/>
          <p:nvPr/>
        </p:nvSpPr>
        <p:spPr>
          <a:xfrm>
            <a:off x="594360" y="2697480"/>
            <a:ext cx="3200400" cy="457200"/>
          </a:xfrm>
          <a:prstGeom prst="roundRect">
            <a:avLst>
              <a:gd name="adj" fmla="val 20000"/>
            </a:avLst>
          </a:prstGeom>
          <a:solidFill>
            <a:srgbClr val="DCF2F4"/>
          </a:solidFill>
          <a:ln w="15875">
            <a:solidFill>
              <a:srgbClr val="108494"/>
            </a:solidFill>
            <a:prstDash val="solid"/>
          </a:ln>
        </p:spPr>
      </p:sp>
      <p:pic>
        <p:nvPicPr>
          <p:cNvPr id="43" name="Image 8" descr="preencoded.png">    </p:cNvPr>
          <p:cNvPicPr>
            <a:picLocks noChangeAspect="1"/>
          </p:cNvPicPr>
          <p:nvPr/>
        </p:nvPicPr>
        <p:blipFill>
          <a:blip r:embed="rId9"/>
          <a:stretch>
            <a:fillRect/>
          </a:stretch>
        </p:blipFill>
        <p:spPr>
          <a:xfrm>
            <a:off x="713232" y="2798064"/>
            <a:ext cx="146304" cy="146304"/>
          </a:xfrm>
          <a:prstGeom prst="rect">
            <a:avLst/>
          </a:prstGeom>
        </p:spPr>
      </p:pic>
      <p:sp>
        <p:nvSpPr>
          <p:cNvPr id="44" name="Text 33"/>
          <p:cNvSpPr txBox="1"/>
          <p:nvPr/>
        </p:nvSpPr>
        <p:spPr>
          <a:xfrm>
            <a:off x="685800" y="2697480"/>
            <a:ext cx="3017520" cy="457200"/>
          </a:xfrm>
          <a:prstGeom prst="rect">
            <a:avLst/>
          </a:prstGeom>
          <a:noFill/>
          <a:ln/>
        </p:spPr>
        <p:txBody>
          <a:bodyPr wrap="square" lIns="0" tIns="0" rIns="0" bIns="0" rtlCol="0" anchor="ctr"/>
          <a:lstStyle/>
          <a:p>
            <a:pPr algn="ctr" indent="0" marL="0">
              <a:lnSpc>
                <a:spcPct val="104000"/>
              </a:lnSpc>
              <a:buNone/>
            </a:pPr>
            <a:r>
              <a:rPr lang="en-US" sz="950" b="1" dirty="0">
                <a:solidFill>
                  <a:srgbClr val="0A4451"/>
                </a:solidFill>
                <a:latin typeface="Calibri" pitchFamily="34" charset="0"/>
                <a:ea typeface="Calibri" pitchFamily="34" charset="-122"/>
                <a:cs typeface="Calibri" pitchFamily="34" charset="-120"/>
              </a:rPr>
              <a:t>NA when the report is genuinely silent</a:t>
            </a:r>
            <a:endParaRPr lang="en-US" sz="950" dirty="0"/>
          </a:p>
        </p:txBody>
      </p:sp>
      <p:sp>
        <p:nvSpPr>
          <p:cNvPr id="45" name="Text 34"/>
          <p:cNvSpPr txBox="1"/>
          <p:nvPr/>
        </p:nvSpPr>
        <p:spPr>
          <a:xfrm>
            <a:off x="594360" y="3200400"/>
            <a:ext cx="3200400" cy="384048"/>
          </a:xfrm>
          <a:prstGeom prst="rect">
            <a:avLst/>
          </a:prstGeom>
          <a:noFill/>
          <a:ln/>
        </p:spPr>
        <p:txBody>
          <a:bodyPr wrap="square" lIns="0" tIns="0" rIns="0" bIns="0" rtlCol="0" anchor="ctr"/>
          <a:lstStyle/>
          <a:p>
            <a:pPr algn="ctr" indent="0" marL="0">
              <a:buNone/>
            </a:pPr>
            <a:r>
              <a:rPr lang="en-US" sz="820" dirty="0">
                <a:solidFill>
                  <a:srgbClr val="58697A"/>
                </a:solidFill>
                <a:latin typeface="Calibri" pitchFamily="34" charset="0"/>
                <a:ea typeface="Calibri" pitchFamily="34" charset="-122"/>
                <a:cs typeface="Calibri" pitchFamily="34" charset="-120"/>
              </a:rPr>
              <a:t>the top-8 chunks are retrieved regardless of keyword overlap, so a silent report answers NA rather than being skipped</a:t>
            </a:r>
            <a:endParaRPr lang="en-US" sz="820" dirty="0"/>
          </a:p>
        </p:txBody>
      </p:sp>
      <p:sp>
        <p:nvSpPr>
          <p:cNvPr id="46" name="Shape 35"/>
          <p:cNvSpPr/>
          <p:nvPr/>
        </p:nvSpPr>
        <p:spPr>
          <a:xfrm>
            <a:off x="7818120" y="2697480"/>
            <a:ext cx="3776472" cy="457200"/>
          </a:xfrm>
          <a:prstGeom prst="roundRect">
            <a:avLst>
              <a:gd name="adj" fmla="val 20000"/>
            </a:avLst>
          </a:prstGeom>
          <a:solidFill>
            <a:srgbClr val="EBE5FC"/>
          </a:solidFill>
          <a:ln w="15875">
            <a:solidFill>
              <a:srgbClr val="6D4DD1"/>
            </a:solidFill>
            <a:prstDash val="solid"/>
          </a:ln>
        </p:spPr>
      </p:sp>
      <p:pic>
        <p:nvPicPr>
          <p:cNvPr id="47" name="Image 9" descr="preencoded.png">    </p:cNvPr>
          <p:cNvPicPr>
            <a:picLocks noChangeAspect="1"/>
          </p:cNvPicPr>
          <p:nvPr/>
        </p:nvPicPr>
        <p:blipFill>
          <a:blip r:embed="rId10"/>
          <a:stretch>
            <a:fillRect/>
          </a:stretch>
        </p:blipFill>
        <p:spPr>
          <a:xfrm>
            <a:off x="7936992" y="2798064"/>
            <a:ext cx="146304" cy="146304"/>
          </a:xfrm>
          <a:prstGeom prst="rect">
            <a:avLst/>
          </a:prstGeom>
        </p:spPr>
      </p:pic>
      <p:sp>
        <p:nvSpPr>
          <p:cNvPr id="48" name="Text 36"/>
          <p:cNvSpPr txBox="1"/>
          <p:nvPr/>
        </p:nvSpPr>
        <p:spPr>
          <a:xfrm>
            <a:off x="7909560" y="2697480"/>
            <a:ext cx="3593592" cy="457200"/>
          </a:xfrm>
          <a:prstGeom prst="rect">
            <a:avLst/>
          </a:prstGeom>
          <a:noFill/>
          <a:ln/>
        </p:spPr>
        <p:txBody>
          <a:bodyPr wrap="square" lIns="0" tIns="0" rIns="0" bIns="0" rtlCol="0" anchor="ctr"/>
          <a:lstStyle/>
          <a:p>
            <a:pPr algn="ctr" indent="0" marL="0">
              <a:lnSpc>
                <a:spcPct val="104000"/>
              </a:lnSpc>
              <a:buNone/>
            </a:pPr>
            <a:r>
              <a:rPr lang="en-US" sz="950" b="1" dirty="0">
                <a:solidFill>
                  <a:srgbClr val="35236E"/>
                </a:solidFill>
                <a:latin typeface="Calibri" pitchFamily="34" charset="0"/>
                <a:ea typeface="Calibri" pitchFamily="34" charset="-122"/>
                <a:cs typeface="Calibri" pitchFamily="34" charset="-120"/>
              </a:rPr>
              <a:t>No verifier second pass — by design</a:t>
            </a:r>
            <a:endParaRPr lang="en-US" sz="950" dirty="0"/>
          </a:p>
        </p:txBody>
      </p:sp>
      <p:sp>
        <p:nvSpPr>
          <p:cNvPr id="49" name="Text 37"/>
          <p:cNvSpPr txBox="1"/>
          <p:nvPr/>
        </p:nvSpPr>
        <p:spPr>
          <a:xfrm>
            <a:off x="7818120" y="3200400"/>
            <a:ext cx="3776472" cy="384048"/>
          </a:xfrm>
          <a:prstGeom prst="rect">
            <a:avLst/>
          </a:prstGeom>
          <a:noFill/>
          <a:ln/>
        </p:spPr>
        <p:txBody>
          <a:bodyPr wrap="square" lIns="0" tIns="0" rIns="0" bIns="0" rtlCol="0" anchor="ctr"/>
          <a:lstStyle/>
          <a:p>
            <a:pPr algn="ctr" indent="0" marL="0">
              <a:buNone/>
            </a:pPr>
            <a:r>
              <a:rPr lang="en-US" sz="820" dirty="0">
                <a:solidFill>
                  <a:srgbClr val="58697A"/>
                </a:solidFill>
                <a:latin typeface="Calibri" pitchFamily="34" charset="0"/>
                <a:ea typeface="Calibri" pitchFamily="34" charset="-122"/>
                <a:cs typeface="Calibri" pitchFamily="34" charset="-120"/>
              </a:rPr>
              <a:t>the paper's tool is single-pass RAG and the replication keeps that shape rather than adding this codebase's usual verifier</a:t>
            </a:r>
            <a:endParaRPr lang="en-US" sz="820" dirty="0"/>
          </a:p>
        </p:txBody>
      </p:sp>
      <p:sp>
        <p:nvSpPr>
          <p:cNvPr id="50" name="Shape 38"/>
          <p:cNvSpPr/>
          <p:nvPr/>
        </p:nvSpPr>
        <p:spPr>
          <a:xfrm>
            <a:off x="594360" y="5321808"/>
            <a:ext cx="3532632" cy="941832"/>
          </a:xfrm>
          <a:prstGeom prst="roundRect">
            <a:avLst>
              <a:gd name="adj" fmla="val 3883"/>
            </a:avLst>
          </a:prstGeom>
          <a:solidFill>
            <a:srgbClr val="F4F7FA"/>
          </a:solidFill>
          <a:ln w="15875">
            <a:solidFill>
              <a:srgbClr val="DDE5ED"/>
            </a:solidFill>
            <a:prstDash val="solid"/>
          </a:ln>
        </p:spPr>
      </p:sp>
      <p:sp>
        <p:nvSpPr>
          <p:cNvPr id="51" name="Text 39"/>
          <p:cNvSpPr txBox="1"/>
          <p:nvPr/>
        </p:nvSpPr>
        <p:spPr>
          <a:xfrm>
            <a:off x="758952" y="5422392"/>
            <a:ext cx="3203448" cy="201168"/>
          </a:xfrm>
          <a:prstGeom prst="rect">
            <a:avLst/>
          </a:prstGeom>
          <a:noFill/>
          <a:ln/>
        </p:spPr>
        <p:txBody>
          <a:bodyPr wrap="square" lIns="0" tIns="0" rIns="0" bIns="0" rtlCol="0" anchor="ctr"/>
          <a:lstStyle/>
          <a:p>
            <a:pPr indent="0" marL="0">
              <a:buNone/>
            </a:pPr>
            <a:r>
              <a:rPr lang="en-US" sz="850" b="1" spc="140" kern="0" dirty="0">
                <a:solidFill>
                  <a:srgbClr val="6D4DD1"/>
                </a:solidFill>
                <a:latin typeface="Calibri" pitchFamily="34" charset="0"/>
                <a:ea typeface="Calibri" pitchFamily="34" charset="-122"/>
                <a:cs typeface="Calibri" pitchFamily="34" charset="-120"/>
              </a:rPr>
              <a:t>MODULES</a:t>
            </a:r>
            <a:endParaRPr lang="en-US" sz="850" dirty="0"/>
          </a:p>
        </p:txBody>
      </p:sp>
      <p:sp>
        <p:nvSpPr>
          <p:cNvPr id="52" name="Text 40"/>
          <p:cNvSpPr txBox="1"/>
          <p:nvPr/>
        </p:nvSpPr>
        <p:spPr>
          <a:xfrm>
            <a:off x="758952" y="5641848"/>
            <a:ext cx="3203448" cy="548640"/>
          </a:xfrm>
          <a:prstGeom prst="rect">
            <a:avLst/>
          </a:prstGeom>
          <a:noFill/>
          <a:ln/>
        </p:spPr>
        <p:txBody>
          <a:bodyPr wrap="square" lIns="0" tIns="0" rIns="0" bIns="0" rtlCol="0" anchor="ctr"/>
          <a:lstStyle/>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arp/transition_plan/{pipeline,company_assessment}.py</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arp/transition_plan/{indicator_graph,indicator_agent}.py</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data/indicators.json — 64 indicators, verbatim</a:t>
            </a:r>
            <a:endParaRPr lang="en-US" sz="860" dirty="0"/>
          </a:p>
        </p:txBody>
      </p:sp>
      <p:sp>
        <p:nvSpPr>
          <p:cNvPr id="53" name="Shape 41"/>
          <p:cNvSpPr/>
          <p:nvPr/>
        </p:nvSpPr>
        <p:spPr>
          <a:xfrm>
            <a:off x="4328160" y="5321808"/>
            <a:ext cx="3532632" cy="941832"/>
          </a:xfrm>
          <a:prstGeom prst="roundRect">
            <a:avLst>
              <a:gd name="adj" fmla="val 3883"/>
            </a:avLst>
          </a:prstGeom>
          <a:solidFill>
            <a:srgbClr val="F4F7FA"/>
          </a:solidFill>
          <a:ln w="15875">
            <a:solidFill>
              <a:srgbClr val="DDE5ED"/>
            </a:solidFill>
            <a:prstDash val="solid"/>
          </a:ln>
        </p:spPr>
      </p:sp>
      <p:sp>
        <p:nvSpPr>
          <p:cNvPr id="54" name="Text 42"/>
          <p:cNvSpPr txBox="1"/>
          <p:nvPr/>
        </p:nvSpPr>
        <p:spPr>
          <a:xfrm>
            <a:off x="4492752" y="5422392"/>
            <a:ext cx="3203448" cy="201168"/>
          </a:xfrm>
          <a:prstGeom prst="rect">
            <a:avLst/>
          </a:prstGeom>
          <a:noFill/>
          <a:ln/>
        </p:spPr>
        <p:txBody>
          <a:bodyPr wrap="square" lIns="0" tIns="0" rIns="0" bIns="0" rtlCol="0" anchor="ctr"/>
          <a:lstStyle/>
          <a:p>
            <a:pPr indent="0" marL="0">
              <a:buNone/>
            </a:pPr>
            <a:r>
              <a:rPr lang="en-US" sz="850" b="1" spc="140" kern="0" dirty="0">
                <a:solidFill>
                  <a:srgbClr val="2F6FD0"/>
                </a:solidFill>
                <a:latin typeface="Calibri" pitchFamily="34" charset="0"/>
                <a:ea typeface="Calibri" pitchFamily="34" charset="-122"/>
                <a:cs typeface="Calibri" pitchFamily="34" charset="-120"/>
              </a:rPr>
              <a:t>IN → OUT</a:t>
            </a:r>
            <a:endParaRPr lang="en-US" sz="850" dirty="0"/>
          </a:p>
        </p:txBody>
      </p:sp>
      <p:sp>
        <p:nvSpPr>
          <p:cNvPr id="55" name="Text 43"/>
          <p:cNvSpPr txBox="1"/>
          <p:nvPr/>
        </p:nvSpPr>
        <p:spPr>
          <a:xfrm>
            <a:off x="4492752" y="5641848"/>
            <a:ext cx="3203448" cy="548640"/>
          </a:xfrm>
          <a:prstGeom prst="rect">
            <a:avLst/>
          </a:prstGeom>
          <a:noFill/>
          <a:ln/>
        </p:spPr>
        <p:txBody>
          <a:bodyPr wrap="square" lIns="0" tIns="0" rIns="0" bIns="0" rtlCol="0" anchor="ctr"/>
          <a:lstStyle/>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In: company universe.</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Out: TransitionPlanAssessmentRecord — 64 verdicts with</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explanations, citations and the walk/talk score.</a:t>
            </a:r>
            <a:endParaRPr lang="en-US" sz="860" dirty="0"/>
          </a:p>
        </p:txBody>
      </p:sp>
      <p:sp>
        <p:nvSpPr>
          <p:cNvPr id="56" name="Shape 44"/>
          <p:cNvSpPr/>
          <p:nvPr/>
        </p:nvSpPr>
        <p:spPr>
          <a:xfrm>
            <a:off x="8061960" y="5321808"/>
            <a:ext cx="3532632" cy="941832"/>
          </a:xfrm>
          <a:prstGeom prst="roundRect">
            <a:avLst>
              <a:gd name="adj" fmla="val 3883"/>
            </a:avLst>
          </a:prstGeom>
          <a:solidFill>
            <a:srgbClr val="F4F7FA"/>
          </a:solidFill>
          <a:ln w="15875">
            <a:solidFill>
              <a:srgbClr val="DDE5ED"/>
            </a:solidFill>
            <a:prstDash val="solid"/>
          </a:ln>
        </p:spPr>
      </p:sp>
      <p:sp>
        <p:nvSpPr>
          <p:cNvPr id="57" name="Text 45"/>
          <p:cNvSpPr txBox="1"/>
          <p:nvPr/>
        </p:nvSpPr>
        <p:spPr>
          <a:xfrm>
            <a:off x="8226552" y="5422392"/>
            <a:ext cx="3203448" cy="201168"/>
          </a:xfrm>
          <a:prstGeom prst="rect">
            <a:avLst/>
          </a:prstGeom>
          <a:noFill/>
          <a:ln/>
        </p:spPr>
        <p:txBody>
          <a:bodyPr wrap="square" lIns="0" tIns="0" rIns="0" bIns="0" rtlCol="0" anchor="ctr"/>
          <a:lstStyle/>
          <a:p>
            <a:pPr indent="0" marL="0">
              <a:buNone/>
            </a:pPr>
            <a:r>
              <a:rPr lang="en-US" sz="850" b="1" spc="140" kern="0" dirty="0">
                <a:solidFill>
                  <a:srgbClr val="C9871B"/>
                </a:solidFill>
                <a:latin typeface="Calibri" pitchFamily="34" charset="0"/>
                <a:ea typeface="Calibri" pitchFamily="34" charset="-122"/>
                <a:cs typeface="Calibri" pitchFamily="34" charset="-120"/>
              </a:rPr>
              <a:t>CONTROLS</a:t>
            </a:r>
            <a:endParaRPr lang="en-US" sz="850" dirty="0"/>
          </a:p>
        </p:txBody>
      </p:sp>
      <p:sp>
        <p:nvSpPr>
          <p:cNvPr id="58" name="Text 46"/>
          <p:cNvSpPr txBox="1"/>
          <p:nvPr/>
        </p:nvSpPr>
        <p:spPr>
          <a:xfrm>
            <a:off x="8226552" y="5641848"/>
            <a:ext cx="3203448" cy="548640"/>
          </a:xfrm>
          <a:prstGeom prst="rect">
            <a:avLst/>
          </a:prstGeom>
          <a:noFill/>
          <a:ln/>
        </p:spPr>
        <p:txBody>
          <a:bodyPr wrap="square" lIns="0" tIns="0" rIns="0" bIns="0" rtlCol="0" anchor="ctr"/>
          <a:lstStyle/>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Indicator wording and prompt text are never paraphrased.</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Hybrid retrieval stays off here, to match the paper exactly.</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An ungrounded verdict is queued, not accepted.</a:t>
            </a:r>
            <a:endParaRPr lang="en-US" sz="86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438912"/>
            <a:ext cx="10085832" cy="201168"/>
          </a:xfrm>
          <a:prstGeom prst="rect">
            <a:avLst/>
          </a:prstGeom>
          <a:noFill/>
          <a:ln/>
        </p:spPr>
        <p:txBody>
          <a:bodyPr wrap="square" lIns="0" tIns="0" rIns="0" bIns="0" rtlCol="0" anchor="ctr"/>
          <a:lstStyle/>
          <a:p>
            <a:pPr indent="0" marL="0">
              <a:buNone/>
            </a:pPr>
            <a:r>
              <a:rPr lang="en-US" sz="1050" b="1" spc="200" kern="0" dirty="0">
                <a:solidFill>
                  <a:srgbClr val="108494"/>
                </a:solidFill>
                <a:latin typeface="Calibri" pitchFamily="34" charset="0"/>
                <a:ea typeface="Calibri" pitchFamily="34" charset="-122"/>
                <a:cs typeface="Calibri" pitchFamily="34" charset="-120"/>
              </a:rPr>
              <a:t>09   ·   ENGAGEMENT (STEWARDSHIP)</a:t>
            </a:r>
            <a:endParaRPr lang="en-US" sz="1050" dirty="0"/>
          </a:p>
        </p:txBody>
      </p:sp>
      <p:sp>
        <p:nvSpPr>
          <p:cNvPr id="3" name="Text 1"/>
          <p:cNvSpPr txBox="1"/>
          <p:nvPr/>
        </p:nvSpPr>
        <p:spPr>
          <a:xfrm>
            <a:off x="594360" y="640080"/>
            <a:ext cx="10085832" cy="484632"/>
          </a:xfrm>
          <a:prstGeom prst="rect">
            <a:avLst/>
          </a:prstGeom>
          <a:noFill/>
          <a:ln/>
        </p:spPr>
        <p:txBody>
          <a:bodyPr wrap="square" lIns="0" tIns="0" rIns="0" bIns="0" rtlCol="0" anchor="ctr"/>
          <a:lstStyle/>
          <a:p>
            <a:pPr indent="0" marL="0">
              <a:buNone/>
            </a:pPr>
            <a:r>
              <a:rPr lang="en-US" sz="3000" b="1" dirty="0">
                <a:solidFill>
                  <a:srgbClr val="10243A"/>
                </a:solidFill>
                <a:latin typeface="Cambria" pitchFamily="34" charset="0"/>
                <a:ea typeface="Cambria" pitchFamily="34" charset="-122"/>
                <a:cs typeface="Cambria" pitchFamily="34" charset="-120"/>
              </a:rPr>
              <a:t>Company engagement, on the record</a:t>
            </a:r>
            <a:endParaRPr lang="en-US" sz="3000" dirty="0"/>
          </a:p>
        </p:txBody>
      </p:sp>
      <p:sp>
        <p:nvSpPr>
          <p:cNvPr id="4" name="Text 2"/>
          <p:cNvSpPr txBox="1"/>
          <p:nvPr/>
        </p:nvSpPr>
        <p:spPr>
          <a:xfrm>
            <a:off x="594360" y="1143000"/>
            <a:ext cx="9994392" cy="274320"/>
          </a:xfrm>
          <a:prstGeom prst="rect">
            <a:avLst/>
          </a:prstGeom>
          <a:noFill/>
          <a:ln/>
        </p:spPr>
        <p:txBody>
          <a:bodyPr wrap="square" lIns="0" tIns="0" rIns="0" bIns="0" rtlCol="0" anchor="ctr"/>
          <a:lstStyle/>
          <a:p>
            <a:pPr indent="0" marL="0">
              <a:buNone/>
            </a:pPr>
            <a:r>
              <a:rPr lang="en-US" sz="1200" dirty="0">
                <a:solidFill>
                  <a:srgbClr val="58697A"/>
                </a:solidFill>
                <a:latin typeface="Calibri" pitchFamily="34" charset="0"/>
                <a:ea typeface="Calibri" pitchFamily="34" charset="-122"/>
                <a:cs typeface="Calibri" pitchFamily="34" charset="-120"/>
              </a:rPr>
              <a:t>One shared record per company, a state machine instead of a chatbot, and a human at every point that touches the outside world.</a:t>
            </a:r>
            <a:endParaRPr lang="en-US" sz="1200" dirty="0"/>
          </a:p>
        </p:txBody>
      </p:sp>
      <p:sp>
        <p:nvSpPr>
          <p:cNvPr id="5" name="Shape 3"/>
          <p:cNvSpPr/>
          <p:nvPr/>
        </p:nvSpPr>
        <p:spPr>
          <a:xfrm>
            <a:off x="10881360" y="475488"/>
            <a:ext cx="713232" cy="713232"/>
          </a:xfrm>
          <a:prstGeom prst="roundRect">
            <a:avLst>
              <a:gd name="adj" fmla="val 20513"/>
            </a:avLst>
          </a:prstGeom>
          <a:solidFill>
            <a:srgbClr val="10243A"/>
          </a:solidFill>
          <a:ln/>
        </p:spPr>
      </p:sp>
      <p:pic>
        <p:nvPicPr>
          <p:cNvPr id="6" name="Image 0" descr="preencoded.png">    </p:cNvPr>
          <p:cNvPicPr>
            <a:picLocks noChangeAspect="1"/>
          </p:cNvPicPr>
          <p:nvPr/>
        </p:nvPicPr>
        <p:blipFill>
          <a:blip r:embed="rId1"/>
          <a:stretch>
            <a:fillRect/>
          </a:stretch>
        </p:blipFill>
        <p:spPr>
          <a:xfrm>
            <a:off x="11038271" y="632399"/>
            <a:ext cx="399410" cy="399410"/>
          </a:xfrm>
          <a:prstGeom prst="rect">
            <a:avLst/>
          </a:prstGeom>
        </p:spPr>
      </p:pic>
      <p:sp>
        <p:nvSpPr>
          <p:cNvPr id="7" name="Text 4"/>
          <p:cNvSpPr txBox="1"/>
          <p:nvPr/>
        </p:nvSpPr>
        <p:spPr>
          <a:xfrm>
            <a:off x="594360" y="1463040"/>
            <a:ext cx="11000232" cy="201168"/>
          </a:xfrm>
          <a:prstGeom prst="rect">
            <a:avLst/>
          </a:prstGeom>
          <a:noFill/>
          <a:ln/>
        </p:spPr>
        <p:txBody>
          <a:bodyPr wrap="square" lIns="0" tIns="0" rIns="0" bIns="0" rtlCol="0" anchor="ctr"/>
          <a:lstStyle/>
          <a:p>
            <a:pPr algn="ctr" indent="0" marL="0">
              <a:buNone/>
            </a:pPr>
            <a:r>
              <a:rPr lang="en-US" sz="900" b="1" spc="140" kern="0" dirty="0">
                <a:solidFill>
                  <a:srgbClr val="64798F"/>
                </a:solidFill>
                <a:latin typeface="Calibri" pitchFamily="34" charset="0"/>
                <a:ea typeface="Calibri" pitchFamily="34" charset="-122"/>
                <a:cs typeface="Calibri" pitchFamily="34" charset="-120"/>
              </a:rPr>
              <a:t>MILESTONE STAGES — THE ORCHESTRATOR MAPS EACH TO THE NEXT ACTION</a:t>
            </a:r>
            <a:endParaRPr lang="en-US" sz="900" dirty="0"/>
          </a:p>
        </p:txBody>
      </p:sp>
      <p:sp>
        <p:nvSpPr>
          <p:cNvPr id="8" name="Shape 5"/>
          <p:cNvSpPr/>
          <p:nvPr/>
        </p:nvSpPr>
        <p:spPr>
          <a:xfrm>
            <a:off x="594360" y="1719072"/>
            <a:ext cx="1574292" cy="566928"/>
          </a:xfrm>
          <a:prstGeom prst="roundRect">
            <a:avLst>
              <a:gd name="adj" fmla="val 16129"/>
            </a:avLst>
          </a:prstGeom>
          <a:solidFill>
            <a:srgbClr val="EAF0F5"/>
          </a:solidFill>
          <a:ln w="15875">
            <a:solidFill>
              <a:srgbClr val="64798F"/>
            </a:solidFill>
            <a:prstDash val="solid"/>
          </a:ln>
          <a:effectLst>
            <a:outerShdw sx="100000" sy="100000" kx="0" ky="0" algn="bl" rotWithShape="0" blurRad="101600" dist="19050" dir="5400000">
              <a:srgbClr val="9FB0C2">
                <a:alpha val="24000"/>
              </a:srgbClr>
            </a:outerShdw>
          </a:effectLst>
        </p:spPr>
      </p:sp>
      <p:sp>
        <p:nvSpPr>
          <p:cNvPr id="9" name="Text 6"/>
          <p:cNvSpPr txBox="1"/>
          <p:nvPr/>
        </p:nvSpPr>
        <p:spPr>
          <a:xfrm>
            <a:off x="685800" y="1719072"/>
            <a:ext cx="1391412" cy="566928"/>
          </a:xfrm>
          <a:prstGeom prst="rect">
            <a:avLst/>
          </a:prstGeom>
          <a:noFill/>
          <a:ln/>
        </p:spPr>
        <p:txBody>
          <a:bodyPr wrap="square" lIns="0" tIns="0" rIns="0" bIns="0" rtlCol="0" anchor="ctr"/>
          <a:lstStyle/>
          <a:p>
            <a:pPr algn="ctr" indent="0" marL="0">
              <a:lnSpc>
                <a:spcPct val="104000"/>
              </a:lnSpc>
              <a:buNone/>
            </a:pPr>
            <a:r>
              <a:rPr lang="en-US" sz="980" b="1" dirty="0">
                <a:solidFill>
                  <a:srgbClr val="24354A"/>
                </a:solidFill>
                <a:latin typeface="Calibri" pitchFamily="34" charset="0"/>
                <a:ea typeface="Calibri" pitchFamily="34" charset="-122"/>
                <a:cs typeface="Calibri" pitchFamily="34" charset="-120"/>
              </a:rPr>
              <a:t>Identified</a:t>
            </a:r>
            <a:endParaRPr lang="en-US" sz="980" dirty="0"/>
          </a:p>
        </p:txBody>
      </p:sp>
      <p:sp>
        <p:nvSpPr>
          <p:cNvPr id="10" name="Shape 7"/>
          <p:cNvSpPr/>
          <p:nvPr/>
        </p:nvSpPr>
        <p:spPr>
          <a:xfrm>
            <a:off x="2205228" y="2002536"/>
            <a:ext cx="237744" cy="0"/>
          </a:xfrm>
          <a:prstGeom prst="line">
            <a:avLst/>
          </a:prstGeom>
          <a:noFill/>
          <a:ln w="17780">
            <a:solidFill>
              <a:srgbClr val="64798F"/>
            </a:solidFill>
            <a:prstDash val="solid"/>
            <a:headEnd type="none"/>
            <a:tailEnd type="triangle"/>
          </a:ln>
        </p:spPr>
      </p:sp>
      <p:sp>
        <p:nvSpPr>
          <p:cNvPr id="11" name="Shape 8"/>
          <p:cNvSpPr/>
          <p:nvPr/>
        </p:nvSpPr>
        <p:spPr>
          <a:xfrm>
            <a:off x="2479548" y="1719072"/>
            <a:ext cx="1574292" cy="566928"/>
          </a:xfrm>
          <a:prstGeom prst="roundRect">
            <a:avLst>
              <a:gd name="adj" fmla="val 16129"/>
            </a:avLst>
          </a:prstGeom>
          <a:solidFill>
            <a:srgbClr val="EAF0F5"/>
          </a:solidFill>
          <a:ln w="15875">
            <a:solidFill>
              <a:srgbClr val="64798F"/>
            </a:solidFill>
            <a:prstDash val="solid"/>
          </a:ln>
          <a:effectLst>
            <a:outerShdw sx="100000" sy="100000" kx="0" ky="0" algn="bl" rotWithShape="0" blurRad="101600" dist="19050" dir="5400000">
              <a:srgbClr val="9FB0C2">
                <a:alpha val="24000"/>
              </a:srgbClr>
            </a:outerShdw>
          </a:effectLst>
        </p:spPr>
      </p:sp>
      <p:sp>
        <p:nvSpPr>
          <p:cNvPr id="12" name="Text 9"/>
          <p:cNvSpPr txBox="1"/>
          <p:nvPr/>
        </p:nvSpPr>
        <p:spPr>
          <a:xfrm>
            <a:off x="2570988" y="1719072"/>
            <a:ext cx="1391412" cy="566928"/>
          </a:xfrm>
          <a:prstGeom prst="rect">
            <a:avLst/>
          </a:prstGeom>
          <a:noFill/>
          <a:ln/>
        </p:spPr>
        <p:txBody>
          <a:bodyPr wrap="square" lIns="0" tIns="0" rIns="0" bIns="0" rtlCol="0" anchor="ctr"/>
          <a:lstStyle/>
          <a:p>
            <a:pPr algn="ctr" indent="0" marL="0">
              <a:lnSpc>
                <a:spcPct val="104000"/>
              </a:lnSpc>
              <a:buNone/>
            </a:pPr>
            <a:r>
              <a:rPr lang="en-US" sz="980" b="1" dirty="0">
                <a:solidFill>
                  <a:srgbClr val="24354A"/>
                </a:solidFill>
                <a:latin typeface="Calibri" pitchFamily="34" charset="0"/>
                <a:ea typeface="Calibri" pitchFamily="34" charset="-122"/>
                <a:cs typeface="Calibri" pitchFamily="34" charset="-120"/>
              </a:rPr>
              <a:t>Contacted</a:t>
            </a:r>
            <a:endParaRPr lang="en-US" sz="980" dirty="0"/>
          </a:p>
        </p:txBody>
      </p:sp>
      <p:sp>
        <p:nvSpPr>
          <p:cNvPr id="13" name="Shape 10"/>
          <p:cNvSpPr/>
          <p:nvPr/>
        </p:nvSpPr>
        <p:spPr>
          <a:xfrm>
            <a:off x="4090416" y="2002536"/>
            <a:ext cx="237744" cy="0"/>
          </a:xfrm>
          <a:prstGeom prst="line">
            <a:avLst/>
          </a:prstGeom>
          <a:noFill/>
          <a:ln w="17780">
            <a:solidFill>
              <a:srgbClr val="64798F"/>
            </a:solidFill>
            <a:prstDash val="solid"/>
            <a:headEnd type="none"/>
            <a:tailEnd type="triangle"/>
          </a:ln>
        </p:spPr>
      </p:sp>
      <p:sp>
        <p:nvSpPr>
          <p:cNvPr id="14" name="Shape 11"/>
          <p:cNvSpPr/>
          <p:nvPr/>
        </p:nvSpPr>
        <p:spPr>
          <a:xfrm>
            <a:off x="4364736" y="1719072"/>
            <a:ext cx="1574292" cy="566928"/>
          </a:xfrm>
          <a:prstGeom prst="roundRect">
            <a:avLst>
              <a:gd name="adj" fmla="val 16129"/>
            </a:avLst>
          </a:prstGeom>
          <a:solidFill>
            <a:srgbClr val="EAF0F5"/>
          </a:solidFill>
          <a:ln w="15875">
            <a:solidFill>
              <a:srgbClr val="64798F"/>
            </a:solidFill>
            <a:prstDash val="solid"/>
          </a:ln>
          <a:effectLst>
            <a:outerShdw sx="100000" sy="100000" kx="0" ky="0" algn="bl" rotWithShape="0" blurRad="101600" dist="19050" dir="5400000">
              <a:srgbClr val="9FB0C2">
                <a:alpha val="24000"/>
              </a:srgbClr>
            </a:outerShdw>
          </a:effectLst>
        </p:spPr>
      </p:sp>
      <p:sp>
        <p:nvSpPr>
          <p:cNvPr id="15" name="Text 12"/>
          <p:cNvSpPr txBox="1"/>
          <p:nvPr/>
        </p:nvSpPr>
        <p:spPr>
          <a:xfrm>
            <a:off x="4456176" y="1719072"/>
            <a:ext cx="1391412" cy="566928"/>
          </a:xfrm>
          <a:prstGeom prst="rect">
            <a:avLst/>
          </a:prstGeom>
          <a:noFill/>
          <a:ln/>
        </p:spPr>
        <p:txBody>
          <a:bodyPr wrap="square" lIns="0" tIns="0" rIns="0" bIns="0" rtlCol="0" anchor="ctr"/>
          <a:lstStyle/>
          <a:p>
            <a:pPr algn="ctr" indent="0" marL="0">
              <a:lnSpc>
                <a:spcPct val="104000"/>
              </a:lnSpc>
              <a:buNone/>
            </a:pPr>
            <a:r>
              <a:rPr lang="en-US" sz="980" b="1" dirty="0">
                <a:solidFill>
                  <a:srgbClr val="24354A"/>
                </a:solidFill>
                <a:latin typeface="Calibri" pitchFamily="34" charset="0"/>
                <a:ea typeface="Calibri" pitchFamily="34" charset="-122"/>
                <a:cs typeface="Calibri" pitchFamily="34" charset="-120"/>
              </a:rPr>
              <a:t>Dialogue opened</a:t>
            </a:r>
            <a:endParaRPr lang="en-US" sz="980" dirty="0"/>
          </a:p>
        </p:txBody>
      </p:sp>
      <p:sp>
        <p:nvSpPr>
          <p:cNvPr id="16" name="Shape 13"/>
          <p:cNvSpPr/>
          <p:nvPr/>
        </p:nvSpPr>
        <p:spPr>
          <a:xfrm>
            <a:off x="5975604" y="2002536"/>
            <a:ext cx="237744" cy="0"/>
          </a:xfrm>
          <a:prstGeom prst="line">
            <a:avLst/>
          </a:prstGeom>
          <a:noFill/>
          <a:ln w="17780">
            <a:solidFill>
              <a:srgbClr val="64798F"/>
            </a:solidFill>
            <a:prstDash val="solid"/>
            <a:headEnd type="none"/>
            <a:tailEnd type="triangle"/>
          </a:ln>
        </p:spPr>
      </p:sp>
      <p:sp>
        <p:nvSpPr>
          <p:cNvPr id="17" name="Shape 14"/>
          <p:cNvSpPr/>
          <p:nvPr/>
        </p:nvSpPr>
        <p:spPr>
          <a:xfrm>
            <a:off x="6249924" y="1719072"/>
            <a:ext cx="1574292" cy="566928"/>
          </a:xfrm>
          <a:prstGeom prst="roundRect">
            <a:avLst>
              <a:gd name="adj" fmla="val 16129"/>
            </a:avLst>
          </a:prstGeom>
          <a:solidFill>
            <a:srgbClr val="EAF0F5"/>
          </a:solidFill>
          <a:ln w="15875">
            <a:solidFill>
              <a:srgbClr val="64798F"/>
            </a:solidFill>
            <a:prstDash val="solid"/>
          </a:ln>
          <a:effectLst>
            <a:outerShdw sx="100000" sy="100000" kx="0" ky="0" algn="bl" rotWithShape="0" blurRad="101600" dist="19050" dir="5400000">
              <a:srgbClr val="9FB0C2">
                <a:alpha val="24000"/>
              </a:srgbClr>
            </a:outerShdw>
          </a:effectLst>
        </p:spPr>
      </p:sp>
      <p:sp>
        <p:nvSpPr>
          <p:cNvPr id="18" name="Text 15"/>
          <p:cNvSpPr txBox="1"/>
          <p:nvPr/>
        </p:nvSpPr>
        <p:spPr>
          <a:xfrm>
            <a:off x="6341364" y="1719072"/>
            <a:ext cx="1391412" cy="566928"/>
          </a:xfrm>
          <a:prstGeom prst="rect">
            <a:avLst/>
          </a:prstGeom>
          <a:noFill/>
          <a:ln/>
        </p:spPr>
        <p:txBody>
          <a:bodyPr wrap="square" lIns="0" tIns="0" rIns="0" bIns="0" rtlCol="0" anchor="ctr"/>
          <a:lstStyle/>
          <a:p>
            <a:pPr algn="ctr" indent="0" marL="0">
              <a:lnSpc>
                <a:spcPct val="104000"/>
              </a:lnSpc>
              <a:buNone/>
            </a:pPr>
            <a:r>
              <a:rPr lang="en-US" sz="980" b="1" dirty="0">
                <a:solidFill>
                  <a:srgbClr val="24354A"/>
                </a:solidFill>
                <a:latin typeface="Calibri" pitchFamily="34" charset="0"/>
                <a:ea typeface="Calibri" pitchFamily="34" charset="-122"/>
                <a:cs typeface="Calibri" pitchFamily="34" charset="-120"/>
              </a:rPr>
              <a:t>Response received</a:t>
            </a:r>
            <a:endParaRPr lang="en-US" sz="980" dirty="0"/>
          </a:p>
        </p:txBody>
      </p:sp>
      <p:sp>
        <p:nvSpPr>
          <p:cNvPr id="19" name="Shape 16"/>
          <p:cNvSpPr/>
          <p:nvPr/>
        </p:nvSpPr>
        <p:spPr>
          <a:xfrm>
            <a:off x="7860792" y="2002536"/>
            <a:ext cx="237744" cy="0"/>
          </a:xfrm>
          <a:prstGeom prst="line">
            <a:avLst/>
          </a:prstGeom>
          <a:noFill/>
          <a:ln w="17780">
            <a:solidFill>
              <a:srgbClr val="64798F"/>
            </a:solidFill>
            <a:prstDash val="solid"/>
            <a:headEnd type="none"/>
            <a:tailEnd type="triangle"/>
          </a:ln>
        </p:spPr>
      </p:sp>
      <p:sp>
        <p:nvSpPr>
          <p:cNvPr id="20" name="Shape 17"/>
          <p:cNvSpPr/>
          <p:nvPr/>
        </p:nvSpPr>
        <p:spPr>
          <a:xfrm>
            <a:off x="8135112" y="1719072"/>
            <a:ext cx="1574292" cy="566928"/>
          </a:xfrm>
          <a:prstGeom prst="roundRect">
            <a:avLst>
              <a:gd name="adj" fmla="val 16129"/>
            </a:avLst>
          </a:prstGeom>
          <a:solidFill>
            <a:srgbClr val="EAF0F5"/>
          </a:solidFill>
          <a:ln w="15875">
            <a:solidFill>
              <a:srgbClr val="64798F"/>
            </a:solidFill>
            <a:prstDash val="solid"/>
          </a:ln>
          <a:effectLst>
            <a:outerShdw sx="100000" sy="100000" kx="0" ky="0" algn="bl" rotWithShape="0" blurRad="101600" dist="19050" dir="5400000">
              <a:srgbClr val="9FB0C2">
                <a:alpha val="24000"/>
              </a:srgbClr>
            </a:outerShdw>
          </a:effectLst>
        </p:spPr>
      </p:sp>
      <p:sp>
        <p:nvSpPr>
          <p:cNvPr id="21" name="Text 18"/>
          <p:cNvSpPr txBox="1"/>
          <p:nvPr/>
        </p:nvSpPr>
        <p:spPr>
          <a:xfrm>
            <a:off x="8226552" y="1719072"/>
            <a:ext cx="1391412" cy="566928"/>
          </a:xfrm>
          <a:prstGeom prst="rect">
            <a:avLst/>
          </a:prstGeom>
          <a:noFill/>
          <a:ln/>
        </p:spPr>
        <p:txBody>
          <a:bodyPr wrap="square" lIns="0" tIns="0" rIns="0" bIns="0" rtlCol="0" anchor="ctr"/>
          <a:lstStyle/>
          <a:p>
            <a:pPr algn="ctr" indent="0" marL="0">
              <a:lnSpc>
                <a:spcPct val="104000"/>
              </a:lnSpc>
              <a:buNone/>
            </a:pPr>
            <a:r>
              <a:rPr lang="en-US" sz="980" b="1" dirty="0">
                <a:solidFill>
                  <a:srgbClr val="24354A"/>
                </a:solidFill>
                <a:latin typeface="Calibri" pitchFamily="34" charset="0"/>
                <a:ea typeface="Calibri" pitchFamily="34" charset="-122"/>
                <a:cs typeface="Calibri" pitchFamily="34" charset="-120"/>
              </a:rPr>
              <a:t>Commitment made</a:t>
            </a:r>
            <a:endParaRPr lang="en-US" sz="980" dirty="0"/>
          </a:p>
        </p:txBody>
      </p:sp>
      <p:sp>
        <p:nvSpPr>
          <p:cNvPr id="22" name="Shape 19"/>
          <p:cNvSpPr/>
          <p:nvPr/>
        </p:nvSpPr>
        <p:spPr>
          <a:xfrm>
            <a:off x="9745980" y="2002536"/>
            <a:ext cx="237744" cy="0"/>
          </a:xfrm>
          <a:prstGeom prst="line">
            <a:avLst/>
          </a:prstGeom>
          <a:noFill/>
          <a:ln w="17780">
            <a:solidFill>
              <a:srgbClr val="64798F"/>
            </a:solidFill>
            <a:prstDash val="solid"/>
            <a:headEnd type="none"/>
            <a:tailEnd type="triangle"/>
          </a:ln>
        </p:spPr>
      </p:sp>
      <p:sp>
        <p:nvSpPr>
          <p:cNvPr id="23" name="Shape 20"/>
          <p:cNvSpPr/>
          <p:nvPr/>
        </p:nvSpPr>
        <p:spPr>
          <a:xfrm>
            <a:off x="10020300" y="1719072"/>
            <a:ext cx="1574292" cy="566928"/>
          </a:xfrm>
          <a:prstGeom prst="roundRect">
            <a:avLst>
              <a:gd name="adj" fmla="val 16129"/>
            </a:avLst>
          </a:prstGeom>
          <a:solidFill>
            <a:srgbClr val="E0F3E3"/>
          </a:solidFill>
          <a:ln w="15875">
            <a:solidFill>
              <a:srgbClr val="2F8F48"/>
            </a:solidFill>
            <a:prstDash val="solid"/>
          </a:ln>
          <a:effectLst>
            <a:outerShdw sx="100000" sy="100000" kx="0" ky="0" algn="bl" rotWithShape="0" blurRad="101600" dist="19050" dir="5400000">
              <a:srgbClr val="9FB0C2">
                <a:alpha val="24000"/>
              </a:srgbClr>
            </a:outerShdw>
          </a:effectLst>
        </p:spPr>
      </p:sp>
      <p:sp>
        <p:nvSpPr>
          <p:cNvPr id="24" name="Text 21"/>
          <p:cNvSpPr txBox="1"/>
          <p:nvPr/>
        </p:nvSpPr>
        <p:spPr>
          <a:xfrm>
            <a:off x="10111740" y="1719072"/>
            <a:ext cx="1391412" cy="566928"/>
          </a:xfrm>
          <a:prstGeom prst="rect">
            <a:avLst/>
          </a:prstGeom>
          <a:noFill/>
          <a:ln/>
        </p:spPr>
        <p:txBody>
          <a:bodyPr wrap="square" lIns="0" tIns="0" rIns="0" bIns="0" rtlCol="0" anchor="ctr"/>
          <a:lstStyle/>
          <a:p>
            <a:pPr algn="ctr" indent="0" marL="0">
              <a:lnSpc>
                <a:spcPct val="104000"/>
              </a:lnSpc>
              <a:buNone/>
            </a:pPr>
            <a:r>
              <a:rPr lang="en-US" sz="980" b="1" dirty="0">
                <a:solidFill>
                  <a:srgbClr val="17431F"/>
                </a:solidFill>
                <a:latin typeface="Calibri" pitchFamily="34" charset="0"/>
                <a:ea typeface="Calibri" pitchFamily="34" charset="-122"/>
                <a:cs typeface="Calibri" pitchFamily="34" charset="-120"/>
              </a:rPr>
              <a:t>Commitment verified</a:t>
            </a:r>
            <a:endParaRPr lang="en-US" sz="980" dirty="0"/>
          </a:p>
        </p:txBody>
      </p:sp>
      <p:sp>
        <p:nvSpPr>
          <p:cNvPr id="25" name="Shape 22"/>
          <p:cNvSpPr/>
          <p:nvPr/>
        </p:nvSpPr>
        <p:spPr>
          <a:xfrm>
            <a:off x="594360" y="2542032"/>
            <a:ext cx="5486400" cy="2240280"/>
          </a:xfrm>
          <a:prstGeom prst="roundRect">
            <a:avLst>
              <a:gd name="adj" fmla="val 1633"/>
            </a:avLst>
          </a:prstGeom>
          <a:solidFill>
            <a:srgbClr val="F7FAFC"/>
          </a:solidFill>
          <a:ln w="15875">
            <a:solidFill>
              <a:srgbClr val="9FB2C4"/>
            </a:solidFill>
            <a:prstDash val="dash"/>
          </a:ln>
        </p:spPr>
      </p:sp>
      <p:sp>
        <p:nvSpPr>
          <p:cNvPr id="26" name="Shape 23"/>
          <p:cNvSpPr/>
          <p:nvPr/>
        </p:nvSpPr>
        <p:spPr>
          <a:xfrm>
            <a:off x="740664" y="2423160"/>
            <a:ext cx="980237" cy="274320"/>
          </a:xfrm>
          <a:prstGeom prst="roundRect">
            <a:avLst>
              <a:gd name="adj" fmla="val 50000"/>
            </a:avLst>
          </a:prstGeom>
          <a:solidFill>
            <a:srgbClr val="64798F"/>
          </a:solidFill>
          <a:ln/>
        </p:spPr>
      </p:sp>
      <p:pic>
        <p:nvPicPr>
          <p:cNvPr id="27" name="Image 1" descr="preencoded.png">    </p:cNvPr>
          <p:cNvPicPr>
            <a:picLocks noChangeAspect="1"/>
          </p:cNvPicPr>
          <p:nvPr/>
        </p:nvPicPr>
        <p:blipFill>
          <a:blip r:embed="rId2"/>
          <a:stretch>
            <a:fillRect/>
          </a:stretch>
        </p:blipFill>
        <p:spPr>
          <a:xfrm>
            <a:off x="859536" y="2491740"/>
            <a:ext cx="132588" cy="132588"/>
          </a:xfrm>
          <a:prstGeom prst="rect">
            <a:avLst/>
          </a:prstGeom>
        </p:spPr>
      </p:pic>
      <p:sp>
        <p:nvSpPr>
          <p:cNvPr id="28" name="Text 24"/>
          <p:cNvSpPr txBox="1"/>
          <p:nvPr/>
        </p:nvSpPr>
        <p:spPr>
          <a:xfrm>
            <a:off x="1014984" y="2423160"/>
            <a:ext cx="705917" cy="274320"/>
          </a:xfrm>
          <a:prstGeom prst="rect">
            <a:avLst/>
          </a:prstGeom>
          <a:noFill/>
          <a:ln/>
        </p:spPr>
        <p:txBody>
          <a:bodyPr wrap="square" lIns="0" tIns="0" rIns="0" bIns="0" rtlCol="0" anchor="ctr"/>
          <a:lstStyle/>
          <a:p>
            <a:pPr algn="ctr" indent="0" marL="0">
              <a:buNone/>
            </a:pPr>
            <a:r>
              <a:rPr lang="en-US" sz="850" b="1" spc="110" kern="0" dirty="0">
                <a:solidFill>
                  <a:srgbClr val="FFFFFF"/>
                </a:solidFill>
                <a:latin typeface="Calibri" pitchFamily="34" charset="0"/>
                <a:ea typeface="Calibri" pitchFamily="34" charset="-122"/>
                <a:cs typeface="Calibri" pitchFamily="34" charset="-120"/>
              </a:rPr>
              <a:t>AGENTS</a:t>
            </a:r>
            <a:endParaRPr lang="en-US" sz="850" dirty="0"/>
          </a:p>
        </p:txBody>
      </p:sp>
      <p:sp>
        <p:nvSpPr>
          <p:cNvPr id="29" name="Shape 25"/>
          <p:cNvSpPr/>
          <p:nvPr/>
        </p:nvSpPr>
        <p:spPr>
          <a:xfrm>
            <a:off x="822960" y="2926080"/>
            <a:ext cx="2377440" cy="749808"/>
          </a:xfrm>
          <a:prstGeom prst="roundRect">
            <a:avLst>
              <a:gd name="adj" fmla="val 12195"/>
            </a:avLst>
          </a:prstGeom>
          <a:solidFill>
            <a:srgbClr val="EBE5FC"/>
          </a:solidFill>
          <a:ln w="15875">
            <a:solidFill>
              <a:srgbClr val="6D4DD1"/>
            </a:solidFill>
            <a:prstDash val="solid"/>
          </a:ln>
          <a:effectLst>
            <a:outerShdw sx="100000" sy="100000" kx="0" ky="0" algn="bl" rotWithShape="0" blurRad="101600" dist="19050" dir="5400000">
              <a:srgbClr val="9FB0C2">
                <a:alpha val="24000"/>
              </a:srgbClr>
            </a:outerShdw>
          </a:effectLst>
        </p:spPr>
      </p:sp>
      <p:sp>
        <p:nvSpPr>
          <p:cNvPr id="30" name="Shape 26"/>
          <p:cNvSpPr/>
          <p:nvPr/>
        </p:nvSpPr>
        <p:spPr>
          <a:xfrm>
            <a:off x="960120" y="3145536"/>
            <a:ext cx="310896" cy="310896"/>
          </a:xfrm>
          <a:prstGeom prst="roundRect">
            <a:avLst>
              <a:gd name="adj" fmla="val 29412"/>
            </a:avLst>
          </a:prstGeom>
          <a:solidFill>
            <a:srgbClr val="6D4DD1"/>
          </a:solidFill>
          <a:ln/>
        </p:spPr>
      </p:sp>
      <p:pic>
        <p:nvPicPr>
          <p:cNvPr id="31" name="Image 2" descr="preencoded.png">    </p:cNvPr>
          <p:cNvPicPr>
            <a:picLocks noChangeAspect="1"/>
          </p:cNvPicPr>
          <p:nvPr/>
        </p:nvPicPr>
        <p:blipFill>
          <a:blip r:embed="rId3"/>
          <a:stretch>
            <a:fillRect/>
          </a:stretch>
        </p:blipFill>
        <p:spPr>
          <a:xfrm>
            <a:off x="1028517" y="3213933"/>
            <a:ext cx="174102" cy="174102"/>
          </a:xfrm>
          <a:prstGeom prst="rect">
            <a:avLst/>
          </a:prstGeom>
        </p:spPr>
      </p:pic>
      <p:sp>
        <p:nvSpPr>
          <p:cNvPr id="32" name="Text 27"/>
          <p:cNvSpPr txBox="1"/>
          <p:nvPr/>
        </p:nvSpPr>
        <p:spPr>
          <a:xfrm>
            <a:off x="1408176" y="2926080"/>
            <a:ext cx="1682496" cy="749808"/>
          </a:xfrm>
          <a:prstGeom prst="rect">
            <a:avLst/>
          </a:prstGeom>
          <a:noFill/>
          <a:ln/>
        </p:spPr>
        <p:txBody>
          <a:bodyPr wrap="square" lIns="0" tIns="0" rIns="0" bIns="0" rtlCol="0" anchor="ctr"/>
          <a:lstStyle/>
          <a:p>
            <a:pPr algn="l" indent="0" marL="0">
              <a:lnSpc>
                <a:spcPct val="104000"/>
              </a:lnSpc>
              <a:buNone/>
            </a:pPr>
            <a:r>
              <a:rPr lang="en-US" sz="1050" b="1" dirty="0">
                <a:solidFill>
                  <a:srgbClr val="35236E"/>
                </a:solidFill>
                <a:latin typeface="Calibri" pitchFamily="34" charset="0"/>
                <a:ea typeface="Calibri" pitchFamily="34" charset="-122"/>
                <a:cs typeface="Calibri" pitchFamily="34" charset="-120"/>
              </a:rPr>
              <a:t>Research</a:t>
            </a:r>
            <a:endParaRPr lang="en-US" sz="1050" dirty="0"/>
          </a:p>
          <a:p>
            <a:pPr algn="l" indent="0" marL="0">
              <a:lnSpc>
                <a:spcPct val="104000"/>
              </a:lnSpc>
              <a:buNone/>
            </a:pPr>
            <a:r>
              <a:rPr lang="en-US" sz="780" dirty="0">
                <a:solidFill>
                  <a:srgbClr val="35236E"/>
                </a:solidFill>
                <a:latin typeface="Calibri" pitchFamily="34" charset="0"/>
                <a:ea typeface="Calibri" pitchFamily="34" charset="-122"/>
                <a:cs typeface="Calibri" pitchFamily="34" charset="-120"/>
              </a:rPr>
              <a:t>grounded dossier from the company's own disclosures</a:t>
            </a:r>
            <a:endParaRPr lang="en-US" sz="1050" dirty="0"/>
          </a:p>
        </p:txBody>
      </p:sp>
      <p:sp>
        <p:nvSpPr>
          <p:cNvPr id="33" name="Shape 28"/>
          <p:cNvSpPr/>
          <p:nvPr/>
        </p:nvSpPr>
        <p:spPr>
          <a:xfrm>
            <a:off x="3429000" y="2926080"/>
            <a:ext cx="2377440" cy="749808"/>
          </a:xfrm>
          <a:prstGeom prst="roundRect">
            <a:avLst>
              <a:gd name="adj" fmla="val 12195"/>
            </a:avLst>
          </a:prstGeom>
          <a:solidFill>
            <a:srgbClr val="EBE5FC"/>
          </a:solidFill>
          <a:ln w="15875">
            <a:solidFill>
              <a:srgbClr val="6D4DD1"/>
            </a:solidFill>
            <a:prstDash val="solid"/>
          </a:ln>
          <a:effectLst>
            <a:outerShdw sx="100000" sy="100000" kx="0" ky="0" algn="bl" rotWithShape="0" blurRad="101600" dist="19050" dir="5400000">
              <a:srgbClr val="9FB0C2">
                <a:alpha val="24000"/>
              </a:srgbClr>
            </a:outerShdw>
          </a:effectLst>
        </p:spPr>
      </p:sp>
      <p:sp>
        <p:nvSpPr>
          <p:cNvPr id="34" name="Shape 29"/>
          <p:cNvSpPr/>
          <p:nvPr/>
        </p:nvSpPr>
        <p:spPr>
          <a:xfrm>
            <a:off x="3566160" y="3145536"/>
            <a:ext cx="310896" cy="310896"/>
          </a:xfrm>
          <a:prstGeom prst="roundRect">
            <a:avLst>
              <a:gd name="adj" fmla="val 29412"/>
            </a:avLst>
          </a:prstGeom>
          <a:solidFill>
            <a:srgbClr val="6D4DD1"/>
          </a:solidFill>
          <a:ln/>
        </p:spPr>
      </p:sp>
      <p:pic>
        <p:nvPicPr>
          <p:cNvPr id="35" name="Image 3" descr="preencoded.png">    </p:cNvPr>
          <p:cNvPicPr>
            <a:picLocks noChangeAspect="1"/>
          </p:cNvPicPr>
          <p:nvPr/>
        </p:nvPicPr>
        <p:blipFill>
          <a:blip r:embed="rId4"/>
          <a:stretch>
            <a:fillRect/>
          </a:stretch>
        </p:blipFill>
        <p:spPr>
          <a:xfrm>
            <a:off x="3634557" y="3213933"/>
            <a:ext cx="174102" cy="174102"/>
          </a:xfrm>
          <a:prstGeom prst="rect">
            <a:avLst/>
          </a:prstGeom>
        </p:spPr>
      </p:pic>
      <p:sp>
        <p:nvSpPr>
          <p:cNvPr id="36" name="Text 30"/>
          <p:cNvSpPr txBox="1"/>
          <p:nvPr/>
        </p:nvSpPr>
        <p:spPr>
          <a:xfrm>
            <a:off x="4014216" y="2926080"/>
            <a:ext cx="1682496" cy="749808"/>
          </a:xfrm>
          <a:prstGeom prst="rect">
            <a:avLst/>
          </a:prstGeom>
          <a:noFill/>
          <a:ln/>
        </p:spPr>
        <p:txBody>
          <a:bodyPr wrap="square" lIns="0" tIns="0" rIns="0" bIns="0" rtlCol="0" anchor="ctr"/>
          <a:lstStyle/>
          <a:p>
            <a:pPr algn="l" indent="0" marL="0">
              <a:lnSpc>
                <a:spcPct val="104000"/>
              </a:lnSpc>
              <a:buNone/>
            </a:pPr>
            <a:r>
              <a:rPr lang="en-US" sz="1050" b="1" dirty="0">
                <a:solidFill>
                  <a:srgbClr val="35236E"/>
                </a:solidFill>
                <a:latin typeface="Calibri" pitchFamily="34" charset="0"/>
                <a:ea typeface="Calibri" pitchFamily="34" charset="-122"/>
                <a:cs typeface="Calibri" pitchFamily="34" charset="-120"/>
              </a:rPr>
              <a:t>Drafting</a:t>
            </a:r>
            <a:endParaRPr lang="en-US" sz="1050" dirty="0"/>
          </a:p>
          <a:p>
            <a:pPr algn="l" indent="0" marL="0">
              <a:lnSpc>
                <a:spcPct val="104000"/>
              </a:lnSpc>
              <a:buNone/>
            </a:pPr>
            <a:r>
              <a:rPr lang="en-US" sz="780" dirty="0">
                <a:solidFill>
                  <a:srgbClr val="35236E"/>
                </a:solidFill>
                <a:latin typeface="Calibri" pitchFamily="34" charset="0"/>
                <a:ea typeface="Calibri" pitchFamily="34" charset="-122"/>
                <a:cs typeface="Calibri" pitchFamily="34" charset="-120"/>
              </a:rPr>
              <a:t>letter, talking points, meeting summary</a:t>
            </a:r>
            <a:endParaRPr lang="en-US" sz="1050" dirty="0"/>
          </a:p>
        </p:txBody>
      </p:sp>
      <p:sp>
        <p:nvSpPr>
          <p:cNvPr id="37" name="Shape 31"/>
          <p:cNvSpPr/>
          <p:nvPr/>
        </p:nvSpPr>
        <p:spPr>
          <a:xfrm>
            <a:off x="822960" y="3822192"/>
            <a:ext cx="2377440" cy="749808"/>
          </a:xfrm>
          <a:prstGeom prst="roundRect">
            <a:avLst>
              <a:gd name="adj" fmla="val 12195"/>
            </a:avLst>
          </a:prstGeom>
          <a:solidFill>
            <a:srgbClr val="DCF2F4"/>
          </a:solidFill>
          <a:ln w="15875">
            <a:solidFill>
              <a:srgbClr val="108494"/>
            </a:solidFill>
            <a:prstDash val="solid"/>
          </a:ln>
          <a:effectLst>
            <a:outerShdw sx="100000" sy="100000" kx="0" ky="0" algn="bl" rotWithShape="0" blurRad="101600" dist="19050" dir="5400000">
              <a:srgbClr val="9FB0C2">
                <a:alpha val="24000"/>
              </a:srgbClr>
            </a:outerShdw>
          </a:effectLst>
        </p:spPr>
      </p:sp>
      <p:sp>
        <p:nvSpPr>
          <p:cNvPr id="38" name="Shape 32"/>
          <p:cNvSpPr/>
          <p:nvPr/>
        </p:nvSpPr>
        <p:spPr>
          <a:xfrm>
            <a:off x="960120" y="4041648"/>
            <a:ext cx="310896" cy="310896"/>
          </a:xfrm>
          <a:prstGeom prst="roundRect">
            <a:avLst>
              <a:gd name="adj" fmla="val 29412"/>
            </a:avLst>
          </a:prstGeom>
          <a:solidFill>
            <a:srgbClr val="108494"/>
          </a:solidFill>
          <a:ln/>
        </p:spPr>
      </p:sp>
      <p:pic>
        <p:nvPicPr>
          <p:cNvPr id="39" name="Image 4" descr="preencoded.png">    </p:cNvPr>
          <p:cNvPicPr>
            <a:picLocks noChangeAspect="1"/>
          </p:cNvPicPr>
          <p:nvPr/>
        </p:nvPicPr>
        <p:blipFill>
          <a:blip r:embed="rId5"/>
          <a:stretch>
            <a:fillRect/>
          </a:stretch>
        </p:blipFill>
        <p:spPr>
          <a:xfrm>
            <a:off x="1028517" y="4110045"/>
            <a:ext cx="174102" cy="174102"/>
          </a:xfrm>
          <a:prstGeom prst="rect">
            <a:avLst/>
          </a:prstGeom>
        </p:spPr>
      </p:pic>
      <p:sp>
        <p:nvSpPr>
          <p:cNvPr id="40" name="Text 33"/>
          <p:cNvSpPr txBox="1"/>
          <p:nvPr/>
        </p:nvSpPr>
        <p:spPr>
          <a:xfrm>
            <a:off x="1408176" y="3822192"/>
            <a:ext cx="1682496" cy="749808"/>
          </a:xfrm>
          <a:prstGeom prst="rect">
            <a:avLst/>
          </a:prstGeom>
          <a:noFill/>
          <a:ln/>
        </p:spPr>
        <p:txBody>
          <a:bodyPr wrap="square" lIns="0" tIns="0" rIns="0" bIns="0" rtlCol="0" anchor="ctr"/>
          <a:lstStyle/>
          <a:p>
            <a:pPr algn="l" indent="0" marL="0">
              <a:lnSpc>
                <a:spcPct val="104000"/>
              </a:lnSpc>
              <a:buNone/>
            </a:pPr>
            <a:r>
              <a:rPr lang="en-US" sz="1050" b="1" dirty="0">
                <a:solidFill>
                  <a:srgbClr val="0A4451"/>
                </a:solidFill>
                <a:latin typeface="Calibri" pitchFamily="34" charset="0"/>
                <a:ea typeface="Calibri" pitchFamily="34" charset="-122"/>
                <a:cs typeface="Calibri" pitchFamily="34" charset="-120"/>
              </a:rPr>
              <a:t>Tracking</a:t>
            </a:r>
            <a:endParaRPr lang="en-US" sz="1050" dirty="0"/>
          </a:p>
          <a:p>
            <a:pPr algn="l" indent="0" marL="0">
              <a:lnSpc>
                <a:spcPct val="104000"/>
              </a:lnSpc>
              <a:buNone/>
            </a:pPr>
            <a:r>
              <a:rPr lang="en-US" sz="780" dirty="0">
                <a:solidFill>
                  <a:srgbClr val="0A4451"/>
                </a:solidFill>
                <a:latin typeface="Calibri" pitchFamily="34" charset="0"/>
                <a:ea typeface="Calibri" pitchFamily="34" charset="-122"/>
                <a:cs typeface="Calibri" pitchFamily="34" charset="-120"/>
              </a:rPr>
              <a:t>no LLM — logs what happened, advances the stage</a:t>
            </a:r>
            <a:endParaRPr lang="en-US" sz="1050" dirty="0"/>
          </a:p>
        </p:txBody>
      </p:sp>
      <p:sp>
        <p:nvSpPr>
          <p:cNvPr id="41" name="Shape 34"/>
          <p:cNvSpPr/>
          <p:nvPr/>
        </p:nvSpPr>
        <p:spPr>
          <a:xfrm>
            <a:off x="3429000" y="3822192"/>
            <a:ext cx="2377440" cy="749808"/>
          </a:xfrm>
          <a:prstGeom prst="roundRect">
            <a:avLst>
              <a:gd name="adj" fmla="val 12195"/>
            </a:avLst>
          </a:prstGeom>
          <a:solidFill>
            <a:srgbClr val="DCF2F4"/>
          </a:solidFill>
          <a:ln w="15875">
            <a:solidFill>
              <a:srgbClr val="108494"/>
            </a:solidFill>
            <a:prstDash val="solid"/>
          </a:ln>
          <a:effectLst>
            <a:outerShdw sx="100000" sy="100000" kx="0" ky="0" algn="bl" rotWithShape="0" blurRad="101600" dist="19050" dir="5400000">
              <a:srgbClr val="9FB0C2">
                <a:alpha val="24000"/>
              </a:srgbClr>
            </a:outerShdw>
          </a:effectLst>
        </p:spPr>
      </p:sp>
      <p:sp>
        <p:nvSpPr>
          <p:cNvPr id="42" name="Shape 35"/>
          <p:cNvSpPr/>
          <p:nvPr/>
        </p:nvSpPr>
        <p:spPr>
          <a:xfrm>
            <a:off x="3566160" y="4041648"/>
            <a:ext cx="310896" cy="310896"/>
          </a:xfrm>
          <a:prstGeom prst="roundRect">
            <a:avLst>
              <a:gd name="adj" fmla="val 29412"/>
            </a:avLst>
          </a:prstGeom>
          <a:solidFill>
            <a:srgbClr val="108494"/>
          </a:solidFill>
          <a:ln/>
        </p:spPr>
      </p:sp>
      <p:pic>
        <p:nvPicPr>
          <p:cNvPr id="43" name="Image 5" descr="preencoded.png">    </p:cNvPr>
          <p:cNvPicPr>
            <a:picLocks noChangeAspect="1"/>
          </p:cNvPicPr>
          <p:nvPr/>
        </p:nvPicPr>
        <p:blipFill>
          <a:blip r:embed="rId6"/>
          <a:stretch>
            <a:fillRect/>
          </a:stretch>
        </p:blipFill>
        <p:spPr>
          <a:xfrm>
            <a:off x="3634557" y="4110045"/>
            <a:ext cx="174102" cy="174102"/>
          </a:xfrm>
          <a:prstGeom prst="rect">
            <a:avLst/>
          </a:prstGeom>
        </p:spPr>
      </p:pic>
      <p:sp>
        <p:nvSpPr>
          <p:cNvPr id="44" name="Text 36"/>
          <p:cNvSpPr txBox="1"/>
          <p:nvPr/>
        </p:nvSpPr>
        <p:spPr>
          <a:xfrm>
            <a:off x="4014216" y="3822192"/>
            <a:ext cx="1682496" cy="749808"/>
          </a:xfrm>
          <a:prstGeom prst="rect">
            <a:avLst/>
          </a:prstGeom>
          <a:noFill/>
          <a:ln/>
        </p:spPr>
        <p:txBody>
          <a:bodyPr wrap="square" lIns="0" tIns="0" rIns="0" bIns="0" rtlCol="0" anchor="ctr"/>
          <a:lstStyle/>
          <a:p>
            <a:pPr algn="l" indent="0" marL="0">
              <a:lnSpc>
                <a:spcPct val="104000"/>
              </a:lnSpc>
              <a:buNone/>
            </a:pPr>
            <a:r>
              <a:rPr lang="en-US" sz="1050" b="1" dirty="0">
                <a:solidFill>
                  <a:srgbClr val="0A4451"/>
                </a:solidFill>
                <a:latin typeface="Calibri" pitchFamily="34" charset="0"/>
                <a:ea typeface="Calibri" pitchFamily="34" charset="-122"/>
                <a:cs typeface="Calibri" pitchFamily="34" charset="-120"/>
              </a:rPr>
              <a:t>Reporting</a:t>
            </a:r>
            <a:endParaRPr lang="en-US" sz="1050" dirty="0"/>
          </a:p>
          <a:p>
            <a:pPr algn="l" indent="0" marL="0">
              <a:lnSpc>
                <a:spcPct val="104000"/>
              </a:lnSpc>
              <a:buNone/>
            </a:pPr>
            <a:r>
              <a:rPr lang="en-US" sz="780" dirty="0">
                <a:solidFill>
                  <a:srgbClr val="0A4451"/>
                </a:solidFill>
                <a:latin typeface="Calibri" pitchFamily="34" charset="0"/>
                <a:ea typeface="Calibri" pitchFamily="34" charset="-122"/>
                <a:cs typeface="Calibri" pitchFamily="34" charset="-120"/>
              </a:rPr>
              <a:t>no LLM — pure aggregation over the store</a:t>
            </a:r>
            <a:endParaRPr lang="en-US" sz="1050" dirty="0"/>
          </a:p>
        </p:txBody>
      </p:sp>
      <p:sp>
        <p:nvSpPr>
          <p:cNvPr id="45" name="Shape 37"/>
          <p:cNvSpPr/>
          <p:nvPr/>
        </p:nvSpPr>
        <p:spPr>
          <a:xfrm>
            <a:off x="6400800" y="2542032"/>
            <a:ext cx="2331720" cy="2240280"/>
          </a:xfrm>
          <a:prstGeom prst="can">
            <a:avLst/>
          </a:prstGeom>
          <a:solidFill>
            <a:srgbClr val="E0F3E3"/>
          </a:solidFill>
          <a:ln w="15875">
            <a:solidFill>
              <a:srgbClr val="2F8F48"/>
            </a:solidFill>
            <a:prstDash val="solid"/>
          </a:ln>
          <a:effectLst>
            <a:outerShdw sx="100000" sy="100000" kx="0" ky="0" algn="bl" rotWithShape="0" blurRad="101600" dist="19050" dir="5400000">
              <a:srgbClr val="9FB0C2">
                <a:alpha val="24000"/>
              </a:srgbClr>
            </a:outerShdw>
          </a:effectLst>
        </p:spPr>
      </p:sp>
      <p:sp>
        <p:nvSpPr>
          <p:cNvPr id="46" name="Text 38"/>
          <p:cNvSpPr txBox="1"/>
          <p:nvPr/>
        </p:nvSpPr>
        <p:spPr>
          <a:xfrm>
            <a:off x="6492240" y="2542032"/>
            <a:ext cx="2148840" cy="2240280"/>
          </a:xfrm>
          <a:prstGeom prst="rect">
            <a:avLst/>
          </a:prstGeom>
          <a:noFill/>
          <a:ln/>
        </p:spPr>
        <p:txBody>
          <a:bodyPr wrap="square" lIns="0" tIns="0" rIns="0" bIns="0" rtlCol="0" anchor="ctr"/>
          <a:lstStyle/>
          <a:p>
            <a:pPr algn="ctr" indent="0" marL="0">
              <a:lnSpc>
                <a:spcPct val="104000"/>
              </a:lnSpc>
              <a:buNone/>
            </a:pPr>
            <a:r>
              <a:rPr lang="en-US" sz="680" b="1" spc="110" kern="0" dirty="0">
                <a:solidFill>
                  <a:srgbClr val="2F8F48"/>
                </a:solidFill>
                <a:latin typeface="Calibri" pitchFamily="34" charset="0"/>
                <a:ea typeface="Calibri" pitchFamily="34" charset="-122"/>
                <a:cs typeface="Calibri" pitchFamily="34" charset="-120"/>
              </a:rPr>
              <a:t>SINGLE SOURCE OF TRUTH</a:t>
            </a:r>
            <a:endParaRPr lang="en-US" sz="680" dirty="0"/>
          </a:p>
          <a:p>
            <a:pPr algn="ctr" indent="0" marL="0">
              <a:lnSpc>
                <a:spcPct val="104000"/>
              </a:lnSpc>
              <a:buNone/>
            </a:pPr>
            <a:r>
              <a:rPr lang="en-US" sz="1100" b="1" dirty="0">
                <a:solidFill>
                  <a:srgbClr val="17431F"/>
                </a:solidFill>
                <a:latin typeface="Calibri" pitchFamily="34" charset="0"/>
                <a:ea typeface="Calibri" pitchFamily="34" charset="-122"/>
                <a:cs typeface="Calibri" pitchFamily="34" charset="-120"/>
              </a:rPr>
              <a:t>Engagement record</a:t>
            </a:r>
            <a:endParaRPr lang="en-US" sz="680" dirty="0"/>
          </a:p>
          <a:p>
            <a:pPr algn="ctr" indent="0" marL="0">
              <a:lnSpc>
                <a:spcPct val="104000"/>
              </a:lnSpc>
              <a:buNone/>
            </a:pPr>
            <a:endParaRPr lang="en-US" sz="680" dirty="0"/>
          </a:p>
          <a:p>
            <a:pPr algn="ctr" indent="0" marL="0">
              <a:lnSpc>
                <a:spcPct val="104000"/>
              </a:lnSpc>
              <a:buNone/>
            </a:pPr>
            <a:r>
              <a:rPr lang="en-US" sz="800" dirty="0">
                <a:solidFill>
                  <a:srgbClr val="17431F"/>
                </a:solidFill>
                <a:latin typeface="Calibri" pitchFamily="34" charset="0"/>
                <a:ea typeface="Calibri" pitchFamily="34" charset="-122"/>
                <a:cs typeface="Calibri" pitchFamily="34" charset="-120"/>
              </a:rPr>
              <a:t>record.json — current state</a:t>
            </a:r>
            <a:endParaRPr lang="en-US" sz="680" dirty="0"/>
          </a:p>
          <a:p>
            <a:pPr algn="ctr" indent="0" marL="0">
              <a:lnSpc>
                <a:spcPct val="104000"/>
              </a:lnSpc>
              <a:buNone/>
            </a:pPr>
            <a:r>
              <a:rPr lang="en-US" sz="800" dirty="0">
                <a:solidFill>
                  <a:srgbClr val="17431F"/>
                </a:solidFill>
                <a:latin typeface="Calibri" pitchFamily="34" charset="0"/>
                <a:ea typeface="Calibri" pitchFamily="34" charset="-122"/>
                <a:cs typeface="Calibri" pitchFamily="34" charset="-120"/>
              </a:rPr>
              <a:t>events.jsonl — append-only audit trail</a:t>
            </a:r>
            <a:endParaRPr lang="en-US" sz="680" dirty="0"/>
          </a:p>
          <a:p>
            <a:pPr algn="ctr" indent="0" marL="0">
              <a:lnSpc>
                <a:spcPct val="104000"/>
              </a:lnSpc>
              <a:buNone/>
            </a:pPr>
            <a:endParaRPr lang="en-US" sz="680" dirty="0"/>
          </a:p>
          <a:p>
            <a:pPr algn="ctr" indent="0" marL="0">
              <a:lnSpc>
                <a:spcPct val="104000"/>
              </a:lnSpc>
              <a:buNone/>
            </a:pPr>
            <a:r>
              <a:rPr lang="en-US" sz="800" dirty="0">
                <a:solidFill>
                  <a:srgbClr val="17431F"/>
                </a:solidFill>
                <a:latin typeface="Calibri" pitchFamily="34" charset="0"/>
                <a:ea typeface="Calibri" pitchFamily="34" charset="-122"/>
                <a:cs typeface="Calibri" pitchFamily="34" charset="-120"/>
              </a:rPr>
              <a:t>issues · contacts · commitments · votes</a:t>
            </a:r>
            <a:endParaRPr lang="en-US" sz="680" dirty="0"/>
          </a:p>
        </p:txBody>
      </p:sp>
      <p:sp>
        <p:nvSpPr>
          <p:cNvPr id="47" name="Shape 39"/>
          <p:cNvSpPr/>
          <p:nvPr/>
        </p:nvSpPr>
        <p:spPr>
          <a:xfrm>
            <a:off x="5532120" y="3291840"/>
            <a:ext cx="813816" cy="0"/>
          </a:xfrm>
          <a:prstGeom prst="line">
            <a:avLst/>
          </a:prstGeom>
          <a:noFill/>
          <a:ln w="17780">
            <a:solidFill>
              <a:srgbClr val="64798F"/>
            </a:solidFill>
            <a:prstDash val="solid"/>
            <a:headEnd type="triangle"/>
            <a:tailEnd type="triangle"/>
          </a:ln>
        </p:spPr>
      </p:sp>
      <p:sp>
        <p:nvSpPr>
          <p:cNvPr id="48" name="Shape 40"/>
          <p:cNvSpPr/>
          <p:nvPr/>
        </p:nvSpPr>
        <p:spPr>
          <a:xfrm>
            <a:off x="5532120" y="4206240"/>
            <a:ext cx="813816" cy="0"/>
          </a:xfrm>
          <a:prstGeom prst="line">
            <a:avLst/>
          </a:prstGeom>
          <a:noFill/>
          <a:ln w="17780">
            <a:solidFill>
              <a:srgbClr val="64798F"/>
            </a:solidFill>
            <a:prstDash val="solid"/>
            <a:headEnd type="triangle"/>
            <a:tailEnd type="triangle"/>
          </a:ln>
        </p:spPr>
      </p:sp>
      <p:sp>
        <p:nvSpPr>
          <p:cNvPr id="49" name="Text 41"/>
          <p:cNvSpPr txBox="1"/>
          <p:nvPr/>
        </p:nvSpPr>
        <p:spPr>
          <a:xfrm>
            <a:off x="8915400" y="2322576"/>
            <a:ext cx="2679192" cy="201168"/>
          </a:xfrm>
          <a:prstGeom prst="rect">
            <a:avLst/>
          </a:prstGeom>
          <a:noFill/>
          <a:ln/>
        </p:spPr>
        <p:txBody>
          <a:bodyPr wrap="square" lIns="0" tIns="0" rIns="0" bIns="0" rtlCol="0" anchor="ctr"/>
          <a:lstStyle/>
          <a:p>
            <a:pPr algn="ctr" indent="0" marL="0">
              <a:buNone/>
            </a:pPr>
            <a:r>
              <a:rPr lang="en-US" sz="900" b="1" spc="140" kern="0" dirty="0">
                <a:solidFill>
                  <a:srgbClr val="CE3D64"/>
                </a:solidFill>
                <a:latin typeface="Calibri" pitchFamily="34" charset="0"/>
                <a:ea typeface="Calibri" pitchFamily="34" charset="-122"/>
                <a:cs typeface="Calibri" pitchFamily="34" charset="-120"/>
              </a:rPr>
              <a:t>ESCALATION LADDER</a:t>
            </a:r>
            <a:endParaRPr lang="en-US" sz="900" dirty="0"/>
          </a:p>
        </p:txBody>
      </p:sp>
      <p:sp>
        <p:nvSpPr>
          <p:cNvPr id="50" name="Shape 42"/>
          <p:cNvSpPr/>
          <p:nvPr/>
        </p:nvSpPr>
        <p:spPr>
          <a:xfrm>
            <a:off x="8915400" y="2542032"/>
            <a:ext cx="2679192" cy="365760"/>
          </a:xfrm>
          <a:prstGeom prst="roundRect">
            <a:avLst>
              <a:gd name="adj" fmla="val 25000"/>
            </a:avLst>
          </a:prstGeom>
          <a:solidFill>
            <a:srgbClr val="EAF0F5"/>
          </a:solidFill>
          <a:ln w="15875">
            <a:solidFill>
              <a:srgbClr val="64798F"/>
            </a:solidFill>
            <a:prstDash val="solid"/>
          </a:ln>
        </p:spPr>
      </p:sp>
      <p:sp>
        <p:nvSpPr>
          <p:cNvPr id="51" name="Text 43"/>
          <p:cNvSpPr txBox="1"/>
          <p:nvPr/>
        </p:nvSpPr>
        <p:spPr>
          <a:xfrm>
            <a:off x="9006840" y="2542032"/>
            <a:ext cx="2496312" cy="365760"/>
          </a:xfrm>
          <a:prstGeom prst="rect">
            <a:avLst/>
          </a:prstGeom>
          <a:noFill/>
          <a:ln/>
        </p:spPr>
        <p:txBody>
          <a:bodyPr wrap="square" lIns="0" tIns="0" rIns="0" bIns="0" rtlCol="0" anchor="ctr"/>
          <a:lstStyle/>
          <a:p>
            <a:pPr algn="ctr" indent="0" marL="0">
              <a:lnSpc>
                <a:spcPct val="104000"/>
              </a:lnSpc>
              <a:buNone/>
            </a:pPr>
            <a:r>
              <a:rPr lang="en-US" sz="900" b="1" dirty="0">
                <a:solidFill>
                  <a:srgbClr val="24354A"/>
                </a:solidFill>
                <a:latin typeface="Calibri" pitchFamily="34" charset="0"/>
                <a:ea typeface="Calibri" pitchFamily="34" charset="-122"/>
                <a:cs typeface="Calibri" pitchFamily="34" charset="-120"/>
              </a:rPr>
              <a:t>Private engagement</a:t>
            </a:r>
            <a:endParaRPr lang="en-US" sz="900" dirty="0"/>
          </a:p>
        </p:txBody>
      </p:sp>
      <p:sp>
        <p:nvSpPr>
          <p:cNvPr id="52" name="Shape 44"/>
          <p:cNvSpPr/>
          <p:nvPr/>
        </p:nvSpPr>
        <p:spPr>
          <a:xfrm>
            <a:off x="8915400" y="2999232"/>
            <a:ext cx="2679192" cy="365760"/>
          </a:xfrm>
          <a:prstGeom prst="roundRect">
            <a:avLst>
              <a:gd name="adj" fmla="val 25000"/>
            </a:avLst>
          </a:prstGeom>
          <a:solidFill>
            <a:srgbClr val="EAF0F5"/>
          </a:solidFill>
          <a:ln w="15875">
            <a:solidFill>
              <a:srgbClr val="64798F"/>
            </a:solidFill>
            <a:prstDash val="solid"/>
          </a:ln>
        </p:spPr>
      </p:sp>
      <p:sp>
        <p:nvSpPr>
          <p:cNvPr id="53" name="Text 45"/>
          <p:cNvSpPr txBox="1"/>
          <p:nvPr/>
        </p:nvSpPr>
        <p:spPr>
          <a:xfrm>
            <a:off x="9006840" y="2999232"/>
            <a:ext cx="2496312" cy="365760"/>
          </a:xfrm>
          <a:prstGeom prst="rect">
            <a:avLst/>
          </a:prstGeom>
          <a:noFill/>
          <a:ln/>
        </p:spPr>
        <p:txBody>
          <a:bodyPr wrap="square" lIns="0" tIns="0" rIns="0" bIns="0" rtlCol="0" anchor="ctr"/>
          <a:lstStyle/>
          <a:p>
            <a:pPr algn="ctr" indent="0" marL="0">
              <a:lnSpc>
                <a:spcPct val="104000"/>
              </a:lnSpc>
              <a:buNone/>
            </a:pPr>
            <a:r>
              <a:rPr lang="en-US" sz="900" b="1" dirty="0">
                <a:solidFill>
                  <a:srgbClr val="24354A"/>
                </a:solidFill>
                <a:latin typeface="Calibri" pitchFamily="34" charset="0"/>
                <a:ea typeface="Calibri" pitchFamily="34" charset="-122"/>
                <a:cs typeface="Calibri" pitchFamily="34" charset="-120"/>
              </a:rPr>
              <a:t>Joint engagement</a:t>
            </a:r>
            <a:endParaRPr lang="en-US" sz="900" dirty="0"/>
          </a:p>
        </p:txBody>
      </p:sp>
      <p:sp>
        <p:nvSpPr>
          <p:cNvPr id="54" name="Shape 46"/>
          <p:cNvSpPr/>
          <p:nvPr/>
        </p:nvSpPr>
        <p:spPr>
          <a:xfrm>
            <a:off x="8915400" y="3456432"/>
            <a:ext cx="2679192" cy="365760"/>
          </a:xfrm>
          <a:prstGeom prst="roundRect">
            <a:avLst>
              <a:gd name="adj" fmla="val 25000"/>
            </a:avLst>
          </a:prstGeom>
          <a:solidFill>
            <a:srgbClr val="FCEDD4"/>
          </a:solidFill>
          <a:ln w="15875">
            <a:solidFill>
              <a:srgbClr val="C9871B"/>
            </a:solidFill>
            <a:prstDash val="solid"/>
          </a:ln>
        </p:spPr>
      </p:sp>
      <p:sp>
        <p:nvSpPr>
          <p:cNvPr id="55" name="Text 47"/>
          <p:cNvSpPr txBox="1"/>
          <p:nvPr/>
        </p:nvSpPr>
        <p:spPr>
          <a:xfrm>
            <a:off x="9006840" y="3456432"/>
            <a:ext cx="2496312" cy="365760"/>
          </a:xfrm>
          <a:prstGeom prst="rect">
            <a:avLst/>
          </a:prstGeom>
          <a:noFill/>
          <a:ln/>
        </p:spPr>
        <p:txBody>
          <a:bodyPr wrap="square" lIns="0" tIns="0" rIns="0" bIns="0" rtlCol="0" anchor="ctr"/>
          <a:lstStyle/>
          <a:p>
            <a:pPr algn="ctr" indent="0" marL="0">
              <a:lnSpc>
                <a:spcPct val="104000"/>
              </a:lnSpc>
              <a:buNone/>
            </a:pPr>
            <a:r>
              <a:rPr lang="en-US" sz="900" b="1" dirty="0">
                <a:solidFill>
                  <a:srgbClr val="64430A"/>
                </a:solidFill>
                <a:latin typeface="Calibri" pitchFamily="34" charset="0"/>
                <a:ea typeface="Calibri" pitchFamily="34" charset="-122"/>
                <a:cs typeface="Calibri" pitchFamily="34" charset="-120"/>
              </a:rPr>
              <a:t>Written to the board</a:t>
            </a:r>
            <a:endParaRPr lang="en-US" sz="900" dirty="0"/>
          </a:p>
        </p:txBody>
      </p:sp>
      <p:sp>
        <p:nvSpPr>
          <p:cNvPr id="56" name="Shape 48"/>
          <p:cNvSpPr/>
          <p:nvPr/>
        </p:nvSpPr>
        <p:spPr>
          <a:xfrm>
            <a:off x="8915400" y="3913632"/>
            <a:ext cx="2679192" cy="365760"/>
          </a:xfrm>
          <a:prstGeom prst="roundRect">
            <a:avLst>
              <a:gd name="adj" fmla="val 25000"/>
            </a:avLst>
          </a:prstGeom>
          <a:solidFill>
            <a:srgbClr val="FCEDD4"/>
          </a:solidFill>
          <a:ln w="15875">
            <a:solidFill>
              <a:srgbClr val="C9871B"/>
            </a:solidFill>
            <a:prstDash val="solid"/>
          </a:ln>
        </p:spPr>
      </p:sp>
      <p:sp>
        <p:nvSpPr>
          <p:cNvPr id="57" name="Text 49"/>
          <p:cNvSpPr txBox="1"/>
          <p:nvPr/>
        </p:nvSpPr>
        <p:spPr>
          <a:xfrm>
            <a:off x="9006840" y="3913632"/>
            <a:ext cx="2496312" cy="365760"/>
          </a:xfrm>
          <a:prstGeom prst="rect">
            <a:avLst/>
          </a:prstGeom>
          <a:noFill/>
          <a:ln/>
        </p:spPr>
        <p:txBody>
          <a:bodyPr wrap="square" lIns="0" tIns="0" rIns="0" bIns="0" rtlCol="0" anchor="ctr"/>
          <a:lstStyle/>
          <a:p>
            <a:pPr algn="ctr" indent="0" marL="0">
              <a:lnSpc>
                <a:spcPct val="104000"/>
              </a:lnSpc>
              <a:buNone/>
            </a:pPr>
            <a:r>
              <a:rPr lang="en-US" sz="900" b="1" dirty="0">
                <a:solidFill>
                  <a:srgbClr val="64430A"/>
                </a:solidFill>
                <a:latin typeface="Calibri" pitchFamily="34" charset="0"/>
                <a:ea typeface="Calibri" pitchFamily="34" charset="-122"/>
                <a:cs typeface="Calibri" pitchFamily="34" charset="-120"/>
              </a:rPr>
              <a:t>Escalate to the chair</a:t>
            </a:r>
            <a:endParaRPr lang="en-US" sz="900" dirty="0"/>
          </a:p>
        </p:txBody>
      </p:sp>
      <p:sp>
        <p:nvSpPr>
          <p:cNvPr id="58" name="Shape 50"/>
          <p:cNvSpPr/>
          <p:nvPr/>
        </p:nvSpPr>
        <p:spPr>
          <a:xfrm>
            <a:off x="8915400" y="4370832"/>
            <a:ext cx="2679192" cy="365760"/>
          </a:xfrm>
          <a:prstGeom prst="roundRect">
            <a:avLst>
              <a:gd name="adj" fmla="val 25000"/>
            </a:avLst>
          </a:prstGeom>
          <a:solidFill>
            <a:srgbClr val="FBE2E8"/>
          </a:solidFill>
          <a:ln w="15875">
            <a:solidFill>
              <a:srgbClr val="CE3D64"/>
            </a:solidFill>
            <a:prstDash val="solid"/>
          </a:ln>
        </p:spPr>
      </p:sp>
      <p:sp>
        <p:nvSpPr>
          <p:cNvPr id="59" name="Text 51"/>
          <p:cNvSpPr txBox="1"/>
          <p:nvPr/>
        </p:nvSpPr>
        <p:spPr>
          <a:xfrm>
            <a:off x="9006840" y="4370832"/>
            <a:ext cx="2496312" cy="365760"/>
          </a:xfrm>
          <a:prstGeom prst="rect">
            <a:avLst/>
          </a:prstGeom>
          <a:noFill/>
          <a:ln/>
        </p:spPr>
        <p:txBody>
          <a:bodyPr wrap="square" lIns="0" tIns="0" rIns="0" bIns="0" rtlCol="0" anchor="ctr"/>
          <a:lstStyle/>
          <a:p>
            <a:pPr algn="ctr" indent="0" marL="0">
              <a:lnSpc>
                <a:spcPct val="104000"/>
              </a:lnSpc>
              <a:buNone/>
            </a:pPr>
            <a:r>
              <a:rPr lang="en-US" sz="900" b="1" dirty="0">
                <a:solidFill>
                  <a:srgbClr val="68182F"/>
                </a:solidFill>
                <a:latin typeface="Calibri" pitchFamily="34" charset="0"/>
                <a:ea typeface="Calibri" pitchFamily="34" charset="-122"/>
                <a:cs typeface="Calibri" pitchFamily="34" charset="-120"/>
              </a:rPr>
              <a:t>Vote against management</a:t>
            </a:r>
            <a:endParaRPr lang="en-US" sz="900" dirty="0"/>
          </a:p>
        </p:txBody>
      </p:sp>
      <p:sp>
        <p:nvSpPr>
          <p:cNvPr id="60" name="Shape 52"/>
          <p:cNvSpPr/>
          <p:nvPr/>
        </p:nvSpPr>
        <p:spPr>
          <a:xfrm>
            <a:off x="8915400" y="4828032"/>
            <a:ext cx="2679192" cy="365760"/>
          </a:xfrm>
          <a:prstGeom prst="roundRect">
            <a:avLst>
              <a:gd name="adj" fmla="val 25000"/>
            </a:avLst>
          </a:prstGeom>
          <a:solidFill>
            <a:srgbClr val="FBE2E8"/>
          </a:solidFill>
          <a:ln w="15875">
            <a:solidFill>
              <a:srgbClr val="CE3D64"/>
            </a:solidFill>
            <a:prstDash val="solid"/>
          </a:ln>
        </p:spPr>
      </p:sp>
      <p:sp>
        <p:nvSpPr>
          <p:cNvPr id="61" name="Text 53"/>
          <p:cNvSpPr txBox="1"/>
          <p:nvPr/>
        </p:nvSpPr>
        <p:spPr>
          <a:xfrm>
            <a:off x="9006840" y="4828032"/>
            <a:ext cx="2496312" cy="365760"/>
          </a:xfrm>
          <a:prstGeom prst="rect">
            <a:avLst/>
          </a:prstGeom>
          <a:noFill/>
          <a:ln/>
        </p:spPr>
        <p:txBody>
          <a:bodyPr wrap="square" lIns="0" tIns="0" rIns="0" bIns="0" rtlCol="0" anchor="ctr"/>
          <a:lstStyle/>
          <a:p>
            <a:pPr algn="ctr" indent="0" marL="0">
              <a:lnSpc>
                <a:spcPct val="104000"/>
              </a:lnSpc>
              <a:buNone/>
            </a:pPr>
            <a:r>
              <a:rPr lang="en-US" sz="900" b="1" dirty="0">
                <a:solidFill>
                  <a:srgbClr val="68182F"/>
                </a:solidFill>
                <a:latin typeface="Calibri" pitchFamily="34" charset="0"/>
                <a:ea typeface="Calibri" pitchFamily="34" charset="-122"/>
                <a:cs typeface="Calibri" pitchFamily="34" charset="-120"/>
              </a:rPr>
              <a:t>File / co-file</a:t>
            </a:r>
            <a:endParaRPr lang="en-US" sz="900" dirty="0"/>
          </a:p>
        </p:txBody>
      </p:sp>
      <p:sp>
        <p:nvSpPr>
          <p:cNvPr id="62" name="Shape 54"/>
          <p:cNvSpPr/>
          <p:nvPr/>
        </p:nvSpPr>
        <p:spPr>
          <a:xfrm>
            <a:off x="8915400" y="5285232"/>
            <a:ext cx="2679192" cy="365760"/>
          </a:xfrm>
          <a:prstGeom prst="roundRect">
            <a:avLst>
              <a:gd name="adj" fmla="val 25000"/>
            </a:avLst>
          </a:prstGeom>
          <a:solidFill>
            <a:srgbClr val="FBE2E8"/>
          </a:solidFill>
          <a:ln w="15875">
            <a:solidFill>
              <a:srgbClr val="CE3D64"/>
            </a:solidFill>
            <a:prstDash val="solid"/>
          </a:ln>
        </p:spPr>
      </p:sp>
      <p:sp>
        <p:nvSpPr>
          <p:cNvPr id="63" name="Text 55"/>
          <p:cNvSpPr txBox="1"/>
          <p:nvPr/>
        </p:nvSpPr>
        <p:spPr>
          <a:xfrm>
            <a:off x="9006840" y="5285232"/>
            <a:ext cx="2496312" cy="365760"/>
          </a:xfrm>
          <a:prstGeom prst="rect">
            <a:avLst/>
          </a:prstGeom>
          <a:noFill/>
          <a:ln/>
        </p:spPr>
        <p:txBody>
          <a:bodyPr wrap="square" lIns="0" tIns="0" rIns="0" bIns="0" rtlCol="0" anchor="ctr"/>
          <a:lstStyle/>
          <a:p>
            <a:pPr algn="ctr" indent="0" marL="0">
              <a:lnSpc>
                <a:spcPct val="104000"/>
              </a:lnSpc>
              <a:buNone/>
            </a:pPr>
            <a:r>
              <a:rPr lang="en-US" sz="900" b="1" dirty="0">
                <a:solidFill>
                  <a:srgbClr val="68182F"/>
                </a:solidFill>
                <a:latin typeface="Calibri" pitchFamily="34" charset="0"/>
                <a:ea typeface="Calibri" pitchFamily="34" charset="-122"/>
                <a:cs typeface="Calibri" pitchFamily="34" charset="-120"/>
              </a:rPr>
              <a:t>Public statement</a:t>
            </a:r>
            <a:endParaRPr lang="en-US" sz="900" dirty="0"/>
          </a:p>
        </p:txBody>
      </p:sp>
      <p:sp>
        <p:nvSpPr>
          <p:cNvPr id="64" name="Shape 56"/>
          <p:cNvSpPr/>
          <p:nvPr/>
        </p:nvSpPr>
        <p:spPr>
          <a:xfrm flipV="1">
            <a:off x="8778240" y="2606040"/>
            <a:ext cx="0" cy="3063240"/>
          </a:xfrm>
          <a:prstGeom prst="line">
            <a:avLst/>
          </a:prstGeom>
          <a:noFill/>
          <a:ln w="19050">
            <a:solidFill>
              <a:srgbClr val="CE3D64"/>
            </a:solidFill>
            <a:prstDash val="solid"/>
            <a:headEnd type="none"/>
            <a:tailEnd type="triangle"/>
          </a:ln>
        </p:spPr>
      </p:sp>
      <p:sp>
        <p:nvSpPr>
          <p:cNvPr id="65" name="Shape 57"/>
          <p:cNvSpPr/>
          <p:nvPr/>
        </p:nvSpPr>
        <p:spPr>
          <a:xfrm>
            <a:off x="594360" y="5102352"/>
            <a:ext cx="8138160" cy="713232"/>
          </a:xfrm>
          <a:prstGeom prst="roundRect">
            <a:avLst>
              <a:gd name="adj" fmla="val 5128"/>
            </a:avLst>
          </a:prstGeom>
          <a:solidFill>
            <a:srgbClr val="FBDEE5"/>
          </a:solidFill>
          <a:ln w="15875">
            <a:solidFill>
              <a:srgbClr val="D6486E"/>
            </a:solidFill>
            <a:prstDash val="solid"/>
          </a:ln>
        </p:spPr>
      </p:sp>
      <p:sp>
        <p:nvSpPr>
          <p:cNvPr id="66" name="Text 58"/>
          <p:cNvSpPr txBox="1"/>
          <p:nvPr/>
        </p:nvSpPr>
        <p:spPr>
          <a:xfrm>
            <a:off x="795528" y="5102352"/>
            <a:ext cx="7735824" cy="713232"/>
          </a:xfrm>
          <a:prstGeom prst="rect">
            <a:avLst/>
          </a:prstGeom>
          <a:noFill/>
          <a:ln/>
        </p:spPr>
        <p:txBody>
          <a:bodyPr wrap="square" lIns="0" tIns="0" rIns="0" bIns="0" rtlCol="0" anchor="ctr"/>
          <a:lstStyle/>
          <a:p>
            <a:pPr indent="0" marL="0">
              <a:buNone/>
            </a:pPr>
            <a:r>
              <a:rPr lang="en-US" sz="920" b="1" dirty="0">
                <a:solidFill>
                  <a:srgbClr val="68182F"/>
                </a:solidFill>
                <a:latin typeface="Calibri" pitchFamily="34" charset="0"/>
                <a:ea typeface="Calibri" pitchFamily="34" charset="-122"/>
                <a:cs typeface="Calibri" pitchFamily="34" charset="-120"/>
              </a:rPr>
              <a:t>Human gates, enforced by the shape of the code, not by policy.  </a:t>
            </a:r>
            <a:pPr indent="0" marL="0">
              <a:buNone/>
            </a:pPr>
            <a:r>
              <a:rPr lang="en-US" sz="920" dirty="0">
                <a:solidFill>
                  <a:srgbClr val="6E1B33"/>
                </a:solidFill>
                <a:latin typeface="Calibri" pitchFamily="34" charset="0"/>
                <a:ea typeface="Calibri" pitchFamily="34" charset="-122"/>
                <a:cs typeface="Calibri" pitchFamily="34" charset="-120"/>
              </a:rPr>
              <a:t>Nothing hands a dossier to drafting automatically. Only the validated-summary call writes commitments, and it requires validated_by. One code path moves the escalation stage, it requires decided_by, and the orchestrator never calls it. No code path in this module sends anything to a company.</a:t>
            </a:r>
            <a:endParaRPr lang="en-US" sz="920" dirty="0"/>
          </a:p>
        </p:txBody>
      </p:sp>
      <p:sp>
        <p:nvSpPr>
          <p:cNvPr id="67" name="Shape 59"/>
          <p:cNvSpPr/>
          <p:nvPr/>
        </p:nvSpPr>
        <p:spPr>
          <a:xfrm>
            <a:off x="594360" y="6080760"/>
            <a:ext cx="155448" cy="155448"/>
          </a:xfrm>
          <a:prstGeom prst="roundRect">
            <a:avLst>
              <a:gd name="adj" fmla="val 29412"/>
            </a:avLst>
          </a:prstGeom>
          <a:solidFill>
            <a:srgbClr val="2F6FD0"/>
          </a:solidFill>
          <a:ln/>
        </p:spPr>
      </p:sp>
      <p:sp>
        <p:nvSpPr>
          <p:cNvPr id="68" name="Text 60"/>
          <p:cNvSpPr txBox="1"/>
          <p:nvPr/>
        </p:nvSpPr>
        <p:spPr>
          <a:xfrm>
            <a:off x="813816" y="6053328"/>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source / input</a:t>
            </a:r>
            <a:endParaRPr lang="en-US" sz="880" dirty="0"/>
          </a:p>
        </p:txBody>
      </p:sp>
      <p:sp>
        <p:nvSpPr>
          <p:cNvPr id="69" name="Shape 61"/>
          <p:cNvSpPr/>
          <p:nvPr/>
        </p:nvSpPr>
        <p:spPr>
          <a:xfrm>
            <a:off x="2427732" y="6080760"/>
            <a:ext cx="155448" cy="155448"/>
          </a:xfrm>
          <a:prstGeom prst="roundRect">
            <a:avLst>
              <a:gd name="adj" fmla="val 29412"/>
            </a:avLst>
          </a:prstGeom>
          <a:solidFill>
            <a:srgbClr val="108494"/>
          </a:solidFill>
          <a:ln/>
        </p:spPr>
      </p:sp>
      <p:sp>
        <p:nvSpPr>
          <p:cNvPr id="70" name="Text 62"/>
          <p:cNvSpPr txBox="1"/>
          <p:nvPr/>
        </p:nvSpPr>
        <p:spPr>
          <a:xfrm>
            <a:off x="2647188" y="6053328"/>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deterministic step</a:t>
            </a:r>
            <a:endParaRPr lang="en-US" sz="880" dirty="0"/>
          </a:p>
        </p:txBody>
      </p:sp>
      <p:sp>
        <p:nvSpPr>
          <p:cNvPr id="71" name="Shape 63"/>
          <p:cNvSpPr/>
          <p:nvPr/>
        </p:nvSpPr>
        <p:spPr>
          <a:xfrm>
            <a:off x="4261104" y="6080760"/>
            <a:ext cx="155448" cy="155448"/>
          </a:xfrm>
          <a:prstGeom prst="roundRect">
            <a:avLst>
              <a:gd name="adj" fmla="val 29412"/>
            </a:avLst>
          </a:prstGeom>
          <a:solidFill>
            <a:srgbClr val="6D4DD1"/>
          </a:solidFill>
          <a:ln/>
        </p:spPr>
      </p:sp>
      <p:sp>
        <p:nvSpPr>
          <p:cNvPr id="72" name="Text 64"/>
          <p:cNvSpPr txBox="1"/>
          <p:nvPr/>
        </p:nvSpPr>
        <p:spPr>
          <a:xfrm>
            <a:off x="4480560" y="6053328"/>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LLM agent</a:t>
            </a:r>
            <a:endParaRPr lang="en-US" sz="880" dirty="0"/>
          </a:p>
        </p:txBody>
      </p:sp>
      <p:sp>
        <p:nvSpPr>
          <p:cNvPr id="73" name="Shape 65"/>
          <p:cNvSpPr/>
          <p:nvPr/>
        </p:nvSpPr>
        <p:spPr>
          <a:xfrm>
            <a:off x="6094476" y="6080760"/>
            <a:ext cx="155448" cy="155448"/>
          </a:xfrm>
          <a:prstGeom prst="roundRect">
            <a:avLst>
              <a:gd name="adj" fmla="val 29412"/>
            </a:avLst>
          </a:prstGeom>
          <a:solidFill>
            <a:srgbClr val="C9871B"/>
          </a:solidFill>
          <a:ln/>
        </p:spPr>
      </p:sp>
      <p:sp>
        <p:nvSpPr>
          <p:cNvPr id="74" name="Text 66"/>
          <p:cNvSpPr txBox="1"/>
          <p:nvPr/>
        </p:nvSpPr>
        <p:spPr>
          <a:xfrm>
            <a:off x="6313932" y="6053328"/>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gate or check</a:t>
            </a:r>
            <a:endParaRPr lang="en-US" sz="880" dirty="0"/>
          </a:p>
        </p:txBody>
      </p:sp>
      <p:sp>
        <p:nvSpPr>
          <p:cNvPr id="75" name="Shape 67"/>
          <p:cNvSpPr/>
          <p:nvPr/>
        </p:nvSpPr>
        <p:spPr>
          <a:xfrm>
            <a:off x="7927848" y="6080760"/>
            <a:ext cx="155448" cy="155448"/>
          </a:xfrm>
          <a:prstGeom prst="roundRect">
            <a:avLst>
              <a:gd name="adj" fmla="val 29412"/>
            </a:avLst>
          </a:prstGeom>
          <a:solidFill>
            <a:srgbClr val="CE3D64"/>
          </a:solidFill>
          <a:ln/>
        </p:spPr>
      </p:sp>
      <p:sp>
        <p:nvSpPr>
          <p:cNvPr id="76" name="Text 68"/>
          <p:cNvSpPr txBox="1"/>
          <p:nvPr/>
        </p:nvSpPr>
        <p:spPr>
          <a:xfrm>
            <a:off x="8147304" y="6053328"/>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human decision</a:t>
            </a:r>
            <a:endParaRPr lang="en-US" sz="880" dirty="0"/>
          </a:p>
        </p:txBody>
      </p:sp>
      <p:sp>
        <p:nvSpPr>
          <p:cNvPr id="77" name="Shape 69"/>
          <p:cNvSpPr/>
          <p:nvPr/>
        </p:nvSpPr>
        <p:spPr>
          <a:xfrm>
            <a:off x="9761220" y="6080760"/>
            <a:ext cx="155448" cy="155448"/>
          </a:xfrm>
          <a:prstGeom prst="roundRect">
            <a:avLst>
              <a:gd name="adj" fmla="val 29412"/>
            </a:avLst>
          </a:prstGeom>
          <a:solidFill>
            <a:srgbClr val="2F8F48"/>
          </a:solidFill>
          <a:ln/>
        </p:spPr>
      </p:sp>
      <p:sp>
        <p:nvSpPr>
          <p:cNvPr id="78" name="Text 70"/>
          <p:cNvSpPr txBox="1"/>
          <p:nvPr/>
        </p:nvSpPr>
        <p:spPr>
          <a:xfrm>
            <a:off x="9980676" y="6053328"/>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stored output</a:t>
            </a:r>
            <a:endParaRPr lang="en-US" sz="88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438912"/>
            <a:ext cx="10085832" cy="201168"/>
          </a:xfrm>
          <a:prstGeom prst="rect">
            <a:avLst/>
          </a:prstGeom>
          <a:noFill/>
          <a:ln/>
        </p:spPr>
        <p:txBody>
          <a:bodyPr wrap="square" lIns="0" tIns="0" rIns="0" bIns="0" rtlCol="0" anchor="ctr"/>
          <a:lstStyle/>
          <a:p>
            <a:pPr indent="0" marL="0">
              <a:buNone/>
            </a:pPr>
            <a:r>
              <a:rPr lang="en-US" sz="1050" b="1" spc="200" kern="0" dirty="0">
                <a:solidFill>
                  <a:srgbClr val="108494"/>
                </a:solidFill>
                <a:latin typeface="Calibri" pitchFamily="34" charset="0"/>
                <a:ea typeface="Calibri" pitchFamily="34" charset="-122"/>
                <a:cs typeface="Calibri" pitchFamily="34" charset="-120"/>
              </a:rPr>
              <a:t>09   ·   ARCHITECTURE &amp; PROCESS</a:t>
            </a:r>
            <a:endParaRPr lang="en-US" sz="1050" dirty="0"/>
          </a:p>
        </p:txBody>
      </p:sp>
      <p:sp>
        <p:nvSpPr>
          <p:cNvPr id="3" name="Text 1"/>
          <p:cNvSpPr txBox="1"/>
          <p:nvPr/>
        </p:nvSpPr>
        <p:spPr>
          <a:xfrm>
            <a:off x="594360" y="640080"/>
            <a:ext cx="10085832" cy="484632"/>
          </a:xfrm>
          <a:prstGeom prst="rect">
            <a:avLst/>
          </a:prstGeom>
          <a:noFill/>
          <a:ln/>
        </p:spPr>
        <p:txBody>
          <a:bodyPr wrap="square" lIns="0" tIns="0" rIns="0" bIns="0" rtlCol="0" anchor="ctr"/>
          <a:lstStyle/>
          <a:p>
            <a:pPr indent="0" marL="0">
              <a:buNone/>
            </a:pPr>
            <a:r>
              <a:rPr lang="en-US" sz="3000" b="1" dirty="0">
                <a:solidFill>
                  <a:srgbClr val="10243A"/>
                </a:solidFill>
                <a:latin typeface="Cambria" pitchFamily="34" charset="0"/>
                <a:ea typeface="Cambria" pitchFamily="34" charset="-122"/>
                <a:cs typeface="Cambria" pitchFamily="34" charset="-120"/>
              </a:rPr>
              <a:t>Engagement: deciding, separated from acting</a:t>
            </a:r>
            <a:endParaRPr lang="en-US" sz="3000" dirty="0"/>
          </a:p>
        </p:txBody>
      </p:sp>
      <p:sp>
        <p:nvSpPr>
          <p:cNvPr id="4" name="Text 2"/>
          <p:cNvSpPr txBox="1"/>
          <p:nvPr/>
        </p:nvSpPr>
        <p:spPr>
          <a:xfrm>
            <a:off x="594360" y="1143000"/>
            <a:ext cx="9994392" cy="274320"/>
          </a:xfrm>
          <a:prstGeom prst="rect">
            <a:avLst/>
          </a:prstGeom>
          <a:noFill/>
          <a:ln/>
        </p:spPr>
        <p:txBody>
          <a:bodyPr wrap="square" lIns="0" tIns="0" rIns="0" bIns="0" rtlCol="0" anchor="ctr"/>
          <a:lstStyle/>
          <a:p>
            <a:pPr indent="0" marL="0">
              <a:buNone/>
            </a:pPr>
            <a:r>
              <a:rPr lang="en-US" sz="1200" dirty="0">
                <a:solidFill>
                  <a:srgbClr val="58697A"/>
                </a:solidFill>
                <a:latin typeface="Calibri" pitchFamily="34" charset="0"/>
                <a:ea typeface="Calibri" pitchFamily="34" charset="-122"/>
                <a:cs typeface="Calibri" pitchFamily="34" charset="-120"/>
              </a:rPr>
              <a:t>The controller decides what should happen next; a person, or a scheduler someone adds later, makes it happen.</a:t>
            </a:r>
            <a:endParaRPr lang="en-US" sz="1200" dirty="0"/>
          </a:p>
        </p:txBody>
      </p:sp>
      <p:sp>
        <p:nvSpPr>
          <p:cNvPr id="5" name="Shape 3"/>
          <p:cNvSpPr/>
          <p:nvPr/>
        </p:nvSpPr>
        <p:spPr>
          <a:xfrm>
            <a:off x="10881360" y="475488"/>
            <a:ext cx="713232" cy="713232"/>
          </a:xfrm>
          <a:prstGeom prst="roundRect">
            <a:avLst>
              <a:gd name="adj" fmla="val 20513"/>
            </a:avLst>
          </a:prstGeom>
          <a:solidFill>
            <a:srgbClr val="10243A"/>
          </a:solidFill>
          <a:ln/>
        </p:spPr>
      </p:sp>
      <p:pic>
        <p:nvPicPr>
          <p:cNvPr id="6" name="Image 0" descr="preencoded.png">    </p:cNvPr>
          <p:cNvPicPr>
            <a:picLocks noChangeAspect="1"/>
          </p:cNvPicPr>
          <p:nvPr/>
        </p:nvPicPr>
        <p:blipFill>
          <a:blip r:embed="rId1"/>
          <a:stretch>
            <a:fillRect/>
          </a:stretch>
        </p:blipFill>
        <p:spPr>
          <a:xfrm>
            <a:off x="11038271" y="632399"/>
            <a:ext cx="399410" cy="399410"/>
          </a:xfrm>
          <a:prstGeom prst="rect">
            <a:avLst/>
          </a:prstGeom>
        </p:spPr>
      </p:pic>
      <p:sp>
        <p:nvSpPr>
          <p:cNvPr id="7" name="Shape 4"/>
          <p:cNvSpPr/>
          <p:nvPr/>
        </p:nvSpPr>
        <p:spPr>
          <a:xfrm>
            <a:off x="594360" y="1691640"/>
            <a:ext cx="2651760" cy="713232"/>
          </a:xfrm>
          <a:prstGeom prst="roundRect">
            <a:avLst>
              <a:gd name="adj" fmla="val 12821"/>
            </a:avLst>
          </a:prstGeom>
          <a:solidFill>
            <a:srgbClr val="E3EDFC"/>
          </a:solidFill>
          <a:ln w="15875">
            <a:solidFill>
              <a:srgbClr val="2F6FD0"/>
            </a:solidFill>
            <a:prstDash val="solid"/>
          </a:ln>
          <a:effectLst>
            <a:outerShdw sx="100000" sy="100000" kx="0" ky="0" algn="bl" rotWithShape="0" blurRad="101600" dist="19050" dir="5400000">
              <a:srgbClr val="9FB0C2">
                <a:alpha val="24000"/>
              </a:srgbClr>
            </a:outerShdw>
          </a:effectLst>
        </p:spPr>
      </p:sp>
      <p:pic>
        <p:nvPicPr>
          <p:cNvPr id="8" name="Image 1" descr="preencoded.png">    </p:cNvPr>
          <p:cNvPicPr>
            <a:picLocks noChangeAspect="1"/>
          </p:cNvPicPr>
          <p:nvPr/>
        </p:nvPicPr>
        <p:blipFill>
          <a:blip r:embed="rId2"/>
          <a:stretch>
            <a:fillRect/>
          </a:stretch>
        </p:blipFill>
        <p:spPr>
          <a:xfrm>
            <a:off x="713232" y="1792224"/>
            <a:ext cx="182880" cy="182880"/>
          </a:xfrm>
          <a:prstGeom prst="rect">
            <a:avLst/>
          </a:prstGeom>
        </p:spPr>
      </p:pic>
      <p:sp>
        <p:nvSpPr>
          <p:cNvPr id="9" name="Text 5"/>
          <p:cNvSpPr txBox="1"/>
          <p:nvPr/>
        </p:nvSpPr>
        <p:spPr>
          <a:xfrm>
            <a:off x="685800" y="1691640"/>
            <a:ext cx="2468880" cy="713232"/>
          </a:xfrm>
          <a:prstGeom prst="rect">
            <a:avLst/>
          </a:prstGeom>
          <a:noFill/>
          <a:ln/>
        </p:spPr>
        <p:txBody>
          <a:bodyPr wrap="square" lIns="0" tIns="0" rIns="0" bIns="0" rtlCol="0" anchor="ctr"/>
          <a:lstStyle/>
          <a:p>
            <a:pPr algn="ctr" indent="0" marL="0">
              <a:lnSpc>
                <a:spcPct val="104000"/>
              </a:lnSpc>
              <a:buNone/>
            </a:pPr>
            <a:r>
              <a:rPr lang="en-US" sz="700" b="1" spc="110" kern="0" dirty="0">
                <a:solidFill>
                  <a:srgbClr val="2F6FD0"/>
                </a:solidFill>
                <a:latin typeface="Calibri" pitchFamily="34" charset="0"/>
                <a:ea typeface="Calibri" pitchFamily="34" charset="-122"/>
                <a:cs typeface="Calibri" pitchFamily="34" charset="-120"/>
              </a:rPr>
              <a:t>TRIGGER</a:t>
            </a:r>
            <a:endParaRPr lang="en-US" sz="700" dirty="0"/>
          </a:p>
          <a:p>
            <a:pPr algn="ctr" indent="0" marL="0">
              <a:lnSpc>
                <a:spcPct val="104000"/>
              </a:lnSpc>
              <a:buNone/>
            </a:pPr>
            <a:r>
              <a:rPr lang="en-US" sz="1050" b="1" dirty="0">
                <a:solidFill>
                  <a:srgbClr val="153A61"/>
                </a:solidFill>
                <a:latin typeface="Calibri" pitchFamily="34" charset="0"/>
                <a:ea typeface="Calibri" pitchFamily="34" charset="-122"/>
                <a:cs typeface="Calibri" pitchFamily="34" charset="-120"/>
              </a:rPr>
              <a:t>Controversy screen</a:t>
            </a:r>
            <a:endParaRPr lang="en-US" sz="700" dirty="0"/>
          </a:p>
          <a:p>
            <a:pPr algn="ctr" indent="0" marL="0">
              <a:lnSpc>
                <a:spcPct val="104000"/>
              </a:lnSpc>
              <a:buNone/>
            </a:pPr>
            <a:r>
              <a:rPr lang="en-US" sz="780" dirty="0">
                <a:solidFill>
                  <a:srgbClr val="153A61"/>
                </a:solidFill>
                <a:latin typeface="Calibri" pitchFamily="34" charset="0"/>
                <a:ea typeface="Calibri" pitchFamily="34" charset="-122"/>
                <a:cs typeface="Calibri" pitchFamily="34" charset="-120"/>
              </a:rPr>
              <a:t>opens an issue per signal, deduplicated</a:t>
            </a:r>
            <a:endParaRPr lang="en-US" sz="700" dirty="0"/>
          </a:p>
        </p:txBody>
      </p:sp>
      <p:sp>
        <p:nvSpPr>
          <p:cNvPr id="10" name="Shape 6"/>
          <p:cNvSpPr/>
          <p:nvPr/>
        </p:nvSpPr>
        <p:spPr>
          <a:xfrm>
            <a:off x="594360" y="2587752"/>
            <a:ext cx="2651760" cy="713232"/>
          </a:xfrm>
          <a:prstGeom prst="roundRect">
            <a:avLst>
              <a:gd name="adj" fmla="val 12821"/>
            </a:avLst>
          </a:prstGeom>
          <a:solidFill>
            <a:srgbClr val="E3EDFC"/>
          </a:solidFill>
          <a:ln w="15875">
            <a:solidFill>
              <a:srgbClr val="2F6FD0"/>
            </a:solidFill>
            <a:prstDash val="solid"/>
          </a:ln>
          <a:effectLst>
            <a:outerShdw sx="100000" sy="100000" kx="0" ky="0" algn="bl" rotWithShape="0" blurRad="101600" dist="19050" dir="5400000">
              <a:srgbClr val="9FB0C2">
                <a:alpha val="24000"/>
              </a:srgbClr>
            </a:outerShdw>
          </a:effectLst>
        </p:spPr>
      </p:sp>
      <p:pic>
        <p:nvPicPr>
          <p:cNvPr id="11" name="Image 2" descr="preencoded.png">    </p:cNvPr>
          <p:cNvPicPr>
            <a:picLocks noChangeAspect="1"/>
          </p:cNvPicPr>
          <p:nvPr/>
        </p:nvPicPr>
        <p:blipFill>
          <a:blip r:embed="rId3"/>
          <a:stretch>
            <a:fillRect/>
          </a:stretch>
        </p:blipFill>
        <p:spPr>
          <a:xfrm>
            <a:off x="713232" y="2688336"/>
            <a:ext cx="182880" cy="182880"/>
          </a:xfrm>
          <a:prstGeom prst="rect">
            <a:avLst/>
          </a:prstGeom>
        </p:spPr>
      </p:pic>
      <p:sp>
        <p:nvSpPr>
          <p:cNvPr id="12" name="Text 7"/>
          <p:cNvSpPr txBox="1"/>
          <p:nvPr/>
        </p:nvSpPr>
        <p:spPr>
          <a:xfrm>
            <a:off x="685800" y="2587752"/>
            <a:ext cx="2468880" cy="713232"/>
          </a:xfrm>
          <a:prstGeom prst="rect">
            <a:avLst/>
          </a:prstGeom>
          <a:noFill/>
          <a:ln/>
        </p:spPr>
        <p:txBody>
          <a:bodyPr wrap="square" lIns="0" tIns="0" rIns="0" bIns="0" rtlCol="0" anchor="ctr"/>
          <a:lstStyle/>
          <a:p>
            <a:pPr algn="ctr" indent="0" marL="0">
              <a:lnSpc>
                <a:spcPct val="104000"/>
              </a:lnSpc>
              <a:buNone/>
            </a:pPr>
            <a:r>
              <a:rPr lang="en-US" sz="700" b="1" spc="110" kern="0" dirty="0">
                <a:solidFill>
                  <a:srgbClr val="2F6FD0"/>
                </a:solidFill>
                <a:latin typeface="Calibri" pitchFamily="34" charset="0"/>
                <a:ea typeface="Calibri" pitchFamily="34" charset="-122"/>
                <a:cs typeface="Calibri" pitchFamily="34" charset="-120"/>
              </a:rPr>
              <a:t>TRIGGER</a:t>
            </a:r>
            <a:endParaRPr lang="en-US" sz="700" dirty="0"/>
          </a:p>
          <a:p>
            <a:pPr algn="ctr" indent="0" marL="0">
              <a:lnSpc>
                <a:spcPct val="104000"/>
              </a:lnSpc>
              <a:buNone/>
            </a:pPr>
            <a:r>
              <a:rPr lang="en-US" sz="1050" b="1" dirty="0">
                <a:solidFill>
                  <a:srgbClr val="153A61"/>
                </a:solidFill>
                <a:latin typeface="Calibri" pitchFamily="34" charset="0"/>
                <a:ea typeface="Calibri" pitchFamily="34" charset="-122"/>
                <a:cs typeface="Calibri" pitchFamily="34" charset="-120"/>
              </a:rPr>
              <a:t>SLA stall sweep</a:t>
            </a:r>
            <a:endParaRPr lang="en-US" sz="700" dirty="0"/>
          </a:p>
          <a:p>
            <a:pPr algn="ctr" indent="0" marL="0">
              <a:lnSpc>
                <a:spcPct val="104000"/>
              </a:lnSpc>
              <a:buNone/>
            </a:pPr>
            <a:r>
              <a:rPr lang="en-US" sz="780" dirty="0">
                <a:solidFill>
                  <a:srgbClr val="153A61"/>
                </a:solidFill>
                <a:latin typeface="Calibri" pitchFamily="34" charset="0"/>
                <a:ea typeface="Calibri" pitchFamily="34" charset="-122"/>
                <a:cs typeface="Calibri" pitchFamily="34" charset="-120"/>
              </a:rPr>
              <a:t>45 days silent by default</a:t>
            </a:r>
            <a:endParaRPr lang="en-US" sz="700" dirty="0"/>
          </a:p>
        </p:txBody>
      </p:sp>
      <p:sp>
        <p:nvSpPr>
          <p:cNvPr id="13" name="Shape 8"/>
          <p:cNvSpPr/>
          <p:nvPr/>
        </p:nvSpPr>
        <p:spPr>
          <a:xfrm>
            <a:off x="3611880" y="1920240"/>
            <a:ext cx="2514600" cy="1143000"/>
          </a:xfrm>
          <a:prstGeom prst="hexagon">
            <a:avLst/>
          </a:prstGeom>
          <a:solidFill>
            <a:srgbClr val="FCEDD4"/>
          </a:solidFill>
          <a:ln w="15875">
            <a:solidFill>
              <a:srgbClr val="C9871B"/>
            </a:solidFill>
            <a:prstDash val="solid"/>
          </a:ln>
          <a:effectLst>
            <a:outerShdw sx="100000" sy="100000" kx="0" ky="0" algn="bl" rotWithShape="0" blurRad="101600" dist="19050" dir="5400000">
              <a:srgbClr val="9FB0C2">
                <a:alpha val="24000"/>
              </a:srgbClr>
            </a:outerShdw>
          </a:effectLst>
        </p:spPr>
      </p:sp>
      <p:sp>
        <p:nvSpPr>
          <p:cNvPr id="14" name="Shape 9"/>
          <p:cNvSpPr/>
          <p:nvPr/>
        </p:nvSpPr>
        <p:spPr>
          <a:xfrm>
            <a:off x="4732020" y="2066544"/>
            <a:ext cx="274320" cy="274320"/>
          </a:xfrm>
          <a:prstGeom prst="roundRect">
            <a:avLst>
              <a:gd name="adj" fmla="val 33333"/>
            </a:avLst>
          </a:prstGeom>
          <a:solidFill>
            <a:srgbClr val="C9871B"/>
          </a:solidFill>
          <a:ln/>
        </p:spPr>
      </p:sp>
      <p:pic>
        <p:nvPicPr>
          <p:cNvPr id="15" name="Image 3" descr="preencoded.png">    </p:cNvPr>
          <p:cNvPicPr>
            <a:picLocks noChangeAspect="1"/>
          </p:cNvPicPr>
          <p:nvPr/>
        </p:nvPicPr>
        <p:blipFill>
          <a:blip r:embed="rId4"/>
          <a:stretch>
            <a:fillRect/>
          </a:stretch>
        </p:blipFill>
        <p:spPr>
          <a:xfrm>
            <a:off x="4792370" y="2126894"/>
            <a:ext cx="153619" cy="153619"/>
          </a:xfrm>
          <a:prstGeom prst="rect">
            <a:avLst/>
          </a:prstGeom>
        </p:spPr>
      </p:pic>
      <p:sp>
        <p:nvSpPr>
          <p:cNvPr id="16" name="Text 10"/>
          <p:cNvSpPr txBox="1"/>
          <p:nvPr/>
        </p:nvSpPr>
        <p:spPr>
          <a:xfrm>
            <a:off x="3703320" y="2090318"/>
            <a:ext cx="2331720" cy="972922"/>
          </a:xfrm>
          <a:prstGeom prst="rect">
            <a:avLst/>
          </a:prstGeom>
          <a:noFill/>
          <a:ln/>
        </p:spPr>
        <p:txBody>
          <a:bodyPr wrap="square" lIns="0" tIns="0" rIns="0" bIns="0" rtlCol="0" anchor="ctr"/>
          <a:lstStyle/>
          <a:p>
            <a:pPr algn="ctr" indent="0" marL="0">
              <a:lnSpc>
                <a:spcPct val="104000"/>
              </a:lnSpc>
              <a:buNone/>
            </a:pPr>
            <a:r>
              <a:rPr lang="en-US" sz="1100" b="1" dirty="0">
                <a:solidFill>
                  <a:srgbClr val="64430A"/>
                </a:solidFill>
                <a:latin typeface="Calibri" pitchFamily="34" charset="0"/>
                <a:ea typeface="Calibri" pitchFamily="34" charset="-122"/>
                <a:cs typeface="Calibri" pitchFamily="34" charset="-120"/>
              </a:rPr>
              <a:t>decide_next_action</a:t>
            </a:r>
            <a:endParaRPr lang="en-US" sz="1100" dirty="0"/>
          </a:p>
          <a:p>
            <a:pPr algn="ctr" indent="0" marL="0">
              <a:lnSpc>
                <a:spcPct val="104000"/>
              </a:lnSpc>
              <a:buNone/>
            </a:pPr>
            <a:r>
              <a:rPr lang="en-US" sz="800" dirty="0">
                <a:solidFill>
                  <a:srgbClr val="64430A"/>
                </a:solidFill>
                <a:latin typeface="Calibri" pitchFamily="34" charset="0"/>
                <a:ea typeface="Calibri" pitchFamily="34" charset="-122"/>
                <a:cs typeface="Calibri" pitchFamily="34" charset="-120"/>
              </a:rPr>
              <a:t>a pure function over one issue</a:t>
            </a:r>
            <a:endParaRPr lang="en-US" sz="1100" dirty="0"/>
          </a:p>
        </p:txBody>
      </p:sp>
      <p:sp>
        <p:nvSpPr>
          <p:cNvPr id="17" name="Shape 11"/>
          <p:cNvSpPr/>
          <p:nvPr/>
        </p:nvSpPr>
        <p:spPr>
          <a:xfrm>
            <a:off x="3291840" y="2048256"/>
            <a:ext cx="274320" cy="329184"/>
          </a:xfrm>
          <a:prstGeom prst="line">
            <a:avLst/>
          </a:prstGeom>
          <a:noFill/>
          <a:ln w="16510">
            <a:solidFill>
              <a:srgbClr val="64798F"/>
            </a:solidFill>
            <a:prstDash val="solid"/>
            <a:headEnd type="none"/>
            <a:tailEnd type="triangle"/>
          </a:ln>
        </p:spPr>
      </p:sp>
      <p:sp>
        <p:nvSpPr>
          <p:cNvPr id="18" name="Shape 12"/>
          <p:cNvSpPr/>
          <p:nvPr/>
        </p:nvSpPr>
        <p:spPr>
          <a:xfrm flipV="1">
            <a:off x="3291840" y="2697480"/>
            <a:ext cx="274320" cy="246888"/>
          </a:xfrm>
          <a:prstGeom prst="line">
            <a:avLst/>
          </a:prstGeom>
          <a:noFill/>
          <a:ln w="16510">
            <a:solidFill>
              <a:srgbClr val="64798F"/>
            </a:solidFill>
            <a:prstDash val="solid"/>
            <a:headEnd type="none"/>
            <a:tailEnd type="triangle"/>
          </a:ln>
        </p:spPr>
      </p:sp>
      <p:sp>
        <p:nvSpPr>
          <p:cNvPr id="19" name="Shape 13"/>
          <p:cNvSpPr/>
          <p:nvPr/>
        </p:nvSpPr>
        <p:spPr>
          <a:xfrm>
            <a:off x="6537960" y="1627632"/>
            <a:ext cx="3017520" cy="365760"/>
          </a:xfrm>
          <a:prstGeom prst="roundRect">
            <a:avLst>
              <a:gd name="adj" fmla="val 25000"/>
            </a:avLst>
          </a:prstGeom>
          <a:solidFill>
            <a:srgbClr val="EBE5FC"/>
          </a:solidFill>
          <a:ln w="15875">
            <a:solidFill>
              <a:srgbClr val="6D4DD1"/>
            </a:solidFill>
            <a:prstDash val="solid"/>
          </a:ln>
        </p:spPr>
      </p:sp>
      <p:sp>
        <p:nvSpPr>
          <p:cNvPr id="20" name="Text 14"/>
          <p:cNvSpPr txBox="1"/>
          <p:nvPr/>
        </p:nvSpPr>
        <p:spPr>
          <a:xfrm>
            <a:off x="6629400" y="1627632"/>
            <a:ext cx="2834640" cy="365760"/>
          </a:xfrm>
          <a:prstGeom prst="rect">
            <a:avLst/>
          </a:prstGeom>
          <a:noFill/>
          <a:ln/>
        </p:spPr>
        <p:txBody>
          <a:bodyPr wrap="square" lIns="0" tIns="0" rIns="0" bIns="0" rtlCol="0" anchor="ctr"/>
          <a:lstStyle/>
          <a:p>
            <a:pPr algn="ctr" indent="0" marL="0">
              <a:lnSpc>
                <a:spcPct val="104000"/>
              </a:lnSpc>
              <a:buNone/>
            </a:pPr>
            <a:r>
              <a:rPr lang="en-US" sz="880" b="1" dirty="0">
                <a:solidFill>
                  <a:srgbClr val="35236E"/>
                </a:solidFill>
                <a:latin typeface="Calibri" pitchFamily="34" charset="0"/>
                <a:ea typeface="Calibri" pitchFamily="34" charset="-122"/>
                <a:cs typeface="Calibri" pitchFamily="34" charset="-120"/>
              </a:rPr>
              <a:t>DISPATCH_RESEARCH</a:t>
            </a:r>
            <a:endParaRPr lang="en-US" sz="880" dirty="0"/>
          </a:p>
        </p:txBody>
      </p:sp>
      <p:sp>
        <p:nvSpPr>
          <p:cNvPr id="21" name="Shape 15"/>
          <p:cNvSpPr/>
          <p:nvPr/>
        </p:nvSpPr>
        <p:spPr>
          <a:xfrm flipV="1">
            <a:off x="6172200" y="1810512"/>
            <a:ext cx="310896" cy="676656"/>
          </a:xfrm>
          <a:prstGeom prst="line">
            <a:avLst/>
          </a:prstGeom>
          <a:noFill/>
          <a:ln w="13970">
            <a:solidFill>
              <a:srgbClr val="64798F"/>
            </a:solidFill>
            <a:prstDash val="solid"/>
            <a:headEnd type="none"/>
            <a:tailEnd type="triangle"/>
          </a:ln>
        </p:spPr>
      </p:sp>
      <p:sp>
        <p:nvSpPr>
          <p:cNvPr id="22" name="Shape 16"/>
          <p:cNvSpPr/>
          <p:nvPr/>
        </p:nvSpPr>
        <p:spPr>
          <a:xfrm>
            <a:off x="6537960" y="2084832"/>
            <a:ext cx="3017520" cy="365760"/>
          </a:xfrm>
          <a:prstGeom prst="roundRect">
            <a:avLst>
              <a:gd name="adj" fmla="val 25000"/>
            </a:avLst>
          </a:prstGeom>
          <a:solidFill>
            <a:srgbClr val="EBE5FC"/>
          </a:solidFill>
          <a:ln w="15875">
            <a:solidFill>
              <a:srgbClr val="6D4DD1"/>
            </a:solidFill>
            <a:prstDash val="solid"/>
          </a:ln>
        </p:spPr>
      </p:sp>
      <p:sp>
        <p:nvSpPr>
          <p:cNvPr id="23" name="Text 17"/>
          <p:cNvSpPr txBox="1"/>
          <p:nvPr/>
        </p:nvSpPr>
        <p:spPr>
          <a:xfrm>
            <a:off x="6629400" y="2084832"/>
            <a:ext cx="2834640" cy="365760"/>
          </a:xfrm>
          <a:prstGeom prst="rect">
            <a:avLst/>
          </a:prstGeom>
          <a:noFill/>
          <a:ln/>
        </p:spPr>
        <p:txBody>
          <a:bodyPr wrap="square" lIns="0" tIns="0" rIns="0" bIns="0" rtlCol="0" anchor="ctr"/>
          <a:lstStyle/>
          <a:p>
            <a:pPr algn="ctr" indent="0" marL="0">
              <a:lnSpc>
                <a:spcPct val="104000"/>
              </a:lnSpc>
              <a:buNone/>
            </a:pPr>
            <a:r>
              <a:rPr lang="en-US" sz="880" b="1" dirty="0">
                <a:solidFill>
                  <a:srgbClr val="35236E"/>
                </a:solidFill>
                <a:latin typeface="Calibri" pitchFamily="34" charset="0"/>
                <a:ea typeface="Calibri" pitchFamily="34" charset="-122"/>
                <a:cs typeface="Calibri" pitchFamily="34" charset="-120"/>
              </a:rPr>
              <a:t>DISPATCH_DRAFTING_SUMMARY</a:t>
            </a:r>
            <a:endParaRPr lang="en-US" sz="880" dirty="0"/>
          </a:p>
        </p:txBody>
      </p:sp>
      <p:sp>
        <p:nvSpPr>
          <p:cNvPr id="24" name="Shape 18"/>
          <p:cNvSpPr/>
          <p:nvPr/>
        </p:nvSpPr>
        <p:spPr>
          <a:xfrm flipV="1">
            <a:off x="6172200" y="2267712"/>
            <a:ext cx="310896" cy="219456"/>
          </a:xfrm>
          <a:prstGeom prst="line">
            <a:avLst/>
          </a:prstGeom>
          <a:noFill/>
          <a:ln w="13970">
            <a:solidFill>
              <a:srgbClr val="64798F"/>
            </a:solidFill>
            <a:prstDash val="solid"/>
            <a:headEnd type="none"/>
            <a:tailEnd type="triangle"/>
          </a:ln>
        </p:spPr>
      </p:sp>
      <p:sp>
        <p:nvSpPr>
          <p:cNvPr id="25" name="Shape 19"/>
          <p:cNvSpPr/>
          <p:nvPr/>
        </p:nvSpPr>
        <p:spPr>
          <a:xfrm>
            <a:off x="6537960" y="2542032"/>
            <a:ext cx="3017520" cy="365760"/>
          </a:xfrm>
          <a:prstGeom prst="roundRect">
            <a:avLst>
              <a:gd name="adj" fmla="val 25000"/>
            </a:avLst>
          </a:prstGeom>
          <a:solidFill>
            <a:srgbClr val="EAF0F5"/>
          </a:solidFill>
          <a:ln w="15875">
            <a:solidFill>
              <a:srgbClr val="64798F"/>
            </a:solidFill>
            <a:prstDash val="solid"/>
          </a:ln>
        </p:spPr>
      </p:sp>
      <p:sp>
        <p:nvSpPr>
          <p:cNvPr id="26" name="Text 20"/>
          <p:cNvSpPr txBox="1"/>
          <p:nvPr/>
        </p:nvSpPr>
        <p:spPr>
          <a:xfrm>
            <a:off x="6629400" y="2542032"/>
            <a:ext cx="2834640" cy="365760"/>
          </a:xfrm>
          <a:prstGeom prst="rect">
            <a:avLst/>
          </a:prstGeom>
          <a:noFill/>
          <a:ln/>
        </p:spPr>
        <p:txBody>
          <a:bodyPr wrap="square" lIns="0" tIns="0" rIns="0" bIns="0" rtlCol="0" anchor="ctr"/>
          <a:lstStyle/>
          <a:p>
            <a:pPr algn="ctr" indent="0" marL="0">
              <a:lnSpc>
                <a:spcPct val="104000"/>
              </a:lnSpc>
              <a:buNone/>
            </a:pPr>
            <a:r>
              <a:rPr lang="en-US" sz="880" b="1" dirty="0">
                <a:solidFill>
                  <a:srgbClr val="24354A"/>
                </a:solidFill>
                <a:latin typeface="Calibri" pitchFamily="34" charset="0"/>
                <a:ea typeface="Calibri" pitchFamily="34" charset="-122"/>
                <a:cs typeface="Calibri" pitchFamily="34" charset="-120"/>
              </a:rPr>
              <a:t>AWAIT_RESPONSE</a:t>
            </a:r>
            <a:endParaRPr lang="en-US" sz="880" dirty="0"/>
          </a:p>
        </p:txBody>
      </p:sp>
      <p:sp>
        <p:nvSpPr>
          <p:cNvPr id="27" name="Shape 21"/>
          <p:cNvSpPr/>
          <p:nvPr/>
        </p:nvSpPr>
        <p:spPr>
          <a:xfrm>
            <a:off x="6172200" y="2487168"/>
            <a:ext cx="310896" cy="237744"/>
          </a:xfrm>
          <a:prstGeom prst="line">
            <a:avLst/>
          </a:prstGeom>
          <a:noFill/>
          <a:ln w="13970">
            <a:solidFill>
              <a:srgbClr val="64798F"/>
            </a:solidFill>
            <a:prstDash val="solid"/>
            <a:headEnd type="none"/>
            <a:tailEnd type="triangle"/>
          </a:ln>
        </p:spPr>
      </p:sp>
      <p:sp>
        <p:nvSpPr>
          <p:cNvPr id="28" name="Shape 22"/>
          <p:cNvSpPr/>
          <p:nvPr/>
        </p:nvSpPr>
        <p:spPr>
          <a:xfrm>
            <a:off x="6537960" y="2999232"/>
            <a:ext cx="3017520" cy="365760"/>
          </a:xfrm>
          <a:prstGeom prst="roundRect">
            <a:avLst>
              <a:gd name="adj" fmla="val 25000"/>
            </a:avLst>
          </a:prstGeom>
          <a:solidFill>
            <a:srgbClr val="FBE2E8"/>
          </a:solidFill>
          <a:ln w="15875">
            <a:solidFill>
              <a:srgbClr val="CE3D64"/>
            </a:solidFill>
            <a:prstDash val="solid"/>
          </a:ln>
        </p:spPr>
      </p:sp>
      <p:sp>
        <p:nvSpPr>
          <p:cNvPr id="29" name="Text 23"/>
          <p:cNvSpPr txBox="1"/>
          <p:nvPr/>
        </p:nvSpPr>
        <p:spPr>
          <a:xfrm>
            <a:off x="6629400" y="2999232"/>
            <a:ext cx="2834640" cy="365760"/>
          </a:xfrm>
          <a:prstGeom prst="rect">
            <a:avLst/>
          </a:prstGeom>
          <a:noFill/>
          <a:ln/>
        </p:spPr>
        <p:txBody>
          <a:bodyPr wrap="square" lIns="0" tIns="0" rIns="0" bIns="0" rtlCol="0" anchor="ctr"/>
          <a:lstStyle/>
          <a:p>
            <a:pPr algn="ctr" indent="0" marL="0">
              <a:lnSpc>
                <a:spcPct val="104000"/>
              </a:lnSpc>
              <a:buNone/>
            </a:pPr>
            <a:r>
              <a:rPr lang="en-US" sz="880" b="1" dirty="0">
                <a:solidFill>
                  <a:srgbClr val="68182F"/>
                </a:solidFill>
                <a:latin typeface="Calibri" pitchFamily="34" charset="0"/>
                <a:ea typeface="Calibri" pitchFamily="34" charset="-122"/>
                <a:cs typeface="Calibri" pitchFamily="34" charset="-120"/>
              </a:rPr>
              <a:t>FLAG_FOR_ESCALATION_DECISION</a:t>
            </a:r>
            <a:endParaRPr lang="en-US" sz="880" dirty="0"/>
          </a:p>
        </p:txBody>
      </p:sp>
      <p:sp>
        <p:nvSpPr>
          <p:cNvPr id="30" name="Shape 24"/>
          <p:cNvSpPr/>
          <p:nvPr/>
        </p:nvSpPr>
        <p:spPr>
          <a:xfrm>
            <a:off x="6172200" y="2487168"/>
            <a:ext cx="310896" cy="694944"/>
          </a:xfrm>
          <a:prstGeom prst="line">
            <a:avLst/>
          </a:prstGeom>
          <a:noFill/>
          <a:ln w="13970">
            <a:solidFill>
              <a:srgbClr val="64798F"/>
            </a:solidFill>
            <a:prstDash val="solid"/>
            <a:headEnd type="none"/>
            <a:tailEnd type="triangle"/>
          </a:ln>
        </p:spPr>
      </p:sp>
      <p:sp>
        <p:nvSpPr>
          <p:cNvPr id="31" name="Text 25"/>
          <p:cNvSpPr txBox="1"/>
          <p:nvPr/>
        </p:nvSpPr>
        <p:spPr>
          <a:xfrm>
            <a:off x="9692640" y="2194560"/>
            <a:ext cx="1901952" cy="640080"/>
          </a:xfrm>
          <a:prstGeom prst="rect">
            <a:avLst/>
          </a:prstGeom>
          <a:noFill/>
          <a:ln/>
        </p:spPr>
        <p:txBody>
          <a:bodyPr wrap="square" lIns="0" tIns="0" rIns="0" bIns="0" rtlCol="0" anchor="ctr"/>
          <a:lstStyle/>
          <a:p>
            <a:pPr algn="l" indent="0" marL="0">
              <a:buNone/>
            </a:pPr>
            <a:r>
              <a:rPr lang="en-US" sz="820" dirty="0">
                <a:solidFill>
                  <a:srgbClr val="58697A"/>
                </a:solidFill>
                <a:latin typeface="Calibri" pitchFamily="34" charset="0"/>
                <a:ea typeface="Calibri" pitchFamily="34" charset="-122"/>
                <a:cs typeface="Calibri" pitchFamily="34" charset="-120"/>
              </a:rPr>
              <a:t>it never calls an agent itself — which is why a scheduler can be added later without touching the rules</a:t>
            </a:r>
            <a:endParaRPr lang="en-US" sz="820" dirty="0"/>
          </a:p>
        </p:txBody>
      </p:sp>
      <p:sp>
        <p:nvSpPr>
          <p:cNvPr id="32" name="Shape 26"/>
          <p:cNvSpPr/>
          <p:nvPr/>
        </p:nvSpPr>
        <p:spPr>
          <a:xfrm>
            <a:off x="594360" y="3657600"/>
            <a:ext cx="11000232" cy="1417320"/>
          </a:xfrm>
          <a:prstGeom prst="roundRect">
            <a:avLst>
              <a:gd name="adj" fmla="val 2581"/>
            </a:avLst>
          </a:prstGeom>
          <a:solidFill>
            <a:srgbClr val="F7FAFC"/>
          </a:solidFill>
          <a:ln w="15875">
            <a:solidFill>
              <a:srgbClr val="9FB2C4"/>
            </a:solidFill>
            <a:prstDash val="dash"/>
          </a:ln>
        </p:spPr>
      </p:sp>
      <p:sp>
        <p:nvSpPr>
          <p:cNvPr id="33" name="Shape 27"/>
          <p:cNvSpPr/>
          <p:nvPr/>
        </p:nvSpPr>
        <p:spPr>
          <a:xfrm>
            <a:off x="740664" y="3538728"/>
            <a:ext cx="2626157" cy="274320"/>
          </a:xfrm>
          <a:prstGeom prst="roundRect">
            <a:avLst>
              <a:gd name="adj" fmla="val 50000"/>
            </a:avLst>
          </a:prstGeom>
          <a:solidFill>
            <a:srgbClr val="64798F"/>
          </a:solidFill>
          <a:ln/>
        </p:spPr>
      </p:sp>
      <p:pic>
        <p:nvPicPr>
          <p:cNvPr id="34" name="Image 4" descr="preencoded.png">    </p:cNvPr>
          <p:cNvPicPr>
            <a:picLocks noChangeAspect="1"/>
          </p:cNvPicPr>
          <p:nvPr/>
        </p:nvPicPr>
        <p:blipFill>
          <a:blip r:embed="rId5"/>
          <a:stretch>
            <a:fillRect/>
          </a:stretch>
        </p:blipFill>
        <p:spPr>
          <a:xfrm>
            <a:off x="859536" y="3607308"/>
            <a:ext cx="132588" cy="132588"/>
          </a:xfrm>
          <a:prstGeom prst="rect">
            <a:avLst/>
          </a:prstGeom>
        </p:spPr>
      </p:pic>
      <p:sp>
        <p:nvSpPr>
          <p:cNvPr id="35" name="Text 28"/>
          <p:cNvSpPr txBox="1"/>
          <p:nvPr/>
        </p:nvSpPr>
        <p:spPr>
          <a:xfrm>
            <a:off x="1014984" y="3538728"/>
            <a:ext cx="2351837" cy="274320"/>
          </a:xfrm>
          <a:prstGeom prst="rect">
            <a:avLst/>
          </a:prstGeom>
          <a:noFill/>
          <a:ln/>
        </p:spPr>
        <p:txBody>
          <a:bodyPr wrap="square" lIns="0" tIns="0" rIns="0" bIns="0" rtlCol="0" anchor="ctr"/>
          <a:lstStyle/>
          <a:p>
            <a:pPr algn="ctr" indent="0" marL="0">
              <a:buNone/>
            </a:pPr>
            <a:r>
              <a:rPr lang="en-US" sz="850" b="1" spc="110" kern="0" dirty="0">
                <a:solidFill>
                  <a:srgbClr val="FFFFFF"/>
                </a:solidFill>
                <a:latin typeface="Calibri" pitchFamily="34" charset="0"/>
                <a:ea typeface="Calibri" pitchFamily="34" charset="-122"/>
                <a:cs typeface="Calibri" pitchFamily="34" charset="-120"/>
              </a:rPr>
              <a:t>THE WORK ITSELF, WITH ITS GATES</a:t>
            </a:r>
            <a:endParaRPr lang="en-US" sz="850" dirty="0"/>
          </a:p>
        </p:txBody>
      </p:sp>
      <p:sp>
        <p:nvSpPr>
          <p:cNvPr id="36" name="Shape 29"/>
          <p:cNvSpPr/>
          <p:nvPr/>
        </p:nvSpPr>
        <p:spPr>
          <a:xfrm>
            <a:off x="822960" y="4069080"/>
            <a:ext cx="1543812" cy="749808"/>
          </a:xfrm>
          <a:prstGeom prst="roundRect">
            <a:avLst>
              <a:gd name="adj" fmla="val 12195"/>
            </a:avLst>
          </a:prstGeom>
          <a:solidFill>
            <a:srgbClr val="EBE5FC"/>
          </a:solidFill>
          <a:ln w="15875">
            <a:solidFill>
              <a:srgbClr val="6D4DD1"/>
            </a:solidFill>
            <a:prstDash val="solid"/>
          </a:ln>
          <a:effectLst>
            <a:outerShdw sx="100000" sy="100000" kx="0" ky="0" algn="bl" rotWithShape="0" blurRad="101600" dist="19050" dir="5400000">
              <a:srgbClr val="9FB0C2">
                <a:alpha val="24000"/>
              </a:srgbClr>
            </a:outerShdw>
          </a:effectLst>
        </p:spPr>
      </p:sp>
      <p:pic>
        <p:nvPicPr>
          <p:cNvPr id="37" name="Image 5" descr="preencoded.png">    </p:cNvPr>
          <p:cNvPicPr>
            <a:picLocks noChangeAspect="1"/>
          </p:cNvPicPr>
          <p:nvPr/>
        </p:nvPicPr>
        <p:blipFill>
          <a:blip r:embed="rId6"/>
          <a:stretch>
            <a:fillRect/>
          </a:stretch>
        </p:blipFill>
        <p:spPr>
          <a:xfrm>
            <a:off x="941832" y="4169664"/>
            <a:ext cx="155448" cy="155448"/>
          </a:xfrm>
          <a:prstGeom prst="rect">
            <a:avLst/>
          </a:prstGeom>
        </p:spPr>
      </p:pic>
      <p:sp>
        <p:nvSpPr>
          <p:cNvPr id="38" name="Text 30"/>
          <p:cNvSpPr txBox="1"/>
          <p:nvPr/>
        </p:nvSpPr>
        <p:spPr>
          <a:xfrm>
            <a:off x="914400" y="4069080"/>
            <a:ext cx="1360932" cy="749808"/>
          </a:xfrm>
          <a:prstGeom prst="rect">
            <a:avLst/>
          </a:prstGeom>
          <a:noFill/>
          <a:ln/>
        </p:spPr>
        <p:txBody>
          <a:bodyPr wrap="square" lIns="0" tIns="0" rIns="0" bIns="0" rtlCol="0" anchor="ctr"/>
          <a:lstStyle/>
          <a:p>
            <a:pPr algn="ctr" indent="0" marL="0">
              <a:lnSpc>
                <a:spcPct val="104000"/>
              </a:lnSpc>
              <a:buNone/>
            </a:pPr>
            <a:r>
              <a:rPr lang="en-US" sz="950" b="1" dirty="0">
                <a:solidFill>
                  <a:srgbClr val="35236E"/>
                </a:solidFill>
                <a:latin typeface="Calibri" pitchFamily="34" charset="0"/>
                <a:ea typeface="Calibri" pitchFamily="34" charset="-122"/>
                <a:cs typeface="Calibri" pitchFamily="34" charset="-120"/>
              </a:rPr>
              <a:t>Research Agent</a:t>
            </a:r>
            <a:endParaRPr lang="en-US" sz="950" dirty="0"/>
          </a:p>
          <a:p>
            <a:pPr algn="ctr" indent="0" marL="0">
              <a:lnSpc>
                <a:spcPct val="104000"/>
              </a:lnSpc>
              <a:buNone/>
            </a:pPr>
            <a:r>
              <a:rPr lang="en-US" sz="760" dirty="0">
                <a:solidFill>
                  <a:srgbClr val="35236E"/>
                </a:solidFill>
                <a:latin typeface="Calibri" pitchFamily="34" charset="0"/>
                <a:ea typeface="Calibri" pitchFamily="34" charset="-122"/>
                <a:cs typeface="Calibri" pitchFamily="34" charset="-120"/>
              </a:rPr>
              <a:t>drafts a grounded dossier</a:t>
            </a:r>
            <a:endParaRPr lang="en-US" sz="950" dirty="0"/>
          </a:p>
        </p:txBody>
      </p:sp>
      <p:sp>
        <p:nvSpPr>
          <p:cNvPr id="39" name="Shape 31"/>
          <p:cNvSpPr/>
          <p:nvPr/>
        </p:nvSpPr>
        <p:spPr>
          <a:xfrm>
            <a:off x="2394204" y="4443984"/>
            <a:ext cx="201168" cy="0"/>
          </a:xfrm>
          <a:prstGeom prst="line">
            <a:avLst/>
          </a:prstGeom>
          <a:noFill/>
          <a:ln w="16510">
            <a:solidFill>
              <a:srgbClr val="64798F"/>
            </a:solidFill>
            <a:prstDash val="solid"/>
            <a:headEnd type="none"/>
            <a:tailEnd type="triangle"/>
          </a:ln>
        </p:spPr>
      </p:sp>
      <p:sp>
        <p:nvSpPr>
          <p:cNvPr id="40" name="Shape 32"/>
          <p:cNvSpPr/>
          <p:nvPr/>
        </p:nvSpPr>
        <p:spPr>
          <a:xfrm>
            <a:off x="2622804" y="4069080"/>
            <a:ext cx="1543812" cy="749808"/>
          </a:xfrm>
          <a:prstGeom prst="roundRect">
            <a:avLst>
              <a:gd name="adj" fmla="val 12195"/>
            </a:avLst>
          </a:prstGeom>
          <a:solidFill>
            <a:srgbClr val="FBE2E8"/>
          </a:solidFill>
          <a:ln w="15875">
            <a:solidFill>
              <a:srgbClr val="CE3D64"/>
            </a:solidFill>
            <a:prstDash val="solid"/>
          </a:ln>
          <a:effectLst>
            <a:outerShdw sx="100000" sy="100000" kx="0" ky="0" algn="bl" rotWithShape="0" blurRad="101600" dist="19050" dir="5400000">
              <a:srgbClr val="9FB0C2">
                <a:alpha val="24000"/>
              </a:srgbClr>
            </a:outerShdw>
          </a:effectLst>
        </p:spPr>
      </p:sp>
      <p:pic>
        <p:nvPicPr>
          <p:cNvPr id="41" name="Image 6" descr="preencoded.png">    </p:cNvPr>
          <p:cNvPicPr>
            <a:picLocks noChangeAspect="1"/>
          </p:cNvPicPr>
          <p:nvPr/>
        </p:nvPicPr>
        <p:blipFill>
          <a:blip r:embed="rId7"/>
          <a:stretch>
            <a:fillRect/>
          </a:stretch>
        </p:blipFill>
        <p:spPr>
          <a:xfrm>
            <a:off x="2741676" y="4169664"/>
            <a:ext cx="155448" cy="155448"/>
          </a:xfrm>
          <a:prstGeom prst="rect">
            <a:avLst/>
          </a:prstGeom>
        </p:spPr>
      </p:pic>
      <p:sp>
        <p:nvSpPr>
          <p:cNvPr id="42" name="Text 33"/>
          <p:cNvSpPr txBox="1"/>
          <p:nvPr/>
        </p:nvSpPr>
        <p:spPr>
          <a:xfrm>
            <a:off x="2714244" y="4069080"/>
            <a:ext cx="1360932" cy="749808"/>
          </a:xfrm>
          <a:prstGeom prst="rect">
            <a:avLst/>
          </a:prstGeom>
          <a:noFill/>
          <a:ln/>
        </p:spPr>
        <p:txBody>
          <a:bodyPr wrap="square" lIns="0" tIns="0" rIns="0" bIns="0" rtlCol="0" anchor="ctr"/>
          <a:lstStyle/>
          <a:p>
            <a:pPr algn="ctr" indent="0" marL="0">
              <a:lnSpc>
                <a:spcPct val="104000"/>
              </a:lnSpc>
              <a:buNone/>
            </a:pPr>
            <a:r>
              <a:rPr lang="en-US" sz="950" b="1" dirty="0">
                <a:solidFill>
                  <a:srgbClr val="68182F"/>
                </a:solidFill>
                <a:latin typeface="Calibri" pitchFamily="34" charset="0"/>
                <a:ea typeface="Calibri" pitchFamily="34" charset="-122"/>
                <a:cs typeface="Calibri" pitchFamily="34" charset="-120"/>
              </a:rPr>
              <a:t>Human review</a:t>
            </a:r>
            <a:endParaRPr lang="en-US" sz="950" dirty="0"/>
          </a:p>
          <a:p>
            <a:pPr algn="ctr" indent="0" marL="0">
              <a:lnSpc>
                <a:spcPct val="104000"/>
              </a:lnSpc>
              <a:buNone/>
            </a:pPr>
            <a:r>
              <a:rPr lang="en-US" sz="760" dirty="0">
                <a:solidFill>
                  <a:srgbClr val="68182F"/>
                </a:solidFill>
                <a:latin typeface="Calibri" pitchFamily="34" charset="0"/>
                <a:ea typeface="Calibri" pitchFamily="34" charset="-122"/>
                <a:cs typeface="Calibri" pitchFamily="34" charset="-120"/>
              </a:rPr>
              <a:t>accuracy check before handoff</a:t>
            </a:r>
            <a:endParaRPr lang="en-US" sz="950" dirty="0"/>
          </a:p>
        </p:txBody>
      </p:sp>
      <p:sp>
        <p:nvSpPr>
          <p:cNvPr id="43" name="Shape 34"/>
          <p:cNvSpPr/>
          <p:nvPr/>
        </p:nvSpPr>
        <p:spPr>
          <a:xfrm>
            <a:off x="4194048" y="4443984"/>
            <a:ext cx="201168" cy="0"/>
          </a:xfrm>
          <a:prstGeom prst="line">
            <a:avLst/>
          </a:prstGeom>
          <a:noFill/>
          <a:ln w="16510">
            <a:solidFill>
              <a:srgbClr val="64798F"/>
            </a:solidFill>
            <a:prstDash val="solid"/>
            <a:headEnd type="none"/>
            <a:tailEnd type="triangle"/>
          </a:ln>
        </p:spPr>
      </p:sp>
      <p:sp>
        <p:nvSpPr>
          <p:cNvPr id="44" name="Shape 35"/>
          <p:cNvSpPr/>
          <p:nvPr/>
        </p:nvSpPr>
        <p:spPr>
          <a:xfrm>
            <a:off x="4422648" y="4069080"/>
            <a:ext cx="1543812" cy="749808"/>
          </a:xfrm>
          <a:prstGeom prst="roundRect">
            <a:avLst>
              <a:gd name="adj" fmla="val 12195"/>
            </a:avLst>
          </a:prstGeom>
          <a:solidFill>
            <a:srgbClr val="EBE5FC"/>
          </a:solidFill>
          <a:ln w="15875">
            <a:solidFill>
              <a:srgbClr val="6D4DD1"/>
            </a:solidFill>
            <a:prstDash val="solid"/>
          </a:ln>
          <a:effectLst>
            <a:outerShdw sx="100000" sy="100000" kx="0" ky="0" algn="bl" rotWithShape="0" blurRad="101600" dist="19050" dir="5400000">
              <a:srgbClr val="9FB0C2">
                <a:alpha val="24000"/>
              </a:srgbClr>
            </a:outerShdw>
          </a:effectLst>
        </p:spPr>
      </p:sp>
      <p:pic>
        <p:nvPicPr>
          <p:cNvPr id="45" name="Image 7" descr="preencoded.png">    </p:cNvPr>
          <p:cNvPicPr>
            <a:picLocks noChangeAspect="1"/>
          </p:cNvPicPr>
          <p:nvPr/>
        </p:nvPicPr>
        <p:blipFill>
          <a:blip r:embed="rId8"/>
          <a:stretch>
            <a:fillRect/>
          </a:stretch>
        </p:blipFill>
        <p:spPr>
          <a:xfrm>
            <a:off x="4541520" y="4169664"/>
            <a:ext cx="155448" cy="155448"/>
          </a:xfrm>
          <a:prstGeom prst="rect">
            <a:avLst/>
          </a:prstGeom>
        </p:spPr>
      </p:pic>
      <p:sp>
        <p:nvSpPr>
          <p:cNvPr id="46" name="Text 36"/>
          <p:cNvSpPr txBox="1"/>
          <p:nvPr/>
        </p:nvSpPr>
        <p:spPr>
          <a:xfrm>
            <a:off x="4514088" y="4069080"/>
            <a:ext cx="1360932" cy="749808"/>
          </a:xfrm>
          <a:prstGeom prst="rect">
            <a:avLst/>
          </a:prstGeom>
          <a:noFill/>
          <a:ln/>
        </p:spPr>
        <p:txBody>
          <a:bodyPr wrap="square" lIns="0" tIns="0" rIns="0" bIns="0" rtlCol="0" anchor="ctr"/>
          <a:lstStyle/>
          <a:p>
            <a:pPr algn="ctr" indent="0" marL="0">
              <a:lnSpc>
                <a:spcPct val="104000"/>
              </a:lnSpc>
              <a:buNone/>
            </a:pPr>
            <a:r>
              <a:rPr lang="en-US" sz="950" b="1" dirty="0">
                <a:solidFill>
                  <a:srgbClr val="35236E"/>
                </a:solidFill>
                <a:latin typeface="Calibri" pitchFamily="34" charset="0"/>
                <a:ea typeface="Calibri" pitchFamily="34" charset="-122"/>
                <a:cs typeface="Calibri" pitchFamily="34" charset="-120"/>
              </a:rPr>
              <a:t>Drafting Agent</a:t>
            </a:r>
            <a:endParaRPr lang="en-US" sz="950" dirty="0"/>
          </a:p>
          <a:p>
            <a:pPr algn="ctr" indent="0" marL="0">
              <a:lnSpc>
                <a:spcPct val="104000"/>
              </a:lnSpc>
              <a:buNone/>
            </a:pPr>
            <a:r>
              <a:rPr lang="en-US" sz="760" dirty="0">
                <a:solidFill>
                  <a:srgbClr val="35236E"/>
                </a:solidFill>
                <a:latin typeface="Calibri" pitchFamily="34" charset="0"/>
                <a:ea typeface="Calibri" pitchFamily="34" charset="-122"/>
                <a:cs typeface="Calibri" pitchFamily="34" charset="-120"/>
              </a:rPr>
              <a:t>letter / points / summary</a:t>
            </a:r>
            <a:endParaRPr lang="en-US" sz="950" dirty="0"/>
          </a:p>
        </p:txBody>
      </p:sp>
      <p:sp>
        <p:nvSpPr>
          <p:cNvPr id="47" name="Shape 37"/>
          <p:cNvSpPr/>
          <p:nvPr/>
        </p:nvSpPr>
        <p:spPr>
          <a:xfrm>
            <a:off x="5993892" y="4443984"/>
            <a:ext cx="201168" cy="0"/>
          </a:xfrm>
          <a:prstGeom prst="line">
            <a:avLst/>
          </a:prstGeom>
          <a:noFill/>
          <a:ln w="16510">
            <a:solidFill>
              <a:srgbClr val="64798F"/>
            </a:solidFill>
            <a:prstDash val="solid"/>
            <a:headEnd type="none"/>
            <a:tailEnd type="triangle"/>
          </a:ln>
        </p:spPr>
      </p:sp>
      <p:sp>
        <p:nvSpPr>
          <p:cNvPr id="48" name="Shape 38"/>
          <p:cNvSpPr/>
          <p:nvPr/>
        </p:nvSpPr>
        <p:spPr>
          <a:xfrm>
            <a:off x="6222492" y="4069080"/>
            <a:ext cx="1543812" cy="749808"/>
          </a:xfrm>
          <a:prstGeom prst="roundRect">
            <a:avLst>
              <a:gd name="adj" fmla="val 12195"/>
            </a:avLst>
          </a:prstGeom>
          <a:solidFill>
            <a:srgbClr val="FBE2E8"/>
          </a:solidFill>
          <a:ln w="15875">
            <a:solidFill>
              <a:srgbClr val="CE3D64"/>
            </a:solidFill>
            <a:prstDash val="solid"/>
          </a:ln>
          <a:effectLst>
            <a:outerShdw sx="100000" sy="100000" kx="0" ky="0" algn="bl" rotWithShape="0" blurRad="101600" dist="19050" dir="5400000">
              <a:srgbClr val="9FB0C2">
                <a:alpha val="24000"/>
              </a:srgbClr>
            </a:outerShdw>
          </a:effectLst>
        </p:spPr>
      </p:sp>
      <p:pic>
        <p:nvPicPr>
          <p:cNvPr id="49" name="Image 8" descr="preencoded.png">    </p:cNvPr>
          <p:cNvPicPr>
            <a:picLocks noChangeAspect="1"/>
          </p:cNvPicPr>
          <p:nvPr/>
        </p:nvPicPr>
        <p:blipFill>
          <a:blip r:embed="rId9"/>
          <a:stretch>
            <a:fillRect/>
          </a:stretch>
        </p:blipFill>
        <p:spPr>
          <a:xfrm>
            <a:off x="6341364" y="4169664"/>
            <a:ext cx="155448" cy="155448"/>
          </a:xfrm>
          <a:prstGeom prst="rect">
            <a:avLst/>
          </a:prstGeom>
        </p:spPr>
      </p:pic>
      <p:sp>
        <p:nvSpPr>
          <p:cNvPr id="50" name="Text 39"/>
          <p:cNvSpPr txBox="1"/>
          <p:nvPr/>
        </p:nvSpPr>
        <p:spPr>
          <a:xfrm>
            <a:off x="6313932" y="4069080"/>
            <a:ext cx="1360932" cy="749808"/>
          </a:xfrm>
          <a:prstGeom prst="rect">
            <a:avLst/>
          </a:prstGeom>
          <a:noFill/>
          <a:ln/>
        </p:spPr>
        <p:txBody>
          <a:bodyPr wrap="square" lIns="0" tIns="0" rIns="0" bIns="0" rtlCol="0" anchor="ctr"/>
          <a:lstStyle/>
          <a:p>
            <a:pPr algn="ctr" indent="0" marL="0">
              <a:lnSpc>
                <a:spcPct val="104000"/>
              </a:lnSpc>
              <a:buNone/>
            </a:pPr>
            <a:r>
              <a:rPr lang="en-US" sz="950" b="1" dirty="0">
                <a:solidFill>
                  <a:srgbClr val="68182F"/>
                </a:solidFill>
                <a:latin typeface="Calibri" pitchFamily="34" charset="0"/>
                <a:ea typeface="Calibri" pitchFamily="34" charset="-122"/>
                <a:cs typeface="Calibri" pitchFamily="34" charset="-120"/>
              </a:rPr>
              <a:t>Human validates</a:t>
            </a:r>
            <a:endParaRPr lang="en-US" sz="950" dirty="0"/>
          </a:p>
          <a:p>
            <a:pPr algn="ctr" indent="0" marL="0">
              <a:lnSpc>
                <a:spcPct val="104000"/>
              </a:lnSpc>
              <a:buNone/>
            </a:pPr>
            <a:r>
              <a:rPr lang="en-US" sz="760" dirty="0">
                <a:solidFill>
                  <a:srgbClr val="68182F"/>
                </a:solidFill>
                <a:latin typeface="Calibri" pitchFamily="34" charset="0"/>
                <a:ea typeface="Calibri" pitchFamily="34" charset="-122"/>
                <a:cs typeface="Calibri" pitchFamily="34" charset="-120"/>
              </a:rPr>
              <a:t>validated_by writes commitments</a:t>
            </a:r>
            <a:endParaRPr lang="en-US" sz="950" dirty="0"/>
          </a:p>
        </p:txBody>
      </p:sp>
      <p:sp>
        <p:nvSpPr>
          <p:cNvPr id="51" name="Shape 40"/>
          <p:cNvSpPr/>
          <p:nvPr/>
        </p:nvSpPr>
        <p:spPr>
          <a:xfrm>
            <a:off x="7793736" y="4443984"/>
            <a:ext cx="201168" cy="0"/>
          </a:xfrm>
          <a:prstGeom prst="line">
            <a:avLst/>
          </a:prstGeom>
          <a:noFill/>
          <a:ln w="16510">
            <a:solidFill>
              <a:srgbClr val="64798F"/>
            </a:solidFill>
            <a:prstDash val="solid"/>
            <a:headEnd type="none"/>
            <a:tailEnd type="triangle"/>
          </a:ln>
        </p:spPr>
      </p:sp>
      <p:sp>
        <p:nvSpPr>
          <p:cNvPr id="52" name="Shape 41"/>
          <p:cNvSpPr/>
          <p:nvPr/>
        </p:nvSpPr>
        <p:spPr>
          <a:xfrm>
            <a:off x="8022336" y="4069080"/>
            <a:ext cx="1543812" cy="749808"/>
          </a:xfrm>
          <a:prstGeom prst="roundRect">
            <a:avLst>
              <a:gd name="adj" fmla="val 12195"/>
            </a:avLst>
          </a:prstGeom>
          <a:solidFill>
            <a:srgbClr val="DCF2F4"/>
          </a:solidFill>
          <a:ln w="15875">
            <a:solidFill>
              <a:srgbClr val="108494"/>
            </a:solidFill>
            <a:prstDash val="solid"/>
          </a:ln>
          <a:effectLst>
            <a:outerShdw sx="100000" sy="100000" kx="0" ky="0" algn="bl" rotWithShape="0" blurRad="101600" dist="19050" dir="5400000">
              <a:srgbClr val="9FB0C2">
                <a:alpha val="24000"/>
              </a:srgbClr>
            </a:outerShdw>
          </a:effectLst>
        </p:spPr>
      </p:sp>
      <p:pic>
        <p:nvPicPr>
          <p:cNvPr id="53" name="Image 9" descr="preencoded.png">    </p:cNvPr>
          <p:cNvPicPr>
            <a:picLocks noChangeAspect="1"/>
          </p:cNvPicPr>
          <p:nvPr/>
        </p:nvPicPr>
        <p:blipFill>
          <a:blip r:embed="rId10"/>
          <a:stretch>
            <a:fillRect/>
          </a:stretch>
        </p:blipFill>
        <p:spPr>
          <a:xfrm>
            <a:off x="8141208" y="4169664"/>
            <a:ext cx="155448" cy="155448"/>
          </a:xfrm>
          <a:prstGeom prst="rect">
            <a:avLst/>
          </a:prstGeom>
        </p:spPr>
      </p:pic>
      <p:sp>
        <p:nvSpPr>
          <p:cNvPr id="54" name="Text 42"/>
          <p:cNvSpPr txBox="1"/>
          <p:nvPr/>
        </p:nvSpPr>
        <p:spPr>
          <a:xfrm>
            <a:off x="8113776" y="4069080"/>
            <a:ext cx="1360932" cy="749808"/>
          </a:xfrm>
          <a:prstGeom prst="rect">
            <a:avLst/>
          </a:prstGeom>
          <a:noFill/>
          <a:ln/>
        </p:spPr>
        <p:txBody>
          <a:bodyPr wrap="square" lIns="0" tIns="0" rIns="0" bIns="0" rtlCol="0" anchor="ctr"/>
          <a:lstStyle/>
          <a:p>
            <a:pPr algn="ctr" indent="0" marL="0">
              <a:lnSpc>
                <a:spcPct val="104000"/>
              </a:lnSpc>
              <a:buNone/>
            </a:pPr>
            <a:r>
              <a:rPr lang="en-US" sz="950" b="1" dirty="0">
                <a:solidFill>
                  <a:srgbClr val="0A4451"/>
                </a:solidFill>
                <a:latin typeface="Calibri" pitchFamily="34" charset="0"/>
                <a:ea typeface="Calibri" pitchFamily="34" charset="-122"/>
                <a:cs typeface="Calibri" pitchFamily="34" charset="-120"/>
              </a:rPr>
              <a:t>Tracking Agent</a:t>
            </a:r>
            <a:endParaRPr lang="en-US" sz="950" dirty="0"/>
          </a:p>
          <a:p>
            <a:pPr algn="ctr" indent="0" marL="0">
              <a:lnSpc>
                <a:spcPct val="104000"/>
              </a:lnSpc>
              <a:buNone/>
            </a:pPr>
            <a:r>
              <a:rPr lang="en-US" sz="760" dirty="0">
                <a:solidFill>
                  <a:srgbClr val="0A4451"/>
                </a:solidFill>
                <a:latin typeface="Calibri" pitchFamily="34" charset="0"/>
                <a:ea typeface="Calibri" pitchFamily="34" charset="-122"/>
                <a:cs typeface="Calibri" pitchFamily="34" charset="-120"/>
              </a:rPr>
              <a:t>logs it, advances the stage</a:t>
            </a:r>
            <a:endParaRPr lang="en-US" sz="950" dirty="0"/>
          </a:p>
        </p:txBody>
      </p:sp>
      <p:sp>
        <p:nvSpPr>
          <p:cNvPr id="55" name="Shape 43"/>
          <p:cNvSpPr/>
          <p:nvPr/>
        </p:nvSpPr>
        <p:spPr>
          <a:xfrm>
            <a:off x="9593580" y="4443984"/>
            <a:ext cx="201168" cy="0"/>
          </a:xfrm>
          <a:prstGeom prst="line">
            <a:avLst/>
          </a:prstGeom>
          <a:noFill/>
          <a:ln w="16510">
            <a:solidFill>
              <a:srgbClr val="64798F"/>
            </a:solidFill>
            <a:prstDash val="solid"/>
            <a:headEnd type="none"/>
            <a:tailEnd type="triangle"/>
          </a:ln>
        </p:spPr>
      </p:sp>
      <p:sp>
        <p:nvSpPr>
          <p:cNvPr id="56" name="Shape 44"/>
          <p:cNvSpPr/>
          <p:nvPr/>
        </p:nvSpPr>
        <p:spPr>
          <a:xfrm>
            <a:off x="9822180" y="4069080"/>
            <a:ext cx="1543812" cy="749808"/>
          </a:xfrm>
          <a:prstGeom prst="roundRect">
            <a:avLst>
              <a:gd name="adj" fmla="val 12195"/>
            </a:avLst>
          </a:prstGeom>
          <a:solidFill>
            <a:srgbClr val="E0F3E3"/>
          </a:solidFill>
          <a:ln w="15875">
            <a:solidFill>
              <a:srgbClr val="2F8F48"/>
            </a:solidFill>
            <a:prstDash val="solid"/>
          </a:ln>
          <a:effectLst>
            <a:outerShdw sx="100000" sy="100000" kx="0" ky="0" algn="bl" rotWithShape="0" blurRad="101600" dist="19050" dir="5400000">
              <a:srgbClr val="9FB0C2">
                <a:alpha val="24000"/>
              </a:srgbClr>
            </a:outerShdw>
          </a:effectLst>
        </p:spPr>
      </p:sp>
      <p:pic>
        <p:nvPicPr>
          <p:cNvPr id="57" name="Image 10" descr="preencoded.png">    </p:cNvPr>
          <p:cNvPicPr>
            <a:picLocks noChangeAspect="1"/>
          </p:cNvPicPr>
          <p:nvPr/>
        </p:nvPicPr>
        <p:blipFill>
          <a:blip r:embed="rId11"/>
          <a:stretch>
            <a:fillRect/>
          </a:stretch>
        </p:blipFill>
        <p:spPr>
          <a:xfrm>
            <a:off x="9941052" y="4169664"/>
            <a:ext cx="155448" cy="155448"/>
          </a:xfrm>
          <a:prstGeom prst="rect">
            <a:avLst/>
          </a:prstGeom>
        </p:spPr>
      </p:pic>
      <p:sp>
        <p:nvSpPr>
          <p:cNvPr id="58" name="Text 45"/>
          <p:cNvSpPr txBox="1"/>
          <p:nvPr/>
        </p:nvSpPr>
        <p:spPr>
          <a:xfrm>
            <a:off x="9913620" y="4069080"/>
            <a:ext cx="1360932" cy="749808"/>
          </a:xfrm>
          <a:prstGeom prst="rect">
            <a:avLst/>
          </a:prstGeom>
          <a:noFill/>
          <a:ln/>
        </p:spPr>
        <p:txBody>
          <a:bodyPr wrap="square" lIns="0" tIns="0" rIns="0" bIns="0" rtlCol="0" anchor="ctr"/>
          <a:lstStyle/>
          <a:p>
            <a:pPr algn="ctr" indent="0" marL="0">
              <a:lnSpc>
                <a:spcPct val="104000"/>
              </a:lnSpc>
              <a:buNone/>
            </a:pPr>
            <a:r>
              <a:rPr lang="en-US" sz="950" b="1" dirty="0">
                <a:solidFill>
                  <a:srgbClr val="17431F"/>
                </a:solidFill>
                <a:latin typeface="Calibri" pitchFamily="34" charset="0"/>
                <a:ea typeface="Calibri" pitchFamily="34" charset="-122"/>
                <a:cs typeface="Calibri" pitchFamily="34" charset="-120"/>
              </a:rPr>
              <a:t>events.jsonl</a:t>
            </a:r>
            <a:endParaRPr lang="en-US" sz="950" dirty="0"/>
          </a:p>
          <a:p>
            <a:pPr algn="ctr" indent="0" marL="0">
              <a:lnSpc>
                <a:spcPct val="104000"/>
              </a:lnSpc>
              <a:buNone/>
            </a:pPr>
            <a:r>
              <a:rPr lang="en-US" sz="760" dirty="0">
                <a:solidFill>
                  <a:srgbClr val="17431F"/>
                </a:solidFill>
                <a:latin typeface="Calibri" pitchFamily="34" charset="0"/>
                <a:ea typeface="Calibri" pitchFamily="34" charset="-122"/>
                <a:cs typeface="Calibri" pitchFamily="34" charset="-120"/>
              </a:rPr>
              <a:t>appended, never overwritten</a:t>
            </a:r>
            <a:endParaRPr lang="en-US" sz="950" dirty="0"/>
          </a:p>
        </p:txBody>
      </p:sp>
      <p:sp>
        <p:nvSpPr>
          <p:cNvPr id="59" name="Shape 46"/>
          <p:cNvSpPr/>
          <p:nvPr/>
        </p:nvSpPr>
        <p:spPr>
          <a:xfrm>
            <a:off x="594360" y="5321808"/>
            <a:ext cx="3532632" cy="941832"/>
          </a:xfrm>
          <a:prstGeom prst="roundRect">
            <a:avLst>
              <a:gd name="adj" fmla="val 3883"/>
            </a:avLst>
          </a:prstGeom>
          <a:solidFill>
            <a:srgbClr val="F4F7FA"/>
          </a:solidFill>
          <a:ln w="15875">
            <a:solidFill>
              <a:srgbClr val="DDE5ED"/>
            </a:solidFill>
            <a:prstDash val="solid"/>
          </a:ln>
        </p:spPr>
      </p:sp>
      <p:sp>
        <p:nvSpPr>
          <p:cNvPr id="60" name="Text 47"/>
          <p:cNvSpPr txBox="1"/>
          <p:nvPr/>
        </p:nvSpPr>
        <p:spPr>
          <a:xfrm>
            <a:off x="758952" y="5422392"/>
            <a:ext cx="3203448" cy="201168"/>
          </a:xfrm>
          <a:prstGeom prst="rect">
            <a:avLst/>
          </a:prstGeom>
          <a:noFill/>
          <a:ln/>
        </p:spPr>
        <p:txBody>
          <a:bodyPr wrap="square" lIns="0" tIns="0" rIns="0" bIns="0" rtlCol="0" anchor="ctr"/>
          <a:lstStyle/>
          <a:p>
            <a:pPr indent="0" marL="0">
              <a:buNone/>
            </a:pPr>
            <a:r>
              <a:rPr lang="en-US" sz="850" b="1" spc="140" kern="0" dirty="0">
                <a:solidFill>
                  <a:srgbClr val="6D4DD1"/>
                </a:solidFill>
                <a:latin typeface="Calibri" pitchFamily="34" charset="0"/>
                <a:ea typeface="Calibri" pitchFamily="34" charset="-122"/>
                <a:cs typeface="Calibri" pitchFamily="34" charset="-120"/>
              </a:rPr>
              <a:t>MODULES</a:t>
            </a:r>
            <a:endParaRPr lang="en-US" sz="850" dirty="0"/>
          </a:p>
        </p:txBody>
      </p:sp>
      <p:sp>
        <p:nvSpPr>
          <p:cNvPr id="61" name="Text 48"/>
          <p:cNvSpPr txBox="1"/>
          <p:nvPr/>
        </p:nvSpPr>
        <p:spPr>
          <a:xfrm>
            <a:off x="758952" y="5641848"/>
            <a:ext cx="3203448" cy="548640"/>
          </a:xfrm>
          <a:prstGeom prst="rect">
            <a:avLst/>
          </a:prstGeom>
          <a:noFill/>
          <a:ln/>
        </p:spPr>
        <p:txBody>
          <a:bodyPr wrap="square" lIns="0" tIns="0" rIns="0" bIns="0" rtlCol="0" anchor="ctr"/>
          <a:lstStyle/>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arp/engagement/{orchestrator,triggers}.py</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arp/engagement/{research,drafting,tracking,reporting}_agent.py</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arp/storage/engagement_store.py — record.json + events.jsonl</a:t>
            </a:r>
            <a:endParaRPr lang="en-US" sz="860" dirty="0"/>
          </a:p>
        </p:txBody>
      </p:sp>
      <p:sp>
        <p:nvSpPr>
          <p:cNvPr id="62" name="Shape 49"/>
          <p:cNvSpPr/>
          <p:nvPr/>
        </p:nvSpPr>
        <p:spPr>
          <a:xfrm>
            <a:off x="4328160" y="5321808"/>
            <a:ext cx="3532632" cy="941832"/>
          </a:xfrm>
          <a:prstGeom prst="roundRect">
            <a:avLst>
              <a:gd name="adj" fmla="val 3883"/>
            </a:avLst>
          </a:prstGeom>
          <a:solidFill>
            <a:srgbClr val="F4F7FA"/>
          </a:solidFill>
          <a:ln w="15875">
            <a:solidFill>
              <a:srgbClr val="DDE5ED"/>
            </a:solidFill>
            <a:prstDash val="solid"/>
          </a:ln>
        </p:spPr>
      </p:sp>
      <p:sp>
        <p:nvSpPr>
          <p:cNvPr id="63" name="Text 50"/>
          <p:cNvSpPr txBox="1"/>
          <p:nvPr/>
        </p:nvSpPr>
        <p:spPr>
          <a:xfrm>
            <a:off x="4492752" y="5422392"/>
            <a:ext cx="3203448" cy="201168"/>
          </a:xfrm>
          <a:prstGeom prst="rect">
            <a:avLst/>
          </a:prstGeom>
          <a:noFill/>
          <a:ln/>
        </p:spPr>
        <p:txBody>
          <a:bodyPr wrap="square" lIns="0" tIns="0" rIns="0" bIns="0" rtlCol="0" anchor="ctr"/>
          <a:lstStyle/>
          <a:p>
            <a:pPr indent="0" marL="0">
              <a:buNone/>
            </a:pPr>
            <a:r>
              <a:rPr lang="en-US" sz="850" b="1" spc="140" kern="0" dirty="0">
                <a:solidFill>
                  <a:srgbClr val="2F6FD0"/>
                </a:solidFill>
                <a:latin typeface="Calibri" pitchFamily="34" charset="0"/>
                <a:ea typeface="Calibri" pitchFamily="34" charset="-122"/>
                <a:cs typeface="Calibri" pitchFamily="34" charset="-120"/>
              </a:rPr>
              <a:t>IN → OUT</a:t>
            </a:r>
            <a:endParaRPr lang="en-US" sz="850" dirty="0"/>
          </a:p>
        </p:txBody>
      </p:sp>
      <p:sp>
        <p:nvSpPr>
          <p:cNvPr id="64" name="Text 51"/>
          <p:cNvSpPr txBox="1"/>
          <p:nvPr/>
        </p:nvSpPr>
        <p:spPr>
          <a:xfrm>
            <a:off x="4492752" y="5641848"/>
            <a:ext cx="3203448" cy="548640"/>
          </a:xfrm>
          <a:prstGeom prst="rect">
            <a:avLst/>
          </a:prstGeom>
          <a:noFill/>
          <a:ln/>
        </p:spPr>
        <p:txBody>
          <a:bodyPr wrap="square" lIns="0" tIns="0" rIns="0" bIns="0" rtlCol="0" anchor="ctr"/>
          <a:lstStyle/>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In: a company universe plus controversy signals;</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analyst actions through the CLI or API.</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Out: EngagementRecord, an audit log, a period report.</a:t>
            </a:r>
            <a:endParaRPr lang="en-US" sz="860" dirty="0"/>
          </a:p>
        </p:txBody>
      </p:sp>
      <p:sp>
        <p:nvSpPr>
          <p:cNvPr id="65" name="Shape 52"/>
          <p:cNvSpPr/>
          <p:nvPr/>
        </p:nvSpPr>
        <p:spPr>
          <a:xfrm>
            <a:off x="8061960" y="5321808"/>
            <a:ext cx="3532632" cy="941832"/>
          </a:xfrm>
          <a:prstGeom prst="roundRect">
            <a:avLst>
              <a:gd name="adj" fmla="val 3883"/>
            </a:avLst>
          </a:prstGeom>
          <a:solidFill>
            <a:srgbClr val="F4F7FA"/>
          </a:solidFill>
          <a:ln w="15875">
            <a:solidFill>
              <a:srgbClr val="DDE5ED"/>
            </a:solidFill>
            <a:prstDash val="solid"/>
          </a:ln>
        </p:spPr>
      </p:sp>
      <p:sp>
        <p:nvSpPr>
          <p:cNvPr id="66" name="Text 53"/>
          <p:cNvSpPr txBox="1"/>
          <p:nvPr/>
        </p:nvSpPr>
        <p:spPr>
          <a:xfrm>
            <a:off x="8226552" y="5422392"/>
            <a:ext cx="3203448" cy="201168"/>
          </a:xfrm>
          <a:prstGeom prst="rect">
            <a:avLst/>
          </a:prstGeom>
          <a:noFill/>
          <a:ln/>
        </p:spPr>
        <p:txBody>
          <a:bodyPr wrap="square" lIns="0" tIns="0" rIns="0" bIns="0" rtlCol="0" anchor="ctr"/>
          <a:lstStyle/>
          <a:p>
            <a:pPr indent="0" marL="0">
              <a:buNone/>
            </a:pPr>
            <a:r>
              <a:rPr lang="en-US" sz="850" b="1" spc="140" kern="0" dirty="0">
                <a:solidFill>
                  <a:srgbClr val="C9871B"/>
                </a:solidFill>
                <a:latin typeface="Calibri" pitchFamily="34" charset="0"/>
                <a:ea typeface="Calibri" pitchFamily="34" charset="-122"/>
                <a:cs typeface="Calibri" pitchFamily="34" charset="-120"/>
              </a:rPr>
              <a:t>CONTROLS</a:t>
            </a:r>
            <a:endParaRPr lang="en-US" sz="850" dirty="0"/>
          </a:p>
        </p:txBody>
      </p:sp>
      <p:sp>
        <p:nvSpPr>
          <p:cNvPr id="67" name="Text 54"/>
          <p:cNvSpPr txBox="1"/>
          <p:nvPr/>
        </p:nvSpPr>
        <p:spPr>
          <a:xfrm>
            <a:off x="8226552" y="5641848"/>
            <a:ext cx="3203448" cy="548640"/>
          </a:xfrm>
          <a:prstGeom prst="rect">
            <a:avLst/>
          </a:prstGeom>
          <a:noFill/>
          <a:ln/>
        </p:spPr>
        <p:txBody>
          <a:bodyPr wrap="square" lIns="0" tIns="0" rIns="0" bIns="0" rtlCol="0" anchor="ctr"/>
          <a:lstStyle/>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Milestone state is only ever written by the LLM-free tracker.</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set_escalation_stage requires decided_by and is never automated.</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The controversy feed is an interface; today's is static.</a:t>
            </a:r>
            <a:endParaRPr lang="en-US" sz="86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438912"/>
            <a:ext cx="10085832" cy="201168"/>
          </a:xfrm>
          <a:prstGeom prst="rect">
            <a:avLst/>
          </a:prstGeom>
          <a:noFill/>
          <a:ln/>
        </p:spPr>
        <p:txBody>
          <a:bodyPr wrap="square" lIns="0" tIns="0" rIns="0" bIns="0" rtlCol="0" anchor="ctr"/>
          <a:lstStyle/>
          <a:p>
            <a:pPr indent="0" marL="0">
              <a:buNone/>
            </a:pPr>
            <a:r>
              <a:rPr lang="en-US" sz="1050" b="1" spc="200" kern="0" dirty="0">
                <a:solidFill>
                  <a:srgbClr val="108494"/>
                </a:solidFill>
                <a:latin typeface="Calibri" pitchFamily="34" charset="0"/>
                <a:ea typeface="Calibri" pitchFamily="34" charset="-122"/>
                <a:cs typeface="Calibri" pitchFamily="34" charset="-120"/>
              </a:rPr>
              <a:t>10   ·   PROXY VOTING</a:t>
            </a:r>
            <a:endParaRPr lang="en-US" sz="1050" dirty="0"/>
          </a:p>
        </p:txBody>
      </p:sp>
      <p:sp>
        <p:nvSpPr>
          <p:cNvPr id="3" name="Text 1"/>
          <p:cNvSpPr txBox="1"/>
          <p:nvPr/>
        </p:nvSpPr>
        <p:spPr>
          <a:xfrm>
            <a:off x="594360" y="640080"/>
            <a:ext cx="10085832" cy="484632"/>
          </a:xfrm>
          <a:prstGeom prst="rect">
            <a:avLst/>
          </a:prstGeom>
          <a:noFill/>
          <a:ln/>
        </p:spPr>
        <p:txBody>
          <a:bodyPr wrap="square" lIns="0" tIns="0" rIns="0" bIns="0" rtlCol="0" anchor="ctr"/>
          <a:lstStyle/>
          <a:p>
            <a:pPr indent="0" marL="0">
              <a:buNone/>
            </a:pPr>
            <a:r>
              <a:rPr lang="en-US" sz="3000" b="1" dirty="0">
                <a:solidFill>
                  <a:srgbClr val="10243A"/>
                </a:solidFill>
                <a:latin typeface="Cambria" pitchFamily="34" charset="0"/>
                <a:ea typeface="Cambria" pitchFamily="34" charset="-122"/>
                <a:cs typeface="Cambria" pitchFamily="34" charset="-120"/>
              </a:rPr>
              <a:t>From ballot to cast vote</a:t>
            </a:r>
            <a:endParaRPr lang="en-US" sz="3000" dirty="0"/>
          </a:p>
        </p:txBody>
      </p:sp>
      <p:sp>
        <p:nvSpPr>
          <p:cNvPr id="4" name="Text 2"/>
          <p:cNvSpPr txBox="1"/>
          <p:nvPr/>
        </p:nvSpPr>
        <p:spPr>
          <a:xfrm>
            <a:off x="594360" y="1143000"/>
            <a:ext cx="9994392" cy="274320"/>
          </a:xfrm>
          <a:prstGeom prst="rect">
            <a:avLst/>
          </a:prstGeom>
          <a:noFill/>
          <a:ln/>
        </p:spPr>
        <p:txBody>
          <a:bodyPr wrap="square" lIns="0" tIns="0" rIns="0" bIns="0" rtlCol="0" anchor="ctr"/>
          <a:lstStyle/>
          <a:p>
            <a:pPr indent="0" marL="0">
              <a:buNone/>
            </a:pPr>
            <a:r>
              <a:rPr lang="en-US" sz="1200" dirty="0">
                <a:solidFill>
                  <a:srgbClr val="58697A"/>
                </a:solidFill>
                <a:latin typeface="Calibri" pitchFamily="34" charset="0"/>
                <a:ea typeface="Calibri" pitchFamily="34" charset="-122"/>
                <a:cs typeface="Calibri" pitchFamily="34" charset="-120"/>
              </a:rPr>
              <a:t>Rules before judgment, judgment before a recommendation — and a recommendation is never a vote.</a:t>
            </a:r>
            <a:endParaRPr lang="en-US" sz="1200" dirty="0"/>
          </a:p>
        </p:txBody>
      </p:sp>
      <p:sp>
        <p:nvSpPr>
          <p:cNvPr id="5" name="Shape 3"/>
          <p:cNvSpPr/>
          <p:nvPr/>
        </p:nvSpPr>
        <p:spPr>
          <a:xfrm>
            <a:off x="10881360" y="475488"/>
            <a:ext cx="713232" cy="713232"/>
          </a:xfrm>
          <a:prstGeom prst="roundRect">
            <a:avLst>
              <a:gd name="adj" fmla="val 20513"/>
            </a:avLst>
          </a:prstGeom>
          <a:solidFill>
            <a:srgbClr val="10243A"/>
          </a:solidFill>
          <a:ln/>
        </p:spPr>
      </p:sp>
      <p:pic>
        <p:nvPicPr>
          <p:cNvPr id="6" name="Image 0" descr="preencoded.png">    </p:cNvPr>
          <p:cNvPicPr>
            <a:picLocks noChangeAspect="1"/>
          </p:cNvPicPr>
          <p:nvPr/>
        </p:nvPicPr>
        <p:blipFill>
          <a:blip r:embed="rId1"/>
          <a:stretch>
            <a:fillRect/>
          </a:stretch>
        </p:blipFill>
        <p:spPr>
          <a:xfrm>
            <a:off x="11038271" y="632399"/>
            <a:ext cx="399410" cy="399410"/>
          </a:xfrm>
          <a:prstGeom prst="rect">
            <a:avLst/>
          </a:prstGeom>
        </p:spPr>
      </p:pic>
      <p:sp>
        <p:nvSpPr>
          <p:cNvPr id="7" name="Shape 4"/>
          <p:cNvSpPr/>
          <p:nvPr/>
        </p:nvSpPr>
        <p:spPr>
          <a:xfrm>
            <a:off x="594360" y="2240280"/>
            <a:ext cx="2011680" cy="822960"/>
          </a:xfrm>
          <a:prstGeom prst="roundRect">
            <a:avLst>
              <a:gd name="adj" fmla="val 11111"/>
            </a:avLst>
          </a:prstGeom>
          <a:solidFill>
            <a:srgbClr val="E3EDFC"/>
          </a:solidFill>
          <a:ln w="15875">
            <a:solidFill>
              <a:srgbClr val="2F6FD0"/>
            </a:solidFill>
            <a:prstDash val="solid"/>
          </a:ln>
          <a:effectLst>
            <a:outerShdw sx="100000" sy="100000" kx="0" ky="0" algn="bl" rotWithShape="0" blurRad="101600" dist="19050" dir="5400000">
              <a:srgbClr val="9FB0C2">
                <a:alpha val="24000"/>
              </a:srgbClr>
            </a:outerShdw>
          </a:effectLst>
        </p:spPr>
      </p:sp>
      <p:pic>
        <p:nvPicPr>
          <p:cNvPr id="8" name="Image 1" descr="preencoded.png">    </p:cNvPr>
          <p:cNvPicPr>
            <a:picLocks noChangeAspect="1"/>
          </p:cNvPicPr>
          <p:nvPr/>
        </p:nvPicPr>
        <p:blipFill>
          <a:blip r:embed="rId2"/>
          <a:stretch>
            <a:fillRect/>
          </a:stretch>
        </p:blipFill>
        <p:spPr>
          <a:xfrm>
            <a:off x="713232" y="2340864"/>
            <a:ext cx="182880" cy="182880"/>
          </a:xfrm>
          <a:prstGeom prst="rect">
            <a:avLst/>
          </a:prstGeom>
        </p:spPr>
      </p:pic>
      <p:sp>
        <p:nvSpPr>
          <p:cNvPr id="9" name="Text 5"/>
          <p:cNvSpPr txBox="1"/>
          <p:nvPr/>
        </p:nvSpPr>
        <p:spPr>
          <a:xfrm>
            <a:off x="685800" y="2240280"/>
            <a:ext cx="1828800" cy="822960"/>
          </a:xfrm>
          <a:prstGeom prst="rect">
            <a:avLst/>
          </a:prstGeom>
          <a:noFill/>
          <a:ln/>
        </p:spPr>
        <p:txBody>
          <a:bodyPr wrap="square" lIns="0" tIns="0" rIns="0" bIns="0" rtlCol="0" anchor="ctr"/>
          <a:lstStyle/>
          <a:p>
            <a:pPr algn="ctr" indent="0" marL="0">
              <a:lnSpc>
                <a:spcPct val="104000"/>
              </a:lnSpc>
              <a:buNone/>
            </a:pPr>
            <a:r>
              <a:rPr lang="en-US" sz="1050" b="1" dirty="0">
                <a:solidFill>
                  <a:srgbClr val="153A61"/>
                </a:solidFill>
                <a:latin typeface="Calibri" pitchFamily="34" charset="0"/>
                <a:ea typeface="Calibri" pitchFamily="34" charset="-122"/>
                <a:cs typeface="Calibri" pitchFamily="34" charset="-120"/>
              </a:rPr>
              <a:t>Proxy statement</a:t>
            </a:r>
            <a:endParaRPr lang="en-US" sz="1050" dirty="0"/>
          </a:p>
          <a:p>
            <a:pPr algn="ctr" indent="0" marL="0">
              <a:lnSpc>
                <a:spcPct val="104000"/>
              </a:lnSpc>
              <a:buNone/>
            </a:pPr>
            <a:r>
              <a:rPr lang="en-US" sz="800" dirty="0">
                <a:solidFill>
                  <a:srgbClr val="153A61"/>
                </a:solidFill>
                <a:latin typeface="Calibri" pitchFamily="34" charset="0"/>
                <a:ea typeface="Calibri" pitchFamily="34" charset="-122"/>
                <a:cs typeface="Calibri" pitchFamily="34" charset="-120"/>
              </a:rPr>
              <a:t>DEF 14A, from the shared registry</a:t>
            </a:r>
            <a:endParaRPr lang="en-US" sz="1050" dirty="0"/>
          </a:p>
        </p:txBody>
      </p:sp>
      <p:sp>
        <p:nvSpPr>
          <p:cNvPr id="10" name="Shape 6"/>
          <p:cNvSpPr/>
          <p:nvPr/>
        </p:nvSpPr>
        <p:spPr>
          <a:xfrm>
            <a:off x="2971800" y="2240280"/>
            <a:ext cx="2103120" cy="822960"/>
          </a:xfrm>
          <a:prstGeom prst="roundRect">
            <a:avLst>
              <a:gd name="adj" fmla="val 11111"/>
            </a:avLst>
          </a:prstGeom>
          <a:solidFill>
            <a:srgbClr val="EBE5FC"/>
          </a:solidFill>
          <a:ln w="15875">
            <a:solidFill>
              <a:srgbClr val="6D4DD1"/>
            </a:solidFill>
            <a:prstDash val="solid"/>
          </a:ln>
          <a:effectLst>
            <a:outerShdw sx="100000" sy="100000" kx="0" ky="0" algn="bl" rotWithShape="0" blurRad="101600" dist="19050" dir="5400000">
              <a:srgbClr val="9FB0C2">
                <a:alpha val="24000"/>
              </a:srgbClr>
            </a:outerShdw>
          </a:effectLst>
        </p:spPr>
      </p:sp>
      <p:pic>
        <p:nvPicPr>
          <p:cNvPr id="11" name="Image 2" descr="preencoded.png">    </p:cNvPr>
          <p:cNvPicPr>
            <a:picLocks noChangeAspect="1"/>
          </p:cNvPicPr>
          <p:nvPr/>
        </p:nvPicPr>
        <p:blipFill>
          <a:blip r:embed="rId3"/>
          <a:stretch>
            <a:fillRect/>
          </a:stretch>
        </p:blipFill>
        <p:spPr>
          <a:xfrm>
            <a:off x="3090672" y="2340864"/>
            <a:ext cx="182880" cy="182880"/>
          </a:xfrm>
          <a:prstGeom prst="rect">
            <a:avLst/>
          </a:prstGeom>
        </p:spPr>
      </p:pic>
      <p:sp>
        <p:nvSpPr>
          <p:cNvPr id="12" name="Text 7"/>
          <p:cNvSpPr txBox="1"/>
          <p:nvPr/>
        </p:nvSpPr>
        <p:spPr>
          <a:xfrm>
            <a:off x="3063240" y="2240280"/>
            <a:ext cx="1920240" cy="822960"/>
          </a:xfrm>
          <a:prstGeom prst="rect">
            <a:avLst/>
          </a:prstGeom>
          <a:noFill/>
          <a:ln/>
        </p:spPr>
        <p:txBody>
          <a:bodyPr wrap="square" lIns="0" tIns="0" rIns="0" bIns="0" rtlCol="0" anchor="ctr"/>
          <a:lstStyle/>
          <a:p>
            <a:pPr algn="ctr" indent="0" marL="0">
              <a:lnSpc>
                <a:spcPct val="104000"/>
              </a:lnSpc>
              <a:buNone/>
            </a:pPr>
            <a:r>
              <a:rPr lang="en-US" sz="1050" b="1" dirty="0">
                <a:solidFill>
                  <a:srgbClr val="35236E"/>
                </a:solidFill>
                <a:latin typeface="Calibri" pitchFamily="34" charset="0"/>
                <a:ea typeface="Calibri" pitchFamily="34" charset="-122"/>
                <a:cs typeface="Calibri" pitchFamily="34" charset="-120"/>
              </a:rPr>
              <a:t>Proposal extraction</a:t>
            </a:r>
            <a:endParaRPr lang="en-US" sz="1050" dirty="0"/>
          </a:p>
          <a:p>
            <a:pPr algn="ctr" indent="0" marL="0">
              <a:lnSpc>
                <a:spcPct val="104000"/>
              </a:lnSpc>
              <a:buNone/>
            </a:pPr>
            <a:r>
              <a:rPr lang="en-US" sz="800" dirty="0">
                <a:solidFill>
                  <a:srgbClr val="35236E"/>
                </a:solidFill>
                <a:latin typeface="Calibri" pitchFamily="34" charset="0"/>
                <a:ea typeface="Calibri" pitchFamily="34" charset="-122"/>
                <a:cs typeface="Calibri" pitchFamily="34" charset="-120"/>
              </a:rPr>
              <a:t>one schema-first pass, grounded</a:t>
            </a:r>
            <a:endParaRPr lang="en-US" sz="1050" dirty="0"/>
          </a:p>
        </p:txBody>
      </p:sp>
      <p:sp>
        <p:nvSpPr>
          <p:cNvPr id="13" name="Shape 8"/>
          <p:cNvSpPr/>
          <p:nvPr/>
        </p:nvSpPr>
        <p:spPr>
          <a:xfrm>
            <a:off x="2651760" y="2651760"/>
            <a:ext cx="265176" cy="0"/>
          </a:xfrm>
          <a:prstGeom prst="line">
            <a:avLst/>
          </a:prstGeom>
          <a:noFill/>
          <a:ln w="19050">
            <a:solidFill>
              <a:srgbClr val="64798F"/>
            </a:solidFill>
            <a:prstDash val="solid"/>
            <a:headEnd type="none"/>
            <a:tailEnd type="triangle"/>
          </a:ln>
        </p:spPr>
      </p:sp>
      <p:sp>
        <p:nvSpPr>
          <p:cNvPr id="14" name="Shape 9"/>
          <p:cNvSpPr/>
          <p:nvPr/>
        </p:nvSpPr>
        <p:spPr>
          <a:xfrm>
            <a:off x="5577840" y="2194560"/>
            <a:ext cx="2194560" cy="914400"/>
          </a:xfrm>
          <a:prstGeom prst="diamond">
            <a:avLst/>
          </a:prstGeom>
          <a:solidFill>
            <a:srgbClr val="FCEDD4"/>
          </a:solidFill>
          <a:ln w="15875">
            <a:solidFill>
              <a:srgbClr val="C9871B"/>
            </a:solidFill>
            <a:prstDash val="solid"/>
          </a:ln>
        </p:spPr>
      </p:sp>
      <p:sp>
        <p:nvSpPr>
          <p:cNvPr id="15" name="Text 10"/>
          <p:cNvSpPr txBox="1"/>
          <p:nvPr/>
        </p:nvSpPr>
        <p:spPr>
          <a:xfrm>
            <a:off x="5669280" y="2194560"/>
            <a:ext cx="2011680" cy="914400"/>
          </a:xfrm>
          <a:prstGeom prst="rect">
            <a:avLst/>
          </a:prstGeom>
          <a:noFill/>
          <a:ln/>
        </p:spPr>
        <p:txBody>
          <a:bodyPr wrap="square" lIns="0" tIns="0" rIns="0" bIns="0" rtlCol="0" anchor="ctr"/>
          <a:lstStyle/>
          <a:p>
            <a:pPr algn="ctr" indent="0" marL="0">
              <a:lnSpc>
                <a:spcPct val="104000"/>
              </a:lnSpc>
              <a:buNone/>
            </a:pPr>
            <a:r>
              <a:rPr lang="en-US" sz="980" b="1" dirty="0">
                <a:solidFill>
                  <a:srgbClr val="64430A"/>
                </a:solidFill>
                <a:latin typeface="Calibri" pitchFamily="34" charset="0"/>
                <a:ea typeface="Calibri" pitchFamily="34" charset="-122"/>
                <a:cs typeface="Calibri" pitchFamily="34" charset="-120"/>
              </a:rPr>
              <a:t>a rule resolves it?</a:t>
            </a:r>
            <a:endParaRPr lang="en-US" sz="980" dirty="0"/>
          </a:p>
        </p:txBody>
      </p:sp>
      <p:sp>
        <p:nvSpPr>
          <p:cNvPr id="16" name="Shape 11"/>
          <p:cNvSpPr/>
          <p:nvPr/>
        </p:nvSpPr>
        <p:spPr>
          <a:xfrm>
            <a:off x="5120640" y="2651760"/>
            <a:ext cx="411480" cy="0"/>
          </a:xfrm>
          <a:prstGeom prst="line">
            <a:avLst/>
          </a:prstGeom>
          <a:noFill/>
          <a:ln w="19050">
            <a:solidFill>
              <a:srgbClr val="64798F"/>
            </a:solidFill>
            <a:prstDash val="solid"/>
            <a:headEnd type="none"/>
            <a:tailEnd type="triangle"/>
          </a:ln>
        </p:spPr>
      </p:sp>
      <p:sp>
        <p:nvSpPr>
          <p:cNvPr id="17" name="Shape 12"/>
          <p:cNvSpPr/>
          <p:nvPr/>
        </p:nvSpPr>
        <p:spPr>
          <a:xfrm>
            <a:off x="8321040" y="1664208"/>
            <a:ext cx="3273552" cy="713232"/>
          </a:xfrm>
          <a:prstGeom prst="roundRect">
            <a:avLst>
              <a:gd name="adj" fmla="val 12821"/>
            </a:avLst>
          </a:prstGeom>
          <a:solidFill>
            <a:srgbClr val="DCF2F4"/>
          </a:solidFill>
          <a:ln w="15875">
            <a:solidFill>
              <a:srgbClr val="108494"/>
            </a:solidFill>
            <a:prstDash val="solid"/>
          </a:ln>
          <a:effectLst>
            <a:outerShdw sx="100000" sy="100000" kx="0" ky="0" algn="bl" rotWithShape="0" blurRad="101600" dist="19050" dir="5400000">
              <a:srgbClr val="9FB0C2">
                <a:alpha val="24000"/>
              </a:srgbClr>
            </a:outerShdw>
          </a:effectLst>
        </p:spPr>
      </p:sp>
      <p:pic>
        <p:nvPicPr>
          <p:cNvPr id="18" name="Image 3" descr="preencoded.png">    </p:cNvPr>
          <p:cNvPicPr>
            <a:picLocks noChangeAspect="1"/>
          </p:cNvPicPr>
          <p:nvPr/>
        </p:nvPicPr>
        <p:blipFill>
          <a:blip r:embed="rId4"/>
          <a:stretch>
            <a:fillRect/>
          </a:stretch>
        </p:blipFill>
        <p:spPr>
          <a:xfrm>
            <a:off x="8439912" y="1764792"/>
            <a:ext cx="182880" cy="182880"/>
          </a:xfrm>
          <a:prstGeom prst="rect">
            <a:avLst/>
          </a:prstGeom>
        </p:spPr>
      </p:pic>
      <p:sp>
        <p:nvSpPr>
          <p:cNvPr id="19" name="Text 13"/>
          <p:cNvSpPr txBox="1"/>
          <p:nvPr/>
        </p:nvSpPr>
        <p:spPr>
          <a:xfrm>
            <a:off x="8412480" y="1664208"/>
            <a:ext cx="3090672" cy="713232"/>
          </a:xfrm>
          <a:prstGeom prst="rect">
            <a:avLst/>
          </a:prstGeom>
          <a:noFill/>
          <a:ln/>
        </p:spPr>
        <p:txBody>
          <a:bodyPr wrap="square" lIns="0" tIns="0" rIns="0" bIns="0" rtlCol="0" anchor="ctr"/>
          <a:lstStyle/>
          <a:p>
            <a:pPr algn="ctr" indent="0" marL="0">
              <a:lnSpc>
                <a:spcPct val="104000"/>
              </a:lnSpc>
              <a:buNone/>
            </a:pPr>
            <a:r>
              <a:rPr lang="en-US" sz="700" b="1" spc="110" kern="0" dirty="0">
                <a:solidFill>
                  <a:srgbClr val="108494"/>
                </a:solidFill>
                <a:latin typeface="Calibri" pitchFamily="34" charset="0"/>
                <a:ea typeface="Calibri" pitchFamily="34" charset="-122"/>
                <a:cs typeface="Calibri" pitchFamily="34" charset="-120"/>
              </a:rPr>
              <a:t>DETERMINISTIC</a:t>
            </a:r>
            <a:endParaRPr lang="en-US" sz="700" dirty="0"/>
          </a:p>
          <a:p>
            <a:pPr algn="ctr" indent="0" marL="0">
              <a:lnSpc>
                <a:spcPct val="104000"/>
              </a:lnSpc>
              <a:buNone/>
            </a:pPr>
            <a:r>
              <a:rPr lang="en-US" sz="1050" b="1" dirty="0">
                <a:solidFill>
                  <a:srgbClr val="0A4451"/>
                </a:solidFill>
                <a:latin typeface="Calibri" pitchFamily="34" charset="0"/>
                <a:ea typeface="Calibri" pitchFamily="34" charset="-122"/>
                <a:cs typeface="Calibri" pitchFamily="34" charset="-120"/>
              </a:rPr>
              <a:t>Ordered Python rules</a:t>
            </a:r>
            <a:endParaRPr lang="en-US" sz="700" dirty="0"/>
          </a:p>
          <a:p>
            <a:pPr algn="ctr" indent="0" marL="0">
              <a:lnSpc>
                <a:spcPct val="104000"/>
              </a:lnSpc>
              <a:buNone/>
            </a:pPr>
            <a:r>
              <a:rPr lang="en-US" sz="780" dirty="0">
                <a:solidFill>
                  <a:srgbClr val="0A4451"/>
                </a:solidFill>
                <a:latin typeface="Calibri" pitchFamily="34" charset="0"/>
                <a:ea typeface="Calibri" pitchFamily="34" charset="-122"/>
                <a:cs typeface="Calibri" pitchFamily="34" charset="-120"/>
              </a:rPr>
              <a:t>evaluated against the extracted figures</a:t>
            </a:r>
            <a:endParaRPr lang="en-US" sz="700" dirty="0"/>
          </a:p>
        </p:txBody>
      </p:sp>
      <p:sp>
        <p:nvSpPr>
          <p:cNvPr id="20" name="Shape 14"/>
          <p:cNvSpPr/>
          <p:nvPr/>
        </p:nvSpPr>
        <p:spPr>
          <a:xfrm>
            <a:off x="8321040" y="2944368"/>
            <a:ext cx="3273552" cy="713232"/>
          </a:xfrm>
          <a:prstGeom prst="roundRect">
            <a:avLst>
              <a:gd name="adj" fmla="val 12821"/>
            </a:avLst>
          </a:prstGeom>
          <a:solidFill>
            <a:srgbClr val="EBE5FC"/>
          </a:solidFill>
          <a:ln w="15875">
            <a:solidFill>
              <a:srgbClr val="6D4DD1"/>
            </a:solidFill>
            <a:prstDash val="solid"/>
          </a:ln>
          <a:effectLst>
            <a:outerShdw sx="100000" sy="100000" kx="0" ky="0" algn="bl" rotWithShape="0" blurRad="101600" dist="19050" dir="5400000">
              <a:srgbClr val="9FB0C2">
                <a:alpha val="24000"/>
              </a:srgbClr>
            </a:outerShdw>
          </a:effectLst>
        </p:spPr>
      </p:sp>
      <p:pic>
        <p:nvPicPr>
          <p:cNvPr id="21" name="Image 4" descr="preencoded.png">    </p:cNvPr>
          <p:cNvPicPr>
            <a:picLocks noChangeAspect="1"/>
          </p:cNvPicPr>
          <p:nvPr/>
        </p:nvPicPr>
        <p:blipFill>
          <a:blip r:embed="rId5"/>
          <a:stretch>
            <a:fillRect/>
          </a:stretch>
        </p:blipFill>
        <p:spPr>
          <a:xfrm>
            <a:off x="8439912" y="3044952"/>
            <a:ext cx="182880" cy="182880"/>
          </a:xfrm>
          <a:prstGeom prst="rect">
            <a:avLst/>
          </a:prstGeom>
        </p:spPr>
      </p:pic>
      <p:sp>
        <p:nvSpPr>
          <p:cNvPr id="22" name="Text 15"/>
          <p:cNvSpPr txBox="1"/>
          <p:nvPr/>
        </p:nvSpPr>
        <p:spPr>
          <a:xfrm>
            <a:off x="8412480" y="2944368"/>
            <a:ext cx="3090672" cy="713232"/>
          </a:xfrm>
          <a:prstGeom prst="rect">
            <a:avLst/>
          </a:prstGeom>
          <a:noFill/>
          <a:ln/>
        </p:spPr>
        <p:txBody>
          <a:bodyPr wrap="square" lIns="0" tIns="0" rIns="0" bIns="0" rtlCol="0" anchor="ctr"/>
          <a:lstStyle/>
          <a:p>
            <a:pPr algn="ctr" indent="0" marL="0">
              <a:lnSpc>
                <a:spcPct val="104000"/>
              </a:lnSpc>
              <a:buNone/>
            </a:pPr>
            <a:r>
              <a:rPr lang="en-US" sz="700" b="1" spc="110" kern="0" dirty="0">
                <a:solidFill>
                  <a:srgbClr val="6D4DD1"/>
                </a:solidFill>
                <a:latin typeface="Calibri" pitchFamily="34" charset="0"/>
                <a:ea typeface="Calibri" pitchFamily="34" charset="-122"/>
                <a:cs typeface="Calibri" pitchFamily="34" charset="-120"/>
              </a:rPr>
              <a:t>FALL-THROUGH</a:t>
            </a:r>
            <a:endParaRPr lang="en-US" sz="700" dirty="0"/>
          </a:p>
          <a:p>
            <a:pPr algn="ctr" indent="0" marL="0">
              <a:lnSpc>
                <a:spcPct val="104000"/>
              </a:lnSpc>
              <a:buNone/>
            </a:pPr>
            <a:r>
              <a:rPr lang="en-US" sz="1050" b="1" dirty="0">
                <a:solidFill>
                  <a:srgbClr val="35236E"/>
                </a:solidFill>
                <a:latin typeface="Calibri" pitchFamily="34" charset="0"/>
                <a:ea typeface="Calibri" pitchFamily="34" charset="-122"/>
                <a:cs typeface="Calibri" pitchFamily="34" charset="-120"/>
              </a:rPr>
              <a:t>One policy judgment call</a:t>
            </a:r>
            <a:endParaRPr lang="en-US" sz="700" dirty="0"/>
          </a:p>
          <a:p>
            <a:pPr algn="ctr" indent="0" marL="0">
              <a:lnSpc>
                <a:spcPct val="104000"/>
              </a:lnSpc>
              <a:buNone/>
            </a:pPr>
            <a:r>
              <a:rPr lang="en-US" sz="780" dirty="0">
                <a:solidFill>
                  <a:srgbClr val="35236E"/>
                </a:solidFill>
                <a:latin typeface="Calibri" pitchFamily="34" charset="0"/>
                <a:ea typeface="Calibri" pitchFamily="34" charset="-122"/>
                <a:cs typeface="Calibri" pitchFamily="34" charset="-120"/>
              </a:rPr>
              <a:t>must return a cited rationale</a:t>
            </a:r>
            <a:endParaRPr lang="en-US" sz="700" dirty="0"/>
          </a:p>
        </p:txBody>
      </p:sp>
      <p:sp>
        <p:nvSpPr>
          <p:cNvPr id="23" name="Shape 16"/>
          <p:cNvSpPr/>
          <p:nvPr/>
        </p:nvSpPr>
        <p:spPr>
          <a:xfrm flipV="1">
            <a:off x="7818120" y="2103120"/>
            <a:ext cx="448056" cy="365760"/>
          </a:xfrm>
          <a:prstGeom prst="line">
            <a:avLst/>
          </a:prstGeom>
          <a:noFill/>
          <a:ln w="17780">
            <a:solidFill>
              <a:srgbClr val="108494"/>
            </a:solidFill>
            <a:prstDash val="solid"/>
            <a:headEnd type="none"/>
            <a:tailEnd type="triangle"/>
          </a:ln>
        </p:spPr>
      </p:sp>
      <p:sp>
        <p:nvSpPr>
          <p:cNvPr id="24" name="Shape 17"/>
          <p:cNvSpPr/>
          <p:nvPr/>
        </p:nvSpPr>
        <p:spPr>
          <a:xfrm>
            <a:off x="7818120" y="2834640"/>
            <a:ext cx="448056" cy="457200"/>
          </a:xfrm>
          <a:prstGeom prst="line">
            <a:avLst/>
          </a:prstGeom>
          <a:noFill/>
          <a:ln w="17780">
            <a:solidFill>
              <a:srgbClr val="6D4DD1"/>
            </a:solidFill>
            <a:prstDash val="solid"/>
            <a:headEnd type="none"/>
            <a:tailEnd type="triangle"/>
          </a:ln>
        </p:spPr>
      </p:sp>
      <p:sp>
        <p:nvSpPr>
          <p:cNvPr id="25" name="Text 18"/>
          <p:cNvSpPr txBox="1"/>
          <p:nvPr/>
        </p:nvSpPr>
        <p:spPr>
          <a:xfrm>
            <a:off x="7863840" y="2157984"/>
            <a:ext cx="457200" cy="182880"/>
          </a:xfrm>
          <a:prstGeom prst="rect">
            <a:avLst/>
          </a:prstGeom>
          <a:noFill/>
          <a:ln/>
        </p:spPr>
        <p:txBody>
          <a:bodyPr wrap="square" lIns="0" tIns="0" rIns="0" bIns="0" rtlCol="0" anchor="ctr"/>
          <a:lstStyle/>
          <a:p>
            <a:pPr algn="ctr" indent="0" marL="0">
              <a:buNone/>
            </a:pPr>
            <a:r>
              <a:rPr lang="en-US" sz="800" i="1" dirty="0">
                <a:solidFill>
                  <a:srgbClr val="108494"/>
                </a:solidFill>
                <a:latin typeface="Calibri" pitchFamily="34" charset="0"/>
                <a:ea typeface="Calibri" pitchFamily="34" charset="-122"/>
                <a:cs typeface="Calibri" pitchFamily="34" charset="-120"/>
              </a:rPr>
              <a:t>yes</a:t>
            </a:r>
            <a:endParaRPr lang="en-US" sz="800" dirty="0"/>
          </a:p>
        </p:txBody>
      </p:sp>
      <p:sp>
        <p:nvSpPr>
          <p:cNvPr id="26" name="Text 19"/>
          <p:cNvSpPr txBox="1"/>
          <p:nvPr/>
        </p:nvSpPr>
        <p:spPr>
          <a:xfrm>
            <a:off x="7863840" y="3310128"/>
            <a:ext cx="457200" cy="182880"/>
          </a:xfrm>
          <a:prstGeom prst="rect">
            <a:avLst/>
          </a:prstGeom>
          <a:noFill/>
          <a:ln/>
        </p:spPr>
        <p:txBody>
          <a:bodyPr wrap="square" lIns="0" tIns="0" rIns="0" bIns="0" rtlCol="0" anchor="ctr"/>
          <a:lstStyle/>
          <a:p>
            <a:pPr algn="ctr" indent="0" marL="0">
              <a:buNone/>
            </a:pPr>
            <a:r>
              <a:rPr lang="en-US" sz="800" i="1" dirty="0">
                <a:solidFill>
                  <a:srgbClr val="6D4DD1"/>
                </a:solidFill>
                <a:latin typeface="Calibri" pitchFamily="34" charset="0"/>
                <a:ea typeface="Calibri" pitchFamily="34" charset="-122"/>
                <a:cs typeface="Calibri" pitchFamily="34" charset="-120"/>
              </a:rPr>
              <a:t>no</a:t>
            </a:r>
            <a:endParaRPr lang="en-US" sz="800" dirty="0"/>
          </a:p>
        </p:txBody>
      </p:sp>
      <p:sp>
        <p:nvSpPr>
          <p:cNvPr id="27" name="Shape 20"/>
          <p:cNvSpPr/>
          <p:nvPr/>
        </p:nvSpPr>
        <p:spPr>
          <a:xfrm>
            <a:off x="5577840" y="3977640"/>
            <a:ext cx="6016752" cy="658368"/>
          </a:xfrm>
          <a:prstGeom prst="roundRect">
            <a:avLst>
              <a:gd name="adj" fmla="val 13889"/>
            </a:avLst>
          </a:prstGeom>
          <a:solidFill>
            <a:srgbClr val="FCEDD4"/>
          </a:solidFill>
          <a:ln w="15875">
            <a:solidFill>
              <a:srgbClr val="C9871B"/>
            </a:solidFill>
            <a:prstDash val="solid"/>
          </a:ln>
          <a:effectLst>
            <a:outerShdw sx="100000" sy="100000" kx="0" ky="0" algn="bl" rotWithShape="0" blurRad="101600" dist="19050" dir="5400000">
              <a:srgbClr val="9FB0C2">
                <a:alpha val="24000"/>
              </a:srgbClr>
            </a:outerShdw>
          </a:effectLst>
        </p:spPr>
      </p:sp>
      <p:pic>
        <p:nvPicPr>
          <p:cNvPr id="28" name="Image 5" descr="preencoded.png">    </p:cNvPr>
          <p:cNvPicPr>
            <a:picLocks noChangeAspect="1"/>
          </p:cNvPicPr>
          <p:nvPr/>
        </p:nvPicPr>
        <p:blipFill>
          <a:blip r:embed="rId6"/>
          <a:stretch>
            <a:fillRect/>
          </a:stretch>
        </p:blipFill>
        <p:spPr>
          <a:xfrm>
            <a:off x="5696712" y="4078224"/>
            <a:ext cx="182880" cy="182880"/>
          </a:xfrm>
          <a:prstGeom prst="rect">
            <a:avLst/>
          </a:prstGeom>
        </p:spPr>
      </p:pic>
      <p:sp>
        <p:nvSpPr>
          <p:cNvPr id="29" name="Text 21"/>
          <p:cNvSpPr txBox="1"/>
          <p:nvPr/>
        </p:nvSpPr>
        <p:spPr>
          <a:xfrm>
            <a:off x="5669280" y="3977640"/>
            <a:ext cx="5833872" cy="658368"/>
          </a:xfrm>
          <a:prstGeom prst="rect">
            <a:avLst/>
          </a:prstGeom>
          <a:noFill/>
          <a:ln/>
        </p:spPr>
        <p:txBody>
          <a:bodyPr wrap="square" lIns="0" tIns="0" rIns="0" bIns="0" rtlCol="0" anchor="ctr"/>
          <a:lstStyle/>
          <a:p>
            <a:pPr algn="ctr" indent="0" marL="0">
              <a:lnSpc>
                <a:spcPct val="104000"/>
              </a:lnSpc>
              <a:buNone/>
            </a:pPr>
            <a:r>
              <a:rPr lang="en-US" sz="1050" b="1" dirty="0">
                <a:solidFill>
                  <a:srgbClr val="64430A"/>
                </a:solidFill>
                <a:latin typeface="Calibri" pitchFamily="34" charset="0"/>
                <a:ea typeface="Calibri" pitchFamily="34" charset="-122"/>
                <a:cs typeface="Calibri" pitchFamily="34" charset="-120"/>
              </a:rPr>
              <a:t>Engagement-alignment cross-check</a:t>
            </a:r>
            <a:endParaRPr lang="en-US" sz="1050" dirty="0"/>
          </a:p>
          <a:p>
            <a:pPr algn="ctr" indent="0" marL="0">
              <a:lnSpc>
                <a:spcPct val="104000"/>
              </a:lnSpc>
              <a:buNone/>
            </a:pPr>
            <a:r>
              <a:rPr lang="en-US" sz="800" dirty="0">
                <a:solidFill>
                  <a:srgbClr val="64430A"/>
                </a:solidFill>
                <a:latin typeface="Calibri" pitchFamily="34" charset="0"/>
                <a:ea typeface="Calibri" pitchFamily="34" charset="-122"/>
                <a:cs typeface="Calibri" pitchFamily="34" charset="-120"/>
              </a:rPr>
              <a:t>contradicting an escalation, or not backing the fund's own resolution, raises a flag with a readable note</a:t>
            </a:r>
            <a:endParaRPr lang="en-US" sz="1050" dirty="0"/>
          </a:p>
        </p:txBody>
      </p:sp>
      <p:sp>
        <p:nvSpPr>
          <p:cNvPr id="30" name="Shape 22"/>
          <p:cNvSpPr/>
          <p:nvPr/>
        </p:nvSpPr>
        <p:spPr>
          <a:xfrm>
            <a:off x="9957816" y="3694176"/>
            <a:ext cx="0" cy="246888"/>
          </a:xfrm>
          <a:prstGeom prst="line">
            <a:avLst/>
          </a:prstGeom>
          <a:noFill/>
          <a:ln w="17780">
            <a:solidFill>
              <a:srgbClr val="64798F"/>
            </a:solidFill>
            <a:prstDash val="solid"/>
            <a:headEnd type="none"/>
            <a:tailEnd type="triangle"/>
          </a:ln>
        </p:spPr>
      </p:sp>
      <p:sp>
        <p:nvSpPr>
          <p:cNvPr id="31" name="Shape 23"/>
          <p:cNvSpPr/>
          <p:nvPr/>
        </p:nvSpPr>
        <p:spPr>
          <a:xfrm>
            <a:off x="2971800" y="3977640"/>
            <a:ext cx="2103120" cy="658368"/>
          </a:xfrm>
          <a:prstGeom prst="roundRect">
            <a:avLst>
              <a:gd name="adj" fmla="val 13889"/>
            </a:avLst>
          </a:prstGeom>
          <a:solidFill>
            <a:srgbClr val="FBE2E8"/>
          </a:solidFill>
          <a:ln w="15875">
            <a:solidFill>
              <a:srgbClr val="CE3D64"/>
            </a:solidFill>
            <a:prstDash val="solid"/>
          </a:ln>
          <a:effectLst>
            <a:outerShdw sx="100000" sy="100000" kx="0" ky="0" algn="bl" rotWithShape="0" blurRad="101600" dist="19050" dir="5400000">
              <a:srgbClr val="9FB0C2">
                <a:alpha val="24000"/>
              </a:srgbClr>
            </a:outerShdw>
          </a:effectLst>
        </p:spPr>
      </p:sp>
      <p:pic>
        <p:nvPicPr>
          <p:cNvPr id="32" name="Image 6" descr="preencoded.png">    </p:cNvPr>
          <p:cNvPicPr>
            <a:picLocks noChangeAspect="1"/>
          </p:cNvPicPr>
          <p:nvPr/>
        </p:nvPicPr>
        <p:blipFill>
          <a:blip r:embed="rId7"/>
          <a:stretch>
            <a:fillRect/>
          </a:stretch>
        </p:blipFill>
        <p:spPr>
          <a:xfrm>
            <a:off x="3090672" y="4078224"/>
            <a:ext cx="182880" cy="182880"/>
          </a:xfrm>
          <a:prstGeom prst="rect">
            <a:avLst/>
          </a:prstGeom>
        </p:spPr>
      </p:pic>
      <p:sp>
        <p:nvSpPr>
          <p:cNvPr id="33" name="Text 24"/>
          <p:cNvSpPr txBox="1"/>
          <p:nvPr/>
        </p:nvSpPr>
        <p:spPr>
          <a:xfrm>
            <a:off x="3063240" y="3977640"/>
            <a:ext cx="1920240" cy="658368"/>
          </a:xfrm>
          <a:prstGeom prst="rect">
            <a:avLst/>
          </a:prstGeom>
          <a:noFill/>
          <a:ln/>
        </p:spPr>
        <p:txBody>
          <a:bodyPr wrap="square" lIns="0" tIns="0" rIns="0" bIns="0" rtlCol="0" anchor="ctr"/>
          <a:lstStyle/>
          <a:p>
            <a:pPr algn="ctr" indent="0" marL="0">
              <a:lnSpc>
                <a:spcPct val="104000"/>
              </a:lnSpc>
              <a:buNone/>
            </a:pPr>
            <a:r>
              <a:rPr lang="en-US" sz="700" b="1" spc="110" kern="0" dirty="0">
                <a:solidFill>
                  <a:srgbClr val="CE3D64"/>
                </a:solidFill>
                <a:latin typeface="Calibri" pitchFamily="34" charset="0"/>
                <a:ea typeface="Calibri" pitchFamily="34" charset="-122"/>
                <a:cs typeface="Calibri" pitchFamily="34" charset="-120"/>
              </a:rPr>
              <a:t>NO EXCEPTIONS</a:t>
            </a:r>
            <a:endParaRPr lang="en-US" sz="700" dirty="0"/>
          </a:p>
          <a:p>
            <a:pPr algn="ctr" indent="0" marL="0">
              <a:lnSpc>
                <a:spcPct val="104000"/>
              </a:lnSpc>
              <a:buNone/>
            </a:pPr>
            <a:r>
              <a:rPr lang="en-US" sz="1050" b="1" dirty="0">
                <a:solidFill>
                  <a:srgbClr val="68182F"/>
                </a:solidFill>
                <a:latin typeface="Calibri" pitchFamily="34" charset="0"/>
                <a:ea typeface="Calibri" pitchFamily="34" charset="-122"/>
                <a:cs typeface="Calibri" pitchFamily="34" charset="-120"/>
              </a:rPr>
              <a:t>Human decision</a:t>
            </a:r>
            <a:endParaRPr lang="en-US" sz="700" dirty="0"/>
          </a:p>
          <a:p>
            <a:pPr algn="ctr" indent="0" marL="0">
              <a:lnSpc>
                <a:spcPct val="104000"/>
              </a:lnSpc>
              <a:buNone/>
            </a:pPr>
            <a:r>
              <a:rPr lang="en-US" sz="780" dirty="0">
                <a:solidFill>
                  <a:srgbClr val="68182F"/>
                </a:solidFill>
                <a:latin typeface="Calibri" pitchFamily="34" charset="0"/>
                <a:ea typeface="Calibri" pitchFamily="34" charset="-122"/>
                <a:cs typeface="Calibri" pitchFamily="34" charset="-120"/>
              </a:rPr>
              <a:t>every single proposal</a:t>
            </a:r>
            <a:endParaRPr lang="en-US" sz="700" dirty="0"/>
          </a:p>
        </p:txBody>
      </p:sp>
      <p:sp>
        <p:nvSpPr>
          <p:cNvPr id="34" name="Shape 25"/>
          <p:cNvSpPr/>
          <p:nvPr/>
        </p:nvSpPr>
        <p:spPr>
          <a:xfrm flipH="1">
            <a:off x="5120640" y="4306824"/>
            <a:ext cx="411480" cy="0"/>
          </a:xfrm>
          <a:prstGeom prst="line">
            <a:avLst/>
          </a:prstGeom>
          <a:noFill/>
          <a:ln w="19050">
            <a:solidFill>
              <a:srgbClr val="CE3D64"/>
            </a:solidFill>
            <a:prstDash val="solid"/>
            <a:headEnd type="none"/>
            <a:tailEnd type="triangle"/>
          </a:ln>
        </p:spPr>
      </p:sp>
      <p:sp>
        <p:nvSpPr>
          <p:cNvPr id="35" name="Shape 26"/>
          <p:cNvSpPr/>
          <p:nvPr/>
        </p:nvSpPr>
        <p:spPr>
          <a:xfrm>
            <a:off x="594360" y="3977640"/>
            <a:ext cx="2011680" cy="658368"/>
          </a:xfrm>
          <a:prstGeom prst="roundRect">
            <a:avLst>
              <a:gd name="adj" fmla="val 13889"/>
            </a:avLst>
          </a:prstGeom>
          <a:solidFill>
            <a:srgbClr val="E0F3E3"/>
          </a:solidFill>
          <a:ln w="15875">
            <a:solidFill>
              <a:srgbClr val="2F8F48"/>
            </a:solidFill>
            <a:prstDash val="solid"/>
          </a:ln>
          <a:effectLst>
            <a:outerShdw sx="100000" sy="100000" kx="0" ky="0" algn="bl" rotWithShape="0" blurRad="101600" dist="19050" dir="5400000">
              <a:srgbClr val="9FB0C2">
                <a:alpha val="24000"/>
              </a:srgbClr>
            </a:outerShdw>
          </a:effectLst>
        </p:spPr>
      </p:sp>
      <p:pic>
        <p:nvPicPr>
          <p:cNvPr id="36" name="Image 7" descr="preencoded.png">    </p:cNvPr>
          <p:cNvPicPr>
            <a:picLocks noChangeAspect="1"/>
          </p:cNvPicPr>
          <p:nvPr/>
        </p:nvPicPr>
        <p:blipFill>
          <a:blip r:embed="rId8"/>
          <a:stretch>
            <a:fillRect/>
          </a:stretch>
        </p:blipFill>
        <p:spPr>
          <a:xfrm>
            <a:off x="713232" y="4078224"/>
            <a:ext cx="182880" cy="182880"/>
          </a:xfrm>
          <a:prstGeom prst="rect">
            <a:avLst/>
          </a:prstGeom>
        </p:spPr>
      </p:pic>
      <p:sp>
        <p:nvSpPr>
          <p:cNvPr id="37" name="Text 27"/>
          <p:cNvSpPr txBox="1"/>
          <p:nvPr/>
        </p:nvSpPr>
        <p:spPr>
          <a:xfrm>
            <a:off x="685800" y="3977640"/>
            <a:ext cx="1828800" cy="658368"/>
          </a:xfrm>
          <a:prstGeom prst="rect">
            <a:avLst/>
          </a:prstGeom>
          <a:noFill/>
          <a:ln/>
        </p:spPr>
        <p:txBody>
          <a:bodyPr wrap="square" lIns="0" tIns="0" rIns="0" bIns="0" rtlCol="0" anchor="ctr"/>
          <a:lstStyle/>
          <a:p>
            <a:pPr algn="ctr" indent="0" marL="0">
              <a:lnSpc>
                <a:spcPct val="104000"/>
              </a:lnSpc>
              <a:buNone/>
            </a:pPr>
            <a:r>
              <a:rPr lang="en-US" sz="1050" b="1" dirty="0">
                <a:solidFill>
                  <a:srgbClr val="17431F"/>
                </a:solidFill>
                <a:latin typeface="Calibri" pitchFamily="34" charset="0"/>
                <a:ea typeface="Calibri" pitchFamily="34" charset="-122"/>
                <a:cs typeface="Calibri" pitchFamily="34" charset="-120"/>
              </a:rPr>
              <a:t>Cast</a:t>
            </a:r>
            <a:endParaRPr lang="en-US" sz="1050" dirty="0"/>
          </a:p>
          <a:p>
            <a:pPr algn="ctr" indent="0" marL="0">
              <a:lnSpc>
                <a:spcPct val="104000"/>
              </a:lnSpc>
              <a:buNone/>
            </a:pPr>
            <a:r>
              <a:rPr lang="en-US" sz="800" dirty="0">
                <a:solidFill>
                  <a:srgbClr val="17431F"/>
                </a:solidFill>
                <a:latin typeface="Calibri" pitchFamily="34" charset="0"/>
                <a:ea typeface="Calibri" pitchFamily="34" charset="-122"/>
                <a:cs typeface="Calibri" pitchFamily="34" charset="-120"/>
              </a:rPr>
              <a:t>idempotent, checkpointed</a:t>
            </a:r>
            <a:endParaRPr lang="en-US" sz="1050" dirty="0"/>
          </a:p>
        </p:txBody>
      </p:sp>
      <p:sp>
        <p:nvSpPr>
          <p:cNvPr id="38" name="Shape 28"/>
          <p:cNvSpPr/>
          <p:nvPr/>
        </p:nvSpPr>
        <p:spPr>
          <a:xfrm flipH="1">
            <a:off x="2651760" y="4306824"/>
            <a:ext cx="265176" cy="0"/>
          </a:xfrm>
          <a:prstGeom prst="line">
            <a:avLst/>
          </a:prstGeom>
          <a:noFill/>
          <a:ln w="19050">
            <a:solidFill>
              <a:srgbClr val="2F8F48"/>
            </a:solidFill>
            <a:prstDash val="solid"/>
            <a:headEnd type="none"/>
            <a:tailEnd type="triangle"/>
          </a:ln>
        </p:spPr>
      </p:sp>
      <p:sp>
        <p:nvSpPr>
          <p:cNvPr id="39" name="Shape 29"/>
          <p:cNvSpPr/>
          <p:nvPr/>
        </p:nvSpPr>
        <p:spPr>
          <a:xfrm>
            <a:off x="594360" y="4956048"/>
            <a:ext cx="11000232" cy="502920"/>
          </a:xfrm>
          <a:prstGeom prst="roundRect">
            <a:avLst>
              <a:gd name="adj" fmla="val 7273"/>
            </a:avLst>
          </a:prstGeom>
          <a:solidFill>
            <a:srgbClr val="FBDEE5"/>
          </a:solidFill>
          <a:ln w="15875">
            <a:solidFill>
              <a:srgbClr val="D6486E"/>
            </a:solidFill>
            <a:prstDash val="solid"/>
          </a:ln>
        </p:spPr>
      </p:sp>
      <p:sp>
        <p:nvSpPr>
          <p:cNvPr id="40" name="Text 30"/>
          <p:cNvSpPr txBox="1"/>
          <p:nvPr/>
        </p:nvSpPr>
        <p:spPr>
          <a:xfrm>
            <a:off x="795528" y="4956048"/>
            <a:ext cx="10597896" cy="502920"/>
          </a:xfrm>
          <a:prstGeom prst="rect">
            <a:avLst/>
          </a:prstGeom>
          <a:noFill/>
          <a:ln/>
        </p:spPr>
        <p:txBody>
          <a:bodyPr wrap="square" lIns="0" tIns="0" rIns="0" bIns="0" rtlCol="0" anchor="ctr"/>
          <a:lstStyle/>
          <a:p>
            <a:pPr indent="0" marL="0">
              <a:buNone/>
            </a:pPr>
            <a:r>
              <a:rPr lang="en-US" sz="930" b="1" dirty="0">
                <a:solidFill>
                  <a:srgbClr val="68182F"/>
                </a:solidFill>
                <a:latin typeface="Calibri" pitchFamily="34" charset="0"/>
                <a:ea typeface="Calibri" pitchFamily="34" charset="-122"/>
                <a:cs typeface="Calibri" pitchFamily="34" charset="-120"/>
              </a:rPr>
              <a:t>cast_vote raises outright when human_decision is None  —  </a:t>
            </a:r>
            <a:pPr indent="0" marL="0">
              <a:buNone/>
            </a:pPr>
            <a:r>
              <a:rPr lang="en-US" sz="930" dirty="0">
                <a:solidFill>
                  <a:srgbClr val="6E1B33"/>
                </a:solidFill>
                <a:latin typeface="Calibri" pitchFamily="34" charset="0"/>
                <a:ea typeface="Calibri" pitchFamily="34" charset="-122"/>
                <a:cs typeface="Calibri" pitchFamily="34" charset="-120"/>
              </a:rPr>
              <a:t>an unauthorised vote cannot reach a platform integration regardless of what upstream code does, by construction rather than convention.</a:t>
            </a:r>
            <a:endParaRPr lang="en-US" sz="930" dirty="0"/>
          </a:p>
        </p:txBody>
      </p:sp>
      <p:sp>
        <p:nvSpPr>
          <p:cNvPr id="41" name="Shape 31"/>
          <p:cNvSpPr/>
          <p:nvPr/>
        </p:nvSpPr>
        <p:spPr>
          <a:xfrm>
            <a:off x="594360" y="5577840"/>
            <a:ext cx="11000232" cy="457200"/>
          </a:xfrm>
          <a:prstGeom prst="roundRect">
            <a:avLst>
              <a:gd name="adj" fmla="val 8000"/>
            </a:avLst>
          </a:prstGeom>
          <a:solidFill>
            <a:srgbClr val="F4F7FA"/>
          </a:solidFill>
          <a:ln w="15875">
            <a:solidFill>
              <a:srgbClr val="DDE5ED"/>
            </a:solidFill>
            <a:prstDash val="solid"/>
          </a:ln>
        </p:spPr>
      </p:sp>
      <p:sp>
        <p:nvSpPr>
          <p:cNvPr id="42" name="Text 32"/>
          <p:cNvSpPr txBox="1"/>
          <p:nvPr/>
        </p:nvSpPr>
        <p:spPr>
          <a:xfrm>
            <a:off x="795528" y="5577840"/>
            <a:ext cx="10597896" cy="457200"/>
          </a:xfrm>
          <a:prstGeom prst="rect">
            <a:avLst/>
          </a:prstGeom>
          <a:noFill/>
          <a:ln/>
        </p:spPr>
        <p:txBody>
          <a:bodyPr wrap="square" lIns="0" tIns="0" rIns="0" bIns="0" rtlCol="0" anchor="ctr"/>
          <a:lstStyle/>
          <a:p>
            <a:pPr indent="0" marL="0">
              <a:buNone/>
            </a:pPr>
            <a:r>
              <a:rPr lang="en-US" sz="920" b="1" dirty="0">
                <a:solidFill>
                  <a:srgbClr val="58697A"/>
                </a:solidFill>
                <a:latin typeface="Calibri" pitchFamily="34" charset="0"/>
                <a:ea typeface="Calibri" pitchFamily="34" charset="-122"/>
                <a:cs typeface="Calibri" pitchFamily="34" charset="-120"/>
              </a:rPr>
              <a:t>Known v1 gap:  </a:t>
            </a:r>
            <a:pPr indent="0" marL="0">
              <a:buNone/>
            </a:pPr>
            <a:r>
              <a:rPr lang="en-US" sz="920" dirty="0">
                <a:solidFill>
                  <a:srgbClr val="43566B"/>
                </a:solidFill>
                <a:latin typeface="Calibri" pitchFamily="34" charset="0"/>
                <a:ea typeface="Calibri" pitchFamily="34" charset="-122"/>
                <a:cs typeface="Calibri" pitchFamily="34" charset="-120"/>
              </a:rPr>
              <a:t>no AGM calendar or new-filing trigger yet — a voting run is started explicitly against a supplied universe. Proxy season's scale is already handled by the same resumable batch runner everything else uses.</a:t>
            </a:r>
            <a:endParaRPr lang="en-US" sz="920" dirty="0"/>
          </a:p>
        </p:txBody>
      </p:sp>
      <p:sp>
        <p:nvSpPr>
          <p:cNvPr id="43" name="Shape 33"/>
          <p:cNvSpPr/>
          <p:nvPr/>
        </p:nvSpPr>
        <p:spPr>
          <a:xfrm>
            <a:off x="594360" y="6227064"/>
            <a:ext cx="155448" cy="155448"/>
          </a:xfrm>
          <a:prstGeom prst="roundRect">
            <a:avLst>
              <a:gd name="adj" fmla="val 29412"/>
            </a:avLst>
          </a:prstGeom>
          <a:solidFill>
            <a:srgbClr val="2F6FD0"/>
          </a:solidFill>
          <a:ln/>
        </p:spPr>
      </p:sp>
      <p:sp>
        <p:nvSpPr>
          <p:cNvPr id="44" name="Text 34"/>
          <p:cNvSpPr txBox="1"/>
          <p:nvPr/>
        </p:nvSpPr>
        <p:spPr>
          <a:xfrm>
            <a:off x="813816" y="6199632"/>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source / input</a:t>
            </a:r>
            <a:endParaRPr lang="en-US" sz="880" dirty="0"/>
          </a:p>
        </p:txBody>
      </p:sp>
      <p:sp>
        <p:nvSpPr>
          <p:cNvPr id="45" name="Shape 35"/>
          <p:cNvSpPr/>
          <p:nvPr/>
        </p:nvSpPr>
        <p:spPr>
          <a:xfrm>
            <a:off x="2427732" y="6227064"/>
            <a:ext cx="155448" cy="155448"/>
          </a:xfrm>
          <a:prstGeom prst="roundRect">
            <a:avLst>
              <a:gd name="adj" fmla="val 29412"/>
            </a:avLst>
          </a:prstGeom>
          <a:solidFill>
            <a:srgbClr val="108494"/>
          </a:solidFill>
          <a:ln/>
        </p:spPr>
      </p:sp>
      <p:sp>
        <p:nvSpPr>
          <p:cNvPr id="46" name="Text 36"/>
          <p:cNvSpPr txBox="1"/>
          <p:nvPr/>
        </p:nvSpPr>
        <p:spPr>
          <a:xfrm>
            <a:off x="2647188" y="6199632"/>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deterministic step</a:t>
            </a:r>
            <a:endParaRPr lang="en-US" sz="880" dirty="0"/>
          </a:p>
        </p:txBody>
      </p:sp>
      <p:sp>
        <p:nvSpPr>
          <p:cNvPr id="47" name="Shape 37"/>
          <p:cNvSpPr/>
          <p:nvPr/>
        </p:nvSpPr>
        <p:spPr>
          <a:xfrm>
            <a:off x="4261104" y="6227064"/>
            <a:ext cx="155448" cy="155448"/>
          </a:xfrm>
          <a:prstGeom prst="roundRect">
            <a:avLst>
              <a:gd name="adj" fmla="val 29412"/>
            </a:avLst>
          </a:prstGeom>
          <a:solidFill>
            <a:srgbClr val="6D4DD1"/>
          </a:solidFill>
          <a:ln/>
        </p:spPr>
      </p:sp>
      <p:sp>
        <p:nvSpPr>
          <p:cNvPr id="48" name="Text 38"/>
          <p:cNvSpPr txBox="1"/>
          <p:nvPr/>
        </p:nvSpPr>
        <p:spPr>
          <a:xfrm>
            <a:off x="4480560" y="6199632"/>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LLM agent</a:t>
            </a:r>
            <a:endParaRPr lang="en-US" sz="880" dirty="0"/>
          </a:p>
        </p:txBody>
      </p:sp>
      <p:sp>
        <p:nvSpPr>
          <p:cNvPr id="49" name="Shape 39"/>
          <p:cNvSpPr/>
          <p:nvPr/>
        </p:nvSpPr>
        <p:spPr>
          <a:xfrm>
            <a:off x="6094476" y="6227064"/>
            <a:ext cx="155448" cy="155448"/>
          </a:xfrm>
          <a:prstGeom prst="roundRect">
            <a:avLst>
              <a:gd name="adj" fmla="val 29412"/>
            </a:avLst>
          </a:prstGeom>
          <a:solidFill>
            <a:srgbClr val="C9871B"/>
          </a:solidFill>
          <a:ln/>
        </p:spPr>
      </p:sp>
      <p:sp>
        <p:nvSpPr>
          <p:cNvPr id="50" name="Text 40"/>
          <p:cNvSpPr txBox="1"/>
          <p:nvPr/>
        </p:nvSpPr>
        <p:spPr>
          <a:xfrm>
            <a:off x="6313932" y="6199632"/>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gate or check</a:t>
            </a:r>
            <a:endParaRPr lang="en-US" sz="880" dirty="0"/>
          </a:p>
        </p:txBody>
      </p:sp>
      <p:sp>
        <p:nvSpPr>
          <p:cNvPr id="51" name="Shape 41"/>
          <p:cNvSpPr/>
          <p:nvPr/>
        </p:nvSpPr>
        <p:spPr>
          <a:xfrm>
            <a:off x="7927848" y="6227064"/>
            <a:ext cx="155448" cy="155448"/>
          </a:xfrm>
          <a:prstGeom prst="roundRect">
            <a:avLst>
              <a:gd name="adj" fmla="val 29412"/>
            </a:avLst>
          </a:prstGeom>
          <a:solidFill>
            <a:srgbClr val="CE3D64"/>
          </a:solidFill>
          <a:ln/>
        </p:spPr>
      </p:sp>
      <p:sp>
        <p:nvSpPr>
          <p:cNvPr id="52" name="Text 42"/>
          <p:cNvSpPr txBox="1"/>
          <p:nvPr/>
        </p:nvSpPr>
        <p:spPr>
          <a:xfrm>
            <a:off x="8147304" y="6199632"/>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human decision</a:t>
            </a:r>
            <a:endParaRPr lang="en-US" sz="880" dirty="0"/>
          </a:p>
        </p:txBody>
      </p:sp>
      <p:sp>
        <p:nvSpPr>
          <p:cNvPr id="53" name="Shape 43"/>
          <p:cNvSpPr/>
          <p:nvPr/>
        </p:nvSpPr>
        <p:spPr>
          <a:xfrm>
            <a:off x="9761220" y="6227064"/>
            <a:ext cx="155448" cy="155448"/>
          </a:xfrm>
          <a:prstGeom prst="roundRect">
            <a:avLst>
              <a:gd name="adj" fmla="val 29412"/>
            </a:avLst>
          </a:prstGeom>
          <a:solidFill>
            <a:srgbClr val="2F8F48"/>
          </a:solidFill>
          <a:ln/>
        </p:spPr>
      </p:sp>
      <p:sp>
        <p:nvSpPr>
          <p:cNvPr id="54" name="Text 44"/>
          <p:cNvSpPr txBox="1"/>
          <p:nvPr/>
        </p:nvSpPr>
        <p:spPr>
          <a:xfrm>
            <a:off x="9980676" y="6199632"/>
            <a:ext cx="1559052" cy="219456"/>
          </a:xfrm>
          <a:prstGeom prst="rect">
            <a:avLst/>
          </a:prstGeom>
          <a:noFill/>
          <a:ln/>
        </p:spPr>
        <p:txBody>
          <a:bodyPr wrap="square" lIns="0" tIns="0" rIns="0" bIns="0" rtlCol="0" anchor="ctr"/>
          <a:lstStyle/>
          <a:p>
            <a:pPr indent="0" marL="0">
              <a:buNone/>
            </a:pPr>
            <a:r>
              <a:rPr lang="en-US" sz="880" dirty="0">
                <a:solidFill>
                  <a:srgbClr val="58697A"/>
                </a:solidFill>
                <a:latin typeface="Calibri" pitchFamily="34" charset="0"/>
                <a:ea typeface="Calibri" pitchFamily="34" charset="-122"/>
                <a:cs typeface="Calibri" pitchFamily="34" charset="-120"/>
              </a:rPr>
              <a:t>stored output</a:t>
            </a:r>
            <a:endParaRPr lang="en-US" sz="88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438912"/>
            <a:ext cx="10085832" cy="201168"/>
          </a:xfrm>
          <a:prstGeom prst="rect">
            <a:avLst/>
          </a:prstGeom>
          <a:noFill/>
          <a:ln/>
        </p:spPr>
        <p:txBody>
          <a:bodyPr wrap="square" lIns="0" tIns="0" rIns="0" bIns="0" rtlCol="0" anchor="ctr"/>
          <a:lstStyle/>
          <a:p>
            <a:pPr indent="0" marL="0">
              <a:buNone/>
            </a:pPr>
            <a:r>
              <a:rPr lang="en-US" sz="1050" b="1" spc="200" kern="0" dirty="0">
                <a:solidFill>
                  <a:srgbClr val="108494"/>
                </a:solidFill>
                <a:latin typeface="Calibri" pitchFamily="34" charset="0"/>
                <a:ea typeface="Calibri" pitchFamily="34" charset="-122"/>
                <a:cs typeface="Calibri" pitchFamily="34" charset="-120"/>
              </a:rPr>
              <a:t>10   ·   ARCHITECTURE &amp; PROCESS</a:t>
            </a:r>
            <a:endParaRPr lang="en-US" sz="1050" dirty="0"/>
          </a:p>
        </p:txBody>
      </p:sp>
      <p:sp>
        <p:nvSpPr>
          <p:cNvPr id="3" name="Text 1"/>
          <p:cNvSpPr txBox="1"/>
          <p:nvPr/>
        </p:nvSpPr>
        <p:spPr>
          <a:xfrm>
            <a:off x="594360" y="640080"/>
            <a:ext cx="10085832" cy="484632"/>
          </a:xfrm>
          <a:prstGeom prst="rect">
            <a:avLst/>
          </a:prstGeom>
          <a:noFill/>
          <a:ln/>
        </p:spPr>
        <p:txBody>
          <a:bodyPr wrap="square" lIns="0" tIns="0" rIns="0" bIns="0" rtlCol="0" anchor="ctr"/>
          <a:lstStyle/>
          <a:p>
            <a:pPr indent="0" marL="0">
              <a:buNone/>
            </a:pPr>
            <a:r>
              <a:rPr lang="en-US" sz="3000" b="1" dirty="0">
                <a:solidFill>
                  <a:srgbClr val="10243A"/>
                </a:solidFill>
                <a:latin typeface="Cambria" pitchFamily="34" charset="0"/>
                <a:ea typeface="Cambria" pitchFamily="34" charset="-122"/>
                <a:cs typeface="Cambria" pitchFamily="34" charset="-120"/>
              </a:rPr>
              <a:t>Voting: the gate is a precondition, not a step</a:t>
            </a:r>
            <a:endParaRPr lang="en-US" sz="3000" dirty="0"/>
          </a:p>
        </p:txBody>
      </p:sp>
      <p:sp>
        <p:nvSpPr>
          <p:cNvPr id="4" name="Text 2"/>
          <p:cNvSpPr txBox="1"/>
          <p:nvPr/>
        </p:nvSpPr>
        <p:spPr>
          <a:xfrm>
            <a:off x="594360" y="1143000"/>
            <a:ext cx="9994392" cy="274320"/>
          </a:xfrm>
          <a:prstGeom prst="rect">
            <a:avLst/>
          </a:prstGeom>
          <a:noFill/>
          <a:ln/>
        </p:spPr>
        <p:txBody>
          <a:bodyPr wrap="square" lIns="0" tIns="0" rIns="0" bIns="0" rtlCol="0" anchor="ctr"/>
          <a:lstStyle/>
          <a:p>
            <a:pPr indent="0" marL="0">
              <a:buNone/>
            </a:pPr>
            <a:r>
              <a:rPr lang="en-US" sz="1200" dirty="0">
                <a:solidFill>
                  <a:srgbClr val="58697A"/>
                </a:solidFill>
                <a:latin typeface="Calibri" pitchFamily="34" charset="0"/>
                <a:ea typeface="Calibri" pitchFamily="34" charset="-122"/>
                <a:cs typeface="Calibri" pitchFamily="34" charset="-120"/>
              </a:rPr>
              <a:t>One irreversible action in the whole system — so it is held behind a check that code cannot route around.</a:t>
            </a:r>
            <a:endParaRPr lang="en-US" sz="1200" dirty="0"/>
          </a:p>
        </p:txBody>
      </p:sp>
      <p:sp>
        <p:nvSpPr>
          <p:cNvPr id="5" name="Shape 3"/>
          <p:cNvSpPr/>
          <p:nvPr/>
        </p:nvSpPr>
        <p:spPr>
          <a:xfrm>
            <a:off x="10881360" y="475488"/>
            <a:ext cx="713232" cy="713232"/>
          </a:xfrm>
          <a:prstGeom prst="roundRect">
            <a:avLst>
              <a:gd name="adj" fmla="val 20513"/>
            </a:avLst>
          </a:prstGeom>
          <a:solidFill>
            <a:srgbClr val="10243A"/>
          </a:solidFill>
          <a:ln/>
        </p:spPr>
      </p:sp>
      <p:pic>
        <p:nvPicPr>
          <p:cNvPr id="6" name="Image 0" descr="preencoded.png">    </p:cNvPr>
          <p:cNvPicPr>
            <a:picLocks noChangeAspect="1"/>
          </p:cNvPicPr>
          <p:nvPr/>
        </p:nvPicPr>
        <p:blipFill>
          <a:blip r:embed="rId1"/>
          <a:stretch>
            <a:fillRect/>
          </a:stretch>
        </p:blipFill>
        <p:spPr>
          <a:xfrm>
            <a:off x="11038271" y="632399"/>
            <a:ext cx="399410" cy="399410"/>
          </a:xfrm>
          <a:prstGeom prst="rect">
            <a:avLst/>
          </a:prstGeom>
        </p:spPr>
      </p:pic>
      <p:sp>
        <p:nvSpPr>
          <p:cNvPr id="7" name="Shape 4"/>
          <p:cNvSpPr/>
          <p:nvPr/>
        </p:nvSpPr>
        <p:spPr>
          <a:xfrm>
            <a:off x="594360" y="1572768"/>
            <a:ext cx="1907438" cy="749808"/>
          </a:xfrm>
          <a:prstGeom prst="roundRect">
            <a:avLst>
              <a:gd name="adj" fmla="val 12195"/>
            </a:avLst>
          </a:prstGeom>
          <a:solidFill>
            <a:srgbClr val="E3EDFC"/>
          </a:solidFill>
          <a:ln w="15875">
            <a:solidFill>
              <a:srgbClr val="2F6FD0"/>
            </a:solidFill>
            <a:prstDash val="solid"/>
          </a:ln>
          <a:effectLst>
            <a:outerShdw sx="100000" sy="100000" kx="0" ky="0" algn="bl" rotWithShape="0" blurRad="101600" dist="19050" dir="5400000">
              <a:srgbClr val="9FB0C2">
                <a:alpha val="24000"/>
              </a:srgbClr>
            </a:outerShdw>
          </a:effectLst>
        </p:spPr>
      </p:sp>
      <p:pic>
        <p:nvPicPr>
          <p:cNvPr id="8" name="Image 1" descr="preencoded.png">    </p:cNvPr>
          <p:cNvPicPr>
            <a:picLocks noChangeAspect="1"/>
          </p:cNvPicPr>
          <p:nvPr/>
        </p:nvPicPr>
        <p:blipFill>
          <a:blip r:embed="rId2"/>
          <a:stretch>
            <a:fillRect/>
          </a:stretch>
        </p:blipFill>
        <p:spPr>
          <a:xfrm>
            <a:off x="713232" y="1673352"/>
            <a:ext cx="182880" cy="182880"/>
          </a:xfrm>
          <a:prstGeom prst="rect">
            <a:avLst/>
          </a:prstGeom>
        </p:spPr>
      </p:pic>
      <p:sp>
        <p:nvSpPr>
          <p:cNvPr id="9" name="Text 5"/>
          <p:cNvSpPr txBox="1"/>
          <p:nvPr/>
        </p:nvSpPr>
        <p:spPr>
          <a:xfrm>
            <a:off x="685800" y="1572768"/>
            <a:ext cx="1724558" cy="749808"/>
          </a:xfrm>
          <a:prstGeom prst="rect">
            <a:avLst/>
          </a:prstGeom>
          <a:noFill/>
          <a:ln/>
        </p:spPr>
        <p:txBody>
          <a:bodyPr wrap="square" lIns="0" tIns="0" rIns="0" bIns="0" rtlCol="0" anchor="ctr"/>
          <a:lstStyle/>
          <a:p>
            <a:pPr algn="ctr" indent="0" marL="0">
              <a:lnSpc>
                <a:spcPct val="104000"/>
              </a:lnSpc>
              <a:buNone/>
            </a:pPr>
            <a:r>
              <a:rPr lang="en-US" sz="1050" b="1" dirty="0">
                <a:solidFill>
                  <a:srgbClr val="153A61"/>
                </a:solidFill>
                <a:latin typeface="Calibri" pitchFamily="34" charset="0"/>
                <a:ea typeface="Calibri" pitchFamily="34" charset="-122"/>
                <a:cs typeface="Calibri" pitchFamily="34" charset="-120"/>
              </a:rPr>
              <a:t>Fetch ballots</a:t>
            </a:r>
            <a:endParaRPr lang="en-US" sz="1050" dirty="0"/>
          </a:p>
          <a:p>
            <a:pPr algn="ctr" indent="0" marL="0">
              <a:lnSpc>
                <a:spcPct val="104000"/>
              </a:lnSpc>
              <a:buNone/>
            </a:pPr>
            <a:r>
              <a:rPr lang="en-US" sz="800" dirty="0">
                <a:solidFill>
                  <a:srgbClr val="153A61"/>
                </a:solidFill>
                <a:latin typeface="Calibri" pitchFamily="34" charset="0"/>
                <a:ea typeface="Calibri" pitchFamily="34" charset="-122"/>
                <a:cs typeface="Calibri" pitchFamily="34" charset="-120"/>
              </a:rPr>
              <a:t>DEF-14A docs, same registry</a:t>
            </a:r>
            <a:endParaRPr lang="en-US" sz="1050" dirty="0"/>
          </a:p>
        </p:txBody>
      </p:sp>
      <p:sp>
        <p:nvSpPr>
          <p:cNvPr id="10" name="Shape 6"/>
          <p:cNvSpPr/>
          <p:nvPr/>
        </p:nvSpPr>
        <p:spPr>
          <a:xfrm>
            <a:off x="2556662" y="1947672"/>
            <a:ext cx="256032" cy="0"/>
          </a:xfrm>
          <a:prstGeom prst="line">
            <a:avLst/>
          </a:prstGeom>
          <a:noFill/>
          <a:ln w="21590">
            <a:solidFill>
              <a:srgbClr val="64798F"/>
            </a:solidFill>
            <a:prstDash val="solid"/>
            <a:headEnd type="none"/>
            <a:tailEnd type="triangle"/>
          </a:ln>
        </p:spPr>
      </p:sp>
      <p:sp>
        <p:nvSpPr>
          <p:cNvPr id="11" name="Shape 7"/>
          <p:cNvSpPr/>
          <p:nvPr/>
        </p:nvSpPr>
        <p:spPr>
          <a:xfrm>
            <a:off x="2867558" y="1572768"/>
            <a:ext cx="1907438" cy="749808"/>
          </a:xfrm>
          <a:prstGeom prst="roundRect">
            <a:avLst>
              <a:gd name="adj" fmla="val 12195"/>
            </a:avLst>
          </a:prstGeom>
          <a:solidFill>
            <a:srgbClr val="EBE5FC"/>
          </a:solidFill>
          <a:ln w="15875">
            <a:solidFill>
              <a:srgbClr val="6D4DD1"/>
            </a:solidFill>
            <a:prstDash val="solid"/>
          </a:ln>
          <a:effectLst>
            <a:outerShdw sx="100000" sy="100000" kx="0" ky="0" algn="bl" rotWithShape="0" blurRad="101600" dist="19050" dir="5400000">
              <a:srgbClr val="9FB0C2">
                <a:alpha val="24000"/>
              </a:srgbClr>
            </a:outerShdw>
          </a:effectLst>
        </p:spPr>
      </p:sp>
      <p:pic>
        <p:nvPicPr>
          <p:cNvPr id="12" name="Image 2" descr="preencoded.png">    </p:cNvPr>
          <p:cNvPicPr>
            <a:picLocks noChangeAspect="1"/>
          </p:cNvPicPr>
          <p:nvPr/>
        </p:nvPicPr>
        <p:blipFill>
          <a:blip r:embed="rId3"/>
          <a:stretch>
            <a:fillRect/>
          </a:stretch>
        </p:blipFill>
        <p:spPr>
          <a:xfrm>
            <a:off x="2986430" y="1673352"/>
            <a:ext cx="182880" cy="182880"/>
          </a:xfrm>
          <a:prstGeom prst="rect">
            <a:avLst/>
          </a:prstGeom>
        </p:spPr>
      </p:pic>
      <p:sp>
        <p:nvSpPr>
          <p:cNvPr id="13" name="Text 8"/>
          <p:cNvSpPr txBox="1"/>
          <p:nvPr/>
        </p:nvSpPr>
        <p:spPr>
          <a:xfrm>
            <a:off x="2958998" y="1572768"/>
            <a:ext cx="1724558" cy="749808"/>
          </a:xfrm>
          <a:prstGeom prst="rect">
            <a:avLst/>
          </a:prstGeom>
          <a:noFill/>
          <a:ln/>
        </p:spPr>
        <p:txBody>
          <a:bodyPr wrap="square" lIns="0" tIns="0" rIns="0" bIns="0" rtlCol="0" anchor="ctr"/>
          <a:lstStyle/>
          <a:p>
            <a:pPr algn="ctr" indent="0" marL="0">
              <a:lnSpc>
                <a:spcPct val="104000"/>
              </a:lnSpc>
              <a:buNone/>
            </a:pPr>
            <a:r>
              <a:rPr lang="en-US" sz="1050" b="1" dirty="0">
                <a:solidFill>
                  <a:srgbClr val="35236E"/>
                </a:solidFill>
                <a:latin typeface="Calibri" pitchFamily="34" charset="0"/>
                <a:ea typeface="Calibri" pitchFamily="34" charset="-122"/>
                <a:cs typeface="Calibri" pitchFamily="34" charset="-120"/>
              </a:rPr>
              <a:t>Extract proposals</a:t>
            </a:r>
            <a:endParaRPr lang="en-US" sz="1050" dirty="0"/>
          </a:p>
          <a:p>
            <a:pPr algn="ctr" indent="0" marL="0">
              <a:lnSpc>
                <a:spcPct val="104000"/>
              </a:lnSpc>
              <a:buNone/>
            </a:pPr>
            <a:r>
              <a:rPr lang="en-US" sz="800" dirty="0">
                <a:solidFill>
                  <a:srgbClr val="35236E"/>
                </a:solidFill>
                <a:latin typeface="Calibri" pitchFamily="34" charset="0"/>
                <a:ea typeface="Calibri" pitchFamily="34" charset="-122"/>
                <a:cs typeface="Calibri" pitchFamily="34" charset="-120"/>
              </a:rPr>
              <a:t>one pass — a list task, grounded</a:t>
            </a:r>
            <a:endParaRPr lang="en-US" sz="1050" dirty="0"/>
          </a:p>
        </p:txBody>
      </p:sp>
      <p:sp>
        <p:nvSpPr>
          <p:cNvPr id="14" name="Shape 9"/>
          <p:cNvSpPr/>
          <p:nvPr/>
        </p:nvSpPr>
        <p:spPr>
          <a:xfrm>
            <a:off x="4829861" y="1947672"/>
            <a:ext cx="256032" cy="0"/>
          </a:xfrm>
          <a:prstGeom prst="line">
            <a:avLst/>
          </a:prstGeom>
          <a:noFill/>
          <a:ln w="21590">
            <a:solidFill>
              <a:srgbClr val="64798F"/>
            </a:solidFill>
            <a:prstDash val="solid"/>
            <a:headEnd type="none"/>
            <a:tailEnd type="triangle"/>
          </a:ln>
        </p:spPr>
      </p:sp>
      <p:sp>
        <p:nvSpPr>
          <p:cNvPr id="15" name="Shape 10"/>
          <p:cNvSpPr/>
          <p:nvPr/>
        </p:nvSpPr>
        <p:spPr>
          <a:xfrm>
            <a:off x="5140757" y="1572768"/>
            <a:ext cx="1907438" cy="749808"/>
          </a:xfrm>
          <a:prstGeom prst="roundRect">
            <a:avLst>
              <a:gd name="adj" fmla="val 12195"/>
            </a:avLst>
          </a:prstGeom>
          <a:solidFill>
            <a:srgbClr val="DCF2F4"/>
          </a:solidFill>
          <a:ln w="15875">
            <a:solidFill>
              <a:srgbClr val="108494"/>
            </a:solidFill>
            <a:prstDash val="solid"/>
          </a:ln>
          <a:effectLst>
            <a:outerShdw sx="100000" sy="100000" kx="0" ky="0" algn="bl" rotWithShape="0" blurRad="101600" dist="19050" dir="5400000">
              <a:srgbClr val="9FB0C2">
                <a:alpha val="24000"/>
              </a:srgbClr>
            </a:outerShdw>
          </a:effectLst>
        </p:spPr>
      </p:sp>
      <p:pic>
        <p:nvPicPr>
          <p:cNvPr id="16" name="Image 3" descr="preencoded.png">    </p:cNvPr>
          <p:cNvPicPr>
            <a:picLocks noChangeAspect="1"/>
          </p:cNvPicPr>
          <p:nvPr/>
        </p:nvPicPr>
        <p:blipFill>
          <a:blip r:embed="rId4"/>
          <a:stretch>
            <a:fillRect/>
          </a:stretch>
        </p:blipFill>
        <p:spPr>
          <a:xfrm>
            <a:off x="5259629" y="1673352"/>
            <a:ext cx="182880" cy="182880"/>
          </a:xfrm>
          <a:prstGeom prst="rect">
            <a:avLst/>
          </a:prstGeom>
        </p:spPr>
      </p:pic>
      <p:sp>
        <p:nvSpPr>
          <p:cNvPr id="17" name="Text 11"/>
          <p:cNvSpPr txBox="1"/>
          <p:nvPr/>
        </p:nvSpPr>
        <p:spPr>
          <a:xfrm>
            <a:off x="5232197" y="1572768"/>
            <a:ext cx="1724558" cy="749808"/>
          </a:xfrm>
          <a:prstGeom prst="rect">
            <a:avLst/>
          </a:prstGeom>
          <a:noFill/>
          <a:ln/>
        </p:spPr>
        <p:txBody>
          <a:bodyPr wrap="square" lIns="0" tIns="0" rIns="0" bIns="0" rtlCol="0" anchor="ctr"/>
          <a:lstStyle/>
          <a:p>
            <a:pPr algn="ctr" indent="0" marL="0">
              <a:lnSpc>
                <a:spcPct val="104000"/>
              </a:lnSpc>
              <a:buNone/>
            </a:pPr>
            <a:r>
              <a:rPr lang="en-US" sz="1050" b="1" dirty="0">
                <a:solidFill>
                  <a:srgbClr val="0A4451"/>
                </a:solidFill>
                <a:latin typeface="Calibri" pitchFamily="34" charset="0"/>
                <a:ea typeface="Calibri" pitchFamily="34" charset="-122"/>
                <a:cs typeface="Calibri" pitchFamily="34" charset="-120"/>
              </a:rPr>
              <a:t>Apply rules</a:t>
            </a:r>
            <a:endParaRPr lang="en-US" sz="1050" dirty="0"/>
          </a:p>
          <a:p>
            <a:pPr algn="ctr" indent="0" marL="0">
              <a:lnSpc>
                <a:spcPct val="104000"/>
              </a:lnSpc>
              <a:buNone/>
            </a:pPr>
            <a:r>
              <a:rPr lang="en-US" sz="800" dirty="0">
                <a:solidFill>
                  <a:srgbClr val="0A4451"/>
                </a:solidFill>
                <a:latin typeface="Calibri" pitchFamily="34" charset="0"/>
                <a:ea typeface="Calibri" pitchFamily="34" charset="-122"/>
                <a:cs typeface="Calibri" pitchFamily="34" charset="-120"/>
              </a:rPr>
              <a:t>ordered predicates, first wins</a:t>
            </a:r>
            <a:endParaRPr lang="en-US" sz="1050" dirty="0"/>
          </a:p>
        </p:txBody>
      </p:sp>
      <p:sp>
        <p:nvSpPr>
          <p:cNvPr id="18" name="Shape 12"/>
          <p:cNvSpPr/>
          <p:nvPr/>
        </p:nvSpPr>
        <p:spPr>
          <a:xfrm>
            <a:off x="7103059" y="1947672"/>
            <a:ext cx="256032" cy="0"/>
          </a:xfrm>
          <a:prstGeom prst="line">
            <a:avLst/>
          </a:prstGeom>
          <a:noFill/>
          <a:ln w="21590">
            <a:solidFill>
              <a:srgbClr val="64798F"/>
            </a:solidFill>
            <a:prstDash val="solid"/>
            <a:headEnd type="none"/>
            <a:tailEnd type="triangle"/>
          </a:ln>
        </p:spPr>
      </p:sp>
      <p:sp>
        <p:nvSpPr>
          <p:cNvPr id="19" name="Shape 13"/>
          <p:cNvSpPr/>
          <p:nvPr/>
        </p:nvSpPr>
        <p:spPr>
          <a:xfrm>
            <a:off x="7413955" y="1572768"/>
            <a:ext cx="1907438" cy="749808"/>
          </a:xfrm>
          <a:prstGeom prst="roundRect">
            <a:avLst>
              <a:gd name="adj" fmla="val 12195"/>
            </a:avLst>
          </a:prstGeom>
          <a:solidFill>
            <a:srgbClr val="EBE5FC"/>
          </a:solidFill>
          <a:ln w="15875">
            <a:solidFill>
              <a:srgbClr val="6D4DD1"/>
            </a:solidFill>
            <a:prstDash val="solid"/>
          </a:ln>
          <a:effectLst>
            <a:outerShdw sx="100000" sy="100000" kx="0" ky="0" algn="bl" rotWithShape="0" blurRad="101600" dist="19050" dir="5400000">
              <a:srgbClr val="9FB0C2">
                <a:alpha val="24000"/>
              </a:srgbClr>
            </a:outerShdw>
          </a:effectLst>
        </p:spPr>
      </p:sp>
      <p:pic>
        <p:nvPicPr>
          <p:cNvPr id="20" name="Image 4" descr="preencoded.png">    </p:cNvPr>
          <p:cNvPicPr>
            <a:picLocks noChangeAspect="1"/>
          </p:cNvPicPr>
          <p:nvPr/>
        </p:nvPicPr>
        <p:blipFill>
          <a:blip r:embed="rId5"/>
          <a:stretch>
            <a:fillRect/>
          </a:stretch>
        </p:blipFill>
        <p:spPr>
          <a:xfrm>
            <a:off x="7532827" y="1673352"/>
            <a:ext cx="182880" cy="182880"/>
          </a:xfrm>
          <a:prstGeom prst="rect">
            <a:avLst/>
          </a:prstGeom>
        </p:spPr>
      </p:pic>
      <p:sp>
        <p:nvSpPr>
          <p:cNvPr id="21" name="Text 14"/>
          <p:cNvSpPr txBox="1"/>
          <p:nvPr/>
        </p:nvSpPr>
        <p:spPr>
          <a:xfrm>
            <a:off x="7505395" y="1572768"/>
            <a:ext cx="1724558" cy="749808"/>
          </a:xfrm>
          <a:prstGeom prst="rect">
            <a:avLst/>
          </a:prstGeom>
          <a:noFill/>
          <a:ln/>
        </p:spPr>
        <p:txBody>
          <a:bodyPr wrap="square" lIns="0" tIns="0" rIns="0" bIns="0" rtlCol="0" anchor="ctr"/>
          <a:lstStyle/>
          <a:p>
            <a:pPr algn="ctr" indent="0" marL="0">
              <a:lnSpc>
                <a:spcPct val="104000"/>
              </a:lnSpc>
              <a:buNone/>
            </a:pPr>
            <a:r>
              <a:rPr lang="en-US" sz="1050" b="1" dirty="0">
                <a:solidFill>
                  <a:srgbClr val="35236E"/>
                </a:solidFill>
                <a:latin typeface="Calibri" pitchFamily="34" charset="0"/>
                <a:ea typeface="Calibri" pitchFamily="34" charset="-122"/>
                <a:cs typeface="Calibri" pitchFamily="34" charset="-120"/>
              </a:rPr>
              <a:t>Judge the rest</a:t>
            </a:r>
            <a:endParaRPr lang="en-US" sz="1050" dirty="0"/>
          </a:p>
          <a:p>
            <a:pPr algn="ctr" indent="0" marL="0">
              <a:lnSpc>
                <a:spcPct val="104000"/>
              </a:lnSpc>
              <a:buNone/>
            </a:pPr>
            <a:r>
              <a:rPr lang="en-US" sz="800" dirty="0">
                <a:solidFill>
                  <a:srgbClr val="35236E"/>
                </a:solidFill>
                <a:latin typeface="Calibri" pitchFamily="34" charset="0"/>
                <a:ea typeface="Calibri" pitchFamily="34" charset="-122"/>
                <a:cs typeface="Calibri" pitchFamily="34" charset="-120"/>
              </a:rPr>
              <a:t>one call, cited rationale</a:t>
            </a:r>
            <a:endParaRPr lang="en-US" sz="1050" dirty="0"/>
          </a:p>
        </p:txBody>
      </p:sp>
      <p:sp>
        <p:nvSpPr>
          <p:cNvPr id="22" name="Shape 15"/>
          <p:cNvSpPr/>
          <p:nvPr/>
        </p:nvSpPr>
        <p:spPr>
          <a:xfrm>
            <a:off x="9376258" y="1947672"/>
            <a:ext cx="256032" cy="0"/>
          </a:xfrm>
          <a:prstGeom prst="line">
            <a:avLst/>
          </a:prstGeom>
          <a:noFill/>
          <a:ln w="21590">
            <a:solidFill>
              <a:srgbClr val="64798F"/>
            </a:solidFill>
            <a:prstDash val="solid"/>
            <a:headEnd type="none"/>
            <a:tailEnd type="triangle"/>
          </a:ln>
        </p:spPr>
      </p:sp>
      <p:sp>
        <p:nvSpPr>
          <p:cNvPr id="23" name="Shape 16"/>
          <p:cNvSpPr/>
          <p:nvPr/>
        </p:nvSpPr>
        <p:spPr>
          <a:xfrm>
            <a:off x="9687154" y="1572768"/>
            <a:ext cx="1907438" cy="749808"/>
          </a:xfrm>
          <a:prstGeom prst="roundRect">
            <a:avLst>
              <a:gd name="adj" fmla="val 12195"/>
            </a:avLst>
          </a:prstGeom>
          <a:solidFill>
            <a:srgbClr val="FCEDD4"/>
          </a:solidFill>
          <a:ln w="15875">
            <a:solidFill>
              <a:srgbClr val="C9871B"/>
            </a:solidFill>
            <a:prstDash val="solid"/>
          </a:ln>
          <a:effectLst>
            <a:outerShdw sx="100000" sy="100000" kx="0" ky="0" algn="bl" rotWithShape="0" blurRad="101600" dist="19050" dir="5400000">
              <a:srgbClr val="9FB0C2">
                <a:alpha val="24000"/>
              </a:srgbClr>
            </a:outerShdw>
          </a:effectLst>
        </p:spPr>
      </p:sp>
      <p:pic>
        <p:nvPicPr>
          <p:cNvPr id="24" name="Image 5" descr="preencoded.png">    </p:cNvPr>
          <p:cNvPicPr>
            <a:picLocks noChangeAspect="1"/>
          </p:cNvPicPr>
          <p:nvPr/>
        </p:nvPicPr>
        <p:blipFill>
          <a:blip r:embed="rId6"/>
          <a:stretch>
            <a:fillRect/>
          </a:stretch>
        </p:blipFill>
        <p:spPr>
          <a:xfrm>
            <a:off x="9806026" y="1673352"/>
            <a:ext cx="182880" cy="182880"/>
          </a:xfrm>
          <a:prstGeom prst="rect">
            <a:avLst/>
          </a:prstGeom>
        </p:spPr>
      </p:pic>
      <p:sp>
        <p:nvSpPr>
          <p:cNvPr id="25" name="Text 17"/>
          <p:cNvSpPr txBox="1"/>
          <p:nvPr/>
        </p:nvSpPr>
        <p:spPr>
          <a:xfrm>
            <a:off x="9778594" y="1572768"/>
            <a:ext cx="1724558" cy="749808"/>
          </a:xfrm>
          <a:prstGeom prst="rect">
            <a:avLst/>
          </a:prstGeom>
          <a:noFill/>
          <a:ln/>
        </p:spPr>
        <p:txBody>
          <a:bodyPr wrap="square" lIns="0" tIns="0" rIns="0" bIns="0" rtlCol="0" anchor="ctr"/>
          <a:lstStyle/>
          <a:p>
            <a:pPr algn="ctr" indent="0" marL="0">
              <a:lnSpc>
                <a:spcPct val="104000"/>
              </a:lnSpc>
              <a:buNone/>
            </a:pPr>
            <a:r>
              <a:rPr lang="en-US" sz="1050" b="1" dirty="0">
                <a:solidFill>
                  <a:srgbClr val="64430A"/>
                </a:solidFill>
                <a:latin typeface="Calibri" pitchFamily="34" charset="0"/>
                <a:ea typeface="Calibri" pitchFamily="34" charset="-122"/>
                <a:cs typeface="Calibri" pitchFamily="34" charset="-120"/>
              </a:rPr>
              <a:t>Cross-check</a:t>
            </a:r>
            <a:endParaRPr lang="en-US" sz="1050" dirty="0"/>
          </a:p>
          <a:p>
            <a:pPr algn="ctr" indent="0" marL="0">
              <a:lnSpc>
                <a:spcPct val="104000"/>
              </a:lnSpc>
              <a:buNone/>
            </a:pPr>
            <a:r>
              <a:rPr lang="en-US" sz="800" dirty="0">
                <a:solidFill>
                  <a:srgbClr val="64430A"/>
                </a:solidFill>
                <a:latin typeface="Calibri" pitchFamily="34" charset="0"/>
                <a:ea typeface="Calibri" pitchFamily="34" charset="-122"/>
                <a:cs typeface="Calibri" pitchFamily="34" charset="-120"/>
              </a:rPr>
              <a:t>against the engagement record</a:t>
            </a:r>
            <a:endParaRPr lang="en-US" sz="1050" dirty="0"/>
          </a:p>
        </p:txBody>
      </p:sp>
      <p:sp>
        <p:nvSpPr>
          <p:cNvPr id="26" name="Shape 18"/>
          <p:cNvSpPr/>
          <p:nvPr/>
        </p:nvSpPr>
        <p:spPr>
          <a:xfrm>
            <a:off x="3291840" y="2926080"/>
            <a:ext cx="5577840" cy="685800"/>
          </a:xfrm>
          <a:prstGeom prst="roundRect">
            <a:avLst>
              <a:gd name="adj" fmla="val 13333"/>
            </a:avLst>
          </a:prstGeom>
          <a:solidFill>
            <a:srgbClr val="FBE2E8"/>
          </a:solidFill>
          <a:ln w="15875">
            <a:solidFill>
              <a:srgbClr val="CE3D64"/>
            </a:solidFill>
            <a:prstDash val="solid"/>
          </a:ln>
          <a:effectLst>
            <a:outerShdw sx="100000" sy="100000" kx="0" ky="0" algn="bl" rotWithShape="0" blurRad="101600" dist="19050" dir="5400000">
              <a:srgbClr val="9FB0C2">
                <a:alpha val="24000"/>
              </a:srgbClr>
            </a:outerShdw>
          </a:effectLst>
        </p:spPr>
      </p:sp>
      <p:sp>
        <p:nvSpPr>
          <p:cNvPr id="27" name="Shape 19"/>
          <p:cNvSpPr/>
          <p:nvPr/>
        </p:nvSpPr>
        <p:spPr>
          <a:xfrm>
            <a:off x="3429000" y="3086100"/>
            <a:ext cx="365760" cy="365760"/>
          </a:xfrm>
          <a:prstGeom prst="roundRect">
            <a:avLst>
              <a:gd name="adj" fmla="val 25000"/>
            </a:avLst>
          </a:prstGeom>
          <a:solidFill>
            <a:srgbClr val="CE3D64"/>
          </a:solidFill>
          <a:ln/>
        </p:spPr>
      </p:sp>
      <p:pic>
        <p:nvPicPr>
          <p:cNvPr id="28" name="Image 6" descr="preencoded.png">    </p:cNvPr>
          <p:cNvPicPr>
            <a:picLocks noChangeAspect="1"/>
          </p:cNvPicPr>
          <p:nvPr/>
        </p:nvPicPr>
        <p:blipFill>
          <a:blip r:embed="rId7"/>
          <a:stretch>
            <a:fillRect/>
          </a:stretch>
        </p:blipFill>
        <p:spPr>
          <a:xfrm>
            <a:off x="3509467" y="3166567"/>
            <a:ext cx="204826" cy="204826"/>
          </a:xfrm>
          <a:prstGeom prst="rect">
            <a:avLst/>
          </a:prstGeom>
        </p:spPr>
      </p:pic>
      <p:sp>
        <p:nvSpPr>
          <p:cNvPr id="29" name="Text 20"/>
          <p:cNvSpPr txBox="1"/>
          <p:nvPr/>
        </p:nvSpPr>
        <p:spPr>
          <a:xfrm>
            <a:off x="3931920" y="2926080"/>
            <a:ext cx="4828032" cy="685800"/>
          </a:xfrm>
          <a:prstGeom prst="rect">
            <a:avLst/>
          </a:prstGeom>
          <a:noFill/>
          <a:ln/>
        </p:spPr>
        <p:txBody>
          <a:bodyPr wrap="square" lIns="0" tIns="0" rIns="0" bIns="0" rtlCol="0" anchor="ctr"/>
          <a:lstStyle/>
          <a:p>
            <a:pPr algn="l" indent="0" marL="0">
              <a:lnSpc>
                <a:spcPct val="104000"/>
              </a:lnSpc>
              <a:buNone/>
            </a:pPr>
            <a:r>
              <a:rPr lang="en-US" sz="700" b="1" spc="110" kern="0" dirty="0">
                <a:solidFill>
                  <a:srgbClr val="CE3D64"/>
                </a:solidFill>
                <a:latin typeface="Calibri" pitchFamily="34" charset="0"/>
                <a:ea typeface="Calibri" pitchFamily="34" charset="-122"/>
                <a:cs typeface="Calibri" pitchFamily="34" charset="-120"/>
              </a:rPr>
              <a:t>EVERY PROPOSAL, NO CONFIDENCE THRESHOLD</a:t>
            </a:r>
            <a:endParaRPr lang="en-US" sz="700" dirty="0"/>
          </a:p>
          <a:p>
            <a:pPr algn="l" indent="0" marL="0">
              <a:lnSpc>
                <a:spcPct val="104000"/>
              </a:lnSpc>
              <a:buNone/>
            </a:pPr>
            <a:r>
              <a:rPr lang="en-US" sz="1200" b="1" dirty="0">
                <a:solidFill>
                  <a:srgbClr val="68182F"/>
                </a:solidFill>
                <a:latin typeface="Calibri" pitchFamily="34" charset="0"/>
                <a:ea typeface="Calibri" pitchFamily="34" charset="-122"/>
                <a:cs typeface="Calibri" pitchFamily="34" charset="-120"/>
              </a:rPr>
              <a:t>Human decision — approve or override</a:t>
            </a:r>
            <a:endParaRPr lang="en-US" sz="700" dirty="0"/>
          </a:p>
        </p:txBody>
      </p:sp>
      <p:sp>
        <p:nvSpPr>
          <p:cNvPr id="30" name="Shape 21"/>
          <p:cNvSpPr/>
          <p:nvPr/>
        </p:nvSpPr>
        <p:spPr>
          <a:xfrm>
            <a:off x="10634472" y="2359152"/>
            <a:ext cx="0" cy="310896"/>
          </a:xfrm>
          <a:prstGeom prst="line">
            <a:avLst/>
          </a:prstGeom>
          <a:noFill/>
          <a:ln w="19050">
            <a:solidFill>
              <a:srgbClr val="64798F"/>
            </a:solidFill>
            <a:prstDash val="solid"/>
            <a:headEnd type="none"/>
            <a:tailEnd type="none"/>
          </a:ln>
        </p:spPr>
      </p:sp>
      <p:sp>
        <p:nvSpPr>
          <p:cNvPr id="31" name="Shape 22"/>
          <p:cNvSpPr/>
          <p:nvPr/>
        </p:nvSpPr>
        <p:spPr>
          <a:xfrm flipH="1">
            <a:off x="7315200" y="2670048"/>
            <a:ext cx="3319272" cy="0"/>
          </a:xfrm>
          <a:prstGeom prst="line">
            <a:avLst/>
          </a:prstGeom>
          <a:noFill/>
          <a:ln w="19050">
            <a:solidFill>
              <a:srgbClr val="64798F"/>
            </a:solidFill>
            <a:prstDash val="solid"/>
            <a:headEnd type="none"/>
            <a:tailEnd type="none"/>
          </a:ln>
        </p:spPr>
      </p:sp>
      <p:sp>
        <p:nvSpPr>
          <p:cNvPr id="32" name="Shape 23"/>
          <p:cNvSpPr/>
          <p:nvPr/>
        </p:nvSpPr>
        <p:spPr>
          <a:xfrm>
            <a:off x="7315200" y="2670048"/>
            <a:ext cx="0" cy="219456"/>
          </a:xfrm>
          <a:prstGeom prst="line">
            <a:avLst/>
          </a:prstGeom>
          <a:noFill/>
          <a:ln w="19050">
            <a:solidFill>
              <a:srgbClr val="64798F"/>
            </a:solidFill>
            <a:prstDash val="solid"/>
            <a:headEnd type="none"/>
            <a:tailEnd type="triangle"/>
          </a:ln>
        </p:spPr>
      </p:sp>
      <p:sp>
        <p:nvSpPr>
          <p:cNvPr id="33" name="Shape 24"/>
          <p:cNvSpPr/>
          <p:nvPr/>
        </p:nvSpPr>
        <p:spPr>
          <a:xfrm>
            <a:off x="3291840" y="3977640"/>
            <a:ext cx="2606040" cy="777240"/>
          </a:xfrm>
          <a:prstGeom prst="diamond">
            <a:avLst/>
          </a:prstGeom>
          <a:solidFill>
            <a:srgbClr val="FCEDD4"/>
          </a:solidFill>
          <a:ln w="15875">
            <a:solidFill>
              <a:srgbClr val="C9871B"/>
            </a:solidFill>
            <a:prstDash val="solid"/>
          </a:ln>
        </p:spPr>
      </p:sp>
      <p:sp>
        <p:nvSpPr>
          <p:cNvPr id="34" name="Text 25"/>
          <p:cNvSpPr txBox="1"/>
          <p:nvPr/>
        </p:nvSpPr>
        <p:spPr>
          <a:xfrm>
            <a:off x="3383280" y="3977640"/>
            <a:ext cx="2423160" cy="777240"/>
          </a:xfrm>
          <a:prstGeom prst="rect">
            <a:avLst/>
          </a:prstGeom>
          <a:noFill/>
          <a:ln/>
        </p:spPr>
        <p:txBody>
          <a:bodyPr wrap="square" lIns="0" tIns="0" rIns="0" bIns="0" rtlCol="0" anchor="ctr"/>
          <a:lstStyle/>
          <a:p>
            <a:pPr algn="ctr" indent="0" marL="0">
              <a:lnSpc>
                <a:spcPct val="104000"/>
              </a:lnSpc>
              <a:buNone/>
            </a:pPr>
            <a:r>
              <a:rPr lang="en-US" sz="950" b="1" dirty="0">
                <a:solidFill>
                  <a:srgbClr val="64430A"/>
                </a:solidFill>
                <a:latin typeface="Calibri" pitchFamily="34" charset="0"/>
                <a:ea typeface="Calibri" pitchFamily="34" charset="-122"/>
                <a:cs typeface="Calibri" pitchFamily="34" charset="-120"/>
              </a:rPr>
              <a:t>human_decision present?</a:t>
            </a:r>
            <a:endParaRPr lang="en-US" sz="950" dirty="0"/>
          </a:p>
        </p:txBody>
      </p:sp>
      <p:sp>
        <p:nvSpPr>
          <p:cNvPr id="35" name="Shape 26"/>
          <p:cNvSpPr/>
          <p:nvPr/>
        </p:nvSpPr>
        <p:spPr>
          <a:xfrm>
            <a:off x="4590288" y="3648456"/>
            <a:ext cx="0" cy="292608"/>
          </a:xfrm>
          <a:prstGeom prst="line">
            <a:avLst/>
          </a:prstGeom>
          <a:noFill/>
          <a:ln w="19050">
            <a:solidFill>
              <a:srgbClr val="64798F"/>
            </a:solidFill>
            <a:prstDash val="solid"/>
            <a:headEnd type="none"/>
            <a:tailEnd type="triangle"/>
          </a:ln>
        </p:spPr>
      </p:sp>
      <p:sp>
        <p:nvSpPr>
          <p:cNvPr id="36" name="Shape 27"/>
          <p:cNvSpPr/>
          <p:nvPr/>
        </p:nvSpPr>
        <p:spPr>
          <a:xfrm>
            <a:off x="822960" y="4114800"/>
            <a:ext cx="2148840" cy="502920"/>
          </a:xfrm>
          <a:prstGeom prst="roundRect">
            <a:avLst>
              <a:gd name="adj" fmla="val 18182"/>
            </a:avLst>
          </a:prstGeom>
          <a:solidFill>
            <a:srgbClr val="FBE2E8"/>
          </a:solidFill>
          <a:ln w="15875">
            <a:solidFill>
              <a:srgbClr val="CE3D64"/>
            </a:solidFill>
            <a:prstDash val="solid"/>
          </a:ln>
          <a:effectLst>
            <a:outerShdw sx="100000" sy="100000" kx="0" ky="0" algn="bl" rotWithShape="0" blurRad="101600" dist="19050" dir="5400000">
              <a:srgbClr val="9FB0C2">
                <a:alpha val="24000"/>
              </a:srgbClr>
            </a:outerShdw>
          </a:effectLst>
        </p:spPr>
      </p:sp>
      <p:pic>
        <p:nvPicPr>
          <p:cNvPr id="37" name="Image 7" descr="preencoded.png">    </p:cNvPr>
          <p:cNvPicPr>
            <a:picLocks noChangeAspect="1"/>
          </p:cNvPicPr>
          <p:nvPr/>
        </p:nvPicPr>
        <p:blipFill>
          <a:blip r:embed="rId8"/>
          <a:stretch>
            <a:fillRect/>
          </a:stretch>
        </p:blipFill>
        <p:spPr>
          <a:xfrm>
            <a:off x="941832" y="4215384"/>
            <a:ext cx="146304" cy="146304"/>
          </a:xfrm>
          <a:prstGeom prst="rect">
            <a:avLst/>
          </a:prstGeom>
        </p:spPr>
      </p:pic>
      <p:sp>
        <p:nvSpPr>
          <p:cNvPr id="38" name="Text 28"/>
          <p:cNvSpPr txBox="1"/>
          <p:nvPr/>
        </p:nvSpPr>
        <p:spPr>
          <a:xfrm>
            <a:off x="914400" y="4114800"/>
            <a:ext cx="1965960" cy="502920"/>
          </a:xfrm>
          <a:prstGeom prst="rect">
            <a:avLst/>
          </a:prstGeom>
          <a:noFill/>
          <a:ln/>
        </p:spPr>
        <p:txBody>
          <a:bodyPr wrap="square" lIns="0" tIns="0" rIns="0" bIns="0" rtlCol="0" anchor="ctr"/>
          <a:lstStyle/>
          <a:p>
            <a:pPr algn="ctr" indent="0" marL="0">
              <a:lnSpc>
                <a:spcPct val="104000"/>
              </a:lnSpc>
              <a:buNone/>
            </a:pPr>
            <a:r>
              <a:rPr lang="en-US" sz="1000" b="1" dirty="0">
                <a:solidFill>
                  <a:srgbClr val="68182F"/>
                </a:solidFill>
                <a:latin typeface="Calibri" pitchFamily="34" charset="0"/>
                <a:ea typeface="Calibri" pitchFamily="34" charset="-122"/>
                <a:cs typeface="Calibri" pitchFamily="34" charset="-120"/>
              </a:rPr>
              <a:t>CastVoteError</a:t>
            </a:r>
            <a:endParaRPr lang="en-US" sz="1000" dirty="0"/>
          </a:p>
          <a:p>
            <a:pPr algn="ctr" indent="0" marL="0">
              <a:lnSpc>
                <a:spcPct val="104000"/>
              </a:lnSpc>
              <a:buNone/>
            </a:pPr>
            <a:r>
              <a:rPr lang="en-US" sz="800" dirty="0">
                <a:solidFill>
                  <a:srgbClr val="68182F"/>
                </a:solidFill>
                <a:latin typeface="Calibri" pitchFamily="34" charset="0"/>
                <a:ea typeface="Calibri" pitchFamily="34" charset="-122"/>
                <a:cs typeface="Calibri" pitchFamily="34" charset="-120"/>
              </a:rPr>
              <a:t>nothing is transmitted</a:t>
            </a:r>
            <a:endParaRPr lang="en-US" sz="1000" dirty="0"/>
          </a:p>
        </p:txBody>
      </p:sp>
      <p:sp>
        <p:nvSpPr>
          <p:cNvPr id="39" name="Shape 29"/>
          <p:cNvSpPr/>
          <p:nvPr/>
        </p:nvSpPr>
        <p:spPr>
          <a:xfrm flipH="1">
            <a:off x="3008376" y="4370832"/>
            <a:ext cx="246888" cy="0"/>
          </a:xfrm>
          <a:prstGeom prst="line">
            <a:avLst/>
          </a:prstGeom>
          <a:noFill/>
          <a:ln w="17780">
            <a:solidFill>
              <a:srgbClr val="CE3D64"/>
            </a:solidFill>
            <a:prstDash val="solid"/>
            <a:headEnd type="none"/>
            <a:tailEnd type="triangle"/>
          </a:ln>
        </p:spPr>
      </p:sp>
      <p:sp>
        <p:nvSpPr>
          <p:cNvPr id="40" name="Shape 30"/>
          <p:cNvSpPr/>
          <p:nvPr/>
        </p:nvSpPr>
        <p:spPr>
          <a:xfrm>
            <a:off x="6309360" y="4114800"/>
            <a:ext cx="2377440" cy="502920"/>
          </a:xfrm>
          <a:prstGeom prst="roundRect">
            <a:avLst>
              <a:gd name="adj" fmla="val 18182"/>
            </a:avLst>
          </a:prstGeom>
          <a:solidFill>
            <a:srgbClr val="E0F3E3"/>
          </a:solidFill>
          <a:ln w="15875">
            <a:solidFill>
              <a:srgbClr val="2F8F48"/>
            </a:solidFill>
            <a:prstDash val="solid"/>
          </a:ln>
          <a:effectLst>
            <a:outerShdw sx="100000" sy="100000" kx="0" ky="0" algn="bl" rotWithShape="0" blurRad="101600" dist="19050" dir="5400000">
              <a:srgbClr val="9FB0C2">
                <a:alpha val="24000"/>
              </a:srgbClr>
            </a:outerShdw>
          </a:effectLst>
        </p:spPr>
      </p:sp>
      <p:pic>
        <p:nvPicPr>
          <p:cNvPr id="41" name="Image 8" descr="preencoded.png">    </p:cNvPr>
          <p:cNvPicPr>
            <a:picLocks noChangeAspect="1"/>
          </p:cNvPicPr>
          <p:nvPr/>
        </p:nvPicPr>
        <p:blipFill>
          <a:blip r:embed="rId9"/>
          <a:stretch>
            <a:fillRect/>
          </a:stretch>
        </p:blipFill>
        <p:spPr>
          <a:xfrm>
            <a:off x="6428232" y="4215384"/>
            <a:ext cx="146304" cy="146304"/>
          </a:xfrm>
          <a:prstGeom prst="rect">
            <a:avLst/>
          </a:prstGeom>
        </p:spPr>
      </p:pic>
      <p:sp>
        <p:nvSpPr>
          <p:cNvPr id="42" name="Text 31"/>
          <p:cNvSpPr txBox="1"/>
          <p:nvPr/>
        </p:nvSpPr>
        <p:spPr>
          <a:xfrm>
            <a:off x="6400800" y="4114800"/>
            <a:ext cx="2194560" cy="502920"/>
          </a:xfrm>
          <a:prstGeom prst="rect">
            <a:avLst/>
          </a:prstGeom>
          <a:noFill/>
          <a:ln/>
        </p:spPr>
        <p:txBody>
          <a:bodyPr wrap="square" lIns="0" tIns="0" rIns="0" bIns="0" rtlCol="0" anchor="ctr"/>
          <a:lstStyle/>
          <a:p>
            <a:pPr algn="ctr" indent="0" marL="0">
              <a:lnSpc>
                <a:spcPct val="104000"/>
              </a:lnSpc>
              <a:buNone/>
            </a:pPr>
            <a:r>
              <a:rPr lang="en-US" sz="1000" b="1" dirty="0">
                <a:solidFill>
                  <a:srgbClr val="17431F"/>
                </a:solidFill>
                <a:latin typeface="Calibri" pitchFamily="34" charset="0"/>
                <a:ea typeface="Calibri" pitchFamily="34" charset="-122"/>
                <a:cs typeface="Calibri" pitchFamily="34" charset="-120"/>
              </a:rPr>
              <a:t>Ballot platform</a:t>
            </a:r>
            <a:endParaRPr lang="en-US" sz="1000" dirty="0"/>
          </a:p>
          <a:p>
            <a:pPr algn="ctr" indent="0" marL="0">
              <a:lnSpc>
                <a:spcPct val="104000"/>
              </a:lnSpc>
              <a:buNone/>
            </a:pPr>
            <a:r>
              <a:rPr lang="en-US" sz="760" dirty="0">
                <a:solidFill>
                  <a:srgbClr val="17431F"/>
                </a:solidFill>
                <a:latin typeface="Calibri" pitchFamily="34" charset="0"/>
                <a:ea typeface="Calibri" pitchFamily="34" charset="-122"/>
                <a:cs typeface="Calibri" pitchFamily="34" charset="-120"/>
              </a:rPr>
              <a:t>an interface — today a written instruction file</a:t>
            </a:r>
            <a:endParaRPr lang="en-US" sz="1000" dirty="0"/>
          </a:p>
        </p:txBody>
      </p:sp>
      <p:sp>
        <p:nvSpPr>
          <p:cNvPr id="43" name="Shape 32"/>
          <p:cNvSpPr/>
          <p:nvPr/>
        </p:nvSpPr>
        <p:spPr>
          <a:xfrm>
            <a:off x="5943600" y="4370832"/>
            <a:ext cx="310896" cy="0"/>
          </a:xfrm>
          <a:prstGeom prst="line">
            <a:avLst/>
          </a:prstGeom>
          <a:noFill/>
          <a:ln w="17780">
            <a:solidFill>
              <a:srgbClr val="2F8F48"/>
            </a:solidFill>
            <a:prstDash val="solid"/>
            <a:headEnd type="none"/>
            <a:tailEnd type="triangle"/>
          </a:ln>
        </p:spPr>
      </p:sp>
      <p:sp>
        <p:nvSpPr>
          <p:cNvPr id="44" name="Shape 33"/>
          <p:cNvSpPr/>
          <p:nvPr/>
        </p:nvSpPr>
        <p:spPr>
          <a:xfrm>
            <a:off x="9052560" y="4114800"/>
            <a:ext cx="2542032" cy="502920"/>
          </a:xfrm>
          <a:prstGeom prst="roundRect">
            <a:avLst>
              <a:gd name="adj" fmla="val 18182"/>
            </a:avLst>
          </a:prstGeom>
          <a:solidFill>
            <a:srgbClr val="E0F3E3"/>
          </a:solidFill>
          <a:ln w="15875">
            <a:solidFill>
              <a:srgbClr val="2F8F48"/>
            </a:solidFill>
            <a:prstDash val="solid"/>
          </a:ln>
          <a:effectLst>
            <a:outerShdw sx="100000" sy="100000" kx="0" ky="0" algn="bl" rotWithShape="0" blurRad="101600" dist="19050" dir="5400000">
              <a:srgbClr val="9FB0C2">
                <a:alpha val="24000"/>
              </a:srgbClr>
            </a:outerShdw>
          </a:effectLst>
        </p:spPr>
      </p:sp>
      <p:pic>
        <p:nvPicPr>
          <p:cNvPr id="45" name="Image 9" descr="preencoded.png">    </p:cNvPr>
          <p:cNvPicPr>
            <a:picLocks noChangeAspect="1"/>
          </p:cNvPicPr>
          <p:nvPr/>
        </p:nvPicPr>
        <p:blipFill>
          <a:blip r:embed="rId10"/>
          <a:stretch>
            <a:fillRect/>
          </a:stretch>
        </p:blipFill>
        <p:spPr>
          <a:xfrm>
            <a:off x="9171432" y="4215384"/>
            <a:ext cx="146304" cy="146304"/>
          </a:xfrm>
          <a:prstGeom prst="rect">
            <a:avLst/>
          </a:prstGeom>
        </p:spPr>
      </p:pic>
      <p:sp>
        <p:nvSpPr>
          <p:cNvPr id="46" name="Text 34"/>
          <p:cNvSpPr txBox="1"/>
          <p:nvPr/>
        </p:nvSpPr>
        <p:spPr>
          <a:xfrm>
            <a:off x="9144000" y="4114800"/>
            <a:ext cx="2359152" cy="502920"/>
          </a:xfrm>
          <a:prstGeom prst="rect">
            <a:avLst/>
          </a:prstGeom>
          <a:noFill/>
          <a:ln/>
        </p:spPr>
        <p:txBody>
          <a:bodyPr wrap="square" lIns="0" tIns="0" rIns="0" bIns="0" rtlCol="0" anchor="ctr"/>
          <a:lstStyle/>
          <a:p>
            <a:pPr algn="ctr" indent="0" marL="0">
              <a:lnSpc>
                <a:spcPct val="104000"/>
              </a:lnSpc>
              <a:buNone/>
            </a:pPr>
            <a:r>
              <a:rPr lang="en-US" sz="1000" b="1" dirty="0">
                <a:solidFill>
                  <a:srgbClr val="17431F"/>
                </a:solidFill>
                <a:latin typeface="Calibri" pitchFamily="34" charset="0"/>
                <a:ea typeface="Calibri" pitchFamily="34" charset="-122"/>
                <a:cs typeface="Calibri" pitchFamily="34" charset="-120"/>
              </a:rPr>
              <a:t>cast_confirmations.jsonl</a:t>
            </a:r>
            <a:endParaRPr lang="en-US" sz="1000" dirty="0"/>
          </a:p>
          <a:p>
            <a:pPr algn="ctr" indent="0" marL="0">
              <a:lnSpc>
                <a:spcPct val="104000"/>
              </a:lnSpc>
              <a:buNone/>
            </a:pPr>
            <a:r>
              <a:rPr lang="en-US" sz="760" dirty="0">
                <a:solidFill>
                  <a:srgbClr val="17431F"/>
                </a:solidFill>
                <a:latin typeface="Calibri" pitchFamily="34" charset="0"/>
                <a:ea typeface="Calibri" pitchFamily="34" charset="-122"/>
                <a:cs typeface="Calibri" pitchFamily="34" charset="-120"/>
              </a:rPr>
              <a:t>skip-on-rerun, no double casting</a:t>
            </a:r>
            <a:endParaRPr lang="en-US" sz="1000" dirty="0"/>
          </a:p>
        </p:txBody>
      </p:sp>
      <p:sp>
        <p:nvSpPr>
          <p:cNvPr id="47" name="Shape 35"/>
          <p:cNvSpPr/>
          <p:nvPr/>
        </p:nvSpPr>
        <p:spPr>
          <a:xfrm>
            <a:off x="8723376" y="4370832"/>
            <a:ext cx="274320" cy="0"/>
          </a:xfrm>
          <a:prstGeom prst="line">
            <a:avLst/>
          </a:prstGeom>
          <a:noFill/>
          <a:ln w="17780">
            <a:solidFill>
              <a:srgbClr val="2F8F48"/>
            </a:solidFill>
            <a:prstDash val="solid"/>
            <a:headEnd type="none"/>
            <a:tailEnd type="triangle"/>
          </a:ln>
        </p:spPr>
      </p:sp>
      <p:sp>
        <p:nvSpPr>
          <p:cNvPr id="48" name="Text 36"/>
          <p:cNvSpPr txBox="1"/>
          <p:nvPr/>
        </p:nvSpPr>
        <p:spPr>
          <a:xfrm>
            <a:off x="822960" y="4681728"/>
            <a:ext cx="2148840" cy="201168"/>
          </a:xfrm>
          <a:prstGeom prst="rect">
            <a:avLst/>
          </a:prstGeom>
          <a:noFill/>
          <a:ln/>
        </p:spPr>
        <p:txBody>
          <a:bodyPr wrap="square" lIns="0" tIns="0" rIns="0" bIns="0" rtlCol="0" anchor="ctr"/>
          <a:lstStyle/>
          <a:p>
            <a:pPr algn="ctr" indent="0" marL="0">
              <a:buNone/>
            </a:pPr>
            <a:r>
              <a:rPr lang="en-US" sz="800" i="1" dirty="0">
                <a:solidFill>
                  <a:srgbClr val="CE3D64"/>
                </a:solidFill>
                <a:latin typeface="Calibri" pitchFamily="34" charset="0"/>
                <a:ea typeface="Calibri" pitchFamily="34" charset="-122"/>
                <a:cs typeface="Calibri" pitchFamily="34" charset="-120"/>
              </a:rPr>
              <a:t>no</a:t>
            </a:r>
            <a:endParaRPr lang="en-US" sz="800" dirty="0"/>
          </a:p>
        </p:txBody>
      </p:sp>
      <p:sp>
        <p:nvSpPr>
          <p:cNvPr id="49" name="Text 37"/>
          <p:cNvSpPr txBox="1"/>
          <p:nvPr/>
        </p:nvSpPr>
        <p:spPr>
          <a:xfrm>
            <a:off x="5943600" y="4681728"/>
            <a:ext cx="457200" cy="201168"/>
          </a:xfrm>
          <a:prstGeom prst="rect">
            <a:avLst/>
          </a:prstGeom>
          <a:noFill/>
          <a:ln/>
        </p:spPr>
        <p:txBody>
          <a:bodyPr wrap="square" lIns="0" tIns="0" rIns="0" bIns="0" rtlCol="0" anchor="ctr"/>
          <a:lstStyle/>
          <a:p>
            <a:pPr algn="ctr" indent="0" marL="0">
              <a:buNone/>
            </a:pPr>
            <a:r>
              <a:rPr lang="en-US" sz="800" i="1" dirty="0">
                <a:solidFill>
                  <a:srgbClr val="2F8F48"/>
                </a:solidFill>
                <a:latin typeface="Calibri" pitchFamily="34" charset="0"/>
                <a:ea typeface="Calibri" pitchFamily="34" charset="-122"/>
                <a:cs typeface="Calibri" pitchFamily="34" charset="-120"/>
              </a:rPr>
              <a:t>yes</a:t>
            </a:r>
            <a:endParaRPr lang="en-US" sz="800" dirty="0"/>
          </a:p>
        </p:txBody>
      </p:sp>
      <p:sp>
        <p:nvSpPr>
          <p:cNvPr id="50" name="Shape 38"/>
          <p:cNvSpPr/>
          <p:nvPr/>
        </p:nvSpPr>
        <p:spPr>
          <a:xfrm>
            <a:off x="9235440" y="2926080"/>
            <a:ext cx="2359152" cy="685800"/>
          </a:xfrm>
          <a:prstGeom prst="can">
            <a:avLst/>
          </a:prstGeom>
          <a:solidFill>
            <a:srgbClr val="E0F3E3"/>
          </a:solidFill>
          <a:ln w="15875">
            <a:solidFill>
              <a:srgbClr val="2F8F48"/>
            </a:solidFill>
            <a:prstDash val="solid"/>
          </a:ln>
          <a:effectLst>
            <a:outerShdw sx="100000" sy="100000" kx="0" ky="0" algn="bl" rotWithShape="0" blurRad="101600" dist="19050" dir="5400000">
              <a:srgbClr val="9FB0C2">
                <a:alpha val="24000"/>
              </a:srgbClr>
            </a:outerShdw>
          </a:effectLst>
        </p:spPr>
      </p:sp>
      <p:sp>
        <p:nvSpPr>
          <p:cNvPr id="51" name="Text 39"/>
          <p:cNvSpPr txBox="1"/>
          <p:nvPr/>
        </p:nvSpPr>
        <p:spPr>
          <a:xfrm>
            <a:off x="9326880" y="2926080"/>
            <a:ext cx="2176272" cy="685800"/>
          </a:xfrm>
          <a:prstGeom prst="rect">
            <a:avLst/>
          </a:prstGeom>
          <a:noFill/>
          <a:ln/>
        </p:spPr>
        <p:txBody>
          <a:bodyPr wrap="square" lIns="0" tIns="0" rIns="0" bIns="0" rtlCol="0" anchor="ctr"/>
          <a:lstStyle/>
          <a:p>
            <a:pPr algn="ctr" indent="0" marL="0">
              <a:lnSpc>
                <a:spcPct val="104000"/>
              </a:lnSpc>
              <a:buNone/>
            </a:pPr>
            <a:r>
              <a:rPr lang="en-US" sz="950" b="1" dirty="0">
                <a:solidFill>
                  <a:srgbClr val="17431F"/>
                </a:solidFill>
                <a:latin typeface="Calibri" pitchFamily="34" charset="0"/>
                <a:ea typeface="Calibri" pitchFamily="34" charset="-122"/>
                <a:cs typeface="Calibri" pitchFamily="34" charset="-120"/>
              </a:rPr>
              <a:t>Engagement record</a:t>
            </a:r>
            <a:endParaRPr lang="en-US" sz="950" dirty="0"/>
          </a:p>
          <a:p>
            <a:pPr algn="ctr" indent="0" marL="0">
              <a:lnSpc>
                <a:spcPct val="104000"/>
              </a:lnSpc>
              <a:buNone/>
            </a:pPr>
            <a:r>
              <a:rPr lang="en-US" sz="760" dirty="0">
                <a:solidFill>
                  <a:srgbClr val="17431F"/>
                </a:solidFill>
                <a:latin typeface="Calibri" pitchFamily="34" charset="0"/>
                <a:ea typeface="Calibri" pitchFamily="34" charset="-122"/>
                <a:cs typeface="Calibri" pitchFamily="34" charset="-120"/>
              </a:rPr>
              <a:t>shared with function 09</a:t>
            </a:r>
            <a:endParaRPr lang="en-US" sz="950" dirty="0"/>
          </a:p>
        </p:txBody>
      </p:sp>
      <p:sp>
        <p:nvSpPr>
          <p:cNvPr id="52" name="Shape 40"/>
          <p:cNvSpPr/>
          <p:nvPr/>
        </p:nvSpPr>
        <p:spPr>
          <a:xfrm flipV="1">
            <a:off x="10424160" y="2395728"/>
            <a:ext cx="210312" cy="493776"/>
          </a:xfrm>
          <a:prstGeom prst="line">
            <a:avLst/>
          </a:prstGeom>
          <a:noFill/>
          <a:ln w="16510">
            <a:solidFill>
              <a:srgbClr val="2F8F48"/>
            </a:solidFill>
            <a:prstDash val="dash"/>
            <a:headEnd type="none"/>
            <a:tailEnd type="triangle"/>
          </a:ln>
        </p:spPr>
      </p:sp>
      <p:sp>
        <p:nvSpPr>
          <p:cNvPr id="53" name="Shape 41"/>
          <p:cNvSpPr/>
          <p:nvPr/>
        </p:nvSpPr>
        <p:spPr>
          <a:xfrm>
            <a:off x="594360" y="5321808"/>
            <a:ext cx="3532632" cy="941832"/>
          </a:xfrm>
          <a:prstGeom prst="roundRect">
            <a:avLst>
              <a:gd name="adj" fmla="val 3883"/>
            </a:avLst>
          </a:prstGeom>
          <a:solidFill>
            <a:srgbClr val="F4F7FA"/>
          </a:solidFill>
          <a:ln w="15875">
            <a:solidFill>
              <a:srgbClr val="DDE5ED"/>
            </a:solidFill>
            <a:prstDash val="solid"/>
          </a:ln>
        </p:spPr>
      </p:sp>
      <p:sp>
        <p:nvSpPr>
          <p:cNvPr id="54" name="Text 42"/>
          <p:cNvSpPr txBox="1"/>
          <p:nvPr/>
        </p:nvSpPr>
        <p:spPr>
          <a:xfrm>
            <a:off x="758952" y="5422392"/>
            <a:ext cx="3203448" cy="201168"/>
          </a:xfrm>
          <a:prstGeom prst="rect">
            <a:avLst/>
          </a:prstGeom>
          <a:noFill/>
          <a:ln/>
        </p:spPr>
        <p:txBody>
          <a:bodyPr wrap="square" lIns="0" tIns="0" rIns="0" bIns="0" rtlCol="0" anchor="ctr"/>
          <a:lstStyle/>
          <a:p>
            <a:pPr indent="0" marL="0">
              <a:buNone/>
            </a:pPr>
            <a:r>
              <a:rPr lang="en-US" sz="850" b="1" spc="140" kern="0" dirty="0">
                <a:solidFill>
                  <a:srgbClr val="6D4DD1"/>
                </a:solidFill>
                <a:latin typeface="Calibri" pitchFamily="34" charset="0"/>
                <a:ea typeface="Calibri" pitchFamily="34" charset="-122"/>
                <a:cs typeface="Calibri" pitchFamily="34" charset="-120"/>
              </a:rPr>
              <a:t>MODULES</a:t>
            </a:r>
            <a:endParaRPr lang="en-US" sz="850" dirty="0"/>
          </a:p>
        </p:txBody>
      </p:sp>
      <p:sp>
        <p:nvSpPr>
          <p:cNvPr id="55" name="Text 43"/>
          <p:cNvSpPr txBox="1"/>
          <p:nvPr/>
        </p:nvSpPr>
        <p:spPr>
          <a:xfrm>
            <a:off x="758952" y="5641848"/>
            <a:ext cx="3203448" cy="548640"/>
          </a:xfrm>
          <a:prstGeom prst="rect">
            <a:avLst/>
          </a:prstGeom>
          <a:noFill/>
          <a:ln/>
        </p:spPr>
        <p:txBody>
          <a:bodyPr wrap="square" lIns="0" tIns="0" rIns="0" bIns="0" rtlCol="0" anchor="ctr"/>
          <a:lstStyle/>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arp/voting/{pipeline,ballot_graph}.py</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arp/voting/{proposal_agent,policy_agent}.py</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arp/voting/ballot_casting.py — BallotPlatform interface</a:t>
            </a:r>
            <a:endParaRPr lang="en-US" sz="860" dirty="0"/>
          </a:p>
        </p:txBody>
      </p:sp>
      <p:sp>
        <p:nvSpPr>
          <p:cNvPr id="56" name="Shape 44"/>
          <p:cNvSpPr/>
          <p:nvPr/>
        </p:nvSpPr>
        <p:spPr>
          <a:xfrm>
            <a:off x="4328160" y="5321808"/>
            <a:ext cx="3532632" cy="941832"/>
          </a:xfrm>
          <a:prstGeom prst="roundRect">
            <a:avLst>
              <a:gd name="adj" fmla="val 3883"/>
            </a:avLst>
          </a:prstGeom>
          <a:solidFill>
            <a:srgbClr val="F4F7FA"/>
          </a:solidFill>
          <a:ln w="15875">
            <a:solidFill>
              <a:srgbClr val="DDE5ED"/>
            </a:solidFill>
            <a:prstDash val="solid"/>
          </a:ln>
        </p:spPr>
      </p:sp>
      <p:sp>
        <p:nvSpPr>
          <p:cNvPr id="57" name="Text 45"/>
          <p:cNvSpPr txBox="1"/>
          <p:nvPr/>
        </p:nvSpPr>
        <p:spPr>
          <a:xfrm>
            <a:off x="4492752" y="5422392"/>
            <a:ext cx="3203448" cy="201168"/>
          </a:xfrm>
          <a:prstGeom prst="rect">
            <a:avLst/>
          </a:prstGeom>
          <a:noFill/>
          <a:ln/>
        </p:spPr>
        <p:txBody>
          <a:bodyPr wrap="square" lIns="0" tIns="0" rIns="0" bIns="0" rtlCol="0" anchor="ctr"/>
          <a:lstStyle/>
          <a:p>
            <a:pPr indent="0" marL="0">
              <a:buNone/>
            </a:pPr>
            <a:r>
              <a:rPr lang="en-US" sz="850" b="1" spc="140" kern="0" dirty="0">
                <a:solidFill>
                  <a:srgbClr val="2F6FD0"/>
                </a:solidFill>
                <a:latin typeface="Calibri" pitchFamily="34" charset="0"/>
                <a:ea typeface="Calibri" pitchFamily="34" charset="-122"/>
                <a:cs typeface="Calibri" pitchFamily="34" charset="-120"/>
              </a:rPr>
              <a:t>IN → OUT</a:t>
            </a:r>
            <a:endParaRPr lang="en-US" sz="850" dirty="0"/>
          </a:p>
        </p:txBody>
      </p:sp>
      <p:sp>
        <p:nvSpPr>
          <p:cNvPr id="58" name="Text 46"/>
          <p:cNvSpPr txBox="1"/>
          <p:nvPr/>
        </p:nvSpPr>
        <p:spPr>
          <a:xfrm>
            <a:off x="4492752" y="5641848"/>
            <a:ext cx="3203448" cy="548640"/>
          </a:xfrm>
          <a:prstGeom prst="rect">
            <a:avLst/>
          </a:prstGeom>
          <a:noFill/>
          <a:ln/>
        </p:spPr>
        <p:txBody>
          <a:bodyPr wrap="square" lIns="0" tIns="0" rIns="0" bIns="0" rtlCol="0" anchor="ctr"/>
          <a:lstStyle/>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In: company universe + available proxy statements,</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house policy rules.</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Out: VoteRecord per proposal, through to a cast confirmation.</a:t>
            </a:r>
            <a:endParaRPr lang="en-US" sz="860" dirty="0"/>
          </a:p>
        </p:txBody>
      </p:sp>
      <p:sp>
        <p:nvSpPr>
          <p:cNvPr id="59" name="Shape 47"/>
          <p:cNvSpPr/>
          <p:nvPr/>
        </p:nvSpPr>
        <p:spPr>
          <a:xfrm>
            <a:off x="8061960" y="5321808"/>
            <a:ext cx="3532632" cy="941832"/>
          </a:xfrm>
          <a:prstGeom prst="roundRect">
            <a:avLst>
              <a:gd name="adj" fmla="val 3883"/>
            </a:avLst>
          </a:prstGeom>
          <a:solidFill>
            <a:srgbClr val="F4F7FA"/>
          </a:solidFill>
          <a:ln w="15875">
            <a:solidFill>
              <a:srgbClr val="DDE5ED"/>
            </a:solidFill>
            <a:prstDash val="solid"/>
          </a:ln>
        </p:spPr>
      </p:sp>
      <p:sp>
        <p:nvSpPr>
          <p:cNvPr id="60" name="Text 48"/>
          <p:cNvSpPr txBox="1"/>
          <p:nvPr/>
        </p:nvSpPr>
        <p:spPr>
          <a:xfrm>
            <a:off x="8226552" y="5422392"/>
            <a:ext cx="3203448" cy="201168"/>
          </a:xfrm>
          <a:prstGeom prst="rect">
            <a:avLst/>
          </a:prstGeom>
          <a:noFill/>
          <a:ln/>
        </p:spPr>
        <p:txBody>
          <a:bodyPr wrap="square" lIns="0" tIns="0" rIns="0" bIns="0" rtlCol="0" anchor="ctr"/>
          <a:lstStyle/>
          <a:p>
            <a:pPr indent="0" marL="0">
              <a:buNone/>
            </a:pPr>
            <a:r>
              <a:rPr lang="en-US" sz="850" b="1" spc="140" kern="0" dirty="0">
                <a:solidFill>
                  <a:srgbClr val="C9871B"/>
                </a:solidFill>
                <a:latin typeface="Calibri" pitchFamily="34" charset="0"/>
                <a:ea typeface="Calibri" pitchFamily="34" charset="-122"/>
                <a:cs typeface="Calibri" pitchFamily="34" charset="-120"/>
              </a:rPr>
              <a:t>CONTROLS</a:t>
            </a:r>
            <a:endParaRPr lang="en-US" sz="850" dirty="0"/>
          </a:p>
        </p:txBody>
      </p:sp>
      <p:sp>
        <p:nvSpPr>
          <p:cNvPr id="61" name="Text 49"/>
          <p:cNvSpPr txBox="1"/>
          <p:nvPr/>
        </p:nvSpPr>
        <p:spPr>
          <a:xfrm>
            <a:off x="8226552" y="5641848"/>
            <a:ext cx="3203448" cy="548640"/>
          </a:xfrm>
          <a:prstGeom prst="rect">
            <a:avLst/>
          </a:prstGeom>
          <a:noFill/>
          <a:ln/>
        </p:spPr>
        <p:txBody>
          <a:bodyPr wrap="square" lIns="0" tIns="0" rIns="0" bIns="0" rtlCol="0" anchor="ctr"/>
          <a:lstStyle/>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cast_vote raises CastVoteError without a human decision.</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Casting is idempotent and checkpointed per item.</a:t>
            </a:r>
            <a:endParaRPr lang="en-US" sz="860" dirty="0"/>
          </a:p>
          <a:p>
            <a:pPr indent="0" marL="0">
              <a:lnSpc>
                <a:spcPct val="105000"/>
              </a:lnSpc>
              <a:buNone/>
            </a:pPr>
            <a:r>
              <a:rPr lang="en-US" sz="860" dirty="0">
                <a:solidFill>
                  <a:srgbClr val="43566B"/>
                </a:solidFill>
                <a:latin typeface="Calibri" pitchFamily="34" charset="0"/>
                <a:ea typeface="Calibri" pitchFamily="34" charset="-122"/>
                <a:cs typeface="Calibri" pitchFamily="34" charset="-120"/>
              </a:rPr>
              <a:t>A company with no proxy statement yields an empty ballot, plainly.</a:t>
            </a:r>
            <a:endParaRPr lang="en-US" sz="86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Agentic Research Pipeline — Architecture and Process</dc:title>
  <dc:subject>PptxGenJS Presentation</dc:subject>
  <dc:creator>Agentic Research Pipeline</dc:creator>
  <cp:lastModifiedBy>Agentic Research Pipeline</cp:lastModifiedBy>
  <cp:revision>1</cp:revision>
  <dcterms:created xsi:type="dcterms:W3CDTF">2026-09-14T18:32:56Z</dcterms:created>
  <dcterms:modified xsi:type="dcterms:W3CDTF">2026-09-14T18:32:56Z</dcterms:modified>
</cp:coreProperties>
</file>