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what ARP can do. Find and extract builds the company universe and pulls cited figures out of disclosures, up to about 4,000 companies per run. Analyse and decide turns those figures into portfolio and climate analytics, scored decisions, indices, backtests and reports.</a:t>
            </a:r>
          </a:p>
          <a:p/>
          <a:p>
            <a:r>
              <a:t>Bottom row: why the output is defensible. First, the LLM only plans, drafts and proposes; every number is computed by deterministic code. Second, every citation is re-checked by code against the original document, and a verifier on a different model checks the extractor. Third, nothing counts until a named person ratifies it: review queues, four-eyes approval, versioned and effective-dated frameworks.</a:t>
            </a:r>
          </a:p>
          <a:p/>
          <a:p>
            <a:r>
              <a:t>Footer: the engine underneath. Postgres is the system of record, every run is checkpointed and resumable, per-company flows are LangGraph state graphs, and the API, CLI and UI all call the same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organised around how the team works, not around functions. Five workspaces mirror the business: Argus for cited data extraction and scoring, Transition Intelligence for monthly holdings monitoring and climate review, the R&amp;D Lab for themes, strategies and indices, StewardIQ for engagement, proxy voting and client reporting, and Data Hub for feeds and the security master. A process is a path through existing screens; the workspace page holds the order, the handoffs and the live status of each step.</a:t>
            </a:r>
          </a:p>
          <a:p/>
          <a:p>
            <a:r>
              <a:t>Across all of them: Needs you lists everything waiting on a person, oldest first. Ask ARP (Ctrl or Cmd J) answers plain-language questions through read-only tools. Output holds reports and the output catalogue, which shows what has already used each stored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Interfaces: the React UI, the FastAPI backend and the Typer CLI call the same pipeline functions; the CLI is the headless path for large batches. Superset serves dashboards from read-only bi views.</a:t>
            </a:r>
          </a:p>
          <a:p/>
          <a:p>
            <a:r>
              <a:t>Orchestration: every run type is checkpointed in Postgres. Each company's result commits in one transaction as it finishes, so a resume skips what is stored; cancel is cooperative. Background runs can use the Batch API at about half the model cost.</a:t>
            </a:r>
          </a:p>
          <a:p/>
          <a:p>
            <a:r>
              <a:t>Pipelines: each per-company multi-step flow is an explicit LangGraph state graph; batch fan-out stays outside the graphs. New data points are added as extraction presets, not new pipelines.</a:t>
            </a:r>
          </a:p>
          <a:p/>
          <a:p>
            <a:r>
              <a:t>Shared services: one narrow LLM interface with schema-forced output, a validation-retry loop and a response cache, now with Claude and Gemini models; run modes cheap, normal and max always pair an extractor with a verifier on a different model. LlamaIndex BM25 plus local embeddings select evidence; grounding re-verifies every citation independently.</a:t>
            </a:r>
          </a:p>
          <a:p/>
          <a:p>
            <a:r>
              <a:t>Storage and compute: Postgres with pgvector is required. Facts move through an insert-only ledger and are published by an approver, then read as of a date. PDF parsing, reranking and embeddings can run on Cloud Run GPUs and fall back to local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everything that turns a list of companies into cited, reviewed facts: who the company is, where its reports are, what they say, and how a theme, a transition plan or a value chain connects to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Argus is the process most people start with. The universe page maps every company through the security master by exact identifier and shows what ARP already holds for it: identity, documents, extraction runs and XBRL files. It starts no run itself.</a:t>
            </a:r>
          </a:p>
          <a:p/>
          <a:p>
            <a:r>
              <a:t>The simplified Argus flow has a start page with a live process view, everyone's runs and what is waiting for you, and draft flows saved on the server. Step 1, Companies, is built; documents, schema, extract and results still hand over to the existing Extraction screens until the next slices land.</a:t>
            </a:r>
          </a:p>
          <a:p/>
          <a:p>
            <a:r>
              <a:t>Run modes choose the model pair, the number of evidence passages and the review threshold. The extractor and the verifier are always different models.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master is the golden source for issuer identity: exact matching only, nothing by name, and nothing assigned by hand. Where the master does not know the company, identifier lookups come first: GLEIF fills a missing LEI from the ISIN, EDGAR resolves by CIK.</a:t>
            </a:r>
          </a:p>
          <a:p/>
          <a:p>
            <a:r>
              <a:t>Only the rows no lookup settles reach the one adjudication call, which picks from real EDGAR and GLEIF candidates. Its answer is then checked in code against those signals, so an invented website or CIK cannot survive. Uncertain and unresolved are routing decisions to the review queue, not a softened resolved.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returns each company's latest annual report and sustainability report. A live test in October found reports for only 2 of 10 large European companies, because many sites block cloud servers and report pages carry hundreds of PDFs, often on other hosts.</a:t>
            </a:r>
          </a:p>
          <a:p/>
          <a:p>
            <a:r>
              <a:t>So the order is: an ESEF filing first, then a direct search for the PDF, then a crawl that seeds from the sitemap and ranks the best two candidates. A downloaded PDF that does not name the company goes to review. Manual uploads and crawler downloads land in the same document store.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comes first: a wrong value that goes out unreviewed is the worst outcome, and 'needs review' is an acceptable answer. Metrics (a number with unit, scale and period) and criteria (a yes/no verdict against a written criterion) now share one engine, so every schema gets the same guarantees.</a:t>
            </a:r>
          </a:p>
          <a:p/>
          <a:p>
            <a:r>
              <a:t>A value is auto-accepted only when its quote is grounded in the passages the model saw, the number appears in that quote and passes the unit, scale and period checks, and a blind second extraction on a different model agrees. Values that fail text grounding get a page-image check, and reviewers see the cited span boxed on the PDF page.</a:t>
            </a:r>
          </a:p>
          <a:p/>
          <a:p>
            <a:r>
              <a:t>Schema rules are small typed conditions; an agent suggests them for drafted schemas and the owner accepts them. A failing rule only flags the value. The golden set replays the real pipeline before a prompt or model change ships, and runs in CI.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financials pull business segments, total capex and R&amp;D in a single combined pass per company, each figure with a grounded description of what it funds. Where a company files XBRL, the tagged totals resolve capex and R&amp;D ahead of the model.</a:t>
            </a:r>
          </a:p>
          <a:p/>
          <a:p>
            <a:r>
              <a:t>XBRL Facts is a separate function. It downloads each company's SEC companyfacts and latest 10-K, or for EU companies the latest ESEF annual report from filings.xbrl.org, routed by country, ISIN prefix or identifiers. It extracts every tagged fact and can verify an extraction run against the filer's own tagged values; a run that copied XBRL is refused.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Library holds reusable, versioned theme definitions: industry-anchored, authority-source, empirical, news and transcript mining, or ETF holdings, plus compare and merge and NACE, NAICS, SIC and GICS crosswalks. A person ratifies a version before it is used.</a:t>
            </a:r>
          </a:p>
          <a:p/>
          <a:p>
            <a:r>
              <a:t>Each company and activity goes down a cascade: a confirmed revenue or capex catalogue mapping resolves by arithmetic; otherwise grounded extraction with the schema generated from the ratified taxonomy (revenue, capex, opex and R&amp;D shares); only if both are empty, the Advocate, Opposing and Adjudicator debate. All paths band the same way, so a verdict means the same thing whichever path produced it.</a:t>
            </a:r>
          </a:p>
          <a:p/>
          <a:p>
            <a:r>
              <a:t>Exposure layers add value-chain exposure: layer 1 own revenue share, layer 2 revenue from exposed customers one or two hops up, decayed per hop. Layer 3 has no data source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Emerging Themes Scanner finds candidates bottom-up from EDGAR full-text search, GDELT and regulatory RSS, with cluster lineage across periods and an action-score gate: corporate action, not mention counts.</a:t>
            </a:r>
          </a:p>
          <a:p/>
          <a:p>
            <a:r>
              <a:t>The dossier keeps one record per theme. It stores links and decisions only; each step's state is derived when it is read. The context brief computes every count in code; one model call writes the wording and any sentence that cites no evidence is dropped. The research note: the model proposes sources from intergovernmental bodies, official statistics, central banks and regulators, and academia; the owner approves the plan; the note is written only from those sources and approved again.</a:t>
            </a:r>
          </a:p>
          <a:p/>
          <a:p>
            <a:r>
              <a:t>Step 5 is specified but not built: research item, position paragraph, standard, data point, and a StewardIQ flag.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walk-versus-talk assessment replicates Colesanti Senni, Schimanski, Bingler, Ni and Leippold (2024): 64 fixed indicators across target, governance, strategy and tracking. Since 21 October it runs as the transition_plan_indicators preset on the shared extraction engine; the dedicated pipeline was retired, old runs stay readable, and Decision Studio columns are unchanged.</a:t>
            </a:r>
          </a:p>
          <a:p/>
          <a:p>
            <a:r>
              <a:t>Transition plan alignment then reads the plan as a list of actions and checks it in code: low-carbon capex share against the sector benchmark, each action against the barrier criteria that limit it in its region, delivery against targets and phase-outs, five ACT consistency flags and nine sector delivery KPIs. Each flag is raised, clear or not checked; they are never combined into one score. The result shows in the Transition section of the company page.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assessment answers a question upstream of every company judgment: how feasible is decarbonisation in this sector and region at all. H means more feasible. Each cell carries a rating, a confidence tier, its evidence, sources and the date it was last verified; today 24 H, 49 M and 32 L.</a:t>
            </a:r>
          </a:p>
          <a:p/>
          <a:p>
            <a:r>
              <a:t>The owner-signed rule book (version 2) lists the facts each criterion needs and the conditions for H, M and L. Facts are extracted from fetched sources with the model, then checked in code; a three-valued rules engine derives the rating, and a named person ratifies it. The EUR-Lex refresh finds unchanged evidence, drift or rating-change candidates and only ever proposes.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indirect exposure tier is a structural, quantitative read on supply-chain exposure for companies whose own disclosures stay silent. ICIO 2025 gives 50 industries; EXIOBASE 3 adds 163 sectors mapped onto them, with emissions and an electricity split.</a:t>
            </a:r>
          </a:p>
          <a:p/>
          <a:p>
            <a:r>
              <a:t>The only model calls are classification around the maths: choosing a theme's core sectors, and a company's industry code when the universe file does not supply one. Above the threshold, a company with no direct evidence is queued for review instead of dropped.</a:t>
            </a:r>
          </a:p>
          <a:p/>
          <a:p>
            <a:r>
              <a:t>The R&amp;D Lab's Value Chain Explorer browses the full EXIOBASE table, 7,987 nodes, with a node page, an upstream tree and footprints for CO2e, energy and jobs. It has no model in it by design.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covers what happens to the facts: monitoring and climate analytics, scoring and tiering, index construction, strategy research, stewardship and client work. Everywhere in this part the model may plan, draft or route; it never produces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Holdings arrive monthly and are mapped to issuers through the security master; an unmatched security is listed in Data Hub and fixed there. For each issuer, values come from a cascade: what extraction already read from the company's own report, an exposure result, a supplied catalogue row, or missing, reported against coverage.</a:t>
            </a:r>
          </a:p>
          <a:p/>
          <a:p>
            <a:r>
              <a:t>The monthly monitoring run raises portfolio alerts, then stewardship triggers. It is blocked unless that month's holdings and ESG loads are good. Ask the Portfolio lets the model draft a query spec; the engine returns the number with the spec beside it. Dashboards are Superset, embedded in the app, including a provisioned exposure dashboard with fund, sector and country filters.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Studio has two separate entry points: derivation looks at the data and proposes rules; application takes rules and produces decisions. A ratified framework can therefore be applied to next quarter's snapshot unchanged, which is the only way period-on-period movement means anything. Applying a framework never changes it.</a:t>
            </a:r>
          </a:p>
          <a:p/>
          <a:p>
            <a:r>
              <a:t>Criteria are normalised within peer cohorts, correlated criteria are grouped, direction is inferred and flagged where it is a guess, a sufficiency gate precedes scoring and hard gates resolve before the average. Every entity carries its rank range across four specifications. Scoring templates connect it to Argus, so extraction results can be tiered directly.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methodology is composed from named rules: ordered screens, one selection rule (best-in-class to a coverage target with hysteresis buffers, an absolute threshold, or top-N), a weighting scheme, bounded tilts, a deterministic capping waterfall and the path-dependent EU Paris-aligned or climate-transition benchmark trajectory. Presets expand into ordinary editable rules.</a:t>
            </a:r>
          </a:p>
          <a:p/>
          <a:p>
            <a:r>
              <a:t>Each stage appends a trace line with counts in and out and the names dropped; that trace is both the committee's funnel and the audit trail. The optional optimiser can project, minimise tracking error or maximise score under a budget, but a solver's own 'optimal' is never taken as proof.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Strategy replication reduces a strategy paper to an executable spec, then backtests it deterministically in and out of sample, with the deflated Sharpe ratio, the probability of backtest overfitting via purged and embargoed combinatorial cross-validation, and regime stratification.</a:t>
            </a:r>
          </a:p>
          <a:p/>
          <a:p>
            <a:r>
              <a:t>The Signals workbench in the R&amp;D Lab tests whether text and market data predict returns honestly: a point-in-time text store, a map of model training cutoffs to catch look-ahead, rank information coefficients and an experiment registry. Two experiments can be compared, and a person records graduate or shelve.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Engagement keeps one record per company: identified, contacted, dialogue opened, response received, commitment made, commitment verified. The controller decides what should happen next as a pure function; it never calls an agent itself, so a scheduler can be added without touching the rules.</a:t>
            </a:r>
          </a:p>
          <a:p/>
          <a:p>
            <a:r>
              <a:t>The research agent drafts a grounded dossier that a person checks before drafting. Only a validated meeting summary writes commitments, and it needs validated_by. Escalation needs decided_by, and no code path sends anything to a company. The stall sweep runs on demand from the CLI or API, with 45 days as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Proxy voting extracts each ballot's proposals in one grounded pass, applies the house rules first (ordered, deterministic predicates on the disclosed figures, for example voting against an auditor when non-audit fees exceed half the audit fee), and asks the model for a cited judgment only when no rule fires.</a:t>
            </a:r>
          </a:p>
          <a:p/>
          <a:p>
            <a:r>
              <a:t>A cross-check against the engagement record flags a vote that contradicts an escalation. Every proposal is reviewed, with no confidence threshold that skips one. The gate is in the casting code itself, so an unauthorised vote cannot reach a platform integration whatever upstream code does.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RFP answers starts from a library of past responses, imported as question and answer pairs stored verbatim. For an incoming questionnaire the model finds the questions, and code keeps only those it can locate in the file. Drafts are built only from the eight best-matching library entries; every quote is grounded and every number must appear in a cited entry or the question, otherwise the draft is discarded.</a:t>
            </a:r>
          </a:p>
          <a:p/>
          <a:p>
            <a:r>
              <a:t>Analysts edit, assign or leave questions blank. An approver who is not the question's last editor approves each answer and confirms every flag. The export writes the approved answers into a copy of the investor's original file and reports how many remain unapproved.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model call drafts a report plan; deterministic renderers emit PPTX, DOCX and PDF. House decks draft a storyline for a person to approve, then fill, lint, fit and visually check each slide in the app's own design system, and can be re-run on fresh data.</a:t>
            </a:r>
          </a:p>
          <a:p/>
          <a:p>
            <a:r>
              <a:t>The Superset BI designer turns a description into an unpublished dashboard draft. A closed catalogue of datasets and metrics bounds the plan, a validator rejects anything outside it, and Superset reads only the bi views over Postgres, so company facts are the reviewed ones. A person publishes.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principles are enforced by the shape of the code, not by policy. No model sits inside an aggregate, score, index weight or backtest. Every citation is re-verified against the source in code, and an independent verifier on a different model checks each extraction. Agents propose and people ratify: review queues, four-eyes approval for RFP answers and flagged votes, owner-signed rule books and benchmarks, and approver-only publishing into an insert-only fact ledger read as of a date.</a:t>
            </a:r>
          </a:p>
          <a:p/>
          <a:p>
            <a:r>
              <a:t>Standing agents, the Taxonomy Researcher and the Calibration Agent, run on a schedule and only propose changes for review.</a:t>
            </a:r>
          </a:p>
          <a:p/>
          <a:p>
            <a:r>
              <a:t>Underneath: runs are checkpointed per company and resumable, background runs can use the Batch API at about half the model cost, and every change goes through the software factory: specs with acceptance tables, hidden holdout tests, mutation checks, a golden set for model changes, and a main guard that proposes a revert when main goes 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22C55E"/>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AGENTIC RESEARCH PIPELINE</a:t>
            </a:r>
          </a:p>
        </p:txBody>
      </p:sp>
      <p:sp>
        <p:nvSpPr>
          <p:cNvPr id="4" name="TextBox 3"/>
          <p:cNvSpPr txBox="1"/>
          <p:nvPr/>
        </p:nvSpPr>
        <p:spPr>
          <a:xfrm>
            <a:off x="812800" y="1289050"/>
            <a:ext cx="10566400" cy="508000"/>
          </a:xfrm>
          <a:prstGeom prst="rect">
            <a:avLst/>
          </a:prstGeom>
          <a:noFill/>
        </p:spPr>
        <p:txBody>
          <a:bodyPr wrap="square" lIns="0" rIns="0" tIns="0" bIns="0" anchor="t">
            <a:spAutoFit/>
          </a:bodyPr>
          <a:lstStyle/>
          <a:p>
            <a:pPr>
              <a:lnSpc>
                <a:spcPct val="91667"/>
              </a:lnSpc>
              <a:spcAft>
                <a:spcPts val="0"/>
              </a:spcAft>
            </a:pPr>
            <a:r>
              <a:rPr sz="3600" b="1">
                <a:solidFill>
                  <a:srgbClr val="F8FAFC"/>
                </a:solidFill>
                <a:latin typeface="IBM Plex Sans"/>
              </a:rPr>
              <a:t>Research at scale, every number traceable</a:t>
            </a:r>
          </a:p>
        </p:txBody>
      </p:sp>
      <p:sp>
        <p:nvSpPr>
          <p:cNvPr id="5" name="TextBox 4"/>
          <p:cNvSpPr txBox="1"/>
          <p:nvPr/>
        </p:nvSpPr>
        <p:spPr>
          <a:xfrm>
            <a:off x="812800" y="21018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WHAT IT DOES</a:t>
            </a:r>
          </a:p>
        </p:txBody>
      </p:sp>
      <p:sp>
        <p:nvSpPr>
          <p:cNvPr id="6" name="Rectangle 5"/>
          <p:cNvSpPr/>
          <p:nvPr/>
        </p:nvSpPr>
        <p:spPr>
          <a:xfrm>
            <a:off x="812800" y="2400300"/>
            <a:ext cx="5207000" cy="1568450"/>
          </a:xfrm>
          <a:prstGeom prst="rect">
            <a:avLst/>
          </a:prstGeom>
          <a:solidFill>
            <a:srgbClr val="1E293B"/>
          </a:solidFill>
          <a:ln w="9525">
            <a:solidFill>
              <a:srgbClr val="334155"/>
            </a:solidFill>
          </a:ln>
          <a:effectLst/>
        </p:spPr>
        <p:txBody>
          <a:bodyPr rtlCol="0" anchor="ctr"/>
          <a:lstStyle/>
          <a:p>
            <a:pPr algn="ctr"/>
          </a:p>
        </p:txBody>
      </p:sp>
      <p:sp>
        <p:nvSpPr>
          <p:cNvPr id="7" name="TextBox 6"/>
          <p:cNvSpPr txBox="1"/>
          <p:nvPr/>
        </p:nvSpPr>
        <p:spPr>
          <a:xfrm>
            <a:off x="965200" y="2552700"/>
            <a:ext cx="4902200" cy="1263650"/>
          </a:xfrm>
          <a:prstGeom prst="rect">
            <a:avLst/>
          </a:prstGeom>
          <a:noFill/>
        </p:spPr>
        <p:txBody>
          <a:bodyPr wrap="square" lIns="0" rIns="0" tIns="0" bIns="0" anchor="t">
            <a:spAutoFit/>
          </a:bodyPr>
          <a:lstStyle/>
          <a:p>
            <a:pPr>
              <a:lnSpc>
                <a:spcPct val="100000"/>
              </a:lnSpc>
              <a:spcAft>
                <a:spcPts val="500"/>
              </a:spcAft>
            </a:pPr>
            <a:r>
              <a:rPr sz="1500" b="1">
                <a:solidFill>
                  <a:srgbClr val="F8FAFC"/>
                </a:solidFill>
                <a:latin typeface="IBM Plex Sans"/>
              </a:rPr>
              <a:t>Find and extract</a:t>
            </a:r>
          </a:p>
          <a:p>
            <a:pPr>
              <a:lnSpc>
                <a:spcPct val="116667"/>
              </a:lnSpc>
              <a:spcAft>
                <a:spcPts val="0"/>
              </a:spcAft>
            </a:pPr>
            <a:r>
              <a:rPr sz="1200" b="0">
                <a:solidFill>
                  <a:srgbClr val="94A3B8"/>
                </a:solidFill>
                <a:latin typeface="IBM Plex Sans"/>
              </a:rPr>
              <a:t>Thematic universes, document discovery and identity resolution. Schema-defined figures, XBRL facts, transition plans and barriers, for ~4,000 companies per run.</a:t>
            </a:r>
          </a:p>
        </p:txBody>
      </p:sp>
      <p:sp>
        <p:nvSpPr>
          <p:cNvPr id="8" name="Rectangle 7"/>
          <p:cNvSpPr/>
          <p:nvPr/>
        </p:nvSpPr>
        <p:spPr>
          <a:xfrm>
            <a:off x="6172200" y="2400300"/>
            <a:ext cx="5207000" cy="1568450"/>
          </a:xfrm>
          <a:prstGeom prst="rect">
            <a:avLst/>
          </a:prstGeom>
          <a:solidFill>
            <a:srgbClr val="1E293B"/>
          </a:solidFill>
          <a:ln w="9525">
            <a:solidFill>
              <a:srgbClr val="334155"/>
            </a:solidFill>
          </a:ln>
          <a:effectLst/>
        </p:spPr>
        <p:txBody>
          <a:bodyPr rtlCol="0" anchor="ctr"/>
          <a:lstStyle/>
          <a:p>
            <a:pPr algn="ctr"/>
          </a:p>
        </p:txBody>
      </p:sp>
      <p:sp>
        <p:nvSpPr>
          <p:cNvPr id="9" name="TextBox 8"/>
          <p:cNvSpPr txBox="1"/>
          <p:nvPr/>
        </p:nvSpPr>
        <p:spPr>
          <a:xfrm>
            <a:off x="6324600" y="2552700"/>
            <a:ext cx="4902200" cy="1263650"/>
          </a:xfrm>
          <a:prstGeom prst="rect">
            <a:avLst/>
          </a:prstGeom>
          <a:noFill/>
        </p:spPr>
        <p:txBody>
          <a:bodyPr wrap="square" lIns="0" rIns="0" tIns="0" bIns="0" anchor="t">
            <a:spAutoFit/>
          </a:bodyPr>
          <a:lstStyle/>
          <a:p>
            <a:pPr>
              <a:lnSpc>
                <a:spcPct val="100000"/>
              </a:lnSpc>
              <a:spcAft>
                <a:spcPts val="500"/>
              </a:spcAft>
            </a:pPr>
            <a:r>
              <a:rPr sz="1500" b="1">
                <a:solidFill>
                  <a:srgbClr val="F8FAFC"/>
                </a:solidFill>
                <a:latin typeface="IBM Plex Sans"/>
              </a:rPr>
              <a:t>Analyse and decide</a:t>
            </a:r>
          </a:p>
          <a:p>
            <a:pPr>
              <a:lnSpc>
                <a:spcPct val="116667"/>
              </a:lnSpc>
              <a:spcAft>
                <a:spcPts val="0"/>
              </a:spcAft>
            </a:pPr>
            <a:r>
              <a:rPr sz="1200" b="0">
                <a:solidFill>
                  <a:srgbClr val="94A3B8"/>
                </a:solidFill>
                <a:latin typeface="IBM Plex Sans"/>
              </a:rPr>
              <a:t>Portfolio and climate analytics (WACI, financed emissions), Decision Studio scoring and tiering, equity index construction, strategy backtests, reports, decks and dashboards.</a:t>
            </a:r>
          </a:p>
        </p:txBody>
      </p:sp>
      <p:sp>
        <p:nvSpPr>
          <p:cNvPr id="10" name="TextBox 9"/>
          <p:cNvSpPr txBox="1"/>
          <p:nvPr/>
        </p:nvSpPr>
        <p:spPr>
          <a:xfrm>
            <a:off x="812800" y="41719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WHAT MAKES IT POSSIBLE</a:t>
            </a:r>
          </a:p>
        </p:txBody>
      </p:sp>
      <p:sp>
        <p:nvSpPr>
          <p:cNvPr id="11" name="Rectangle 10"/>
          <p:cNvSpPr/>
          <p:nvPr/>
        </p:nvSpPr>
        <p:spPr>
          <a:xfrm>
            <a:off x="812800" y="4470400"/>
            <a:ext cx="3420533" cy="1568450"/>
          </a:xfrm>
          <a:prstGeom prst="rect">
            <a:avLst/>
          </a:prstGeom>
          <a:solidFill>
            <a:srgbClr val="1E293B"/>
          </a:solidFill>
          <a:ln w="9525">
            <a:solidFill>
              <a:srgbClr val="334155"/>
            </a:solidFill>
          </a:ln>
          <a:effectLst/>
        </p:spPr>
        <p:txBody>
          <a:bodyPr rtlCol="0" anchor="ctr"/>
          <a:lstStyle/>
          <a:p>
            <a:pPr algn="ctr"/>
          </a:p>
        </p:txBody>
      </p:sp>
      <p:sp>
        <p:nvSpPr>
          <p:cNvPr id="12" name="Rectangle 11"/>
          <p:cNvSpPr/>
          <p:nvPr/>
        </p:nvSpPr>
        <p:spPr>
          <a:xfrm>
            <a:off x="812800" y="4470400"/>
            <a:ext cx="3420533" cy="25400"/>
          </a:xfrm>
          <a:prstGeom prst="rect">
            <a:avLst/>
          </a:prstGeom>
          <a:solidFill>
            <a:srgbClr val="22C55E"/>
          </a:solidFill>
          <a:ln>
            <a:noFill/>
          </a:ln>
          <a:effectLst/>
        </p:spPr>
        <p:txBody>
          <a:bodyPr rtlCol="0" anchor="ctr"/>
          <a:lstStyle/>
          <a:p>
            <a:pPr algn="ctr"/>
          </a:p>
        </p:txBody>
      </p:sp>
      <p:sp>
        <p:nvSpPr>
          <p:cNvPr id="13" name="TextBox 12"/>
          <p:cNvSpPr txBox="1"/>
          <p:nvPr/>
        </p:nvSpPr>
        <p:spPr>
          <a:xfrm>
            <a:off x="965200" y="4648200"/>
            <a:ext cx="3115733" cy="1238250"/>
          </a:xfrm>
          <a:prstGeom prst="rect">
            <a:avLst/>
          </a:prstGeom>
          <a:noFill/>
        </p:spPr>
        <p:txBody>
          <a:bodyPr wrap="square" lIns="0" rIns="0" tIns="0" bIns="0" anchor="t">
            <a:spAutoFit/>
          </a:bodyPr>
          <a:lstStyle/>
          <a:p>
            <a:pPr>
              <a:lnSpc>
                <a:spcPct val="100000"/>
              </a:lnSpc>
              <a:spcAft>
                <a:spcPts val="500"/>
              </a:spcAft>
            </a:pPr>
            <a:r>
              <a:rPr sz="1500" b="1">
                <a:solidFill>
                  <a:srgbClr val="F8FAFC"/>
                </a:solidFill>
                <a:latin typeface="IBM Plex Sans"/>
              </a:rPr>
              <a:t>The LLM plans, code computes</a:t>
            </a:r>
          </a:p>
          <a:p>
            <a:pPr>
              <a:lnSpc>
                <a:spcPct val="116667"/>
              </a:lnSpc>
              <a:spcAft>
                <a:spcPts val="0"/>
              </a:spcAft>
            </a:pPr>
            <a:r>
              <a:rPr sz="1200" b="0">
                <a:solidFill>
                  <a:srgbClr val="94A3B8"/>
                </a:solidFill>
                <a:latin typeface="IBM Plex Sans"/>
              </a:rPr>
              <a:t>Models draft, verify and propose. Numbers, scoring, index weights and backtests are plain deterministic code.</a:t>
            </a:r>
          </a:p>
        </p:txBody>
      </p:sp>
      <p:sp>
        <p:nvSpPr>
          <p:cNvPr id="14" name="Rectangle 13"/>
          <p:cNvSpPr/>
          <p:nvPr/>
        </p:nvSpPr>
        <p:spPr>
          <a:xfrm>
            <a:off x="4385733" y="4470400"/>
            <a:ext cx="3420533" cy="1568450"/>
          </a:xfrm>
          <a:prstGeom prst="rect">
            <a:avLst/>
          </a:prstGeom>
          <a:solidFill>
            <a:srgbClr val="1E293B"/>
          </a:solidFill>
          <a:ln w="9525">
            <a:solidFill>
              <a:srgbClr val="334155"/>
            </a:solidFill>
          </a:ln>
          <a:effectLst/>
        </p:spPr>
        <p:txBody>
          <a:bodyPr rtlCol="0" anchor="ctr"/>
          <a:lstStyle/>
          <a:p>
            <a:pPr algn="ctr"/>
          </a:p>
        </p:txBody>
      </p:sp>
      <p:sp>
        <p:nvSpPr>
          <p:cNvPr id="15" name="Rectangle 14"/>
          <p:cNvSpPr/>
          <p:nvPr/>
        </p:nvSpPr>
        <p:spPr>
          <a:xfrm>
            <a:off x="4385733" y="4470400"/>
            <a:ext cx="3420533" cy="25400"/>
          </a:xfrm>
          <a:prstGeom prst="rect">
            <a:avLst/>
          </a:prstGeom>
          <a:solidFill>
            <a:srgbClr val="22C55E"/>
          </a:solidFill>
          <a:ln>
            <a:noFill/>
          </a:ln>
          <a:effectLst/>
        </p:spPr>
        <p:txBody>
          <a:bodyPr rtlCol="0" anchor="ctr"/>
          <a:lstStyle/>
          <a:p>
            <a:pPr algn="ctr"/>
          </a:p>
        </p:txBody>
      </p:sp>
      <p:sp>
        <p:nvSpPr>
          <p:cNvPr id="16" name="TextBox 15"/>
          <p:cNvSpPr txBox="1"/>
          <p:nvPr/>
        </p:nvSpPr>
        <p:spPr>
          <a:xfrm>
            <a:off x="4538133" y="4648200"/>
            <a:ext cx="3115733" cy="1238250"/>
          </a:xfrm>
          <a:prstGeom prst="rect">
            <a:avLst/>
          </a:prstGeom>
          <a:noFill/>
        </p:spPr>
        <p:txBody>
          <a:bodyPr wrap="square" lIns="0" rIns="0" tIns="0" bIns="0" anchor="t">
            <a:spAutoFit/>
          </a:bodyPr>
          <a:lstStyle/>
          <a:p>
            <a:pPr>
              <a:lnSpc>
                <a:spcPct val="100000"/>
              </a:lnSpc>
              <a:spcAft>
                <a:spcPts val="500"/>
              </a:spcAft>
            </a:pPr>
            <a:r>
              <a:rPr sz="1500" b="1">
                <a:solidFill>
                  <a:srgbClr val="F8FAFC"/>
                </a:solidFill>
                <a:latin typeface="IBM Plex Sans"/>
              </a:rPr>
              <a:t>Every citation is checked</a:t>
            </a:r>
          </a:p>
          <a:p>
            <a:pPr>
              <a:lnSpc>
                <a:spcPct val="116667"/>
              </a:lnSpc>
              <a:spcAft>
                <a:spcPts val="0"/>
              </a:spcAft>
            </a:pPr>
            <a:r>
              <a:rPr sz="1200" b="0">
                <a:solidFill>
                  <a:srgbClr val="94A3B8"/>
                </a:solidFill>
                <a:latin typeface="IBM Plex Sans"/>
              </a:rPr>
              <a:t>Each quote is re-verified in code against the source document. An independent verifier runs on a different model.</a:t>
            </a:r>
          </a:p>
        </p:txBody>
      </p:sp>
      <p:sp>
        <p:nvSpPr>
          <p:cNvPr id="17" name="Rectangle 16"/>
          <p:cNvSpPr/>
          <p:nvPr/>
        </p:nvSpPr>
        <p:spPr>
          <a:xfrm>
            <a:off x="7958667" y="4470400"/>
            <a:ext cx="3420533" cy="1568450"/>
          </a:xfrm>
          <a:prstGeom prst="rect">
            <a:avLst/>
          </a:prstGeom>
          <a:solidFill>
            <a:srgbClr val="1E293B"/>
          </a:solidFill>
          <a:ln w="9525">
            <a:solidFill>
              <a:srgbClr val="334155"/>
            </a:solidFill>
          </a:ln>
          <a:effectLst/>
        </p:spPr>
        <p:txBody>
          <a:bodyPr rtlCol="0" anchor="ctr"/>
          <a:lstStyle/>
          <a:p>
            <a:pPr algn="ctr"/>
          </a:p>
        </p:txBody>
      </p:sp>
      <p:sp>
        <p:nvSpPr>
          <p:cNvPr id="18" name="Rectangle 17"/>
          <p:cNvSpPr/>
          <p:nvPr/>
        </p:nvSpPr>
        <p:spPr>
          <a:xfrm>
            <a:off x="7958667" y="4470400"/>
            <a:ext cx="3420533" cy="25400"/>
          </a:xfrm>
          <a:prstGeom prst="rect">
            <a:avLst/>
          </a:prstGeom>
          <a:solidFill>
            <a:srgbClr val="2563EB"/>
          </a:solidFill>
          <a:ln>
            <a:noFill/>
          </a:ln>
          <a:effectLst/>
        </p:spPr>
        <p:txBody>
          <a:bodyPr rtlCol="0" anchor="ctr"/>
          <a:lstStyle/>
          <a:p>
            <a:pPr algn="ctr"/>
          </a:p>
        </p:txBody>
      </p:sp>
      <p:sp>
        <p:nvSpPr>
          <p:cNvPr id="19" name="TextBox 18"/>
          <p:cNvSpPr txBox="1"/>
          <p:nvPr/>
        </p:nvSpPr>
        <p:spPr>
          <a:xfrm>
            <a:off x="8111067" y="4648200"/>
            <a:ext cx="3115733" cy="1238250"/>
          </a:xfrm>
          <a:prstGeom prst="rect">
            <a:avLst/>
          </a:prstGeom>
          <a:noFill/>
        </p:spPr>
        <p:txBody>
          <a:bodyPr wrap="square" lIns="0" rIns="0" tIns="0" bIns="0" anchor="t">
            <a:spAutoFit/>
          </a:bodyPr>
          <a:lstStyle/>
          <a:p>
            <a:pPr>
              <a:lnSpc>
                <a:spcPct val="100000"/>
              </a:lnSpc>
              <a:spcAft>
                <a:spcPts val="500"/>
              </a:spcAft>
            </a:pPr>
            <a:r>
              <a:rPr sz="1500" b="1">
                <a:solidFill>
                  <a:srgbClr val="F8FAFC"/>
                </a:solidFill>
                <a:latin typeface="IBM Plex Sans"/>
              </a:rPr>
              <a:t>Agents propose, people ratify</a:t>
            </a:r>
          </a:p>
          <a:p>
            <a:pPr>
              <a:lnSpc>
                <a:spcPct val="116667"/>
              </a:lnSpc>
              <a:spcAft>
                <a:spcPts val="0"/>
              </a:spcAft>
            </a:pPr>
            <a:r>
              <a:rPr sz="1200" b="0">
                <a:solidFill>
                  <a:srgbClr val="94A3B8"/>
                </a:solidFill>
                <a:latin typeface="IBM Plex Sans"/>
              </a:rPr>
              <a:t>Review queues, four-eyes approval, versioned frameworks. Nothing flagged reaches an export until a named person approves.</a:t>
            </a:r>
          </a:p>
        </p:txBody>
      </p:sp>
      <p:sp>
        <p:nvSpPr>
          <p:cNvPr id="20" name="TextBox 19"/>
          <p:cNvSpPr txBox="1"/>
          <p:nvPr/>
        </p:nvSpPr>
        <p:spPr>
          <a:xfrm>
            <a:off x="812800" y="6254750"/>
            <a:ext cx="11176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BUILT ON</a:t>
            </a:r>
          </a:p>
        </p:txBody>
      </p:sp>
      <p:sp>
        <p:nvSpPr>
          <p:cNvPr id="21" name="TextBox 20"/>
          <p:cNvSpPr txBox="1"/>
          <p:nvPr/>
        </p:nvSpPr>
        <p:spPr>
          <a:xfrm>
            <a:off x="2082800" y="6254750"/>
            <a:ext cx="9296400" cy="39370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Sans"/>
              </a:rPr>
              <a:t>Postgres system of record · resumable batch runs · LangGraph per-company flows · one LLM interface · API, CLI and UI on the same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APP</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app, five workspaces</a:t>
            </a:r>
          </a:p>
        </p:txBody>
      </p:sp>
      <p:sp>
        <p:nvSpPr>
          <p:cNvPr id="5" name="Rectangle 4"/>
          <p:cNvSpPr/>
          <p:nvPr/>
        </p:nvSpPr>
        <p:spPr>
          <a:xfrm>
            <a:off x="812800" y="2032000"/>
            <a:ext cx="1991360" cy="2095500"/>
          </a:xfrm>
          <a:prstGeom prst="rect">
            <a:avLst/>
          </a:prstGeom>
          <a:solidFill>
            <a:srgbClr val="FFFFFF"/>
          </a:solidFill>
          <a:ln w="9525">
            <a:solidFill>
              <a:srgbClr val="E2E8F0"/>
            </a:solidFill>
          </a:ln>
          <a:effectLst/>
        </p:spPr>
        <p:txBody>
          <a:bodyPr rtlCol="0" anchor="ctr"/>
          <a:lstStyle/>
          <a:p>
            <a:pPr algn="ctr"/>
          </a:p>
        </p:txBody>
      </p:sp>
      <p:sp>
        <p:nvSpPr>
          <p:cNvPr id="6" name="Rectangle 5"/>
          <p:cNvSpPr/>
          <p:nvPr/>
        </p:nvSpPr>
        <p:spPr>
          <a:xfrm>
            <a:off x="812800" y="2032000"/>
            <a:ext cx="1991360" cy="25400"/>
          </a:xfrm>
          <a:prstGeom prst="rect">
            <a:avLst/>
          </a:prstGeom>
          <a:solidFill>
            <a:srgbClr val="0F172A"/>
          </a:solidFill>
          <a:ln>
            <a:noFill/>
          </a:ln>
          <a:effectLst/>
        </p:spPr>
        <p:txBody>
          <a:bodyPr rtlCol="0" anchor="ctr"/>
          <a:lstStyle/>
          <a:p>
            <a:pPr algn="ctr"/>
          </a:p>
        </p:txBody>
      </p:sp>
      <p:sp>
        <p:nvSpPr>
          <p:cNvPr id="7" name="TextBox 6"/>
          <p:cNvSpPr txBox="1"/>
          <p:nvPr/>
        </p:nvSpPr>
        <p:spPr>
          <a:xfrm>
            <a:off x="965200" y="2209800"/>
            <a:ext cx="1686560" cy="17653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Argus</a:t>
            </a:r>
          </a:p>
          <a:p>
            <a:pPr>
              <a:lnSpc>
                <a:spcPct val="116667"/>
              </a:lnSpc>
              <a:spcAft>
                <a:spcPts val="600"/>
              </a:spcAft>
            </a:pPr>
            <a:r>
              <a:rPr sz="1200" b="0">
                <a:solidFill>
                  <a:srgbClr val="475569"/>
                </a:solidFill>
                <a:latin typeface="IBM Plex Sans"/>
              </a:rPr>
              <a:t>Extract cited data points and score them with ratified templates.</a:t>
            </a:r>
          </a:p>
          <a:p>
            <a:pPr>
              <a:lnSpc>
                <a:spcPct val="116667"/>
              </a:lnSpc>
              <a:spcAft>
                <a:spcPts val="0"/>
              </a:spcAft>
            </a:pPr>
            <a:r>
              <a:rPr sz="1200" b="0">
                <a:solidFill>
                  <a:srgbClr val="0F172A"/>
                </a:solidFill>
                <a:latin typeface="IBM Plex Sans"/>
              </a:rPr>
              <a:t>Extract and score · XBRL facts</a:t>
            </a:r>
          </a:p>
        </p:txBody>
      </p:sp>
      <p:sp>
        <p:nvSpPr>
          <p:cNvPr id="8" name="Rectangle 7"/>
          <p:cNvSpPr/>
          <p:nvPr/>
        </p:nvSpPr>
        <p:spPr>
          <a:xfrm>
            <a:off x="2956560" y="2032000"/>
            <a:ext cx="1991360" cy="2095500"/>
          </a:xfrm>
          <a:prstGeom prst="rect">
            <a:avLst/>
          </a:prstGeom>
          <a:solidFill>
            <a:srgbClr val="FFFFFF"/>
          </a:solidFill>
          <a:ln w="9525">
            <a:solidFill>
              <a:srgbClr val="E2E8F0"/>
            </a:solidFill>
          </a:ln>
          <a:effectLst/>
        </p:spPr>
        <p:txBody>
          <a:bodyPr rtlCol="0" anchor="ctr"/>
          <a:lstStyle/>
          <a:p>
            <a:pPr algn="ctr"/>
          </a:p>
        </p:txBody>
      </p:sp>
      <p:sp>
        <p:nvSpPr>
          <p:cNvPr id="9" name="Rectangle 8"/>
          <p:cNvSpPr/>
          <p:nvPr/>
        </p:nvSpPr>
        <p:spPr>
          <a:xfrm>
            <a:off x="2956560" y="2032000"/>
            <a:ext cx="1991360" cy="25400"/>
          </a:xfrm>
          <a:prstGeom prst="rect">
            <a:avLst/>
          </a:prstGeom>
          <a:solidFill>
            <a:srgbClr val="0F172A"/>
          </a:solidFill>
          <a:ln>
            <a:noFill/>
          </a:ln>
          <a:effectLst/>
        </p:spPr>
        <p:txBody>
          <a:bodyPr rtlCol="0" anchor="ctr"/>
          <a:lstStyle/>
          <a:p>
            <a:pPr algn="ctr"/>
          </a:p>
        </p:txBody>
      </p:sp>
      <p:sp>
        <p:nvSpPr>
          <p:cNvPr id="10" name="TextBox 9"/>
          <p:cNvSpPr txBox="1"/>
          <p:nvPr/>
        </p:nvSpPr>
        <p:spPr>
          <a:xfrm>
            <a:off x="3108960" y="2209800"/>
            <a:ext cx="1686560" cy="17653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Transition Intelligence</a:t>
            </a:r>
          </a:p>
          <a:p>
            <a:pPr>
              <a:lnSpc>
                <a:spcPct val="116667"/>
              </a:lnSpc>
              <a:spcAft>
                <a:spcPts val="600"/>
              </a:spcAft>
            </a:pPr>
            <a:r>
              <a:rPr sz="1200" b="0">
                <a:solidFill>
                  <a:srgbClr val="475569"/>
                </a:solidFill>
                <a:latin typeface="IBM Plex Sans"/>
              </a:rPr>
              <a:t>Monitor holdings; assess climate and transition risk.</a:t>
            </a:r>
          </a:p>
          <a:p>
            <a:pPr>
              <a:lnSpc>
                <a:spcPct val="116667"/>
              </a:lnSpc>
              <a:spcAft>
                <a:spcPts val="0"/>
              </a:spcAft>
            </a:pPr>
            <a:r>
              <a:rPr sz="1200" b="0">
                <a:solidFill>
                  <a:srgbClr val="0F172A"/>
                </a:solidFill>
                <a:latin typeface="IBM Plex Sans"/>
              </a:rPr>
              <a:t>Monitoring · Climate review</a:t>
            </a:r>
          </a:p>
        </p:txBody>
      </p:sp>
      <p:sp>
        <p:nvSpPr>
          <p:cNvPr id="11" name="Rectangle 10"/>
          <p:cNvSpPr/>
          <p:nvPr/>
        </p:nvSpPr>
        <p:spPr>
          <a:xfrm>
            <a:off x="5100320" y="2032000"/>
            <a:ext cx="1991360" cy="2095500"/>
          </a:xfrm>
          <a:prstGeom prst="rect">
            <a:avLst/>
          </a:prstGeom>
          <a:solidFill>
            <a:srgbClr val="FFFFFF"/>
          </a:solidFill>
          <a:ln w="9525">
            <a:solidFill>
              <a:srgbClr val="E2E8F0"/>
            </a:solidFill>
          </a:ln>
          <a:effectLst/>
        </p:spPr>
        <p:txBody>
          <a:bodyPr rtlCol="0" anchor="ctr"/>
          <a:lstStyle/>
          <a:p>
            <a:pPr algn="ctr"/>
          </a:p>
        </p:txBody>
      </p:sp>
      <p:sp>
        <p:nvSpPr>
          <p:cNvPr id="12" name="Rectangle 11"/>
          <p:cNvSpPr/>
          <p:nvPr/>
        </p:nvSpPr>
        <p:spPr>
          <a:xfrm>
            <a:off x="5100320" y="2032000"/>
            <a:ext cx="1991360" cy="25400"/>
          </a:xfrm>
          <a:prstGeom prst="rect">
            <a:avLst/>
          </a:prstGeom>
          <a:solidFill>
            <a:srgbClr val="0F172A"/>
          </a:solidFill>
          <a:ln>
            <a:noFill/>
          </a:ln>
          <a:effectLst/>
        </p:spPr>
        <p:txBody>
          <a:bodyPr rtlCol="0" anchor="ctr"/>
          <a:lstStyle/>
          <a:p>
            <a:pPr algn="ctr"/>
          </a:p>
        </p:txBody>
      </p:sp>
      <p:sp>
        <p:nvSpPr>
          <p:cNvPr id="13" name="TextBox 12"/>
          <p:cNvSpPr txBox="1"/>
          <p:nvPr/>
        </p:nvSpPr>
        <p:spPr>
          <a:xfrm>
            <a:off x="5252720" y="2209800"/>
            <a:ext cx="1686560" cy="17653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R&amp;D Lab</a:t>
            </a:r>
          </a:p>
          <a:p>
            <a:pPr>
              <a:lnSpc>
                <a:spcPct val="116667"/>
              </a:lnSpc>
              <a:spcAft>
                <a:spcPts val="600"/>
              </a:spcAft>
            </a:pPr>
            <a:r>
              <a:rPr sz="1200" b="0">
                <a:solidFill>
                  <a:srgbClr val="475569"/>
                </a:solidFill>
                <a:latin typeface="IBM Plex Sans"/>
              </a:rPr>
              <a:t>Themes and strategies, scored and built into indices.</a:t>
            </a:r>
          </a:p>
          <a:p>
            <a:pPr>
              <a:lnSpc>
                <a:spcPct val="116667"/>
              </a:lnSpc>
              <a:spcAft>
                <a:spcPts val="0"/>
              </a:spcAft>
            </a:pPr>
            <a:r>
              <a:rPr sz="1200" b="0">
                <a:solidFill>
                  <a:srgbClr val="0F172A"/>
                </a:solidFill>
                <a:latin typeface="IBM Plex Sans"/>
              </a:rPr>
              <a:t>Thematic product · Strategy</a:t>
            </a:r>
          </a:p>
        </p:txBody>
      </p:sp>
      <p:sp>
        <p:nvSpPr>
          <p:cNvPr id="14" name="Rectangle 13"/>
          <p:cNvSpPr/>
          <p:nvPr/>
        </p:nvSpPr>
        <p:spPr>
          <a:xfrm>
            <a:off x="7244080" y="2032000"/>
            <a:ext cx="1991360" cy="20955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7244080" y="2032000"/>
            <a:ext cx="199136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7396480" y="2209800"/>
            <a:ext cx="1686560" cy="17653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StewardIQ</a:t>
            </a:r>
          </a:p>
          <a:p>
            <a:pPr>
              <a:lnSpc>
                <a:spcPct val="116667"/>
              </a:lnSpc>
              <a:spcAft>
                <a:spcPts val="600"/>
              </a:spcAft>
            </a:pPr>
            <a:r>
              <a:rPr sz="1200" b="0">
                <a:solidFill>
                  <a:srgbClr val="475569"/>
                </a:solidFill>
                <a:latin typeface="IBM Plex Sans"/>
              </a:rPr>
              <a:t>Engage, vote, escalate and report to clients.</a:t>
            </a:r>
          </a:p>
          <a:p>
            <a:pPr>
              <a:lnSpc>
                <a:spcPct val="116667"/>
              </a:lnSpc>
              <a:spcAft>
                <a:spcPts val="0"/>
              </a:spcAft>
            </a:pPr>
            <a:r>
              <a:rPr sz="1200" b="0">
                <a:solidFill>
                  <a:srgbClr val="0F172A"/>
                </a:solidFill>
                <a:latin typeface="IBM Plex Sans"/>
              </a:rPr>
              <a:t>Engage · Vote · Clients</a:t>
            </a:r>
          </a:p>
        </p:txBody>
      </p:sp>
      <p:sp>
        <p:nvSpPr>
          <p:cNvPr id="17" name="Rectangle 16"/>
          <p:cNvSpPr/>
          <p:nvPr/>
        </p:nvSpPr>
        <p:spPr>
          <a:xfrm>
            <a:off x="9387840" y="2032000"/>
            <a:ext cx="1991360" cy="2095500"/>
          </a:xfrm>
          <a:prstGeom prst="rect">
            <a:avLst/>
          </a:prstGeom>
          <a:solidFill>
            <a:srgbClr val="FFFFFF"/>
          </a:solidFill>
          <a:ln w="9525">
            <a:solidFill>
              <a:srgbClr val="E2E8F0"/>
            </a:solidFill>
          </a:ln>
          <a:effectLst/>
        </p:spPr>
        <p:txBody>
          <a:bodyPr rtlCol="0" anchor="ctr"/>
          <a:lstStyle/>
          <a:p>
            <a:pPr algn="ctr"/>
          </a:p>
        </p:txBody>
      </p:sp>
      <p:sp>
        <p:nvSpPr>
          <p:cNvPr id="18" name="Rectangle 17"/>
          <p:cNvSpPr/>
          <p:nvPr/>
        </p:nvSpPr>
        <p:spPr>
          <a:xfrm>
            <a:off x="9387840" y="2032000"/>
            <a:ext cx="1991360" cy="25400"/>
          </a:xfrm>
          <a:prstGeom prst="rect">
            <a:avLst/>
          </a:prstGeom>
          <a:solidFill>
            <a:srgbClr val="0F172A"/>
          </a:solidFill>
          <a:ln>
            <a:noFill/>
          </a:ln>
          <a:effectLst/>
        </p:spPr>
        <p:txBody>
          <a:bodyPr rtlCol="0" anchor="ctr"/>
          <a:lstStyle/>
          <a:p>
            <a:pPr algn="ctr"/>
          </a:p>
        </p:txBody>
      </p:sp>
      <p:sp>
        <p:nvSpPr>
          <p:cNvPr id="19" name="TextBox 18"/>
          <p:cNvSpPr txBox="1"/>
          <p:nvPr/>
        </p:nvSpPr>
        <p:spPr>
          <a:xfrm>
            <a:off x="9540240" y="2209800"/>
            <a:ext cx="1686560" cy="17653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Data Hub</a:t>
            </a:r>
          </a:p>
          <a:p>
            <a:pPr>
              <a:lnSpc>
                <a:spcPct val="116667"/>
              </a:lnSpc>
              <a:spcAft>
                <a:spcPts val="600"/>
              </a:spcAft>
            </a:pPr>
            <a:r>
              <a:rPr sz="1200" b="0">
                <a:solidFill>
                  <a:srgbClr val="475569"/>
                </a:solidFill>
                <a:latin typeface="IBM Plex Sans"/>
              </a:rPr>
              <a:t>Feeds, stored data, the security master.</a:t>
            </a:r>
          </a:p>
          <a:p>
            <a:pPr>
              <a:lnSpc>
                <a:spcPct val="116667"/>
              </a:lnSpc>
              <a:spcAft>
                <a:spcPts val="0"/>
              </a:spcAft>
            </a:pPr>
            <a:r>
              <a:rPr sz="1200" b="0">
                <a:solidFill>
                  <a:srgbClr val="0F172A"/>
                </a:solidFill>
                <a:latin typeface="IBM Plex Sans"/>
              </a:rPr>
              <a:t>Map securities to issuers</a:t>
            </a:r>
          </a:p>
        </p:txBody>
      </p:sp>
      <p:sp>
        <p:nvSpPr>
          <p:cNvPr id="20" name="Rectangle 19"/>
          <p:cNvSpPr/>
          <p:nvPr/>
        </p:nvSpPr>
        <p:spPr>
          <a:xfrm>
            <a:off x="812800" y="4279900"/>
            <a:ext cx="3420533" cy="1320800"/>
          </a:xfrm>
          <a:prstGeom prst="rect">
            <a:avLst/>
          </a:prstGeom>
          <a:solidFill>
            <a:srgbClr val="FFFFFF"/>
          </a:solidFill>
          <a:ln w="9525">
            <a:solidFill>
              <a:srgbClr val="E2E8F0"/>
            </a:solidFill>
          </a:ln>
          <a:effectLst/>
        </p:spPr>
        <p:txBody>
          <a:bodyPr rtlCol="0" anchor="ctr"/>
          <a:lstStyle/>
          <a:p>
            <a:pPr algn="ctr"/>
          </a:p>
        </p:txBody>
      </p:sp>
      <p:sp>
        <p:nvSpPr>
          <p:cNvPr id="21" name="Rectangle 20"/>
          <p:cNvSpPr/>
          <p:nvPr/>
        </p:nvSpPr>
        <p:spPr>
          <a:xfrm>
            <a:off x="812800" y="4279900"/>
            <a:ext cx="3420533" cy="25400"/>
          </a:xfrm>
          <a:prstGeom prst="rect">
            <a:avLst/>
          </a:prstGeom>
          <a:solidFill>
            <a:srgbClr val="2563EB"/>
          </a:solidFill>
          <a:ln>
            <a:noFill/>
          </a:ln>
          <a:effectLst/>
        </p:spPr>
        <p:txBody>
          <a:bodyPr rtlCol="0" anchor="ctr"/>
          <a:lstStyle/>
          <a:p>
            <a:pPr algn="ctr"/>
          </a:p>
        </p:txBody>
      </p:sp>
      <p:sp>
        <p:nvSpPr>
          <p:cNvPr id="22" name="TextBox 21"/>
          <p:cNvSpPr txBox="1"/>
          <p:nvPr/>
        </p:nvSpPr>
        <p:spPr>
          <a:xfrm>
            <a:off x="965200" y="4457700"/>
            <a:ext cx="3115733" cy="9906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Needs you: one inbox</a:t>
            </a:r>
          </a:p>
          <a:p>
            <a:pPr>
              <a:lnSpc>
                <a:spcPct val="116667"/>
              </a:lnSpc>
              <a:spcAft>
                <a:spcPts val="0"/>
              </a:spcAft>
            </a:pPr>
            <a:r>
              <a:rPr sz="1200" b="0">
                <a:solidFill>
                  <a:srgbClr val="475569"/>
                </a:solidFill>
                <a:latin typeface="IBM Plex Sans"/>
              </a:rPr>
              <a:t>Items to review, ballots to decide and blocking data issues, oldest first.</a:t>
            </a:r>
          </a:p>
        </p:txBody>
      </p:sp>
      <p:sp>
        <p:nvSpPr>
          <p:cNvPr id="23" name="Rectangle 22"/>
          <p:cNvSpPr/>
          <p:nvPr/>
        </p:nvSpPr>
        <p:spPr>
          <a:xfrm>
            <a:off x="4385733" y="4279900"/>
            <a:ext cx="3420533" cy="1320800"/>
          </a:xfrm>
          <a:prstGeom prst="rect">
            <a:avLst/>
          </a:prstGeom>
          <a:solidFill>
            <a:srgbClr val="FFFFFF"/>
          </a:solidFill>
          <a:ln w="9525">
            <a:solidFill>
              <a:srgbClr val="E2E8F0"/>
            </a:solidFill>
          </a:ln>
          <a:effectLst/>
        </p:spPr>
        <p:txBody>
          <a:bodyPr rtlCol="0" anchor="ctr"/>
          <a:lstStyle/>
          <a:p>
            <a:pPr algn="ctr"/>
          </a:p>
        </p:txBody>
      </p:sp>
      <p:sp>
        <p:nvSpPr>
          <p:cNvPr id="24" name="Rectangle 23"/>
          <p:cNvSpPr/>
          <p:nvPr/>
        </p:nvSpPr>
        <p:spPr>
          <a:xfrm>
            <a:off x="4385733" y="4279900"/>
            <a:ext cx="3420533" cy="25400"/>
          </a:xfrm>
          <a:prstGeom prst="rect">
            <a:avLst/>
          </a:prstGeom>
          <a:solidFill>
            <a:srgbClr val="16A34A"/>
          </a:solidFill>
          <a:ln>
            <a:noFill/>
          </a:ln>
          <a:effectLst/>
        </p:spPr>
        <p:txBody>
          <a:bodyPr rtlCol="0" anchor="ctr"/>
          <a:lstStyle/>
          <a:p>
            <a:pPr algn="ctr"/>
          </a:p>
        </p:txBody>
      </p:sp>
      <p:sp>
        <p:nvSpPr>
          <p:cNvPr id="25" name="TextBox 24"/>
          <p:cNvSpPr txBox="1"/>
          <p:nvPr/>
        </p:nvSpPr>
        <p:spPr>
          <a:xfrm>
            <a:off x="4538133" y="4457700"/>
            <a:ext cx="3115733" cy="9906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Ask ARP: plain questions</a:t>
            </a:r>
          </a:p>
          <a:p>
            <a:pPr>
              <a:lnSpc>
                <a:spcPct val="116667"/>
              </a:lnSpc>
              <a:spcAft>
                <a:spcPts val="0"/>
              </a:spcAft>
            </a:pPr>
            <a:r>
              <a:rPr sz="1200" b="0">
                <a:solidFill>
                  <a:srgbClr val="475569"/>
                </a:solidFill>
                <a:latin typeface="IBM Plex Sans"/>
              </a:rPr>
              <a:t>The model routes each question to a read-only tool; code computes every figure.</a:t>
            </a:r>
          </a:p>
        </p:txBody>
      </p:sp>
      <p:sp>
        <p:nvSpPr>
          <p:cNvPr id="26" name="Rectangle 25"/>
          <p:cNvSpPr/>
          <p:nvPr/>
        </p:nvSpPr>
        <p:spPr>
          <a:xfrm>
            <a:off x="7958667" y="4279900"/>
            <a:ext cx="3420533" cy="1320800"/>
          </a:xfrm>
          <a:prstGeom prst="rect">
            <a:avLst/>
          </a:prstGeom>
          <a:solidFill>
            <a:srgbClr val="FFFFFF"/>
          </a:solidFill>
          <a:ln w="9525">
            <a:solidFill>
              <a:srgbClr val="E2E8F0"/>
            </a:solidFill>
          </a:ln>
          <a:effectLst/>
        </p:spPr>
        <p:txBody>
          <a:bodyPr rtlCol="0" anchor="ctr"/>
          <a:lstStyle/>
          <a:p>
            <a:pPr algn="ctr"/>
          </a:p>
        </p:txBody>
      </p:sp>
      <p:sp>
        <p:nvSpPr>
          <p:cNvPr id="27" name="Rectangle 26"/>
          <p:cNvSpPr/>
          <p:nvPr/>
        </p:nvSpPr>
        <p:spPr>
          <a:xfrm>
            <a:off x="7958667" y="4279900"/>
            <a:ext cx="3420533" cy="25400"/>
          </a:xfrm>
          <a:prstGeom prst="rect">
            <a:avLst/>
          </a:prstGeom>
          <a:solidFill>
            <a:srgbClr val="0F172A"/>
          </a:solidFill>
          <a:ln>
            <a:noFill/>
          </a:ln>
          <a:effectLst/>
        </p:spPr>
        <p:txBody>
          <a:bodyPr rtlCol="0" anchor="ctr"/>
          <a:lstStyle/>
          <a:p>
            <a:pPr algn="ctr"/>
          </a:p>
        </p:txBody>
      </p:sp>
      <p:sp>
        <p:nvSpPr>
          <p:cNvPr id="28" name="TextBox 27"/>
          <p:cNvSpPr txBox="1"/>
          <p:nvPr/>
        </p:nvSpPr>
        <p:spPr>
          <a:xfrm>
            <a:off x="8111067" y="4457700"/>
            <a:ext cx="3115733" cy="9906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Output: reports, catalogue</a:t>
            </a:r>
          </a:p>
          <a:p>
            <a:pPr>
              <a:lnSpc>
                <a:spcPct val="116667"/>
              </a:lnSpc>
              <a:spcAft>
                <a:spcPts val="0"/>
              </a:spcAft>
            </a:pPr>
            <a:r>
              <a:rPr sz="1200" b="0">
                <a:solidFill>
                  <a:srgbClr val="475569"/>
                </a:solidFill>
                <a:latin typeface="IBM Plex Sans"/>
              </a:rPr>
              <a:t>Every stored result in one catalogue, with what has already used it.</a:t>
            </a:r>
          </a:p>
        </p:txBody>
      </p:sp>
      <p:sp>
        <p:nvSpPr>
          <p:cNvPr id="29" name="TextBox 28"/>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0" name="TextBox 2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SYSTEM ARCHITECTURE</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Five layers under every function</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Every function runs on the same orchestration and shared services, with Postgres as the system of record.</a:t>
            </a:r>
          </a:p>
        </p:txBody>
      </p:sp>
      <p:sp>
        <p:nvSpPr>
          <p:cNvPr id="6" name="Rectangle 5"/>
          <p:cNvSpPr/>
          <p:nvPr/>
        </p:nvSpPr>
        <p:spPr>
          <a:xfrm>
            <a:off x="812800" y="2279650"/>
            <a:ext cx="10566400" cy="596900"/>
          </a:xfrm>
          <a:prstGeom prst="rect">
            <a:avLst/>
          </a:prstGeom>
          <a:solidFill>
            <a:srgbClr val="FFFFFF"/>
          </a:solidFill>
          <a:ln w="9525">
            <a:solidFill>
              <a:srgbClr val="E2E8F0"/>
            </a:solidFill>
          </a:ln>
          <a:effectLst/>
        </p:spPr>
        <p:txBody>
          <a:bodyPr rtlCol="0" anchor="ctr"/>
          <a:lstStyle/>
          <a:p>
            <a:pPr algn="ctr"/>
          </a:p>
        </p:txBody>
      </p:sp>
      <p:sp>
        <p:nvSpPr>
          <p:cNvPr id="7" name="TextBox 6"/>
          <p:cNvSpPr txBox="1"/>
          <p:nvPr/>
        </p:nvSpPr>
        <p:spPr>
          <a:xfrm>
            <a:off x="965200" y="22796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INTERFACES</a:t>
            </a:r>
          </a:p>
          <a:p>
            <a:pPr>
              <a:lnSpc>
                <a:spcPct val="108333"/>
              </a:lnSpc>
              <a:spcAft>
                <a:spcPts val="0"/>
              </a:spcAft>
            </a:pPr>
            <a:r>
              <a:rPr sz="1200" b="0">
                <a:solidFill>
                  <a:srgbClr val="475569"/>
                </a:solidFill>
                <a:latin typeface="IBM Plex Sans"/>
              </a:rPr>
              <a:t>who drives it</a:t>
            </a:r>
          </a:p>
        </p:txBody>
      </p:sp>
      <p:sp>
        <p:nvSpPr>
          <p:cNvPr id="8" name="Rectangle 7"/>
          <p:cNvSpPr/>
          <p:nvPr/>
        </p:nvSpPr>
        <p:spPr>
          <a:xfrm>
            <a:off x="3175000" y="2428875"/>
            <a:ext cx="885952" cy="298450"/>
          </a:xfrm>
          <a:prstGeom prst="rect">
            <a:avLst/>
          </a:prstGeom>
          <a:solidFill>
            <a:srgbClr val="F1F5F9"/>
          </a:solidFill>
          <a:ln>
            <a:noFill/>
          </a:ln>
          <a:effectLst/>
        </p:spPr>
        <p:txBody>
          <a:bodyPr rtlCol="0" anchor="ctr"/>
          <a:lstStyle/>
          <a:p>
            <a:pPr algn="ctr"/>
          </a:p>
        </p:txBody>
      </p:sp>
      <p:sp>
        <p:nvSpPr>
          <p:cNvPr id="9" name="TextBox 8"/>
          <p:cNvSpPr txBox="1"/>
          <p:nvPr/>
        </p:nvSpPr>
        <p:spPr>
          <a:xfrm>
            <a:off x="3175000" y="24288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React UI</a:t>
            </a:r>
          </a:p>
        </p:txBody>
      </p:sp>
      <p:sp>
        <p:nvSpPr>
          <p:cNvPr id="10" name="Rectangle 9"/>
          <p:cNvSpPr/>
          <p:nvPr/>
        </p:nvSpPr>
        <p:spPr>
          <a:xfrm>
            <a:off x="4137152" y="2428875"/>
            <a:ext cx="800608" cy="298450"/>
          </a:xfrm>
          <a:prstGeom prst="rect">
            <a:avLst/>
          </a:prstGeom>
          <a:solidFill>
            <a:srgbClr val="F1F5F9"/>
          </a:solidFill>
          <a:ln>
            <a:noFill/>
          </a:ln>
          <a:effectLst/>
        </p:spPr>
        <p:txBody>
          <a:bodyPr rtlCol="0" anchor="ctr"/>
          <a:lstStyle/>
          <a:p>
            <a:pPr algn="ctr"/>
          </a:p>
        </p:txBody>
      </p:sp>
      <p:sp>
        <p:nvSpPr>
          <p:cNvPr id="11" name="TextBox 10"/>
          <p:cNvSpPr txBox="1"/>
          <p:nvPr/>
        </p:nvSpPr>
        <p:spPr>
          <a:xfrm>
            <a:off x="4137152" y="2428875"/>
            <a:ext cx="8006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FastAPI</a:t>
            </a:r>
          </a:p>
        </p:txBody>
      </p:sp>
      <p:sp>
        <p:nvSpPr>
          <p:cNvPr id="12" name="Rectangle 11"/>
          <p:cNvSpPr/>
          <p:nvPr/>
        </p:nvSpPr>
        <p:spPr>
          <a:xfrm>
            <a:off x="5013960" y="2428875"/>
            <a:ext cx="971296" cy="298450"/>
          </a:xfrm>
          <a:prstGeom prst="rect">
            <a:avLst/>
          </a:prstGeom>
          <a:solidFill>
            <a:srgbClr val="F1F5F9"/>
          </a:solidFill>
          <a:ln>
            <a:noFill/>
          </a:ln>
          <a:effectLst/>
        </p:spPr>
        <p:txBody>
          <a:bodyPr rtlCol="0" anchor="ctr"/>
          <a:lstStyle/>
          <a:p>
            <a:pPr algn="ctr"/>
          </a:p>
        </p:txBody>
      </p:sp>
      <p:sp>
        <p:nvSpPr>
          <p:cNvPr id="13" name="TextBox 12"/>
          <p:cNvSpPr txBox="1"/>
          <p:nvPr/>
        </p:nvSpPr>
        <p:spPr>
          <a:xfrm>
            <a:off x="5013960" y="24288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Typer CLI</a:t>
            </a:r>
          </a:p>
        </p:txBody>
      </p:sp>
      <p:sp>
        <p:nvSpPr>
          <p:cNvPr id="14" name="Rectangle 13"/>
          <p:cNvSpPr/>
          <p:nvPr/>
        </p:nvSpPr>
        <p:spPr>
          <a:xfrm>
            <a:off x="6061456" y="2428875"/>
            <a:ext cx="1312672" cy="298450"/>
          </a:xfrm>
          <a:prstGeom prst="rect">
            <a:avLst/>
          </a:prstGeom>
          <a:solidFill>
            <a:srgbClr val="F1F5F9"/>
          </a:solidFill>
          <a:ln>
            <a:noFill/>
          </a:ln>
          <a:effectLst/>
        </p:spPr>
        <p:txBody>
          <a:bodyPr rtlCol="0" anchor="ctr"/>
          <a:lstStyle/>
          <a:p>
            <a:pPr algn="ctr"/>
          </a:p>
        </p:txBody>
      </p:sp>
      <p:sp>
        <p:nvSpPr>
          <p:cNvPr id="15" name="TextBox 14"/>
          <p:cNvSpPr txBox="1"/>
          <p:nvPr/>
        </p:nvSpPr>
        <p:spPr>
          <a:xfrm>
            <a:off x="6061456" y="2428875"/>
            <a:ext cx="131267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Ask ARP panel</a:t>
            </a:r>
          </a:p>
        </p:txBody>
      </p:sp>
      <p:sp>
        <p:nvSpPr>
          <p:cNvPr id="16" name="Rectangle 15"/>
          <p:cNvSpPr/>
          <p:nvPr/>
        </p:nvSpPr>
        <p:spPr>
          <a:xfrm>
            <a:off x="7450328" y="2428875"/>
            <a:ext cx="885952" cy="298450"/>
          </a:xfrm>
          <a:prstGeom prst="rect">
            <a:avLst/>
          </a:prstGeom>
          <a:solidFill>
            <a:srgbClr val="F1F5F9"/>
          </a:solidFill>
          <a:ln>
            <a:noFill/>
          </a:ln>
          <a:effectLst/>
        </p:spPr>
        <p:txBody>
          <a:bodyPr rtlCol="0" anchor="ctr"/>
          <a:lstStyle/>
          <a:p>
            <a:pPr algn="ctr"/>
          </a:p>
        </p:txBody>
      </p:sp>
      <p:sp>
        <p:nvSpPr>
          <p:cNvPr id="17" name="TextBox 16"/>
          <p:cNvSpPr txBox="1"/>
          <p:nvPr/>
        </p:nvSpPr>
        <p:spPr>
          <a:xfrm>
            <a:off x="7450328" y="24288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Superset</a:t>
            </a:r>
          </a:p>
        </p:txBody>
      </p:sp>
      <p:sp>
        <p:nvSpPr>
          <p:cNvPr id="18" name="Rectangle 17"/>
          <p:cNvSpPr/>
          <p:nvPr/>
        </p:nvSpPr>
        <p:spPr>
          <a:xfrm>
            <a:off x="812800" y="2965450"/>
            <a:ext cx="10566400" cy="596900"/>
          </a:xfrm>
          <a:prstGeom prst="rect">
            <a:avLst/>
          </a:prstGeom>
          <a:solidFill>
            <a:srgbClr val="FFFFFF"/>
          </a:solidFill>
          <a:ln w="9525">
            <a:solidFill>
              <a:srgbClr val="E2E8F0"/>
            </a:solidFill>
          </a:ln>
          <a:effectLst/>
        </p:spPr>
        <p:txBody>
          <a:bodyPr rtlCol="0" anchor="ctr"/>
          <a:lstStyle/>
          <a:p>
            <a:pPr algn="ctr"/>
          </a:p>
        </p:txBody>
      </p:sp>
      <p:sp>
        <p:nvSpPr>
          <p:cNvPr id="19" name="TextBox 18"/>
          <p:cNvSpPr txBox="1"/>
          <p:nvPr/>
        </p:nvSpPr>
        <p:spPr>
          <a:xfrm>
            <a:off x="965200" y="29654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ORCHESTRATION</a:t>
            </a:r>
          </a:p>
          <a:p>
            <a:pPr>
              <a:lnSpc>
                <a:spcPct val="108333"/>
              </a:lnSpc>
              <a:spcAft>
                <a:spcPts val="0"/>
              </a:spcAft>
            </a:pPr>
            <a:r>
              <a:rPr sz="1200" b="0">
                <a:solidFill>
                  <a:srgbClr val="475569"/>
                </a:solidFill>
                <a:latin typeface="IBM Plex Sans"/>
              </a:rPr>
              <a:t>how a run behaves</a:t>
            </a:r>
          </a:p>
        </p:txBody>
      </p:sp>
      <p:sp>
        <p:nvSpPr>
          <p:cNvPr id="20" name="Rectangle 19"/>
          <p:cNvSpPr/>
          <p:nvPr/>
        </p:nvSpPr>
        <p:spPr>
          <a:xfrm>
            <a:off x="3175000" y="3114675"/>
            <a:ext cx="1739392" cy="298450"/>
          </a:xfrm>
          <a:prstGeom prst="rect">
            <a:avLst/>
          </a:prstGeom>
          <a:solidFill>
            <a:srgbClr val="F1F5F9"/>
          </a:solidFill>
          <a:ln>
            <a:noFill/>
          </a:ln>
          <a:effectLst/>
        </p:spPr>
        <p:txBody>
          <a:bodyPr rtlCol="0" anchor="ctr"/>
          <a:lstStyle/>
          <a:p>
            <a:pPr algn="ctr"/>
          </a:p>
        </p:txBody>
      </p:sp>
      <p:sp>
        <p:nvSpPr>
          <p:cNvPr id="21" name="TextBox 20"/>
          <p:cNvSpPr txBox="1"/>
          <p:nvPr/>
        </p:nvSpPr>
        <p:spPr>
          <a:xfrm>
            <a:off x="3175000" y="31146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run store</a:t>
            </a:r>
          </a:p>
        </p:txBody>
      </p:sp>
      <p:sp>
        <p:nvSpPr>
          <p:cNvPr id="22" name="Rectangle 21"/>
          <p:cNvSpPr/>
          <p:nvPr/>
        </p:nvSpPr>
        <p:spPr>
          <a:xfrm>
            <a:off x="4990592" y="3114675"/>
            <a:ext cx="2166112" cy="298450"/>
          </a:xfrm>
          <a:prstGeom prst="rect">
            <a:avLst/>
          </a:prstGeom>
          <a:solidFill>
            <a:srgbClr val="F1F5F9"/>
          </a:solidFill>
          <a:ln>
            <a:noFill/>
          </a:ln>
          <a:effectLst/>
        </p:spPr>
        <p:txBody>
          <a:bodyPr rtlCol="0" anchor="ctr"/>
          <a:lstStyle/>
          <a:p>
            <a:pPr algn="ctr"/>
          </a:p>
        </p:txBody>
      </p:sp>
      <p:sp>
        <p:nvSpPr>
          <p:cNvPr id="23" name="TextBox 22"/>
          <p:cNvSpPr txBox="1"/>
          <p:nvPr/>
        </p:nvSpPr>
        <p:spPr>
          <a:xfrm>
            <a:off x="4990592" y="3114675"/>
            <a:ext cx="216611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per-company checkpoints</a:t>
            </a:r>
          </a:p>
        </p:txBody>
      </p:sp>
      <p:sp>
        <p:nvSpPr>
          <p:cNvPr id="24" name="Rectangle 23"/>
          <p:cNvSpPr/>
          <p:nvPr/>
        </p:nvSpPr>
        <p:spPr>
          <a:xfrm>
            <a:off x="7232904" y="3114675"/>
            <a:ext cx="1398016" cy="298450"/>
          </a:xfrm>
          <a:prstGeom prst="rect">
            <a:avLst/>
          </a:prstGeom>
          <a:solidFill>
            <a:srgbClr val="F1F5F9"/>
          </a:solidFill>
          <a:ln>
            <a:noFill/>
          </a:ln>
          <a:effectLst/>
        </p:spPr>
        <p:txBody>
          <a:bodyPr rtlCol="0" anchor="ctr"/>
          <a:lstStyle/>
          <a:p>
            <a:pPr algn="ctr"/>
          </a:p>
        </p:txBody>
      </p:sp>
      <p:sp>
        <p:nvSpPr>
          <p:cNvPr id="25" name="TextBox 24"/>
          <p:cNvSpPr txBox="1"/>
          <p:nvPr/>
        </p:nvSpPr>
        <p:spPr>
          <a:xfrm>
            <a:off x="7232904" y="31146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resume, cancel</a:t>
            </a:r>
          </a:p>
        </p:txBody>
      </p:sp>
      <p:sp>
        <p:nvSpPr>
          <p:cNvPr id="26" name="Rectangle 25"/>
          <p:cNvSpPr/>
          <p:nvPr/>
        </p:nvSpPr>
        <p:spPr>
          <a:xfrm>
            <a:off x="8707120" y="3114675"/>
            <a:ext cx="971296" cy="298450"/>
          </a:xfrm>
          <a:prstGeom prst="rect">
            <a:avLst/>
          </a:prstGeom>
          <a:solidFill>
            <a:srgbClr val="F1F5F9"/>
          </a:solidFill>
          <a:ln>
            <a:noFill/>
          </a:ln>
          <a:effectLst/>
        </p:spPr>
        <p:txBody>
          <a:bodyPr rtlCol="0" anchor="ctr"/>
          <a:lstStyle/>
          <a:p>
            <a:pPr algn="ctr"/>
          </a:p>
        </p:txBody>
      </p:sp>
      <p:sp>
        <p:nvSpPr>
          <p:cNvPr id="27" name="TextBox 26"/>
          <p:cNvSpPr txBox="1"/>
          <p:nvPr/>
        </p:nvSpPr>
        <p:spPr>
          <a:xfrm>
            <a:off x="8707120" y="31146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Batch API</a:t>
            </a:r>
          </a:p>
        </p:txBody>
      </p:sp>
      <p:sp>
        <p:nvSpPr>
          <p:cNvPr id="28" name="Rectangle 27"/>
          <p:cNvSpPr/>
          <p:nvPr/>
        </p:nvSpPr>
        <p:spPr>
          <a:xfrm>
            <a:off x="9754616" y="3114675"/>
            <a:ext cx="1227328" cy="298450"/>
          </a:xfrm>
          <a:prstGeom prst="rect">
            <a:avLst/>
          </a:prstGeom>
          <a:solidFill>
            <a:srgbClr val="F1F5F9"/>
          </a:solidFill>
          <a:ln>
            <a:noFill/>
          </a:ln>
          <a:effectLst/>
        </p:spPr>
        <p:txBody>
          <a:bodyPr rtlCol="0" anchor="ctr"/>
          <a:lstStyle/>
          <a:p>
            <a:pPr algn="ctr"/>
          </a:p>
        </p:txBody>
      </p:sp>
      <p:sp>
        <p:nvSpPr>
          <p:cNvPr id="29" name="TextBox 28"/>
          <p:cNvSpPr txBox="1"/>
          <p:nvPr/>
        </p:nvSpPr>
        <p:spPr>
          <a:xfrm>
            <a:off x="9754616" y="3114675"/>
            <a:ext cx="122732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review queue</a:t>
            </a:r>
          </a:p>
        </p:txBody>
      </p:sp>
      <p:sp>
        <p:nvSpPr>
          <p:cNvPr id="30" name="Rectangle 29"/>
          <p:cNvSpPr/>
          <p:nvPr/>
        </p:nvSpPr>
        <p:spPr>
          <a:xfrm>
            <a:off x="812800" y="3651250"/>
            <a:ext cx="10566400" cy="596900"/>
          </a:xfrm>
          <a:prstGeom prst="rect">
            <a:avLst/>
          </a:prstGeom>
          <a:solidFill>
            <a:srgbClr val="FFFFFF"/>
          </a:solidFill>
          <a:ln w="9525">
            <a:solidFill>
              <a:srgbClr val="E2E8F0"/>
            </a:solidFill>
          </a:ln>
          <a:effectLst/>
        </p:spPr>
        <p:txBody>
          <a:bodyPr rtlCol="0" anchor="ctr"/>
          <a:lstStyle/>
          <a:p>
            <a:pPr algn="ctr"/>
          </a:p>
        </p:txBody>
      </p:sp>
      <p:sp>
        <p:nvSpPr>
          <p:cNvPr id="31" name="TextBox 30"/>
          <p:cNvSpPr txBox="1"/>
          <p:nvPr/>
        </p:nvSpPr>
        <p:spPr>
          <a:xfrm>
            <a:off x="965200" y="36512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AGENT PIPELINES</a:t>
            </a:r>
          </a:p>
          <a:p>
            <a:pPr>
              <a:lnSpc>
                <a:spcPct val="108333"/>
              </a:lnSpc>
              <a:spcAft>
                <a:spcPts val="0"/>
              </a:spcAft>
            </a:pPr>
            <a:r>
              <a:rPr sz="1200" b="0">
                <a:solidFill>
                  <a:srgbClr val="475569"/>
                </a:solidFill>
                <a:latin typeface="IBM Plex Sans"/>
              </a:rPr>
              <a:t>per-company flows</a:t>
            </a:r>
          </a:p>
        </p:txBody>
      </p:sp>
      <p:sp>
        <p:nvSpPr>
          <p:cNvPr id="32" name="Rectangle 31"/>
          <p:cNvSpPr/>
          <p:nvPr/>
        </p:nvSpPr>
        <p:spPr>
          <a:xfrm>
            <a:off x="3175000" y="3800475"/>
            <a:ext cx="2080768" cy="298450"/>
          </a:xfrm>
          <a:prstGeom prst="rect">
            <a:avLst/>
          </a:prstGeom>
          <a:solidFill>
            <a:srgbClr val="F1F5F9"/>
          </a:solidFill>
          <a:ln>
            <a:noFill/>
          </a:ln>
          <a:effectLst/>
        </p:spPr>
        <p:txBody>
          <a:bodyPr rtlCol="0" anchor="ctr"/>
          <a:lstStyle/>
          <a:p>
            <a:pPr algn="ctr"/>
          </a:p>
        </p:txBody>
      </p:sp>
      <p:sp>
        <p:nvSpPr>
          <p:cNvPr id="33" name="TextBox 32"/>
          <p:cNvSpPr txBox="1"/>
          <p:nvPr/>
        </p:nvSpPr>
        <p:spPr>
          <a:xfrm>
            <a:off x="3175000" y="3800475"/>
            <a:ext cx="208076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LangGraph state graphs</a:t>
            </a:r>
          </a:p>
        </p:txBody>
      </p:sp>
      <p:sp>
        <p:nvSpPr>
          <p:cNvPr id="34" name="Rectangle 33"/>
          <p:cNvSpPr/>
          <p:nvPr/>
        </p:nvSpPr>
        <p:spPr>
          <a:xfrm>
            <a:off x="5331968" y="3800475"/>
            <a:ext cx="1739392" cy="298450"/>
          </a:xfrm>
          <a:prstGeom prst="rect">
            <a:avLst/>
          </a:prstGeom>
          <a:solidFill>
            <a:srgbClr val="F1F5F9"/>
          </a:solidFill>
          <a:ln>
            <a:noFill/>
          </a:ln>
          <a:effectLst/>
        </p:spPr>
        <p:txBody>
          <a:bodyPr rtlCol="0" anchor="ctr"/>
          <a:lstStyle/>
          <a:p>
            <a:pPr algn="ctr"/>
          </a:p>
        </p:txBody>
      </p:sp>
      <p:sp>
        <p:nvSpPr>
          <p:cNvPr id="35" name="TextBox 34"/>
          <p:cNvSpPr txBox="1"/>
          <p:nvPr/>
        </p:nvSpPr>
        <p:spPr>
          <a:xfrm>
            <a:off x="5331968" y="38004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extraction presets</a:t>
            </a:r>
          </a:p>
        </p:txBody>
      </p:sp>
      <p:sp>
        <p:nvSpPr>
          <p:cNvPr id="36" name="Rectangle 35"/>
          <p:cNvSpPr/>
          <p:nvPr/>
        </p:nvSpPr>
        <p:spPr>
          <a:xfrm>
            <a:off x="7147560" y="3800475"/>
            <a:ext cx="715264" cy="298450"/>
          </a:xfrm>
          <a:prstGeom prst="rect">
            <a:avLst/>
          </a:prstGeom>
          <a:solidFill>
            <a:srgbClr val="F1F5F9"/>
          </a:solidFill>
          <a:ln>
            <a:noFill/>
          </a:ln>
          <a:effectLst/>
        </p:spPr>
        <p:txBody>
          <a:bodyPr rtlCol="0" anchor="ctr"/>
          <a:lstStyle/>
          <a:p>
            <a:pPr algn="ctr"/>
          </a:p>
        </p:txBody>
      </p:sp>
      <p:sp>
        <p:nvSpPr>
          <p:cNvPr id="37" name="TextBox 36"/>
          <p:cNvSpPr txBox="1"/>
          <p:nvPr/>
        </p:nvSpPr>
        <p:spPr>
          <a:xfrm>
            <a:off x="7147560" y="3800475"/>
            <a:ext cx="71526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themes</a:t>
            </a:r>
          </a:p>
        </p:txBody>
      </p:sp>
      <p:sp>
        <p:nvSpPr>
          <p:cNvPr id="38" name="Rectangle 37"/>
          <p:cNvSpPr/>
          <p:nvPr/>
        </p:nvSpPr>
        <p:spPr>
          <a:xfrm>
            <a:off x="7939024" y="3800475"/>
            <a:ext cx="1056640" cy="298450"/>
          </a:xfrm>
          <a:prstGeom prst="rect">
            <a:avLst/>
          </a:prstGeom>
          <a:solidFill>
            <a:srgbClr val="F1F5F9"/>
          </a:solidFill>
          <a:ln>
            <a:noFill/>
          </a:ln>
          <a:effectLst/>
        </p:spPr>
        <p:txBody>
          <a:bodyPr rtlCol="0" anchor="ctr"/>
          <a:lstStyle/>
          <a:p>
            <a:pPr algn="ctr"/>
          </a:p>
        </p:txBody>
      </p:sp>
      <p:sp>
        <p:nvSpPr>
          <p:cNvPr id="39" name="TextBox 38"/>
          <p:cNvSpPr txBox="1"/>
          <p:nvPr/>
        </p:nvSpPr>
        <p:spPr>
          <a:xfrm>
            <a:off x="7939024" y="38004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transition</a:t>
            </a:r>
          </a:p>
        </p:txBody>
      </p:sp>
      <p:sp>
        <p:nvSpPr>
          <p:cNvPr id="40" name="Rectangle 39"/>
          <p:cNvSpPr/>
          <p:nvPr/>
        </p:nvSpPr>
        <p:spPr>
          <a:xfrm>
            <a:off x="9071864" y="3800475"/>
            <a:ext cx="1141984" cy="298450"/>
          </a:xfrm>
          <a:prstGeom prst="rect">
            <a:avLst/>
          </a:prstGeom>
          <a:solidFill>
            <a:srgbClr val="F1F5F9"/>
          </a:solidFill>
          <a:ln>
            <a:noFill/>
          </a:ln>
          <a:effectLst/>
        </p:spPr>
        <p:txBody>
          <a:bodyPr rtlCol="0" anchor="ctr"/>
          <a:lstStyle/>
          <a:p>
            <a:pPr algn="ctr"/>
          </a:p>
        </p:txBody>
      </p:sp>
      <p:sp>
        <p:nvSpPr>
          <p:cNvPr id="41" name="TextBox 40"/>
          <p:cNvSpPr txBox="1"/>
          <p:nvPr/>
        </p:nvSpPr>
        <p:spPr>
          <a:xfrm>
            <a:off x="9071864" y="38004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stewardship</a:t>
            </a:r>
          </a:p>
        </p:txBody>
      </p:sp>
      <p:sp>
        <p:nvSpPr>
          <p:cNvPr id="42" name="Rectangle 41"/>
          <p:cNvSpPr/>
          <p:nvPr/>
        </p:nvSpPr>
        <p:spPr>
          <a:xfrm>
            <a:off x="812800" y="4337050"/>
            <a:ext cx="10566400" cy="596900"/>
          </a:xfrm>
          <a:prstGeom prst="rect">
            <a:avLst/>
          </a:prstGeom>
          <a:solidFill>
            <a:srgbClr val="FFFFFF"/>
          </a:solidFill>
          <a:ln w="9525">
            <a:solidFill>
              <a:srgbClr val="E2E8F0"/>
            </a:solidFill>
          </a:ln>
          <a:effectLst/>
        </p:spPr>
        <p:txBody>
          <a:bodyPr rtlCol="0" anchor="ctr"/>
          <a:lstStyle/>
          <a:p>
            <a:pPr algn="ctr"/>
          </a:p>
        </p:txBody>
      </p:sp>
      <p:sp>
        <p:nvSpPr>
          <p:cNvPr id="43" name="TextBox 42"/>
          <p:cNvSpPr txBox="1"/>
          <p:nvPr/>
        </p:nvSpPr>
        <p:spPr>
          <a:xfrm>
            <a:off x="965200" y="43370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SHARED SERVICES</a:t>
            </a:r>
          </a:p>
          <a:p>
            <a:pPr>
              <a:lnSpc>
                <a:spcPct val="108333"/>
              </a:lnSpc>
              <a:spcAft>
                <a:spcPts val="0"/>
              </a:spcAft>
            </a:pPr>
            <a:r>
              <a:rPr sz="1200" b="0">
                <a:solidFill>
                  <a:srgbClr val="475569"/>
                </a:solidFill>
                <a:latin typeface="IBM Plex Sans"/>
              </a:rPr>
              <a:t>used by every pipeline</a:t>
            </a:r>
          </a:p>
        </p:txBody>
      </p:sp>
      <p:sp>
        <p:nvSpPr>
          <p:cNvPr id="44" name="Rectangle 43"/>
          <p:cNvSpPr/>
          <p:nvPr/>
        </p:nvSpPr>
        <p:spPr>
          <a:xfrm>
            <a:off x="3175000" y="4486275"/>
            <a:ext cx="1654048" cy="298450"/>
          </a:xfrm>
          <a:prstGeom prst="rect">
            <a:avLst/>
          </a:prstGeom>
          <a:solidFill>
            <a:srgbClr val="F1F5F9"/>
          </a:solidFill>
          <a:ln>
            <a:noFill/>
          </a:ln>
          <a:effectLst/>
        </p:spPr>
        <p:txBody>
          <a:bodyPr rtlCol="0" anchor="ctr"/>
          <a:lstStyle/>
          <a:p>
            <a:pPr algn="ctr"/>
          </a:p>
        </p:txBody>
      </p:sp>
      <p:sp>
        <p:nvSpPr>
          <p:cNvPr id="45" name="TextBox 44"/>
          <p:cNvSpPr txBox="1"/>
          <p:nvPr/>
        </p:nvSpPr>
        <p:spPr>
          <a:xfrm>
            <a:off x="3175000" y="44862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one LLM interface</a:t>
            </a:r>
          </a:p>
        </p:txBody>
      </p:sp>
      <p:sp>
        <p:nvSpPr>
          <p:cNvPr id="46" name="Rectangle 45"/>
          <p:cNvSpPr/>
          <p:nvPr/>
        </p:nvSpPr>
        <p:spPr>
          <a:xfrm>
            <a:off x="4905248" y="4486275"/>
            <a:ext cx="1654048" cy="298450"/>
          </a:xfrm>
          <a:prstGeom prst="rect">
            <a:avLst/>
          </a:prstGeom>
          <a:solidFill>
            <a:srgbClr val="F1F5F9"/>
          </a:solidFill>
          <a:ln>
            <a:noFill/>
          </a:ln>
          <a:effectLst/>
        </p:spPr>
        <p:txBody>
          <a:bodyPr rtlCol="0" anchor="ctr"/>
          <a:lstStyle/>
          <a:p>
            <a:pPr algn="ctr"/>
          </a:p>
        </p:txBody>
      </p:sp>
      <p:sp>
        <p:nvSpPr>
          <p:cNvPr id="47" name="TextBox 46"/>
          <p:cNvSpPr txBox="1"/>
          <p:nvPr/>
        </p:nvSpPr>
        <p:spPr>
          <a:xfrm>
            <a:off x="4905248" y="44862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Claude and Gemini</a:t>
            </a:r>
          </a:p>
        </p:txBody>
      </p:sp>
      <p:sp>
        <p:nvSpPr>
          <p:cNvPr id="48" name="Rectangle 47"/>
          <p:cNvSpPr/>
          <p:nvPr/>
        </p:nvSpPr>
        <p:spPr>
          <a:xfrm>
            <a:off x="6635496" y="4486275"/>
            <a:ext cx="1654048" cy="298450"/>
          </a:xfrm>
          <a:prstGeom prst="rect">
            <a:avLst/>
          </a:prstGeom>
          <a:solidFill>
            <a:srgbClr val="F1F5F9"/>
          </a:solidFill>
          <a:ln>
            <a:noFill/>
          </a:ln>
          <a:effectLst/>
        </p:spPr>
        <p:txBody>
          <a:bodyPr rtlCol="0" anchor="ctr"/>
          <a:lstStyle/>
          <a:p>
            <a:pPr algn="ctr"/>
          </a:p>
        </p:txBody>
      </p:sp>
      <p:sp>
        <p:nvSpPr>
          <p:cNvPr id="49" name="TextBox 48"/>
          <p:cNvSpPr txBox="1"/>
          <p:nvPr/>
        </p:nvSpPr>
        <p:spPr>
          <a:xfrm>
            <a:off x="6635496" y="44862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BM25 + embeddings</a:t>
            </a:r>
          </a:p>
        </p:txBody>
      </p:sp>
      <p:sp>
        <p:nvSpPr>
          <p:cNvPr id="50" name="Rectangle 49"/>
          <p:cNvSpPr/>
          <p:nvPr/>
        </p:nvSpPr>
        <p:spPr>
          <a:xfrm>
            <a:off x="8365744" y="4486275"/>
            <a:ext cx="971296" cy="298450"/>
          </a:xfrm>
          <a:prstGeom prst="rect">
            <a:avLst/>
          </a:prstGeom>
          <a:solidFill>
            <a:srgbClr val="F1F5F9"/>
          </a:solidFill>
          <a:ln>
            <a:noFill/>
          </a:ln>
          <a:effectLst/>
        </p:spPr>
        <p:txBody>
          <a:bodyPr rtlCol="0" anchor="ctr"/>
          <a:lstStyle/>
          <a:p>
            <a:pPr algn="ctr"/>
          </a:p>
        </p:txBody>
      </p:sp>
      <p:sp>
        <p:nvSpPr>
          <p:cNvPr id="51" name="TextBox 50"/>
          <p:cNvSpPr txBox="1"/>
          <p:nvPr/>
        </p:nvSpPr>
        <p:spPr>
          <a:xfrm>
            <a:off x="8365744" y="44862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grounding</a:t>
            </a:r>
          </a:p>
        </p:txBody>
      </p:sp>
      <p:sp>
        <p:nvSpPr>
          <p:cNvPr id="52" name="Rectangle 51"/>
          <p:cNvSpPr/>
          <p:nvPr/>
        </p:nvSpPr>
        <p:spPr>
          <a:xfrm>
            <a:off x="9413240" y="4486275"/>
            <a:ext cx="1056640" cy="298450"/>
          </a:xfrm>
          <a:prstGeom prst="rect">
            <a:avLst/>
          </a:prstGeom>
          <a:solidFill>
            <a:srgbClr val="F1F5F9"/>
          </a:solidFill>
          <a:ln>
            <a:noFill/>
          </a:ln>
          <a:effectLst/>
        </p:spPr>
        <p:txBody>
          <a:bodyPr rtlCol="0" anchor="ctr"/>
          <a:lstStyle/>
          <a:p>
            <a:pPr algn="ctr"/>
          </a:p>
        </p:txBody>
      </p:sp>
      <p:sp>
        <p:nvSpPr>
          <p:cNvPr id="53" name="TextBox 52"/>
          <p:cNvSpPr txBox="1"/>
          <p:nvPr/>
        </p:nvSpPr>
        <p:spPr>
          <a:xfrm>
            <a:off x="9413240" y="44862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SSRF guard</a:t>
            </a:r>
          </a:p>
        </p:txBody>
      </p:sp>
      <p:sp>
        <p:nvSpPr>
          <p:cNvPr id="54" name="Rectangle 53"/>
          <p:cNvSpPr/>
          <p:nvPr/>
        </p:nvSpPr>
        <p:spPr>
          <a:xfrm>
            <a:off x="812800" y="5022850"/>
            <a:ext cx="10566400" cy="596900"/>
          </a:xfrm>
          <a:prstGeom prst="rect">
            <a:avLst/>
          </a:prstGeom>
          <a:solidFill>
            <a:srgbClr val="FFFFFF"/>
          </a:solidFill>
          <a:ln w="9525">
            <a:solidFill>
              <a:srgbClr val="E2E8F0"/>
            </a:solidFill>
          </a:ln>
          <a:effectLst/>
        </p:spPr>
        <p:txBody>
          <a:bodyPr rtlCol="0" anchor="ctr"/>
          <a:lstStyle/>
          <a:p>
            <a:pPr algn="ctr"/>
          </a:p>
        </p:txBody>
      </p:sp>
      <p:sp>
        <p:nvSpPr>
          <p:cNvPr id="55" name="TextBox 54"/>
          <p:cNvSpPr txBox="1"/>
          <p:nvPr/>
        </p:nvSpPr>
        <p:spPr>
          <a:xfrm>
            <a:off x="965200" y="50228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STORAGE, COMPUTE</a:t>
            </a:r>
          </a:p>
          <a:p>
            <a:pPr>
              <a:lnSpc>
                <a:spcPct val="108333"/>
              </a:lnSpc>
              <a:spcAft>
                <a:spcPts val="0"/>
              </a:spcAft>
            </a:pPr>
            <a:r>
              <a:rPr sz="1200" b="0">
                <a:solidFill>
                  <a:srgbClr val="475569"/>
                </a:solidFill>
                <a:latin typeface="IBM Plex Sans"/>
              </a:rPr>
              <a:t>what persists</a:t>
            </a:r>
          </a:p>
        </p:txBody>
      </p:sp>
      <p:sp>
        <p:nvSpPr>
          <p:cNvPr id="56" name="Rectangle 55"/>
          <p:cNvSpPr/>
          <p:nvPr/>
        </p:nvSpPr>
        <p:spPr>
          <a:xfrm>
            <a:off x="3175000" y="5172075"/>
            <a:ext cx="1824736" cy="298450"/>
          </a:xfrm>
          <a:prstGeom prst="rect">
            <a:avLst/>
          </a:prstGeom>
          <a:solidFill>
            <a:srgbClr val="F1F5F9"/>
          </a:solidFill>
          <a:ln>
            <a:noFill/>
          </a:ln>
          <a:effectLst/>
        </p:spPr>
        <p:txBody>
          <a:bodyPr rtlCol="0" anchor="ctr"/>
          <a:lstStyle/>
          <a:p>
            <a:pPr algn="ctr"/>
          </a:p>
        </p:txBody>
      </p:sp>
      <p:sp>
        <p:nvSpPr>
          <p:cNvPr id="57" name="TextBox 56"/>
          <p:cNvSpPr txBox="1"/>
          <p:nvPr/>
        </p:nvSpPr>
        <p:spPr>
          <a:xfrm>
            <a:off x="3175000" y="5172075"/>
            <a:ext cx="182473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 pgvector</a:t>
            </a:r>
          </a:p>
        </p:txBody>
      </p:sp>
      <p:sp>
        <p:nvSpPr>
          <p:cNvPr id="58" name="Rectangle 57"/>
          <p:cNvSpPr/>
          <p:nvPr/>
        </p:nvSpPr>
        <p:spPr>
          <a:xfrm>
            <a:off x="5075936" y="5172075"/>
            <a:ext cx="2251456" cy="298450"/>
          </a:xfrm>
          <a:prstGeom prst="rect">
            <a:avLst/>
          </a:prstGeom>
          <a:solidFill>
            <a:srgbClr val="F1F5F9"/>
          </a:solidFill>
          <a:ln>
            <a:noFill/>
          </a:ln>
          <a:effectLst/>
        </p:spPr>
        <p:txBody>
          <a:bodyPr rtlCol="0" anchor="ctr"/>
          <a:lstStyle/>
          <a:p>
            <a:pPr algn="ctr"/>
          </a:p>
        </p:txBody>
      </p:sp>
      <p:sp>
        <p:nvSpPr>
          <p:cNvPr id="59" name="TextBox 58"/>
          <p:cNvSpPr txBox="1"/>
          <p:nvPr/>
        </p:nvSpPr>
        <p:spPr>
          <a:xfrm>
            <a:off x="5075936" y="5172075"/>
            <a:ext cx="225145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fact ledger, as-of reads</a:t>
            </a:r>
          </a:p>
        </p:txBody>
      </p:sp>
      <p:sp>
        <p:nvSpPr>
          <p:cNvPr id="60" name="Rectangle 59"/>
          <p:cNvSpPr/>
          <p:nvPr/>
        </p:nvSpPr>
        <p:spPr>
          <a:xfrm>
            <a:off x="7403592" y="5172075"/>
            <a:ext cx="1398016" cy="298450"/>
          </a:xfrm>
          <a:prstGeom prst="rect">
            <a:avLst/>
          </a:prstGeom>
          <a:solidFill>
            <a:srgbClr val="F1F5F9"/>
          </a:solidFill>
          <a:ln>
            <a:noFill/>
          </a:ln>
          <a:effectLst/>
        </p:spPr>
        <p:txBody>
          <a:bodyPr rtlCol="0" anchor="ctr"/>
          <a:lstStyle/>
          <a:p>
            <a:pPr algn="ctr"/>
          </a:p>
        </p:txBody>
      </p:sp>
      <p:sp>
        <p:nvSpPr>
          <p:cNvPr id="61" name="TextBox 60"/>
          <p:cNvSpPr txBox="1"/>
          <p:nvPr/>
        </p:nvSpPr>
        <p:spPr>
          <a:xfrm>
            <a:off x="7403592" y="51720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document store</a:t>
            </a:r>
          </a:p>
        </p:txBody>
      </p:sp>
      <p:sp>
        <p:nvSpPr>
          <p:cNvPr id="62" name="Rectangle 61"/>
          <p:cNvSpPr/>
          <p:nvPr/>
        </p:nvSpPr>
        <p:spPr>
          <a:xfrm>
            <a:off x="8877808" y="5172075"/>
            <a:ext cx="1398016" cy="298450"/>
          </a:xfrm>
          <a:prstGeom prst="rect">
            <a:avLst/>
          </a:prstGeom>
          <a:solidFill>
            <a:srgbClr val="F1F5F9"/>
          </a:solidFill>
          <a:ln>
            <a:noFill/>
          </a:ln>
          <a:effectLst/>
        </p:spPr>
        <p:txBody>
          <a:bodyPr rtlCol="0" anchor="ctr"/>
          <a:lstStyle/>
          <a:p>
            <a:pPr algn="ctr"/>
          </a:p>
        </p:txBody>
      </p:sp>
      <p:sp>
        <p:nvSpPr>
          <p:cNvPr id="63" name="TextBox 62"/>
          <p:cNvSpPr txBox="1"/>
          <p:nvPr/>
        </p:nvSpPr>
        <p:spPr>
          <a:xfrm>
            <a:off x="8877808" y="51720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Cloud Run GPUs</a:t>
            </a:r>
          </a:p>
        </p:txBody>
      </p:sp>
      <p:sp>
        <p:nvSpPr>
          <p:cNvPr id="64" name="TextBox 6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65" name="TextBox 6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22C55E"/>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PART 1</a:t>
            </a:r>
          </a:p>
        </p:txBody>
      </p:sp>
      <p:sp>
        <p:nvSpPr>
          <p:cNvPr id="4" name="TextBox 3"/>
          <p:cNvSpPr txBox="1"/>
          <p:nvPr/>
        </p:nvSpPr>
        <p:spPr>
          <a:xfrm>
            <a:off x="812800" y="13144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F8FAFC"/>
                </a:solidFill>
                <a:latin typeface="IBM Plex Sans"/>
              </a:rPr>
              <a:t>Find and extract</a:t>
            </a:r>
          </a:p>
        </p:txBody>
      </p:sp>
      <p:sp>
        <p:nvSpPr>
          <p:cNvPr id="5" name="TextBox 4"/>
          <p:cNvSpPr txBox="1"/>
          <p:nvPr/>
        </p:nvSpPr>
        <p:spPr>
          <a:xfrm>
            <a:off x="812800" y="22796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94A3B8"/>
                </a:solidFill>
                <a:latin typeface="IBM Plex Sans"/>
              </a:rPr>
              <a:t>Build the universe, find the documents and pull cited figures out of them, for up to about 4,000 companies per run.</a:t>
            </a:r>
          </a:p>
        </p:txBody>
      </p:sp>
      <p:sp>
        <p:nvSpPr>
          <p:cNvPr id="6" name="Rectangle 5"/>
          <p:cNvSpPr/>
          <p:nvPr/>
        </p:nvSpPr>
        <p:spPr>
          <a:xfrm>
            <a:off x="812800" y="3670300"/>
            <a:ext cx="5080000" cy="6350"/>
          </a:xfrm>
          <a:prstGeom prst="rect">
            <a:avLst/>
          </a:prstGeom>
          <a:solidFill>
            <a:srgbClr val="334155"/>
          </a:solidFill>
          <a:ln>
            <a:noFill/>
          </a:ln>
          <a:effectLst/>
        </p:spPr>
        <p:txBody>
          <a:bodyPr rtlCol="0" anchor="ctr"/>
          <a:lstStyle/>
          <a:p>
            <a:pPr algn="ctr"/>
          </a:p>
        </p:txBody>
      </p:sp>
      <p:sp>
        <p:nvSpPr>
          <p:cNvPr id="7" name="TextBox 6"/>
          <p:cNvSpPr txBox="1"/>
          <p:nvPr/>
        </p:nvSpPr>
        <p:spPr>
          <a:xfrm>
            <a:off x="812800" y="3143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01</a:t>
            </a:r>
          </a:p>
        </p:txBody>
      </p:sp>
      <p:sp>
        <p:nvSpPr>
          <p:cNvPr id="8" name="TextBox 7"/>
          <p:cNvSpPr txBox="1"/>
          <p:nvPr/>
        </p:nvSpPr>
        <p:spPr>
          <a:xfrm>
            <a:off x="1270000" y="3143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Argus</a:t>
            </a:r>
          </a:p>
          <a:p>
            <a:pPr>
              <a:lnSpc>
                <a:spcPct val="108333"/>
              </a:lnSpc>
              <a:spcAft>
                <a:spcPts val="0"/>
              </a:spcAft>
            </a:pPr>
            <a:r>
              <a:rPr sz="1200" b="0">
                <a:solidFill>
                  <a:srgbClr val="94A3B8"/>
                </a:solidFill>
                <a:latin typeface="IBM Plex Sans"/>
              </a:rPr>
              <a:t>The extract-and-score flow</a:t>
            </a:r>
          </a:p>
        </p:txBody>
      </p:sp>
      <p:sp>
        <p:nvSpPr>
          <p:cNvPr id="9" name="Rectangle 8"/>
          <p:cNvSpPr/>
          <p:nvPr/>
        </p:nvSpPr>
        <p:spPr>
          <a:xfrm>
            <a:off x="812800" y="4203700"/>
            <a:ext cx="5080000" cy="6350"/>
          </a:xfrm>
          <a:prstGeom prst="rect">
            <a:avLst/>
          </a:prstGeom>
          <a:solidFill>
            <a:srgbClr val="334155"/>
          </a:solidFill>
          <a:ln>
            <a:noFill/>
          </a:ln>
          <a:effectLst/>
        </p:spPr>
        <p:txBody>
          <a:bodyPr rtlCol="0" anchor="ctr"/>
          <a:lstStyle/>
          <a:p>
            <a:pPr algn="ctr"/>
          </a:p>
        </p:txBody>
      </p:sp>
      <p:sp>
        <p:nvSpPr>
          <p:cNvPr id="10" name="TextBox 9"/>
          <p:cNvSpPr txBox="1"/>
          <p:nvPr/>
        </p:nvSpPr>
        <p:spPr>
          <a:xfrm>
            <a:off x="812800" y="3676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02</a:t>
            </a:r>
          </a:p>
        </p:txBody>
      </p:sp>
      <p:sp>
        <p:nvSpPr>
          <p:cNvPr id="11" name="TextBox 10"/>
          <p:cNvSpPr txBox="1"/>
          <p:nvPr/>
        </p:nvSpPr>
        <p:spPr>
          <a:xfrm>
            <a:off x="1270000" y="3676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Identity</a:t>
            </a:r>
          </a:p>
          <a:p>
            <a:pPr>
              <a:lnSpc>
                <a:spcPct val="108333"/>
              </a:lnSpc>
              <a:spcAft>
                <a:spcPts val="0"/>
              </a:spcAft>
            </a:pPr>
            <a:r>
              <a:rPr sz="1200" b="0">
                <a:solidFill>
                  <a:srgbClr val="94A3B8"/>
                </a:solidFill>
                <a:latin typeface="IBM Plex Sans"/>
              </a:rPr>
              <a:t>Which company is this?</a:t>
            </a:r>
          </a:p>
        </p:txBody>
      </p:sp>
      <p:sp>
        <p:nvSpPr>
          <p:cNvPr id="12" name="Rectangle 11"/>
          <p:cNvSpPr/>
          <p:nvPr/>
        </p:nvSpPr>
        <p:spPr>
          <a:xfrm>
            <a:off x="812800" y="4737100"/>
            <a:ext cx="5080000" cy="6350"/>
          </a:xfrm>
          <a:prstGeom prst="rect">
            <a:avLst/>
          </a:prstGeom>
          <a:solidFill>
            <a:srgbClr val="334155"/>
          </a:solidFill>
          <a:ln>
            <a:noFill/>
          </a:ln>
          <a:effectLst/>
        </p:spPr>
        <p:txBody>
          <a:bodyPr rtlCol="0" anchor="ctr"/>
          <a:lstStyle/>
          <a:p>
            <a:pPr algn="ctr"/>
          </a:p>
        </p:txBody>
      </p:sp>
      <p:sp>
        <p:nvSpPr>
          <p:cNvPr id="13" name="TextBox 12"/>
          <p:cNvSpPr txBox="1"/>
          <p:nvPr/>
        </p:nvSpPr>
        <p:spPr>
          <a:xfrm>
            <a:off x="812800" y="4210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03</a:t>
            </a:r>
          </a:p>
        </p:txBody>
      </p:sp>
      <p:sp>
        <p:nvSpPr>
          <p:cNvPr id="14" name="TextBox 13"/>
          <p:cNvSpPr txBox="1"/>
          <p:nvPr/>
        </p:nvSpPr>
        <p:spPr>
          <a:xfrm>
            <a:off x="1270000" y="4210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Documents</a:t>
            </a:r>
          </a:p>
          <a:p>
            <a:pPr>
              <a:lnSpc>
                <a:spcPct val="108333"/>
              </a:lnSpc>
              <a:spcAft>
                <a:spcPts val="0"/>
              </a:spcAft>
            </a:pPr>
            <a:r>
              <a:rPr sz="1200" b="0">
                <a:solidFill>
                  <a:srgbClr val="94A3B8"/>
                </a:solidFill>
                <a:latin typeface="IBM Plex Sans"/>
              </a:rPr>
              <a:t>Finding the reports</a:t>
            </a:r>
          </a:p>
        </p:txBody>
      </p:sp>
      <p:sp>
        <p:nvSpPr>
          <p:cNvPr id="15" name="Rectangle 14"/>
          <p:cNvSpPr/>
          <p:nvPr/>
        </p:nvSpPr>
        <p:spPr>
          <a:xfrm>
            <a:off x="812800" y="5270500"/>
            <a:ext cx="5080000" cy="6350"/>
          </a:xfrm>
          <a:prstGeom prst="rect">
            <a:avLst/>
          </a:prstGeom>
          <a:solidFill>
            <a:srgbClr val="334155"/>
          </a:solidFill>
          <a:ln>
            <a:noFill/>
          </a:ln>
          <a:effectLst/>
        </p:spPr>
        <p:txBody>
          <a:bodyPr rtlCol="0" anchor="ctr"/>
          <a:lstStyle/>
          <a:p>
            <a:pPr algn="ctr"/>
          </a:p>
        </p:txBody>
      </p:sp>
      <p:sp>
        <p:nvSpPr>
          <p:cNvPr id="16" name="TextBox 15"/>
          <p:cNvSpPr txBox="1"/>
          <p:nvPr/>
        </p:nvSpPr>
        <p:spPr>
          <a:xfrm>
            <a:off x="812800" y="4743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04</a:t>
            </a:r>
          </a:p>
        </p:txBody>
      </p:sp>
      <p:sp>
        <p:nvSpPr>
          <p:cNvPr id="17" name="TextBox 16"/>
          <p:cNvSpPr txBox="1"/>
          <p:nvPr/>
        </p:nvSpPr>
        <p:spPr>
          <a:xfrm>
            <a:off x="1270000" y="4743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Data-point extraction</a:t>
            </a:r>
          </a:p>
          <a:p>
            <a:pPr>
              <a:lnSpc>
                <a:spcPct val="108333"/>
              </a:lnSpc>
              <a:spcAft>
                <a:spcPts val="0"/>
              </a:spcAft>
            </a:pPr>
            <a:r>
              <a:rPr sz="1200" b="0">
                <a:solidFill>
                  <a:srgbClr val="94A3B8"/>
                </a:solidFill>
                <a:latin typeface="IBM Plex Sans"/>
              </a:rPr>
              <a:t>Cited figures and verdicts</a:t>
            </a:r>
          </a:p>
        </p:txBody>
      </p:sp>
      <p:sp>
        <p:nvSpPr>
          <p:cNvPr id="18" name="Rectangle 17"/>
          <p:cNvSpPr/>
          <p:nvPr/>
        </p:nvSpPr>
        <p:spPr>
          <a:xfrm>
            <a:off x="812800" y="5803900"/>
            <a:ext cx="5080000" cy="6350"/>
          </a:xfrm>
          <a:prstGeom prst="rect">
            <a:avLst/>
          </a:prstGeom>
          <a:solidFill>
            <a:srgbClr val="334155"/>
          </a:solidFill>
          <a:ln>
            <a:noFill/>
          </a:ln>
          <a:effectLst/>
        </p:spPr>
        <p:txBody>
          <a:bodyPr rtlCol="0" anchor="ctr"/>
          <a:lstStyle/>
          <a:p>
            <a:pPr algn="ctr"/>
          </a:p>
        </p:txBody>
      </p:sp>
      <p:sp>
        <p:nvSpPr>
          <p:cNvPr id="19" name="TextBox 18"/>
          <p:cNvSpPr txBox="1"/>
          <p:nvPr/>
        </p:nvSpPr>
        <p:spPr>
          <a:xfrm>
            <a:off x="812800" y="5276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05</a:t>
            </a:r>
          </a:p>
        </p:txBody>
      </p:sp>
      <p:sp>
        <p:nvSpPr>
          <p:cNvPr id="20" name="TextBox 19"/>
          <p:cNvSpPr txBox="1"/>
          <p:nvPr/>
        </p:nvSpPr>
        <p:spPr>
          <a:xfrm>
            <a:off x="1270000" y="5276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Financials and XBRL</a:t>
            </a:r>
          </a:p>
          <a:p>
            <a:pPr>
              <a:lnSpc>
                <a:spcPct val="108333"/>
              </a:lnSpc>
              <a:spcAft>
                <a:spcPts val="0"/>
              </a:spcAft>
            </a:pPr>
            <a:r>
              <a:rPr sz="1200" b="0">
                <a:solidFill>
                  <a:srgbClr val="94A3B8"/>
                </a:solidFill>
                <a:latin typeface="IBM Plex Sans"/>
              </a:rPr>
              <a:t>Segments, capex, R&amp;D, filed facts</a:t>
            </a:r>
          </a:p>
        </p:txBody>
      </p:sp>
      <p:sp>
        <p:nvSpPr>
          <p:cNvPr id="21" name="Rectangle 20"/>
          <p:cNvSpPr/>
          <p:nvPr/>
        </p:nvSpPr>
        <p:spPr>
          <a:xfrm>
            <a:off x="6299200" y="3670300"/>
            <a:ext cx="5080000" cy="6350"/>
          </a:xfrm>
          <a:prstGeom prst="rect">
            <a:avLst/>
          </a:prstGeom>
          <a:solidFill>
            <a:srgbClr val="334155"/>
          </a:solidFill>
          <a:ln>
            <a:noFill/>
          </a:ln>
          <a:effectLst/>
        </p:spPr>
        <p:txBody>
          <a:bodyPr rtlCol="0" anchor="ctr"/>
          <a:lstStyle/>
          <a:p>
            <a:pPr algn="ctr"/>
          </a:p>
        </p:txBody>
      </p:sp>
      <p:sp>
        <p:nvSpPr>
          <p:cNvPr id="22" name="TextBox 21"/>
          <p:cNvSpPr txBox="1"/>
          <p:nvPr/>
        </p:nvSpPr>
        <p:spPr>
          <a:xfrm>
            <a:off x="6299200" y="3143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06</a:t>
            </a:r>
          </a:p>
        </p:txBody>
      </p:sp>
      <p:sp>
        <p:nvSpPr>
          <p:cNvPr id="23" name="TextBox 22"/>
          <p:cNvSpPr txBox="1"/>
          <p:nvPr/>
        </p:nvSpPr>
        <p:spPr>
          <a:xfrm>
            <a:off x="6756400" y="3143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Thematic universe</a:t>
            </a:r>
          </a:p>
          <a:p>
            <a:pPr>
              <a:lnSpc>
                <a:spcPct val="108333"/>
              </a:lnSpc>
              <a:spcAft>
                <a:spcPts val="0"/>
              </a:spcAft>
            </a:pPr>
            <a:r>
              <a:rPr sz="1200" b="0">
                <a:solidFill>
                  <a:srgbClr val="94A3B8"/>
                </a:solidFill>
                <a:latin typeface="IBM Plex Sans"/>
              </a:rPr>
              <a:t>From a theme to its companies</a:t>
            </a:r>
          </a:p>
        </p:txBody>
      </p:sp>
      <p:sp>
        <p:nvSpPr>
          <p:cNvPr id="24" name="Rectangle 23"/>
          <p:cNvSpPr/>
          <p:nvPr/>
        </p:nvSpPr>
        <p:spPr>
          <a:xfrm>
            <a:off x="6299200" y="4203700"/>
            <a:ext cx="5080000" cy="6350"/>
          </a:xfrm>
          <a:prstGeom prst="rect">
            <a:avLst/>
          </a:prstGeom>
          <a:solidFill>
            <a:srgbClr val="334155"/>
          </a:solidFill>
          <a:ln>
            <a:noFill/>
          </a:ln>
          <a:effectLst/>
        </p:spPr>
        <p:txBody>
          <a:bodyPr rtlCol="0" anchor="ctr"/>
          <a:lstStyle/>
          <a:p>
            <a:pPr algn="ctr"/>
          </a:p>
        </p:txBody>
      </p:sp>
      <p:sp>
        <p:nvSpPr>
          <p:cNvPr id="25" name="TextBox 24"/>
          <p:cNvSpPr txBox="1"/>
          <p:nvPr/>
        </p:nvSpPr>
        <p:spPr>
          <a:xfrm>
            <a:off x="6299200" y="3676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07</a:t>
            </a:r>
          </a:p>
        </p:txBody>
      </p:sp>
      <p:sp>
        <p:nvSpPr>
          <p:cNvPr id="26" name="TextBox 25"/>
          <p:cNvSpPr txBox="1"/>
          <p:nvPr/>
        </p:nvSpPr>
        <p:spPr>
          <a:xfrm>
            <a:off x="6756400" y="3676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Theme dossier</a:t>
            </a:r>
          </a:p>
          <a:p>
            <a:pPr>
              <a:lnSpc>
                <a:spcPct val="108333"/>
              </a:lnSpc>
              <a:spcAft>
                <a:spcPts val="0"/>
              </a:spcAft>
            </a:pPr>
            <a:r>
              <a:rPr sz="1200" b="0">
                <a:solidFill>
                  <a:srgbClr val="94A3B8"/>
                </a:solidFill>
                <a:latin typeface="IBM Plex Sans"/>
              </a:rPr>
              <a:t>Spot, define and research a theme</a:t>
            </a:r>
          </a:p>
        </p:txBody>
      </p:sp>
      <p:sp>
        <p:nvSpPr>
          <p:cNvPr id="27" name="Rectangle 26"/>
          <p:cNvSpPr/>
          <p:nvPr/>
        </p:nvSpPr>
        <p:spPr>
          <a:xfrm>
            <a:off x="6299200" y="4737100"/>
            <a:ext cx="5080000" cy="6350"/>
          </a:xfrm>
          <a:prstGeom prst="rect">
            <a:avLst/>
          </a:prstGeom>
          <a:solidFill>
            <a:srgbClr val="334155"/>
          </a:solidFill>
          <a:ln>
            <a:noFill/>
          </a:ln>
          <a:effectLst/>
        </p:spPr>
        <p:txBody>
          <a:bodyPr rtlCol="0" anchor="ctr"/>
          <a:lstStyle/>
          <a:p>
            <a:pPr algn="ctr"/>
          </a:p>
        </p:txBody>
      </p:sp>
      <p:sp>
        <p:nvSpPr>
          <p:cNvPr id="28" name="TextBox 27"/>
          <p:cNvSpPr txBox="1"/>
          <p:nvPr/>
        </p:nvSpPr>
        <p:spPr>
          <a:xfrm>
            <a:off x="6299200" y="4210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08</a:t>
            </a:r>
          </a:p>
        </p:txBody>
      </p:sp>
      <p:sp>
        <p:nvSpPr>
          <p:cNvPr id="29" name="TextBox 28"/>
          <p:cNvSpPr txBox="1"/>
          <p:nvPr/>
        </p:nvSpPr>
        <p:spPr>
          <a:xfrm>
            <a:off x="6756400" y="4210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Transition plans</a:t>
            </a:r>
          </a:p>
          <a:p>
            <a:pPr>
              <a:lnSpc>
                <a:spcPct val="108333"/>
              </a:lnSpc>
              <a:spcAft>
                <a:spcPts val="0"/>
              </a:spcAft>
            </a:pPr>
            <a:r>
              <a:rPr sz="1200" b="0">
                <a:solidFill>
                  <a:srgbClr val="94A3B8"/>
                </a:solidFill>
                <a:latin typeface="IBM Plex Sans"/>
              </a:rPr>
              <a:t>Walk versus talk, then alignment</a:t>
            </a:r>
          </a:p>
        </p:txBody>
      </p:sp>
      <p:sp>
        <p:nvSpPr>
          <p:cNvPr id="30" name="Rectangle 29"/>
          <p:cNvSpPr/>
          <p:nvPr/>
        </p:nvSpPr>
        <p:spPr>
          <a:xfrm>
            <a:off x="6299200" y="5270500"/>
            <a:ext cx="5080000" cy="6350"/>
          </a:xfrm>
          <a:prstGeom prst="rect">
            <a:avLst/>
          </a:prstGeom>
          <a:solidFill>
            <a:srgbClr val="334155"/>
          </a:solidFill>
          <a:ln>
            <a:noFill/>
          </a:ln>
          <a:effectLst/>
        </p:spPr>
        <p:txBody>
          <a:bodyPr rtlCol="0" anchor="ctr"/>
          <a:lstStyle/>
          <a:p>
            <a:pPr algn="ctr"/>
          </a:p>
        </p:txBody>
      </p:sp>
      <p:sp>
        <p:nvSpPr>
          <p:cNvPr id="31" name="TextBox 30"/>
          <p:cNvSpPr txBox="1"/>
          <p:nvPr/>
        </p:nvSpPr>
        <p:spPr>
          <a:xfrm>
            <a:off x="6299200" y="4743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09</a:t>
            </a:r>
          </a:p>
        </p:txBody>
      </p:sp>
      <p:sp>
        <p:nvSpPr>
          <p:cNvPr id="32" name="TextBox 31"/>
          <p:cNvSpPr txBox="1"/>
          <p:nvPr/>
        </p:nvSpPr>
        <p:spPr>
          <a:xfrm>
            <a:off x="6756400" y="4743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Transition barriers</a:t>
            </a:r>
          </a:p>
          <a:p>
            <a:pPr>
              <a:lnSpc>
                <a:spcPct val="108333"/>
              </a:lnSpc>
              <a:spcAft>
                <a:spcPts val="0"/>
              </a:spcAft>
            </a:pPr>
            <a:r>
              <a:rPr sz="1200" b="0">
                <a:solidFill>
                  <a:srgbClr val="94A3B8"/>
                </a:solidFill>
                <a:latin typeface="IBM Plex Sans"/>
              </a:rPr>
              <a:t>Is decarbonisation feasible here?</a:t>
            </a:r>
          </a:p>
        </p:txBody>
      </p:sp>
      <p:sp>
        <p:nvSpPr>
          <p:cNvPr id="33" name="Rectangle 32"/>
          <p:cNvSpPr/>
          <p:nvPr/>
        </p:nvSpPr>
        <p:spPr>
          <a:xfrm>
            <a:off x="6299200" y="5803900"/>
            <a:ext cx="5080000" cy="6350"/>
          </a:xfrm>
          <a:prstGeom prst="rect">
            <a:avLst/>
          </a:prstGeom>
          <a:solidFill>
            <a:srgbClr val="334155"/>
          </a:solidFill>
          <a:ln>
            <a:noFill/>
          </a:ln>
          <a:effectLst/>
        </p:spPr>
        <p:txBody>
          <a:bodyPr rtlCol="0" anchor="ctr"/>
          <a:lstStyle/>
          <a:p>
            <a:pPr algn="ctr"/>
          </a:p>
        </p:txBody>
      </p:sp>
      <p:sp>
        <p:nvSpPr>
          <p:cNvPr id="34" name="TextBox 33"/>
          <p:cNvSpPr txBox="1"/>
          <p:nvPr/>
        </p:nvSpPr>
        <p:spPr>
          <a:xfrm>
            <a:off x="6299200" y="5276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10</a:t>
            </a:r>
          </a:p>
        </p:txBody>
      </p:sp>
      <p:sp>
        <p:nvSpPr>
          <p:cNvPr id="35" name="TextBox 34"/>
          <p:cNvSpPr txBox="1"/>
          <p:nvPr/>
        </p:nvSpPr>
        <p:spPr>
          <a:xfrm>
            <a:off x="6756400" y="5276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Value chain</a:t>
            </a:r>
          </a:p>
          <a:p>
            <a:pPr>
              <a:lnSpc>
                <a:spcPct val="108333"/>
              </a:lnSpc>
              <a:spcAft>
                <a:spcPts val="0"/>
              </a:spcAft>
            </a:pPr>
            <a:r>
              <a:rPr sz="1200" b="0">
                <a:solidFill>
                  <a:srgbClr val="94A3B8"/>
                </a:solidFill>
                <a:latin typeface="IBM Plex Sans"/>
              </a:rPr>
              <a:t>Exposure through input-output tables</a:t>
            </a:r>
          </a:p>
        </p:txBody>
      </p:sp>
      <p:sp>
        <p:nvSpPr>
          <p:cNvPr id="36" name="TextBox 35"/>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ARP · FUNCTIONS AND ARCHITECTURE</a:t>
            </a:r>
          </a:p>
        </p:txBody>
      </p:sp>
      <p:sp>
        <p:nvSpPr>
          <p:cNvPr id="37" name="TextBox 36"/>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94A3B8"/>
                </a:solidFill>
                <a:latin typeface="IBM Plex Mono"/>
              </a:rP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01</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extract and score</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Bring a universe; get every figure cited, reviewed and, if wanted, tiered by a ratified template.</a:t>
            </a:r>
          </a:p>
        </p:txBody>
      </p:sp>
      <p:sp>
        <p:nvSpPr>
          <p:cNvPr id="6" name="Rectangle 5"/>
          <p:cNvSpPr/>
          <p:nvPr/>
        </p:nvSpPr>
        <p:spPr>
          <a:xfrm>
            <a:off x="812800" y="2279650"/>
            <a:ext cx="1612900" cy="179705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Universe</a:t>
            </a:r>
          </a:p>
          <a:p>
            <a:pPr>
              <a:lnSpc>
                <a:spcPct val="112500"/>
              </a:lnSpc>
              <a:spcAft>
                <a:spcPts val="0"/>
              </a:spcAft>
            </a:pPr>
            <a:r>
              <a:rPr sz="1200" b="0">
                <a:solidFill>
                  <a:srgbClr val="475569"/>
                </a:solidFill>
                <a:latin typeface="IBM Plex Sans"/>
              </a:rPr>
              <a:t>Uploaded or saved, mapped through the security master</a:t>
            </a:r>
          </a:p>
        </p:txBody>
      </p:sp>
      <p:sp>
        <p:nvSpPr>
          <p:cNvPr id="9" name="TextBox 8"/>
          <p:cNvSpPr txBox="1"/>
          <p:nvPr/>
        </p:nvSpPr>
        <p:spPr>
          <a:xfrm>
            <a:off x="24257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Companies</a:t>
            </a:r>
          </a:p>
          <a:p>
            <a:pPr>
              <a:lnSpc>
                <a:spcPct val="112500"/>
              </a:lnSpc>
              <a:spcAft>
                <a:spcPts val="0"/>
              </a:spcAft>
            </a:pPr>
            <a:r>
              <a:rPr sz="1200" b="0">
                <a:solidFill>
                  <a:srgbClr val="475569"/>
                </a:solidFill>
                <a:latin typeface="IBM Plex Sans"/>
              </a:rPr>
              <a:t>One internal id each; LEI, ISIN, CIK matched exactly</a:t>
            </a:r>
          </a:p>
        </p:txBody>
      </p:sp>
      <p:sp>
        <p:nvSpPr>
          <p:cNvPr id="13" name="TextBox 12"/>
          <p:cNvSpPr txBox="1"/>
          <p:nvPr/>
        </p:nvSpPr>
        <p:spPr>
          <a:xfrm>
            <a:off x="42164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Documents</a:t>
            </a:r>
          </a:p>
          <a:p>
            <a:pPr>
              <a:lnSpc>
                <a:spcPct val="112500"/>
              </a:lnSpc>
              <a:spcAft>
                <a:spcPts val="0"/>
              </a:spcAft>
            </a:pPr>
            <a:r>
              <a:rPr sz="1200" b="0">
                <a:solidFill>
                  <a:srgbClr val="475569"/>
                </a:solidFill>
                <a:latin typeface="IBM Plex Sans"/>
              </a:rPr>
              <a:t>Upload, import folder, SEC or ESEF filings, web crawl</a:t>
            </a:r>
          </a:p>
        </p:txBody>
      </p:sp>
      <p:sp>
        <p:nvSpPr>
          <p:cNvPr id="17" name="TextBox 16"/>
          <p:cNvSpPr txBox="1"/>
          <p:nvPr/>
        </p:nvSpPr>
        <p:spPr>
          <a:xfrm>
            <a:off x="60071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16A34A"/>
          </a:solidFill>
          <a:ln>
            <a:noFill/>
          </a:ln>
          <a:effectLst/>
        </p:spPr>
        <p:txBody>
          <a:bodyPr rtlCol="0" anchor="ctr"/>
          <a:lstStyle/>
          <a:p>
            <a:pPr algn="ctr"/>
          </a:p>
        </p:txBody>
      </p:sp>
      <p:sp>
        <p:nvSpPr>
          <p:cNvPr id="20" name="TextBox 19"/>
          <p:cNvSpPr txBox="1"/>
          <p:nvPr/>
        </p:nvSpPr>
        <p:spPr>
          <a:xfrm>
            <a:off x="63373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04  LLM</a:t>
            </a:r>
          </a:p>
          <a:p>
            <a:pPr>
              <a:lnSpc>
                <a:spcPct val="100000"/>
              </a:lnSpc>
              <a:spcAft>
                <a:spcPts val="500"/>
              </a:spcAft>
            </a:pPr>
            <a:r>
              <a:rPr sz="1400" b="1">
                <a:solidFill>
                  <a:srgbClr val="0F172A"/>
                </a:solidFill>
                <a:latin typeface="IBM Plex Sans"/>
              </a:rPr>
              <a:t>Extract</a:t>
            </a:r>
          </a:p>
          <a:p>
            <a:pPr>
              <a:lnSpc>
                <a:spcPct val="112500"/>
              </a:lnSpc>
              <a:spcAft>
                <a:spcPts val="0"/>
              </a:spcAft>
            </a:pPr>
            <a:r>
              <a:rPr sz="1200" b="0">
                <a:solidFill>
                  <a:srgbClr val="475569"/>
                </a:solidFill>
                <a:latin typeface="IBM Plex Sans"/>
              </a:rPr>
              <a:t>Schema fields; verifier on a different model</a:t>
            </a:r>
          </a:p>
        </p:txBody>
      </p:sp>
      <p:sp>
        <p:nvSpPr>
          <p:cNvPr id="21" name="TextBox 20"/>
          <p:cNvSpPr txBox="1"/>
          <p:nvPr/>
        </p:nvSpPr>
        <p:spPr>
          <a:xfrm>
            <a:off x="77978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2563EB"/>
          </a:solidFill>
          <a:ln>
            <a:noFill/>
          </a:ln>
          <a:effectLst/>
        </p:spPr>
        <p:txBody>
          <a:bodyPr rtlCol="0" anchor="ctr"/>
          <a:lstStyle/>
          <a:p>
            <a:pPr algn="ctr"/>
          </a:p>
        </p:txBody>
      </p:sp>
      <p:sp>
        <p:nvSpPr>
          <p:cNvPr id="24" name="TextBox 23"/>
          <p:cNvSpPr txBox="1"/>
          <p:nvPr/>
        </p:nvSpPr>
        <p:spPr>
          <a:xfrm>
            <a:off x="81280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05  PERSON</a:t>
            </a:r>
          </a:p>
          <a:p>
            <a:pPr>
              <a:lnSpc>
                <a:spcPct val="100000"/>
              </a:lnSpc>
              <a:spcAft>
                <a:spcPts val="500"/>
              </a:spcAft>
            </a:pPr>
            <a:r>
              <a:rPr sz="1400" b="1">
                <a:solidFill>
                  <a:srgbClr val="0F172A"/>
                </a:solidFill>
                <a:latin typeface="IBM Plex Sans"/>
              </a:rPr>
              <a:t>Review</a:t>
            </a:r>
          </a:p>
          <a:p>
            <a:pPr>
              <a:lnSpc>
                <a:spcPct val="112500"/>
              </a:lnSpc>
              <a:spcAft>
                <a:spcPts val="0"/>
              </a:spcAft>
            </a:pPr>
            <a:r>
              <a:rPr sz="1200" b="0">
                <a:solidFill>
                  <a:srgbClr val="475569"/>
                </a:solidFill>
                <a:latin typeface="IBM Plex Sans"/>
              </a:rPr>
              <a:t>Accept, override or reject in the queue</a:t>
            </a:r>
          </a:p>
        </p:txBody>
      </p:sp>
      <p:sp>
        <p:nvSpPr>
          <p:cNvPr id="25" name="TextBox 24"/>
          <p:cNvSpPr txBox="1"/>
          <p:nvPr/>
        </p:nvSpPr>
        <p:spPr>
          <a:xfrm>
            <a:off x="95885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79705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Score</a:t>
            </a:r>
          </a:p>
          <a:p>
            <a:pPr>
              <a:lnSpc>
                <a:spcPct val="112500"/>
              </a:lnSpc>
              <a:spcAft>
                <a:spcPts val="0"/>
              </a:spcAft>
            </a:pPr>
            <a:r>
              <a:rPr sz="1200" b="0">
                <a:solidFill>
                  <a:srgbClr val="475569"/>
                </a:solidFill>
                <a:latin typeface="IBM Plex Sans"/>
              </a:rPr>
              <a:t>Decision Studio tiers from a ratified template</a:t>
            </a:r>
          </a:p>
        </p:txBody>
      </p:sp>
      <p:sp>
        <p:nvSpPr>
          <p:cNvPr id="29" name="Rectangle 28"/>
          <p:cNvSpPr/>
          <p:nvPr/>
        </p:nvSpPr>
        <p:spPr>
          <a:xfrm>
            <a:off x="812800" y="438150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STATUS</a:t>
            </a:r>
          </a:p>
          <a:p>
            <a:pPr>
              <a:lnSpc>
                <a:spcPct val="116667"/>
              </a:lnSpc>
              <a:spcAft>
                <a:spcPts val="0"/>
              </a:spcAft>
            </a:pPr>
            <a:r>
              <a:rPr sz="1200" b="0">
                <a:solidFill>
                  <a:srgbClr val="475569"/>
                </a:solidFill>
                <a:latin typeface="IBM Plex Sans"/>
              </a:rPr>
              <a:t>The start page and step 1 are live. Later steps hand over to the Extraction screens for now.</a:t>
            </a:r>
          </a:p>
        </p:txBody>
      </p:sp>
      <p:sp>
        <p:nvSpPr>
          <p:cNvPr id="31" name="Rectangle 30"/>
          <p:cNvSpPr/>
          <p:nvPr/>
        </p:nvSpPr>
        <p:spPr>
          <a:xfrm>
            <a:off x="4436533" y="438150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RUN MODES</a:t>
            </a:r>
          </a:p>
          <a:p>
            <a:pPr>
              <a:lnSpc>
                <a:spcPct val="116667"/>
              </a:lnSpc>
              <a:spcAft>
                <a:spcPts val="0"/>
              </a:spcAft>
            </a:pPr>
            <a:r>
              <a:rPr sz="1200" b="0">
                <a:solidFill>
                  <a:srgbClr val="475569"/>
                </a:solidFill>
                <a:latin typeface="IBM Plex Sans"/>
              </a:rPr>
              <a:t>Cheap, normal or max: more evidence and stricter review thresholds as the mode rises.</a:t>
            </a:r>
          </a:p>
        </p:txBody>
      </p:sp>
      <p:sp>
        <p:nvSpPr>
          <p:cNvPr id="33" name="Rectangle 32"/>
          <p:cNvSpPr/>
          <p:nvPr/>
        </p:nvSpPr>
        <p:spPr>
          <a:xfrm>
            <a:off x="8060267" y="438150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Nothing is matched by name; an unmatched security is fixed in the security master.</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02</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Identity: which company is this?</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Identifiers first, search only when they run out, and one model call only where no lookup settles it.</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Universe row</a:t>
            </a:r>
          </a:p>
          <a:p>
            <a:pPr>
              <a:lnSpc>
                <a:spcPct val="112500"/>
              </a:lnSpc>
              <a:spcAft>
                <a:spcPts val="0"/>
              </a:spcAft>
            </a:pPr>
            <a:r>
              <a:rPr sz="1200" b="0">
                <a:solidFill>
                  <a:srgbClr val="475569"/>
                </a:solidFill>
                <a:latin typeface="IBM Plex Sans"/>
              </a:rPr>
              <a:t>Name, maybe a ticker, LEI, ISIN or CIK</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Security master</a:t>
            </a:r>
          </a:p>
          <a:p>
            <a:pPr>
              <a:lnSpc>
                <a:spcPct val="112500"/>
              </a:lnSpc>
              <a:spcAft>
                <a:spcPts val="0"/>
              </a:spcAft>
            </a:pPr>
            <a:r>
              <a:rPr sz="1200" b="0">
                <a:solidFill>
                  <a:srgbClr val="475569"/>
                </a:solidFill>
                <a:latin typeface="IBM Plex Sans"/>
              </a:rPr>
              <a:t>Exact LEI, ISIN or CIK to one internal issuer</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Lookups</a:t>
            </a:r>
          </a:p>
          <a:p>
            <a:pPr>
              <a:lnSpc>
                <a:spcPct val="112500"/>
              </a:lnSpc>
              <a:spcAft>
                <a:spcPts val="0"/>
              </a:spcAft>
            </a:pPr>
            <a:r>
              <a:rPr sz="1200" b="0">
                <a:solidFill>
                  <a:srgbClr val="475569"/>
                </a:solidFill>
                <a:latin typeface="IBM Plex Sans"/>
              </a:rPr>
              <a:t>GLEIF fills the LEI from an ISIN; EDGAR by CIK</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16A34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04  LLM</a:t>
            </a:r>
          </a:p>
          <a:p>
            <a:pPr>
              <a:lnSpc>
                <a:spcPct val="100000"/>
              </a:lnSpc>
              <a:spcAft>
                <a:spcPts val="500"/>
              </a:spcAft>
            </a:pPr>
            <a:r>
              <a:rPr sz="1400" b="1">
                <a:solidFill>
                  <a:srgbClr val="0F172A"/>
                </a:solidFill>
                <a:latin typeface="IBM Plex Sans"/>
              </a:rPr>
              <a:t>Adjudicate</a:t>
            </a:r>
          </a:p>
          <a:p>
            <a:pPr>
              <a:lnSpc>
                <a:spcPct val="112500"/>
              </a:lnSpc>
              <a:spcAft>
                <a:spcPts val="0"/>
              </a:spcAft>
            </a:pPr>
            <a:r>
              <a:rPr sz="1200" b="0">
                <a:solidFill>
                  <a:srgbClr val="475569"/>
                </a:solidFill>
                <a:latin typeface="IBM Plex Sans"/>
              </a:rPr>
              <a:t>One call over EDGAR and GLEIF candidates</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Check in code</a:t>
            </a:r>
          </a:p>
          <a:p>
            <a:pPr>
              <a:lnSpc>
                <a:spcPct val="112500"/>
              </a:lnSpc>
              <a:spcAft>
                <a:spcPts val="0"/>
              </a:spcAft>
            </a:pPr>
            <a:r>
              <a:rPr sz="1200" b="0">
                <a:solidFill>
                  <a:srgbClr val="475569"/>
                </a:solidFill>
                <a:latin typeface="IBM Plex Sans"/>
              </a:rPr>
              <a:t>Website and CIK must match the gathered signals</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Verdict</a:t>
            </a:r>
          </a:p>
          <a:p>
            <a:pPr>
              <a:lnSpc>
                <a:spcPct val="112500"/>
              </a:lnSpc>
              <a:spcAft>
                <a:spcPts val="0"/>
              </a:spcAft>
            </a:pPr>
            <a:r>
              <a:rPr sz="1200" b="0">
                <a:solidFill>
                  <a:srgbClr val="475569"/>
                </a:solidFill>
                <a:latin typeface="IBM Plex Sans"/>
              </a:rPr>
              <a:t>Resolved; uncertain and unresolved go to review</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WHY ONE CALL</a:t>
            </a:r>
          </a:p>
          <a:p>
            <a:pPr>
              <a:lnSpc>
                <a:spcPct val="116667"/>
              </a:lnSpc>
              <a:spcAft>
                <a:spcPts val="0"/>
              </a:spcAft>
            </a:pPr>
            <a:r>
              <a:rPr sz="1200" b="0">
                <a:solidFill>
                  <a:srgbClr val="475569"/>
                </a:solidFill>
                <a:latin typeface="IBM Plex Sans"/>
              </a:rPr>
              <a:t>Which company it is rarely has two defensible sides, so there is no debate. Most rows never reach a model.</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WEBSITES</a:t>
            </a:r>
          </a:p>
          <a:p>
            <a:pPr>
              <a:lnSpc>
                <a:spcPct val="116667"/>
              </a:lnSpc>
              <a:spcAft>
                <a:spcPts val="0"/>
              </a:spcAft>
            </a:pPr>
            <a:r>
              <a:rPr sz="1200" b="0">
                <a:solidFill>
                  <a:srgbClr val="475569"/>
                </a:solidFill>
                <a:latin typeface="IBM Plex Sans"/>
              </a:rPr>
              <a:t>A homepage found by search is scored before crawling; aggregators and other companies' sites are rejected.</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Identifiers are copied verbatim, never composed. A non-US ticker cannot resolve to a US company's CIK.</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03</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Documents: finding the reports</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latest annual and sustainability report per company, taking the most reliable route first.</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Company</a:t>
            </a:r>
          </a:p>
          <a:p>
            <a:pPr>
              <a:lnSpc>
                <a:spcPct val="112500"/>
              </a:lnSpc>
              <a:spcAft>
                <a:spcPts val="0"/>
              </a:spcAft>
            </a:pPr>
            <a:r>
              <a:rPr sz="1200" b="0">
                <a:solidFill>
                  <a:srgbClr val="475569"/>
                </a:solidFill>
                <a:latin typeface="IBM Plex Sans"/>
              </a:rPr>
              <a:t>Resolved identity and website</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ESEF first</a:t>
            </a:r>
          </a:p>
          <a:p>
            <a:pPr>
              <a:lnSpc>
                <a:spcPct val="112500"/>
              </a:lnSpc>
              <a:spcAft>
                <a:spcPts val="0"/>
              </a:spcAft>
            </a:pPr>
            <a:r>
              <a:rPr sz="1200" b="0">
                <a:solidFill>
                  <a:srgbClr val="475569"/>
                </a:solidFill>
                <a:latin typeface="IBM Plex Sans"/>
              </a:rPr>
              <a:t>The latest annual filing on filings.xbrl.org</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PDF search</a:t>
            </a:r>
          </a:p>
          <a:p>
            <a:pPr>
              <a:lnSpc>
                <a:spcPct val="112500"/>
              </a:lnSpc>
              <a:spcAft>
                <a:spcPts val="0"/>
              </a:spcAft>
            </a:pPr>
            <a:r>
              <a:rPr sz="1200" b="0">
                <a:solidFill>
                  <a:srgbClr val="475569"/>
                </a:solidFill>
                <a:latin typeface="IBM Plex Sans"/>
              </a:rPr>
              <a:t>A direct search for the report PDF</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Site crawl</a:t>
            </a:r>
          </a:p>
          <a:p>
            <a:pPr>
              <a:lnSpc>
                <a:spcPct val="112500"/>
              </a:lnSpc>
              <a:spcAft>
                <a:spcPts val="0"/>
              </a:spcAft>
            </a:pPr>
            <a:r>
              <a:rPr sz="1200" b="0">
                <a:solidFill>
                  <a:srgbClr val="475569"/>
                </a:solidFill>
                <a:latin typeface="IBM Plex Sans"/>
              </a:rPr>
              <a:t>Same domain, robots.txt, depth caps, sitemap seeds</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Rank and check</a:t>
            </a:r>
          </a:p>
          <a:p>
            <a:pPr>
              <a:lnSpc>
                <a:spcPct val="112500"/>
              </a:lnSpc>
              <a:spcAft>
                <a:spcPts val="0"/>
              </a:spcAft>
            </a:pPr>
            <a:r>
              <a:rPr sz="1200" b="0">
                <a:solidFill>
                  <a:srgbClr val="475569"/>
                </a:solidFill>
                <a:latin typeface="IBM Plex Sans"/>
              </a:rPr>
              <a:t>Best two; each PDF must name the company</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Document store</a:t>
            </a:r>
          </a:p>
          <a:p>
            <a:pPr>
              <a:lnSpc>
                <a:spcPct val="112500"/>
              </a:lnSpc>
              <a:spcAft>
                <a:spcPts val="0"/>
              </a:spcAft>
            </a:pPr>
            <a:r>
              <a:rPr sz="1200" b="0">
                <a:solidFill>
                  <a:srgbClr val="475569"/>
                </a:solidFill>
                <a:latin typeface="IBM Plex Sans"/>
              </a:rPr>
              <a:t>Only new or changed files, by content hash</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WHY THIS ORDER</a:t>
            </a:r>
          </a:p>
          <a:p>
            <a:pPr>
              <a:lnSpc>
                <a:spcPct val="116667"/>
              </a:lnSpc>
              <a:spcAft>
                <a:spcPts val="0"/>
              </a:spcAft>
            </a:pPr>
            <a:r>
              <a:rPr sz="1200" b="0">
                <a:solidFill>
                  <a:srgbClr val="475569"/>
                </a:solidFill>
                <a:latin typeface="IBM Plex Sans"/>
              </a:rPr>
              <a:t>Half the sites tested block cloud servers; filings and search still reach the report.</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CHANGE DETECTION</a:t>
            </a:r>
          </a:p>
          <a:p>
            <a:pPr>
              <a:lnSpc>
                <a:spcPct val="116667"/>
              </a:lnSpc>
              <a:spcAft>
                <a:spcPts val="0"/>
              </a:spcAft>
            </a:pPr>
            <a:r>
              <a:rPr sz="1200" b="0">
                <a:solidFill>
                  <a:srgbClr val="475569"/>
                </a:solidFill>
                <a:latin typeface="IBM Plex Sans"/>
              </a:rPr>
              <a:t>Stored ETag and Last-Modified are sent back; the same bytes at a new URL are not announced as new.</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Every request passes the SSRF guard. An unreachable site is a status for review.</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04</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Data-point extraction: one engine</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Metrics and yes/no criteria run on one schema-driven engine. A new schema is a preset, not a pipeline.</a:t>
            </a:r>
          </a:p>
        </p:txBody>
      </p:sp>
      <p:sp>
        <p:nvSpPr>
          <p:cNvPr id="6" name="Rectangle 5"/>
          <p:cNvSpPr/>
          <p:nvPr/>
        </p:nvSpPr>
        <p:spPr>
          <a:xfrm>
            <a:off x="812800" y="2279650"/>
            <a:ext cx="1612900" cy="202565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Schema + reports</a:t>
            </a:r>
          </a:p>
          <a:p>
            <a:pPr>
              <a:lnSpc>
                <a:spcPct val="112500"/>
              </a:lnSpc>
              <a:spcAft>
                <a:spcPts val="0"/>
              </a:spcAft>
            </a:pPr>
            <a:r>
              <a:rPr sz="1200" b="0">
                <a:solidFill>
                  <a:srgbClr val="475569"/>
                </a:solidFill>
                <a:latin typeface="IBM Plex Sans"/>
              </a:rPr>
              <a:t>Fields with meaning, unit, edge cases, keywords</a:t>
            </a:r>
          </a:p>
        </p:txBody>
      </p:sp>
      <p:sp>
        <p:nvSpPr>
          <p:cNvPr id="9" name="TextBox 8"/>
          <p:cNvSpPr txBox="1"/>
          <p:nvPr/>
        </p:nvSpPr>
        <p:spPr>
          <a:xfrm>
            <a:off x="24257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Select evidence</a:t>
            </a:r>
          </a:p>
          <a:p>
            <a:pPr>
              <a:lnSpc>
                <a:spcPct val="112500"/>
              </a:lnSpc>
              <a:spcAft>
                <a:spcPts val="0"/>
              </a:spcAft>
            </a:pPr>
            <a:r>
              <a:rPr sz="1200" b="0">
                <a:solidFill>
                  <a:srgbClr val="475569"/>
                </a:solidFill>
                <a:latin typeface="IBM Plex Sans"/>
              </a:rPr>
              <a:t>BM25 + embeddings, optional rerank</a:t>
            </a:r>
          </a:p>
        </p:txBody>
      </p:sp>
      <p:sp>
        <p:nvSpPr>
          <p:cNvPr id="13" name="TextBox 12"/>
          <p:cNvSpPr txBox="1"/>
          <p:nvPr/>
        </p:nvSpPr>
        <p:spPr>
          <a:xfrm>
            <a:off x="42164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16A34A"/>
          </a:solidFill>
          <a:ln>
            <a:noFill/>
          </a:ln>
          <a:effectLst/>
        </p:spPr>
        <p:txBody>
          <a:bodyPr rtlCol="0" anchor="ctr"/>
          <a:lstStyle/>
          <a:p>
            <a:pPr algn="ctr"/>
          </a:p>
        </p:txBody>
      </p:sp>
      <p:sp>
        <p:nvSpPr>
          <p:cNvPr id="16" name="TextBox 15"/>
          <p:cNvSpPr txBox="1"/>
          <p:nvPr/>
        </p:nvSpPr>
        <p:spPr>
          <a:xfrm>
            <a:off x="45466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03  LLM</a:t>
            </a:r>
          </a:p>
          <a:p>
            <a:pPr>
              <a:lnSpc>
                <a:spcPct val="100000"/>
              </a:lnSpc>
              <a:spcAft>
                <a:spcPts val="500"/>
              </a:spcAft>
            </a:pPr>
            <a:r>
              <a:rPr sz="1400" b="1">
                <a:solidFill>
                  <a:srgbClr val="0F172A"/>
                </a:solidFill>
                <a:latin typeface="IBM Plex Sans"/>
              </a:rPr>
              <a:t>Extract</a:t>
            </a:r>
          </a:p>
          <a:p>
            <a:pPr>
              <a:lnSpc>
                <a:spcPct val="112500"/>
              </a:lnSpc>
              <a:spcAft>
                <a:spcPts val="0"/>
              </a:spcAft>
            </a:pPr>
            <a:r>
              <a:rPr sz="1200" b="0">
                <a:solidFill>
                  <a:srgbClr val="475569"/>
                </a:solidFill>
                <a:latin typeface="IBM Plex Sans"/>
              </a:rPr>
              <a:t>Schema-forced output, retry when invalid</a:t>
            </a:r>
          </a:p>
        </p:txBody>
      </p:sp>
      <p:sp>
        <p:nvSpPr>
          <p:cNvPr id="17" name="TextBox 16"/>
          <p:cNvSpPr txBox="1"/>
          <p:nvPr/>
        </p:nvSpPr>
        <p:spPr>
          <a:xfrm>
            <a:off x="60071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16A34A"/>
          </a:solidFill>
          <a:ln>
            <a:noFill/>
          </a:ln>
          <a:effectLst/>
        </p:spPr>
        <p:txBody>
          <a:bodyPr rtlCol="0" anchor="ctr"/>
          <a:lstStyle/>
          <a:p>
            <a:pPr algn="ctr"/>
          </a:p>
        </p:txBody>
      </p:sp>
      <p:sp>
        <p:nvSpPr>
          <p:cNvPr id="20" name="TextBox 19"/>
          <p:cNvSpPr txBox="1"/>
          <p:nvPr/>
        </p:nvSpPr>
        <p:spPr>
          <a:xfrm>
            <a:off x="63373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04  LLM</a:t>
            </a:r>
          </a:p>
          <a:p>
            <a:pPr>
              <a:lnSpc>
                <a:spcPct val="100000"/>
              </a:lnSpc>
              <a:spcAft>
                <a:spcPts val="500"/>
              </a:spcAft>
            </a:pPr>
            <a:r>
              <a:rPr sz="1400" b="1">
                <a:solidFill>
                  <a:srgbClr val="0F172A"/>
                </a:solidFill>
                <a:latin typeface="IBM Plex Sans"/>
              </a:rPr>
              <a:t>Verify</a:t>
            </a:r>
          </a:p>
          <a:p>
            <a:pPr>
              <a:lnSpc>
                <a:spcPct val="112500"/>
              </a:lnSpc>
              <a:spcAft>
                <a:spcPts val="0"/>
              </a:spcAft>
            </a:pPr>
            <a:r>
              <a:rPr sz="1200" b="0">
                <a:solidFill>
                  <a:srgbClr val="475569"/>
                </a:solidFill>
                <a:latin typeface="IBM Plex Sans"/>
              </a:rPr>
              <a:t>A blind second extraction on a different model</a:t>
            </a:r>
          </a:p>
        </p:txBody>
      </p:sp>
      <p:sp>
        <p:nvSpPr>
          <p:cNvPr id="21" name="TextBox 20"/>
          <p:cNvSpPr txBox="1"/>
          <p:nvPr/>
        </p:nvSpPr>
        <p:spPr>
          <a:xfrm>
            <a:off x="77978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Ground + check</a:t>
            </a:r>
          </a:p>
          <a:p>
            <a:pPr>
              <a:lnSpc>
                <a:spcPct val="112500"/>
              </a:lnSpc>
              <a:spcAft>
                <a:spcPts val="0"/>
              </a:spcAft>
            </a:pPr>
            <a:r>
              <a:rPr sz="1200" b="0">
                <a:solidFill>
                  <a:srgbClr val="475569"/>
                </a:solidFill>
                <a:latin typeface="IBM Plex Sans"/>
              </a:rPr>
              <a:t>Quote found in the source; number, unit, period</a:t>
            </a:r>
          </a:p>
        </p:txBody>
      </p:sp>
      <p:sp>
        <p:nvSpPr>
          <p:cNvPr id="25" name="TextBox 24"/>
          <p:cNvSpPr txBox="1"/>
          <p:nvPr/>
        </p:nvSpPr>
        <p:spPr>
          <a:xfrm>
            <a:off x="95885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2563EB"/>
          </a:solidFill>
          <a:ln>
            <a:noFill/>
          </a:ln>
          <a:effectLst/>
        </p:spPr>
        <p:txBody>
          <a:bodyPr rtlCol="0" anchor="ctr"/>
          <a:lstStyle/>
          <a:p>
            <a:pPr algn="ctr"/>
          </a:p>
        </p:txBody>
      </p:sp>
      <p:sp>
        <p:nvSpPr>
          <p:cNvPr id="28" name="TextBox 27"/>
          <p:cNvSpPr txBox="1"/>
          <p:nvPr/>
        </p:nvSpPr>
        <p:spPr>
          <a:xfrm>
            <a:off x="99187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06  PERSON</a:t>
            </a:r>
          </a:p>
          <a:p>
            <a:pPr>
              <a:lnSpc>
                <a:spcPct val="100000"/>
              </a:lnSpc>
              <a:spcAft>
                <a:spcPts val="500"/>
              </a:spcAft>
            </a:pPr>
            <a:r>
              <a:rPr sz="1400" b="1">
                <a:solidFill>
                  <a:srgbClr val="0F172A"/>
                </a:solidFill>
                <a:latin typeface="IBM Plex Sans"/>
              </a:rPr>
              <a:t>Review</a:t>
            </a:r>
          </a:p>
          <a:p>
            <a:pPr>
              <a:lnSpc>
                <a:spcPct val="112500"/>
              </a:lnSpc>
              <a:spcAft>
                <a:spcPts val="0"/>
              </a:spcAft>
            </a:pPr>
            <a:r>
              <a:rPr sz="1200" b="0">
                <a:solidFill>
                  <a:srgbClr val="475569"/>
                </a:solidFill>
                <a:latin typeface="IBM Plex Sans"/>
              </a:rPr>
              <a:t>Whatever is not auto-accepted, span boxed on the page</a:t>
            </a:r>
          </a:p>
        </p:txBody>
      </p:sp>
      <p:sp>
        <p:nvSpPr>
          <p:cNvPr id="29" name="Rectangle 28"/>
          <p:cNvSpPr/>
          <p:nvPr/>
        </p:nvSpPr>
        <p:spPr>
          <a:xfrm>
            <a:off x="812800" y="461010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AUTO-ACCEPT ONLY IF</a:t>
            </a:r>
          </a:p>
          <a:p>
            <a:pPr>
              <a:lnSpc>
                <a:spcPct val="116667"/>
              </a:lnSpc>
              <a:spcAft>
                <a:spcPts val="0"/>
              </a:spcAft>
            </a:pPr>
            <a:r>
              <a:rPr sz="1200" b="0">
                <a:solidFill>
                  <a:srgbClr val="475569"/>
                </a:solidFill>
                <a:latin typeface="IBM Plex Sans"/>
              </a:rPr>
              <a:t>The quote is grounded, the number is in it, the checks pass and the verifier agrees.</a:t>
            </a:r>
          </a:p>
        </p:txBody>
      </p:sp>
      <p:sp>
        <p:nvSpPr>
          <p:cNvPr id="31" name="Rectangle 30"/>
          <p:cNvSpPr/>
          <p:nvPr/>
        </p:nvSpPr>
        <p:spPr>
          <a:xfrm>
            <a:off x="4436533" y="461010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NOT FOUND IS AN ANSWER</a:t>
            </a:r>
          </a:p>
          <a:p>
            <a:pPr>
              <a:lnSpc>
                <a:spcPct val="116667"/>
              </a:lnSpc>
              <a:spcAft>
                <a:spcPts val="0"/>
              </a:spcAft>
            </a:pPr>
            <a:r>
              <a:rPr sz="1200" b="0">
                <a:solidFill>
                  <a:srgbClr val="475569"/>
                </a:solidFill>
                <a:latin typeface="IBM Plex Sans"/>
              </a:rPr>
              <a:t>No evidence ends in an explicit 'not found': never a silent NA, never a guess.</a:t>
            </a:r>
          </a:p>
        </p:txBody>
      </p:sp>
      <p:sp>
        <p:nvSpPr>
          <p:cNvPr id="33" name="Rectangle 32"/>
          <p:cNvSpPr/>
          <p:nvPr/>
        </p:nvSpPr>
        <p:spPr>
          <a:xfrm>
            <a:off x="8060267" y="461010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Schema rules flag contradictions without changing the answer. A golden set gates prompt changes.</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05</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Financials and XBRL facts</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Segments, capex and R&amp;D in one verified pass; filed XBRL facts kept as filed, for SEC and EU ESEF filers.</a:t>
            </a:r>
          </a:p>
        </p:txBody>
      </p:sp>
      <p:sp>
        <p:nvSpPr>
          <p:cNvPr id="6" name="Rectangle 5"/>
          <p:cNvSpPr/>
          <p:nvPr/>
        </p:nvSpPr>
        <p:spPr>
          <a:xfrm>
            <a:off x="812800" y="2279650"/>
            <a:ext cx="1612900" cy="179705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Company</a:t>
            </a:r>
          </a:p>
          <a:p>
            <a:pPr>
              <a:lnSpc>
                <a:spcPct val="112500"/>
              </a:lnSpc>
              <a:spcAft>
                <a:spcPts val="0"/>
              </a:spcAft>
            </a:pPr>
            <a:r>
              <a:rPr sz="1200" b="0">
                <a:solidFill>
                  <a:srgbClr val="475569"/>
                </a:solidFill>
                <a:latin typeface="IBM Plex Sans"/>
              </a:rPr>
              <a:t>CIK or LEI, routed to the SEC or ESEF</a:t>
            </a:r>
          </a:p>
        </p:txBody>
      </p:sp>
      <p:sp>
        <p:nvSpPr>
          <p:cNvPr id="9" name="TextBox 8"/>
          <p:cNvSpPr txBox="1"/>
          <p:nvPr/>
        </p:nvSpPr>
        <p:spPr>
          <a:xfrm>
            <a:off x="24257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Filed facts</a:t>
            </a:r>
          </a:p>
          <a:p>
            <a:pPr>
              <a:lnSpc>
                <a:spcPct val="112500"/>
              </a:lnSpc>
              <a:spcAft>
                <a:spcPts val="0"/>
              </a:spcAft>
            </a:pPr>
            <a:r>
              <a:rPr sz="1200" b="0">
                <a:solidFill>
                  <a:srgbClr val="475569"/>
                </a:solidFill>
                <a:latin typeface="IBM Plex Sans"/>
              </a:rPr>
              <a:t>SEC companyfacts or ESEF xBRL-JSON, as filed</a:t>
            </a:r>
          </a:p>
        </p:txBody>
      </p:sp>
      <p:sp>
        <p:nvSpPr>
          <p:cNvPr id="13" name="TextBox 12"/>
          <p:cNvSpPr txBox="1"/>
          <p:nvPr/>
        </p:nvSpPr>
        <p:spPr>
          <a:xfrm>
            <a:off x="42164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16A34A"/>
          </a:solidFill>
          <a:ln>
            <a:noFill/>
          </a:ln>
          <a:effectLst/>
        </p:spPr>
        <p:txBody>
          <a:bodyPr rtlCol="0" anchor="ctr"/>
          <a:lstStyle/>
          <a:p>
            <a:pPr algn="ctr"/>
          </a:p>
        </p:txBody>
      </p:sp>
      <p:sp>
        <p:nvSpPr>
          <p:cNvPr id="16" name="TextBox 15"/>
          <p:cNvSpPr txBox="1"/>
          <p:nvPr/>
        </p:nvSpPr>
        <p:spPr>
          <a:xfrm>
            <a:off x="45466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03  LLM</a:t>
            </a:r>
          </a:p>
          <a:p>
            <a:pPr>
              <a:lnSpc>
                <a:spcPct val="100000"/>
              </a:lnSpc>
              <a:spcAft>
                <a:spcPts val="500"/>
              </a:spcAft>
            </a:pPr>
            <a:r>
              <a:rPr sz="1400" b="1">
                <a:solidFill>
                  <a:srgbClr val="0F172A"/>
                </a:solidFill>
                <a:latin typeface="IBM Plex Sans"/>
              </a:rPr>
              <a:t>Combined pass</a:t>
            </a:r>
          </a:p>
          <a:p>
            <a:pPr>
              <a:lnSpc>
                <a:spcPct val="112500"/>
              </a:lnSpc>
              <a:spcAft>
                <a:spcPts val="0"/>
              </a:spcAft>
            </a:pPr>
            <a:r>
              <a:rPr sz="1200" b="0">
                <a:solidFill>
                  <a:srgbClr val="475569"/>
                </a:solidFill>
                <a:latin typeface="IBM Plex Sans"/>
              </a:rPr>
              <a:t>Segments, capex, R&amp;D; extractor and verifier</a:t>
            </a:r>
          </a:p>
        </p:txBody>
      </p:sp>
      <p:sp>
        <p:nvSpPr>
          <p:cNvPr id="17" name="TextBox 16"/>
          <p:cNvSpPr txBox="1"/>
          <p:nvPr/>
        </p:nvSpPr>
        <p:spPr>
          <a:xfrm>
            <a:off x="60071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XBRL overlay</a:t>
            </a:r>
          </a:p>
          <a:p>
            <a:pPr>
              <a:lnSpc>
                <a:spcPct val="112500"/>
              </a:lnSpc>
              <a:spcAft>
                <a:spcPts val="0"/>
              </a:spcAft>
            </a:pPr>
            <a:r>
              <a:rPr sz="1200" b="0">
                <a:solidFill>
                  <a:srgbClr val="475569"/>
                </a:solidFill>
                <a:latin typeface="IBM Plex Sans"/>
              </a:rPr>
              <a:t>Tagged totals replace a read of the prose</a:t>
            </a:r>
          </a:p>
        </p:txBody>
      </p:sp>
      <p:sp>
        <p:nvSpPr>
          <p:cNvPr id="21" name="TextBox 20"/>
          <p:cNvSpPr txBox="1"/>
          <p:nvPr/>
        </p:nvSpPr>
        <p:spPr>
          <a:xfrm>
            <a:off x="77978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Verify a run</a:t>
            </a:r>
          </a:p>
          <a:p>
            <a:pPr>
              <a:lnSpc>
                <a:spcPct val="112500"/>
              </a:lnSpc>
              <a:spcAft>
                <a:spcPts val="0"/>
              </a:spcAft>
            </a:pPr>
            <a:r>
              <a:rPr sz="1200" b="0">
                <a:solidFill>
                  <a:srgbClr val="475569"/>
                </a:solidFill>
                <a:latin typeface="IBM Plex Sans"/>
              </a:rPr>
              <a:t>Extracted values against the tagged values</a:t>
            </a:r>
          </a:p>
        </p:txBody>
      </p:sp>
      <p:sp>
        <p:nvSpPr>
          <p:cNvPr id="25" name="TextBox 24"/>
          <p:cNvSpPr txBox="1"/>
          <p:nvPr/>
        </p:nvSpPr>
        <p:spPr>
          <a:xfrm>
            <a:off x="95885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79705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Record</a:t>
            </a:r>
          </a:p>
          <a:p>
            <a:pPr>
              <a:lnSpc>
                <a:spcPct val="112500"/>
              </a:lnSpc>
              <a:spcAft>
                <a:spcPts val="0"/>
              </a:spcAft>
            </a:pPr>
            <a:r>
              <a:rPr sz="1200" b="0">
                <a:solidFill>
                  <a:srgbClr val="475569"/>
                </a:solidFill>
                <a:latin typeface="IBM Plex Sans"/>
              </a:rPr>
              <a:t>Per-section review flags, citations, provenance</a:t>
            </a:r>
          </a:p>
        </p:txBody>
      </p:sp>
      <p:sp>
        <p:nvSpPr>
          <p:cNvPr id="29" name="Rectangle 28"/>
          <p:cNvSpPr/>
          <p:nvPr/>
        </p:nvSpPr>
        <p:spPr>
          <a:xfrm>
            <a:off x="812800" y="438150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1200"/>
            <a:ext cx="3318933" cy="12065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WHY COMBINED</a:t>
            </a:r>
          </a:p>
          <a:p>
            <a:pPr>
              <a:lnSpc>
                <a:spcPct val="116667"/>
              </a:lnSpc>
              <a:spcAft>
                <a:spcPts val="0"/>
              </a:spcAft>
            </a:pPr>
            <a:r>
              <a:rPr sz="1200" b="0">
                <a:solidFill>
                  <a:srgbClr val="475569"/>
                </a:solidFill>
                <a:latin typeface="IBM Plex Sans"/>
              </a:rPr>
              <a:t>Three things almost always wanted together: one fetch and one evidence step instead of three.</a:t>
            </a:r>
          </a:p>
        </p:txBody>
      </p:sp>
      <p:sp>
        <p:nvSpPr>
          <p:cNvPr id="31" name="Rectangle 30"/>
          <p:cNvSpPr/>
          <p:nvPr/>
        </p:nvSpPr>
        <p:spPr>
          <a:xfrm>
            <a:off x="4436533" y="438150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1200"/>
            <a:ext cx="3318933" cy="12065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XBRL FACTS</a:t>
            </a:r>
          </a:p>
          <a:p>
            <a:pPr>
              <a:lnSpc>
                <a:spcPct val="116667"/>
              </a:lnSpc>
              <a:spcAft>
                <a:spcPts val="0"/>
              </a:spcAft>
            </a:pPr>
            <a:r>
              <a:rPr sz="1200" b="0">
                <a:solidFill>
                  <a:srgbClr val="475569"/>
                </a:solidFill>
                <a:latin typeface="IBM Plex Sans"/>
              </a:rPr>
              <a:t>Every tagged fact across us-gaap, ifrs-full, dei and esrs; no filing means no_source.</a:t>
            </a:r>
          </a:p>
        </p:txBody>
      </p:sp>
      <p:sp>
        <p:nvSpPr>
          <p:cNvPr id="33" name="Rectangle 32"/>
          <p:cNvSpPr/>
          <p:nvPr/>
        </p:nvSpPr>
        <p:spPr>
          <a:xfrm>
            <a:off x="8060267" y="438150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1200"/>
            <a:ext cx="3318933" cy="12065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An undisclosed figure stays null, never derived from a total. XBRL replaces the number, not the narrative.</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06</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Thematic universe</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ratified taxonomy of activities, then a cascade that settles each company and activity cheaply.</a:t>
            </a:r>
          </a:p>
        </p:txBody>
      </p:sp>
      <p:sp>
        <p:nvSpPr>
          <p:cNvPr id="6" name="Rectangle 5"/>
          <p:cNvSpPr/>
          <p:nvPr/>
        </p:nvSpPr>
        <p:spPr>
          <a:xfrm>
            <a:off x="812800" y="2279650"/>
            <a:ext cx="1612900" cy="179705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Theme</a:t>
            </a:r>
          </a:p>
          <a:p>
            <a:pPr>
              <a:lnSpc>
                <a:spcPct val="112500"/>
              </a:lnSpc>
              <a:spcAft>
                <a:spcPts val="0"/>
              </a:spcAft>
            </a:pPr>
            <a:r>
              <a:rPr sz="1200" b="0">
                <a:solidFill>
                  <a:srgbClr val="475569"/>
                </a:solidFill>
                <a:latin typeface="IBM Plex Sans"/>
              </a:rPr>
              <a:t>A macro theme or a promoted candidate</a:t>
            </a:r>
          </a:p>
        </p:txBody>
      </p:sp>
      <p:sp>
        <p:nvSpPr>
          <p:cNvPr id="9" name="TextBox 8"/>
          <p:cNvSpPr txBox="1"/>
          <p:nvPr/>
        </p:nvSpPr>
        <p:spPr>
          <a:xfrm>
            <a:off x="24257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2563EB"/>
          </a:solidFill>
          <a:ln>
            <a:noFill/>
          </a:ln>
          <a:effectLst/>
        </p:spPr>
        <p:txBody>
          <a:bodyPr rtlCol="0" anchor="ctr"/>
          <a:lstStyle/>
          <a:p>
            <a:pPr algn="ctr"/>
          </a:p>
        </p:txBody>
      </p:sp>
      <p:sp>
        <p:nvSpPr>
          <p:cNvPr id="12" name="TextBox 11"/>
          <p:cNvSpPr txBox="1"/>
          <p:nvPr/>
        </p:nvSpPr>
        <p:spPr>
          <a:xfrm>
            <a:off x="27559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02  PERSON</a:t>
            </a:r>
          </a:p>
          <a:p>
            <a:pPr>
              <a:lnSpc>
                <a:spcPct val="100000"/>
              </a:lnSpc>
              <a:spcAft>
                <a:spcPts val="500"/>
              </a:spcAft>
            </a:pPr>
            <a:r>
              <a:rPr sz="1400" b="1">
                <a:solidFill>
                  <a:srgbClr val="0F172A"/>
                </a:solidFill>
                <a:latin typeface="IBM Plex Sans"/>
              </a:rPr>
              <a:t>Taxonomy</a:t>
            </a:r>
          </a:p>
          <a:p>
            <a:pPr>
              <a:lnSpc>
                <a:spcPct val="112500"/>
              </a:lnSpc>
              <a:spcAft>
                <a:spcPts val="0"/>
              </a:spcAft>
            </a:pPr>
            <a:r>
              <a:rPr sz="1200" b="0">
                <a:solidFill>
                  <a:srgbClr val="475569"/>
                </a:solidFill>
                <a:latin typeface="IBM Plex Sans"/>
              </a:rPr>
              <a:t>Versioned activities, ratified by a person</a:t>
            </a:r>
          </a:p>
        </p:txBody>
      </p:sp>
      <p:sp>
        <p:nvSpPr>
          <p:cNvPr id="13" name="TextBox 12"/>
          <p:cNvSpPr txBox="1"/>
          <p:nvPr/>
        </p:nvSpPr>
        <p:spPr>
          <a:xfrm>
            <a:off x="42164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Catalogue</a:t>
            </a:r>
          </a:p>
          <a:p>
            <a:pPr>
              <a:lnSpc>
                <a:spcPct val="112500"/>
              </a:lnSpc>
              <a:spcAft>
                <a:spcPts val="0"/>
              </a:spcAft>
            </a:pPr>
            <a:r>
              <a:rPr sz="1200" b="0">
                <a:solidFill>
                  <a:srgbClr val="475569"/>
                </a:solidFill>
                <a:latin typeface="IBM Plex Sans"/>
              </a:rPr>
              <a:t>A confirmed revenue mapping; arithmetic only</a:t>
            </a:r>
          </a:p>
        </p:txBody>
      </p:sp>
      <p:sp>
        <p:nvSpPr>
          <p:cNvPr id="17" name="TextBox 16"/>
          <p:cNvSpPr txBox="1"/>
          <p:nvPr/>
        </p:nvSpPr>
        <p:spPr>
          <a:xfrm>
            <a:off x="60071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16A34A"/>
          </a:solidFill>
          <a:ln>
            <a:noFill/>
          </a:ln>
          <a:effectLst/>
        </p:spPr>
        <p:txBody>
          <a:bodyPr rtlCol="0" anchor="ctr"/>
          <a:lstStyle/>
          <a:p>
            <a:pPr algn="ctr"/>
          </a:p>
        </p:txBody>
      </p:sp>
      <p:sp>
        <p:nvSpPr>
          <p:cNvPr id="20" name="TextBox 19"/>
          <p:cNvSpPr txBox="1"/>
          <p:nvPr/>
        </p:nvSpPr>
        <p:spPr>
          <a:xfrm>
            <a:off x="63373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04  LLM</a:t>
            </a:r>
          </a:p>
          <a:p>
            <a:pPr>
              <a:lnSpc>
                <a:spcPct val="100000"/>
              </a:lnSpc>
              <a:spcAft>
                <a:spcPts val="500"/>
              </a:spcAft>
            </a:pPr>
            <a:r>
              <a:rPr sz="1400" b="1">
                <a:solidFill>
                  <a:srgbClr val="0F172A"/>
                </a:solidFill>
                <a:latin typeface="IBM Plex Sans"/>
              </a:rPr>
              <a:t>Extraction</a:t>
            </a:r>
          </a:p>
          <a:p>
            <a:pPr>
              <a:lnSpc>
                <a:spcPct val="112500"/>
              </a:lnSpc>
              <a:spcAft>
                <a:spcPts val="0"/>
              </a:spcAft>
            </a:pPr>
            <a:r>
              <a:rPr sz="1200" b="0">
                <a:solidFill>
                  <a:srgbClr val="475569"/>
                </a:solidFill>
                <a:latin typeface="IBM Plex Sans"/>
              </a:rPr>
              <a:t>Generated schema: revenue, capex, opex, R&amp;D %</a:t>
            </a:r>
          </a:p>
        </p:txBody>
      </p:sp>
      <p:sp>
        <p:nvSpPr>
          <p:cNvPr id="21" name="TextBox 20"/>
          <p:cNvSpPr txBox="1"/>
          <p:nvPr/>
        </p:nvSpPr>
        <p:spPr>
          <a:xfrm>
            <a:off x="77978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16A34A"/>
          </a:solidFill>
          <a:ln>
            <a:noFill/>
          </a:ln>
          <a:effectLst/>
        </p:spPr>
        <p:txBody>
          <a:bodyPr rtlCol="0" anchor="ctr"/>
          <a:lstStyle/>
          <a:p>
            <a:pPr algn="ctr"/>
          </a:p>
        </p:txBody>
      </p:sp>
      <p:sp>
        <p:nvSpPr>
          <p:cNvPr id="24" name="TextBox 23"/>
          <p:cNvSpPr txBox="1"/>
          <p:nvPr/>
        </p:nvSpPr>
        <p:spPr>
          <a:xfrm>
            <a:off x="81280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05  LLM</a:t>
            </a:r>
          </a:p>
          <a:p>
            <a:pPr>
              <a:lnSpc>
                <a:spcPct val="100000"/>
              </a:lnSpc>
              <a:spcAft>
                <a:spcPts val="500"/>
              </a:spcAft>
            </a:pPr>
            <a:r>
              <a:rPr sz="1400" b="1">
                <a:solidFill>
                  <a:srgbClr val="0F172A"/>
                </a:solidFill>
                <a:latin typeface="IBM Plex Sans"/>
              </a:rPr>
              <a:t>Debate</a:t>
            </a:r>
          </a:p>
          <a:p>
            <a:pPr>
              <a:lnSpc>
                <a:spcPct val="112500"/>
              </a:lnSpc>
              <a:spcAft>
                <a:spcPts val="0"/>
              </a:spcAft>
            </a:pPr>
            <a:r>
              <a:rPr sz="1200" b="0">
                <a:solidFill>
                  <a:srgbClr val="475569"/>
                </a:solidFill>
                <a:latin typeface="IBM Plex Sans"/>
              </a:rPr>
              <a:t>Advocate, Opposing, Adjudicator, as a last resort</a:t>
            </a:r>
          </a:p>
        </p:txBody>
      </p:sp>
      <p:sp>
        <p:nvSpPr>
          <p:cNvPr id="25" name="TextBox 24"/>
          <p:cNvSpPr txBox="1"/>
          <p:nvPr/>
        </p:nvSpPr>
        <p:spPr>
          <a:xfrm>
            <a:off x="95885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79705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Exposure</a:t>
            </a:r>
          </a:p>
          <a:p>
            <a:pPr>
              <a:lnSpc>
                <a:spcPct val="112500"/>
              </a:lnSpc>
              <a:spcAft>
                <a:spcPts val="0"/>
              </a:spcAft>
            </a:pPr>
            <a:r>
              <a:rPr sz="1200" b="0">
                <a:solidFill>
                  <a:srgbClr val="475569"/>
                </a:solidFill>
                <a:latin typeface="IBM Plex Sans"/>
              </a:rPr>
              <a:t>Pure play, significant, minor or none</a:t>
            </a:r>
          </a:p>
        </p:txBody>
      </p:sp>
      <p:sp>
        <p:nvSpPr>
          <p:cNvPr id="29" name="Rectangle 28"/>
          <p:cNvSpPr/>
          <p:nvPr/>
        </p:nvSpPr>
        <p:spPr>
          <a:xfrm>
            <a:off x="812800" y="438150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GATE</a:t>
            </a:r>
          </a:p>
          <a:p>
            <a:pPr>
              <a:lnSpc>
                <a:spcPct val="116667"/>
              </a:lnSpc>
              <a:spcAft>
                <a:spcPts val="0"/>
              </a:spcAft>
            </a:pPr>
            <a:r>
              <a:rPr sz="1200" b="0">
                <a:solidFill>
                  <a:srgbClr val="475569"/>
                </a:solidFill>
                <a:latin typeface="IBM Plex Sans"/>
              </a:rPr>
              <a:t>A theme run is refused unless its taxonomy version is ratified and its generated schema released.</a:t>
            </a:r>
          </a:p>
        </p:txBody>
      </p:sp>
      <p:sp>
        <p:nvSpPr>
          <p:cNvPr id="31" name="Rectangle 30"/>
          <p:cNvSpPr/>
          <p:nvPr/>
        </p:nvSpPr>
        <p:spPr>
          <a:xfrm>
            <a:off x="4436533" y="438150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EXPOSURE LAYERS</a:t>
            </a:r>
          </a:p>
          <a:p>
            <a:pPr>
              <a:lnSpc>
                <a:spcPct val="116667"/>
              </a:lnSpc>
              <a:spcAft>
                <a:spcPts val="0"/>
              </a:spcAft>
            </a:pPr>
            <a:r>
              <a:rPr sz="1200" b="0">
                <a:solidFill>
                  <a:srgbClr val="475569"/>
                </a:solidFill>
                <a:latin typeface="IBM Plex Sans"/>
              </a:rPr>
              <a:t>Layer 1 is the company's own revenue share; layer 2 is revenue from exposed customers up the chain.</a:t>
            </a:r>
          </a:p>
        </p:txBody>
      </p:sp>
      <p:sp>
        <p:nvSpPr>
          <p:cNvPr id="33" name="Rectangle 32"/>
          <p:cNvSpPr/>
          <p:nvPr/>
        </p:nvSpPr>
        <p:spPr>
          <a:xfrm>
            <a:off x="8060267" y="438150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A disclosed number is never second-guessed by a categorical judgment on the same question.</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07</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Theme dossier: one record per theme</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Spot, define, research and find companies. Each step's state is read from the work itself.</a:t>
            </a:r>
          </a:p>
        </p:txBody>
      </p:sp>
      <p:sp>
        <p:nvSpPr>
          <p:cNvPr id="6" name="Rectangle 5"/>
          <p:cNvSpPr/>
          <p:nvPr/>
        </p:nvSpPr>
        <p:spPr>
          <a:xfrm>
            <a:off x="812800" y="2279650"/>
            <a:ext cx="1612900" cy="179705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Spot</a:t>
            </a:r>
          </a:p>
          <a:p>
            <a:pPr>
              <a:lnSpc>
                <a:spcPct val="112500"/>
              </a:lnSpc>
              <a:spcAft>
                <a:spcPts val="0"/>
              </a:spcAft>
            </a:pPr>
            <a:r>
              <a:rPr sz="1200" b="0">
                <a:solidFill>
                  <a:srgbClr val="475569"/>
                </a:solidFill>
                <a:latin typeface="IBM Plex Sans"/>
              </a:rPr>
              <a:t>Candidates from EDGAR, GDELT and regulatory RSS</a:t>
            </a:r>
          </a:p>
        </p:txBody>
      </p:sp>
      <p:sp>
        <p:nvSpPr>
          <p:cNvPr id="9" name="TextBox 8"/>
          <p:cNvSpPr txBox="1"/>
          <p:nvPr/>
        </p:nvSpPr>
        <p:spPr>
          <a:xfrm>
            <a:off x="24257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16A34A"/>
          </a:solidFill>
          <a:ln>
            <a:noFill/>
          </a:ln>
          <a:effectLst/>
        </p:spPr>
        <p:txBody>
          <a:bodyPr rtlCol="0" anchor="ctr"/>
          <a:lstStyle/>
          <a:p>
            <a:pPr algn="ctr"/>
          </a:p>
        </p:txBody>
      </p:sp>
      <p:sp>
        <p:nvSpPr>
          <p:cNvPr id="12" name="TextBox 11"/>
          <p:cNvSpPr txBox="1"/>
          <p:nvPr/>
        </p:nvSpPr>
        <p:spPr>
          <a:xfrm>
            <a:off x="27559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02  LLM</a:t>
            </a:r>
          </a:p>
          <a:p>
            <a:pPr>
              <a:lnSpc>
                <a:spcPct val="100000"/>
              </a:lnSpc>
              <a:spcAft>
                <a:spcPts val="500"/>
              </a:spcAft>
            </a:pPr>
            <a:r>
              <a:rPr sz="1400" b="1">
                <a:solidFill>
                  <a:srgbClr val="0F172A"/>
                </a:solidFill>
                <a:latin typeface="IBM Plex Sans"/>
              </a:rPr>
              <a:t>Context brief</a:t>
            </a:r>
          </a:p>
          <a:p>
            <a:pPr>
              <a:lnSpc>
                <a:spcPct val="112500"/>
              </a:lnSpc>
              <a:spcAft>
                <a:spcPts val="0"/>
              </a:spcAft>
            </a:pPr>
            <a:r>
              <a:rPr sz="1200" b="0">
                <a:solidFill>
                  <a:srgbClr val="475569"/>
                </a:solidFill>
                <a:latin typeface="IBM Plex Sans"/>
              </a:rPr>
              <a:t>Why now and early evidence; uncited lines dropped</a:t>
            </a:r>
          </a:p>
        </p:txBody>
      </p:sp>
      <p:sp>
        <p:nvSpPr>
          <p:cNvPr id="13" name="TextBox 12"/>
          <p:cNvSpPr txBox="1"/>
          <p:nvPr/>
        </p:nvSpPr>
        <p:spPr>
          <a:xfrm>
            <a:off x="42164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2563EB"/>
          </a:solidFill>
          <a:ln>
            <a:noFill/>
          </a:ln>
          <a:effectLst/>
        </p:spPr>
        <p:txBody>
          <a:bodyPr rtlCol="0" anchor="ctr"/>
          <a:lstStyle/>
          <a:p>
            <a:pPr algn="ctr"/>
          </a:p>
        </p:txBody>
      </p:sp>
      <p:sp>
        <p:nvSpPr>
          <p:cNvPr id="16" name="TextBox 15"/>
          <p:cNvSpPr txBox="1"/>
          <p:nvPr/>
        </p:nvSpPr>
        <p:spPr>
          <a:xfrm>
            <a:off x="45466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03  PERSON</a:t>
            </a:r>
          </a:p>
          <a:p>
            <a:pPr>
              <a:lnSpc>
                <a:spcPct val="100000"/>
              </a:lnSpc>
              <a:spcAft>
                <a:spcPts val="500"/>
              </a:spcAft>
            </a:pPr>
            <a:r>
              <a:rPr sz="1400" b="1">
                <a:solidFill>
                  <a:srgbClr val="0F172A"/>
                </a:solidFill>
                <a:latin typeface="IBM Plex Sans"/>
              </a:rPr>
              <a:t>Define</a:t>
            </a:r>
          </a:p>
          <a:p>
            <a:pPr>
              <a:lnSpc>
                <a:spcPct val="112500"/>
              </a:lnSpc>
              <a:spcAft>
                <a:spcPts val="0"/>
              </a:spcAft>
            </a:pPr>
            <a:r>
              <a:rPr sz="1200" b="0">
                <a:solidFill>
                  <a:srgbClr val="475569"/>
                </a:solidFill>
                <a:latin typeface="IBM Plex Sans"/>
              </a:rPr>
              <a:t>A ratified taxonomy version</a:t>
            </a:r>
          </a:p>
        </p:txBody>
      </p:sp>
      <p:sp>
        <p:nvSpPr>
          <p:cNvPr id="17" name="TextBox 16"/>
          <p:cNvSpPr txBox="1"/>
          <p:nvPr/>
        </p:nvSpPr>
        <p:spPr>
          <a:xfrm>
            <a:off x="60071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2563EB"/>
          </a:solidFill>
          <a:ln>
            <a:noFill/>
          </a:ln>
          <a:effectLst/>
        </p:spPr>
        <p:txBody>
          <a:bodyPr rtlCol="0" anchor="ctr"/>
          <a:lstStyle/>
          <a:p>
            <a:pPr algn="ctr"/>
          </a:p>
        </p:txBody>
      </p:sp>
      <p:sp>
        <p:nvSpPr>
          <p:cNvPr id="20" name="TextBox 19"/>
          <p:cNvSpPr txBox="1"/>
          <p:nvPr/>
        </p:nvSpPr>
        <p:spPr>
          <a:xfrm>
            <a:off x="63373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04  PERSON</a:t>
            </a:r>
          </a:p>
          <a:p>
            <a:pPr>
              <a:lnSpc>
                <a:spcPct val="100000"/>
              </a:lnSpc>
              <a:spcAft>
                <a:spcPts val="500"/>
              </a:spcAft>
            </a:pPr>
            <a:r>
              <a:rPr sz="1400" b="1">
                <a:solidFill>
                  <a:srgbClr val="0F172A"/>
                </a:solidFill>
                <a:latin typeface="IBM Plex Sans"/>
              </a:rPr>
              <a:t>Source plan</a:t>
            </a:r>
          </a:p>
          <a:p>
            <a:pPr>
              <a:lnSpc>
                <a:spcPct val="112500"/>
              </a:lnSpc>
              <a:spcAft>
                <a:spcPts val="0"/>
              </a:spcAft>
            </a:pPr>
            <a:r>
              <a:rPr sz="1200" b="0">
                <a:solidFill>
                  <a:srgbClr val="475569"/>
                </a:solidFill>
                <a:latin typeface="IBM Plex Sans"/>
              </a:rPr>
              <a:t>Up to 12 authoritative sources, approved</a:t>
            </a:r>
          </a:p>
        </p:txBody>
      </p:sp>
      <p:sp>
        <p:nvSpPr>
          <p:cNvPr id="21" name="TextBox 20"/>
          <p:cNvSpPr txBox="1"/>
          <p:nvPr/>
        </p:nvSpPr>
        <p:spPr>
          <a:xfrm>
            <a:off x="77978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79705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16A34A"/>
          </a:solidFill>
          <a:ln>
            <a:noFill/>
          </a:ln>
          <a:effectLst/>
        </p:spPr>
        <p:txBody>
          <a:bodyPr rtlCol="0" anchor="ctr"/>
          <a:lstStyle/>
          <a:p>
            <a:pPr algn="ctr"/>
          </a:p>
        </p:txBody>
      </p:sp>
      <p:sp>
        <p:nvSpPr>
          <p:cNvPr id="24" name="TextBox 23"/>
          <p:cNvSpPr txBox="1"/>
          <p:nvPr/>
        </p:nvSpPr>
        <p:spPr>
          <a:xfrm>
            <a:off x="81280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05  LLM</a:t>
            </a:r>
          </a:p>
          <a:p>
            <a:pPr>
              <a:lnSpc>
                <a:spcPct val="100000"/>
              </a:lnSpc>
              <a:spcAft>
                <a:spcPts val="500"/>
              </a:spcAft>
            </a:pPr>
            <a:r>
              <a:rPr sz="1400" b="1">
                <a:solidFill>
                  <a:srgbClr val="0F172A"/>
                </a:solidFill>
                <a:latin typeface="IBM Plex Sans"/>
              </a:rPr>
              <a:t>Research note</a:t>
            </a:r>
          </a:p>
          <a:p>
            <a:pPr>
              <a:lnSpc>
                <a:spcPct val="112500"/>
              </a:lnSpc>
              <a:spcAft>
                <a:spcPts val="0"/>
              </a:spcAft>
            </a:pPr>
            <a:r>
              <a:rPr sz="1200" b="0">
                <a:solidFill>
                  <a:srgbClr val="475569"/>
                </a:solidFill>
                <a:latin typeface="IBM Plex Sans"/>
              </a:rPr>
              <a:t>Five sections, a grounded quote per statement</a:t>
            </a:r>
          </a:p>
        </p:txBody>
      </p:sp>
      <p:sp>
        <p:nvSpPr>
          <p:cNvPr id="25" name="TextBox 24"/>
          <p:cNvSpPr txBox="1"/>
          <p:nvPr/>
        </p:nvSpPr>
        <p:spPr>
          <a:xfrm>
            <a:off x="9588500" y="2279650"/>
            <a:ext cx="177800" cy="17970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79705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Companies</a:t>
            </a:r>
          </a:p>
          <a:p>
            <a:pPr>
              <a:lnSpc>
                <a:spcPct val="112500"/>
              </a:lnSpc>
              <a:spcAft>
                <a:spcPts val="0"/>
              </a:spcAft>
            </a:pPr>
            <a:r>
              <a:rPr sz="1200" b="0">
                <a:solidFill>
                  <a:srgbClr val="475569"/>
                </a:solidFill>
                <a:latin typeface="IBM Plex Sans"/>
              </a:rPr>
              <a:t>The exposed universe, reviewed</a:t>
            </a:r>
          </a:p>
        </p:txBody>
      </p:sp>
      <p:sp>
        <p:nvSpPr>
          <p:cNvPr id="29" name="Rectangle 28"/>
          <p:cNvSpPr/>
          <p:nvPr/>
        </p:nvSpPr>
        <p:spPr>
          <a:xfrm>
            <a:off x="812800" y="438150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PROMOTION GATE</a:t>
            </a:r>
          </a:p>
          <a:p>
            <a:pPr>
              <a:lnSpc>
                <a:spcPct val="116667"/>
              </a:lnSpc>
              <a:spcAft>
                <a:spcPts val="0"/>
              </a:spcAft>
            </a:pPr>
            <a:r>
              <a:rPr sz="1200" b="0">
                <a:solidFill>
                  <a:srgbClr val="475569"/>
                </a:solidFill>
                <a:latin typeface="IBM Plex Sans"/>
              </a:rPr>
              <a:t>Candidates are promoted on corporate action, not mention counts. Promote is the brief's only sign-off.</a:t>
            </a:r>
          </a:p>
        </p:txBody>
      </p:sp>
      <p:sp>
        <p:nvSpPr>
          <p:cNvPr id="31" name="Rectangle 30"/>
          <p:cNvSpPr/>
          <p:nvPr/>
        </p:nvSpPr>
        <p:spPr>
          <a:xfrm>
            <a:off x="4436533" y="438150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APPROVALS</a:t>
            </a:r>
          </a:p>
          <a:p>
            <a:pPr>
              <a:lnSpc>
                <a:spcPct val="116667"/>
              </a:lnSpc>
              <a:spcAft>
                <a:spcPts val="0"/>
              </a:spcAft>
            </a:pPr>
            <a:r>
              <a:rPr sz="1200" b="0">
                <a:solidFill>
                  <a:srgbClr val="475569"/>
                </a:solidFill>
                <a:latin typeface="IBM Plex Sans"/>
              </a:rPr>
              <a:t>The owner approves the source plan, then the note; the note uses approved sources only.</a:t>
            </a:r>
          </a:p>
        </p:txBody>
      </p:sp>
      <p:sp>
        <p:nvSpPr>
          <p:cNvPr id="33" name="Rectangle 32"/>
          <p:cNvSpPr/>
          <p:nvPr/>
        </p:nvSpPr>
        <p:spPr>
          <a:xfrm>
            <a:off x="8060267" y="438150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12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NEXT</a:t>
            </a:r>
          </a:p>
          <a:p>
            <a:pPr>
              <a:lnSpc>
                <a:spcPct val="116667"/>
              </a:lnSpc>
              <a:spcAft>
                <a:spcPts val="0"/>
              </a:spcAft>
            </a:pPr>
            <a:r>
              <a:rPr sz="1200" b="0">
                <a:solidFill>
                  <a:srgbClr val="475569"/>
                </a:solidFill>
                <a:latin typeface="IBM Plex Sans"/>
              </a:rPr>
              <a:t>Step 5, position and standards, is specified: position, standard, data point, StewardIQ flag.</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08</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plans: walk versus talk</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64 indicators on the shared engine, then plan actions and capex checked in code.</a:t>
            </a:r>
          </a:p>
        </p:txBody>
      </p:sp>
      <p:sp>
        <p:nvSpPr>
          <p:cNvPr id="6" name="Rectangle 5"/>
          <p:cNvSpPr/>
          <p:nvPr/>
        </p:nvSpPr>
        <p:spPr>
          <a:xfrm>
            <a:off x="812800" y="2279650"/>
            <a:ext cx="1612900" cy="202565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Plan documents</a:t>
            </a:r>
          </a:p>
          <a:p>
            <a:pPr>
              <a:lnSpc>
                <a:spcPct val="112500"/>
              </a:lnSpc>
              <a:spcAft>
                <a:spcPts val="0"/>
              </a:spcAft>
            </a:pPr>
            <a:r>
              <a:rPr sz="1200" b="0">
                <a:solidFill>
                  <a:srgbClr val="475569"/>
                </a:solidFill>
                <a:latin typeface="IBM Plex Sans"/>
              </a:rPr>
              <a:t>Transition plan, sustainability report</a:t>
            </a:r>
          </a:p>
        </p:txBody>
      </p:sp>
      <p:sp>
        <p:nvSpPr>
          <p:cNvPr id="9" name="TextBox 8"/>
          <p:cNvSpPr txBox="1"/>
          <p:nvPr/>
        </p:nvSpPr>
        <p:spPr>
          <a:xfrm>
            <a:off x="24257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16A34A"/>
          </a:solidFill>
          <a:ln>
            <a:noFill/>
          </a:ln>
          <a:effectLst/>
        </p:spPr>
        <p:txBody>
          <a:bodyPr rtlCol="0" anchor="ctr"/>
          <a:lstStyle/>
          <a:p>
            <a:pPr algn="ctr"/>
          </a:p>
        </p:txBody>
      </p:sp>
      <p:sp>
        <p:nvSpPr>
          <p:cNvPr id="12" name="TextBox 11"/>
          <p:cNvSpPr txBox="1"/>
          <p:nvPr/>
        </p:nvSpPr>
        <p:spPr>
          <a:xfrm>
            <a:off x="27559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02  LLM</a:t>
            </a:r>
          </a:p>
          <a:p>
            <a:pPr>
              <a:lnSpc>
                <a:spcPct val="100000"/>
              </a:lnSpc>
              <a:spcAft>
                <a:spcPts val="500"/>
              </a:spcAft>
            </a:pPr>
            <a:r>
              <a:rPr sz="1400" b="1">
                <a:solidFill>
                  <a:srgbClr val="0F172A"/>
                </a:solidFill>
                <a:latin typeface="IBM Plex Sans"/>
              </a:rPr>
              <a:t>64 indicators</a:t>
            </a:r>
          </a:p>
          <a:p>
            <a:pPr>
              <a:lnSpc>
                <a:spcPct val="112500"/>
              </a:lnSpc>
              <a:spcAft>
                <a:spcPts val="0"/>
              </a:spcAft>
            </a:pPr>
            <a:r>
              <a:rPr sz="1200" b="0">
                <a:solidFill>
                  <a:srgbClr val="475569"/>
                </a:solidFill>
                <a:latin typeface="IBM Plex Sans"/>
              </a:rPr>
              <a:t>One yes/no field each, Colesanti Senni et al.</a:t>
            </a:r>
          </a:p>
        </p:txBody>
      </p:sp>
      <p:sp>
        <p:nvSpPr>
          <p:cNvPr id="13" name="TextBox 12"/>
          <p:cNvSpPr txBox="1"/>
          <p:nvPr/>
        </p:nvSpPr>
        <p:spPr>
          <a:xfrm>
            <a:off x="42164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16A34A"/>
          </a:solidFill>
          <a:ln>
            <a:noFill/>
          </a:ln>
          <a:effectLst/>
        </p:spPr>
        <p:txBody>
          <a:bodyPr rtlCol="0" anchor="ctr"/>
          <a:lstStyle/>
          <a:p>
            <a:pPr algn="ctr"/>
          </a:p>
        </p:txBody>
      </p:sp>
      <p:sp>
        <p:nvSpPr>
          <p:cNvPr id="16" name="TextBox 15"/>
          <p:cNvSpPr txBox="1"/>
          <p:nvPr/>
        </p:nvSpPr>
        <p:spPr>
          <a:xfrm>
            <a:off x="45466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03  LLM</a:t>
            </a:r>
          </a:p>
          <a:p>
            <a:pPr>
              <a:lnSpc>
                <a:spcPct val="100000"/>
              </a:lnSpc>
              <a:spcAft>
                <a:spcPts val="500"/>
              </a:spcAft>
            </a:pPr>
            <a:r>
              <a:rPr sz="1400" b="1">
                <a:solidFill>
                  <a:srgbClr val="0F172A"/>
                </a:solidFill>
                <a:latin typeface="IBM Plex Sans"/>
              </a:rPr>
              <a:t>Plan as a list</a:t>
            </a:r>
          </a:p>
          <a:p>
            <a:pPr>
              <a:lnSpc>
                <a:spcPct val="112500"/>
              </a:lnSpc>
              <a:spcAft>
                <a:spcPts val="0"/>
              </a:spcAft>
            </a:pPr>
            <a:r>
              <a:rPr sz="1200" b="0">
                <a:solidFill>
                  <a:srgbClr val="475569"/>
                </a:solidFill>
                <a:latin typeface="IBM Plex Sans"/>
              </a:rPr>
              <a:t>Actions, assumed prices, targets, phase-outs</a:t>
            </a:r>
          </a:p>
        </p:txBody>
      </p:sp>
      <p:sp>
        <p:nvSpPr>
          <p:cNvPr id="17" name="TextBox 16"/>
          <p:cNvSpPr txBox="1"/>
          <p:nvPr/>
        </p:nvSpPr>
        <p:spPr>
          <a:xfrm>
            <a:off x="60071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Capex and actions</a:t>
            </a:r>
          </a:p>
          <a:p>
            <a:pPr>
              <a:lnSpc>
                <a:spcPct val="112500"/>
              </a:lnSpc>
              <a:spcAft>
                <a:spcPts val="0"/>
              </a:spcAft>
            </a:pPr>
            <a:r>
              <a:rPr sz="1200" b="0">
                <a:solidFill>
                  <a:srgbClr val="475569"/>
                </a:solidFill>
                <a:latin typeface="IBM Plex Sans"/>
              </a:rPr>
              <a:t>Capex vs benchmark, actions vs barriers</a:t>
            </a:r>
          </a:p>
        </p:txBody>
      </p:sp>
      <p:sp>
        <p:nvSpPr>
          <p:cNvPr id="21" name="TextBox 20"/>
          <p:cNvSpPr txBox="1"/>
          <p:nvPr/>
        </p:nvSpPr>
        <p:spPr>
          <a:xfrm>
            <a:off x="77978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Delivery checks</a:t>
            </a:r>
          </a:p>
          <a:p>
            <a:pPr>
              <a:lnSpc>
                <a:spcPct val="112500"/>
              </a:lnSpc>
              <a:spcAft>
                <a:spcPts val="0"/>
              </a:spcAft>
            </a:pPr>
            <a:r>
              <a:rPr sz="1200" b="0">
                <a:solidFill>
                  <a:srgbClr val="475569"/>
                </a:solidFill>
                <a:latin typeface="IBM Plex Sans"/>
              </a:rPr>
              <a:t>Targets, abatement, phase-outs, carbon price</a:t>
            </a:r>
          </a:p>
        </p:txBody>
      </p:sp>
      <p:sp>
        <p:nvSpPr>
          <p:cNvPr id="25" name="TextBox 24"/>
          <p:cNvSpPr txBox="1"/>
          <p:nvPr/>
        </p:nvSpPr>
        <p:spPr>
          <a:xfrm>
            <a:off x="95885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202565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Flags and KPIs</a:t>
            </a:r>
          </a:p>
          <a:p>
            <a:pPr>
              <a:lnSpc>
                <a:spcPct val="112500"/>
              </a:lnSpc>
              <a:spcAft>
                <a:spcPts val="0"/>
              </a:spcAft>
            </a:pPr>
            <a:r>
              <a:rPr sz="1200" b="0">
                <a:solidFill>
                  <a:srgbClr val="475569"/>
                </a:solidFill>
                <a:latin typeface="IBM Plex Sans"/>
              </a:rPr>
              <a:t>5 flags and 9 KPIs, never one score</a:t>
            </a:r>
          </a:p>
        </p:txBody>
      </p:sp>
      <p:sp>
        <p:nvSpPr>
          <p:cNvPr id="29" name="Rectangle 28"/>
          <p:cNvSpPr/>
          <p:nvPr/>
        </p:nvSpPr>
        <p:spPr>
          <a:xfrm>
            <a:off x="812800" y="461010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CONTRADICTIONS</a:t>
            </a:r>
          </a:p>
          <a:p>
            <a:pPr>
              <a:lnSpc>
                <a:spcPct val="116667"/>
              </a:lnSpc>
              <a:spcAft>
                <a:spcPts val="0"/>
              </a:spcAft>
            </a:pPr>
            <a:r>
              <a:rPr sz="1200" b="0">
                <a:solidFill>
                  <a:srgbClr val="475569"/>
                </a:solidFill>
                <a:latin typeface="IBM Plex Sans"/>
              </a:rPr>
              <a:t>Ten child and parent rules send a YES that contradicts its parent indicator to review.</a:t>
            </a:r>
          </a:p>
        </p:txBody>
      </p:sp>
      <p:sp>
        <p:nvSpPr>
          <p:cNvPr id="31" name="Rectangle 30"/>
          <p:cNvSpPr/>
          <p:nvPr/>
        </p:nvSpPr>
        <p:spPr>
          <a:xfrm>
            <a:off x="4436533" y="461010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BENCHMARKS</a:t>
            </a:r>
          </a:p>
          <a:p>
            <a:pPr>
              <a:lnSpc>
                <a:spcPct val="116667"/>
              </a:lnSpc>
              <a:spcAft>
                <a:spcPts val="0"/>
              </a:spcAft>
            </a:pPr>
            <a:r>
              <a:rPr sz="1200" b="0">
                <a:solidFill>
                  <a:srgbClr val="475569"/>
                </a:solidFill>
                <a:latin typeface="IBM Plex Sans"/>
              </a:rPr>
              <a:t>Nine sectors and 29 levers. Benchmarks change only by a pull request the owner signs.</a:t>
            </a:r>
          </a:p>
        </p:txBody>
      </p:sp>
      <p:sp>
        <p:nvSpPr>
          <p:cNvPr id="33" name="Rectangle 32"/>
          <p:cNvSpPr/>
          <p:nvPr/>
        </p:nvSpPr>
        <p:spPr>
          <a:xfrm>
            <a:off x="8060267" y="461010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Alignment arithmetic is decimal code, no model. An approver releases a preset before real runs.</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09</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barriers: is it feasible here?</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9 hard-to-abate sectors, 35 criteria, each rated for the EU, the US and China: a 105-cell matrix.</a:t>
            </a:r>
          </a:p>
        </p:txBody>
      </p:sp>
      <p:sp>
        <p:nvSpPr>
          <p:cNvPr id="6" name="Rectangle 5"/>
          <p:cNvSpPr/>
          <p:nvPr/>
        </p:nvSpPr>
        <p:spPr>
          <a:xfrm>
            <a:off x="812800" y="2279650"/>
            <a:ext cx="1612900" cy="20193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Rule book</a:t>
            </a:r>
          </a:p>
          <a:p>
            <a:pPr>
              <a:lnSpc>
                <a:spcPct val="112500"/>
              </a:lnSpc>
              <a:spcAft>
                <a:spcPts val="0"/>
              </a:spcAft>
            </a:pPr>
            <a:r>
              <a:rPr sz="1200" b="0">
                <a:solidFill>
                  <a:srgbClr val="475569"/>
                </a:solidFill>
                <a:latin typeface="IBM Plex Sans"/>
              </a:rPr>
              <a:t>Facts needed, H/M/L conditions, thresholds; signed</a:t>
            </a:r>
          </a:p>
        </p:txBody>
      </p:sp>
      <p:sp>
        <p:nvSpPr>
          <p:cNvPr id="9" name="TextBox 8"/>
          <p:cNvSpPr txBox="1"/>
          <p:nvPr/>
        </p:nvSpPr>
        <p:spPr>
          <a:xfrm>
            <a:off x="2425700" y="2279650"/>
            <a:ext cx="177800" cy="20193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20193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Fetch sources</a:t>
            </a:r>
          </a:p>
          <a:p>
            <a:pPr>
              <a:lnSpc>
                <a:spcPct val="112500"/>
              </a:lnSpc>
              <a:spcAft>
                <a:spcPts val="0"/>
              </a:spcAft>
            </a:pPr>
            <a:r>
              <a:rPr sz="1200" b="0">
                <a:solidFill>
                  <a:srgbClr val="475569"/>
                </a:solidFill>
                <a:latin typeface="IBM Plex Sans"/>
              </a:rPr>
              <a:t>Through the SSRF guard, stored in Postgres</a:t>
            </a:r>
          </a:p>
        </p:txBody>
      </p:sp>
      <p:sp>
        <p:nvSpPr>
          <p:cNvPr id="13" name="TextBox 12"/>
          <p:cNvSpPr txBox="1"/>
          <p:nvPr/>
        </p:nvSpPr>
        <p:spPr>
          <a:xfrm>
            <a:off x="4216400" y="2279650"/>
            <a:ext cx="177800" cy="20193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20193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16A34A"/>
          </a:solidFill>
          <a:ln>
            <a:noFill/>
          </a:ln>
          <a:effectLst/>
        </p:spPr>
        <p:txBody>
          <a:bodyPr rtlCol="0" anchor="ctr"/>
          <a:lstStyle/>
          <a:p>
            <a:pPr algn="ctr"/>
          </a:p>
        </p:txBody>
      </p:sp>
      <p:sp>
        <p:nvSpPr>
          <p:cNvPr id="16" name="TextBox 15"/>
          <p:cNvSpPr txBox="1"/>
          <p:nvPr/>
        </p:nvSpPr>
        <p:spPr>
          <a:xfrm>
            <a:off x="4546600" y="245745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03  LLM</a:t>
            </a:r>
          </a:p>
          <a:p>
            <a:pPr>
              <a:lnSpc>
                <a:spcPct val="100000"/>
              </a:lnSpc>
              <a:spcAft>
                <a:spcPts val="500"/>
              </a:spcAft>
            </a:pPr>
            <a:r>
              <a:rPr sz="1400" b="1">
                <a:solidFill>
                  <a:srgbClr val="0F172A"/>
                </a:solidFill>
                <a:latin typeface="IBM Plex Sans"/>
              </a:rPr>
              <a:t>Extract facts</a:t>
            </a:r>
          </a:p>
          <a:p>
            <a:pPr>
              <a:lnSpc>
                <a:spcPct val="112500"/>
              </a:lnSpc>
              <a:spcAft>
                <a:spcPts val="0"/>
              </a:spcAft>
            </a:pPr>
            <a:r>
              <a:rPr sz="1200" b="0">
                <a:solidFill>
                  <a:srgbClr val="475569"/>
                </a:solidFill>
                <a:latin typeface="IBM Plex Sans"/>
              </a:rPr>
              <a:t>Value, unit and quote checked in code</a:t>
            </a:r>
          </a:p>
        </p:txBody>
      </p:sp>
      <p:sp>
        <p:nvSpPr>
          <p:cNvPr id="17" name="TextBox 16"/>
          <p:cNvSpPr txBox="1"/>
          <p:nvPr/>
        </p:nvSpPr>
        <p:spPr>
          <a:xfrm>
            <a:off x="6007100" y="2279650"/>
            <a:ext cx="177800" cy="20193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20193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Rules engine</a:t>
            </a:r>
          </a:p>
          <a:p>
            <a:pPr>
              <a:lnSpc>
                <a:spcPct val="112500"/>
              </a:lnSpc>
              <a:spcAft>
                <a:spcPts val="0"/>
              </a:spcAft>
            </a:pPr>
            <a:r>
              <a:rPr sz="1200" b="0">
                <a:solidFill>
                  <a:srgbClr val="475569"/>
                </a:solidFill>
                <a:latin typeface="IBM Plex Sans"/>
              </a:rPr>
              <a:t>Three-valued rules derive H, M or L</a:t>
            </a:r>
          </a:p>
        </p:txBody>
      </p:sp>
      <p:sp>
        <p:nvSpPr>
          <p:cNvPr id="21" name="TextBox 20"/>
          <p:cNvSpPr txBox="1"/>
          <p:nvPr/>
        </p:nvSpPr>
        <p:spPr>
          <a:xfrm>
            <a:off x="7797800" y="2279650"/>
            <a:ext cx="177800" cy="20193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20193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2563EB"/>
          </a:solidFill>
          <a:ln>
            <a:noFill/>
          </a:ln>
          <a:effectLst/>
        </p:spPr>
        <p:txBody>
          <a:bodyPr rtlCol="0" anchor="ctr"/>
          <a:lstStyle/>
          <a:p>
            <a:pPr algn="ctr"/>
          </a:p>
        </p:txBody>
      </p:sp>
      <p:sp>
        <p:nvSpPr>
          <p:cNvPr id="24" name="TextBox 23"/>
          <p:cNvSpPr txBox="1"/>
          <p:nvPr/>
        </p:nvSpPr>
        <p:spPr>
          <a:xfrm>
            <a:off x="8128000" y="245745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05  PERSON</a:t>
            </a:r>
          </a:p>
          <a:p>
            <a:pPr>
              <a:lnSpc>
                <a:spcPct val="100000"/>
              </a:lnSpc>
              <a:spcAft>
                <a:spcPts val="500"/>
              </a:spcAft>
            </a:pPr>
            <a:r>
              <a:rPr sz="1400" b="1">
                <a:solidFill>
                  <a:srgbClr val="0F172A"/>
                </a:solidFill>
                <a:latin typeface="IBM Plex Sans"/>
              </a:rPr>
              <a:t>Ratify</a:t>
            </a:r>
          </a:p>
          <a:p>
            <a:pPr>
              <a:lnSpc>
                <a:spcPct val="112500"/>
              </a:lnSpc>
              <a:spcAft>
                <a:spcPts val="0"/>
              </a:spcAft>
            </a:pPr>
            <a:r>
              <a:rPr sz="1200" b="0">
                <a:solidFill>
                  <a:srgbClr val="475569"/>
                </a:solidFill>
                <a:latin typeface="IBM Plex Sans"/>
              </a:rPr>
              <a:t>A named person accepts or rejects each cell</a:t>
            </a:r>
          </a:p>
        </p:txBody>
      </p:sp>
      <p:sp>
        <p:nvSpPr>
          <p:cNvPr id="25" name="TextBox 24"/>
          <p:cNvSpPr txBox="1"/>
          <p:nvPr/>
        </p:nvSpPr>
        <p:spPr>
          <a:xfrm>
            <a:off x="9588500" y="2279650"/>
            <a:ext cx="177800" cy="20193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20193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Rated cell</a:t>
            </a:r>
          </a:p>
          <a:p>
            <a:pPr>
              <a:lnSpc>
                <a:spcPct val="112500"/>
              </a:lnSpc>
              <a:spcAft>
                <a:spcPts val="0"/>
              </a:spcAft>
            </a:pPr>
            <a:r>
              <a:rPr sz="1200" b="0">
                <a:solidFill>
                  <a:srgbClr val="475569"/>
                </a:solidFill>
                <a:latin typeface="IBM Plex Sans"/>
              </a:rPr>
              <a:t>Rating, confidence, evidence, last verified</a:t>
            </a:r>
          </a:p>
        </p:txBody>
      </p:sp>
      <p:sp>
        <p:nvSpPr>
          <p:cNvPr id="29" name="Rectangle 28"/>
          <p:cNvSpPr/>
          <p:nvPr/>
        </p:nvSpPr>
        <p:spPr>
          <a:xfrm>
            <a:off x="812800" y="46037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7434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REFRESH</a:t>
            </a:r>
          </a:p>
          <a:p>
            <a:pPr>
              <a:lnSpc>
                <a:spcPct val="116667"/>
              </a:lnSpc>
              <a:spcAft>
                <a:spcPts val="0"/>
              </a:spcAft>
            </a:pPr>
            <a:r>
              <a:rPr sz="1200" b="0">
                <a:solidFill>
                  <a:srgbClr val="475569"/>
                </a:solidFill>
                <a:latin typeface="IBM Plex Sans"/>
              </a:rPr>
              <a:t>An EUR-Lex refresh proposes changes and never applies them. It is off by default.</a:t>
            </a:r>
          </a:p>
        </p:txBody>
      </p:sp>
      <p:sp>
        <p:nvSpPr>
          <p:cNvPr id="31" name="Rectangle 30"/>
          <p:cNvSpPr/>
          <p:nvPr/>
        </p:nvSpPr>
        <p:spPr>
          <a:xfrm>
            <a:off x="4436533" y="46037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7434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STALENESS</a:t>
            </a:r>
          </a:p>
          <a:p>
            <a:pPr>
              <a:lnSpc>
                <a:spcPct val="116667"/>
              </a:lnSpc>
              <a:spcAft>
                <a:spcPts val="0"/>
              </a:spcAft>
            </a:pPr>
            <a:r>
              <a:rPr sz="1200" b="0">
                <a:solidFill>
                  <a:srgbClr val="475569"/>
                </a:solidFill>
                <a:latin typeface="IBM Plex Sans"/>
              </a:rPr>
              <a:t>A cell's evidence goes stale after 548 days. 94 sources sit in the registry.</a:t>
            </a:r>
          </a:p>
        </p:txBody>
      </p:sp>
      <p:sp>
        <p:nvSpPr>
          <p:cNvPr id="33" name="Rectangle 32"/>
          <p:cNvSpPr/>
          <p:nvPr/>
        </p:nvSpPr>
        <p:spPr>
          <a:xfrm>
            <a:off x="8060267" y="46037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7434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When sources conflict, the review item carries both versions and proposes no rating.</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10</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Value chain: exposure never disclosed</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Input-output tables trace supply-chain exposure; the propagation itself has no model in it.</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IO tables</a:t>
            </a:r>
          </a:p>
          <a:p>
            <a:pPr>
              <a:lnSpc>
                <a:spcPct val="112500"/>
              </a:lnSpc>
              <a:spcAft>
                <a:spcPts val="0"/>
              </a:spcAft>
            </a:pPr>
            <a:r>
              <a:rPr sz="1200" b="0">
                <a:solidFill>
                  <a:srgbClr val="475569"/>
                </a:solidFill>
                <a:latin typeface="IBM Plex Sans"/>
              </a:rPr>
              <a:t>OECD ICIO 2025 and EXIOBASE 3</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Leontief inverse</a:t>
            </a:r>
          </a:p>
          <a:p>
            <a:pPr>
              <a:lnSpc>
                <a:spcPct val="112500"/>
              </a:lnSpc>
              <a:spcAft>
                <a:spcPts val="0"/>
              </a:spcAft>
            </a:pPr>
            <a:r>
              <a:rPr sz="1200" b="0">
                <a:solidFill>
                  <a:srgbClr val="475569"/>
                </a:solidFill>
                <a:latin typeface="IBM Plex Sans"/>
              </a:rPr>
              <a:t>A = Z ÷ x, then L = (I − A)⁻¹, cached</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16A34A"/>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03  LLM</a:t>
            </a:r>
          </a:p>
          <a:p>
            <a:pPr>
              <a:lnSpc>
                <a:spcPct val="100000"/>
              </a:lnSpc>
              <a:spcAft>
                <a:spcPts val="500"/>
              </a:spcAft>
            </a:pPr>
            <a:r>
              <a:rPr sz="1400" b="1">
                <a:solidFill>
                  <a:srgbClr val="0F172A"/>
                </a:solidFill>
                <a:latin typeface="IBM Plex Sans"/>
              </a:rPr>
              <a:t>Map sectors</a:t>
            </a:r>
          </a:p>
          <a:p>
            <a:pPr>
              <a:lnSpc>
                <a:spcPct val="112500"/>
              </a:lnSpc>
              <a:spcAft>
                <a:spcPts val="0"/>
              </a:spcAft>
            </a:pPr>
            <a:r>
              <a:rPr sz="1200" b="0">
                <a:solidFill>
                  <a:srgbClr val="475569"/>
                </a:solidFill>
                <a:latin typeface="IBM Plex Sans"/>
              </a:rPr>
              <a:t>A theme's core sectors; a company's code if missing</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Exposure</a:t>
            </a:r>
          </a:p>
          <a:p>
            <a:pPr>
              <a:lnSpc>
                <a:spcPct val="112500"/>
              </a:lnSpc>
              <a:spcAft>
                <a:spcPts val="0"/>
              </a:spcAft>
            </a:pPr>
            <a:r>
              <a:rPr sz="1200" b="0">
                <a:solidFill>
                  <a:srgbClr val="475569"/>
                </a:solidFill>
                <a:latin typeface="IBM Plex Sans"/>
              </a:rPr>
              <a:t>Upstream, downstream, end market, GHG, region</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2563EB"/>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05  PERSON</a:t>
            </a:r>
          </a:p>
          <a:p>
            <a:pPr>
              <a:lnSpc>
                <a:spcPct val="100000"/>
              </a:lnSpc>
              <a:spcAft>
                <a:spcPts val="500"/>
              </a:spcAft>
            </a:pPr>
            <a:r>
              <a:rPr sz="1400" b="1">
                <a:solidFill>
                  <a:srgbClr val="0F172A"/>
                </a:solidFill>
                <a:latin typeface="IBM Plex Sans"/>
              </a:rPr>
              <a:t>Review flag</a:t>
            </a:r>
          </a:p>
          <a:p>
            <a:pPr>
              <a:lnSpc>
                <a:spcPct val="112500"/>
              </a:lnSpc>
              <a:spcAft>
                <a:spcPts val="0"/>
              </a:spcAft>
            </a:pPr>
            <a:r>
              <a:rPr sz="1200" b="0">
                <a:solidFill>
                  <a:srgbClr val="475569"/>
                </a:solidFill>
                <a:latin typeface="IBM Plex Sans"/>
              </a:rPr>
              <a:t>A silent company at 0.3 or more is queued</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Explorer</a:t>
            </a:r>
          </a:p>
          <a:p>
            <a:pPr>
              <a:lnSpc>
                <a:spcPct val="112500"/>
              </a:lnSpc>
              <a:spcAft>
                <a:spcPts val="0"/>
              </a:spcAft>
            </a:pPr>
            <a:r>
              <a:rPr sz="1200" b="0">
                <a:solidFill>
                  <a:srgbClr val="475569"/>
                </a:solidFill>
                <a:latin typeface="IBM Plex Sans"/>
              </a:rPr>
              <a:t>7,987 nodes: node, upstream tree, footprint</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VALUE CHAIN EXPLORER</a:t>
            </a:r>
          </a:p>
          <a:p>
            <a:pPr>
              <a:lnSpc>
                <a:spcPct val="116667"/>
              </a:lnSpc>
              <a:spcAft>
                <a:spcPts val="0"/>
              </a:spcAft>
            </a:pPr>
            <a:r>
              <a:rPr sz="1200" b="0">
                <a:solidFill>
                  <a:srgbClr val="475569"/>
                </a:solidFill>
                <a:latin typeface="IBM Plex Sans"/>
              </a:rPr>
              <a:t>EXIOBASE 3.11.2 for 2022: 163 sectors in 49 regions, with CO₂e, energy and jobs. Read-only.</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KEPT SEPARATE</a:t>
            </a:r>
          </a:p>
          <a:p>
            <a:pPr>
              <a:lnSpc>
                <a:spcPct val="116667"/>
              </a:lnSpc>
              <a:spcAft>
                <a:spcPts val="0"/>
              </a:spcAft>
            </a:pPr>
            <a:r>
              <a:rPr sz="1200" b="0">
                <a:solidFill>
                  <a:srgbClr val="475569"/>
                </a:solidFill>
                <a:latin typeface="IBM Plex Sans"/>
              </a:rPr>
              <a:t>Structural exposure is its own field, never blended into the verdict from disclosures.</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A sector code the loaded tables do not contain is rejected, never coerced.</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22C55E"/>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PART 2</a:t>
            </a:r>
          </a:p>
        </p:txBody>
      </p:sp>
      <p:sp>
        <p:nvSpPr>
          <p:cNvPr id="4" name="TextBox 3"/>
          <p:cNvSpPr txBox="1"/>
          <p:nvPr/>
        </p:nvSpPr>
        <p:spPr>
          <a:xfrm>
            <a:off x="812800" y="13144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F8FAFC"/>
                </a:solidFill>
                <a:latin typeface="IBM Plex Sans"/>
              </a:rPr>
              <a:t>Analyse and decide</a:t>
            </a:r>
          </a:p>
        </p:txBody>
      </p:sp>
      <p:sp>
        <p:nvSpPr>
          <p:cNvPr id="5" name="TextBox 4"/>
          <p:cNvSpPr txBox="1"/>
          <p:nvPr/>
        </p:nvSpPr>
        <p:spPr>
          <a:xfrm>
            <a:off x="812800" y="22796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94A3B8"/>
                </a:solidFill>
                <a:latin typeface="IBM Plex Sans"/>
              </a:rPr>
              <a:t>Turn cited figures into monitored portfolios, scored decisions, indices, votes and client answers, with code doing the arithmetic.</a:t>
            </a:r>
          </a:p>
        </p:txBody>
      </p:sp>
      <p:sp>
        <p:nvSpPr>
          <p:cNvPr id="6" name="Rectangle 5"/>
          <p:cNvSpPr/>
          <p:nvPr/>
        </p:nvSpPr>
        <p:spPr>
          <a:xfrm>
            <a:off x="812800" y="3670300"/>
            <a:ext cx="5080000" cy="6350"/>
          </a:xfrm>
          <a:prstGeom prst="rect">
            <a:avLst/>
          </a:prstGeom>
          <a:solidFill>
            <a:srgbClr val="334155"/>
          </a:solidFill>
          <a:ln>
            <a:noFill/>
          </a:ln>
          <a:effectLst/>
        </p:spPr>
        <p:txBody>
          <a:bodyPr rtlCol="0" anchor="ctr"/>
          <a:lstStyle/>
          <a:p>
            <a:pPr algn="ctr"/>
          </a:p>
        </p:txBody>
      </p:sp>
      <p:sp>
        <p:nvSpPr>
          <p:cNvPr id="7" name="TextBox 6"/>
          <p:cNvSpPr txBox="1"/>
          <p:nvPr/>
        </p:nvSpPr>
        <p:spPr>
          <a:xfrm>
            <a:off x="812800" y="3143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11</a:t>
            </a:r>
          </a:p>
        </p:txBody>
      </p:sp>
      <p:sp>
        <p:nvSpPr>
          <p:cNvPr id="8" name="TextBox 7"/>
          <p:cNvSpPr txBox="1"/>
          <p:nvPr/>
        </p:nvSpPr>
        <p:spPr>
          <a:xfrm>
            <a:off x="1270000" y="3143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Portfolio and climate</a:t>
            </a:r>
          </a:p>
          <a:p>
            <a:pPr>
              <a:lnSpc>
                <a:spcPct val="108333"/>
              </a:lnSpc>
              <a:spcAft>
                <a:spcPts val="0"/>
              </a:spcAft>
            </a:pPr>
            <a:r>
              <a:rPr sz="1200" b="0">
                <a:solidFill>
                  <a:srgbClr val="94A3B8"/>
                </a:solidFill>
                <a:latin typeface="IBM Plex Sans"/>
              </a:rPr>
              <a:t>Holdings, alerts, WACI, financed emissions</a:t>
            </a:r>
          </a:p>
        </p:txBody>
      </p:sp>
      <p:sp>
        <p:nvSpPr>
          <p:cNvPr id="9" name="Rectangle 8"/>
          <p:cNvSpPr/>
          <p:nvPr/>
        </p:nvSpPr>
        <p:spPr>
          <a:xfrm>
            <a:off x="812800" y="4203700"/>
            <a:ext cx="5080000" cy="6350"/>
          </a:xfrm>
          <a:prstGeom prst="rect">
            <a:avLst/>
          </a:prstGeom>
          <a:solidFill>
            <a:srgbClr val="334155"/>
          </a:solidFill>
          <a:ln>
            <a:noFill/>
          </a:ln>
          <a:effectLst/>
        </p:spPr>
        <p:txBody>
          <a:bodyPr rtlCol="0" anchor="ctr"/>
          <a:lstStyle/>
          <a:p>
            <a:pPr algn="ctr"/>
          </a:p>
        </p:txBody>
      </p:sp>
      <p:sp>
        <p:nvSpPr>
          <p:cNvPr id="10" name="TextBox 9"/>
          <p:cNvSpPr txBox="1"/>
          <p:nvPr/>
        </p:nvSpPr>
        <p:spPr>
          <a:xfrm>
            <a:off x="812800" y="3676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12</a:t>
            </a:r>
          </a:p>
        </p:txBody>
      </p:sp>
      <p:sp>
        <p:nvSpPr>
          <p:cNvPr id="11" name="TextBox 10"/>
          <p:cNvSpPr txBox="1"/>
          <p:nvPr/>
        </p:nvSpPr>
        <p:spPr>
          <a:xfrm>
            <a:off x="1270000" y="3676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Decision Studio</a:t>
            </a:r>
          </a:p>
          <a:p>
            <a:pPr>
              <a:lnSpc>
                <a:spcPct val="108333"/>
              </a:lnSpc>
              <a:spcAft>
                <a:spcPts val="0"/>
              </a:spcAft>
            </a:pPr>
            <a:r>
              <a:rPr sz="1200" b="0">
                <a:solidFill>
                  <a:srgbClr val="94A3B8"/>
                </a:solidFill>
                <a:latin typeface="IBM Plex Sans"/>
              </a:rPr>
              <a:t>Scored, ranked and tiered decisions</a:t>
            </a:r>
          </a:p>
        </p:txBody>
      </p:sp>
      <p:sp>
        <p:nvSpPr>
          <p:cNvPr id="12" name="Rectangle 11"/>
          <p:cNvSpPr/>
          <p:nvPr/>
        </p:nvSpPr>
        <p:spPr>
          <a:xfrm>
            <a:off x="812800" y="4737100"/>
            <a:ext cx="5080000" cy="6350"/>
          </a:xfrm>
          <a:prstGeom prst="rect">
            <a:avLst/>
          </a:prstGeom>
          <a:solidFill>
            <a:srgbClr val="334155"/>
          </a:solidFill>
          <a:ln>
            <a:noFill/>
          </a:ln>
          <a:effectLst/>
        </p:spPr>
        <p:txBody>
          <a:bodyPr rtlCol="0" anchor="ctr"/>
          <a:lstStyle/>
          <a:p>
            <a:pPr algn="ctr"/>
          </a:p>
        </p:txBody>
      </p:sp>
      <p:sp>
        <p:nvSpPr>
          <p:cNvPr id="13" name="TextBox 12"/>
          <p:cNvSpPr txBox="1"/>
          <p:nvPr/>
        </p:nvSpPr>
        <p:spPr>
          <a:xfrm>
            <a:off x="812800" y="4210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13</a:t>
            </a:r>
          </a:p>
        </p:txBody>
      </p:sp>
      <p:sp>
        <p:nvSpPr>
          <p:cNvPr id="14" name="TextBox 13"/>
          <p:cNvSpPr txBox="1"/>
          <p:nvPr/>
        </p:nvSpPr>
        <p:spPr>
          <a:xfrm>
            <a:off x="1270000" y="4210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Index construction</a:t>
            </a:r>
          </a:p>
          <a:p>
            <a:pPr>
              <a:lnSpc>
                <a:spcPct val="108333"/>
              </a:lnSpc>
              <a:spcAft>
                <a:spcPts val="0"/>
              </a:spcAft>
            </a:pPr>
            <a:r>
              <a:rPr sz="1200" b="0">
                <a:solidFill>
                  <a:srgbClr val="94A3B8"/>
                </a:solidFill>
                <a:latin typeface="IBM Plex Sans"/>
              </a:rPr>
              <a:t>Rule-based index methodologies</a:t>
            </a:r>
          </a:p>
        </p:txBody>
      </p:sp>
      <p:sp>
        <p:nvSpPr>
          <p:cNvPr id="15" name="Rectangle 14"/>
          <p:cNvSpPr/>
          <p:nvPr/>
        </p:nvSpPr>
        <p:spPr>
          <a:xfrm>
            <a:off x="812800" y="5270500"/>
            <a:ext cx="5080000" cy="6350"/>
          </a:xfrm>
          <a:prstGeom prst="rect">
            <a:avLst/>
          </a:prstGeom>
          <a:solidFill>
            <a:srgbClr val="334155"/>
          </a:solidFill>
          <a:ln>
            <a:noFill/>
          </a:ln>
          <a:effectLst/>
        </p:spPr>
        <p:txBody>
          <a:bodyPr rtlCol="0" anchor="ctr"/>
          <a:lstStyle/>
          <a:p>
            <a:pPr algn="ctr"/>
          </a:p>
        </p:txBody>
      </p:sp>
      <p:sp>
        <p:nvSpPr>
          <p:cNvPr id="16" name="TextBox 15"/>
          <p:cNvSpPr txBox="1"/>
          <p:nvPr/>
        </p:nvSpPr>
        <p:spPr>
          <a:xfrm>
            <a:off x="812800" y="4743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14</a:t>
            </a:r>
          </a:p>
        </p:txBody>
      </p:sp>
      <p:sp>
        <p:nvSpPr>
          <p:cNvPr id="17" name="TextBox 16"/>
          <p:cNvSpPr txBox="1"/>
          <p:nvPr/>
        </p:nvSpPr>
        <p:spPr>
          <a:xfrm>
            <a:off x="1270000" y="4743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Strategy and signals</a:t>
            </a:r>
          </a:p>
          <a:p>
            <a:pPr>
              <a:lnSpc>
                <a:spcPct val="108333"/>
              </a:lnSpc>
              <a:spcAft>
                <a:spcPts val="0"/>
              </a:spcAft>
            </a:pPr>
            <a:r>
              <a:rPr sz="1200" b="0">
                <a:solidFill>
                  <a:srgbClr val="94A3B8"/>
                </a:solidFill>
                <a:latin typeface="IBM Plex Sans"/>
              </a:rPr>
              <a:t>Backtests and honest signal tests</a:t>
            </a:r>
          </a:p>
        </p:txBody>
      </p:sp>
      <p:sp>
        <p:nvSpPr>
          <p:cNvPr id="18" name="Rectangle 17"/>
          <p:cNvSpPr/>
          <p:nvPr/>
        </p:nvSpPr>
        <p:spPr>
          <a:xfrm>
            <a:off x="6299200" y="3670300"/>
            <a:ext cx="5080000" cy="6350"/>
          </a:xfrm>
          <a:prstGeom prst="rect">
            <a:avLst/>
          </a:prstGeom>
          <a:solidFill>
            <a:srgbClr val="334155"/>
          </a:solidFill>
          <a:ln>
            <a:noFill/>
          </a:ln>
          <a:effectLst/>
        </p:spPr>
        <p:txBody>
          <a:bodyPr rtlCol="0" anchor="ctr"/>
          <a:lstStyle/>
          <a:p>
            <a:pPr algn="ctr"/>
          </a:p>
        </p:txBody>
      </p:sp>
      <p:sp>
        <p:nvSpPr>
          <p:cNvPr id="19" name="TextBox 18"/>
          <p:cNvSpPr txBox="1"/>
          <p:nvPr/>
        </p:nvSpPr>
        <p:spPr>
          <a:xfrm>
            <a:off x="6299200" y="3143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15</a:t>
            </a:r>
          </a:p>
        </p:txBody>
      </p:sp>
      <p:sp>
        <p:nvSpPr>
          <p:cNvPr id="20" name="TextBox 19"/>
          <p:cNvSpPr txBox="1"/>
          <p:nvPr/>
        </p:nvSpPr>
        <p:spPr>
          <a:xfrm>
            <a:off x="6756400" y="3143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Engagement</a:t>
            </a:r>
          </a:p>
          <a:p>
            <a:pPr>
              <a:lnSpc>
                <a:spcPct val="108333"/>
              </a:lnSpc>
              <a:spcAft>
                <a:spcPts val="0"/>
              </a:spcAft>
            </a:pPr>
            <a:r>
              <a:rPr sz="1200" b="0">
                <a:solidFill>
                  <a:srgbClr val="94A3B8"/>
                </a:solidFill>
                <a:latin typeface="IBM Plex Sans"/>
              </a:rPr>
              <a:t>One record per company, people at every gate</a:t>
            </a:r>
          </a:p>
        </p:txBody>
      </p:sp>
      <p:sp>
        <p:nvSpPr>
          <p:cNvPr id="21" name="Rectangle 20"/>
          <p:cNvSpPr/>
          <p:nvPr/>
        </p:nvSpPr>
        <p:spPr>
          <a:xfrm>
            <a:off x="6299200" y="4203700"/>
            <a:ext cx="5080000" cy="6350"/>
          </a:xfrm>
          <a:prstGeom prst="rect">
            <a:avLst/>
          </a:prstGeom>
          <a:solidFill>
            <a:srgbClr val="334155"/>
          </a:solidFill>
          <a:ln>
            <a:noFill/>
          </a:ln>
          <a:effectLst/>
        </p:spPr>
        <p:txBody>
          <a:bodyPr rtlCol="0" anchor="ctr"/>
          <a:lstStyle/>
          <a:p>
            <a:pPr algn="ctr"/>
          </a:p>
        </p:txBody>
      </p:sp>
      <p:sp>
        <p:nvSpPr>
          <p:cNvPr id="22" name="TextBox 21"/>
          <p:cNvSpPr txBox="1"/>
          <p:nvPr/>
        </p:nvSpPr>
        <p:spPr>
          <a:xfrm>
            <a:off x="6299200" y="3676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16</a:t>
            </a:r>
          </a:p>
        </p:txBody>
      </p:sp>
      <p:sp>
        <p:nvSpPr>
          <p:cNvPr id="23" name="TextBox 22"/>
          <p:cNvSpPr txBox="1"/>
          <p:nvPr/>
        </p:nvSpPr>
        <p:spPr>
          <a:xfrm>
            <a:off x="6756400" y="3676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Proxy voting</a:t>
            </a:r>
          </a:p>
          <a:p>
            <a:pPr>
              <a:lnSpc>
                <a:spcPct val="108333"/>
              </a:lnSpc>
              <a:spcAft>
                <a:spcPts val="0"/>
              </a:spcAft>
            </a:pPr>
            <a:r>
              <a:rPr sz="1200" b="0">
                <a:solidFill>
                  <a:srgbClr val="94A3B8"/>
                </a:solidFill>
                <a:latin typeface="IBM Plex Sans"/>
              </a:rPr>
              <a:t>Rules before judgment, people before a vote</a:t>
            </a:r>
          </a:p>
        </p:txBody>
      </p:sp>
      <p:sp>
        <p:nvSpPr>
          <p:cNvPr id="24" name="Rectangle 23"/>
          <p:cNvSpPr/>
          <p:nvPr/>
        </p:nvSpPr>
        <p:spPr>
          <a:xfrm>
            <a:off x="6299200" y="4737100"/>
            <a:ext cx="5080000" cy="6350"/>
          </a:xfrm>
          <a:prstGeom prst="rect">
            <a:avLst/>
          </a:prstGeom>
          <a:solidFill>
            <a:srgbClr val="334155"/>
          </a:solidFill>
          <a:ln>
            <a:noFill/>
          </a:ln>
          <a:effectLst/>
        </p:spPr>
        <p:txBody>
          <a:bodyPr rtlCol="0" anchor="ctr"/>
          <a:lstStyle/>
          <a:p>
            <a:pPr algn="ctr"/>
          </a:p>
        </p:txBody>
      </p:sp>
      <p:sp>
        <p:nvSpPr>
          <p:cNvPr id="25" name="TextBox 24"/>
          <p:cNvSpPr txBox="1"/>
          <p:nvPr/>
        </p:nvSpPr>
        <p:spPr>
          <a:xfrm>
            <a:off x="6299200" y="4210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17</a:t>
            </a:r>
          </a:p>
        </p:txBody>
      </p:sp>
      <p:sp>
        <p:nvSpPr>
          <p:cNvPr id="26" name="TextBox 25"/>
          <p:cNvSpPr txBox="1"/>
          <p:nvPr/>
        </p:nvSpPr>
        <p:spPr>
          <a:xfrm>
            <a:off x="6756400" y="4210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RFP answers</a:t>
            </a:r>
          </a:p>
          <a:p>
            <a:pPr>
              <a:lnSpc>
                <a:spcPct val="108333"/>
              </a:lnSpc>
              <a:spcAft>
                <a:spcPts val="0"/>
              </a:spcAft>
            </a:pPr>
            <a:r>
              <a:rPr sz="1200" b="0">
                <a:solidFill>
                  <a:srgbClr val="94A3B8"/>
                </a:solidFill>
                <a:latin typeface="IBM Plex Sans"/>
              </a:rPr>
              <a:t>Questionnaires from approved answers</a:t>
            </a:r>
          </a:p>
        </p:txBody>
      </p:sp>
      <p:sp>
        <p:nvSpPr>
          <p:cNvPr id="27" name="Rectangle 26"/>
          <p:cNvSpPr/>
          <p:nvPr/>
        </p:nvSpPr>
        <p:spPr>
          <a:xfrm>
            <a:off x="6299200" y="5270500"/>
            <a:ext cx="5080000" cy="6350"/>
          </a:xfrm>
          <a:prstGeom prst="rect">
            <a:avLst/>
          </a:prstGeom>
          <a:solidFill>
            <a:srgbClr val="334155"/>
          </a:solidFill>
          <a:ln>
            <a:noFill/>
          </a:ln>
          <a:effectLst/>
        </p:spPr>
        <p:txBody>
          <a:bodyPr rtlCol="0" anchor="ctr"/>
          <a:lstStyle/>
          <a:p>
            <a:pPr algn="ctr"/>
          </a:p>
        </p:txBody>
      </p:sp>
      <p:sp>
        <p:nvSpPr>
          <p:cNvPr id="28" name="TextBox 27"/>
          <p:cNvSpPr txBox="1"/>
          <p:nvPr/>
        </p:nvSpPr>
        <p:spPr>
          <a:xfrm>
            <a:off x="6299200" y="4743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18</a:t>
            </a:r>
          </a:p>
        </p:txBody>
      </p:sp>
      <p:sp>
        <p:nvSpPr>
          <p:cNvPr id="29" name="TextBox 28"/>
          <p:cNvSpPr txBox="1"/>
          <p:nvPr/>
        </p:nvSpPr>
        <p:spPr>
          <a:xfrm>
            <a:off x="6756400" y="4743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Reporting</a:t>
            </a:r>
          </a:p>
          <a:p>
            <a:pPr>
              <a:lnSpc>
                <a:spcPct val="108333"/>
              </a:lnSpc>
              <a:spcAft>
                <a:spcPts val="0"/>
              </a:spcAft>
            </a:pPr>
            <a:r>
              <a:rPr sz="1200" b="0">
                <a:solidFill>
                  <a:srgbClr val="94A3B8"/>
                </a:solidFill>
                <a:latin typeface="IBM Plex Sans"/>
              </a:rPr>
              <a:t>Reports, house decks, dashboards</a:t>
            </a:r>
          </a:p>
        </p:txBody>
      </p:sp>
      <p:sp>
        <p:nvSpPr>
          <p:cNvPr id="30" name="TextBox 29"/>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ARP · FUNCTIONS AND ARCHITECTURE</a:t>
            </a:r>
          </a:p>
        </p:txBody>
      </p:sp>
      <p:sp>
        <p:nvSpPr>
          <p:cNvPr id="31" name="TextBox 30"/>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94A3B8"/>
                </a:solidFill>
                <a:latin typeface="IBM Plex Mono"/>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11</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Portfolio risk and climate analytics</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Holdings joined to company research. Every risk number is computed, and the query is shown beside it.</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Holdings intake</a:t>
            </a:r>
          </a:p>
          <a:p>
            <a:pPr>
              <a:lnSpc>
                <a:spcPct val="112500"/>
              </a:lnSpc>
              <a:spcAft>
                <a:spcPts val="0"/>
              </a:spcAft>
            </a:pPr>
            <a:r>
              <a:rPr sz="1200" b="0">
                <a:solidFill>
                  <a:srgbClr val="475569"/>
                </a:solidFill>
                <a:latin typeface="IBM Plex Sans"/>
              </a:rPr>
              <a:t>Monthly, mapped by ISIN via the security master</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Data cascade</a:t>
            </a:r>
          </a:p>
          <a:p>
            <a:pPr>
              <a:lnSpc>
                <a:spcPct val="112500"/>
              </a:lnSpc>
              <a:spcAft>
                <a:spcPts val="0"/>
              </a:spcAft>
            </a:pPr>
            <a:r>
              <a:rPr sz="1200" b="0">
                <a:solidFill>
                  <a:srgbClr val="475569"/>
                </a:solidFill>
                <a:latin typeface="IBM Plex Sans"/>
              </a:rPr>
              <a:t>Extraction, exposure, catalogue, else missing</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Aggregate</a:t>
            </a:r>
          </a:p>
          <a:p>
            <a:pPr>
              <a:lnSpc>
                <a:spcPct val="112500"/>
              </a:lnSpc>
              <a:spcAft>
                <a:spcPts val="0"/>
              </a:spcAft>
            </a:pPr>
            <a:r>
              <a:rPr sz="1200" b="0">
                <a:solidFill>
                  <a:srgbClr val="475569"/>
                </a:solidFill>
                <a:latin typeface="IBM Plex Sans"/>
              </a:rPr>
              <a:t>Group, weight, sum by any dimension</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Monitoring</a:t>
            </a:r>
          </a:p>
          <a:p>
            <a:pPr>
              <a:lnSpc>
                <a:spcPct val="112500"/>
              </a:lnSpc>
              <a:spcAft>
                <a:spcPts val="0"/>
              </a:spcAft>
            </a:pPr>
            <a:r>
              <a:rPr sz="1200" b="0">
                <a:solidFill>
                  <a:srgbClr val="475569"/>
                </a:solidFill>
                <a:latin typeface="IBM Plex Sans"/>
              </a:rPr>
              <a:t>Monthly alerts and stewardship triggers</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16A34A"/>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05  LLM</a:t>
            </a:r>
          </a:p>
          <a:p>
            <a:pPr>
              <a:lnSpc>
                <a:spcPct val="100000"/>
              </a:lnSpc>
              <a:spcAft>
                <a:spcPts val="500"/>
              </a:spcAft>
            </a:pPr>
            <a:r>
              <a:rPr sz="1400" b="1">
                <a:solidFill>
                  <a:srgbClr val="0F172A"/>
                </a:solidFill>
                <a:latin typeface="IBM Plex Sans"/>
              </a:rPr>
              <a:t>Ask</a:t>
            </a:r>
          </a:p>
          <a:p>
            <a:pPr>
              <a:lnSpc>
                <a:spcPct val="112500"/>
              </a:lnSpc>
              <a:spcAft>
                <a:spcPts val="0"/>
              </a:spcAft>
            </a:pPr>
            <a:r>
              <a:rPr sz="1200" b="0">
                <a:solidFill>
                  <a:srgbClr val="475569"/>
                </a:solidFill>
                <a:latin typeface="IBM Plex Sans"/>
              </a:rPr>
              <a:t>The model drafts the query; the engine computes</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Dashboards</a:t>
            </a:r>
          </a:p>
          <a:p>
            <a:pPr>
              <a:lnSpc>
                <a:spcPct val="112500"/>
              </a:lnSpc>
              <a:spcAft>
                <a:spcPts val="0"/>
              </a:spcAft>
            </a:pPr>
            <a:r>
              <a:rPr sz="1200" b="0">
                <a:solidFill>
                  <a:srgbClr val="475569"/>
                </a:solidFill>
                <a:latin typeface="IBM Plex Sans"/>
              </a:rPr>
              <a:t>Superset: exposure, WACI, financed emissions</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CLIMATE</a:t>
            </a:r>
          </a:p>
          <a:p>
            <a:pPr>
              <a:lnSpc>
                <a:spcPct val="116667"/>
              </a:lnSpc>
              <a:spcAft>
                <a:spcPts val="0"/>
              </a:spcAft>
            </a:pPr>
            <a:r>
              <a:rPr sz="1200" b="0">
                <a:solidFill>
                  <a:srgbClr val="475569"/>
                </a:solidFill>
                <a:latin typeface="IBM Plex Sans"/>
              </a:rPr>
              <a:t>WACI and PCAF-style financed emissions, with coverage shown beside every figure.</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BLOCKED, NOT GUESSED</a:t>
            </a:r>
          </a:p>
          <a:p>
            <a:pPr>
              <a:lnSpc>
                <a:spcPct val="116667"/>
              </a:lnSpc>
              <a:spcAft>
                <a:spcPts val="0"/>
              </a:spcAft>
            </a:pPr>
            <a:r>
              <a:rPr sz="1200" b="0">
                <a:solidFill>
                  <a:srgbClr val="475569"/>
                </a:solidFill>
                <a:latin typeface="IBM Plex Sans"/>
              </a:rPr>
              <a:t>Monitoring runs only when the month's holdings and ESG loads are good. A re-run adds nothing twice.</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No model inside an aggregate. Missing data counts against coverage, never imputed.</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12</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Decision Studio: scored, ranked, tiered</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Any per-entity table becomes a decision about companies, sectors, themes or strategies. Zero model calls.</a:t>
            </a:r>
          </a:p>
        </p:txBody>
      </p:sp>
      <p:sp>
        <p:nvSpPr>
          <p:cNvPr id="6" name="Rectangle 5"/>
          <p:cNvSpPr/>
          <p:nvPr/>
        </p:nvSpPr>
        <p:spPr>
          <a:xfrm>
            <a:off x="812800" y="2279650"/>
            <a:ext cx="1612900" cy="202565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Table</a:t>
            </a:r>
          </a:p>
          <a:p>
            <a:pPr>
              <a:lnSpc>
                <a:spcPct val="112500"/>
              </a:lnSpc>
              <a:spcAft>
                <a:spcPts val="0"/>
              </a:spcAft>
            </a:pPr>
            <a:r>
              <a:rPr sz="1200" b="0">
                <a:solidFill>
                  <a:srgbClr val="475569"/>
                </a:solidFill>
                <a:latin typeface="IBM Plex Sans"/>
              </a:rPr>
              <a:t>From an ARP run or an upload</a:t>
            </a:r>
          </a:p>
        </p:txBody>
      </p:sp>
      <p:sp>
        <p:nvSpPr>
          <p:cNvPr id="9" name="TextBox 8"/>
          <p:cNvSpPr txBox="1"/>
          <p:nvPr/>
        </p:nvSpPr>
        <p:spPr>
          <a:xfrm>
            <a:off x="24257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Profile and roles</a:t>
            </a:r>
          </a:p>
          <a:p>
            <a:pPr>
              <a:lnSpc>
                <a:spcPct val="112500"/>
              </a:lnSpc>
              <a:spcAft>
                <a:spcPts val="0"/>
              </a:spcAft>
            </a:pPr>
            <a:r>
              <a:rPr sz="1200" b="0">
                <a:solidFill>
                  <a:srgbClr val="475569"/>
                </a:solidFill>
                <a:latin typeface="IBM Plex Sans"/>
              </a:rPr>
              <a:t>Direction inferred, flagged where it is a guess</a:t>
            </a:r>
          </a:p>
        </p:txBody>
      </p:sp>
      <p:sp>
        <p:nvSpPr>
          <p:cNvPr id="13" name="TextBox 12"/>
          <p:cNvSpPr txBox="1"/>
          <p:nvPr/>
        </p:nvSpPr>
        <p:spPr>
          <a:xfrm>
            <a:off x="42164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Normalise, group</a:t>
            </a:r>
          </a:p>
          <a:p>
            <a:pPr>
              <a:lnSpc>
                <a:spcPct val="112500"/>
              </a:lnSpc>
              <a:spcAft>
                <a:spcPts val="0"/>
              </a:spcAft>
            </a:pPr>
            <a:r>
              <a:rPr sz="1200" b="0">
                <a:solidFill>
                  <a:srgbClr val="475569"/>
                </a:solidFill>
                <a:latin typeface="IBM Plex Sans"/>
              </a:rPr>
              <a:t>Peer cohorts; correlated criteria grouped</a:t>
            </a:r>
          </a:p>
        </p:txBody>
      </p:sp>
      <p:sp>
        <p:nvSpPr>
          <p:cNvPr id="17" name="TextBox 16"/>
          <p:cNvSpPr txBox="1"/>
          <p:nvPr/>
        </p:nvSpPr>
        <p:spPr>
          <a:xfrm>
            <a:off x="60071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Gates, then score</a:t>
            </a:r>
          </a:p>
          <a:p>
            <a:pPr>
              <a:lnSpc>
                <a:spcPct val="112500"/>
              </a:lnSpc>
              <a:spcAft>
                <a:spcPts val="0"/>
              </a:spcAft>
            </a:pPr>
            <a:r>
              <a:rPr sz="1200" b="0">
                <a:solidFill>
                  <a:srgbClr val="475569"/>
                </a:solidFill>
                <a:latin typeface="IBM Plex Sans"/>
              </a:rPr>
              <a:t>Hard gates resolve before the average</a:t>
            </a:r>
          </a:p>
        </p:txBody>
      </p:sp>
      <p:sp>
        <p:nvSpPr>
          <p:cNvPr id="21" name="TextBox 20"/>
          <p:cNvSpPr txBox="1"/>
          <p:nvPr/>
        </p:nvSpPr>
        <p:spPr>
          <a:xfrm>
            <a:off x="77978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Tiers, stability</a:t>
            </a:r>
          </a:p>
          <a:p>
            <a:pPr>
              <a:lnSpc>
                <a:spcPct val="112500"/>
              </a:lnSpc>
              <a:spcAft>
                <a:spcPts val="0"/>
              </a:spcAft>
            </a:pPr>
            <a:r>
              <a:rPr sz="1200" b="0">
                <a:solidFill>
                  <a:srgbClr val="475569"/>
                </a:solidFill>
                <a:latin typeface="IBM Plex Sans"/>
              </a:rPr>
              <a:t>Decision tree; rank range over four specifications</a:t>
            </a:r>
          </a:p>
        </p:txBody>
      </p:sp>
      <p:sp>
        <p:nvSpPr>
          <p:cNvPr id="25" name="TextBox 24"/>
          <p:cNvSpPr txBox="1"/>
          <p:nvPr/>
        </p:nvSpPr>
        <p:spPr>
          <a:xfrm>
            <a:off x="95885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2563EB"/>
          </a:solidFill>
          <a:ln>
            <a:noFill/>
          </a:ln>
          <a:effectLst/>
        </p:spPr>
        <p:txBody>
          <a:bodyPr rtlCol="0" anchor="ctr"/>
          <a:lstStyle/>
          <a:p>
            <a:pPr algn="ctr"/>
          </a:p>
        </p:txBody>
      </p:sp>
      <p:sp>
        <p:nvSpPr>
          <p:cNvPr id="28" name="TextBox 27"/>
          <p:cNvSpPr txBox="1"/>
          <p:nvPr/>
        </p:nvSpPr>
        <p:spPr>
          <a:xfrm>
            <a:off x="99187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06  PERSON</a:t>
            </a:r>
          </a:p>
          <a:p>
            <a:pPr>
              <a:lnSpc>
                <a:spcPct val="100000"/>
              </a:lnSpc>
              <a:spcAft>
                <a:spcPts val="500"/>
              </a:spcAft>
            </a:pPr>
            <a:r>
              <a:rPr sz="1400" b="1">
                <a:solidFill>
                  <a:srgbClr val="0F172A"/>
                </a:solidFill>
                <a:latin typeface="IBM Plex Sans"/>
              </a:rPr>
              <a:t>Ratify framework</a:t>
            </a:r>
          </a:p>
          <a:p>
            <a:pPr>
              <a:lnSpc>
                <a:spcPct val="112500"/>
              </a:lnSpc>
              <a:spcAft>
                <a:spcPts val="0"/>
              </a:spcAft>
            </a:pPr>
            <a:r>
              <a:rPr sz="1200" b="0">
                <a:solidFill>
                  <a:srgbClr val="475569"/>
                </a:solidFill>
                <a:latin typeface="IBM Plex Sans"/>
              </a:rPr>
              <a:t>Versioned; applied unchanged next quarter</a:t>
            </a:r>
          </a:p>
        </p:txBody>
      </p:sp>
      <p:sp>
        <p:nvSpPr>
          <p:cNvPr id="29" name="Rectangle 28"/>
          <p:cNvSpPr/>
          <p:nvPr/>
        </p:nvSpPr>
        <p:spPr>
          <a:xfrm>
            <a:off x="812800" y="461010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749800"/>
            <a:ext cx="3318933" cy="7429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WHY GROUP CRITERIA</a:t>
            </a:r>
          </a:p>
          <a:p>
            <a:pPr>
              <a:lnSpc>
                <a:spcPct val="116667"/>
              </a:lnSpc>
              <a:spcAft>
                <a:spcPts val="0"/>
              </a:spcAft>
            </a:pPr>
            <a:r>
              <a:rPr sz="1200" b="0">
                <a:solidFill>
                  <a:srgbClr val="475569"/>
                </a:solidFill>
                <a:latin typeface="IBM Plex Sans"/>
              </a:rPr>
              <a:t>One theme measured seven ways does not earn seven times the weight.</a:t>
            </a:r>
          </a:p>
        </p:txBody>
      </p:sp>
      <p:sp>
        <p:nvSpPr>
          <p:cNvPr id="31" name="Rectangle 30"/>
          <p:cNvSpPr/>
          <p:nvPr/>
        </p:nvSpPr>
        <p:spPr>
          <a:xfrm>
            <a:off x="4436533" y="461010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749800"/>
            <a:ext cx="3318933" cy="7429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AUDIT</a:t>
            </a:r>
          </a:p>
          <a:p>
            <a:pPr>
              <a:lnSpc>
                <a:spcPct val="116667"/>
              </a:lnSpc>
              <a:spcAft>
                <a:spcPts val="0"/>
              </a:spcAft>
            </a:pPr>
            <a:r>
              <a:rPr sz="1200" b="0">
                <a:solidFill>
                  <a:srgbClr val="475569"/>
                </a:solidFill>
                <a:latin typeface="IBM Plex Sans"/>
              </a:rPr>
              <a:t>The audit log separates what the data proposed from what a person changed.</a:t>
            </a:r>
          </a:p>
        </p:txBody>
      </p:sp>
      <p:sp>
        <p:nvSpPr>
          <p:cNvPr id="33" name="Rectangle 32"/>
          <p:cNvSpPr/>
          <p:nvPr/>
        </p:nvSpPr>
        <p:spPr>
          <a:xfrm>
            <a:off x="8060267" y="461010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749800"/>
            <a:ext cx="3318933" cy="7429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SURFACES</a:t>
            </a:r>
          </a:p>
          <a:p>
            <a:pPr>
              <a:lnSpc>
                <a:spcPct val="116667"/>
              </a:lnSpc>
              <a:spcAft>
                <a:spcPts val="0"/>
              </a:spcAft>
            </a:pPr>
            <a:r>
              <a:rPr sz="1200" b="0">
                <a:solidFill>
                  <a:srgbClr val="475569"/>
                </a:solidFill>
                <a:latin typeface="IBM Plex Sans"/>
              </a:rPr>
              <a:t>Eight tabs in the app; the same engine in the API and CLI.</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13</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Compose named rules into a methodology. Every stage leaves a trace a committee can review.</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Universe</a:t>
            </a:r>
          </a:p>
          <a:p>
            <a:pPr>
              <a:lnSpc>
                <a:spcPct val="112500"/>
              </a:lnSpc>
              <a:spcAft>
                <a:spcPts val="0"/>
              </a:spcAft>
            </a:pPr>
            <a:r>
              <a:rPr sz="1200" b="0">
                <a:solidFill>
                  <a:srgbClr val="475569"/>
                </a:solidFill>
                <a:latin typeface="IBM Plex Sans"/>
              </a:rPr>
              <a:t>Price, FX, shares, free float, sector, metrics</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Screens</a:t>
            </a:r>
          </a:p>
          <a:p>
            <a:pPr>
              <a:lnSpc>
                <a:spcPct val="112500"/>
              </a:lnSpc>
              <a:spcAft>
                <a:spcPts val="0"/>
              </a:spcAft>
            </a:pPr>
            <a:r>
              <a:rPr sz="1200" b="0">
                <a:solidFill>
                  <a:srgbClr val="475569"/>
                </a:solidFill>
                <a:latin typeface="IBM Plex Sans"/>
              </a:rPr>
              <a:t>Ordered exclusions</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Select, weight</a:t>
            </a:r>
          </a:p>
          <a:p>
            <a:pPr>
              <a:lnSpc>
                <a:spcPct val="112500"/>
              </a:lnSpc>
              <a:spcAft>
                <a:spcPts val="0"/>
              </a:spcAft>
            </a:pPr>
            <a:r>
              <a:rPr sz="1200" b="0">
                <a:solidFill>
                  <a:srgbClr val="475569"/>
                </a:solidFill>
                <a:latin typeface="IBM Plex Sans"/>
              </a:rPr>
              <a:t>Coverage target with buffers, or top-N; tilts</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Cap</a:t>
            </a:r>
          </a:p>
          <a:p>
            <a:pPr>
              <a:lnSpc>
                <a:spcPct val="112500"/>
              </a:lnSpc>
              <a:spcAft>
                <a:spcPts val="0"/>
              </a:spcAft>
            </a:pPr>
            <a:r>
              <a:rPr sz="1200" b="0">
                <a:solidFill>
                  <a:srgbClr val="475569"/>
                </a:solidFill>
                <a:latin typeface="IBM Plex Sans"/>
              </a:rPr>
              <a:t>Single name, group, UCITS 5/10/40</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Trajectory</a:t>
            </a:r>
          </a:p>
          <a:p>
            <a:pPr>
              <a:lnSpc>
                <a:spcPct val="112500"/>
              </a:lnSpc>
              <a:spcAft>
                <a:spcPts val="0"/>
              </a:spcAft>
            </a:pPr>
            <a:r>
              <a:rPr sz="1200" b="0">
                <a:solidFill>
                  <a:srgbClr val="475569"/>
                </a:solidFill>
                <a:latin typeface="IBM Plex Sans"/>
              </a:rPr>
              <a:t>EU PAB or CTB decarbonisation path</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Review</a:t>
            </a:r>
          </a:p>
          <a:p>
            <a:pPr>
              <a:lnSpc>
                <a:spcPct val="112500"/>
              </a:lnSpc>
              <a:spcAft>
                <a:spcPts val="0"/>
              </a:spcAft>
            </a:pPr>
            <a:r>
              <a:rPr sz="1200" b="0">
                <a:solidFill>
                  <a:srgbClr val="475569"/>
                </a:solidFill>
                <a:latin typeface="IBM Plex Sans"/>
              </a:rPr>
              <a:t>Constituents, divisor, turnover, stage trace</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CALIBRATIONS</a:t>
            </a:r>
          </a:p>
          <a:p>
            <a:pPr>
              <a:lnSpc>
                <a:spcPct val="116667"/>
              </a:lnSpc>
              <a:spcAft>
                <a:spcPts val="0"/>
              </a:spcAft>
            </a:pPr>
            <a:r>
              <a:rPr sz="1200" b="0">
                <a:solidFill>
                  <a:srgbClr val="475569"/>
                </a:solidFill>
                <a:latin typeface="IBM Plex Sans"/>
              </a:rPr>
              <a:t>Versioned and effective-dated: a review uses the version in force on its review date.</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SOLVERS</a:t>
            </a:r>
          </a:p>
          <a:p>
            <a:pPr>
              <a:lnSpc>
                <a:spcPct val="116667"/>
              </a:lnSpc>
              <a:spcAft>
                <a:spcPts val="0"/>
              </a:spcAft>
            </a:pPr>
            <a:r>
              <a:rPr sz="1200" b="0">
                <a:solidFill>
                  <a:srgbClr val="475569"/>
                </a:solidFill>
                <a:latin typeface="IBM Plex Sans"/>
              </a:rPr>
              <a:t>Optional convex or mixed-integer solvers; every constraint is re-checked in Python.</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No model calls in the numbers. A thematic score enters only as a frozen, dated snapshot.</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14</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Strategy replication and signals</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Reduce a paper to an executable spec, backtest it out of sample, and test text signals without look-ahead.</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Paper</a:t>
            </a:r>
          </a:p>
          <a:p>
            <a:pPr>
              <a:lnSpc>
                <a:spcPct val="112500"/>
              </a:lnSpc>
              <a:spcAft>
                <a:spcPts val="0"/>
              </a:spcAft>
            </a:pPr>
            <a:r>
              <a:rPr sz="1200" b="0">
                <a:solidFill>
                  <a:srgbClr val="475569"/>
                </a:solidFill>
                <a:latin typeface="IBM Plex Sans"/>
              </a:rPr>
              <a:t>Found by literature discovery, or uploaded</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16A34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02  LLM</a:t>
            </a:r>
          </a:p>
          <a:p>
            <a:pPr>
              <a:lnSpc>
                <a:spcPct val="100000"/>
              </a:lnSpc>
              <a:spcAft>
                <a:spcPts val="500"/>
              </a:spcAft>
            </a:pPr>
            <a:r>
              <a:rPr sz="1400" b="1">
                <a:solidFill>
                  <a:srgbClr val="0F172A"/>
                </a:solidFill>
                <a:latin typeface="IBM Plex Sans"/>
              </a:rPr>
              <a:t>Strategy spec</a:t>
            </a:r>
          </a:p>
          <a:p>
            <a:pPr>
              <a:lnSpc>
                <a:spcPct val="112500"/>
              </a:lnSpc>
              <a:spcAft>
                <a:spcPts val="0"/>
              </a:spcAft>
            </a:pPr>
            <a:r>
              <a:rPr sz="1200" b="0">
                <a:solidFill>
                  <a:srgbClr val="475569"/>
                </a:solidFill>
                <a:latin typeface="IBM Plex Sans"/>
              </a:rPr>
              <a:t>Extracted, verified and grounded</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Backtest</a:t>
            </a:r>
          </a:p>
          <a:p>
            <a:pPr>
              <a:lnSpc>
                <a:spcPct val="112500"/>
              </a:lnSpc>
              <a:spcAft>
                <a:spcPts val="0"/>
              </a:spcAft>
            </a:pPr>
            <a:r>
              <a:rPr sz="1200" b="0">
                <a:solidFill>
                  <a:srgbClr val="475569"/>
                </a:solidFill>
                <a:latin typeface="IBM Plex Sans"/>
              </a:rPr>
              <a:t>In-sample and out-of-sample windows</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Rigor checks</a:t>
            </a:r>
          </a:p>
          <a:p>
            <a:pPr>
              <a:lnSpc>
                <a:spcPct val="112500"/>
              </a:lnSpc>
              <a:spcAft>
                <a:spcPts val="0"/>
              </a:spcAft>
            </a:pPr>
            <a:r>
              <a:rPr sz="1200" b="0">
                <a:solidFill>
                  <a:srgbClr val="475569"/>
                </a:solidFill>
                <a:latin typeface="IBM Plex Sans"/>
              </a:rPr>
              <a:t>Deflated Sharpe, PBO by purged CSCV, regimes</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2563EB"/>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05  PERSON</a:t>
            </a:r>
          </a:p>
          <a:p>
            <a:pPr>
              <a:lnSpc>
                <a:spcPct val="100000"/>
              </a:lnSpc>
              <a:spcAft>
                <a:spcPts val="500"/>
              </a:spcAft>
            </a:pPr>
            <a:r>
              <a:rPr sz="1400" b="1">
                <a:solidFill>
                  <a:srgbClr val="0F172A"/>
                </a:solidFill>
                <a:latin typeface="IBM Plex Sans"/>
              </a:rPr>
              <a:t>Graduate or shelve</a:t>
            </a:r>
          </a:p>
          <a:p>
            <a:pPr>
              <a:lnSpc>
                <a:spcPct val="112500"/>
              </a:lnSpc>
              <a:spcAft>
                <a:spcPts val="0"/>
              </a:spcAft>
            </a:pPr>
            <a:r>
              <a:rPr sz="1200" b="0">
                <a:solidFill>
                  <a:srgbClr val="475569"/>
                </a:solidFill>
                <a:latin typeface="IBM Plex Sans"/>
              </a:rPr>
              <a:t>A person records the decision</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Hand over</a:t>
            </a:r>
          </a:p>
          <a:p>
            <a:pPr>
              <a:lnSpc>
                <a:spcPct val="112500"/>
              </a:lnSpc>
              <a:spcAft>
                <a:spcPts val="0"/>
              </a:spcAft>
            </a:pPr>
            <a:r>
              <a:rPr sz="1200" b="0">
                <a:solidFill>
                  <a:srgbClr val="475569"/>
                </a:solidFill>
                <a:latin typeface="IBM Plex Sans"/>
              </a:rPr>
              <a:t>To Decision Studio and index construction</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SIGNALS WORKBENCH</a:t>
            </a:r>
          </a:p>
          <a:p>
            <a:pPr>
              <a:lnSpc>
                <a:spcPct val="116667"/>
              </a:lnSpc>
              <a:spcAft>
                <a:spcPts val="0"/>
              </a:spcAft>
            </a:pPr>
            <a:r>
              <a:rPr sz="1200" b="0">
                <a:solidFill>
                  <a:srgbClr val="475569"/>
                </a:solidFill>
                <a:latin typeface="IBM Plex Sans"/>
              </a:rPr>
              <a:t>Point-in-time text store, training-cutoff checks, rank-IC and an experiment registry.</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IN THE APP</a:t>
            </a:r>
          </a:p>
          <a:p>
            <a:pPr>
              <a:lnSpc>
                <a:spcPct val="116667"/>
              </a:lnSpc>
              <a:spcAft>
                <a:spcPts val="0"/>
              </a:spcAft>
            </a:pPr>
            <a:r>
              <a:rPr sz="1200" b="0">
                <a:solidFill>
                  <a:srgbClr val="475569"/>
                </a:solidFill>
                <a:latin typeface="IBM Plex Sans"/>
              </a:rPr>
              <a:t>Only model-free methods run in the app; LLM, FinBERT and embedding recipes run from the CLI.</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A preview is unregistered and is not evidence. Every stage is stored with the run.</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15</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on the record</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One record per company, a state machine rather than a chatbot, and a person at every outside contact.</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Triggers</a:t>
            </a:r>
          </a:p>
          <a:p>
            <a:pPr>
              <a:lnSpc>
                <a:spcPct val="112500"/>
              </a:lnSpc>
              <a:spcAft>
                <a:spcPts val="0"/>
              </a:spcAft>
            </a:pPr>
            <a:r>
              <a:rPr sz="1200" b="0">
                <a:solidFill>
                  <a:srgbClr val="475569"/>
                </a:solidFill>
                <a:latin typeface="IBM Plex Sans"/>
              </a:rPr>
              <a:t>Controversies, monitoring alerts, 45-day stall sweep</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0F172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02  CODE</a:t>
            </a:r>
          </a:p>
          <a:p>
            <a:pPr>
              <a:lnSpc>
                <a:spcPct val="100000"/>
              </a:lnSpc>
              <a:spcAft>
                <a:spcPts val="500"/>
              </a:spcAft>
            </a:pPr>
            <a:r>
              <a:rPr sz="1400" b="1">
                <a:solidFill>
                  <a:srgbClr val="0F172A"/>
                </a:solidFill>
                <a:latin typeface="IBM Plex Sans"/>
              </a:rPr>
              <a:t>Next action</a:t>
            </a:r>
          </a:p>
          <a:p>
            <a:pPr>
              <a:lnSpc>
                <a:spcPct val="112500"/>
              </a:lnSpc>
              <a:spcAft>
                <a:spcPts val="0"/>
              </a:spcAft>
            </a:pPr>
            <a:r>
              <a:rPr sz="1200" b="0">
                <a:solidFill>
                  <a:srgbClr val="475569"/>
                </a:solidFill>
                <a:latin typeface="IBM Plex Sans"/>
              </a:rPr>
              <a:t>A pure function over one issue</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16A34A"/>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03  LLM</a:t>
            </a:r>
          </a:p>
          <a:p>
            <a:pPr>
              <a:lnSpc>
                <a:spcPct val="100000"/>
              </a:lnSpc>
              <a:spcAft>
                <a:spcPts val="500"/>
              </a:spcAft>
            </a:pPr>
            <a:r>
              <a:rPr sz="1400" b="1">
                <a:solidFill>
                  <a:srgbClr val="0F172A"/>
                </a:solidFill>
                <a:latin typeface="IBM Plex Sans"/>
              </a:rPr>
              <a:t>Research dossier</a:t>
            </a:r>
          </a:p>
          <a:p>
            <a:pPr>
              <a:lnSpc>
                <a:spcPct val="112500"/>
              </a:lnSpc>
              <a:spcAft>
                <a:spcPts val="0"/>
              </a:spcAft>
            </a:pPr>
            <a:r>
              <a:rPr sz="1200" b="0">
                <a:solidFill>
                  <a:srgbClr val="475569"/>
                </a:solidFill>
                <a:latin typeface="IBM Plex Sans"/>
              </a:rPr>
              <a:t>Grounded in the company's own disclosures</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16A34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04  LLM</a:t>
            </a:r>
          </a:p>
          <a:p>
            <a:pPr>
              <a:lnSpc>
                <a:spcPct val="100000"/>
              </a:lnSpc>
              <a:spcAft>
                <a:spcPts val="500"/>
              </a:spcAft>
            </a:pPr>
            <a:r>
              <a:rPr sz="1400" b="1">
                <a:solidFill>
                  <a:srgbClr val="0F172A"/>
                </a:solidFill>
                <a:latin typeface="IBM Plex Sans"/>
              </a:rPr>
              <a:t>Draft</a:t>
            </a:r>
          </a:p>
          <a:p>
            <a:pPr>
              <a:lnSpc>
                <a:spcPct val="112500"/>
              </a:lnSpc>
              <a:spcAft>
                <a:spcPts val="0"/>
              </a:spcAft>
            </a:pPr>
            <a:r>
              <a:rPr sz="1200" b="0">
                <a:solidFill>
                  <a:srgbClr val="475569"/>
                </a:solidFill>
                <a:latin typeface="IBM Plex Sans"/>
              </a:rPr>
              <a:t>Letter, talking points, meeting summary</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2563EB"/>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05  PERSON</a:t>
            </a:r>
          </a:p>
          <a:p>
            <a:pPr>
              <a:lnSpc>
                <a:spcPct val="100000"/>
              </a:lnSpc>
              <a:spcAft>
                <a:spcPts val="500"/>
              </a:spcAft>
            </a:pPr>
            <a:r>
              <a:rPr sz="1400" b="1">
                <a:solidFill>
                  <a:srgbClr val="0F172A"/>
                </a:solidFill>
                <a:latin typeface="IBM Plex Sans"/>
              </a:rPr>
              <a:t>Validate</a:t>
            </a:r>
          </a:p>
          <a:p>
            <a:pPr>
              <a:lnSpc>
                <a:spcPct val="112500"/>
              </a:lnSpc>
              <a:spcAft>
                <a:spcPts val="0"/>
              </a:spcAft>
            </a:pPr>
            <a:r>
              <a:rPr sz="1200" b="0">
                <a:solidFill>
                  <a:srgbClr val="475569"/>
                </a:solidFill>
                <a:latin typeface="IBM Plex Sans"/>
              </a:rPr>
              <a:t>Notes validated; escalation decided by name</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Record</a:t>
            </a:r>
          </a:p>
          <a:p>
            <a:pPr>
              <a:lnSpc>
                <a:spcPct val="112500"/>
              </a:lnSpc>
              <a:spcAft>
                <a:spcPts val="0"/>
              </a:spcAft>
            </a:pPr>
            <a:r>
              <a:rPr sz="1200" b="0">
                <a:solidFill>
                  <a:srgbClr val="475569"/>
                </a:solidFill>
                <a:latin typeface="IBM Plex Sans"/>
              </a:rPr>
              <a:t>Six milestone stages, append-only audit</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ESCALATION</a:t>
            </a:r>
          </a:p>
          <a:p>
            <a:pPr>
              <a:lnSpc>
                <a:spcPct val="116667"/>
              </a:lnSpc>
              <a:spcAft>
                <a:spcPts val="0"/>
              </a:spcAft>
            </a:pPr>
            <a:r>
              <a:rPr sz="1200" b="0">
                <a:solidFill>
                  <a:srgbClr val="475569"/>
                </a:solidFill>
                <a:latin typeface="IBM Plex Sans"/>
              </a:rPr>
              <a:t>A seven-step ladder from private engagement to a public statement. The orchestrator never escalates.</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NOTHING IS SENT</a:t>
            </a:r>
          </a:p>
          <a:p>
            <a:pPr>
              <a:lnSpc>
                <a:spcPct val="116667"/>
              </a:lnSpc>
              <a:spcAft>
                <a:spcPts val="0"/>
              </a:spcAft>
            </a:pPr>
            <a:r>
              <a:rPr sz="1200" b="0">
                <a:solidFill>
                  <a:srgbClr val="475569"/>
                </a:solidFill>
                <a:latin typeface="IBM Plex Sans"/>
              </a:rPr>
              <a:t>The system logs outreach; a person sends it.</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STATUS</a:t>
            </a:r>
          </a:p>
          <a:p>
            <a:pPr>
              <a:lnSpc>
                <a:spcPct val="116667"/>
              </a:lnSpc>
              <a:spcAft>
                <a:spcPts val="0"/>
              </a:spcAft>
            </a:pPr>
            <a:r>
              <a:rPr sz="1200" b="0">
                <a:solidFill>
                  <a:srgbClr val="475569"/>
                </a:solidFill>
                <a:latin typeface="IBM Plex Sans"/>
              </a:rPr>
              <a:t>Steward Workflow covers the target operating model in part; each metric shows live, sample or not built.</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16</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Proxy voting: rules before judgment</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recommendation is never a vote. Every proposal gets a human decision before anything is cast.</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Proxy statement</a:t>
            </a:r>
          </a:p>
          <a:p>
            <a:pPr>
              <a:lnSpc>
                <a:spcPct val="112500"/>
              </a:lnSpc>
              <a:spcAft>
                <a:spcPts val="0"/>
              </a:spcAft>
            </a:pPr>
            <a:r>
              <a:rPr sz="1200" b="0">
                <a:solidFill>
                  <a:srgbClr val="475569"/>
                </a:solidFill>
                <a:latin typeface="IBM Plex Sans"/>
              </a:rPr>
              <a:t>DEF 14A from the document registry</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16A34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02  LLM</a:t>
            </a:r>
          </a:p>
          <a:p>
            <a:pPr>
              <a:lnSpc>
                <a:spcPct val="100000"/>
              </a:lnSpc>
              <a:spcAft>
                <a:spcPts val="500"/>
              </a:spcAft>
            </a:pPr>
            <a:r>
              <a:rPr sz="1400" b="1">
                <a:solidFill>
                  <a:srgbClr val="0F172A"/>
                </a:solidFill>
                <a:latin typeface="IBM Plex Sans"/>
              </a:rPr>
              <a:t>Proposals</a:t>
            </a:r>
          </a:p>
          <a:p>
            <a:pPr>
              <a:lnSpc>
                <a:spcPct val="112500"/>
              </a:lnSpc>
              <a:spcAft>
                <a:spcPts val="0"/>
              </a:spcAft>
            </a:pPr>
            <a:r>
              <a:rPr sz="1200" b="0">
                <a:solidFill>
                  <a:srgbClr val="475569"/>
                </a:solidFill>
                <a:latin typeface="IBM Plex Sans"/>
              </a:rPr>
              <a:t>One extraction pass, citations grounded</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0F172A"/>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03  CODE</a:t>
            </a:r>
          </a:p>
          <a:p>
            <a:pPr>
              <a:lnSpc>
                <a:spcPct val="100000"/>
              </a:lnSpc>
              <a:spcAft>
                <a:spcPts val="500"/>
              </a:spcAft>
            </a:pPr>
            <a:r>
              <a:rPr sz="1400" b="1">
                <a:solidFill>
                  <a:srgbClr val="0F172A"/>
                </a:solidFill>
                <a:latin typeface="IBM Plex Sans"/>
              </a:rPr>
              <a:t>House rules</a:t>
            </a:r>
          </a:p>
          <a:p>
            <a:pPr>
              <a:lnSpc>
                <a:spcPct val="112500"/>
              </a:lnSpc>
              <a:spcAft>
                <a:spcPts val="0"/>
              </a:spcAft>
            </a:pPr>
            <a:r>
              <a:rPr sz="1200" b="0">
                <a:solidFill>
                  <a:srgbClr val="475569"/>
                </a:solidFill>
                <a:latin typeface="IBM Plex Sans"/>
              </a:rPr>
              <a:t>Ordered predicates on disclosed figures</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16A34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04  LLM</a:t>
            </a:r>
          </a:p>
          <a:p>
            <a:pPr>
              <a:lnSpc>
                <a:spcPct val="100000"/>
              </a:lnSpc>
              <a:spcAft>
                <a:spcPts val="500"/>
              </a:spcAft>
            </a:pPr>
            <a:r>
              <a:rPr sz="1400" b="1">
                <a:solidFill>
                  <a:srgbClr val="0F172A"/>
                </a:solidFill>
                <a:latin typeface="IBM Plex Sans"/>
              </a:rPr>
              <a:t>Judgment</a:t>
            </a:r>
          </a:p>
          <a:p>
            <a:pPr>
              <a:lnSpc>
                <a:spcPct val="112500"/>
              </a:lnSpc>
              <a:spcAft>
                <a:spcPts val="0"/>
              </a:spcAft>
            </a:pPr>
            <a:r>
              <a:rPr sz="1200" b="0">
                <a:solidFill>
                  <a:srgbClr val="475569"/>
                </a:solidFill>
                <a:latin typeface="IBM Plex Sans"/>
              </a:rPr>
              <a:t>Only when no rule fires; cited rationale</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Cross-check</a:t>
            </a:r>
          </a:p>
          <a:p>
            <a:pPr>
              <a:lnSpc>
                <a:spcPct val="112500"/>
              </a:lnSpc>
              <a:spcAft>
                <a:spcPts val="0"/>
              </a:spcAft>
            </a:pPr>
            <a:r>
              <a:rPr sz="1200" b="0">
                <a:solidFill>
                  <a:srgbClr val="475569"/>
                </a:solidFill>
                <a:latin typeface="IBM Plex Sans"/>
              </a:rPr>
              <a:t>Against the engagement record</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2563EB"/>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06  PERSON</a:t>
            </a:r>
          </a:p>
          <a:p>
            <a:pPr>
              <a:lnSpc>
                <a:spcPct val="100000"/>
              </a:lnSpc>
              <a:spcAft>
                <a:spcPts val="500"/>
              </a:spcAft>
            </a:pPr>
            <a:r>
              <a:rPr sz="1400" b="1">
                <a:solidFill>
                  <a:srgbClr val="0F172A"/>
                </a:solidFill>
                <a:latin typeface="IBM Plex Sans"/>
              </a:rPr>
              <a:t>Decide</a:t>
            </a:r>
          </a:p>
          <a:p>
            <a:pPr>
              <a:lnSpc>
                <a:spcPct val="112500"/>
              </a:lnSpc>
              <a:spcAft>
                <a:spcPts val="0"/>
              </a:spcAft>
            </a:pPr>
            <a:r>
              <a:rPr sz="1200" b="0">
                <a:solidFill>
                  <a:srgbClr val="475569"/>
                </a:solidFill>
                <a:latin typeface="IBM Plex Sans"/>
              </a:rPr>
              <a:t>Every proposal; a co-signer when flagged</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THE GATE</a:t>
            </a:r>
          </a:p>
          <a:p>
            <a:pPr>
              <a:lnSpc>
                <a:spcPct val="116667"/>
              </a:lnSpc>
              <a:spcAft>
                <a:spcPts val="0"/>
              </a:spcAft>
            </a:pPr>
            <a:r>
              <a:rPr sz="1200" b="0">
                <a:solidFill>
                  <a:srgbClr val="475569"/>
                </a:solidFill>
                <a:latin typeface="IBM Plex Sans"/>
              </a:rPr>
              <a:t>Casting refuses without a human decision, and refuses a flagged vote without a different co-signer.</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CASTING TODAY</a:t>
            </a:r>
          </a:p>
          <a:p>
            <a:pPr>
              <a:lnSpc>
                <a:spcPct val="116667"/>
              </a:lnSpc>
              <a:spcAft>
                <a:spcPts val="0"/>
              </a:spcAft>
            </a:pPr>
            <a:r>
              <a:rPr sz="1200" b="0">
                <a:solidFill>
                  <a:srgbClr val="475569"/>
                </a:solidFill>
                <a:latin typeface="IBM Plex Sans"/>
              </a:rPr>
              <a:t>Casting writes an instruction file; no voting platform is connected.</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Casting is idempotent and checkpointed, so a re-run never votes twice.</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17</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RFP answers</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Fill an investor's questionnaire from the house's own approved answers, and return it in their file.</a:t>
            </a:r>
          </a:p>
        </p:txBody>
      </p:sp>
      <p:sp>
        <p:nvSpPr>
          <p:cNvPr id="6" name="Rectangle 5"/>
          <p:cNvSpPr/>
          <p:nvPr/>
        </p:nvSpPr>
        <p:spPr>
          <a:xfrm>
            <a:off x="812800" y="2279650"/>
            <a:ext cx="1612900" cy="202565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Answer library</a:t>
            </a:r>
          </a:p>
          <a:p>
            <a:pPr>
              <a:lnSpc>
                <a:spcPct val="112500"/>
              </a:lnSpc>
              <a:spcAft>
                <a:spcPts val="0"/>
              </a:spcAft>
            </a:pPr>
            <a:r>
              <a:rPr sz="1200" b="0">
                <a:solidFill>
                  <a:srgbClr val="475569"/>
                </a:solidFill>
                <a:latin typeface="IBM Plex Sans"/>
              </a:rPr>
              <a:t>Past Word and Excel responses, verbatim</a:t>
            </a:r>
          </a:p>
        </p:txBody>
      </p:sp>
      <p:sp>
        <p:nvSpPr>
          <p:cNvPr id="9" name="TextBox 8"/>
          <p:cNvSpPr txBox="1"/>
          <p:nvPr/>
        </p:nvSpPr>
        <p:spPr>
          <a:xfrm>
            <a:off x="24257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16A34A"/>
          </a:solidFill>
          <a:ln>
            <a:noFill/>
          </a:ln>
          <a:effectLst/>
        </p:spPr>
        <p:txBody>
          <a:bodyPr rtlCol="0" anchor="ctr"/>
          <a:lstStyle/>
          <a:p>
            <a:pPr algn="ctr"/>
          </a:p>
        </p:txBody>
      </p:sp>
      <p:sp>
        <p:nvSpPr>
          <p:cNvPr id="12" name="TextBox 11"/>
          <p:cNvSpPr txBox="1"/>
          <p:nvPr/>
        </p:nvSpPr>
        <p:spPr>
          <a:xfrm>
            <a:off x="27559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02  LLM</a:t>
            </a:r>
          </a:p>
          <a:p>
            <a:pPr>
              <a:lnSpc>
                <a:spcPct val="100000"/>
              </a:lnSpc>
              <a:spcAft>
                <a:spcPts val="500"/>
              </a:spcAft>
            </a:pPr>
            <a:r>
              <a:rPr sz="1400" b="1">
                <a:solidFill>
                  <a:srgbClr val="0F172A"/>
                </a:solidFill>
                <a:latin typeface="IBM Plex Sans"/>
              </a:rPr>
              <a:t>Find questions</a:t>
            </a:r>
          </a:p>
          <a:p>
            <a:pPr>
              <a:lnSpc>
                <a:spcPct val="112500"/>
              </a:lnSpc>
              <a:spcAft>
                <a:spcPts val="0"/>
              </a:spcAft>
            </a:pPr>
            <a:r>
              <a:rPr sz="1200" b="0">
                <a:solidFill>
                  <a:srgbClr val="475569"/>
                </a:solidFill>
                <a:latin typeface="IBM Plex Sans"/>
              </a:rPr>
              <a:t>Kept only where code can locate them</a:t>
            </a:r>
          </a:p>
        </p:txBody>
      </p:sp>
      <p:sp>
        <p:nvSpPr>
          <p:cNvPr id="13" name="TextBox 12"/>
          <p:cNvSpPr txBox="1"/>
          <p:nvPr/>
        </p:nvSpPr>
        <p:spPr>
          <a:xfrm>
            <a:off x="42164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16A34A"/>
          </a:solidFill>
          <a:ln>
            <a:noFill/>
          </a:ln>
          <a:effectLst/>
        </p:spPr>
        <p:txBody>
          <a:bodyPr rtlCol="0" anchor="ctr"/>
          <a:lstStyle/>
          <a:p>
            <a:pPr algn="ctr"/>
          </a:p>
        </p:txBody>
      </p:sp>
      <p:sp>
        <p:nvSpPr>
          <p:cNvPr id="16" name="TextBox 15"/>
          <p:cNvSpPr txBox="1"/>
          <p:nvPr/>
        </p:nvSpPr>
        <p:spPr>
          <a:xfrm>
            <a:off x="45466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03  LLM</a:t>
            </a:r>
          </a:p>
          <a:p>
            <a:pPr>
              <a:lnSpc>
                <a:spcPct val="100000"/>
              </a:lnSpc>
              <a:spcAft>
                <a:spcPts val="500"/>
              </a:spcAft>
            </a:pPr>
            <a:r>
              <a:rPr sz="1400" b="1">
                <a:solidFill>
                  <a:srgbClr val="0F172A"/>
                </a:solidFill>
                <a:latin typeface="IBM Plex Sans"/>
              </a:rPr>
              <a:t>Auto-fill</a:t>
            </a:r>
          </a:p>
          <a:p>
            <a:pPr>
              <a:lnSpc>
                <a:spcPct val="112500"/>
              </a:lnSpc>
              <a:spcAft>
                <a:spcPts val="0"/>
              </a:spcAft>
            </a:pPr>
            <a:r>
              <a:rPr sz="1200" b="0">
                <a:solidFill>
                  <a:srgbClr val="475569"/>
                </a:solidFill>
                <a:latin typeface="IBM Plex Sans"/>
              </a:rPr>
              <a:t>Drafts from the top 8 library entries only</a:t>
            </a:r>
          </a:p>
        </p:txBody>
      </p:sp>
      <p:sp>
        <p:nvSpPr>
          <p:cNvPr id="17" name="TextBox 16"/>
          <p:cNvSpPr txBox="1"/>
          <p:nvPr/>
        </p:nvSpPr>
        <p:spPr>
          <a:xfrm>
            <a:off x="60071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63373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04  CODE</a:t>
            </a:r>
          </a:p>
          <a:p>
            <a:pPr>
              <a:lnSpc>
                <a:spcPct val="100000"/>
              </a:lnSpc>
              <a:spcAft>
                <a:spcPts val="500"/>
              </a:spcAft>
            </a:pPr>
            <a:r>
              <a:rPr sz="1400" b="1">
                <a:solidFill>
                  <a:srgbClr val="0F172A"/>
                </a:solidFill>
                <a:latin typeface="IBM Plex Sans"/>
              </a:rPr>
              <a:t>Check</a:t>
            </a:r>
          </a:p>
          <a:p>
            <a:pPr>
              <a:lnSpc>
                <a:spcPct val="112500"/>
              </a:lnSpc>
              <a:spcAft>
                <a:spcPts val="0"/>
              </a:spcAft>
            </a:pPr>
            <a:r>
              <a:rPr sz="1200" b="0">
                <a:solidFill>
                  <a:srgbClr val="475569"/>
                </a:solidFill>
                <a:latin typeface="IBM Plex Sans"/>
              </a:rPr>
              <a:t>Quotes grounded; numbers must appear in a source</a:t>
            </a:r>
          </a:p>
        </p:txBody>
      </p:sp>
      <p:sp>
        <p:nvSpPr>
          <p:cNvPr id="21" name="TextBox 20"/>
          <p:cNvSpPr txBox="1"/>
          <p:nvPr/>
        </p:nvSpPr>
        <p:spPr>
          <a:xfrm>
            <a:off x="77978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202565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2563EB"/>
          </a:solidFill>
          <a:ln>
            <a:noFill/>
          </a:ln>
          <a:effectLst/>
        </p:spPr>
        <p:txBody>
          <a:bodyPr rtlCol="0" anchor="ctr"/>
          <a:lstStyle/>
          <a:p>
            <a:pPr algn="ctr"/>
          </a:p>
        </p:txBody>
      </p:sp>
      <p:sp>
        <p:nvSpPr>
          <p:cNvPr id="24" name="TextBox 23"/>
          <p:cNvSpPr txBox="1"/>
          <p:nvPr/>
        </p:nvSpPr>
        <p:spPr>
          <a:xfrm>
            <a:off x="81280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05  PERSON</a:t>
            </a:r>
          </a:p>
          <a:p>
            <a:pPr>
              <a:lnSpc>
                <a:spcPct val="100000"/>
              </a:lnSpc>
              <a:spcAft>
                <a:spcPts val="500"/>
              </a:spcAft>
            </a:pPr>
            <a:r>
              <a:rPr sz="1400" b="1">
                <a:solidFill>
                  <a:srgbClr val="0F172A"/>
                </a:solidFill>
                <a:latin typeface="IBM Plex Sans"/>
              </a:rPr>
              <a:t>Four-eyes</a:t>
            </a:r>
          </a:p>
          <a:p>
            <a:pPr>
              <a:lnSpc>
                <a:spcPct val="112500"/>
              </a:lnSpc>
              <a:spcAft>
                <a:spcPts val="0"/>
              </a:spcAft>
            </a:pPr>
            <a:r>
              <a:rPr sz="1200" b="0">
                <a:solidFill>
                  <a:srgbClr val="475569"/>
                </a:solidFill>
                <a:latin typeface="IBM Plex Sans"/>
              </a:rPr>
              <a:t>Approver is not the last editor</a:t>
            </a:r>
          </a:p>
        </p:txBody>
      </p:sp>
      <p:sp>
        <p:nvSpPr>
          <p:cNvPr id="25" name="TextBox 24"/>
          <p:cNvSpPr txBox="1"/>
          <p:nvPr/>
        </p:nvSpPr>
        <p:spPr>
          <a:xfrm>
            <a:off x="9588500" y="2279650"/>
            <a:ext cx="177800" cy="202565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202565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Export</a:t>
            </a:r>
          </a:p>
          <a:p>
            <a:pPr>
              <a:lnSpc>
                <a:spcPct val="112500"/>
              </a:lnSpc>
              <a:spcAft>
                <a:spcPts val="0"/>
              </a:spcAft>
            </a:pPr>
            <a:r>
              <a:rPr sz="1200" b="0">
                <a:solidFill>
                  <a:srgbClr val="475569"/>
                </a:solidFill>
                <a:latin typeface="IBM Plex Sans"/>
              </a:rPr>
              <a:t>Approved answers in the investor's own file</a:t>
            </a:r>
          </a:p>
        </p:txBody>
      </p:sp>
      <p:sp>
        <p:nvSpPr>
          <p:cNvPr id="29" name="Rectangle 28"/>
          <p:cNvSpPr/>
          <p:nvPr/>
        </p:nvSpPr>
        <p:spPr>
          <a:xfrm>
            <a:off x="812800" y="461010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LIBRARY</a:t>
            </a:r>
          </a:p>
          <a:p>
            <a:pPr>
              <a:lnSpc>
                <a:spcPct val="116667"/>
              </a:lnSpc>
              <a:spcAft>
                <a:spcPts val="0"/>
              </a:spcAft>
            </a:pPr>
            <a:r>
              <a:rPr sz="1200" b="0">
                <a:solidFill>
                  <a:srgbClr val="475569"/>
                </a:solidFill>
                <a:latin typeface="IBM Plex Sans"/>
              </a:rPr>
              <a:t>Approved answers go back into the library with a review-by date 12 months out.</a:t>
            </a:r>
          </a:p>
        </p:txBody>
      </p:sp>
      <p:sp>
        <p:nvSpPr>
          <p:cNvPr id="31" name="Rectangle 30"/>
          <p:cNvSpPr/>
          <p:nvPr/>
        </p:nvSpPr>
        <p:spPr>
          <a:xfrm>
            <a:off x="4436533" y="461010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FLAGS</a:t>
            </a:r>
          </a:p>
          <a:p>
            <a:pPr>
              <a:lnSpc>
                <a:spcPct val="116667"/>
              </a:lnSpc>
              <a:spcAft>
                <a:spcPts val="0"/>
              </a:spcAft>
            </a:pPr>
            <a:r>
              <a:rPr sz="1200" b="0">
                <a:solidFill>
                  <a:srgbClr val="475569"/>
                </a:solidFill>
                <a:latin typeface="IBM Plex Sans"/>
              </a:rPr>
              <a:t>Every flag, such as 'check figure' or 'stale source', must be confirmed by the approver.</a:t>
            </a:r>
          </a:p>
        </p:txBody>
      </p:sp>
      <p:sp>
        <p:nvSpPr>
          <p:cNvPr id="33" name="Rectangle 32"/>
          <p:cNvSpPr/>
          <p:nvPr/>
        </p:nvSpPr>
        <p:spPr>
          <a:xfrm>
            <a:off x="8060267" y="461010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74980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A draft with an unsupported number is discarded. Library edits are approver-only.</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18</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Reports, house decks and dashboards</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model plans the story; renderers and Superset produce every page and every number.</a:t>
            </a:r>
          </a:p>
        </p:txBody>
      </p:sp>
      <p:sp>
        <p:nvSpPr>
          <p:cNvPr id="6" name="Rectangle 5"/>
          <p:cNvSpPr/>
          <p:nvPr/>
        </p:nvSpPr>
        <p:spPr>
          <a:xfrm>
            <a:off x="8128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7" name="Rectangle 6"/>
          <p:cNvSpPr/>
          <p:nvPr/>
        </p:nvSpPr>
        <p:spPr>
          <a:xfrm>
            <a:off x="812800" y="2279650"/>
            <a:ext cx="1612900" cy="25400"/>
          </a:xfrm>
          <a:prstGeom prst="rect">
            <a:avLst/>
          </a:prstGeom>
          <a:solidFill>
            <a:srgbClr val="94A3B8"/>
          </a:solidFill>
          <a:ln>
            <a:noFill/>
          </a:ln>
          <a:effectLst/>
        </p:spPr>
        <p:txBody>
          <a:bodyPr rtlCol="0" anchor="ctr"/>
          <a:lstStyle/>
          <a:p>
            <a:pPr algn="ctr"/>
          </a:p>
        </p:txBody>
      </p:sp>
      <p:sp>
        <p:nvSpPr>
          <p:cNvPr id="8" name="TextBox 7"/>
          <p:cNvSpPr txBox="1"/>
          <p:nvPr/>
        </p:nvSpPr>
        <p:spPr>
          <a:xfrm>
            <a:off x="9652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01  INPUT</a:t>
            </a:r>
          </a:p>
          <a:p>
            <a:pPr>
              <a:lnSpc>
                <a:spcPct val="100000"/>
              </a:lnSpc>
              <a:spcAft>
                <a:spcPts val="500"/>
              </a:spcAft>
            </a:pPr>
            <a:r>
              <a:rPr sz="1400" b="1">
                <a:solidFill>
                  <a:srgbClr val="0F172A"/>
                </a:solidFill>
                <a:latin typeface="IBM Plex Sans"/>
              </a:rPr>
              <a:t>Stored outputs</a:t>
            </a:r>
          </a:p>
          <a:p>
            <a:pPr>
              <a:lnSpc>
                <a:spcPct val="112500"/>
              </a:lnSpc>
              <a:spcAft>
                <a:spcPts val="0"/>
              </a:spcAft>
            </a:pPr>
            <a:r>
              <a:rPr sz="1200" b="0">
                <a:solidFill>
                  <a:srgbClr val="475569"/>
                </a:solidFill>
                <a:latin typeface="IBM Plex Sans"/>
              </a:rPr>
              <a:t>Runs and decisions from the catalogue</a:t>
            </a:r>
          </a:p>
        </p:txBody>
      </p:sp>
      <p:sp>
        <p:nvSpPr>
          <p:cNvPr id="9" name="TextBox 8"/>
          <p:cNvSpPr txBox="1"/>
          <p:nvPr/>
        </p:nvSpPr>
        <p:spPr>
          <a:xfrm>
            <a:off x="24257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0" name="Rectangle 9"/>
          <p:cNvSpPr/>
          <p:nvPr/>
        </p:nvSpPr>
        <p:spPr>
          <a:xfrm>
            <a:off x="26035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1" name="Rectangle 10"/>
          <p:cNvSpPr/>
          <p:nvPr/>
        </p:nvSpPr>
        <p:spPr>
          <a:xfrm>
            <a:off x="2603500" y="2279650"/>
            <a:ext cx="1612900" cy="25400"/>
          </a:xfrm>
          <a:prstGeom prst="rect">
            <a:avLst/>
          </a:prstGeom>
          <a:solidFill>
            <a:srgbClr val="16A34A"/>
          </a:solidFill>
          <a:ln>
            <a:noFill/>
          </a:ln>
          <a:effectLst/>
        </p:spPr>
        <p:txBody>
          <a:bodyPr rtlCol="0" anchor="ctr"/>
          <a:lstStyle/>
          <a:p>
            <a:pPr algn="ctr"/>
          </a:p>
        </p:txBody>
      </p:sp>
      <p:sp>
        <p:nvSpPr>
          <p:cNvPr id="12" name="TextBox 11"/>
          <p:cNvSpPr txBox="1"/>
          <p:nvPr/>
        </p:nvSpPr>
        <p:spPr>
          <a:xfrm>
            <a:off x="27559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02  LLM</a:t>
            </a:r>
          </a:p>
          <a:p>
            <a:pPr>
              <a:lnSpc>
                <a:spcPct val="100000"/>
              </a:lnSpc>
              <a:spcAft>
                <a:spcPts val="500"/>
              </a:spcAft>
            </a:pPr>
            <a:r>
              <a:rPr sz="1400" b="1">
                <a:solidFill>
                  <a:srgbClr val="0F172A"/>
                </a:solidFill>
                <a:latin typeface="IBM Plex Sans"/>
              </a:rPr>
              <a:t>Storyline</a:t>
            </a:r>
          </a:p>
          <a:p>
            <a:pPr>
              <a:lnSpc>
                <a:spcPct val="112500"/>
              </a:lnSpc>
              <a:spcAft>
                <a:spcPts val="0"/>
              </a:spcAft>
            </a:pPr>
            <a:r>
              <a:rPr sz="1200" b="0">
                <a:solidFill>
                  <a:srgbClr val="475569"/>
                </a:solidFill>
                <a:latin typeface="IBM Plex Sans"/>
              </a:rPr>
              <a:t>A drafted plan of slides</a:t>
            </a:r>
          </a:p>
        </p:txBody>
      </p:sp>
      <p:sp>
        <p:nvSpPr>
          <p:cNvPr id="13" name="TextBox 12"/>
          <p:cNvSpPr txBox="1"/>
          <p:nvPr/>
        </p:nvSpPr>
        <p:spPr>
          <a:xfrm>
            <a:off x="42164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4" name="Rectangle 13"/>
          <p:cNvSpPr/>
          <p:nvPr/>
        </p:nvSpPr>
        <p:spPr>
          <a:xfrm>
            <a:off x="43942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5" name="Rectangle 14"/>
          <p:cNvSpPr/>
          <p:nvPr/>
        </p:nvSpPr>
        <p:spPr>
          <a:xfrm>
            <a:off x="4394200" y="2279650"/>
            <a:ext cx="1612900" cy="25400"/>
          </a:xfrm>
          <a:prstGeom prst="rect">
            <a:avLst/>
          </a:prstGeom>
          <a:solidFill>
            <a:srgbClr val="2563EB"/>
          </a:solidFill>
          <a:ln>
            <a:noFill/>
          </a:ln>
          <a:effectLst/>
        </p:spPr>
        <p:txBody>
          <a:bodyPr rtlCol="0" anchor="ctr"/>
          <a:lstStyle/>
          <a:p>
            <a:pPr algn="ctr"/>
          </a:p>
        </p:txBody>
      </p:sp>
      <p:sp>
        <p:nvSpPr>
          <p:cNvPr id="16" name="TextBox 15"/>
          <p:cNvSpPr txBox="1"/>
          <p:nvPr/>
        </p:nvSpPr>
        <p:spPr>
          <a:xfrm>
            <a:off x="45466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D4ED8"/>
                </a:solidFill>
                <a:latin typeface="IBM Plex Mono"/>
              </a:rPr>
              <a:t>03  PERSON</a:t>
            </a:r>
          </a:p>
          <a:p>
            <a:pPr>
              <a:lnSpc>
                <a:spcPct val="100000"/>
              </a:lnSpc>
              <a:spcAft>
                <a:spcPts val="500"/>
              </a:spcAft>
            </a:pPr>
            <a:r>
              <a:rPr sz="1400" b="1">
                <a:solidFill>
                  <a:srgbClr val="0F172A"/>
                </a:solidFill>
                <a:latin typeface="IBM Plex Sans"/>
              </a:rPr>
              <a:t>Approve</a:t>
            </a:r>
          </a:p>
          <a:p>
            <a:pPr>
              <a:lnSpc>
                <a:spcPct val="112500"/>
              </a:lnSpc>
              <a:spcAft>
                <a:spcPts val="0"/>
              </a:spcAft>
            </a:pPr>
            <a:r>
              <a:rPr sz="1200" b="0">
                <a:solidFill>
                  <a:srgbClr val="475569"/>
                </a:solidFill>
                <a:latin typeface="IBM Plex Sans"/>
              </a:rPr>
              <a:t>Edit or accept the storyline</a:t>
            </a:r>
          </a:p>
        </p:txBody>
      </p:sp>
      <p:sp>
        <p:nvSpPr>
          <p:cNvPr id="17" name="TextBox 16"/>
          <p:cNvSpPr txBox="1"/>
          <p:nvPr/>
        </p:nvSpPr>
        <p:spPr>
          <a:xfrm>
            <a:off x="60071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18" name="Rectangle 17"/>
          <p:cNvSpPr/>
          <p:nvPr/>
        </p:nvSpPr>
        <p:spPr>
          <a:xfrm>
            <a:off x="61849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6184900" y="2279650"/>
            <a:ext cx="1612900" cy="25400"/>
          </a:xfrm>
          <a:prstGeom prst="rect">
            <a:avLst/>
          </a:prstGeom>
          <a:solidFill>
            <a:srgbClr val="16A34A"/>
          </a:solidFill>
          <a:ln>
            <a:noFill/>
          </a:ln>
          <a:effectLst/>
        </p:spPr>
        <p:txBody>
          <a:bodyPr rtlCol="0" anchor="ctr"/>
          <a:lstStyle/>
          <a:p>
            <a:pPr algn="ctr"/>
          </a:p>
        </p:txBody>
      </p:sp>
      <p:sp>
        <p:nvSpPr>
          <p:cNvPr id="20" name="TextBox 19"/>
          <p:cNvSpPr txBox="1"/>
          <p:nvPr/>
        </p:nvSpPr>
        <p:spPr>
          <a:xfrm>
            <a:off x="63373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5803D"/>
                </a:solidFill>
                <a:latin typeface="IBM Plex Mono"/>
              </a:rPr>
              <a:t>04  LLM</a:t>
            </a:r>
          </a:p>
          <a:p>
            <a:pPr>
              <a:lnSpc>
                <a:spcPct val="100000"/>
              </a:lnSpc>
              <a:spcAft>
                <a:spcPts val="500"/>
              </a:spcAft>
            </a:pPr>
            <a:r>
              <a:rPr sz="1400" b="1">
                <a:solidFill>
                  <a:srgbClr val="0F172A"/>
                </a:solidFill>
                <a:latin typeface="IBM Plex Sans"/>
              </a:rPr>
              <a:t>Fill and check</a:t>
            </a:r>
          </a:p>
          <a:p>
            <a:pPr>
              <a:lnSpc>
                <a:spcPct val="112500"/>
              </a:lnSpc>
              <a:spcAft>
                <a:spcPts val="0"/>
              </a:spcAft>
            </a:pPr>
            <a:r>
              <a:rPr sz="1200" b="0">
                <a:solidFill>
                  <a:srgbClr val="475569"/>
                </a:solidFill>
                <a:latin typeface="IBM Plex Sans"/>
              </a:rPr>
              <a:t>Each slide filled, linted, fitted, checked</a:t>
            </a:r>
          </a:p>
        </p:txBody>
      </p:sp>
      <p:sp>
        <p:nvSpPr>
          <p:cNvPr id="21" name="TextBox 20"/>
          <p:cNvSpPr txBox="1"/>
          <p:nvPr/>
        </p:nvSpPr>
        <p:spPr>
          <a:xfrm>
            <a:off x="77978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2" name="Rectangle 21"/>
          <p:cNvSpPr/>
          <p:nvPr/>
        </p:nvSpPr>
        <p:spPr>
          <a:xfrm>
            <a:off x="7975600" y="2279650"/>
            <a:ext cx="1612900" cy="1803400"/>
          </a:xfrm>
          <a:prstGeom prst="rect">
            <a:avLst/>
          </a:prstGeom>
          <a:solidFill>
            <a:srgbClr val="FFFFFF"/>
          </a:solidFill>
          <a:ln w="9525">
            <a:solidFill>
              <a:srgbClr val="E2E8F0"/>
            </a:solidFill>
          </a:ln>
          <a:effectLst/>
        </p:spPr>
        <p:txBody>
          <a:bodyPr rtlCol="0" anchor="ctr"/>
          <a:lstStyle/>
          <a:p>
            <a:pPr algn="ctr"/>
          </a:p>
        </p:txBody>
      </p:sp>
      <p:sp>
        <p:nvSpPr>
          <p:cNvPr id="23" name="Rectangle 22"/>
          <p:cNvSpPr/>
          <p:nvPr/>
        </p:nvSpPr>
        <p:spPr>
          <a:xfrm>
            <a:off x="7975600" y="2279650"/>
            <a:ext cx="1612900" cy="25400"/>
          </a:xfrm>
          <a:prstGeom prst="rect">
            <a:avLst/>
          </a:prstGeom>
          <a:solidFill>
            <a:srgbClr val="0F172A"/>
          </a:solidFill>
          <a:ln>
            <a:noFill/>
          </a:ln>
          <a:effectLst/>
        </p:spPr>
        <p:txBody>
          <a:bodyPr rtlCol="0" anchor="ctr"/>
          <a:lstStyle/>
          <a:p>
            <a:pPr algn="ctr"/>
          </a:p>
        </p:txBody>
      </p:sp>
      <p:sp>
        <p:nvSpPr>
          <p:cNvPr id="24" name="TextBox 23"/>
          <p:cNvSpPr txBox="1"/>
          <p:nvPr/>
        </p:nvSpPr>
        <p:spPr>
          <a:xfrm>
            <a:off x="81280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05  CODE</a:t>
            </a:r>
          </a:p>
          <a:p>
            <a:pPr>
              <a:lnSpc>
                <a:spcPct val="100000"/>
              </a:lnSpc>
              <a:spcAft>
                <a:spcPts val="500"/>
              </a:spcAft>
            </a:pPr>
            <a:r>
              <a:rPr sz="1400" b="1">
                <a:solidFill>
                  <a:srgbClr val="0F172A"/>
                </a:solidFill>
                <a:latin typeface="IBM Plex Sans"/>
              </a:rPr>
              <a:t>Render</a:t>
            </a:r>
          </a:p>
          <a:p>
            <a:pPr>
              <a:lnSpc>
                <a:spcPct val="112500"/>
              </a:lnSpc>
              <a:spcAft>
                <a:spcPts val="0"/>
              </a:spcAft>
            </a:pPr>
            <a:r>
              <a:rPr sz="1200" b="0">
                <a:solidFill>
                  <a:srgbClr val="475569"/>
                </a:solidFill>
                <a:latin typeface="IBM Plex Sans"/>
              </a:rPr>
              <a:t>PPTX, PDF and DOCX in the house style</a:t>
            </a:r>
          </a:p>
        </p:txBody>
      </p:sp>
      <p:sp>
        <p:nvSpPr>
          <p:cNvPr id="25" name="TextBox 24"/>
          <p:cNvSpPr txBox="1"/>
          <p:nvPr/>
        </p:nvSpPr>
        <p:spPr>
          <a:xfrm>
            <a:off x="9588500" y="2279650"/>
            <a:ext cx="177800" cy="1803400"/>
          </a:xfrm>
          <a:prstGeom prst="rect">
            <a:avLst/>
          </a:prstGeom>
          <a:noFill/>
        </p:spPr>
        <p:txBody>
          <a:bodyPr wrap="square" lIns="0" rIns="0" tIns="0" bIns="0" anchor="ctr">
            <a:spAutoFit/>
          </a:bodyPr>
          <a:lstStyle/>
          <a:p>
            <a:pPr algn="ctr">
              <a:lnSpc>
                <a:spcPct val="83333"/>
              </a:lnSpc>
              <a:spcAft>
                <a:spcPts val="0"/>
              </a:spcAft>
            </a:pPr>
            <a:r>
              <a:rPr sz="2000" b="0">
                <a:solidFill>
                  <a:srgbClr val="94A3B8"/>
                </a:solidFill>
                <a:latin typeface="IBM Plex Sans"/>
              </a:rPr>
              <a:t>›</a:t>
            </a:r>
          </a:p>
        </p:txBody>
      </p:sp>
      <p:sp>
        <p:nvSpPr>
          <p:cNvPr id="26" name="Rectangle 25"/>
          <p:cNvSpPr/>
          <p:nvPr/>
        </p:nvSpPr>
        <p:spPr>
          <a:xfrm>
            <a:off x="9766300" y="2279650"/>
            <a:ext cx="1612900" cy="1803400"/>
          </a:xfrm>
          <a:prstGeom prst="rect">
            <a:avLst/>
          </a:prstGeom>
          <a:solidFill>
            <a:srgbClr val="F1F5F9"/>
          </a:solidFill>
          <a:ln w="9525">
            <a:solidFill>
              <a:srgbClr val="E2E8F0"/>
            </a:solidFill>
          </a:ln>
          <a:effectLst/>
        </p:spPr>
        <p:txBody>
          <a:bodyPr rtlCol="0" anchor="ctr"/>
          <a:lstStyle/>
          <a:p>
            <a:pPr algn="ctr"/>
          </a:p>
        </p:txBody>
      </p:sp>
      <p:sp>
        <p:nvSpPr>
          <p:cNvPr id="27" name="Rectangle 26"/>
          <p:cNvSpPr/>
          <p:nvPr/>
        </p:nvSpPr>
        <p:spPr>
          <a:xfrm>
            <a:off x="9766300" y="2279650"/>
            <a:ext cx="1612900" cy="25400"/>
          </a:xfrm>
          <a:prstGeom prst="rect">
            <a:avLst/>
          </a:prstGeom>
          <a:solidFill>
            <a:srgbClr val="94A3B8"/>
          </a:solidFill>
          <a:ln>
            <a:noFill/>
          </a:ln>
          <a:effectLst/>
        </p:spPr>
        <p:txBody>
          <a:bodyPr rtlCol="0" anchor="ctr"/>
          <a:lstStyle/>
          <a:p>
            <a:pPr algn="ctr"/>
          </a:p>
        </p:txBody>
      </p:sp>
      <p:sp>
        <p:nvSpPr>
          <p:cNvPr id="28" name="TextBox 27"/>
          <p:cNvSpPr txBox="1"/>
          <p:nvPr/>
        </p:nvSpPr>
        <p:spPr>
          <a:xfrm>
            <a:off x="9918700" y="2457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475569"/>
                </a:solidFill>
                <a:latin typeface="IBM Plex Mono"/>
              </a:rPr>
              <a:t>06  OUTPUT</a:t>
            </a:r>
          </a:p>
          <a:p>
            <a:pPr>
              <a:lnSpc>
                <a:spcPct val="100000"/>
              </a:lnSpc>
              <a:spcAft>
                <a:spcPts val="500"/>
              </a:spcAft>
            </a:pPr>
            <a:r>
              <a:rPr sz="1400" b="1">
                <a:solidFill>
                  <a:srgbClr val="0F172A"/>
                </a:solidFill>
                <a:latin typeface="IBM Plex Sans"/>
              </a:rPr>
              <a:t>Deck or report</a:t>
            </a:r>
          </a:p>
          <a:p>
            <a:pPr>
              <a:lnSpc>
                <a:spcPct val="112500"/>
              </a:lnSpc>
              <a:spcAft>
                <a:spcPts val="0"/>
              </a:spcAft>
            </a:pPr>
            <a:r>
              <a:rPr sz="1200" b="0">
                <a:solidFill>
                  <a:srgbClr val="475569"/>
                </a:solidFill>
                <a:latin typeface="IBM Plex Sans"/>
              </a:rPr>
              <a:t>Re-runnable on fresh pipeline data</a:t>
            </a:r>
          </a:p>
        </p:txBody>
      </p:sp>
      <p:sp>
        <p:nvSpPr>
          <p:cNvPr id="29" name="Rectangle 28"/>
          <p:cNvSpPr/>
          <p:nvPr/>
        </p:nvSpPr>
        <p:spPr>
          <a:xfrm>
            <a:off x="812800" y="4387850"/>
            <a:ext cx="3318933" cy="12700"/>
          </a:xfrm>
          <a:prstGeom prst="rect">
            <a:avLst/>
          </a:prstGeom>
          <a:solidFill>
            <a:srgbClr val="0F172A"/>
          </a:solidFill>
          <a:ln>
            <a:noFill/>
          </a:ln>
          <a:effectLst/>
        </p:spPr>
        <p:txBody>
          <a:bodyPr rtlCol="0" anchor="ctr"/>
          <a:lstStyle/>
          <a:p>
            <a:pPr algn="ctr"/>
          </a:p>
        </p:txBody>
      </p:sp>
      <p:sp>
        <p:nvSpPr>
          <p:cNvPr id="30" name="TextBox 29"/>
          <p:cNvSpPr txBox="1"/>
          <p:nvPr/>
        </p:nvSpPr>
        <p:spPr>
          <a:xfrm>
            <a:off x="812800"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SUPERSET BI</a:t>
            </a:r>
          </a:p>
          <a:p>
            <a:pPr>
              <a:lnSpc>
                <a:spcPct val="116667"/>
              </a:lnSpc>
              <a:spcAft>
                <a:spcPts val="0"/>
              </a:spcAft>
            </a:pPr>
            <a:r>
              <a:rPr sz="1200" b="0">
                <a:solidFill>
                  <a:srgbClr val="475569"/>
                </a:solidFill>
                <a:latin typeface="IBM Plex Sans"/>
              </a:rPr>
              <a:t>Describe a dashboard in words: the plan comes from a closed catalogue, code compiles it, Superset computes.</a:t>
            </a:r>
          </a:p>
        </p:txBody>
      </p:sp>
      <p:sp>
        <p:nvSpPr>
          <p:cNvPr id="31" name="Rectangle 30"/>
          <p:cNvSpPr/>
          <p:nvPr/>
        </p:nvSpPr>
        <p:spPr>
          <a:xfrm>
            <a:off x="4436533" y="4387850"/>
            <a:ext cx="3318933" cy="12700"/>
          </a:xfrm>
          <a:prstGeom prst="rect">
            <a:avLst/>
          </a:prstGeom>
          <a:solidFill>
            <a:srgbClr val="0F172A"/>
          </a:solidFill>
          <a:ln>
            <a:noFill/>
          </a:ln>
          <a:effectLst/>
        </p:spPr>
        <p:txBody>
          <a:bodyPr rtlCol="0" anchor="ctr"/>
          <a:lstStyle/>
          <a:p>
            <a:pPr algn="ctr"/>
          </a:p>
        </p:txBody>
      </p:sp>
      <p:sp>
        <p:nvSpPr>
          <p:cNvPr id="32" name="TextBox 31"/>
          <p:cNvSpPr txBox="1"/>
          <p:nvPr/>
        </p:nvSpPr>
        <p:spPr>
          <a:xfrm>
            <a:off x="4436533"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TEMPLATES</a:t>
            </a:r>
          </a:p>
          <a:p>
            <a:pPr>
              <a:lnSpc>
                <a:spcPct val="116667"/>
              </a:lnSpc>
              <a:spcAft>
                <a:spcPts val="0"/>
              </a:spcAft>
            </a:pPr>
            <a:r>
              <a:rPr sz="1200" b="0">
                <a:solidFill>
                  <a:srgbClr val="475569"/>
                </a:solidFill>
                <a:latin typeface="IBM Plex Sans"/>
              </a:rPr>
              <a:t>An ingested .pptx template's layouts, colours and fonts are reused.</a:t>
            </a:r>
          </a:p>
        </p:txBody>
      </p:sp>
      <p:sp>
        <p:nvSpPr>
          <p:cNvPr id="33" name="Rectangle 32"/>
          <p:cNvSpPr/>
          <p:nvPr/>
        </p:nvSpPr>
        <p:spPr>
          <a:xfrm>
            <a:off x="8060267" y="4387850"/>
            <a:ext cx="3318933" cy="12700"/>
          </a:xfrm>
          <a:prstGeom prst="rect">
            <a:avLst/>
          </a:prstGeom>
          <a:solidFill>
            <a:srgbClr val="0F172A"/>
          </a:solidFill>
          <a:ln>
            <a:noFill/>
          </a:ln>
          <a:effectLst/>
        </p:spPr>
        <p:txBody>
          <a:bodyPr rtlCol="0" anchor="ctr"/>
          <a:lstStyle/>
          <a:p>
            <a:pPr algn="ctr"/>
          </a:p>
        </p:txBody>
      </p:sp>
      <p:sp>
        <p:nvSpPr>
          <p:cNvPr id="34" name="TextBox 33"/>
          <p:cNvSpPr txBox="1"/>
          <p:nvPr/>
        </p:nvSpPr>
        <p:spPr>
          <a:xfrm>
            <a:off x="8060267" y="4527550"/>
            <a:ext cx="3318933" cy="971550"/>
          </a:xfrm>
          <a:prstGeom prst="rect">
            <a:avLst/>
          </a:prstGeom>
          <a:noFill/>
        </p:spPr>
        <p:txBody>
          <a:bodyPr wrap="square" lIns="0" rIns="0" tIns="0" bIns="0" anchor="t">
            <a:spAutoFit/>
          </a:bodyPr>
          <a:lstStyle/>
          <a:p>
            <a:pPr>
              <a:lnSpc>
                <a:spcPct val="108333"/>
              </a:lnSpc>
              <a:spcAft>
                <a:spcPts val="500"/>
              </a:spcAft>
            </a:pPr>
            <a:r>
              <a:rPr sz="1200" b="0">
                <a:solidFill>
                  <a:srgbClr val="0F172A"/>
                </a:solidFill>
                <a:latin typeface="IBM Plex Mono"/>
              </a:rPr>
              <a:t>CONTROLS</a:t>
            </a:r>
          </a:p>
          <a:p>
            <a:pPr>
              <a:lnSpc>
                <a:spcPct val="116667"/>
              </a:lnSpc>
              <a:spcAft>
                <a:spcPts val="0"/>
              </a:spcAft>
            </a:pPr>
            <a:r>
              <a:rPr sz="1200" b="0">
                <a:solidFill>
                  <a:srgbClr val="475569"/>
                </a:solidFill>
                <a:latin typeface="IBM Plex Sans"/>
              </a:rPr>
              <a:t>BI commentary is checked figure by figure. The model never writes SQL or sees a number.</a:t>
            </a:r>
          </a:p>
        </p:txBody>
      </p:sp>
      <p:sp>
        <p:nvSpPr>
          <p:cNvPr id="35" name="TextBox 3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812800" y="812800"/>
            <a:ext cx="304800" cy="25400"/>
          </a:xfrm>
          <a:prstGeom prst="rect">
            <a:avLst/>
          </a:prstGeom>
          <a:solidFill>
            <a:srgbClr val="16A34A"/>
          </a:solidFill>
          <a:ln>
            <a:noFill/>
          </a:ln>
          <a:effectLst/>
        </p:spPr>
        <p:txBody>
          <a:bodyPr rtlCol="0" anchor="ctr"/>
          <a:lstStyle/>
          <a:p>
            <a:pPr algn="ctr"/>
          </a:p>
        </p:txBody>
      </p:sp>
      <p:sp>
        <p:nvSpPr>
          <p:cNvPr id="3" name="TextBox 2"/>
          <p:cNvSpPr txBox="1"/>
          <p:nvPr/>
        </p:nvSpPr>
        <p:spPr>
          <a:xfrm>
            <a:off x="812800" y="9652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CONTROLS</a:t>
            </a:r>
          </a:p>
        </p:txBody>
      </p:sp>
      <p:sp>
        <p:nvSpPr>
          <p:cNvPr id="4" name="TextBox 3"/>
          <p:cNvSpPr txBox="1"/>
          <p:nvPr/>
        </p:nvSpPr>
        <p:spPr>
          <a:xfrm>
            <a:off x="812800" y="12636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Why the numbers hold</a:t>
            </a:r>
          </a:p>
        </p:txBody>
      </p:sp>
      <p:sp>
        <p:nvSpPr>
          <p:cNvPr id="5" name="TextBox 4"/>
          <p:cNvSpPr txBox="1"/>
          <p:nvPr/>
        </p:nvSpPr>
        <p:spPr>
          <a:xfrm>
            <a:off x="812800" y="17780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three principles from the opening slide, and what enforces each one in the code.</a:t>
            </a:r>
          </a:p>
        </p:txBody>
      </p:sp>
      <p:sp>
        <p:nvSpPr>
          <p:cNvPr id="6" name="Rectangle 5"/>
          <p:cNvSpPr/>
          <p:nvPr/>
        </p:nvSpPr>
        <p:spPr>
          <a:xfrm>
            <a:off x="812800" y="2279650"/>
            <a:ext cx="3420533" cy="2152650"/>
          </a:xfrm>
          <a:prstGeom prst="rect">
            <a:avLst/>
          </a:prstGeom>
          <a:solidFill>
            <a:srgbClr val="FFFFFF"/>
          </a:solidFill>
          <a:ln w="9525">
            <a:solidFill>
              <a:srgbClr val="E2E8F0"/>
            </a:solidFill>
          </a:ln>
          <a:effectLst/>
        </p:spPr>
        <p:txBody>
          <a:bodyPr rtlCol="0" anchor="ctr"/>
          <a:lstStyle/>
          <a:p>
            <a:pPr algn="ctr"/>
          </a:p>
        </p:txBody>
      </p:sp>
      <p:sp>
        <p:nvSpPr>
          <p:cNvPr id="7" name="Rectangle 6"/>
          <p:cNvSpPr/>
          <p:nvPr/>
        </p:nvSpPr>
        <p:spPr>
          <a:xfrm>
            <a:off x="812800" y="2279650"/>
            <a:ext cx="3420533" cy="25400"/>
          </a:xfrm>
          <a:prstGeom prst="rect">
            <a:avLst/>
          </a:prstGeom>
          <a:solidFill>
            <a:srgbClr val="0F172A"/>
          </a:solidFill>
          <a:ln>
            <a:noFill/>
          </a:ln>
          <a:effectLst/>
        </p:spPr>
        <p:txBody>
          <a:bodyPr rtlCol="0" anchor="ctr"/>
          <a:lstStyle/>
          <a:p>
            <a:pPr algn="ctr"/>
          </a:p>
        </p:txBody>
      </p:sp>
      <p:sp>
        <p:nvSpPr>
          <p:cNvPr id="8" name="TextBox 7"/>
          <p:cNvSpPr txBox="1"/>
          <p:nvPr/>
        </p:nvSpPr>
        <p:spPr>
          <a:xfrm>
            <a:off x="965200" y="2457450"/>
            <a:ext cx="3115733" cy="1822450"/>
          </a:xfrm>
          <a:prstGeom prst="rect">
            <a:avLst/>
          </a:prstGeom>
          <a:noFill/>
        </p:spPr>
        <p:txBody>
          <a:bodyPr wrap="square" lIns="0" rIns="0" tIns="0" bIns="0" anchor="t">
            <a:spAutoFit/>
          </a:bodyPr>
          <a:lstStyle/>
          <a:p>
            <a:pPr>
              <a:lnSpc>
                <a:spcPct val="100000"/>
              </a:lnSpc>
              <a:spcAft>
                <a:spcPts val="500"/>
              </a:spcAft>
            </a:pPr>
            <a:r>
              <a:rPr sz="1600" b="1">
                <a:solidFill>
                  <a:srgbClr val="0F172A"/>
                </a:solidFill>
                <a:latin typeface="IBM Plex Sans"/>
              </a:rPr>
              <a:t>The LLM plans, code computes</a:t>
            </a:r>
          </a:p>
          <a:p>
            <a:pPr>
              <a:lnSpc>
                <a:spcPct val="116667"/>
              </a:lnSpc>
              <a:spcAft>
                <a:spcPts val="600"/>
              </a:spcAft>
            </a:pPr>
            <a:r>
              <a:rPr sz="1200" b="0">
                <a:solidFill>
                  <a:srgbClr val="475569"/>
                </a:solidFill>
                <a:latin typeface="IBM Plex Sans"/>
              </a:rPr>
              <a:t>Aggregates, scores, index weights, backtests and alignment checks are plain code.</a:t>
            </a:r>
          </a:p>
          <a:p>
            <a:pPr>
              <a:lnSpc>
                <a:spcPct val="116667"/>
              </a:lnSpc>
              <a:spcAft>
                <a:spcPts val="0"/>
              </a:spcAft>
            </a:pPr>
            <a:r>
              <a:rPr sz="1200" b="0">
                <a:solidFill>
                  <a:srgbClr val="0F172A"/>
                </a:solidFill>
                <a:latin typeface="IBM Plex Sans"/>
              </a:rPr>
              <a:t>Ask ARP routes questions; it never sees rows.</a:t>
            </a:r>
          </a:p>
        </p:txBody>
      </p:sp>
      <p:sp>
        <p:nvSpPr>
          <p:cNvPr id="9" name="Rectangle 8"/>
          <p:cNvSpPr/>
          <p:nvPr/>
        </p:nvSpPr>
        <p:spPr>
          <a:xfrm>
            <a:off x="4385733" y="2279650"/>
            <a:ext cx="3420533" cy="2152650"/>
          </a:xfrm>
          <a:prstGeom prst="rect">
            <a:avLst/>
          </a:prstGeom>
          <a:solidFill>
            <a:srgbClr val="FFFFFF"/>
          </a:solidFill>
          <a:ln w="9525">
            <a:solidFill>
              <a:srgbClr val="E2E8F0"/>
            </a:solidFill>
          </a:ln>
          <a:effectLst/>
        </p:spPr>
        <p:txBody>
          <a:bodyPr rtlCol="0" anchor="ctr"/>
          <a:lstStyle/>
          <a:p>
            <a:pPr algn="ctr"/>
          </a:p>
        </p:txBody>
      </p:sp>
      <p:sp>
        <p:nvSpPr>
          <p:cNvPr id="10" name="Rectangle 9"/>
          <p:cNvSpPr/>
          <p:nvPr/>
        </p:nvSpPr>
        <p:spPr>
          <a:xfrm>
            <a:off x="4385733" y="2279650"/>
            <a:ext cx="3420533" cy="25400"/>
          </a:xfrm>
          <a:prstGeom prst="rect">
            <a:avLst/>
          </a:prstGeom>
          <a:solidFill>
            <a:srgbClr val="16A34A"/>
          </a:solidFill>
          <a:ln>
            <a:noFill/>
          </a:ln>
          <a:effectLst/>
        </p:spPr>
        <p:txBody>
          <a:bodyPr rtlCol="0" anchor="ctr"/>
          <a:lstStyle/>
          <a:p>
            <a:pPr algn="ctr"/>
          </a:p>
        </p:txBody>
      </p:sp>
      <p:sp>
        <p:nvSpPr>
          <p:cNvPr id="11" name="TextBox 10"/>
          <p:cNvSpPr txBox="1"/>
          <p:nvPr/>
        </p:nvSpPr>
        <p:spPr>
          <a:xfrm>
            <a:off x="4538133" y="2457450"/>
            <a:ext cx="3115733" cy="1822450"/>
          </a:xfrm>
          <a:prstGeom prst="rect">
            <a:avLst/>
          </a:prstGeom>
          <a:noFill/>
        </p:spPr>
        <p:txBody>
          <a:bodyPr wrap="square" lIns="0" rIns="0" tIns="0" bIns="0" anchor="t">
            <a:spAutoFit/>
          </a:bodyPr>
          <a:lstStyle/>
          <a:p>
            <a:pPr>
              <a:lnSpc>
                <a:spcPct val="100000"/>
              </a:lnSpc>
              <a:spcAft>
                <a:spcPts val="500"/>
              </a:spcAft>
            </a:pPr>
            <a:r>
              <a:rPr sz="1600" b="1">
                <a:solidFill>
                  <a:srgbClr val="0F172A"/>
                </a:solidFill>
                <a:latin typeface="IBM Plex Sans"/>
              </a:rPr>
              <a:t>Every citation is checked</a:t>
            </a:r>
          </a:p>
          <a:p>
            <a:pPr>
              <a:lnSpc>
                <a:spcPct val="116667"/>
              </a:lnSpc>
              <a:spcAft>
                <a:spcPts val="600"/>
              </a:spcAft>
            </a:pPr>
            <a:r>
              <a:rPr sz="1200" b="0">
                <a:solidFill>
                  <a:srgbClr val="475569"/>
                </a:solidFill>
                <a:latin typeface="IBM Plex Sans"/>
              </a:rPr>
              <a:t>Quotes are re-matched in code; the verifier runs on a different model.</a:t>
            </a:r>
          </a:p>
          <a:p>
            <a:pPr>
              <a:lnSpc>
                <a:spcPct val="116667"/>
              </a:lnSpc>
              <a:spcAft>
                <a:spcPts val="0"/>
              </a:spcAft>
            </a:pPr>
            <a:r>
              <a:rPr sz="1200" b="0">
                <a:solidFill>
                  <a:srgbClr val="0F172A"/>
                </a:solidFill>
                <a:latin typeface="IBM Plex Sans"/>
              </a:rPr>
              <a:t>A golden set replays the pipeline before changes ship.</a:t>
            </a:r>
          </a:p>
        </p:txBody>
      </p:sp>
      <p:sp>
        <p:nvSpPr>
          <p:cNvPr id="12" name="Rectangle 11"/>
          <p:cNvSpPr/>
          <p:nvPr/>
        </p:nvSpPr>
        <p:spPr>
          <a:xfrm>
            <a:off x="7958667" y="2279650"/>
            <a:ext cx="3420533" cy="2152650"/>
          </a:xfrm>
          <a:prstGeom prst="rect">
            <a:avLst/>
          </a:prstGeom>
          <a:solidFill>
            <a:srgbClr val="FFFFFF"/>
          </a:solidFill>
          <a:ln w="9525">
            <a:solidFill>
              <a:srgbClr val="E2E8F0"/>
            </a:solidFill>
          </a:ln>
          <a:effectLst/>
        </p:spPr>
        <p:txBody>
          <a:bodyPr rtlCol="0" anchor="ctr"/>
          <a:lstStyle/>
          <a:p>
            <a:pPr algn="ctr"/>
          </a:p>
        </p:txBody>
      </p:sp>
      <p:sp>
        <p:nvSpPr>
          <p:cNvPr id="13" name="Rectangle 12"/>
          <p:cNvSpPr/>
          <p:nvPr/>
        </p:nvSpPr>
        <p:spPr>
          <a:xfrm>
            <a:off x="7958667" y="2279650"/>
            <a:ext cx="3420533" cy="25400"/>
          </a:xfrm>
          <a:prstGeom prst="rect">
            <a:avLst/>
          </a:prstGeom>
          <a:solidFill>
            <a:srgbClr val="2563EB"/>
          </a:solidFill>
          <a:ln>
            <a:noFill/>
          </a:ln>
          <a:effectLst/>
        </p:spPr>
        <p:txBody>
          <a:bodyPr rtlCol="0" anchor="ctr"/>
          <a:lstStyle/>
          <a:p>
            <a:pPr algn="ctr"/>
          </a:p>
        </p:txBody>
      </p:sp>
      <p:sp>
        <p:nvSpPr>
          <p:cNvPr id="14" name="TextBox 13"/>
          <p:cNvSpPr txBox="1"/>
          <p:nvPr/>
        </p:nvSpPr>
        <p:spPr>
          <a:xfrm>
            <a:off x="8111067" y="2457450"/>
            <a:ext cx="3115733" cy="1822450"/>
          </a:xfrm>
          <a:prstGeom prst="rect">
            <a:avLst/>
          </a:prstGeom>
          <a:noFill/>
        </p:spPr>
        <p:txBody>
          <a:bodyPr wrap="square" lIns="0" rIns="0" tIns="0" bIns="0" anchor="t">
            <a:spAutoFit/>
          </a:bodyPr>
          <a:lstStyle/>
          <a:p>
            <a:pPr>
              <a:lnSpc>
                <a:spcPct val="100000"/>
              </a:lnSpc>
              <a:spcAft>
                <a:spcPts val="500"/>
              </a:spcAft>
            </a:pPr>
            <a:r>
              <a:rPr sz="1600" b="1">
                <a:solidFill>
                  <a:srgbClr val="0F172A"/>
                </a:solidFill>
                <a:latin typeface="IBM Plex Sans"/>
              </a:rPr>
              <a:t>Agents propose, people ratify</a:t>
            </a:r>
          </a:p>
          <a:p>
            <a:pPr>
              <a:lnSpc>
                <a:spcPct val="116667"/>
              </a:lnSpc>
              <a:spcAft>
                <a:spcPts val="600"/>
              </a:spcAft>
            </a:pPr>
            <a:r>
              <a:rPr sz="1200" b="0">
                <a:solidFill>
                  <a:srgbClr val="475569"/>
                </a:solidFill>
                <a:latin typeface="IBM Plex Sans"/>
              </a:rPr>
              <a:t>Review queue, four-eyes approval, signed rule books and benchmarks.</a:t>
            </a:r>
          </a:p>
          <a:p>
            <a:pPr>
              <a:lnSpc>
                <a:spcPct val="116667"/>
              </a:lnSpc>
              <a:spcAft>
                <a:spcPts val="0"/>
              </a:spcAft>
            </a:pPr>
            <a:r>
              <a:rPr sz="1200" b="0">
                <a:solidFill>
                  <a:srgbClr val="0F172A"/>
                </a:solidFill>
                <a:latin typeface="IBM Plex Sans"/>
              </a:rPr>
              <a:t>Only an approver publishes; facts read as of a date.</a:t>
            </a:r>
          </a:p>
        </p:txBody>
      </p:sp>
      <p:sp>
        <p:nvSpPr>
          <p:cNvPr id="15" name="Rectangle 14"/>
          <p:cNvSpPr/>
          <p:nvPr/>
        </p:nvSpPr>
        <p:spPr>
          <a:xfrm>
            <a:off x="812800" y="4584700"/>
            <a:ext cx="3420533" cy="1092200"/>
          </a:xfrm>
          <a:prstGeom prst="rect">
            <a:avLst/>
          </a:prstGeom>
          <a:solidFill>
            <a:srgbClr val="FFFFFF"/>
          </a:solidFill>
          <a:ln w="9525">
            <a:solidFill>
              <a:srgbClr val="E2E8F0"/>
            </a:solidFill>
          </a:ln>
          <a:effectLst/>
        </p:spPr>
        <p:txBody>
          <a:bodyPr rtlCol="0" anchor="ctr"/>
          <a:lstStyle/>
          <a:p>
            <a:pPr algn="ctr"/>
          </a:p>
        </p:txBody>
      </p:sp>
      <p:sp>
        <p:nvSpPr>
          <p:cNvPr id="16" name="Rectangle 15"/>
          <p:cNvSpPr/>
          <p:nvPr/>
        </p:nvSpPr>
        <p:spPr>
          <a:xfrm>
            <a:off x="812800" y="4584700"/>
            <a:ext cx="3420533" cy="25400"/>
          </a:xfrm>
          <a:prstGeom prst="rect">
            <a:avLst/>
          </a:prstGeom>
          <a:solidFill>
            <a:srgbClr val="0F172A"/>
          </a:solidFill>
          <a:ln>
            <a:noFill/>
          </a:ln>
          <a:effectLst/>
        </p:spPr>
        <p:txBody>
          <a:bodyPr rtlCol="0" anchor="ctr"/>
          <a:lstStyle/>
          <a:p>
            <a:pPr algn="ctr"/>
          </a:p>
        </p:txBody>
      </p:sp>
      <p:sp>
        <p:nvSpPr>
          <p:cNvPr id="17" name="TextBox 16"/>
          <p:cNvSpPr txBox="1"/>
          <p:nvPr/>
        </p:nvSpPr>
        <p:spPr>
          <a:xfrm>
            <a:off x="965200" y="4762500"/>
            <a:ext cx="3115733" cy="7620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Resumable runs</a:t>
            </a:r>
          </a:p>
          <a:p>
            <a:pPr>
              <a:lnSpc>
                <a:spcPct val="116667"/>
              </a:lnSpc>
              <a:spcAft>
                <a:spcPts val="0"/>
              </a:spcAft>
            </a:pPr>
            <a:r>
              <a:rPr sz="1200" b="0">
                <a:solidFill>
                  <a:srgbClr val="475569"/>
                </a:solidFill>
                <a:latin typeface="IBM Plex Sans"/>
              </a:rPr>
              <a:t>Each company commits as it finishes; a resume skips what is stored.</a:t>
            </a:r>
          </a:p>
        </p:txBody>
      </p:sp>
      <p:sp>
        <p:nvSpPr>
          <p:cNvPr id="18" name="Rectangle 17"/>
          <p:cNvSpPr/>
          <p:nvPr/>
        </p:nvSpPr>
        <p:spPr>
          <a:xfrm>
            <a:off x="4385733" y="4584700"/>
            <a:ext cx="3420533" cy="1092200"/>
          </a:xfrm>
          <a:prstGeom prst="rect">
            <a:avLst/>
          </a:prstGeom>
          <a:solidFill>
            <a:srgbClr val="FFFFFF"/>
          </a:solidFill>
          <a:ln w="9525">
            <a:solidFill>
              <a:srgbClr val="E2E8F0"/>
            </a:solidFill>
          </a:ln>
          <a:effectLst/>
        </p:spPr>
        <p:txBody>
          <a:bodyPr rtlCol="0" anchor="ctr"/>
          <a:lstStyle/>
          <a:p>
            <a:pPr algn="ctr"/>
          </a:p>
        </p:txBody>
      </p:sp>
      <p:sp>
        <p:nvSpPr>
          <p:cNvPr id="19" name="Rectangle 18"/>
          <p:cNvSpPr/>
          <p:nvPr/>
        </p:nvSpPr>
        <p:spPr>
          <a:xfrm>
            <a:off x="4385733" y="4584700"/>
            <a:ext cx="3420533" cy="25400"/>
          </a:xfrm>
          <a:prstGeom prst="rect">
            <a:avLst/>
          </a:prstGeom>
          <a:solidFill>
            <a:srgbClr val="0F172A"/>
          </a:solidFill>
          <a:ln>
            <a:noFill/>
          </a:ln>
          <a:effectLst/>
        </p:spPr>
        <p:txBody>
          <a:bodyPr rtlCol="0" anchor="ctr"/>
          <a:lstStyle/>
          <a:p>
            <a:pPr algn="ctr"/>
          </a:p>
        </p:txBody>
      </p:sp>
      <p:sp>
        <p:nvSpPr>
          <p:cNvPr id="20" name="TextBox 19"/>
          <p:cNvSpPr txBox="1"/>
          <p:nvPr/>
        </p:nvSpPr>
        <p:spPr>
          <a:xfrm>
            <a:off x="4538133" y="4762500"/>
            <a:ext cx="3115733" cy="7620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Batch and run modes</a:t>
            </a:r>
          </a:p>
          <a:p>
            <a:pPr>
              <a:lnSpc>
                <a:spcPct val="116667"/>
              </a:lnSpc>
              <a:spcAft>
                <a:spcPts val="0"/>
              </a:spcAft>
            </a:pPr>
            <a:r>
              <a:rPr sz="1200" b="0">
                <a:solidFill>
                  <a:srgbClr val="475569"/>
                </a:solidFill>
                <a:latin typeface="IBM Plex Sans"/>
              </a:rPr>
              <a:t>Batch mode halves background model cost; cheap, normal or max.</a:t>
            </a:r>
          </a:p>
        </p:txBody>
      </p:sp>
      <p:sp>
        <p:nvSpPr>
          <p:cNvPr id="21" name="Rectangle 20"/>
          <p:cNvSpPr/>
          <p:nvPr/>
        </p:nvSpPr>
        <p:spPr>
          <a:xfrm>
            <a:off x="7958667" y="4584700"/>
            <a:ext cx="3420533" cy="1092200"/>
          </a:xfrm>
          <a:prstGeom prst="rect">
            <a:avLst/>
          </a:prstGeom>
          <a:solidFill>
            <a:srgbClr val="FFFFFF"/>
          </a:solidFill>
          <a:ln w="9525">
            <a:solidFill>
              <a:srgbClr val="E2E8F0"/>
            </a:solidFill>
          </a:ln>
          <a:effectLst/>
        </p:spPr>
        <p:txBody>
          <a:bodyPr rtlCol="0" anchor="ctr"/>
          <a:lstStyle/>
          <a:p>
            <a:pPr algn="ctr"/>
          </a:p>
        </p:txBody>
      </p:sp>
      <p:sp>
        <p:nvSpPr>
          <p:cNvPr id="22" name="Rectangle 21"/>
          <p:cNvSpPr/>
          <p:nvPr/>
        </p:nvSpPr>
        <p:spPr>
          <a:xfrm>
            <a:off x="7958667" y="4584700"/>
            <a:ext cx="3420533" cy="25400"/>
          </a:xfrm>
          <a:prstGeom prst="rect">
            <a:avLst/>
          </a:prstGeom>
          <a:solidFill>
            <a:srgbClr val="0F172A"/>
          </a:solidFill>
          <a:ln>
            <a:noFill/>
          </a:ln>
          <a:effectLst/>
        </p:spPr>
        <p:txBody>
          <a:bodyPr rtlCol="0" anchor="ctr"/>
          <a:lstStyle/>
          <a:p>
            <a:pPr algn="ctr"/>
          </a:p>
        </p:txBody>
      </p:sp>
      <p:sp>
        <p:nvSpPr>
          <p:cNvPr id="23" name="TextBox 22"/>
          <p:cNvSpPr txBox="1"/>
          <p:nvPr/>
        </p:nvSpPr>
        <p:spPr>
          <a:xfrm>
            <a:off x="8111067" y="4762500"/>
            <a:ext cx="3115733" cy="76200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Software factory</a:t>
            </a:r>
          </a:p>
          <a:p>
            <a:pPr>
              <a:lnSpc>
                <a:spcPct val="116667"/>
              </a:lnSpc>
              <a:spcAft>
                <a:spcPts val="0"/>
              </a:spcAft>
            </a:pPr>
            <a:r>
              <a:rPr sz="1200" b="0">
                <a:solidFill>
                  <a:srgbClr val="475569"/>
                </a:solidFill>
                <a:latin typeface="IBM Plex Sans"/>
              </a:rPr>
              <a:t>Acceptance tables, hidden tests, mutation checks, a main guard.</a:t>
            </a:r>
          </a:p>
        </p:txBody>
      </p:sp>
      <p:sp>
        <p:nvSpPr>
          <p:cNvPr id="24" name="TextBox 2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5" name="TextBox 2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