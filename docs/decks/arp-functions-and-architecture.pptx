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end-to-end stewardship process in six stages. A, the strategic foundation: spot emerging themes, define the activities and taxonomy, develop positions, set standards, and build the data framework and scoring. B: monitor portfolio companies, assess transition plans and sector barriers, and select companies by their gaps against the standards. C, engagement: prepare with the historical record, assessments and news; send individual letters, emails and invitations; document the meeting afterwards. D: monitor the company's progress, find and verify evidence, and propose escalation. E: analyse voting proposals from public information and apply voting controls. F: answer RFPs and disclose. The next two slides show what ARP does for each step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built and running on real data. Partly: built in part, or running on the synthetic sample until real feeds exist. Specified: an approved design that is not built yet. Status as of 26 October 2026, from the code on main: Steward Workflow labels each stage live, sample or not built. Sending letters stays with a person by design: no code path sends anything to a company. The stall sweep runs when someone starts it, not on a schedule. Vote analysis reads US DEF 14A filings only; there is no meeting calendar yet. Standards (A4) are an approved spec, so selection by gaps against standards (B3) waits on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figures typed in from annual reports, or bought as vendor scores, come without a page reference. Nobody can check them quickly, and doing it by hand does not scale to thousands of companies.</a:t>
            </a:r>
          </a:p>
          <a:p/>
          <a:p>
            <a:r>
              <a:t>Argus answers with cited extraction: every value carries its quote and page, a verifier on a different model re-reads it, and anything uncertain goes to a person. XBRL facts are stored as the company filed them.</a:t>
            </a:r>
          </a:p>
          <a:p/>
          <a:p>
            <a:r>
              <a:t>Opportunities, as proposals: stewardship can quote the company's own disclosure in letters and vote rationales; product teams can define fund eligibility as a ratified Decision Studio template; and on data licences, figures from public reports and filings can be used to check a licensed vendor field, which the climate validation already does for emissions.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value Argus stores goes through the same chain. Code picks the evidence passages with BM25 and embeddings. The extractor returns the value with unit, period and a verbatim quote. A verifier on a different model extracts again without seeing the first answer; a value counts only when the two agree. Code checks that the quote exists on the cited page and that the number, unit, scale and period hold: the model's word is never enough. Values that fail text grounding get a page-image check. Anything that is not auto-accepted goes to a person, with the cited span boxed on the PDF page. Below the chain: the same flow as the Extraction screen shows it.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holdings, ESG data and climate research live in different places. A breach or a controversy is noticed late, and the annual climate review is assembled by hand each time.</a:t>
            </a:r>
          </a:p>
          <a:p/>
          <a:p>
            <a:r>
              <a:t>Transition Intelligence runs monthly monitoring, which is blocked rather than guessed when the month's holdings or ESG loads are not good, and a climate transition review: risk monitoring, transition barriers, transition plan, Decision Studio, selection for engagement, reports.</a:t>
            </a:r>
          </a:p>
          <a:p/>
          <a:p>
            <a:r>
              <a:t>Opportunities, as proposals: alerts become stewardship triggers with owners; climate-labelled products get holding-level and sector-level evidence; and because every provider source is tagged internal_only or redistributable, licence limits are enforced in code: internal-only facts can be shown internally but never published.</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matrix shows the approach at its clearest. The owner signs a rule book that says, for each criterion, which facts are needed and what makes it high, moderate or low feasibility. A model reads each fact from the official sources, and code checks the value, unit and quote. A three-valued rules engine derives the rating, and a named person ratifies it. The EUR-Lex refresh only proposes changes.</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a new theme or strategy usually starts in a spreadsheet. The boundary of the theme moves with each analyst, backtests are fitted to the past, and once a product launches it is hard to show which evidence it rests on.</a:t>
            </a:r>
          </a:p>
          <a:p/>
          <a:p>
            <a:r>
              <a:t>The R&amp;D Lab connects emerging themes, the taxonomy library, the thematic universe, Decision Studio and index construction, and strategy replication with out-of-sample tests and overfitting checks.</a:t>
            </a:r>
          </a:p>
          <a:p/>
          <a:p>
            <a:r>
              <a:t>Opportunities, as proposals: the theme dossier's planned step 5 links a product's position to stewardship flags; index products can be composed from presets and stay reproducible because calibrations are effective-dated; and house methodologies and taxonomies are the firm's own work, while some reference data, such as GICS below sector level, needs a licence.</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construction composes a methodology from named rules: ordered screens, one selection rule, a weighting scheme, bounded tilts, a capping waterfall and the EU Paris-aligned or climate transition benchmark trajectory. Presets expand into ordinary editable rules. Every stage writes a trace line, which is the committee's funnel and the audit trail. Calibrations are versioned and effective-dated, and optional solvers are never trusted: every constraint is re-checked in Python.</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stewardship work is scattered across emails, notes and spreadsheets. It is hard to show who owns an issue, what a company committed to, and why a vote went the way it did.</a:t>
            </a:r>
          </a:p>
          <a:p/>
          <a:p>
            <a:r>
              <a:t>StewardIQ keeps one engagement record per company with milestone stages and an escalation ladder, runs proxy voting with house rules before any model judgment and a person deciding every proposal, and produces client reports.</a:t>
            </a:r>
          </a:p>
          <a:p/>
          <a:p>
            <a:r>
              <a:t>Opportunities, as proposals: votes and engagements reinforce each other on one record; client reporting already separates house activity from where a client policy differed, which can support client-specific mandates; the client-overlay operating model is a target design and only partly built. On licences, proxy statements come from EDGAR, while vote data from an external provider would carry that provider's terms.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Steward Workflow draws the stewardship process as one graph: monitoring, selection, drafting, voting, the checkpoint and tracking for the house, with client policy and reporting as an overlay that stores only where a client differs. House and client rules are decision graphs on one engine. Escalation rules propose a ladder step that the issuer's coverage tier caps, and every metric shows whether it is live, sample or not built.</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every tool tends to map securities to issuers in its own way, and a feed that stopped loading is only noticed when a number looks wrong.</a:t>
            </a:r>
          </a:p>
          <a:p/>
          <a:p>
            <a:r>
              <a:t>Data Hub holds the security master, the golden source for issuer identity, loaded only by approvers and matched exactly by LEI, ISIN or CIK, never by name. Feeds shows each input's data date and whether it is behind; Issues lists every open data problem, blocking first; Outputs is the catalogue of stored results with what has used them.</a:t>
            </a:r>
          </a:p>
          <a:p/>
          <a:p>
            <a:r>
              <a:t>Opportunities, as proposals: stewardship evidence and holdings point at the same issuer; product teams can trace which inputs a product uses; and the licence tag on each provider source makes reuse limits visible up front.</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Hub keeps the inputs honest. The security master maps every held security to exactly one issuer by LEI, ISIN or CIK, and nothing is matched by name. Feeds shows each input's data date and flags it as behind. Issues lists every open data problem, blocking first, with feed and master problems ahead of the check failures they may cause, and each row links to where it is fixed. Provider sources carry a licence tag, and internal-only data is refused by the publish path.</a:t>
            </a:r>
          </a:p>
          <a:p/>
          <a:p>
            <a:r>
              <a:t>Screenshot: the app running locally on demo data, 26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rules that hold across the code and the screens. The first three are the principles from the cover. Structured data first: XBRL facts, catalogue mappings and house voting rules resolve what they can before any model judgment. Not found is an answer: no evidence ends in an explicit not-found. Versioned and dated: decision frameworks, index calibrations and published facts are effective-dated and read as of a date. Resumable at scale: every run is checkpointed in Postgres. One signal colour: in the app, one colour means a person must act, and nothing else uses it. Processes, not pages: each workspace step names what it hands to the next, and manual handoffs are drawn as gaps.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robots are grouped by job. Read and extract: the field extractor runs any schema; proxy proposals, transition-plan lists, barrier facts and RFP questions have their own readers. Check and judge: a blind verifier on a different model, an adjudicator for disagreements, a page-image check, and the advocate, opposing and adjudicator debate for theme exposure. Classify and map: one identity call where lookups do not settle it, vote policy judgment when no house rule fires, a news risk classifier and the sector mappers. Draft and write: engagement dossiers and letters, the context brief and research note, the deck storyline and slide filler, and RFP answers drafted only from approved library entries. Ask and plan: the Ask ARP router, Portfolio Q&amp;A and Smart Search, which write a query or filter that code runs, and the BI chart planner. Standing agents run on a schedule and only propose. Several parts are deliberately model-free.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8.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5.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9.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28.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8.png"/><Relationship Id="rId4" Type="http://schemas.openxmlformats.org/officeDocument/2006/relationships/image" Target="../media/image5.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19.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36.png"/><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7.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28.png"/><Relationship Id="rId7" Type="http://schemas.openxmlformats.org/officeDocument/2006/relationships/image" Target="../media/image32.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74.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image" Target="../media/image7.png"/><Relationship Id="rId4" Type="http://schemas.openxmlformats.org/officeDocument/2006/relationships/image" Target="../media/image49.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png"/><Relationship Id="rId11" Type="http://schemas.openxmlformats.org/officeDocument/2006/relationships/image" Target="../media/image74.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7.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image" Target="../media/image88.png"/><Relationship Id="rId10" Type="http://schemas.openxmlformats.org/officeDocument/2006/relationships/image" Target="../media/image89.png"/><Relationship Id="rId11" Type="http://schemas.openxmlformats.org/officeDocument/2006/relationships/image" Target="../media/image74.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2.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74.pn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7.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78.png"/><Relationship Id="rId8" Type="http://schemas.openxmlformats.org/officeDocument/2006/relationships/image" Target="../media/image96.png"/><Relationship Id="rId9" Type="http://schemas.openxmlformats.org/officeDocument/2006/relationships/image" Target="../media/image97.png"/><Relationship Id="rId10" Type="http://schemas.openxmlformats.org/officeDocument/2006/relationships/image" Target="../media/image98.png"/><Relationship Id="rId11" Type="http://schemas.openxmlformats.org/officeDocument/2006/relationships/image" Target="../media/image74.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7.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28.png"/><Relationship Id="rId7" Type="http://schemas.openxmlformats.org/officeDocument/2006/relationships/image" Target="../media/image102.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image" Target="../media/image74.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7.png"/><Relationship Id="rId4" Type="http://schemas.openxmlformats.org/officeDocument/2006/relationships/image" Target="../media/image107.png"/><Relationship Id="rId5" Type="http://schemas.openxmlformats.org/officeDocument/2006/relationships/image" Target="../media/image32.png"/><Relationship Id="rId6" Type="http://schemas.openxmlformats.org/officeDocument/2006/relationships/image" Target="../media/image108.png"/><Relationship Id="rId7" Type="http://schemas.openxmlformats.org/officeDocument/2006/relationships/image" Target="../media/image109.png"/><Relationship Id="rId8" Type="http://schemas.openxmlformats.org/officeDocument/2006/relationships/image" Target="../media/image82.png"/><Relationship Id="rId9" Type="http://schemas.openxmlformats.org/officeDocument/2006/relationships/image" Target="../media/image104.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7.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image" Target="../media/image117.png"/><Relationship Id="rId10" Type="http://schemas.openxmlformats.org/officeDocument/2006/relationships/image" Target="../media/image118.png"/><Relationship Id="rId11" Type="http://schemas.openxmlformats.org/officeDocument/2006/relationships/image" Target="../media/image74.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image" Target="../media/image7.png"/><Relationship Id="rId4" Type="http://schemas.openxmlformats.org/officeDocument/2006/relationships/image" Target="../media/image120.png"/><Relationship Id="rId5" Type="http://schemas.openxmlformats.org/officeDocument/2006/relationships/image" Target="../media/image28.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121.png"/><Relationship Id="rId9" Type="http://schemas.openxmlformats.org/officeDocument/2006/relationships/image" Target="../media/image89.png"/><Relationship Id="rId10" Type="http://schemas.openxmlformats.org/officeDocument/2006/relationships/image" Target="../media/image122.png"/><Relationship Id="rId11" Type="http://schemas.openxmlformats.org/officeDocument/2006/relationships/image" Target="../media/image74.pn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 Id="rId3" Type="http://schemas.openxmlformats.org/officeDocument/2006/relationships/image" Target="../media/image7.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image" Target="../media/image74.png"/><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7.png"/><Relationship Id="rId4" Type="http://schemas.openxmlformats.org/officeDocument/2006/relationships/image" Target="../media/image51.png"/><Relationship Id="rId5" Type="http://schemas.openxmlformats.org/officeDocument/2006/relationships/image" Target="../media/image124.png"/><Relationship Id="rId6" Type="http://schemas.openxmlformats.org/officeDocument/2006/relationships/image" Target="../media/image50.png"/><Relationship Id="rId7" Type="http://schemas.openxmlformats.org/officeDocument/2006/relationships/image" Target="../media/image66.png"/><Relationship Id="rId8" Type="http://schemas.openxmlformats.org/officeDocument/2006/relationships/image" Target="../media/image132.png"/><Relationship Id="rId9" Type="http://schemas.openxmlformats.org/officeDocument/2006/relationships/image" Target="../media/image133.png"/><Relationship Id="rId10" Type="http://schemas.openxmlformats.org/officeDocument/2006/relationships/image" Target="../media/image134.png"/><Relationship Id="rId11" Type="http://schemas.openxmlformats.org/officeDocument/2006/relationships/image" Target="../media/image74.png"/><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7.png"/><Relationship Id="rId4" Type="http://schemas.openxmlformats.org/officeDocument/2006/relationships/image" Target="../media/image136.png"/><Relationship Id="rId5" Type="http://schemas.openxmlformats.org/officeDocument/2006/relationships/image" Target="../media/image137.png"/><Relationship Id="rId6" Type="http://schemas.openxmlformats.org/officeDocument/2006/relationships/image" Target="../media/image39.png"/><Relationship Id="rId7" Type="http://schemas.openxmlformats.org/officeDocument/2006/relationships/image" Target="../media/image138.png"/><Relationship Id="rId8" Type="http://schemas.openxmlformats.org/officeDocument/2006/relationships/image" Target="../media/image37.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53.png"/><Relationship Id="rId1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41.png"/><Relationship Id="rId6" Type="http://schemas.openxmlformats.org/officeDocument/2006/relationships/image" Target="../media/image142.png"/><Relationship Id="rId7" Type="http://schemas.openxmlformats.org/officeDocument/2006/relationships/image" Target="../media/image143.png"/><Relationship Id="rId8" Type="http://schemas.openxmlformats.org/officeDocument/2006/relationships/image" Target="../media/image144.png"/><Relationship Id="rId9" Type="http://schemas.openxmlformats.org/officeDocument/2006/relationships/image" Target="../media/image145.png"/><Relationship Id="rId10" Type="http://schemas.openxmlformats.org/officeDocument/2006/relationships/image" Target="../media/image146.png"/><Relationship Id="rId11" Type="http://schemas.openxmlformats.org/officeDocument/2006/relationships/image" Target="../media/image74.png"/><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7.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image" Target="../media/image32.png"/><Relationship Id="rId8" Type="http://schemas.openxmlformats.org/officeDocument/2006/relationships/image" Target="../media/image150.png"/><Relationship Id="rId9" Type="http://schemas.openxmlformats.org/officeDocument/2006/relationships/image" Target="../media/image151.png"/><Relationship Id="rId10" Type="http://schemas.openxmlformats.org/officeDocument/2006/relationships/image" Target="../media/image53.png"/><Relationship Id="rId11" Type="http://schemas.openxmlformats.org/officeDocument/2006/relationships/image" Target="../media/image74.png"/><Relationship Id="rId1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7.png"/><Relationship Id="rId4" Type="http://schemas.openxmlformats.org/officeDocument/2006/relationships/image" Target="../media/image44.png"/><Relationship Id="rId5" Type="http://schemas.openxmlformats.org/officeDocument/2006/relationships/image" Target="../media/image153.png"/><Relationship Id="rId6" Type="http://schemas.openxmlformats.org/officeDocument/2006/relationships/image" Target="../media/image65.png"/><Relationship Id="rId7" Type="http://schemas.openxmlformats.org/officeDocument/2006/relationships/image" Target="../media/image32.png"/><Relationship Id="rId8" Type="http://schemas.openxmlformats.org/officeDocument/2006/relationships/image" Target="../media/image96.png"/><Relationship Id="rId9" Type="http://schemas.openxmlformats.org/officeDocument/2006/relationships/image" Target="../media/image154.png"/><Relationship Id="rId10" Type="http://schemas.openxmlformats.org/officeDocument/2006/relationships/image" Target="../media/image155.png"/><Relationship Id="rId11" Type="http://schemas.openxmlformats.org/officeDocument/2006/relationships/image" Target="../media/image72.png"/><Relationship Id="rId1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7.png"/><Relationship Id="rId4" Type="http://schemas.openxmlformats.org/officeDocument/2006/relationships/image" Target="../media/image28.png"/><Relationship Id="rId5" Type="http://schemas.openxmlformats.org/officeDocument/2006/relationships/image" Target="../media/image156.png"/><Relationship Id="rId6" Type="http://schemas.openxmlformats.org/officeDocument/2006/relationships/image" Target="../media/image77.png"/><Relationship Id="rId7" Type="http://schemas.openxmlformats.org/officeDocument/2006/relationships/image" Target="../media/image157.png"/><Relationship Id="rId8" Type="http://schemas.openxmlformats.org/officeDocument/2006/relationships/image" Target="../media/image32.png"/><Relationship Id="rId9" Type="http://schemas.openxmlformats.org/officeDocument/2006/relationships/image" Target="../media/image104.png"/><Relationship Id="rId10" Type="http://schemas.openxmlformats.org/officeDocument/2006/relationships/image" Target="../media/image158.png"/><Relationship Id="rId11" Type="http://schemas.openxmlformats.org/officeDocument/2006/relationships/image" Target="../media/image74.png"/><Relationship Id="rId1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7.png"/><Relationship Id="rId4" Type="http://schemas.openxmlformats.org/officeDocument/2006/relationships/image" Target="../media/image160.png"/><Relationship Id="rId5" Type="http://schemas.openxmlformats.org/officeDocument/2006/relationships/image" Target="../media/image65.png"/><Relationship Id="rId6" Type="http://schemas.openxmlformats.org/officeDocument/2006/relationships/image" Target="../media/image78.png"/><Relationship Id="rId7" Type="http://schemas.openxmlformats.org/officeDocument/2006/relationships/image" Target="../media/image42.png"/><Relationship Id="rId8" Type="http://schemas.openxmlformats.org/officeDocument/2006/relationships/image" Target="../media/image161.png"/><Relationship Id="rId9" Type="http://schemas.openxmlformats.org/officeDocument/2006/relationships/image" Target="../media/image162.png"/><Relationship Id="rId10" Type="http://schemas.openxmlformats.org/officeDocument/2006/relationships/image" Target="../media/image163.png"/><Relationship Id="rId11" Type="http://schemas.openxmlformats.org/officeDocument/2006/relationships/image" Target="../media/image74.png"/><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4.png"/><Relationship Id="rId3" Type="http://schemas.openxmlformats.org/officeDocument/2006/relationships/image" Target="../media/image7.png"/><Relationship Id="rId4" Type="http://schemas.openxmlformats.org/officeDocument/2006/relationships/image" Target="../media/image165.png"/><Relationship Id="rId5" Type="http://schemas.openxmlformats.org/officeDocument/2006/relationships/image" Target="../media/image32.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70.png"/><Relationship Id="rId11" Type="http://schemas.openxmlformats.org/officeDocument/2006/relationships/image" Target="../media/image74.png"/><Relationship Id="rId1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71.png"/><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0F172A"/>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0F172A"/>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0F172A"/>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0F172A"/>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END TO END</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Six stages from a theme to the client's answer</a:t>
            </a:r>
          </a:p>
        </p:txBody>
      </p:sp>
      <p:sp>
        <p:nvSpPr>
          <p:cNvPr id="4" name="Oval 3"/>
          <p:cNvSpPr/>
          <p:nvPr/>
        </p:nvSpPr>
        <p:spPr>
          <a:xfrm>
            <a:off x="1413933" y="1854200"/>
            <a:ext cx="558800" cy="558800"/>
          </a:xfrm>
          <a:prstGeom prst="ellipse">
            <a:avLst/>
          </a:prstGeom>
          <a:solidFill>
            <a:srgbClr val="0F172A"/>
          </a:solidFill>
          <a:ln>
            <a:noFill/>
          </a:ln>
          <a:effectLst/>
        </p:spPr>
        <p:txBody>
          <a:bodyPr rtlCol="0" anchor="ctr"/>
          <a:lstStyle/>
          <a:p>
            <a:pPr algn="ctr"/>
          </a:p>
        </p:txBody>
      </p:sp>
      <p:pic>
        <p:nvPicPr>
          <p:cNvPr id="5" name="Picture 4" descr="compass-FFFFFF.png"/>
          <p:cNvPicPr>
            <a:picLocks noChangeAspect="1"/>
          </p:cNvPicPr>
          <p:nvPr/>
        </p:nvPicPr>
        <p:blipFill>
          <a:blip r:embed="rId2"/>
          <a:stretch>
            <a:fillRect/>
          </a:stretch>
        </p:blipFill>
        <p:spPr>
          <a:xfrm>
            <a:off x="1566333" y="2006600"/>
            <a:ext cx="254000" cy="254000"/>
          </a:xfrm>
          <a:prstGeom prst="rect">
            <a:avLst/>
          </a:prstGeom>
        </p:spPr>
      </p:pic>
      <p:sp>
        <p:nvSpPr>
          <p:cNvPr id="6" name="TextBox 5"/>
          <p:cNvSpPr txBox="1"/>
          <p:nvPr/>
        </p:nvSpPr>
        <p:spPr>
          <a:xfrm>
            <a:off x="8890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A</a:t>
            </a:r>
          </a:p>
          <a:p>
            <a:pPr algn="ctr">
              <a:lnSpc>
                <a:spcPct val="100000"/>
              </a:lnSpc>
              <a:spcAft>
                <a:spcPts val="0"/>
              </a:spcAft>
            </a:pPr>
            <a:r>
              <a:rPr sz="1400" b="1">
                <a:solidFill>
                  <a:srgbClr val="0F172A"/>
                </a:solidFill>
                <a:latin typeface="IBM Plex Sans"/>
              </a:rPr>
              <a:t>Strategic foundation</a:t>
            </a:r>
          </a:p>
        </p:txBody>
      </p:sp>
      <p:sp>
        <p:nvSpPr>
          <p:cNvPr id="7" name="TextBox 6"/>
          <p:cNvSpPr txBox="1"/>
          <p:nvPr/>
        </p:nvSpPr>
        <p:spPr>
          <a:xfrm>
            <a:off x="8890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Spot emerging themes</a:t>
            </a:r>
          </a:p>
          <a:p>
            <a:pPr>
              <a:lnSpc>
                <a:spcPct val="112500"/>
              </a:lnSpc>
              <a:spcAft>
                <a:spcPts val="400"/>
              </a:spcAft>
            </a:pPr>
            <a:r>
              <a:rPr sz="1200" b="0">
                <a:solidFill>
                  <a:srgbClr val="0F172A"/>
                </a:solidFill>
                <a:latin typeface="IBM Plex Sans"/>
              </a:rPr>
              <a:t>2. Define activities and taxonomy</a:t>
            </a:r>
          </a:p>
          <a:p>
            <a:pPr>
              <a:lnSpc>
                <a:spcPct val="112500"/>
              </a:lnSpc>
              <a:spcAft>
                <a:spcPts val="400"/>
              </a:spcAft>
            </a:pPr>
            <a:r>
              <a:rPr sz="1200" b="0">
                <a:solidFill>
                  <a:srgbClr val="0F172A"/>
                </a:solidFill>
                <a:latin typeface="IBM Plex Sans"/>
              </a:rPr>
              <a:t>3. Develop positions</a:t>
            </a:r>
          </a:p>
          <a:p>
            <a:pPr>
              <a:lnSpc>
                <a:spcPct val="112500"/>
              </a:lnSpc>
              <a:spcAft>
                <a:spcPts val="400"/>
              </a:spcAft>
            </a:pPr>
            <a:r>
              <a:rPr sz="1200" b="0">
                <a:solidFill>
                  <a:srgbClr val="0F172A"/>
                </a:solidFill>
                <a:latin typeface="IBM Plex Sans"/>
              </a:rPr>
              <a:t>4. Set standards</a:t>
            </a:r>
          </a:p>
          <a:p>
            <a:pPr>
              <a:lnSpc>
                <a:spcPct val="112500"/>
              </a:lnSpc>
              <a:spcAft>
                <a:spcPts val="400"/>
              </a:spcAft>
            </a:pPr>
            <a:r>
              <a:rPr sz="1200" b="0">
                <a:solidFill>
                  <a:srgbClr val="0F172A"/>
                </a:solidFill>
                <a:latin typeface="IBM Plex Sans"/>
              </a:rPr>
              <a:t>5. Data framework and scoring</a:t>
            </a:r>
          </a:p>
        </p:txBody>
      </p:sp>
      <p:sp>
        <p:nvSpPr>
          <p:cNvPr id="8" name="Rectangle 7"/>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082800"/>
            <a:ext cx="76200" cy="101600"/>
          </a:xfrm>
          <a:prstGeom prst="rect">
            <a:avLst/>
          </a:prstGeom>
        </p:spPr>
      </p:pic>
      <p:sp>
        <p:nvSpPr>
          <p:cNvPr id="10" name="Oval 9"/>
          <p:cNvSpPr/>
          <p:nvPr/>
        </p:nvSpPr>
        <p:spPr>
          <a:xfrm>
            <a:off x="3175000" y="1854200"/>
            <a:ext cx="558800" cy="558800"/>
          </a:xfrm>
          <a:prstGeom prst="ellipse">
            <a:avLst/>
          </a:prstGeom>
          <a:solidFill>
            <a:srgbClr val="0F172A"/>
          </a:solidFill>
          <a:ln>
            <a:noFill/>
          </a:ln>
          <a:effectLst/>
        </p:spPr>
        <p:txBody>
          <a:bodyPr rtlCol="0" anchor="ctr"/>
          <a:lstStyle/>
          <a:p>
            <a:pPr algn="ctr"/>
          </a:p>
        </p:txBody>
      </p:sp>
      <p:pic>
        <p:nvPicPr>
          <p:cNvPr id="11" name="Picture 10" descr="radar-FFFFFF.png"/>
          <p:cNvPicPr>
            <a:picLocks noChangeAspect="1"/>
          </p:cNvPicPr>
          <p:nvPr/>
        </p:nvPicPr>
        <p:blipFill>
          <a:blip r:embed="rId4"/>
          <a:stretch>
            <a:fillRect/>
          </a:stretch>
        </p:blipFill>
        <p:spPr>
          <a:xfrm>
            <a:off x="3327400" y="2006600"/>
            <a:ext cx="254000" cy="254000"/>
          </a:xfrm>
          <a:prstGeom prst="rect">
            <a:avLst/>
          </a:prstGeom>
        </p:spPr>
      </p:pic>
      <p:sp>
        <p:nvSpPr>
          <p:cNvPr id="12" name="TextBox 11"/>
          <p:cNvSpPr txBox="1"/>
          <p:nvPr/>
        </p:nvSpPr>
        <p:spPr>
          <a:xfrm>
            <a:off x="26500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B</a:t>
            </a:r>
          </a:p>
          <a:p>
            <a:pPr algn="ctr">
              <a:lnSpc>
                <a:spcPct val="100000"/>
              </a:lnSpc>
              <a:spcAft>
                <a:spcPts val="0"/>
              </a:spcAft>
            </a:pPr>
            <a:r>
              <a:rPr sz="1400" b="1">
                <a:solidFill>
                  <a:srgbClr val="0F172A"/>
                </a:solidFill>
                <a:latin typeface="IBM Plex Sans"/>
              </a:rPr>
              <a:t>Monitoring and selection</a:t>
            </a:r>
          </a:p>
        </p:txBody>
      </p:sp>
      <p:sp>
        <p:nvSpPr>
          <p:cNvPr id="13" name="TextBox 12"/>
          <p:cNvSpPr txBox="1"/>
          <p:nvPr/>
        </p:nvSpPr>
        <p:spPr>
          <a:xfrm>
            <a:off x="26500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portfolio companies</a:t>
            </a:r>
          </a:p>
          <a:p>
            <a:pPr>
              <a:lnSpc>
                <a:spcPct val="112500"/>
              </a:lnSpc>
              <a:spcAft>
                <a:spcPts val="400"/>
              </a:spcAft>
            </a:pPr>
            <a:r>
              <a:rPr sz="1200" b="0">
                <a:solidFill>
                  <a:srgbClr val="0F172A"/>
                </a:solidFill>
                <a:latin typeface="IBM Plex Sans"/>
              </a:rPr>
              <a:t>2. Assess transition plans and barriers</a:t>
            </a:r>
          </a:p>
          <a:p>
            <a:pPr>
              <a:lnSpc>
                <a:spcPct val="112500"/>
              </a:lnSpc>
              <a:spcAft>
                <a:spcPts val="400"/>
              </a:spcAft>
            </a:pPr>
            <a:r>
              <a:rPr sz="1200" b="0">
                <a:solidFill>
                  <a:srgbClr val="0F172A"/>
                </a:solidFill>
                <a:latin typeface="IBM Plex Sans"/>
              </a:rPr>
              <a:t>3. Select companies on gaps vs standards</a:t>
            </a:r>
          </a:p>
        </p:txBody>
      </p:sp>
      <p:sp>
        <p:nvSpPr>
          <p:cNvPr id="14" name="Rectangle 13"/>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4809067" y="2082800"/>
            <a:ext cx="76200" cy="101600"/>
          </a:xfrm>
          <a:prstGeom prst="rect">
            <a:avLst/>
          </a:prstGeom>
        </p:spPr>
      </p:pic>
      <p:sp>
        <p:nvSpPr>
          <p:cNvPr id="16" name="Oval 15"/>
          <p:cNvSpPr/>
          <p:nvPr/>
        </p:nvSpPr>
        <p:spPr>
          <a:xfrm>
            <a:off x="4936067" y="1854200"/>
            <a:ext cx="558800" cy="558800"/>
          </a:xfrm>
          <a:prstGeom prst="ellipse">
            <a:avLst/>
          </a:prstGeom>
          <a:solidFill>
            <a:srgbClr val="0F172A"/>
          </a:solidFill>
          <a:ln>
            <a:noFill/>
          </a:ln>
          <a:effectLst/>
        </p:spPr>
        <p:txBody>
          <a:bodyPr rtlCol="0" anchor="ctr"/>
          <a:lstStyle/>
          <a:p>
            <a:pPr algn="ctr"/>
          </a:p>
        </p:txBody>
      </p:sp>
      <p:pic>
        <p:nvPicPr>
          <p:cNvPr id="17" name="Picture 16" descr="handshake-FFFFFF.png"/>
          <p:cNvPicPr>
            <a:picLocks noChangeAspect="1"/>
          </p:cNvPicPr>
          <p:nvPr/>
        </p:nvPicPr>
        <p:blipFill>
          <a:blip r:embed="rId5"/>
          <a:stretch>
            <a:fillRect/>
          </a:stretch>
        </p:blipFill>
        <p:spPr>
          <a:xfrm>
            <a:off x="5088467" y="2006600"/>
            <a:ext cx="254000" cy="254000"/>
          </a:xfrm>
          <a:prstGeom prst="rect">
            <a:avLst/>
          </a:prstGeom>
        </p:spPr>
      </p:pic>
      <p:sp>
        <p:nvSpPr>
          <p:cNvPr id="18" name="TextBox 17"/>
          <p:cNvSpPr txBox="1"/>
          <p:nvPr/>
        </p:nvSpPr>
        <p:spPr>
          <a:xfrm>
            <a:off x="44111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C</a:t>
            </a:r>
          </a:p>
          <a:p>
            <a:pPr algn="ctr">
              <a:lnSpc>
                <a:spcPct val="100000"/>
              </a:lnSpc>
              <a:spcAft>
                <a:spcPts val="0"/>
              </a:spcAft>
            </a:pPr>
            <a:r>
              <a:rPr sz="1400" b="1">
                <a:solidFill>
                  <a:srgbClr val="0F172A"/>
                </a:solidFill>
                <a:latin typeface="IBM Plex Sans"/>
              </a:rPr>
              <a:t>Engagement</a:t>
            </a:r>
          </a:p>
        </p:txBody>
      </p:sp>
      <p:sp>
        <p:nvSpPr>
          <p:cNvPr id="19" name="TextBox 18"/>
          <p:cNvSpPr txBox="1"/>
          <p:nvPr/>
        </p:nvSpPr>
        <p:spPr>
          <a:xfrm>
            <a:off x="44111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Prepare: records, assessments, news</a:t>
            </a:r>
          </a:p>
          <a:p>
            <a:pPr>
              <a:lnSpc>
                <a:spcPct val="112500"/>
              </a:lnSpc>
              <a:spcAft>
                <a:spcPts val="400"/>
              </a:spcAft>
            </a:pPr>
            <a:r>
              <a:rPr sz="1200" b="0">
                <a:solidFill>
                  <a:srgbClr val="0F172A"/>
                </a:solidFill>
                <a:latin typeface="IBM Plex Sans"/>
              </a:rPr>
              <a:t>2. Send letters, emails, invites</a:t>
            </a:r>
          </a:p>
          <a:p>
            <a:pPr>
              <a:lnSpc>
                <a:spcPct val="112500"/>
              </a:lnSpc>
              <a:spcAft>
                <a:spcPts val="400"/>
              </a:spcAft>
            </a:pPr>
            <a:r>
              <a:rPr sz="1200" b="0">
                <a:solidFill>
                  <a:srgbClr val="0F172A"/>
                </a:solidFill>
                <a:latin typeface="IBM Plex Sans"/>
              </a:rPr>
              <a:t>3. Document the meeting</a:t>
            </a:r>
          </a:p>
        </p:txBody>
      </p:sp>
      <p:sp>
        <p:nvSpPr>
          <p:cNvPr id="20" name="Rectangle 19"/>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6570133" y="2082800"/>
            <a:ext cx="76200" cy="101600"/>
          </a:xfrm>
          <a:prstGeom prst="rect">
            <a:avLst/>
          </a:prstGeom>
        </p:spPr>
      </p:pic>
      <p:sp>
        <p:nvSpPr>
          <p:cNvPr id="22" name="Oval 21"/>
          <p:cNvSpPr/>
          <p:nvPr/>
        </p:nvSpPr>
        <p:spPr>
          <a:xfrm>
            <a:off x="6697133" y="1854200"/>
            <a:ext cx="558800" cy="558800"/>
          </a:xfrm>
          <a:prstGeom prst="ellipse">
            <a:avLst/>
          </a:prstGeom>
          <a:solidFill>
            <a:srgbClr val="0F172A"/>
          </a:solidFill>
          <a:ln>
            <a:noFill/>
          </a:ln>
          <a:effectLst/>
        </p:spPr>
        <p:txBody>
          <a:bodyPr rtlCol="0" anchor="ctr"/>
          <a:lstStyle/>
          <a:p>
            <a:pPr algn="ctr"/>
          </a:p>
        </p:txBody>
      </p:sp>
      <p:pic>
        <p:nvPicPr>
          <p:cNvPr id="23" name="Picture 22" descr="trending-up-FFFFFF.png"/>
          <p:cNvPicPr>
            <a:picLocks noChangeAspect="1"/>
          </p:cNvPicPr>
          <p:nvPr/>
        </p:nvPicPr>
        <p:blipFill>
          <a:blip r:embed="rId6"/>
          <a:stretch>
            <a:fillRect/>
          </a:stretch>
        </p:blipFill>
        <p:spPr>
          <a:xfrm>
            <a:off x="6849533" y="2006600"/>
            <a:ext cx="254000" cy="254000"/>
          </a:xfrm>
          <a:prstGeom prst="rect">
            <a:avLst/>
          </a:prstGeom>
        </p:spPr>
      </p:pic>
      <p:sp>
        <p:nvSpPr>
          <p:cNvPr id="24" name="TextBox 23"/>
          <p:cNvSpPr txBox="1"/>
          <p:nvPr/>
        </p:nvSpPr>
        <p:spPr>
          <a:xfrm>
            <a:off x="6172200"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D</a:t>
            </a:r>
          </a:p>
          <a:p>
            <a:pPr algn="ctr">
              <a:lnSpc>
                <a:spcPct val="100000"/>
              </a:lnSpc>
              <a:spcAft>
                <a:spcPts val="0"/>
              </a:spcAft>
            </a:pPr>
            <a:r>
              <a:rPr sz="1400" b="1">
                <a:solidFill>
                  <a:srgbClr val="0F172A"/>
                </a:solidFill>
                <a:latin typeface="IBM Plex Sans"/>
              </a:rPr>
              <a:t>Progress and escalation</a:t>
            </a:r>
          </a:p>
        </p:txBody>
      </p:sp>
      <p:sp>
        <p:nvSpPr>
          <p:cNvPr id="25" name="TextBox 24"/>
          <p:cNvSpPr txBox="1"/>
          <p:nvPr/>
        </p:nvSpPr>
        <p:spPr>
          <a:xfrm>
            <a:off x="6172200"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Monitor company progress</a:t>
            </a:r>
          </a:p>
          <a:p>
            <a:pPr>
              <a:lnSpc>
                <a:spcPct val="112500"/>
              </a:lnSpc>
              <a:spcAft>
                <a:spcPts val="400"/>
              </a:spcAft>
            </a:pPr>
            <a:r>
              <a:rPr sz="1200" b="0">
                <a:solidFill>
                  <a:srgbClr val="0F172A"/>
                </a:solidFill>
                <a:latin typeface="IBM Plex Sans"/>
              </a:rPr>
              <a:t>2. Find and verify evidence</a:t>
            </a:r>
          </a:p>
          <a:p>
            <a:pPr>
              <a:lnSpc>
                <a:spcPct val="112500"/>
              </a:lnSpc>
              <a:spcAft>
                <a:spcPts val="400"/>
              </a:spcAft>
            </a:pPr>
            <a:r>
              <a:rPr sz="1200" b="0">
                <a:solidFill>
                  <a:srgbClr val="0F172A"/>
                </a:solidFill>
                <a:latin typeface="IBM Plex Sans"/>
              </a:rPr>
              <a:t>3. Propose escalation</a:t>
            </a:r>
          </a:p>
        </p:txBody>
      </p:sp>
      <p:sp>
        <p:nvSpPr>
          <p:cNvPr id="26" name="Rectangle 25"/>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27" name="Picture 26" descr="arrowhead.png"/>
          <p:cNvPicPr>
            <a:picLocks noChangeAspect="1"/>
          </p:cNvPicPr>
          <p:nvPr/>
        </p:nvPicPr>
        <p:blipFill>
          <a:blip r:embed="rId3"/>
          <a:stretch>
            <a:fillRect/>
          </a:stretch>
        </p:blipFill>
        <p:spPr>
          <a:xfrm>
            <a:off x="8331200" y="2082800"/>
            <a:ext cx="76200" cy="101600"/>
          </a:xfrm>
          <a:prstGeom prst="rect">
            <a:avLst/>
          </a:prstGeom>
        </p:spPr>
      </p:pic>
      <p:sp>
        <p:nvSpPr>
          <p:cNvPr id="28" name="Oval 27"/>
          <p:cNvSpPr/>
          <p:nvPr/>
        </p:nvSpPr>
        <p:spPr>
          <a:xfrm>
            <a:off x="8458200" y="1854200"/>
            <a:ext cx="558800" cy="558800"/>
          </a:xfrm>
          <a:prstGeom prst="ellipse">
            <a:avLst/>
          </a:prstGeom>
          <a:solidFill>
            <a:srgbClr val="0F172A"/>
          </a:solidFill>
          <a:ln>
            <a:noFill/>
          </a:ln>
          <a:effectLst/>
        </p:spPr>
        <p:txBody>
          <a:bodyPr rtlCol="0" anchor="ctr"/>
          <a:lstStyle/>
          <a:p>
            <a:pPr algn="ctr"/>
          </a:p>
        </p:txBody>
      </p:sp>
      <p:pic>
        <p:nvPicPr>
          <p:cNvPr id="29" name="Picture 28" descr="vote-FFFFFF.png"/>
          <p:cNvPicPr>
            <a:picLocks noChangeAspect="1"/>
          </p:cNvPicPr>
          <p:nvPr/>
        </p:nvPicPr>
        <p:blipFill>
          <a:blip r:embed="rId7"/>
          <a:stretch>
            <a:fillRect/>
          </a:stretch>
        </p:blipFill>
        <p:spPr>
          <a:xfrm>
            <a:off x="8610600" y="2006600"/>
            <a:ext cx="254000" cy="254000"/>
          </a:xfrm>
          <a:prstGeom prst="rect">
            <a:avLst/>
          </a:prstGeom>
        </p:spPr>
      </p:pic>
      <p:sp>
        <p:nvSpPr>
          <p:cNvPr id="30" name="TextBox 29"/>
          <p:cNvSpPr txBox="1"/>
          <p:nvPr/>
        </p:nvSpPr>
        <p:spPr>
          <a:xfrm>
            <a:off x="7933267"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E</a:t>
            </a:r>
          </a:p>
          <a:p>
            <a:pPr algn="ctr">
              <a:lnSpc>
                <a:spcPct val="100000"/>
              </a:lnSpc>
              <a:spcAft>
                <a:spcPts val="0"/>
              </a:spcAft>
            </a:pPr>
            <a:r>
              <a:rPr sz="1400" b="1">
                <a:solidFill>
                  <a:srgbClr val="0F172A"/>
                </a:solidFill>
                <a:latin typeface="IBM Plex Sans"/>
              </a:rPr>
              <a:t>Voting</a:t>
            </a:r>
          </a:p>
        </p:txBody>
      </p:sp>
      <p:sp>
        <p:nvSpPr>
          <p:cNvPr id="31" name="TextBox 30"/>
          <p:cNvSpPr txBox="1"/>
          <p:nvPr/>
        </p:nvSpPr>
        <p:spPr>
          <a:xfrm>
            <a:off x="7933267"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Analyse proposals on public information</a:t>
            </a:r>
          </a:p>
          <a:p>
            <a:pPr>
              <a:lnSpc>
                <a:spcPct val="112500"/>
              </a:lnSpc>
              <a:spcAft>
                <a:spcPts val="400"/>
              </a:spcAft>
            </a:pPr>
            <a:r>
              <a:rPr sz="1200" b="0">
                <a:solidFill>
                  <a:srgbClr val="0F172A"/>
                </a:solidFill>
                <a:latin typeface="IBM Plex Sans"/>
              </a:rPr>
              <a:t>2. Apply voting controls</a:t>
            </a:r>
          </a:p>
        </p:txBody>
      </p:sp>
      <p:sp>
        <p:nvSpPr>
          <p:cNvPr id="32" name="Rectangle 3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33" name="Picture 32" descr="arrowhead.png"/>
          <p:cNvPicPr>
            <a:picLocks noChangeAspect="1"/>
          </p:cNvPicPr>
          <p:nvPr/>
        </p:nvPicPr>
        <p:blipFill>
          <a:blip r:embed="rId3"/>
          <a:stretch>
            <a:fillRect/>
          </a:stretch>
        </p:blipFill>
        <p:spPr>
          <a:xfrm>
            <a:off x="10092267" y="2082800"/>
            <a:ext cx="76200" cy="101600"/>
          </a:xfrm>
          <a:prstGeom prst="rect">
            <a:avLst/>
          </a:prstGeom>
        </p:spPr>
      </p:pic>
      <p:sp>
        <p:nvSpPr>
          <p:cNvPr id="34" name="Oval 33"/>
          <p:cNvSpPr/>
          <p:nvPr/>
        </p:nvSpPr>
        <p:spPr>
          <a:xfrm>
            <a:off x="10219267" y="1854200"/>
            <a:ext cx="558800" cy="558800"/>
          </a:xfrm>
          <a:prstGeom prst="ellipse">
            <a:avLst/>
          </a:prstGeom>
          <a:solidFill>
            <a:srgbClr val="0F172A"/>
          </a:solidFill>
          <a:ln>
            <a:noFill/>
          </a:ln>
          <a:effectLst/>
        </p:spPr>
        <p:txBody>
          <a:bodyPr rtlCol="0" anchor="ctr"/>
          <a:lstStyle/>
          <a:p>
            <a:pPr algn="ctr"/>
          </a:p>
        </p:txBody>
      </p:sp>
      <p:pic>
        <p:nvPicPr>
          <p:cNvPr id="35" name="Picture 34" descr="send-FFFFFF.png"/>
          <p:cNvPicPr>
            <a:picLocks noChangeAspect="1"/>
          </p:cNvPicPr>
          <p:nvPr/>
        </p:nvPicPr>
        <p:blipFill>
          <a:blip r:embed="rId8"/>
          <a:stretch>
            <a:fillRect/>
          </a:stretch>
        </p:blipFill>
        <p:spPr>
          <a:xfrm>
            <a:off x="10371667" y="2006600"/>
            <a:ext cx="254000" cy="254000"/>
          </a:xfrm>
          <a:prstGeom prst="rect">
            <a:avLst/>
          </a:prstGeom>
        </p:spPr>
      </p:pic>
      <p:sp>
        <p:nvSpPr>
          <p:cNvPr id="36" name="TextBox 35"/>
          <p:cNvSpPr txBox="1"/>
          <p:nvPr/>
        </p:nvSpPr>
        <p:spPr>
          <a:xfrm>
            <a:off x="9694333" y="2514600"/>
            <a:ext cx="1608667" cy="704850"/>
          </a:xfrm>
          <a:prstGeom prst="rect">
            <a:avLst/>
          </a:prstGeom>
          <a:noFill/>
        </p:spPr>
        <p:txBody>
          <a:bodyPr wrap="square" lIns="0" rIns="0" tIns="0" bIns="0" anchor="t">
            <a:spAutoFit/>
          </a:bodyPr>
          <a:lstStyle/>
          <a:p>
            <a:pPr algn="ctr">
              <a:lnSpc>
                <a:spcPct val="108333"/>
              </a:lnSpc>
              <a:spcAft>
                <a:spcPts val="200"/>
              </a:spcAft>
            </a:pPr>
            <a:r>
              <a:rPr sz="1200" b="0">
                <a:solidFill>
                  <a:srgbClr val="15803D"/>
                </a:solidFill>
                <a:latin typeface="IBM Plex Mono"/>
              </a:rPr>
              <a:t>STAGE F</a:t>
            </a:r>
          </a:p>
          <a:p>
            <a:pPr algn="ctr">
              <a:lnSpc>
                <a:spcPct val="100000"/>
              </a:lnSpc>
              <a:spcAft>
                <a:spcPts val="0"/>
              </a:spcAft>
            </a:pPr>
            <a:r>
              <a:rPr sz="1400" b="1">
                <a:solidFill>
                  <a:srgbClr val="0F172A"/>
                </a:solidFill>
                <a:latin typeface="IBM Plex Sans"/>
              </a:rPr>
              <a:t>RFP and disclosure</a:t>
            </a:r>
          </a:p>
        </p:txBody>
      </p:sp>
      <p:sp>
        <p:nvSpPr>
          <p:cNvPr id="37" name="TextBox 36"/>
          <p:cNvSpPr txBox="1"/>
          <p:nvPr/>
        </p:nvSpPr>
        <p:spPr>
          <a:xfrm>
            <a:off x="9694333" y="3346450"/>
            <a:ext cx="1608667" cy="2476500"/>
          </a:xfrm>
          <a:prstGeom prst="rect">
            <a:avLst/>
          </a:prstGeom>
          <a:noFill/>
        </p:spPr>
        <p:txBody>
          <a:bodyPr wrap="square" lIns="0" rIns="0" tIns="0" bIns="0" anchor="t">
            <a:spAutoFit/>
          </a:bodyPr>
          <a:lstStyle/>
          <a:p>
            <a:pPr>
              <a:lnSpc>
                <a:spcPct val="112500"/>
              </a:lnSpc>
              <a:spcAft>
                <a:spcPts val="400"/>
              </a:spcAft>
            </a:pPr>
            <a:r>
              <a:rPr sz="1200" b="0">
                <a:solidFill>
                  <a:srgbClr val="0F172A"/>
                </a:solidFill>
                <a:latin typeface="IBM Plex Sans"/>
              </a:rPr>
              <a:t>1. Answer RFPs</a:t>
            </a:r>
          </a:p>
          <a:p>
            <a:pPr>
              <a:lnSpc>
                <a:spcPct val="112500"/>
              </a:lnSpc>
              <a:spcAft>
                <a:spcPts val="400"/>
              </a:spcAft>
            </a:pPr>
            <a:r>
              <a:rPr sz="1200" b="0">
                <a:solidFill>
                  <a:srgbClr val="0F172A"/>
                </a:solidFill>
                <a:latin typeface="IBM Plex Sans"/>
              </a:rPr>
              <a:t>2. Disclose stewardship activity</a:t>
            </a:r>
          </a:p>
        </p:txBody>
      </p:sp>
      <p:sp>
        <p:nvSpPr>
          <p:cNvPr id="38" name="TextBox 3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9" name="TextBox 3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Foundation and monitoring</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compass-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  Foundation</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Spot emerging themes</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Emerging Themes Scanner: EDGAR, GDELT, RSS; context brief</a:t>
            </a:r>
          </a:p>
        </p:txBody>
      </p:sp>
      <p:pic>
        <p:nvPicPr>
          <p:cNvPr id="14" name="Picture 13" descr="circle-check-15803D.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Activities and taxonomy</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Taxonomy Library: five methods, ratified versions</a:t>
            </a:r>
          </a:p>
        </p:txBody>
      </p:sp>
      <p:pic>
        <p:nvPicPr>
          <p:cNvPr id="19" name="Picture 18" descr="circle-check-15803D.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Develop positions</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research note live; position drafting specified</a:t>
            </a:r>
          </a:p>
        </p:txBody>
      </p:sp>
      <p:pic>
        <p:nvPicPr>
          <p:cNvPr id="24" name="Picture 23" descr="contrast-B45309.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Set standards</a:t>
            </a:r>
          </a:p>
        </p:txBody>
      </p:sp>
      <p:sp>
        <p:nvSpPr>
          <p:cNvPr id="28" name="TextBox 27"/>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Position-and-standards step: approved spec, not built</a:t>
            </a:r>
          </a:p>
        </p:txBody>
      </p:sp>
      <p:pic>
        <p:nvPicPr>
          <p:cNvPr id="29" name="Picture 28" descr="circle-dashed-475569.png"/>
          <p:cNvPicPr>
            <a:picLocks noChangeAspect="1"/>
          </p:cNvPicPr>
          <p:nvPr/>
        </p:nvPicPr>
        <p:blipFill>
          <a:blip r:embed="rId5"/>
          <a:stretch>
            <a:fillRect/>
          </a:stretch>
        </p:blipFill>
        <p:spPr>
          <a:xfrm>
            <a:off x="10172700" y="3251200"/>
            <a:ext cx="152400" cy="152400"/>
          </a:xfrm>
          <a:prstGeom prst="rect">
            <a:avLst/>
          </a:prstGeom>
        </p:spPr>
      </p:pic>
      <p:sp>
        <p:nvSpPr>
          <p:cNvPr id="30" name="TextBox 29"/>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Mono"/>
              </a:rPr>
              <a:t>SPECIFIED</a:t>
            </a:r>
          </a:p>
        </p:txBody>
      </p:sp>
      <p:sp>
        <p:nvSpPr>
          <p:cNvPr id="31" name="Rectangle 30"/>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2" name="TextBox 31"/>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Data framework, scoring</a:t>
            </a:r>
          </a:p>
        </p:txBody>
      </p:sp>
      <p:sp>
        <p:nvSpPr>
          <p:cNvPr id="33" name="TextBox 32"/>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Schema per ratified taxonomy; Decision Studio scoring</a:t>
            </a:r>
          </a:p>
        </p:txBody>
      </p:sp>
      <p:pic>
        <p:nvPicPr>
          <p:cNvPr id="34" name="Picture 33" descr="circle-check-15803D.png"/>
          <p:cNvPicPr>
            <a:picLocks noChangeAspect="1"/>
          </p:cNvPicPr>
          <p:nvPr/>
        </p:nvPicPr>
        <p:blipFill>
          <a:blip r:embed="rId3"/>
          <a:stretch>
            <a:fillRect/>
          </a:stretch>
        </p:blipFill>
        <p:spPr>
          <a:xfrm>
            <a:off x="10172700" y="3600450"/>
            <a:ext cx="152400" cy="152400"/>
          </a:xfrm>
          <a:prstGeom prst="rect">
            <a:avLst/>
          </a:prstGeom>
        </p:spPr>
      </p:pic>
      <p:sp>
        <p:nvSpPr>
          <p:cNvPr id="35" name="TextBox 34"/>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36" name="Rectangle 35"/>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37" name="Oval 36"/>
          <p:cNvSpPr/>
          <p:nvPr/>
        </p:nvSpPr>
        <p:spPr>
          <a:xfrm>
            <a:off x="812800" y="3924300"/>
            <a:ext cx="203200" cy="203200"/>
          </a:xfrm>
          <a:prstGeom prst="ellipse">
            <a:avLst/>
          </a:prstGeom>
          <a:solidFill>
            <a:srgbClr val="0F172A"/>
          </a:solidFill>
          <a:ln>
            <a:noFill/>
          </a:ln>
          <a:effectLst/>
        </p:spPr>
        <p:txBody>
          <a:bodyPr rtlCol="0" anchor="ctr"/>
          <a:lstStyle/>
          <a:p>
            <a:pPr algn="ctr"/>
          </a:p>
        </p:txBody>
      </p:sp>
      <p:pic>
        <p:nvPicPr>
          <p:cNvPr id="38" name="Picture 37" descr="radar-FFFFFF.png"/>
          <p:cNvPicPr>
            <a:picLocks noChangeAspect="1"/>
          </p:cNvPicPr>
          <p:nvPr/>
        </p:nvPicPr>
        <p:blipFill>
          <a:blip r:embed="rId6"/>
          <a:stretch>
            <a:fillRect/>
          </a:stretch>
        </p:blipFill>
        <p:spPr>
          <a:xfrm>
            <a:off x="857250" y="3968750"/>
            <a:ext cx="114300" cy="114300"/>
          </a:xfrm>
          <a:prstGeom prst="rect">
            <a:avLst/>
          </a:prstGeom>
        </p:spPr>
      </p:pic>
      <p:sp>
        <p:nvSpPr>
          <p:cNvPr id="39" name="TextBox 38"/>
          <p:cNvSpPr txBox="1"/>
          <p:nvPr/>
        </p:nvSpPr>
        <p:spPr>
          <a:xfrm>
            <a:off x="1066800" y="39243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B  Monitoring</a:t>
            </a: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companies</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Monthly holdings, alerts, triggers; vendor data is sample</a:t>
            </a:r>
          </a:p>
        </p:txBody>
      </p:sp>
      <p:pic>
        <p:nvPicPr>
          <p:cNvPr id="42" name="Picture 41" descr="contrast-B45309.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TextBox 44"/>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Plans and barriers</a:t>
            </a:r>
          </a:p>
        </p:txBody>
      </p:sp>
      <p:sp>
        <p:nvSpPr>
          <p:cNvPr id="46" name="TextBox 45"/>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64 indicators, plan alignment checks, barrier matrix</a:t>
            </a:r>
          </a:p>
        </p:txBody>
      </p:sp>
      <p:pic>
        <p:nvPicPr>
          <p:cNvPr id="47" name="Picture 46" descr="circle-check-15803D.png"/>
          <p:cNvPicPr>
            <a:picLocks noChangeAspect="1"/>
          </p:cNvPicPr>
          <p:nvPr/>
        </p:nvPicPr>
        <p:blipFill>
          <a:blip r:embed="rId3"/>
          <a:stretch>
            <a:fillRect/>
          </a:stretch>
        </p:blipFill>
        <p:spPr>
          <a:xfrm>
            <a:off x="10172700" y="4298950"/>
            <a:ext cx="152400" cy="152400"/>
          </a:xfrm>
          <a:prstGeom prst="rect">
            <a:avLst/>
          </a:prstGeom>
        </p:spPr>
      </p:pic>
      <p:sp>
        <p:nvSpPr>
          <p:cNvPr id="48" name="TextBox 47"/>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9" name="Rectangle 48"/>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0" name="TextBox 49"/>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Select on gaps</a:t>
            </a:r>
          </a:p>
        </p:txBody>
      </p:sp>
      <p:sp>
        <p:nvSpPr>
          <p:cNvPr id="51" name="TextBox 50"/>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Decision Studio tiers feed selection; standards pending</a:t>
            </a:r>
          </a:p>
        </p:txBody>
      </p:sp>
      <p:pic>
        <p:nvPicPr>
          <p:cNvPr id="52" name="Picture 51" descr="contrast-B45309.png"/>
          <p:cNvPicPr>
            <a:picLocks noChangeAspect="1"/>
          </p:cNvPicPr>
          <p:nvPr/>
        </p:nvPicPr>
        <p:blipFill>
          <a:blip r:embed="rId4"/>
          <a:stretch>
            <a:fillRect/>
          </a:stretch>
        </p:blipFill>
        <p:spPr>
          <a:xfrm>
            <a:off x="10172700" y="4648200"/>
            <a:ext cx="152400" cy="152400"/>
          </a:xfrm>
          <a:prstGeom prst="rect">
            <a:avLst/>
          </a:prstGeom>
        </p:spPr>
      </p:pic>
      <p:sp>
        <p:nvSpPr>
          <p:cNvPr id="53" name="TextBox 52"/>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4" name="Rectangle 53"/>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5" name="TextBox 5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6" name="TextBox 5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39</a:t>
            </a:r>
          </a:p>
        </p:txBody>
      </p:sp>
      <p:pic>
        <p:nvPicPr>
          <p:cNvPr id="57" name="Picture 56" descr="circle-check-15803D.png"/>
          <p:cNvPicPr>
            <a:picLocks noChangeAspect="1"/>
          </p:cNvPicPr>
          <p:nvPr/>
        </p:nvPicPr>
        <p:blipFill>
          <a:blip r:embed="rId3"/>
          <a:stretch>
            <a:fillRect/>
          </a:stretch>
        </p:blipFill>
        <p:spPr>
          <a:xfrm>
            <a:off x="4800600" y="6280150"/>
            <a:ext cx="152400" cy="152400"/>
          </a:xfrm>
          <a:prstGeom prst="rect">
            <a:avLst/>
          </a:prstGeom>
        </p:spPr>
      </p:pic>
      <p:sp>
        <p:nvSpPr>
          <p:cNvPr id="58" name="TextBox 57"/>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59" name="Picture 58" descr="contrast-B45309.png"/>
          <p:cNvPicPr>
            <a:picLocks noChangeAspect="1"/>
          </p:cNvPicPr>
          <p:nvPr/>
        </p:nvPicPr>
        <p:blipFill>
          <a:blip r:embed="rId4"/>
          <a:stretch>
            <a:fillRect/>
          </a:stretch>
        </p:blipFill>
        <p:spPr>
          <a:xfrm>
            <a:off x="5562600" y="6280150"/>
            <a:ext cx="152400" cy="152400"/>
          </a:xfrm>
          <a:prstGeom prst="rect">
            <a:avLst/>
          </a:prstGeom>
        </p:spPr>
      </p:pic>
      <p:sp>
        <p:nvSpPr>
          <p:cNvPr id="60" name="TextBox 59"/>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61" name="Picture 60" descr="circle-dashed-475569.png"/>
          <p:cNvPicPr>
            <a:picLocks noChangeAspect="1"/>
          </p:cNvPicPr>
          <p:nvPr/>
        </p:nvPicPr>
        <p:blipFill>
          <a:blip r:embed="rId5"/>
          <a:stretch>
            <a:fillRect/>
          </a:stretch>
        </p:blipFill>
        <p:spPr>
          <a:xfrm>
            <a:off x="6527800" y="6280150"/>
            <a:ext cx="152400" cy="152400"/>
          </a:xfrm>
          <a:prstGeom prst="rect">
            <a:avLst/>
          </a:prstGeom>
        </p:spPr>
      </p:pic>
      <p:sp>
        <p:nvSpPr>
          <p:cNvPr id="62" name="TextBox 61"/>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STEWARDSHIP · WHERE ARP STANDS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follow-up, voting and disclosure</a:t>
            </a:r>
          </a:p>
        </p:txBody>
      </p:sp>
      <p:sp>
        <p:nvSpPr>
          <p:cNvPr id="4" name="TextBox 3"/>
          <p:cNvSpPr txBox="1"/>
          <p:nvPr/>
        </p:nvSpPr>
        <p:spPr>
          <a:xfrm>
            <a:off x="812800" y="1854200"/>
            <a:ext cx="1587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STAGE</a:t>
            </a:r>
          </a:p>
        </p:txBody>
      </p:sp>
      <p:sp>
        <p:nvSpPr>
          <p:cNvPr id="5" name="TextBox 4"/>
          <p:cNvSpPr txBox="1"/>
          <p:nvPr/>
        </p:nvSpPr>
        <p:spPr>
          <a:xfrm>
            <a:off x="2552700" y="1854200"/>
            <a:ext cx="2095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STEP</a:t>
            </a:r>
          </a:p>
        </p:txBody>
      </p:sp>
      <p:sp>
        <p:nvSpPr>
          <p:cNvPr id="6" name="TextBox 5"/>
          <p:cNvSpPr txBox="1"/>
          <p:nvPr/>
        </p:nvSpPr>
        <p:spPr>
          <a:xfrm>
            <a:off x="4800600" y="1854200"/>
            <a:ext cx="52197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WHAT ARP DOES TODAY</a:t>
            </a:r>
          </a:p>
        </p:txBody>
      </p:sp>
      <p:sp>
        <p:nvSpPr>
          <p:cNvPr id="7" name="TextBox 6"/>
          <p:cNvSpPr txBox="1"/>
          <p:nvPr/>
        </p:nvSpPr>
        <p:spPr>
          <a:xfrm>
            <a:off x="10172700" y="1854200"/>
            <a:ext cx="12065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STATUS</a:t>
            </a:r>
          </a:p>
        </p:txBody>
      </p:sp>
      <p:sp>
        <p:nvSpPr>
          <p:cNvPr id="8" name="Rectangle 7"/>
          <p:cNvSpPr/>
          <p:nvPr/>
        </p:nvSpPr>
        <p:spPr>
          <a:xfrm>
            <a:off x="812800" y="2114550"/>
            <a:ext cx="10566400" cy="6350"/>
          </a:xfrm>
          <a:prstGeom prst="rect">
            <a:avLst/>
          </a:prstGeom>
          <a:solidFill>
            <a:srgbClr val="94A3B8"/>
          </a:solidFill>
          <a:ln>
            <a:noFill/>
          </a:ln>
          <a:effectLst/>
        </p:spPr>
        <p:txBody>
          <a:bodyPr rtlCol="0" anchor="ctr"/>
          <a:lstStyle/>
          <a:p>
            <a:pPr algn="ctr"/>
          </a:p>
        </p:txBody>
      </p:sp>
      <p:sp>
        <p:nvSpPr>
          <p:cNvPr id="9" name="Oval 8"/>
          <p:cNvSpPr/>
          <p:nvPr/>
        </p:nvSpPr>
        <p:spPr>
          <a:xfrm>
            <a:off x="812800" y="2178050"/>
            <a:ext cx="203200" cy="203200"/>
          </a:xfrm>
          <a:prstGeom prst="ellipse">
            <a:avLst/>
          </a:prstGeom>
          <a:solidFill>
            <a:srgbClr val="0F172A"/>
          </a:solidFill>
          <a:ln>
            <a:noFill/>
          </a:ln>
          <a:effectLst/>
        </p:spPr>
        <p:txBody>
          <a:bodyPr rtlCol="0" anchor="ctr"/>
          <a:lstStyle/>
          <a:p>
            <a:pPr algn="ctr"/>
          </a:p>
        </p:txBody>
      </p:sp>
      <p:pic>
        <p:nvPicPr>
          <p:cNvPr id="10" name="Picture 9" descr="handshake-FFFFFF.png"/>
          <p:cNvPicPr>
            <a:picLocks noChangeAspect="1"/>
          </p:cNvPicPr>
          <p:nvPr/>
        </p:nvPicPr>
        <p:blipFill>
          <a:blip r:embed="rId2"/>
          <a:stretch>
            <a:fillRect/>
          </a:stretch>
        </p:blipFill>
        <p:spPr>
          <a:xfrm>
            <a:off x="857250" y="2222500"/>
            <a:ext cx="114300" cy="114300"/>
          </a:xfrm>
          <a:prstGeom prst="rect">
            <a:avLst/>
          </a:prstGeom>
        </p:spPr>
      </p:pic>
      <p:sp>
        <p:nvSpPr>
          <p:cNvPr id="11" name="TextBox 10"/>
          <p:cNvSpPr txBox="1"/>
          <p:nvPr/>
        </p:nvSpPr>
        <p:spPr>
          <a:xfrm>
            <a:off x="1066800" y="2178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C  Engagement</a:t>
            </a:r>
          </a:p>
        </p:txBody>
      </p:sp>
      <p:sp>
        <p:nvSpPr>
          <p:cNvPr id="12" name="TextBox 11"/>
          <p:cNvSpPr txBox="1"/>
          <p:nvPr/>
        </p:nvSpPr>
        <p:spPr>
          <a:xfrm>
            <a:off x="2552700" y="2178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Prepare the engagement</a:t>
            </a:r>
          </a:p>
        </p:txBody>
      </p:sp>
      <p:sp>
        <p:nvSpPr>
          <p:cNvPr id="13" name="TextBox 12"/>
          <p:cNvSpPr txBox="1"/>
          <p:nvPr/>
        </p:nvSpPr>
        <p:spPr>
          <a:xfrm>
            <a:off x="4800600" y="2178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Research dossier and history; news sits in Feeds</a:t>
            </a:r>
          </a:p>
        </p:txBody>
      </p:sp>
      <p:pic>
        <p:nvPicPr>
          <p:cNvPr id="14" name="Picture 13" descr="contrast-B45309.png"/>
          <p:cNvPicPr>
            <a:picLocks noChangeAspect="1"/>
          </p:cNvPicPr>
          <p:nvPr/>
        </p:nvPicPr>
        <p:blipFill>
          <a:blip r:embed="rId3"/>
          <a:stretch>
            <a:fillRect/>
          </a:stretch>
        </p:blipFill>
        <p:spPr>
          <a:xfrm>
            <a:off x="10172700" y="2203450"/>
            <a:ext cx="152400" cy="152400"/>
          </a:xfrm>
          <a:prstGeom prst="rect">
            <a:avLst/>
          </a:prstGeom>
        </p:spPr>
      </p:pic>
      <p:sp>
        <p:nvSpPr>
          <p:cNvPr id="15" name="TextBox 14"/>
          <p:cNvSpPr txBox="1"/>
          <p:nvPr/>
        </p:nvSpPr>
        <p:spPr>
          <a:xfrm>
            <a:off x="10375900" y="2178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16" name="Rectangle 15"/>
          <p:cNvSpPr/>
          <p:nvPr/>
        </p:nvSpPr>
        <p:spPr>
          <a:xfrm>
            <a:off x="812800" y="2463800"/>
            <a:ext cx="10566400" cy="6350"/>
          </a:xfrm>
          <a:prstGeom prst="rect">
            <a:avLst/>
          </a:prstGeom>
          <a:solidFill>
            <a:srgbClr val="E2E8F0"/>
          </a:solidFill>
          <a:ln>
            <a:noFill/>
          </a:ln>
          <a:effectLst/>
        </p:spPr>
        <p:txBody>
          <a:bodyPr rtlCol="0" anchor="ctr"/>
          <a:lstStyle/>
          <a:p>
            <a:pPr algn="ctr"/>
          </a:p>
        </p:txBody>
      </p:sp>
      <p:sp>
        <p:nvSpPr>
          <p:cNvPr id="17" name="TextBox 16"/>
          <p:cNvSpPr txBox="1"/>
          <p:nvPr/>
        </p:nvSpPr>
        <p:spPr>
          <a:xfrm>
            <a:off x="2552700" y="2527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Letters, emails, invites</a:t>
            </a:r>
          </a:p>
        </p:txBody>
      </p:sp>
      <p:sp>
        <p:nvSpPr>
          <p:cNvPr id="18" name="TextBox 17"/>
          <p:cNvSpPr txBox="1"/>
          <p:nvPr/>
        </p:nvSpPr>
        <p:spPr>
          <a:xfrm>
            <a:off x="4800600" y="2527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Drafting agent writes letters; a person sends them</a:t>
            </a:r>
          </a:p>
        </p:txBody>
      </p:sp>
      <p:pic>
        <p:nvPicPr>
          <p:cNvPr id="19" name="Picture 18" descr="contrast-B45309.png"/>
          <p:cNvPicPr>
            <a:picLocks noChangeAspect="1"/>
          </p:cNvPicPr>
          <p:nvPr/>
        </p:nvPicPr>
        <p:blipFill>
          <a:blip r:embed="rId3"/>
          <a:stretch>
            <a:fillRect/>
          </a:stretch>
        </p:blipFill>
        <p:spPr>
          <a:xfrm>
            <a:off x="10172700" y="2552700"/>
            <a:ext cx="152400" cy="152400"/>
          </a:xfrm>
          <a:prstGeom prst="rect">
            <a:avLst/>
          </a:prstGeom>
        </p:spPr>
      </p:pic>
      <p:sp>
        <p:nvSpPr>
          <p:cNvPr id="20" name="TextBox 19"/>
          <p:cNvSpPr txBox="1"/>
          <p:nvPr/>
        </p:nvSpPr>
        <p:spPr>
          <a:xfrm>
            <a:off x="10375900" y="2527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21" name="Rectangle 20"/>
          <p:cNvSpPr/>
          <p:nvPr/>
        </p:nvSpPr>
        <p:spPr>
          <a:xfrm>
            <a:off x="812800" y="2813050"/>
            <a:ext cx="10566400" cy="6350"/>
          </a:xfrm>
          <a:prstGeom prst="rect">
            <a:avLst/>
          </a:prstGeom>
          <a:solidFill>
            <a:srgbClr val="E2E8F0"/>
          </a:solidFill>
          <a:ln>
            <a:noFill/>
          </a:ln>
          <a:effectLst/>
        </p:spPr>
        <p:txBody>
          <a:bodyPr rtlCol="0" anchor="ctr"/>
          <a:lstStyle/>
          <a:p>
            <a:pPr algn="ctr"/>
          </a:p>
        </p:txBody>
      </p:sp>
      <p:sp>
        <p:nvSpPr>
          <p:cNvPr id="22" name="TextBox 21"/>
          <p:cNvSpPr txBox="1"/>
          <p:nvPr/>
        </p:nvSpPr>
        <p:spPr>
          <a:xfrm>
            <a:off x="2552700" y="2876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Document the meeting</a:t>
            </a:r>
          </a:p>
        </p:txBody>
      </p:sp>
      <p:sp>
        <p:nvSpPr>
          <p:cNvPr id="23" name="TextBox 22"/>
          <p:cNvSpPr txBox="1"/>
          <p:nvPr/>
        </p:nvSpPr>
        <p:spPr>
          <a:xfrm>
            <a:off x="4800600" y="2876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Drafted meeting summary; validated notes log commitments</a:t>
            </a:r>
          </a:p>
        </p:txBody>
      </p:sp>
      <p:pic>
        <p:nvPicPr>
          <p:cNvPr id="24" name="Picture 23" descr="circle-check-15803D.png"/>
          <p:cNvPicPr>
            <a:picLocks noChangeAspect="1"/>
          </p:cNvPicPr>
          <p:nvPr/>
        </p:nvPicPr>
        <p:blipFill>
          <a:blip r:embed="rId4"/>
          <a:stretch>
            <a:fillRect/>
          </a:stretch>
        </p:blipFill>
        <p:spPr>
          <a:xfrm>
            <a:off x="10172700" y="2901950"/>
            <a:ext cx="152400" cy="152400"/>
          </a:xfrm>
          <a:prstGeom prst="rect">
            <a:avLst/>
          </a:prstGeom>
        </p:spPr>
      </p:pic>
      <p:sp>
        <p:nvSpPr>
          <p:cNvPr id="25" name="TextBox 24"/>
          <p:cNvSpPr txBox="1"/>
          <p:nvPr/>
        </p:nvSpPr>
        <p:spPr>
          <a:xfrm>
            <a:off x="10375900" y="2876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26" name="Rectangle 25"/>
          <p:cNvSpPr/>
          <p:nvPr/>
        </p:nvSpPr>
        <p:spPr>
          <a:xfrm>
            <a:off x="812800" y="3162300"/>
            <a:ext cx="10566400" cy="6350"/>
          </a:xfrm>
          <a:prstGeom prst="rect">
            <a:avLst/>
          </a:prstGeom>
          <a:solidFill>
            <a:srgbClr val="E2E8F0"/>
          </a:solidFill>
          <a:ln>
            <a:noFill/>
          </a:ln>
          <a:effectLst/>
        </p:spPr>
        <p:txBody>
          <a:bodyPr rtlCol="0" anchor="ctr"/>
          <a:lstStyle/>
          <a:p>
            <a:pPr algn="ctr"/>
          </a:p>
        </p:txBody>
      </p:sp>
      <p:sp>
        <p:nvSpPr>
          <p:cNvPr id="27" name="Oval 26"/>
          <p:cNvSpPr/>
          <p:nvPr/>
        </p:nvSpPr>
        <p:spPr>
          <a:xfrm>
            <a:off x="812800" y="3225800"/>
            <a:ext cx="203200" cy="203200"/>
          </a:xfrm>
          <a:prstGeom prst="ellipse">
            <a:avLst/>
          </a:prstGeom>
          <a:solidFill>
            <a:srgbClr val="0F172A"/>
          </a:solidFill>
          <a:ln>
            <a:noFill/>
          </a:ln>
          <a:effectLst/>
        </p:spPr>
        <p:txBody>
          <a:bodyPr rtlCol="0" anchor="ctr"/>
          <a:lstStyle/>
          <a:p>
            <a:pPr algn="ctr"/>
          </a:p>
        </p:txBody>
      </p:sp>
      <p:pic>
        <p:nvPicPr>
          <p:cNvPr id="28" name="Picture 27" descr="trending-up-FFFFFF.png"/>
          <p:cNvPicPr>
            <a:picLocks noChangeAspect="1"/>
          </p:cNvPicPr>
          <p:nvPr/>
        </p:nvPicPr>
        <p:blipFill>
          <a:blip r:embed="rId5"/>
          <a:stretch>
            <a:fillRect/>
          </a:stretch>
        </p:blipFill>
        <p:spPr>
          <a:xfrm>
            <a:off x="857250" y="3270250"/>
            <a:ext cx="114300" cy="114300"/>
          </a:xfrm>
          <a:prstGeom prst="rect">
            <a:avLst/>
          </a:prstGeom>
        </p:spPr>
      </p:pic>
      <p:sp>
        <p:nvSpPr>
          <p:cNvPr id="29" name="TextBox 28"/>
          <p:cNvSpPr txBox="1"/>
          <p:nvPr/>
        </p:nvSpPr>
        <p:spPr>
          <a:xfrm>
            <a:off x="1066800" y="322580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  Follow-up</a:t>
            </a:r>
          </a:p>
        </p:txBody>
      </p:sp>
      <p:sp>
        <p:nvSpPr>
          <p:cNvPr id="30" name="TextBox 29"/>
          <p:cNvSpPr txBox="1"/>
          <p:nvPr/>
        </p:nvSpPr>
        <p:spPr>
          <a:xfrm>
            <a:off x="2552700" y="3225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Monitor progress</a:t>
            </a:r>
          </a:p>
        </p:txBody>
      </p:sp>
      <p:sp>
        <p:nvSpPr>
          <p:cNvPr id="31" name="TextBox 30"/>
          <p:cNvSpPr txBox="1"/>
          <p:nvPr/>
        </p:nvSpPr>
        <p:spPr>
          <a:xfrm>
            <a:off x="4800600" y="3225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Milestone tracking; 45-day stall sweep run on demand</a:t>
            </a:r>
          </a:p>
        </p:txBody>
      </p:sp>
      <p:pic>
        <p:nvPicPr>
          <p:cNvPr id="32" name="Picture 31" descr="contrast-B45309.png"/>
          <p:cNvPicPr>
            <a:picLocks noChangeAspect="1"/>
          </p:cNvPicPr>
          <p:nvPr/>
        </p:nvPicPr>
        <p:blipFill>
          <a:blip r:embed="rId3"/>
          <a:stretch>
            <a:fillRect/>
          </a:stretch>
        </p:blipFill>
        <p:spPr>
          <a:xfrm>
            <a:off x="10172700" y="3251200"/>
            <a:ext cx="152400" cy="152400"/>
          </a:xfrm>
          <a:prstGeom prst="rect">
            <a:avLst/>
          </a:prstGeom>
        </p:spPr>
      </p:pic>
      <p:sp>
        <p:nvSpPr>
          <p:cNvPr id="33" name="TextBox 32"/>
          <p:cNvSpPr txBox="1"/>
          <p:nvPr/>
        </p:nvSpPr>
        <p:spPr>
          <a:xfrm>
            <a:off x="10375900" y="3225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4" name="Rectangle 33"/>
          <p:cNvSpPr/>
          <p:nvPr/>
        </p:nvSpPr>
        <p:spPr>
          <a:xfrm>
            <a:off x="812800" y="3511550"/>
            <a:ext cx="10566400" cy="6350"/>
          </a:xfrm>
          <a:prstGeom prst="rect">
            <a:avLst/>
          </a:prstGeom>
          <a:solidFill>
            <a:srgbClr val="E2E8F0"/>
          </a:solidFill>
          <a:ln>
            <a:noFill/>
          </a:ln>
          <a:effectLst/>
        </p:spPr>
        <p:txBody>
          <a:bodyPr rtlCol="0" anchor="ctr"/>
          <a:lstStyle/>
          <a:p>
            <a:pPr algn="ctr"/>
          </a:p>
        </p:txBody>
      </p:sp>
      <p:sp>
        <p:nvSpPr>
          <p:cNvPr id="35" name="TextBox 34"/>
          <p:cNvSpPr txBox="1"/>
          <p:nvPr/>
        </p:nvSpPr>
        <p:spPr>
          <a:xfrm>
            <a:off x="2552700" y="3575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Find, verify evidence</a:t>
            </a:r>
          </a:p>
        </p:txBody>
      </p:sp>
      <p:sp>
        <p:nvSpPr>
          <p:cNvPr id="36" name="TextBox 35"/>
          <p:cNvSpPr txBox="1"/>
          <p:nvPr/>
        </p:nvSpPr>
        <p:spPr>
          <a:xfrm>
            <a:off x="4800600" y="3575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Cited extraction re-reads reports; linking is manual</a:t>
            </a:r>
          </a:p>
        </p:txBody>
      </p:sp>
      <p:pic>
        <p:nvPicPr>
          <p:cNvPr id="37" name="Picture 36" descr="contrast-B45309.png"/>
          <p:cNvPicPr>
            <a:picLocks noChangeAspect="1"/>
          </p:cNvPicPr>
          <p:nvPr/>
        </p:nvPicPr>
        <p:blipFill>
          <a:blip r:embed="rId3"/>
          <a:stretch>
            <a:fillRect/>
          </a:stretch>
        </p:blipFill>
        <p:spPr>
          <a:xfrm>
            <a:off x="10172700" y="3600450"/>
            <a:ext cx="152400" cy="152400"/>
          </a:xfrm>
          <a:prstGeom prst="rect">
            <a:avLst/>
          </a:prstGeom>
        </p:spPr>
      </p:pic>
      <p:sp>
        <p:nvSpPr>
          <p:cNvPr id="38" name="TextBox 37"/>
          <p:cNvSpPr txBox="1"/>
          <p:nvPr/>
        </p:nvSpPr>
        <p:spPr>
          <a:xfrm>
            <a:off x="10375900" y="3575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39" name="Rectangle 38"/>
          <p:cNvSpPr/>
          <p:nvPr/>
        </p:nvSpPr>
        <p:spPr>
          <a:xfrm>
            <a:off x="812800" y="3860800"/>
            <a:ext cx="10566400" cy="6350"/>
          </a:xfrm>
          <a:prstGeom prst="rect">
            <a:avLst/>
          </a:prstGeom>
          <a:solidFill>
            <a:srgbClr val="E2E8F0"/>
          </a:solidFill>
          <a:ln>
            <a:noFill/>
          </a:ln>
          <a:effectLst/>
        </p:spPr>
        <p:txBody>
          <a:bodyPr rtlCol="0" anchor="ctr"/>
          <a:lstStyle/>
          <a:p>
            <a:pPr algn="ctr"/>
          </a:p>
        </p:txBody>
      </p:sp>
      <p:sp>
        <p:nvSpPr>
          <p:cNvPr id="40" name="TextBox 39"/>
          <p:cNvSpPr txBox="1"/>
          <p:nvPr/>
        </p:nvSpPr>
        <p:spPr>
          <a:xfrm>
            <a:off x="2552700" y="3924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Propose escalation</a:t>
            </a:r>
          </a:p>
        </p:txBody>
      </p:sp>
      <p:sp>
        <p:nvSpPr>
          <p:cNvPr id="41" name="TextBox 40"/>
          <p:cNvSpPr txBox="1"/>
          <p:nvPr/>
        </p:nvSpPr>
        <p:spPr>
          <a:xfrm>
            <a:off x="4800600" y="3924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Escalation rules propose a ladder step; a person decides</a:t>
            </a:r>
          </a:p>
        </p:txBody>
      </p:sp>
      <p:pic>
        <p:nvPicPr>
          <p:cNvPr id="42" name="Picture 41" descr="circle-check-15803D.png"/>
          <p:cNvPicPr>
            <a:picLocks noChangeAspect="1"/>
          </p:cNvPicPr>
          <p:nvPr/>
        </p:nvPicPr>
        <p:blipFill>
          <a:blip r:embed="rId4"/>
          <a:stretch>
            <a:fillRect/>
          </a:stretch>
        </p:blipFill>
        <p:spPr>
          <a:xfrm>
            <a:off x="10172700" y="3949700"/>
            <a:ext cx="152400" cy="152400"/>
          </a:xfrm>
          <a:prstGeom prst="rect">
            <a:avLst/>
          </a:prstGeom>
        </p:spPr>
      </p:pic>
      <p:sp>
        <p:nvSpPr>
          <p:cNvPr id="43" name="TextBox 42"/>
          <p:cNvSpPr txBox="1"/>
          <p:nvPr/>
        </p:nvSpPr>
        <p:spPr>
          <a:xfrm>
            <a:off x="10375900" y="3924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44" name="Rectangle 43"/>
          <p:cNvSpPr/>
          <p:nvPr/>
        </p:nvSpPr>
        <p:spPr>
          <a:xfrm>
            <a:off x="812800" y="4210050"/>
            <a:ext cx="10566400" cy="6350"/>
          </a:xfrm>
          <a:prstGeom prst="rect">
            <a:avLst/>
          </a:prstGeom>
          <a:solidFill>
            <a:srgbClr val="E2E8F0"/>
          </a:solidFill>
          <a:ln>
            <a:noFill/>
          </a:ln>
          <a:effectLst/>
        </p:spPr>
        <p:txBody>
          <a:bodyPr rtlCol="0" anchor="ctr"/>
          <a:lstStyle/>
          <a:p>
            <a:pPr algn="ctr"/>
          </a:p>
        </p:txBody>
      </p:sp>
      <p:sp>
        <p:nvSpPr>
          <p:cNvPr id="45" name="Oval 44"/>
          <p:cNvSpPr/>
          <p:nvPr/>
        </p:nvSpPr>
        <p:spPr>
          <a:xfrm>
            <a:off x="812800" y="4273550"/>
            <a:ext cx="203200" cy="203200"/>
          </a:xfrm>
          <a:prstGeom prst="ellipse">
            <a:avLst/>
          </a:prstGeom>
          <a:solidFill>
            <a:srgbClr val="0F172A"/>
          </a:solidFill>
          <a:ln>
            <a:noFill/>
          </a:ln>
          <a:effectLst/>
        </p:spPr>
        <p:txBody>
          <a:bodyPr rtlCol="0" anchor="ctr"/>
          <a:lstStyle/>
          <a:p>
            <a:pPr algn="ctr"/>
          </a:p>
        </p:txBody>
      </p:sp>
      <p:pic>
        <p:nvPicPr>
          <p:cNvPr id="46" name="Picture 45" descr="vote-FFFFFF.png"/>
          <p:cNvPicPr>
            <a:picLocks noChangeAspect="1"/>
          </p:cNvPicPr>
          <p:nvPr/>
        </p:nvPicPr>
        <p:blipFill>
          <a:blip r:embed="rId6"/>
          <a:stretch>
            <a:fillRect/>
          </a:stretch>
        </p:blipFill>
        <p:spPr>
          <a:xfrm>
            <a:off x="857250" y="4318000"/>
            <a:ext cx="114300" cy="114300"/>
          </a:xfrm>
          <a:prstGeom prst="rect">
            <a:avLst/>
          </a:prstGeom>
        </p:spPr>
      </p:pic>
      <p:sp>
        <p:nvSpPr>
          <p:cNvPr id="47" name="TextBox 46"/>
          <p:cNvSpPr txBox="1"/>
          <p:nvPr/>
        </p:nvSpPr>
        <p:spPr>
          <a:xfrm>
            <a:off x="1066800" y="42735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E  Voting</a:t>
            </a:r>
          </a:p>
        </p:txBody>
      </p:sp>
      <p:sp>
        <p:nvSpPr>
          <p:cNvPr id="48" name="TextBox 47"/>
          <p:cNvSpPr txBox="1"/>
          <p:nvPr/>
        </p:nvSpPr>
        <p:spPr>
          <a:xfrm>
            <a:off x="2552700" y="42735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Analyse proposals</a:t>
            </a:r>
          </a:p>
        </p:txBody>
      </p:sp>
      <p:sp>
        <p:nvSpPr>
          <p:cNvPr id="49" name="TextBox 48"/>
          <p:cNvSpPr txBox="1"/>
          <p:nvPr/>
        </p:nvSpPr>
        <p:spPr>
          <a:xfrm>
            <a:off x="4800600" y="42735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US DEF 14A proposals cited; house rules, then judgment</a:t>
            </a:r>
          </a:p>
        </p:txBody>
      </p:sp>
      <p:pic>
        <p:nvPicPr>
          <p:cNvPr id="50" name="Picture 49" descr="contrast-B45309.png"/>
          <p:cNvPicPr>
            <a:picLocks noChangeAspect="1"/>
          </p:cNvPicPr>
          <p:nvPr/>
        </p:nvPicPr>
        <p:blipFill>
          <a:blip r:embed="rId3"/>
          <a:stretch>
            <a:fillRect/>
          </a:stretch>
        </p:blipFill>
        <p:spPr>
          <a:xfrm>
            <a:off x="10172700" y="4298950"/>
            <a:ext cx="152400" cy="152400"/>
          </a:xfrm>
          <a:prstGeom prst="rect">
            <a:avLst/>
          </a:prstGeom>
        </p:spPr>
      </p:pic>
      <p:sp>
        <p:nvSpPr>
          <p:cNvPr id="51" name="TextBox 50"/>
          <p:cNvSpPr txBox="1"/>
          <p:nvPr/>
        </p:nvSpPr>
        <p:spPr>
          <a:xfrm>
            <a:off x="10375900" y="42735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52" name="Rectangle 51"/>
          <p:cNvSpPr/>
          <p:nvPr/>
        </p:nvSpPr>
        <p:spPr>
          <a:xfrm>
            <a:off x="812800" y="4559300"/>
            <a:ext cx="10566400" cy="6350"/>
          </a:xfrm>
          <a:prstGeom prst="rect">
            <a:avLst/>
          </a:prstGeom>
          <a:solidFill>
            <a:srgbClr val="E2E8F0"/>
          </a:solidFill>
          <a:ln>
            <a:noFill/>
          </a:ln>
          <a:effectLst/>
        </p:spPr>
        <p:txBody>
          <a:bodyPr rtlCol="0" anchor="ctr"/>
          <a:lstStyle/>
          <a:p>
            <a:pPr algn="ctr"/>
          </a:p>
        </p:txBody>
      </p:sp>
      <p:sp>
        <p:nvSpPr>
          <p:cNvPr id="53" name="TextBox 52"/>
          <p:cNvSpPr txBox="1"/>
          <p:nvPr/>
        </p:nvSpPr>
        <p:spPr>
          <a:xfrm>
            <a:off x="2552700" y="46228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Voting controls</a:t>
            </a:r>
          </a:p>
        </p:txBody>
      </p:sp>
      <p:sp>
        <p:nvSpPr>
          <p:cNvPr id="54" name="TextBox 53"/>
          <p:cNvSpPr txBox="1"/>
          <p:nvPr/>
        </p:nvSpPr>
        <p:spPr>
          <a:xfrm>
            <a:off x="4800600" y="46228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Engagement cross-check, decision per item, co-signer</a:t>
            </a:r>
          </a:p>
        </p:txBody>
      </p:sp>
      <p:pic>
        <p:nvPicPr>
          <p:cNvPr id="55" name="Picture 54" descr="circle-check-15803D.png"/>
          <p:cNvPicPr>
            <a:picLocks noChangeAspect="1"/>
          </p:cNvPicPr>
          <p:nvPr/>
        </p:nvPicPr>
        <p:blipFill>
          <a:blip r:embed="rId4"/>
          <a:stretch>
            <a:fillRect/>
          </a:stretch>
        </p:blipFill>
        <p:spPr>
          <a:xfrm>
            <a:off x="10172700" y="4648200"/>
            <a:ext cx="152400" cy="152400"/>
          </a:xfrm>
          <a:prstGeom prst="rect">
            <a:avLst/>
          </a:prstGeom>
        </p:spPr>
      </p:pic>
      <p:sp>
        <p:nvSpPr>
          <p:cNvPr id="56" name="TextBox 55"/>
          <p:cNvSpPr txBox="1"/>
          <p:nvPr/>
        </p:nvSpPr>
        <p:spPr>
          <a:xfrm>
            <a:off x="10375900" y="46228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57" name="Rectangle 56"/>
          <p:cNvSpPr/>
          <p:nvPr/>
        </p:nvSpPr>
        <p:spPr>
          <a:xfrm>
            <a:off x="812800" y="4908550"/>
            <a:ext cx="10566400" cy="6350"/>
          </a:xfrm>
          <a:prstGeom prst="rect">
            <a:avLst/>
          </a:prstGeom>
          <a:solidFill>
            <a:srgbClr val="E2E8F0"/>
          </a:solidFill>
          <a:ln>
            <a:noFill/>
          </a:ln>
          <a:effectLst/>
        </p:spPr>
        <p:txBody>
          <a:bodyPr rtlCol="0" anchor="ctr"/>
          <a:lstStyle/>
          <a:p>
            <a:pPr algn="ctr"/>
          </a:p>
        </p:txBody>
      </p:sp>
      <p:sp>
        <p:nvSpPr>
          <p:cNvPr id="58" name="Oval 57"/>
          <p:cNvSpPr/>
          <p:nvPr/>
        </p:nvSpPr>
        <p:spPr>
          <a:xfrm>
            <a:off x="812800" y="4972050"/>
            <a:ext cx="203200" cy="203200"/>
          </a:xfrm>
          <a:prstGeom prst="ellipse">
            <a:avLst/>
          </a:prstGeom>
          <a:solidFill>
            <a:srgbClr val="0F172A"/>
          </a:solidFill>
          <a:ln>
            <a:noFill/>
          </a:ln>
          <a:effectLst/>
        </p:spPr>
        <p:txBody>
          <a:bodyPr rtlCol="0" anchor="ctr"/>
          <a:lstStyle/>
          <a:p>
            <a:pPr algn="ctr"/>
          </a:p>
        </p:txBody>
      </p:sp>
      <p:pic>
        <p:nvPicPr>
          <p:cNvPr id="59" name="Picture 58" descr="send-FFFFFF.png"/>
          <p:cNvPicPr>
            <a:picLocks noChangeAspect="1"/>
          </p:cNvPicPr>
          <p:nvPr/>
        </p:nvPicPr>
        <p:blipFill>
          <a:blip r:embed="rId7"/>
          <a:stretch>
            <a:fillRect/>
          </a:stretch>
        </p:blipFill>
        <p:spPr>
          <a:xfrm>
            <a:off x="857250" y="5016500"/>
            <a:ext cx="114300" cy="114300"/>
          </a:xfrm>
          <a:prstGeom prst="rect">
            <a:avLst/>
          </a:prstGeom>
        </p:spPr>
      </p:pic>
      <p:sp>
        <p:nvSpPr>
          <p:cNvPr id="60" name="TextBox 59"/>
          <p:cNvSpPr txBox="1"/>
          <p:nvPr/>
        </p:nvSpPr>
        <p:spPr>
          <a:xfrm>
            <a:off x="1066800" y="4972050"/>
            <a:ext cx="1333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F  Disclosure</a:t>
            </a:r>
          </a:p>
        </p:txBody>
      </p:sp>
      <p:sp>
        <p:nvSpPr>
          <p:cNvPr id="61" name="TextBox 60"/>
          <p:cNvSpPr txBox="1"/>
          <p:nvPr/>
        </p:nvSpPr>
        <p:spPr>
          <a:xfrm>
            <a:off x="2552700" y="497205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Answer RFPs</a:t>
            </a:r>
          </a:p>
        </p:txBody>
      </p:sp>
      <p:sp>
        <p:nvSpPr>
          <p:cNvPr id="62" name="TextBox 61"/>
          <p:cNvSpPr txBox="1"/>
          <p:nvPr/>
        </p:nvSpPr>
        <p:spPr>
          <a:xfrm>
            <a:off x="4800600" y="497205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Answer library, auto-fill, four-eyes, export</a:t>
            </a:r>
          </a:p>
        </p:txBody>
      </p:sp>
      <p:pic>
        <p:nvPicPr>
          <p:cNvPr id="63" name="Picture 62" descr="circle-check-15803D.png"/>
          <p:cNvPicPr>
            <a:picLocks noChangeAspect="1"/>
          </p:cNvPicPr>
          <p:nvPr/>
        </p:nvPicPr>
        <p:blipFill>
          <a:blip r:embed="rId4"/>
          <a:stretch>
            <a:fillRect/>
          </a:stretch>
        </p:blipFill>
        <p:spPr>
          <a:xfrm>
            <a:off x="10172700" y="4997450"/>
            <a:ext cx="152400" cy="152400"/>
          </a:xfrm>
          <a:prstGeom prst="rect">
            <a:avLst/>
          </a:prstGeom>
        </p:spPr>
      </p:pic>
      <p:sp>
        <p:nvSpPr>
          <p:cNvPr id="64" name="TextBox 63"/>
          <p:cNvSpPr txBox="1"/>
          <p:nvPr/>
        </p:nvSpPr>
        <p:spPr>
          <a:xfrm>
            <a:off x="10375900" y="497205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15803D"/>
                </a:solidFill>
                <a:latin typeface="IBM Plex Mono"/>
              </a:rPr>
              <a:t>LIVE</a:t>
            </a:r>
          </a:p>
        </p:txBody>
      </p:sp>
      <p:sp>
        <p:nvSpPr>
          <p:cNvPr id="65" name="Rectangle 64"/>
          <p:cNvSpPr/>
          <p:nvPr/>
        </p:nvSpPr>
        <p:spPr>
          <a:xfrm>
            <a:off x="812800" y="5257800"/>
            <a:ext cx="10566400" cy="6350"/>
          </a:xfrm>
          <a:prstGeom prst="rect">
            <a:avLst/>
          </a:prstGeom>
          <a:solidFill>
            <a:srgbClr val="E2E8F0"/>
          </a:solidFill>
          <a:ln>
            <a:noFill/>
          </a:ln>
          <a:effectLst/>
        </p:spPr>
        <p:txBody>
          <a:bodyPr rtlCol="0" anchor="ctr"/>
          <a:lstStyle/>
          <a:p>
            <a:pPr algn="ctr"/>
          </a:p>
        </p:txBody>
      </p:sp>
      <p:sp>
        <p:nvSpPr>
          <p:cNvPr id="66" name="TextBox 65"/>
          <p:cNvSpPr txBox="1"/>
          <p:nvPr/>
        </p:nvSpPr>
        <p:spPr>
          <a:xfrm>
            <a:off x="2552700" y="5321300"/>
            <a:ext cx="2095500" cy="222250"/>
          </a:xfrm>
          <a:prstGeom prst="rect">
            <a:avLst/>
          </a:prstGeom>
          <a:noFill/>
        </p:spPr>
        <p:txBody>
          <a:bodyPr wrap="square" lIns="0" rIns="0" tIns="0" bIns="0" anchor="t">
            <a:spAutoFit/>
          </a:bodyPr>
          <a:lstStyle/>
          <a:p>
            <a:pPr>
              <a:lnSpc>
                <a:spcPct val="112500"/>
              </a:lnSpc>
              <a:spcAft>
                <a:spcPts val="0"/>
              </a:spcAft>
            </a:pPr>
            <a:r>
              <a:rPr sz="1200" b="1">
                <a:solidFill>
                  <a:srgbClr val="0F172A"/>
                </a:solidFill>
                <a:latin typeface="IBM Plex Sans"/>
              </a:rPr>
              <a:t>Disclose</a:t>
            </a:r>
          </a:p>
        </p:txBody>
      </p:sp>
      <p:sp>
        <p:nvSpPr>
          <p:cNvPr id="67" name="TextBox 66"/>
          <p:cNvSpPr txBox="1"/>
          <p:nvPr/>
        </p:nvSpPr>
        <p:spPr>
          <a:xfrm>
            <a:off x="4800600" y="5321300"/>
            <a:ext cx="5219700" cy="222250"/>
          </a:xfrm>
          <a:prstGeom prst="rect">
            <a:avLst/>
          </a:prstGeom>
          <a:noFill/>
        </p:spPr>
        <p:txBody>
          <a:bodyPr wrap="square" lIns="0" rIns="0" tIns="0" bIns="0" anchor="t">
            <a:spAutoFit/>
          </a:bodyPr>
          <a:lstStyle/>
          <a:p>
            <a:pPr>
              <a:lnSpc>
                <a:spcPct val="112500"/>
              </a:lnSpc>
              <a:spcAft>
                <a:spcPts val="0"/>
              </a:spcAft>
            </a:pPr>
            <a:r>
              <a:rPr sz="1200" b="0">
                <a:solidFill>
                  <a:srgbClr val="475569"/>
                </a:solidFill>
                <a:latin typeface="IBM Plex Sans"/>
              </a:rPr>
              <a:t>Client report on sample data; vote disclosure not built</a:t>
            </a:r>
          </a:p>
        </p:txBody>
      </p:sp>
      <p:pic>
        <p:nvPicPr>
          <p:cNvPr id="68" name="Picture 67" descr="contrast-B45309.png"/>
          <p:cNvPicPr>
            <a:picLocks noChangeAspect="1"/>
          </p:cNvPicPr>
          <p:nvPr/>
        </p:nvPicPr>
        <p:blipFill>
          <a:blip r:embed="rId3"/>
          <a:stretch>
            <a:fillRect/>
          </a:stretch>
        </p:blipFill>
        <p:spPr>
          <a:xfrm>
            <a:off x="10172700" y="5346700"/>
            <a:ext cx="152400" cy="152400"/>
          </a:xfrm>
          <a:prstGeom prst="rect">
            <a:avLst/>
          </a:prstGeom>
        </p:spPr>
      </p:pic>
      <p:sp>
        <p:nvSpPr>
          <p:cNvPr id="69" name="TextBox 68"/>
          <p:cNvSpPr txBox="1"/>
          <p:nvPr/>
        </p:nvSpPr>
        <p:spPr>
          <a:xfrm>
            <a:off x="10375900" y="5321300"/>
            <a:ext cx="1003300" cy="222250"/>
          </a:xfrm>
          <a:prstGeom prst="rect">
            <a:avLst/>
          </a:prstGeom>
          <a:noFill/>
        </p:spPr>
        <p:txBody>
          <a:bodyPr wrap="square" lIns="0" rIns="0" tIns="0" bIns="0" anchor="t">
            <a:spAutoFit/>
          </a:bodyPr>
          <a:lstStyle/>
          <a:p>
            <a:pPr>
              <a:lnSpc>
                <a:spcPct val="112500"/>
              </a:lnSpc>
              <a:spcAft>
                <a:spcPts val="0"/>
              </a:spcAft>
            </a:pPr>
            <a:r>
              <a:rPr sz="1200" b="0">
                <a:solidFill>
                  <a:srgbClr val="B45309"/>
                </a:solidFill>
                <a:latin typeface="IBM Plex Mono"/>
              </a:rPr>
              <a:t>PARTLY</a:t>
            </a:r>
          </a:p>
        </p:txBody>
      </p:sp>
      <p:sp>
        <p:nvSpPr>
          <p:cNvPr id="70" name="Rectangle 69"/>
          <p:cNvSpPr/>
          <p:nvPr/>
        </p:nvSpPr>
        <p:spPr>
          <a:xfrm>
            <a:off x="812800" y="5607050"/>
            <a:ext cx="10566400" cy="6350"/>
          </a:xfrm>
          <a:prstGeom prst="rect">
            <a:avLst/>
          </a:prstGeom>
          <a:solidFill>
            <a:srgbClr val="E2E8F0"/>
          </a:solidFill>
          <a:ln>
            <a:noFill/>
          </a:ln>
          <a:effectLst/>
        </p:spPr>
        <p:txBody>
          <a:bodyPr rtlCol="0" anchor="ctr"/>
          <a:lstStyle/>
          <a:p>
            <a:pPr algn="ctr"/>
          </a:p>
        </p:txBody>
      </p:sp>
      <p:sp>
        <p:nvSpPr>
          <p:cNvPr id="71" name="TextBox 70"/>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2" name="TextBox 71"/>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04 / 39</a:t>
            </a:r>
          </a:p>
        </p:txBody>
      </p:sp>
      <p:pic>
        <p:nvPicPr>
          <p:cNvPr id="73" name="Picture 72" descr="circle-check-15803D.png"/>
          <p:cNvPicPr>
            <a:picLocks noChangeAspect="1"/>
          </p:cNvPicPr>
          <p:nvPr/>
        </p:nvPicPr>
        <p:blipFill>
          <a:blip r:embed="rId4"/>
          <a:stretch>
            <a:fillRect/>
          </a:stretch>
        </p:blipFill>
        <p:spPr>
          <a:xfrm>
            <a:off x="4800600" y="6280150"/>
            <a:ext cx="152400" cy="152400"/>
          </a:xfrm>
          <a:prstGeom prst="rect">
            <a:avLst/>
          </a:prstGeom>
        </p:spPr>
      </p:pic>
      <p:sp>
        <p:nvSpPr>
          <p:cNvPr id="74" name="TextBox 73"/>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LIVE</a:t>
            </a:r>
          </a:p>
        </p:txBody>
      </p:sp>
      <p:pic>
        <p:nvPicPr>
          <p:cNvPr id="75" name="Picture 74" descr="contrast-B45309.png"/>
          <p:cNvPicPr>
            <a:picLocks noChangeAspect="1"/>
          </p:cNvPicPr>
          <p:nvPr/>
        </p:nvPicPr>
        <p:blipFill>
          <a:blip r:embed="rId3"/>
          <a:stretch>
            <a:fillRect/>
          </a:stretch>
        </p:blipFill>
        <p:spPr>
          <a:xfrm>
            <a:off x="5562600" y="6280150"/>
            <a:ext cx="152400" cy="152400"/>
          </a:xfrm>
          <a:prstGeom prst="rect">
            <a:avLst/>
          </a:prstGeom>
        </p:spPr>
      </p:pic>
      <p:sp>
        <p:nvSpPr>
          <p:cNvPr id="76" name="TextBox 75"/>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B45309"/>
                </a:solidFill>
                <a:latin typeface="IBM Plex Mono"/>
              </a:rPr>
              <a:t>PARTLY</a:t>
            </a:r>
          </a:p>
        </p:txBody>
      </p:sp>
      <p:pic>
        <p:nvPicPr>
          <p:cNvPr id="77" name="Picture 76" descr="circle-dashed-475569.png"/>
          <p:cNvPicPr>
            <a:picLocks noChangeAspect="1"/>
          </p:cNvPicPr>
          <p:nvPr/>
        </p:nvPicPr>
        <p:blipFill>
          <a:blip r:embed="rId8"/>
          <a:stretch>
            <a:fillRect/>
          </a:stretch>
        </p:blipFill>
        <p:spPr>
          <a:xfrm>
            <a:off x="6527800" y="6280150"/>
            <a:ext cx="152400" cy="152400"/>
          </a:xfrm>
          <a:prstGeom prst="rect">
            <a:avLst/>
          </a:prstGeom>
        </p:spPr>
      </p:pic>
      <p:sp>
        <p:nvSpPr>
          <p:cNvPr id="78" name="TextBox 77"/>
          <p:cNvSpPr txBox="1"/>
          <p:nvPr/>
        </p:nvSpPr>
        <p:spPr>
          <a:xfrm>
            <a:off x="67056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SPECIFIED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39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cited data, not copied figures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Extract and score · XBRL facts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Company figures are copied from reports by hand or bought as vendor scores: no page reference, hard to check, slow at scale.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Every figure cited to its page, checked by a second model and reviewed by a person, for up to about 4,000 companies per run.</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Letters and vote rationales can quote the company's own report, page by page, so an engagement ask holds up when challenged.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Ratified Decision Studio templates turn extracted figures into tiers: eligibility rules for a fund, versioned and re-run on new data.</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Figures come from public reports and XBRL as filed. A licensed vendor field can be checked against the company's own report.</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Anatomy of one cited value</a:t>
            </a:r>
          </a:p>
        </p:txBody>
      </p:sp>
      <p:pic>
        <p:nvPicPr>
          <p:cNvPr id="4" name="Picture 3" descr="fig-machine-text-search.png"/>
          <p:cNvPicPr>
            <a:picLocks noChangeAspect="1"/>
          </p:cNvPicPr>
          <p:nvPr/>
        </p:nvPicPr>
        <p:blipFill>
          <a:blip r:embed="rId2"/>
          <a:stretch>
            <a:fillRect/>
          </a:stretch>
        </p:blipFill>
        <p:spPr>
          <a:xfrm>
            <a:off x="1413933" y="1854200"/>
            <a:ext cx="558800" cy="558800"/>
          </a:xfrm>
          <a:prstGeom prst="rect">
            <a:avLst/>
          </a:prstGeom>
        </p:spPr>
      </p:pic>
      <p:sp>
        <p:nvSpPr>
          <p:cNvPr id="5" name="TextBox 4"/>
          <p:cNvSpPr txBox="1"/>
          <p:nvPr/>
        </p:nvSpPr>
        <p:spPr>
          <a:xfrm>
            <a:off x="8890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and embeddings pick passages</a:t>
            </a:r>
          </a:p>
        </p:txBody>
      </p:sp>
      <p:sp>
        <p:nvSpPr>
          <p:cNvPr id="6" name="Rectangle 5"/>
          <p:cNvSpPr/>
          <p:nvPr/>
        </p:nvSpPr>
        <p:spPr>
          <a:xfrm>
            <a:off x="2099733" y="2127250"/>
            <a:ext cx="948267" cy="12700"/>
          </a:xfrm>
          <a:prstGeom prst="rect">
            <a:avLst/>
          </a:prstGeom>
          <a:solidFill>
            <a:srgbClr val="94A3B8"/>
          </a:solidFill>
          <a:ln>
            <a:noFill/>
          </a:ln>
          <a:effectLst/>
        </p:spPr>
        <p:txBody>
          <a:bodyPr rtlCol="0" anchor="ctr"/>
          <a:lstStyle/>
          <a:p>
            <a:pPr algn="ctr"/>
          </a:p>
        </p:txBody>
      </p:sp>
      <p:pic>
        <p:nvPicPr>
          <p:cNvPr id="7" name="Picture 6" descr="arrowhead.png"/>
          <p:cNvPicPr>
            <a:picLocks noChangeAspect="1"/>
          </p:cNvPicPr>
          <p:nvPr/>
        </p:nvPicPr>
        <p:blipFill>
          <a:blip r:embed="rId3"/>
          <a:stretch>
            <a:fillRect/>
          </a:stretch>
        </p:blipFill>
        <p:spPr>
          <a:xfrm>
            <a:off x="3048000" y="2082800"/>
            <a:ext cx="76200" cy="101600"/>
          </a:xfrm>
          <a:prstGeom prst="rect">
            <a:avLst/>
          </a:prstGeom>
        </p:spPr>
      </p:pic>
      <p:pic>
        <p:nvPicPr>
          <p:cNvPr id="8" name="Picture 7" descr="fig-robot-scan-text.png"/>
          <p:cNvPicPr>
            <a:picLocks noChangeAspect="1"/>
          </p:cNvPicPr>
          <p:nvPr/>
        </p:nvPicPr>
        <p:blipFill>
          <a:blip r:embed="rId4"/>
          <a:stretch>
            <a:fillRect/>
          </a:stretch>
        </p:blipFill>
        <p:spPr>
          <a:xfrm>
            <a:off x="3175000" y="1854200"/>
            <a:ext cx="558800" cy="558800"/>
          </a:xfrm>
          <a:prstGeom prst="rect">
            <a:avLst/>
          </a:prstGeom>
        </p:spPr>
      </p:pic>
      <p:sp>
        <p:nvSpPr>
          <p:cNvPr id="9" name="TextBox 8"/>
          <p:cNvSpPr txBox="1"/>
          <p:nvPr/>
        </p:nvSpPr>
        <p:spPr>
          <a:xfrm>
            <a:off x="26500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Value, unit, period, verbatim quote</a:t>
            </a:r>
          </a:p>
        </p:txBody>
      </p:sp>
      <p:sp>
        <p:nvSpPr>
          <p:cNvPr id="10" name="Rectangle 9"/>
          <p:cNvSpPr/>
          <p:nvPr/>
        </p:nvSpPr>
        <p:spPr>
          <a:xfrm>
            <a:off x="3860800" y="2127250"/>
            <a:ext cx="948267" cy="12700"/>
          </a:xfrm>
          <a:prstGeom prst="rect">
            <a:avLst/>
          </a:prstGeom>
          <a:solidFill>
            <a:srgbClr val="94A3B8"/>
          </a:solidFill>
          <a:ln>
            <a:noFill/>
          </a:ln>
          <a:effectLst/>
        </p:spPr>
        <p:txBody>
          <a:bodyPr rtlCol="0" anchor="ctr"/>
          <a:lstStyle/>
          <a:p>
            <a:pPr algn="ctr"/>
          </a:p>
        </p:txBody>
      </p:sp>
      <p:pic>
        <p:nvPicPr>
          <p:cNvPr id="11" name="Picture 10" descr="arrowhead.png"/>
          <p:cNvPicPr>
            <a:picLocks noChangeAspect="1"/>
          </p:cNvPicPr>
          <p:nvPr/>
        </p:nvPicPr>
        <p:blipFill>
          <a:blip r:embed="rId3"/>
          <a:stretch>
            <a:fillRect/>
          </a:stretch>
        </p:blipFill>
        <p:spPr>
          <a:xfrm>
            <a:off x="4809067" y="2082800"/>
            <a:ext cx="76200" cy="101600"/>
          </a:xfrm>
          <a:prstGeom prst="rect">
            <a:avLst/>
          </a:prstGeom>
        </p:spPr>
      </p:pic>
      <p:pic>
        <p:nvPicPr>
          <p:cNvPr id="12" name="Picture 11" descr="fig-robot-scan-eye.png"/>
          <p:cNvPicPr>
            <a:picLocks noChangeAspect="1"/>
          </p:cNvPicPr>
          <p:nvPr/>
        </p:nvPicPr>
        <p:blipFill>
          <a:blip r:embed="rId5"/>
          <a:stretch>
            <a:fillRect/>
          </a:stretch>
        </p:blipFill>
        <p:spPr>
          <a:xfrm>
            <a:off x="4936067" y="1854200"/>
            <a:ext cx="558800" cy="558800"/>
          </a:xfrm>
          <a:prstGeom prst="rect">
            <a:avLst/>
          </a:prstGeom>
        </p:spPr>
      </p:pic>
      <p:sp>
        <p:nvSpPr>
          <p:cNvPr id="13" name="TextBox 12"/>
          <p:cNvSpPr txBox="1"/>
          <p:nvPr/>
        </p:nvSpPr>
        <p:spPr>
          <a:xfrm>
            <a:off x="44111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Blind verify</a:t>
            </a:r>
          </a:p>
          <a:p>
            <a:pPr algn="ctr">
              <a:lnSpc>
                <a:spcPct val="112500"/>
              </a:lnSpc>
              <a:spcAft>
                <a:spcPts val="0"/>
              </a:spcAft>
            </a:pPr>
            <a:r>
              <a:rPr sz="1200" b="0">
                <a:solidFill>
                  <a:srgbClr val="475569"/>
                </a:solidFill>
                <a:latin typeface="IBM Plex Sans"/>
              </a:rPr>
              <a:t>A different model extracts again</a:t>
            </a:r>
          </a:p>
        </p:txBody>
      </p:sp>
      <p:sp>
        <p:nvSpPr>
          <p:cNvPr id="14" name="Rectangle 13"/>
          <p:cNvSpPr/>
          <p:nvPr/>
        </p:nvSpPr>
        <p:spPr>
          <a:xfrm>
            <a:off x="5621867" y="2127250"/>
            <a:ext cx="948267" cy="12700"/>
          </a:xfrm>
          <a:prstGeom prst="rect">
            <a:avLst/>
          </a:prstGeom>
          <a:solidFill>
            <a:srgbClr val="94A3B8"/>
          </a:solidFill>
          <a:ln>
            <a:noFill/>
          </a:ln>
          <a:effectLst/>
        </p:spPr>
        <p:txBody>
          <a:bodyPr rtlCol="0" anchor="ctr"/>
          <a:lstStyle/>
          <a:p>
            <a:pPr algn="ctr"/>
          </a:p>
        </p:txBody>
      </p:sp>
      <p:pic>
        <p:nvPicPr>
          <p:cNvPr id="15" name="Picture 14" descr="arrowhead.png"/>
          <p:cNvPicPr>
            <a:picLocks noChangeAspect="1"/>
          </p:cNvPicPr>
          <p:nvPr/>
        </p:nvPicPr>
        <p:blipFill>
          <a:blip r:embed="rId3"/>
          <a:stretch>
            <a:fillRect/>
          </a:stretch>
        </p:blipFill>
        <p:spPr>
          <a:xfrm>
            <a:off x="6570133" y="2082800"/>
            <a:ext cx="76200" cy="101600"/>
          </a:xfrm>
          <a:prstGeom prst="rect">
            <a:avLst/>
          </a:prstGeom>
        </p:spPr>
      </p:pic>
      <p:pic>
        <p:nvPicPr>
          <p:cNvPr id="16" name="Picture 15" descr="fig-machine-quote.png"/>
          <p:cNvPicPr>
            <a:picLocks noChangeAspect="1"/>
          </p:cNvPicPr>
          <p:nvPr/>
        </p:nvPicPr>
        <p:blipFill>
          <a:blip r:embed="rId6"/>
          <a:stretch>
            <a:fillRect/>
          </a:stretch>
        </p:blipFill>
        <p:spPr>
          <a:xfrm>
            <a:off x="6697133" y="1854200"/>
            <a:ext cx="558800" cy="558800"/>
          </a:xfrm>
          <a:prstGeom prst="rect">
            <a:avLst/>
          </a:prstGeom>
        </p:spPr>
      </p:pic>
      <p:sp>
        <p:nvSpPr>
          <p:cNvPr id="17" name="TextBox 16"/>
          <p:cNvSpPr txBox="1"/>
          <p:nvPr/>
        </p:nvSpPr>
        <p:spPr>
          <a:xfrm>
            <a:off x="6172200"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on the page; number, unit, period</a:t>
            </a:r>
          </a:p>
        </p:txBody>
      </p:sp>
      <p:sp>
        <p:nvSpPr>
          <p:cNvPr id="18" name="Rectangle 17"/>
          <p:cNvSpPr/>
          <p:nvPr/>
        </p:nvSpPr>
        <p:spPr>
          <a:xfrm>
            <a:off x="7382933" y="212725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8331200" y="2082800"/>
            <a:ext cx="76200" cy="101600"/>
          </a:xfrm>
          <a:prstGeom prst="rect">
            <a:avLst/>
          </a:prstGeom>
        </p:spPr>
      </p:pic>
      <p:pic>
        <p:nvPicPr>
          <p:cNvPr id="20" name="Picture 19" descr="fig-robot-eye.png"/>
          <p:cNvPicPr>
            <a:picLocks noChangeAspect="1"/>
          </p:cNvPicPr>
          <p:nvPr/>
        </p:nvPicPr>
        <p:blipFill>
          <a:blip r:embed="rId7"/>
          <a:stretch>
            <a:fillRect/>
          </a:stretch>
        </p:blipFill>
        <p:spPr>
          <a:xfrm>
            <a:off x="8458200" y="1854200"/>
            <a:ext cx="558800" cy="558800"/>
          </a:xfrm>
          <a:prstGeom prst="rect">
            <a:avLst/>
          </a:prstGeom>
        </p:spPr>
      </p:pic>
      <p:sp>
        <p:nvSpPr>
          <p:cNvPr id="21" name="TextBox 20"/>
          <p:cNvSpPr txBox="1"/>
          <p:nvPr/>
        </p:nvSpPr>
        <p:spPr>
          <a:xfrm>
            <a:off x="7933267"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Page-image check</a:t>
            </a:r>
          </a:p>
          <a:p>
            <a:pPr algn="ctr">
              <a:lnSpc>
                <a:spcPct val="112500"/>
              </a:lnSpc>
              <a:spcAft>
                <a:spcPts val="0"/>
              </a:spcAft>
            </a:pPr>
            <a:r>
              <a:rPr sz="1200" b="0">
                <a:solidFill>
                  <a:srgbClr val="475569"/>
                </a:solidFill>
                <a:latin typeface="IBM Plex Sans"/>
              </a:rPr>
              <a:t>Reads the figure off the page image</a:t>
            </a:r>
          </a:p>
        </p:txBody>
      </p:sp>
      <p:sp>
        <p:nvSpPr>
          <p:cNvPr id="22" name="Rectangle 21"/>
          <p:cNvSpPr/>
          <p:nvPr/>
        </p:nvSpPr>
        <p:spPr>
          <a:xfrm>
            <a:off x="9144000" y="2127250"/>
            <a:ext cx="948267" cy="12700"/>
          </a:xfrm>
          <a:prstGeom prst="rect">
            <a:avLst/>
          </a:prstGeom>
          <a:solidFill>
            <a:srgbClr val="94A3B8"/>
          </a:solidFill>
          <a:ln>
            <a:noFill/>
          </a:ln>
          <a:effectLst/>
        </p:spPr>
        <p:txBody>
          <a:bodyPr rtlCol="0" anchor="ctr"/>
          <a:lstStyle/>
          <a:p>
            <a:pPr algn="ctr"/>
          </a:p>
        </p:txBody>
      </p:sp>
      <p:pic>
        <p:nvPicPr>
          <p:cNvPr id="23" name="Picture 22" descr="arrowhead.png"/>
          <p:cNvPicPr>
            <a:picLocks noChangeAspect="1"/>
          </p:cNvPicPr>
          <p:nvPr/>
        </p:nvPicPr>
        <p:blipFill>
          <a:blip r:embed="rId3"/>
          <a:stretch>
            <a:fillRect/>
          </a:stretch>
        </p:blipFill>
        <p:spPr>
          <a:xfrm>
            <a:off x="10092267" y="2082800"/>
            <a:ext cx="76200" cy="101600"/>
          </a:xfrm>
          <a:prstGeom prst="rect">
            <a:avLst/>
          </a:prstGeom>
        </p:spPr>
      </p:pic>
      <p:pic>
        <p:nvPicPr>
          <p:cNvPr id="24" name="Picture 23" descr="fig-person-user-check.png"/>
          <p:cNvPicPr>
            <a:picLocks noChangeAspect="1"/>
          </p:cNvPicPr>
          <p:nvPr/>
        </p:nvPicPr>
        <p:blipFill>
          <a:blip r:embed="rId8"/>
          <a:stretch>
            <a:fillRect/>
          </a:stretch>
        </p:blipFill>
        <p:spPr>
          <a:xfrm>
            <a:off x="10219267" y="1854200"/>
            <a:ext cx="558800" cy="558800"/>
          </a:xfrm>
          <a:prstGeom prst="rect">
            <a:avLst/>
          </a:prstGeom>
        </p:spPr>
      </p:pic>
      <p:sp>
        <p:nvSpPr>
          <p:cNvPr id="25" name="TextBox 24"/>
          <p:cNvSpPr txBox="1"/>
          <p:nvPr/>
        </p:nvSpPr>
        <p:spPr>
          <a:xfrm>
            <a:off x="9694333" y="251460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The rest, with the span boxed</a:t>
            </a:r>
          </a:p>
        </p:txBody>
      </p:sp>
      <p:pic>
        <p:nvPicPr>
          <p:cNvPr id="26" name="Picture 25" descr="argus-flow.png"/>
          <p:cNvPicPr>
            <a:picLocks noChangeAspect="1"/>
          </p:cNvPicPr>
          <p:nvPr/>
        </p:nvPicPr>
        <p:blipFill>
          <a:blip r:embed="rId9"/>
          <a:stretch>
            <a:fillRect/>
          </a:stretch>
        </p:blipFill>
        <p:spPr>
          <a:xfrm>
            <a:off x="812800" y="3911600"/>
            <a:ext cx="10566400" cy="1501913"/>
          </a:xfrm>
          <a:prstGeom prst="rect">
            <a:avLst/>
          </a:prstGeom>
        </p:spPr>
      </p:pic>
      <p:sp>
        <p:nvSpPr>
          <p:cNvPr id="27" name="Rounded Rectangle 26"/>
          <p:cNvSpPr/>
          <p:nvPr/>
        </p:nvSpPr>
        <p:spPr>
          <a:xfrm>
            <a:off x="812800" y="3911600"/>
            <a:ext cx="10566400" cy="1501913"/>
          </a:xfrm>
          <a:prstGeom prst="roundRect">
            <a:avLst>
              <a:gd name="adj" fmla="val 6764"/>
            </a:avLst>
          </a:prstGeom>
          <a:noFill/>
          <a:ln w="9525">
            <a:solidFill>
              <a:srgbClr val="E2E8F0"/>
            </a:solidFill>
          </a:ln>
          <a:effectLst/>
        </p:spPr>
        <p:txBody>
          <a:bodyPr rtlCol="0" anchor="ctr"/>
          <a:lstStyle/>
          <a:p>
            <a:pPr algn="ctr"/>
          </a:p>
        </p:txBody>
      </p:sp>
      <p:sp>
        <p:nvSpPr>
          <p:cNvPr id="28" name="TextBox 2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9" name="TextBox 2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39</a:t>
            </a:r>
          </a:p>
        </p:txBody>
      </p:sp>
      <p:sp>
        <p:nvSpPr>
          <p:cNvPr id="30" name="Oval 2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31" name="TextBox 30"/>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32" name="Oval 3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33" name="TextBox 32"/>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34" name="Oval 3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35" name="TextBox 34"/>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Intelligence: risk seen monthly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Monthly monitoring · Climate transition review</a:t>
            </a:r>
          </a:p>
        </p:txBody>
      </p:sp>
      <p:sp>
        <p:nvSpPr>
          <p:cNvPr id="5" name="Rounded Rectangle 4"/>
          <p:cNvSpPr/>
          <p:nvPr/>
        </p:nvSpPr>
        <p:spPr>
          <a:xfrm>
            <a:off x="812800" y="2101850"/>
            <a:ext cx="3810000" cy="3727450"/>
          </a:xfrm>
          <a:prstGeom prst="roundRect">
            <a:avLst>
              <a:gd name="adj" fmla="val 2725"/>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Holdings, ESG feeds and climate research sit apart, so a breach surfaces late and the annual climate review is rebuilt by hand.</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monthly run that turns every breach and controversy on a holding into an owned alert, and a climate review that ends in a tiered list of issuers.</a:t>
            </a:r>
          </a:p>
        </p:txBody>
      </p:sp>
      <p:sp>
        <p:nvSpPr>
          <p:cNvPr id="15" name="Rounded Rectangle 14"/>
          <p:cNvSpPr/>
          <p:nvPr/>
        </p:nvSpPr>
        <p:spPr>
          <a:xfrm>
            <a:off x="4775200" y="21018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36825"/>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613025"/>
            <a:ext cx="152400" cy="152400"/>
          </a:xfrm>
          <a:prstGeom prst="rect">
            <a:avLst/>
          </a:prstGeom>
        </p:spPr>
      </p:pic>
      <p:sp>
        <p:nvSpPr>
          <p:cNvPr id="18" name="TextBox 17"/>
          <p:cNvSpPr txBox="1"/>
          <p:nvPr/>
        </p:nvSpPr>
        <p:spPr>
          <a:xfrm>
            <a:off x="5359400" y="22542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Each alert becomes a stewardship trigger with an owner; the climate review hands StewardIQ the issuers to engage, with a walk-versus-talk verdict.</a:t>
            </a:r>
          </a:p>
        </p:txBody>
      </p:sp>
      <p:sp>
        <p:nvSpPr>
          <p:cNvPr id="19" name="Rounded Rectangle 18"/>
          <p:cNvSpPr/>
          <p:nvPr/>
        </p:nvSpPr>
        <p:spPr>
          <a:xfrm>
            <a:off x="4775200" y="337820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81317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889375"/>
            <a:ext cx="152400" cy="152400"/>
          </a:xfrm>
          <a:prstGeom prst="rect">
            <a:avLst/>
          </a:prstGeom>
        </p:spPr>
      </p:pic>
      <p:sp>
        <p:nvSpPr>
          <p:cNvPr id="22" name="TextBox 21"/>
          <p:cNvSpPr txBox="1"/>
          <p:nvPr/>
        </p:nvSpPr>
        <p:spPr>
          <a:xfrm>
            <a:off x="5359400" y="353060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WACI, financed emissions, plan alignment and the sector barrier matrix give a climate-labelled product evidence for every holding and sector.</a:t>
            </a:r>
          </a:p>
        </p:txBody>
      </p:sp>
      <p:sp>
        <p:nvSpPr>
          <p:cNvPr id="23" name="Rounded Rectangle 22"/>
          <p:cNvSpPr/>
          <p:nvPr/>
        </p:nvSpPr>
        <p:spPr>
          <a:xfrm>
            <a:off x="4775200" y="46545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5089525"/>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5165725"/>
            <a:ext cx="152400" cy="152400"/>
          </a:xfrm>
          <a:prstGeom prst="rect">
            <a:avLst/>
          </a:prstGeom>
        </p:spPr>
      </p:pic>
      <p:sp>
        <p:nvSpPr>
          <p:cNvPr id="26" name="TextBox 25"/>
          <p:cNvSpPr txBox="1"/>
          <p:nvPr/>
        </p:nvSpPr>
        <p:spPr>
          <a:xfrm>
            <a:off x="5359400" y="48069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Each provider feed carries a licence tag: internal-only facts stay in internal dashboards and the publish path refuses them.</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Barrier matrix: rules derive, people ratify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105 rated cells, each traceable to its rule, its facts and the person who ratified it.</a:t>
            </a:r>
          </a:p>
        </p:txBody>
      </p:sp>
      <p:pic>
        <p:nvPicPr>
          <p:cNvPr id="5" name="Picture 4" descr="barriers.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book-marke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Owner-signed rule book</a:t>
            </a:r>
          </a:p>
          <a:p>
            <a:pPr>
              <a:lnSpc>
                <a:spcPct val="116667"/>
              </a:lnSpc>
              <a:spcAft>
                <a:spcPts val="0"/>
              </a:spcAft>
            </a:pPr>
            <a:r>
              <a:rPr sz="1200" b="0">
                <a:solidFill>
                  <a:srgbClr val="475569"/>
                </a:solidFill>
                <a:latin typeface="IBM Plex Sans"/>
              </a:rPr>
              <a:t>Each criterion lists the facts it needs and the H, M and L conditions.</a:t>
            </a:r>
          </a:p>
        </p:txBody>
      </p:sp>
      <p:pic>
        <p:nvPicPr>
          <p:cNvPr id="9" name="Picture 8" descr="fig-robot-scan-text.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Facts read from sources</a:t>
            </a:r>
          </a:p>
          <a:p>
            <a:pPr>
              <a:lnSpc>
                <a:spcPct val="116667"/>
              </a:lnSpc>
              <a:spcAft>
                <a:spcPts val="0"/>
              </a:spcAft>
            </a:pPr>
            <a:r>
              <a:rPr sz="1200" b="0">
                <a:solidFill>
                  <a:srgbClr val="475569"/>
                </a:solidFill>
                <a:latin typeface="IBM Plex Sans"/>
              </a:rPr>
              <a:t>The model reads one fact at a time; code checks value, unit and quote.</a:t>
            </a:r>
          </a:p>
        </p:txBody>
      </p:sp>
      <p:pic>
        <p:nvPicPr>
          <p:cNvPr id="11" name="Picture 10" descr="fig-machine-cog.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rules engine decides</a:t>
            </a:r>
          </a:p>
          <a:p>
            <a:pPr>
              <a:lnSpc>
                <a:spcPct val="116667"/>
              </a:lnSpc>
              <a:spcAft>
                <a:spcPts val="0"/>
              </a:spcAft>
            </a:pPr>
            <a:r>
              <a:rPr sz="1200" b="0">
                <a:solidFill>
                  <a:srgbClr val="475569"/>
                </a:solidFill>
                <a:latin typeface="IBM Plex Sans"/>
              </a:rPr>
              <a:t>Code derives the rating; a missing fact stays unknown, never guessed.</a:t>
            </a:r>
          </a:p>
        </p:txBody>
      </p:sp>
      <p:pic>
        <p:nvPicPr>
          <p:cNvPr id="13" name="Picture 12" descr="fig-person-badge-check.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named person ratifies</a:t>
            </a:r>
          </a:p>
          <a:p>
            <a:pPr>
              <a:lnSpc>
                <a:spcPct val="116667"/>
              </a:lnSpc>
              <a:spcAft>
                <a:spcPts val="0"/>
              </a:spcAft>
            </a:pPr>
            <a:r>
              <a:rPr sz="1200" b="0">
                <a:solidFill>
                  <a:srgbClr val="475569"/>
                </a:solidFill>
                <a:latin typeface="IBM Plex Sans"/>
              </a:rPr>
              <a:t>Refresh findings are proposals; no rating moves without sign-off.</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09 / 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R&amp;D Lab: from idea to index</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Launch a thematic product · Research a strategy</a:t>
            </a:r>
          </a:p>
        </p:txBody>
      </p:sp>
      <p:sp>
        <p:nvSpPr>
          <p:cNvPr id="5" name="Rounded Rectangle 4"/>
          <p:cNvSpPr/>
          <p:nvPr/>
        </p:nvSpPr>
        <p:spPr>
          <a:xfrm>
            <a:off x="812800" y="2101850"/>
            <a:ext cx="3810000" cy="3276600"/>
          </a:xfrm>
          <a:prstGeom prst="roundRect">
            <a:avLst>
              <a:gd name="adj" fmla="val 3100"/>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Themes and strategies live in spreadsheets: boundaries drift, backtests overfit, and a product is hard to trace to its evidence.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69215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ratified theme, a reviewed universe and a dated index calibration; strategies tested out of sample first.</a:t>
            </a:r>
          </a:p>
        </p:txBody>
      </p:sp>
      <p:sp>
        <p:nvSpPr>
          <p:cNvPr id="15" name="Rounded Rectangle 14"/>
          <p:cNvSpPr/>
          <p:nvPr/>
        </p:nvSpPr>
        <p:spPr>
          <a:xfrm>
            <a:off x="4775200" y="2101850"/>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461683"/>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37883"/>
            <a:ext cx="152400" cy="152400"/>
          </a:xfrm>
          <a:prstGeom prst="rect">
            <a:avLst/>
          </a:prstGeom>
        </p:spPr>
      </p:pic>
      <p:sp>
        <p:nvSpPr>
          <p:cNvPr id="18" name="TextBox 17"/>
          <p:cNvSpPr txBox="1"/>
          <p:nvPr/>
        </p:nvSpPr>
        <p:spPr>
          <a:xfrm>
            <a:off x="5359400" y="2254250"/>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A theme's position and standards (specified, not built) become StewardIQ flags: the product thesis turns into engagement asks.</a:t>
            </a:r>
          </a:p>
        </p:txBody>
      </p:sp>
      <p:sp>
        <p:nvSpPr>
          <p:cNvPr id="19" name="Rounded Rectangle 18"/>
          <p:cNvSpPr/>
          <p:nvPr/>
        </p:nvSpPr>
        <p:spPr>
          <a:xfrm>
            <a:off x="4775200" y="3227917"/>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587750"/>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663950"/>
            <a:ext cx="152400" cy="152400"/>
          </a:xfrm>
          <a:prstGeom prst="rect">
            <a:avLst/>
          </a:prstGeom>
        </p:spPr>
      </p:pic>
      <p:sp>
        <p:nvSpPr>
          <p:cNvPr id="22" name="TextBox 21"/>
          <p:cNvSpPr txBox="1"/>
          <p:nvPr/>
        </p:nvSpPr>
        <p:spPr>
          <a:xfrm>
            <a:off x="5359400" y="3380317"/>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PAB, CTB, best-in-class and thematic presets compose an index; dated calibrations keep past reviews reproducible.</a:t>
            </a:r>
          </a:p>
        </p:txBody>
      </p:sp>
      <p:sp>
        <p:nvSpPr>
          <p:cNvPr id="23" name="Rounded Rectangle 22"/>
          <p:cNvSpPr/>
          <p:nvPr/>
        </p:nvSpPr>
        <p:spPr>
          <a:xfrm>
            <a:off x="4775200" y="4353983"/>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713817"/>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790017"/>
            <a:ext cx="152400" cy="152400"/>
          </a:xfrm>
          <a:prstGeom prst="rect">
            <a:avLst/>
          </a:prstGeom>
        </p:spPr>
      </p:pic>
      <p:sp>
        <p:nvSpPr>
          <p:cNvPr id="26" name="TextBox 25"/>
          <p:cNvSpPr txBox="1"/>
          <p:nvPr/>
        </p:nvSpPr>
        <p:spPr>
          <a:xfrm>
            <a:off x="5359400" y="4506383"/>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Methodologies and taxonomies are house IP. GICS below sector level needs an MSCI/S&amp;P licence; IO data is OECD and EXIOBASE.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39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 every stage leaves a trace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methodology composed from named rules, with no model anywhere in the numbers.</a:t>
            </a:r>
          </a:p>
        </p:txBody>
      </p:sp>
      <p:pic>
        <p:nvPicPr>
          <p:cNvPr id="5" name="Picture 4" descr="index.png"/>
          <p:cNvPicPr>
            <a:picLocks noChangeAspect="1"/>
          </p:cNvPicPr>
          <p:nvPr/>
        </p:nvPicPr>
        <p:blipFill>
          <a:blip r:embed="rId2"/>
          <a:stretch>
            <a:fillRect/>
          </a:stretch>
        </p:blipFill>
        <p:spPr>
          <a:xfrm>
            <a:off x="812800" y="2101850"/>
            <a:ext cx="6553200" cy="3684832"/>
          </a:xfrm>
          <a:prstGeom prst="rect">
            <a:avLst/>
          </a:prstGeom>
        </p:spPr>
      </p:pic>
      <p:sp>
        <p:nvSpPr>
          <p:cNvPr id="6" name="Rounded Rectangle 5"/>
          <p:cNvSpPr/>
          <p:nvPr/>
        </p:nvSpPr>
        <p:spPr>
          <a:xfrm>
            <a:off x="812800" y="2101850"/>
            <a:ext cx="6553200" cy="3684832"/>
          </a:xfrm>
          <a:prstGeom prst="roundRect">
            <a:avLst>
              <a:gd name="adj" fmla="val 2757"/>
            </a:avLst>
          </a:prstGeom>
          <a:noFill/>
          <a:ln w="9525">
            <a:solidFill>
              <a:srgbClr val="E2E8F0"/>
            </a:solidFill>
          </a:ln>
          <a:effectLst/>
        </p:spPr>
        <p:txBody>
          <a:bodyPr rtlCol="0" anchor="ctr"/>
          <a:lstStyle/>
          <a:p>
            <a:pPr algn="ctr"/>
          </a:p>
        </p:txBody>
      </p:sp>
      <p:pic>
        <p:nvPicPr>
          <p:cNvPr id="7" name="Picture 6" descr="fig-machine-filter.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Composed from named rules</a:t>
            </a:r>
          </a:p>
          <a:p>
            <a:pPr>
              <a:lnSpc>
                <a:spcPct val="116667"/>
              </a:lnSpc>
              <a:spcAft>
                <a:spcPts val="0"/>
              </a:spcAft>
            </a:pPr>
            <a:r>
              <a:rPr sz="1200" b="0">
                <a:solidFill>
                  <a:srgbClr val="475569"/>
                </a:solidFill>
                <a:latin typeface="IBM Plex Sans"/>
              </a:rPr>
              <a:t>Screens, selection, weighting, tilts, capping and the PAB or CTB path.</a:t>
            </a:r>
          </a:p>
        </p:txBody>
      </p:sp>
      <p:pic>
        <p:nvPicPr>
          <p:cNvPr id="9" name="Picture 8" descr="fig-machine-calendar-clock.png"/>
          <p:cNvPicPr>
            <a:picLocks noChangeAspect="1"/>
          </p:cNvPicPr>
          <p:nvPr/>
        </p:nvPicPr>
        <p:blipFill>
          <a:blip r:embed="rId4"/>
          <a:stretch>
            <a:fillRect/>
          </a:stretch>
        </p:blipFill>
        <p:spPr>
          <a:xfrm>
            <a:off x="7569200" y="3090944"/>
            <a:ext cx="508000" cy="508000"/>
          </a:xfrm>
          <a:prstGeom prst="rect">
            <a:avLst/>
          </a:prstGeom>
        </p:spPr>
      </p:pic>
      <p:sp>
        <p:nvSpPr>
          <p:cNvPr id="10" name="TextBox 9"/>
          <p:cNvSpPr txBox="1"/>
          <p:nvPr/>
        </p:nvSpPr>
        <p:spPr>
          <a:xfrm>
            <a:off x="8204200" y="3090944"/>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Effective-dated calibrations</a:t>
            </a:r>
          </a:p>
          <a:p>
            <a:pPr>
              <a:lnSpc>
                <a:spcPct val="116667"/>
              </a:lnSpc>
              <a:spcAft>
                <a:spcPts val="0"/>
              </a:spcAft>
            </a:pPr>
            <a:r>
              <a:rPr sz="1200" b="0">
                <a:solidFill>
                  <a:srgbClr val="475569"/>
                </a:solidFill>
                <a:latin typeface="IBM Plex Sans"/>
              </a:rPr>
              <a:t>A review uses the methodology in force on its date; the past holds.</a:t>
            </a:r>
          </a:p>
        </p:txBody>
      </p:sp>
      <p:pic>
        <p:nvPicPr>
          <p:cNvPr id="11" name="Picture 10" descr="fig-machine-calculator.png"/>
          <p:cNvPicPr>
            <a:picLocks noChangeAspect="1"/>
          </p:cNvPicPr>
          <p:nvPr/>
        </p:nvPicPr>
        <p:blipFill>
          <a:blip r:embed="rId5"/>
          <a:stretch>
            <a:fillRect/>
          </a:stretch>
        </p:blipFill>
        <p:spPr>
          <a:xfrm>
            <a:off x="7569200" y="4080038"/>
            <a:ext cx="508000" cy="508000"/>
          </a:xfrm>
          <a:prstGeom prst="rect">
            <a:avLst/>
          </a:prstGeom>
        </p:spPr>
      </p:pic>
      <p:sp>
        <p:nvSpPr>
          <p:cNvPr id="12" name="TextBox 11"/>
          <p:cNvSpPr txBox="1"/>
          <p:nvPr/>
        </p:nvSpPr>
        <p:spPr>
          <a:xfrm>
            <a:off x="8204200" y="4080038"/>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Solvers re-checked</a:t>
            </a:r>
          </a:p>
          <a:p>
            <a:pPr>
              <a:lnSpc>
                <a:spcPct val="116667"/>
              </a:lnSpc>
              <a:spcAft>
                <a:spcPts val="0"/>
              </a:spcAft>
            </a:pPr>
            <a:r>
              <a:rPr sz="1200" b="0">
                <a:solidFill>
                  <a:srgbClr val="475569"/>
                </a:solidFill>
                <a:latin typeface="IBM Plex Sans"/>
              </a:rPr>
              <a:t>Every constraint is verified again in plain Python after any solver.</a:t>
            </a:r>
          </a:p>
        </p:txBody>
      </p:sp>
      <p:pic>
        <p:nvPicPr>
          <p:cNvPr id="13" name="Picture 12" descr="fig-person-users.png"/>
          <p:cNvPicPr>
            <a:picLocks noChangeAspect="1"/>
          </p:cNvPicPr>
          <p:nvPr/>
        </p:nvPicPr>
        <p:blipFill>
          <a:blip r:embed="rId6"/>
          <a:stretch>
            <a:fillRect/>
          </a:stretch>
        </p:blipFill>
        <p:spPr>
          <a:xfrm>
            <a:off x="7569200" y="5069132"/>
            <a:ext cx="508000" cy="508000"/>
          </a:xfrm>
          <a:prstGeom prst="rect">
            <a:avLst/>
          </a:prstGeom>
        </p:spPr>
      </p:pic>
      <p:sp>
        <p:nvSpPr>
          <p:cNvPr id="14" name="TextBox 13"/>
          <p:cNvSpPr txBox="1"/>
          <p:nvPr/>
        </p:nvSpPr>
        <p:spPr>
          <a:xfrm>
            <a:off x="8204200" y="5069132"/>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A funnel for the committee</a:t>
            </a:r>
          </a:p>
          <a:p>
            <a:pPr>
              <a:lnSpc>
                <a:spcPct val="116667"/>
              </a:lnSpc>
              <a:spcAft>
                <a:spcPts val="0"/>
              </a:spcAft>
            </a:pPr>
            <a:r>
              <a:rPr sz="1200" b="0">
                <a:solidFill>
                  <a:srgbClr val="475569"/>
                </a:solidFill>
                <a:latin typeface="IBM Plex Sans"/>
              </a:rPr>
              <a:t>Each stage logs count in, count out and the names it dropped.</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39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StewardIQ: 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Engage and escalate · Proxy season · Client reporting</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Engagement notes, votes and escalations sit in email and spreadsheets: no clear owner, promise or reason for a vote.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record per company, a seven-step escalation ladder, votes cross-checked against open engagements, and a person deciding every step.</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Votes, engagements and escalations share one record, so a vote against management can follow from a stalled engagement, documented.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Client reporting is designed to show house activity plus where a client's policy differed: a basis for client-specific mandates.</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Proxy statements come free from SEC EDGAR and the engagement record is house data. Vote data from a provider brings its own licence terms.</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39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policy engine for house and clients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Eight stages on one graph; clients add only the points where their policy differs.</a:t>
            </a:r>
          </a:p>
        </p:txBody>
      </p:sp>
      <p:pic>
        <p:nvPicPr>
          <p:cNvPr id="5" name="Picture 4" descr="steward.png"/>
          <p:cNvPicPr>
            <a:picLocks noChangeAspect="1"/>
          </p:cNvPicPr>
          <p:nvPr/>
        </p:nvPicPr>
        <p:blipFill>
          <a:blip r:embed="rId2"/>
          <a:stretch>
            <a:fillRect/>
          </a:stretch>
        </p:blipFill>
        <p:spPr>
          <a:xfrm>
            <a:off x="812800" y="2101850"/>
            <a:ext cx="6553200" cy="3276600"/>
          </a:xfrm>
          <a:prstGeom prst="rect">
            <a:avLst/>
          </a:prstGeom>
        </p:spPr>
      </p:pic>
      <p:sp>
        <p:nvSpPr>
          <p:cNvPr id="6" name="Rounded Rectangle 5"/>
          <p:cNvSpPr/>
          <p:nvPr/>
        </p:nvSpPr>
        <p:spPr>
          <a:xfrm>
            <a:off x="812800" y="2101850"/>
            <a:ext cx="6553200" cy="3276600"/>
          </a:xfrm>
          <a:prstGeom prst="roundRect">
            <a:avLst>
              <a:gd name="adj" fmla="val 3100"/>
            </a:avLst>
          </a:prstGeom>
          <a:noFill/>
          <a:ln w="9525">
            <a:solidFill>
              <a:srgbClr val="E2E8F0"/>
            </a:solidFill>
          </a:ln>
          <a:effectLst/>
        </p:spPr>
        <p:txBody>
          <a:bodyPr rtlCol="0" anchor="ctr"/>
          <a:lstStyle/>
          <a:p>
            <a:pPr algn="ctr"/>
          </a:p>
        </p:txBody>
      </p:sp>
      <p:pic>
        <p:nvPicPr>
          <p:cNvPr id="7" name="Picture 6" descr="fig-machine-workflow.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Eight stages, one graph</a:t>
            </a:r>
          </a:p>
          <a:p>
            <a:pPr>
              <a:lnSpc>
                <a:spcPct val="116667"/>
              </a:lnSpc>
              <a:spcAft>
                <a:spcPts val="0"/>
              </a:spcAft>
            </a:pPr>
            <a:r>
              <a:rPr sz="1200" b="0">
                <a:solidFill>
                  <a:srgbClr val="475569"/>
                </a:solidFill>
                <a:latin typeface="IBM Plex Sans"/>
              </a:rPr>
              <a:t>House stages 1 to 6; client policy and reporting are an overlay.</a:t>
            </a:r>
          </a:p>
        </p:txBody>
      </p:sp>
      <p:pic>
        <p:nvPicPr>
          <p:cNvPr id="9" name="Picture 8" descr="fig-machine-git-branch.png"/>
          <p:cNvPicPr>
            <a:picLocks noChangeAspect="1"/>
          </p:cNvPicPr>
          <p:nvPr/>
        </p:nvPicPr>
        <p:blipFill>
          <a:blip r:embed="rId4"/>
          <a:stretch>
            <a:fillRect/>
          </a:stretch>
        </p:blipFill>
        <p:spPr>
          <a:xfrm>
            <a:off x="7569200" y="2954867"/>
            <a:ext cx="508000" cy="508000"/>
          </a:xfrm>
          <a:prstGeom prst="rect">
            <a:avLst/>
          </a:prstGeom>
        </p:spPr>
      </p:pic>
      <p:sp>
        <p:nvSpPr>
          <p:cNvPr id="10" name="TextBox 9"/>
          <p:cNvSpPr txBox="1"/>
          <p:nvPr/>
        </p:nvSpPr>
        <p:spPr>
          <a:xfrm>
            <a:off x="8204200" y="2954867"/>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Rules as decision graphs</a:t>
            </a:r>
          </a:p>
          <a:p>
            <a:pPr>
              <a:lnSpc>
                <a:spcPct val="116667"/>
              </a:lnSpc>
              <a:spcAft>
                <a:spcPts val="0"/>
              </a:spcAft>
            </a:pPr>
            <a:r>
              <a:rPr sz="1200" b="0">
                <a:solidFill>
                  <a:srgbClr val="475569"/>
                </a:solidFill>
                <a:latin typeface="IBM Plex Sans"/>
              </a:rPr>
              <a:t>House and client rules run on one decision-graph engine.</a:t>
            </a:r>
          </a:p>
        </p:txBody>
      </p:sp>
      <p:pic>
        <p:nvPicPr>
          <p:cNvPr id="11" name="Picture 10" descr="fig-machine-trending-up.png"/>
          <p:cNvPicPr>
            <a:picLocks noChangeAspect="1"/>
          </p:cNvPicPr>
          <p:nvPr/>
        </p:nvPicPr>
        <p:blipFill>
          <a:blip r:embed="rId5"/>
          <a:stretch>
            <a:fillRect/>
          </a:stretch>
        </p:blipFill>
        <p:spPr>
          <a:xfrm>
            <a:off x="7569200" y="3807883"/>
            <a:ext cx="508000" cy="508000"/>
          </a:xfrm>
          <a:prstGeom prst="rect">
            <a:avLst/>
          </a:prstGeom>
        </p:spPr>
      </p:pic>
      <p:sp>
        <p:nvSpPr>
          <p:cNvPr id="12" name="TextBox 11"/>
          <p:cNvSpPr txBox="1"/>
          <p:nvPr/>
        </p:nvSpPr>
        <p:spPr>
          <a:xfrm>
            <a:off x="8204200" y="3807883"/>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Escalation capped by tier</a:t>
            </a:r>
          </a:p>
          <a:p>
            <a:pPr>
              <a:lnSpc>
                <a:spcPct val="116667"/>
              </a:lnSpc>
              <a:spcAft>
                <a:spcPts val="0"/>
              </a:spcAft>
            </a:pPr>
            <a:r>
              <a:rPr sz="1200" b="0">
                <a:solidFill>
                  <a:srgbClr val="475569"/>
                </a:solidFill>
                <a:latin typeface="IBM Plex Sans"/>
              </a:rPr>
              <a:t>Rules propose how far to escalate; the coverage tier caps it.</a:t>
            </a:r>
          </a:p>
        </p:txBody>
      </p:sp>
      <p:pic>
        <p:nvPicPr>
          <p:cNvPr id="13" name="Picture 12" descr="fig-person-scale.png"/>
          <p:cNvPicPr>
            <a:picLocks noChangeAspect="1"/>
          </p:cNvPicPr>
          <p:nvPr/>
        </p:nvPicPr>
        <p:blipFill>
          <a:blip r:embed="rId6"/>
          <a:stretch>
            <a:fillRect/>
          </a:stretch>
        </p:blipFill>
        <p:spPr>
          <a:xfrm>
            <a:off x="7569200" y="4660900"/>
            <a:ext cx="508000" cy="508000"/>
          </a:xfrm>
          <a:prstGeom prst="rect">
            <a:avLst/>
          </a:prstGeom>
        </p:spPr>
      </p:pic>
      <p:sp>
        <p:nvSpPr>
          <p:cNvPr id="14" name="TextBox 13"/>
          <p:cNvSpPr txBox="1"/>
          <p:nvPr/>
        </p:nvSpPr>
        <p:spPr>
          <a:xfrm>
            <a:off x="8204200" y="46609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People decide at the checkpoint</a:t>
            </a:r>
          </a:p>
          <a:p>
            <a:pPr>
              <a:lnSpc>
                <a:spcPct val="116667"/>
              </a:lnSpc>
              <a:spcAft>
                <a:spcPts val="0"/>
              </a:spcAft>
            </a:pPr>
            <a:r>
              <a:rPr sz="1200" b="0">
                <a:solidFill>
                  <a:srgbClr val="475569"/>
                </a:solidFill>
                <a:latin typeface="IBM Plex Sans"/>
              </a:rPr>
              <a:t>Escalations and tier changes wait for a named person.</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 Hub: one source of truth for inputs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Map securities to issuers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Each tool maps securities to issuers its own way, and a stale or failed feed goes unnoticed until a number is wrong.</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security master that maps every held security to exactly one issuer, a feed list that shows what is behind, and one list of open data issues.</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Holdings, news and alerts reach the same issuer through one master, so an engagement and its evidence point to the same company.</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The output catalogue shows which universes, runs, scores and calibrations each product uses, so its inputs can be traced and reused.</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Every provider source is tagged internal-only or redistributable, so the licence limits on each dataset are visible before reuse.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FEATURE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Every data problem in one list, blocking first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Feeds, the security master and failing checks, each issue linked to where it is fixed.</a:t>
            </a:r>
          </a:p>
        </p:txBody>
      </p:sp>
      <p:pic>
        <p:nvPicPr>
          <p:cNvPr id="5" name="Picture 4" descr="issues.png"/>
          <p:cNvPicPr>
            <a:picLocks noChangeAspect="1"/>
          </p:cNvPicPr>
          <p:nvPr/>
        </p:nvPicPr>
        <p:blipFill>
          <a:blip r:embed="rId2"/>
          <a:stretch>
            <a:fillRect/>
          </a:stretch>
        </p:blipFill>
        <p:spPr>
          <a:xfrm>
            <a:off x="812800" y="2101850"/>
            <a:ext cx="6553200" cy="2954311"/>
          </a:xfrm>
          <a:prstGeom prst="rect">
            <a:avLst/>
          </a:prstGeom>
        </p:spPr>
      </p:pic>
      <p:sp>
        <p:nvSpPr>
          <p:cNvPr id="6" name="Rounded Rectangle 5"/>
          <p:cNvSpPr/>
          <p:nvPr/>
        </p:nvSpPr>
        <p:spPr>
          <a:xfrm>
            <a:off x="812800" y="2101850"/>
            <a:ext cx="6553200" cy="2954311"/>
          </a:xfrm>
          <a:prstGeom prst="roundRect">
            <a:avLst>
              <a:gd name="adj" fmla="val 3439"/>
            </a:avLst>
          </a:prstGeom>
          <a:noFill/>
          <a:ln w="9525">
            <a:solidFill>
              <a:srgbClr val="E2E8F0"/>
            </a:solidFill>
          </a:ln>
          <a:effectLst/>
        </p:spPr>
        <p:txBody>
          <a:bodyPr rtlCol="0" anchor="ctr"/>
          <a:lstStyle/>
          <a:p>
            <a:pPr algn="ctr"/>
          </a:p>
        </p:txBody>
      </p:sp>
      <p:pic>
        <p:nvPicPr>
          <p:cNvPr id="7" name="Picture 6" descr="fig-machine-key-round.png"/>
          <p:cNvPicPr>
            <a:picLocks noChangeAspect="1"/>
          </p:cNvPicPr>
          <p:nvPr/>
        </p:nvPicPr>
        <p:blipFill>
          <a:blip r:embed="rId3"/>
          <a:stretch>
            <a:fillRect/>
          </a:stretch>
        </p:blipFill>
        <p:spPr>
          <a:xfrm>
            <a:off x="7569200" y="2101850"/>
            <a:ext cx="508000" cy="508000"/>
          </a:xfrm>
          <a:prstGeom prst="rect">
            <a:avLst/>
          </a:prstGeom>
        </p:spPr>
      </p:pic>
      <p:sp>
        <p:nvSpPr>
          <p:cNvPr id="8" name="TextBox 7"/>
          <p:cNvSpPr txBox="1"/>
          <p:nvPr/>
        </p:nvSpPr>
        <p:spPr>
          <a:xfrm>
            <a:off x="8204200" y="21018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Exact matching only</a:t>
            </a:r>
          </a:p>
          <a:p>
            <a:pPr>
              <a:lnSpc>
                <a:spcPct val="116667"/>
              </a:lnSpc>
              <a:spcAft>
                <a:spcPts val="0"/>
              </a:spcAft>
            </a:pPr>
            <a:r>
              <a:rPr sz="1200" b="0">
                <a:solidFill>
                  <a:srgbClr val="475569"/>
                </a:solidFill>
                <a:latin typeface="IBM Plex Sans"/>
              </a:rPr>
              <a:t>LEI, ISIN or CIK map a security to one issuer, never a name.</a:t>
            </a:r>
          </a:p>
        </p:txBody>
      </p:sp>
      <p:pic>
        <p:nvPicPr>
          <p:cNvPr id="9" name="Picture 8" descr="fig-machine-bell-ring.png"/>
          <p:cNvPicPr>
            <a:picLocks noChangeAspect="1"/>
          </p:cNvPicPr>
          <p:nvPr/>
        </p:nvPicPr>
        <p:blipFill>
          <a:blip r:embed="rId4"/>
          <a:stretch>
            <a:fillRect/>
          </a:stretch>
        </p:blipFill>
        <p:spPr>
          <a:xfrm>
            <a:off x="7569200" y="2921000"/>
            <a:ext cx="508000" cy="508000"/>
          </a:xfrm>
          <a:prstGeom prst="rect">
            <a:avLst/>
          </a:prstGeom>
        </p:spPr>
      </p:pic>
      <p:sp>
        <p:nvSpPr>
          <p:cNvPr id="10" name="TextBox 9"/>
          <p:cNvSpPr txBox="1"/>
          <p:nvPr/>
        </p:nvSpPr>
        <p:spPr>
          <a:xfrm>
            <a:off x="8204200" y="29210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Feeds that say they are late</a:t>
            </a:r>
          </a:p>
          <a:p>
            <a:pPr>
              <a:lnSpc>
                <a:spcPct val="116667"/>
              </a:lnSpc>
              <a:spcAft>
                <a:spcPts val="0"/>
              </a:spcAft>
            </a:pPr>
            <a:r>
              <a:rPr sz="1200" b="0">
                <a:solidFill>
                  <a:srgbClr val="475569"/>
                </a:solidFill>
                <a:latin typeface="IBM Plex Sans"/>
              </a:rPr>
              <a:t>A load older than last month end is flagged as behind.</a:t>
            </a:r>
          </a:p>
        </p:txBody>
      </p:sp>
      <p:pic>
        <p:nvPicPr>
          <p:cNvPr id="11" name="Picture 10" descr="fig-machine-list-ordered.png"/>
          <p:cNvPicPr>
            <a:picLocks noChangeAspect="1"/>
          </p:cNvPicPr>
          <p:nvPr/>
        </p:nvPicPr>
        <p:blipFill>
          <a:blip r:embed="rId5"/>
          <a:stretch>
            <a:fillRect/>
          </a:stretch>
        </p:blipFill>
        <p:spPr>
          <a:xfrm>
            <a:off x="7569200" y="3740150"/>
            <a:ext cx="508000" cy="508000"/>
          </a:xfrm>
          <a:prstGeom prst="rect">
            <a:avLst/>
          </a:prstGeom>
        </p:spPr>
      </p:pic>
      <p:sp>
        <p:nvSpPr>
          <p:cNvPr id="12" name="TextBox 11"/>
          <p:cNvSpPr txBox="1"/>
          <p:nvPr/>
        </p:nvSpPr>
        <p:spPr>
          <a:xfrm>
            <a:off x="8204200" y="374015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Blocking issues first</a:t>
            </a:r>
          </a:p>
          <a:p>
            <a:pPr>
              <a:lnSpc>
                <a:spcPct val="116667"/>
              </a:lnSpc>
              <a:spcAft>
                <a:spcPts val="0"/>
              </a:spcAft>
            </a:pPr>
            <a:r>
              <a:rPr sz="1200" b="0">
                <a:solidFill>
                  <a:srgbClr val="475569"/>
                </a:solidFill>
                <a:latin typeface="IBM Plex Sans"/>
              </a:rPr>
              <a:t>Feed and master problems come before the checks they cause.</a:t>
            </a:r>
          </a:p>
        </p:txBody>
      </p:sp>
      <p:pic>
        <p:nvPicPr>
          <p:cNvPr id="13" name="Picture 12" descr="fig-machine-lock.png"/>
          <p:cNvPicPr>
            <a:picLocks noChangeAspect="1"/>
          </p:cNvPicPr>
          <p:nvPr/>
        </p:nvPicPr>
        <p:blipFill>
          <a:blip r:embed="rId6"/>
          <a:stretch>
            <a:fillRect/>
          </a:stretch>
        </p:blipFill>
        <p:spPr>
          <a:xfrm>
            <a:off x="7569200" y="4559300"/>
            <a:ext cx="508000" cy="508000"/>
          </a:xfrm>
          <a:prstGeom prst="rect">
            <a:avLst/>
          </a:prstGeom>
        </p:spPr>
      </p:pic>
      <p:sp>
        <p:nvSpPr>
          <p:cNvPr id="14" name="TextBox 13"/>
          <p:cNvSpPr txBox="1"/>
          <p:nvPr/>
        </p:nvSpPr>
        <p:spPr>
          <a:xfrm>
            <a:off x="8204200" y="4559300"/>
            <a:ext cx="3175000" cy="717550"/>
          </a:xfrm>
          <a:prstGeom prst="rect">
            <a:avLst/>
          </a:prstGeom>
          <a:noFill/>
        </p:spPr>
        <p:txBody>
          <a:bodyPr wrap="square" lIns="0" rIns="0" tIns="0" bIns="0" anchor="t">
            <a:spAutoFit/>
          </a:bodyPr>
          <a:lstStyle/>
          <a:p>
            <a:pPr>
              <a:lnSpc>
                <a:spcPct val="108333"/>
              </a:lnSpc>
              <a:spcAft>
                <a:spcPts val="300"/>
              </a:spcAft>
            </a:pPr>
            <a:r>
              <a:rPr sz="1200" b="1">
                <a:solidFill>
                  <a:srgbClr val="0F172A"/>
                </a:solidFill>
                <a:latin typeface="IBM Plex Sans"/>
              </a:rPr>
              <a:t>Licence-aware publishing</a:t>
            </a:r>
          </a:p>
          <a:p>
            <a:pPr>
              <a:lnSpc>
                <a:spcPct val="116667"/>
              </a:lnSpc>
              <a:spcAft>
                <a:spcPts val="0"/>
              </a:spcAft>
            </a:pPr>
            <a:r>
              <a:rPr sz="1200" b="0">
                <a:solidFill>
                  <a:srgbClr val="475569"/>
                </a:solidFill>
                <a:latin typeface="IBM Plex Sans"/>
              </a:rPr>
              <a:t>Internal-only provider data never reaches the publish path.</a:t>
            </a:r>
          </a:p>
        </p:txBody>
      </p:sp>
      <p:sp>
        <p:nvSpPr>
          <p:cNvPr id="15" name="TextBox 1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16" name="TextBox 1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15 / 39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39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DESIGN PRINCIPLES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Nine rules the whole app follows</a:t>
            </a:r>
          </a:p>
        </p:txBody>
      </p:sp>
      <p:sp>
        <p:nvSpPr>
          <p:cNvPr id="4" name="Rounded Rectangle 3"/>
          <p:cNvSpPr/>
          <p:nvPr/>
        </p:nvSpPr>
        <p:spPr>
          <a:xfrm>
            <a:off x="812800"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code-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1371600"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The LLM plans, code computes</a:t>
            </a:r>
          </a:p>
        </p:txBody>
      </p:sp>
      <p:sp>
        <p:nvSpPr>
          <p:cNvPr id="8" name="TextBox 7"/>
          <p:cNvSpPr txBox="1"/>
          <p:nvPr/>
        </p:nvSpPr>
        <p:spPr>
          <a:xfrm>
            <a:off x="965200"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Numbers and scores are plain code; a model never states a figure.</a:t>
            </a:r>
          </a:p>
        </p:txBody>
      </p:sp>
      <p:sp>
        <p:nvSpPr>
          <p:cNvPr id="9" name="Rounded Rectangle 8"/>
          <p:cNvSpPr/>
          <p:nvPr/>
        </p:nvSpPr>
        <p:spPr>
          <a:xfrm>
            <a:off x="4385733"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4538133" y="2006600"/>
            <a:ext cx="304800" cy="304800"/>
          </a:xfrm>
          <a:prstGeom prst="ellipse">
            <a:avLst/>
          </a:prstGeom>
          <a:solidFill>
            <a:srgbClr val="16A34A"/>
          </a:solidFill>
          <a:ln>
            <a:noFill/>
          </a:ln>
          <a:effectLst/>
        </p:spPr>
        <p:txBody>
          <a:bodyPr rtlCol="0" anchor="ctr"/>
          <a:lstStyle/>
          <a:p>
            <a:pPr algn="ctr"/>
          </a:p>
        </p:txBody>
      </p:sp>
      <p:pic>
        <p:nvPicPr>
          <p:cNvPr id="11" name="Picture 10" descr="quote-FFFFFF.png"/>
          <p:cNvPicPr>
            <a:picLocks noChangeAspect="1"/>
          </p:cNvPicPr>
          <p:nvPr/>
        </p:nvPicPr>
        <p:blipFill>
          <a:blip r:embed="rId3"/>
          <a:stretch>
            <a:fillRect/>
          </a:stretch>
        </p:blipFill>
        <p:spPr>
          <a:xfrm>
            <a:off x="4614333" y="2082800"/>
            <a:ext cx="152400" cy="152400"/>
          </a:xfrm>
          <a:prstGeom prst="rect">
            <a:avLst/>
          </a:prstGeom>
        </p:spPr>
      </p:pic>
      <p:sp>
        <p:nvSpPr>
          <p:cNvPr id="12" name="TextBox 11"/>
          <p:cNvSpPr txBox="1"/>
          <p:nvPr/>
        </p:nvSpPr>
        <p:spPr>
          <a:xfrm>
            <a:off x="4944533"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Every citation is re-checked</a:t>
            </a:r>
          </a:p>
        </p:txBody>
      </p:sp>
      <p:sp>
        <p:nvSpPr>
          <p:cNvPr id="13" name="TextBox 12"/>
          <p:cNvSpPr txBox="1"/>
          <p:nvPr/>
        </p:nvSpPr>
        <p:spPr>
          <a:xfrm>
            <a:off x="4538133"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Quotes are matched to the source in code, never taken on trust.</a:t>
            </a:r>
          </a:p>
        </p:txBody>
      </p:sp>
      <p:sp>
        <p:nvSpPr>
          <p:cNvPr id="14" name="Rounded Rectangle 13"/>
          <p:cNvSpPr/>
          <p:nvPr/>
        </p:nvSpPr>
        <p:spPr>
          <a:xfrm>
            <a:off x="7958667" y="18542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8111067" y="2006600"/>
            <a:ext cx="304800" cy="304800"/>
          </a:xfrm>
          <a:prstGeom prst="ellipse">
            <a:avLst/>
          </a:prstGeom>
          <a:solidFill>
            <a:srgbClr val="2563EB"/>
          </a:solidFill>
          <a:ln>
            <a:noFill/>
          </a:ln>
          <a:effectLst/>
        </p:spPr>
        <p:txBody>
          <a:bodyPr rtlCol="0" anchor="ctr"/>
          <a:lstStyle/>
          <a:p>
            <a:pPr algn="ctr"/>
          </a:p>
        </p:txBody>
      </p:sp>
      <p:pic>
        <p:nvPicPr>
          <p:cNvPr id="16" name="Picture 15" descr="users-FFFFFF.png"/>
          <p:cNvPicPr>
            <a:picLocks noChangeAspect="1"/>
          </p:cNvPicPr>
          <p:nvPr/>
        </p:nvPicPr>
        <p:blipFill>
          <a:blip r:embed="rId4"/>
          <a:stretch>
            <a:fillRect/>
          </a:stretch>
        </p:blipFill>
        <p:spPr>
          <a:xfrm>
            <a:off x="8187267" y="2082800"/>
            <a:ext cx="152400" cy="152400"/>
          </a:xfrm>
          <a:prstGeom prst="rect">
            <a:avLst/>
          </a:prstGeom>
        </p:spPr>
      </p:pic>
      <p:sp>
        <p:nvSpPr>
          <p:cNvPr id="17" name="TextBox 16"/>
          <p:cNvSpPr txBox="1"/>
          <p:nvPr/>
        </p:nvSpPr>
        <p:spPr>
          <a:xfrm>
            <a:off x="8517467" y="20066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Agents propose, people ratify</a:t>
            </a:r>
          </a:p>
        </p:txBody>
      </p:sp>
      <p:sp>
        <p:nvSpPr>
          <p:cNvPr id="18" name="TextBox 17"/>
          <p:cNvSpPr txBox="1"/>
          <p:nvPr/>
        </p:nvSpPr>
        <p:spPr>
          <a:xfrm>
            <a:off x="8111067" y="23876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Review queues, four-eyes, signed rules; only approvers publish.</a:t>
            </a:r>
          </a:p>
        </p:txBody>
      </p:sp>
      <p:sp>
        <p:nvSpPr>
          <p:cNvPr id="19" name="Rounded Rectangle 18"/>
          <p:cNvSpPr/>
          <p:nvPr/>
        </p:nvSpPr>
        <p:spPr>
          <a:xfrm>
            <a:off x="812800"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3308350"/>
            <a:ext cx="304800" cy="304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1041400" y="3384550"/>
            <a:ext cx="152400" cy="152400"/>
          </a:xfrm>
          <a:prstGeom prst="rect">
            <a:avLst/>
          </a:prstGeom>
        </p:spPr>
      </p:pic>
      <p:sp>
        <p:nvSpPr>
          <p:cNvPr id="22" name="TextBox 21"/>
          <p:cNvSpPr txBox="1"/>
          <p:nvPr/>
        </p:nvSpPr>
        <p:spPr>
          <a:xfrm>
            <a:off x="1371600"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Structured data first</a:t>
            </a:r>
          </a:p>
        </p:txBody>
      </p:sp>
      <p:sp>
        <p:nvSpPr>
          <p:cNvPr id="23" name="TextBox 22"/>
          <p:cNvSpPr txBox="1"/>
          <p:nvPr/>
        </p:nvSpPr>
        <p:spPr>
          <a:xfrm>
            <a:off x="965200"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XBRL, catalogues and house rules settle what they can first.</a:t>
            </a:r>
          </a:p>
        </p:txBody>
      </p:sp>
      <p:sp>
        <p:nvSpPr>
          <p:cNvPr id="24" name="Rounded Rectangle 23"/>
          <p:cNvSpPr/>
          <p:nvPr/>
        </p:nvSpPr>
        <p:spPr>
          <a:xfrm>
            <a:off x="4385733"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4538133" y="3308350"/>
            <a:ext cx="304800" cy="304800"/>
          </a:xfrm>
          <a:prstGeom prst="ellipse">
            <a:avLst/>
          </a:prstGeom>
          <a:solidFill>
            <a:srgbClr val="0F172A"/>
          </a:solidFill>
          <a:ln>
            <a:noFill/>
          </a:ln>
          <a:effectLst/>
        </p:spPr>
        <p:txBody>
          <a:bodyPr rtlCol="0" anchor="ctr"/>
          <a:lstStyle/>
          <a:p>
            <a:pPr algn="ctr"/>
          </a:p>
        </p:txBody>
      </p:sp>
      <p:pic>
        <p:nvPicPr>
          <p:cNvPr id="26" name="Picture 25" descr="search-x-FFFFFF.png"/>
          <p:cNvPicPr>
            <a:picLocks noChangeAspect="1"/>
          </p:cNvPicPr>
          <p:nvPr/>
        </p:nvPicPr>
        <p:blipFill>
          <a:blip r:embed="rId6"/>
          <a:stretch>
            <a:fillRect/>
          </a:stretch>
        </p:blipFill>
        <p:spPr>
          <a:xfrm>
            <a:off x="4614333" y="3384550"/>
            <a:ext cx="152400" cy="152400"/>
          </a:xfrm>
          <a:prstGeom prst="rect">
            <a:avLst/>
          </a:prstGeom>
        </p:spPr>
      </p:pic>
      <p:sp>
        <p:nvSpPr>
          <p:cNvPr id="27" name="TextBox 26"/>
          <p:cNvSpPr txBox="1"/>
          <p:nvPr/>
        </p:nvSpPr>
        <p:spPr>
          <a:xfrm>
            <a:off x="4944533"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Not found is an answer</a:t>
            </a:r>
          </a:p>
        </p:txBody>
      </p:sp>
      <p:sp>
        <p:nvSpPr>
          <p:cNvPr id="28" name="TextBox 27"/>
          <p:cNvSpPr txBox="1"/>
          <p:nvPr/>
        </p:nvSpPr>
        <p:spPr>
          <a:xfrm>
            <a:off x="4538133"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not-found, never a guess.</a:t>
            </a:r>
          </a:p>
        </p:txBody>
      </p:sp>
      <p:sp>
        <p:nvSpPr>
          <p:cNvPr id="29" name="Rounded Rectangle 28"/>
          <p:cNvSpPr/>
          <p:nvPr/>
        </p:nvSpPr>
        <p:spPr>
          <a:xfrm>
            <a:off x="7958667" y="315595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8111067" y="3308350"/>
            <a:ext cx="304800" cy="304800"/>
          </a:xfrm>
          <a:prstGeom prst="ellipse">
            <a:avLst/>
          </a:prstGeom>
          <a:solidFill>
            <a:srgbClr val="0F172A"/>
          </a:solidFill>
          <a:ln>
            <a:noFill/>
          </a:ln>
          <a:effectLst/>
        </p:spPr>
        <p:txBody>
          <a:bodyPr rtlCol="0" anchor="ctr"/>
          <a:lstStyle/>
          <a:p>
            <a:pPr algn="ctr"/>
          </a:p>
        </p:txBody>
      </p:sp>
      <p:pic>
        <p:nvPicPr>
          <p:cNvPr id="31" name="Picture 30" descr="history-FFFFFF.png"/>
          <p:cNvPicPr>
            <a:picLocks noChangeAspect="1"/>
          </p:cNvPicPr>
          <p:nvPr/>
        </p:nvPicPr>
        <p:blipFill>
          <a:blip r:embed="rId7"/>
          <a:stretch>
            <a:fillRect/>
          </a:stretch>
        </p:blipFill>
        <p:spPr>
          <a:xfrm>
            <a:off x="8187267" y="3384550"/>
            <a:ext cx="152400" cy="152400"/>
          </a:xfrm>
          <a:prstGeom prst="rect">
            <a:avLst/>
          </a:prstGeom>
        </p:spPr>
      </p:pic>
      <p:sp>
        <p:nvSpPr>
          <p:cNvPr id="32" name="TextBox 31"/>
          <p:cNvSpPr txBox="1"/>
          <p:nvPr/>
        </p:nvSpPr>
        <p:spPr>
          <a:xfrm>
            <a:off x="8517467" y="330835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Versioned and dated</a:t>
            </a:r>
          </a:p>
        </p:txBody>
      </p:sp>
      <p:sp>
        <p:nvSpPr>
          <p:cNvPr id="33" name="TextBox 32"/>
          <p:cNvSpPr txBox="1"/>
          <p:nvPr/>
        </p:nvSpPr>
        <p:spPr>
          <a:xfrm>
            <a:off x="8111067" y="368935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Frameworks, calibrations and facts are dated; the past holds.</a:t>
            </a:r>
          </a:p>
        </p:txBody>
      </p:sp>
      <p:sp>
        <p:nvSpPr>
          <p:cNvPr id="34" name="Rounded Rectangle 33"/>
          <p:cNvSpPr/>
          <p:nvPr/>
        </p:nvSpPr>
        <p:spPr>
          <a:xfrm>
            <a:off x="812800"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965200" y="4610100"/>
            <a:ext cx="304800" cy="304800"/>
          </a:xfrm>
          <a:prstGeom prst="ellipse">
            <a:avLst/>
          </a:prstGeom>
          <a:solidFill>
            <a:srgbClr val="0F172A"/>
          </a:solidFill>
          <a:ln>
            <a:noFill/>
          </a:ln>
          <a:effectLst/>
        </p:spPr>
        <p:txBody>
          <a:bodyPr rtlCol="0" anchor="ctr"/>
          <a:lstStyle/>
          <a:p>
            <a:pPr algn="ctr"/>
          </a:p>
        </p:txBody>
      </p:sp>
      <p:pic>
        <p:nvPicPr>
          <p:cNvPr id="36" name="Picture 35" descr="database-FFFFFF.png"/>
          <p:cNvPicPr>
            <a:picLocks noChangeAspect="1"/>
          </p:cNvPicPr>
          <p:nvPr/>
        </p:nvPicPr>
        <p:blipFill>
          <a:blip r:embed="rId8"/>
          <a:stretch>
            <a:fillRect/>
          </a:stretch>
        </p:blipFill>
        <p:spPr>
          <a:xfrm>
            <a:off x="1041400" y="4686300"/>
            <a:ext cx="152400" cy="152400"/>
          </a:xfrm>
          <a:prstGeom prst="rect">
            <a:avLst/>
          </a:prstGeom>
        </p:spPr>
      </p:pic>
      <p:sp>
        <p:nvSpPr>
          <p:cNvPr id="37" name="TextBox 36"/>
          <p:cNvSpPr txBox="1"/>
          <p:nvPr/>
        </p:nvSpPr>
        <p:spPr>
          <a:xfrm>
            <a:off x="1371600"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Resumable at scale</a:t>
            </a:r>
          </a:p>
        </p:txBody>
      </p:sp>
      <p:sp>
        <p:nvSpPr>
          <p:cNvPr id="38" name="TextBox 37"/>
          <p:cNvSpPr txBox="1"/>
          <p:nvPr/>
        </p:nvSpPr>
        <p:spPr>
          <a:xfrm>
            <a:off x="965200"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Postgres is the record; each company commits as it finishes.</a:t>
            </a:r>
          </a:p>
        </p:txBody>
      </p:sp>
      <p:sp>
        <p:nvSpPr>
          <p:cNvPr id="39" name="Rounded Rectangle 38"/>
          <p:cNvSpPr/>
          <p:nvPr/>
        </p:nvSpPr>
        <p:spPr>
          <a:xfrm>
            <a:off x="4385733"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4538133" y="4610100"/>
            <a:ext cx="304800" cy="304800"/>
          </a:xfrm>
          <a:prstGeom prst="ellipse">
            <a:avLst/>
          </a:prstGeom>
          <a:solidFill>
            <a:srgbClr val="2563EB"/>
          </a:solidFill>
          <a:ln>
            <a:noFill/>
          </a:ln>
          <a:effectLst/>
        </p:spPr>
        <p:txBody>
          <a:bodyPr rtlCol="0" anchor="ctr"/>
          <a:lstStyle/>
          <a:p>
            <a:pPr algn="ctr"/>
          </a:p>
        </p:txBody>
      </p:sp>
      <p:pic>
        <p:nvPicPr>
          <p:cNvPr id="41" name="Picture 40" descr="bell-ring-FFFFFF.png"/>
          <p:cNvPicPr>
            <a:picLocks noChangeAspect="1"/>
          </p:cNvPicPr>
          <p:nvPr/>
        </p:nvPicPr>
        <p:blipFill>
          <a:blip r:embed="rId9"/>
          <a:stretch>
            <a:fillRect/>
          </a:stretch>
        </p:blipFill>
        <p:spPr>
          <a:xfrm>
            <a:off x="4614333" y="4686300"/>
            <a:ext cx="152400" cy="152400"/>
          </a:xfrm>
          <a:prstGeom prst="rect">
            <a:avLst/>
          </a:prstGeom>
        </p:spPr>
      </p:pic>
      <p:sp>
        <p:nvSpPr>
          <p:cNvPr id="42" name="TextBox 41"/>
          <p:cNvSpPr txBox="1"/>
          <p:nvPr/>
        </p:nvSpPr>
        <p:spPr>
          <a:xfrm>
            <a:off x="4944533"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One signal colour</a:t>
            </a:r>
          </a:p>
        </p:txBody>
      </p:sp>
      <p:sp>
        <p:nvSpPr>
          <p:cNvPr id="43" name="TextBox 42"/>
          <p:cNvSpPr txBox="1"/>
          <p:nvPr/>
        </p:nvSpPr>
        <p:spPr>
          <a:xfrm>
            <a:off x="4538133"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screen lights up only where a person must act.</a:t>
            </a:r>
          </a:p>
        </p:txBody>
      </p:sp>
      <p:sp>
        <p:nvSpPr>
          <p:cNvPr id="44" name="Rounded Rectangle 43"/>
          <p:cNvSpPr/>
          <p:nvPr/>
        </p:nvSpPr>
        <p:spPr>
          <a:xfrm>
            <a:off x="7958667" y="44577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45" name="Oval 44"/>
          <p:cNvSpPr/>
          <p:nvPr/>
        </p:nvSpPr>
        <p:spPr>
          <a:xfrm>
            <a:off x="8111067" y="4610100"/>
            <a:ext cx="304800" cy="304800"/>
          </a:xfrm>
          <a:prstGeom prst="ellipse">
            <a:avLst/>
          </a:prstGeom>
          <a:solidFill>
            <a:srgbClr val="0F172A"/>
          </a:solidFill>
          <a:ln>
            <a:noFill/>
          </a:ln>
          <a:effectLst/>
        </p:spPr>
        <p:txBody>
          <a:bodyPr rtlCol="0" anchor="ctr"/>
          <a:lstStyle/>
          <a:p>
            <a:pPr algn="ctr"/>
          </a:p>
        </p:txBody>
      </p:sp>
      <p:pic>
        <p:nvPicPr>
          <p:cNvPr id="46" name="Picture 45" descr="workflow-FFFFFF.png"/>
          <p:cNvPicPr>
            <a:picLocks noChangeAspect="1"/>
          </p:cNvPicPr>
          <p:nvPr/>
        </p:nvPicPr>
        <p:blipFill>
          <a:blip r:embed="rId10"/>
          <a:stretch>
            <a:fillRect/>
          </a:stretch>
        </p:blipFill>
        <p:spPr>
          <a:xfrm>
            <a:off x="8187267" y="4686300"/>
            <a:ext cx="152400" cy="152400"/>
          </a:xfrm>
          <a:prstGeom prst="rect">
            <a:avLst/>
          </a:prstGeom>
        </p:spPr>
      </p:pic>
      <p:sp>
        <p:nvSpPr>
          <p:cNvPr id="47" name="TextBox 46"/>
          <p:cNvSpPr txBox="1"/>
          <p:nvPr/>
        </p:nvSpPr>
        <p:spPr>
          <a:xfrm>
            <a:off x="8517467" y="4610100"/>
            <a:ext cx="2709333" cy="304800"/>
          </a:xfrm>
          <a:prstGeom prst="rect">
            <a:avLst/>
          </a:prstGeom>
          <a:noFill/>
        </p:spPr>
        <p:txBody>
          <a:bodyPr wrap="square" lIns="0" rIns="0" tIns="0" bIns="0" anchor="ctr">
            <a:spAutoFit/>
          </a:bodyPr>
          <a:lstStyle/>
          <a:p>
            <a:pPr>
              <a:lnSpc>
                <a:spcPct val="100000"/>
              </a:lnSpc>
              <a:spcAft>
                <a:spcPts val="0"/>
              </a:spcAft>
            </a:pPr>
            <a:r>
              <a:rPr sz="1300" b="1">
                <a:solidFill>
                  <a:srgbClr val="0F172A"/>
                </a:solidFill>
                <a:latin typeface="IBM Plex Sans"/>
              </a:rPr>
              <a:t>Processes, not pages</a:t>
            </a:r>
          </a:p>
        </p:txBody>
      </p:sp>
      <p:sp>
        <p:nvSpPr>
          <p:cNvPr id="48" name="TextBox 47"/>
          <p:cNvSpPr txBox="1"/>
          <p:nvPr/>
        </p:nvSpPr>
        <p:spPr>
          <a:xfrm>
            <a:off x="8111067" y="49911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step names its handoff; manual handoffs show as gaps.</a:t>
            </a:r>
          </a:p>
        </p:txBody>
      </p:sp>
      <p:sp>
        <p:nvSpPr>
          <p:cNvPr id="49" name="TextBox 4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50" name="TextBox 4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AGENTS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Robots that propose, code that checks</a:t>
            </a:r>
          </a:p>
        </p:txBody>
      </p:sp>
      <p:sp>
        <p:nvSpPr>
          <p:cNvPr id="4" name="Rounded Rectangle 3"/>
          <p:cNvSpPr/>
          <p:nvPr/>
        </p:nvSpPr>
        <p:spPr>
          <a:xfrm>
            <a:off x="812800"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5" name="Picture 4" descr="fig-robot-scan-text.png"/>
          <p:cNvPicPr>
            <a:picLocks noChangeAspect="1"/>
          </p:cNvPicPr>
          <p:nvPr/>
        </p:nvPicPr>
        <p:blipFill>
          <a:blip r:embed="rId2"/>
          <a:stretch>
            <a:fillRect/>
          </a:stretch>
        </p:blipFill>
        <p:spPr>
          <a:xfrm>
            <a:off x="965200" y="1981200"/>
            <a:ext cx="558800" cy="558800"/>
          </a:xfrm>
          <a:prstGeom prst="rect">
            <a:avLst/>
          </a:prstGeom>
        </p:spPr>
      </p:pic>
      <p:sp>
        <p:nvSpPr>
          <p:cNvPr id="6" name="TextBox 5"/>
          <p:cNvSpPr txBox="1"/>
          <p:nvPr/>
        </p:nvSpPr>
        <p:spPr>
          <a:xfrm>
            <a:off x="1625600"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Read and extract</a:t>
            </a:r>
          </a:p>
          <a:p>
            <a:pPr>
              <a:lnSpc>
                <a:spcPct val="108333"/>
              </a:lnSpc>
              <a:spcAft>
                <a:spcPts val="100"/>
              </a:spcAft>
            </a:pPr>
            <a:r>
              <a:rPr sz="1200" b="0">
                <a:solidFill>
                  <a:srgbClr val="475569"/>
                </a:solidFill>
                <a:latin typeface="IBM Plex Sans"/>
              </a:rPr>
              <a:t>Field extractor</a:t>
            </a:r>
          </a:p>
          <a:p>
            <a:pPr>
              <a:lnSpc>
                <a:spcPct val="108333"/>
              </a:lnSpc>
              <a:spcAft>
                <a:spcPts val="100"/>
              </a:spcAft>
            </a:pPr>
            <a:r>
              <a:rPr sz="1200" b="0">
                <a:solidFill>
                  <a:srgbClr val="475569"/>
                </a:solidFill>
                <a:latin typeface="IBM Plex Sans"/>
              </a:rPr>
              <a:t>Proxy proposal reader</a:t>
            </a:r>
          </a:p>
          <a:p>
            <a:pPr>
              <a:lnSpc>
                <a:spcPct val="108333"/>
              </a:lnSpc>
              <a:spcAft>
                <a:spcPts val="100"/>
              </a:spcAft>
            </a:pPr>
            <a:r>
              <a:rPr sz="1200" b="0">
                <a:solidFill>
                  <a:srgbClr val="475569"/>
                </a:solidFill>
                <a:latin typeface="IBM Plex Sans"/>
              </a:rPr>
              <a:t>Plan and barrier facts</a:t>
            </a:r>
          </a:p>
          <a:p>
            <a:pPr>
              <a:lnSpc>
                <a:spcPct val="108333"/>
              </a:lnSpc>
              <a:spcAft>
                <a:spcPts val="100"/>
              </a:spcAft>
            </a:pPr>
            <a:r>
              <a:rPr sz="1200" b="0">
                <a:solidFill>
                  <a:srgbClr val="475569"/>
                </a:solidFill>
                <a:latin typeface="IBM Plex Sans"/>
              </a:rPr>
              <a:t>RFP question finder</a:t>
            </a:r>
          </a:p>
        </p:txBody>
      </p:sp>
      <p:sp>
        <p:nvSpPr>
          <p:cNvPr id="7" name="Rounded Rectangle 6"/>
          <p:cNvSpPr/>
          <p:nvPr/>
        </p:nvSpPr>
        <p:spPr>
          <a:xfrm>
            <a:off x="4385733"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8" name="Picture 7" descr="fig-robot-scan-eye.png"/>
          <p:cNvPicPr>
            <a:picLocks noChangeAspect="1"/>
          </p:cNvPicPr>
          <p:nvPr/>
        </p:nvPicPr>
        <p:blipFill>
          <a:blip r:embed="rId3"/>
          <a:stretch>
            <a:fillRect/>
          </a:stretch>
        </p:blipFill>
        <p:spPr>
          <a:xfrm>
            <a:off x="4538133" y="1981200"/>
            <a:ext cx="558800" cy="558800"/>
          </a:xfrm>
          <a:prstGeom prst="rect">
            <a:avLst/>
          </a:prstGeom>
        </p:spPr>
      </p:pic>
      <p:sp>
        <p:nvSpPr>
          <p:cNvPr id="9" name="TextBox 8"/>
          <p:cNvSpPr txBox="1"/>
          <p:nvPr/>
        </p:nvSpPr>
        <p:spPr>
          <a:xfrm>
            <a:off x="5198533"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Check and judge</a:t>
            </a:r>
          </a:p>
          <a:p>
            <a:pPr>
              <a:lnSpc>
                <a:spcPct val="108333"/>
              </a:lnSpc>
              <a:spcAft>
                <a:spcPts val="100"/>
              </a:spcAft>
            </a:pPr>
            <a:r>
              <a:rPr sz="1200" b="0">
                <a:solidFill>
                  <a:srgbClr val="475569"/>
                </a:solidFill>
                <a:latin typeface="IBM Plex Sans"/>
              </a:rPr>
              <a:t>Blind verifier</a:t>
            </a:r>
          </a:p>
          <a:p>
            <a:pPr>
              <a:lnSpc>
                <a:spcPct val="108333"/>
              </a:lnSpc>
              <a:spcAft>
                <a:spcPts val="100"/>
              </a:spcAft>
            </a:pPr>
            <a:r>
              <a:rPr sz="1200" b="0">
                <a:solidFill>
                  <a:srgbClr val="475569"/>
                </a:solidFill>
                <a:latin typeface="IBM Plex Sans"/>
              </a:rPr>
              <a:t>Adjudicator</a:t>
            </a:r>
          </a:p>
          <a:p>
            <a:pPr>
              <a:lnSpc>
                <a:spcPct val="108333"/>
              </a:lnSpc>
              <a:spcAft>
                <a:spcPts val="100"/>
              </a:spcAft>
            </a:pPr>
            <a:r>
              <a:rPr sz="1200" b="0">
                <a:solidFill>
                  <a:srgbClr val="475569"/>
                </a:solidFill>
                <a:latin typeface="IBM Plex Sans"/>
              </a:rPr>
              <a:t>Page-image check</a:t>
            </a:r>
          </a:p>
          <a:p>
            <a:pPr>
              <a:lnSpc>
                <a:spcPct val="108333"/>
              </a:lnSpc>
              <a:spcAft>
                <a:spcPts val="100"/>
              </a:spcAft>
            </a:pPr>
            <a:r>
              <a:rPr sz="1200" b="0">
                <a:solidFill>
                  <a:srgbClr val="475569"/>
                </a:solidFill>
                <a:latin typeface="IBM Plex Sans"/>
              </a:rPr>
              <a:t>Theme debate trio</a:t>
            </a:r>
          </a:p>
        </p:txBody>
      </p:sp>
      <p:sp>
        <p:nvSpPr>
          <p:cNvPr id="10" name="Rounded Rectangle 9"/>
          <p:cNvSpPr/>
          <p:nvPr/>
        </p:nvSpPr>
        <p:spPr>
          <a:xfrm>
            <a:off x="7958667" y="185420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1" name="Picture 10" descr="fig-robot-tags.png"/>
          <p:cNvPicPr>
            <a:picLocks noChangeAspect="1"/>
          </p:cNvPicPr>
          <p:nvPr/>
        </p:nvPicPr>
        <p:blipFill>
          <a:blip r:embed="rId4"/>
          <a:stretch>
            <a:fillRect/>
          </a:stretch>
        </p:blipFill>
        <p:spPr>
          <a:xfrm>
            <a:off x="8111067" y="1981200"/>
            <a:ext cx="558800" cy="558800"/>
          </a:xfrm>
          <a:prstGeom prst="rect">
            <a:avLst/>
          </a:prstGeom>
        </p:spPr>
      </p:pic>
      <p:sp>
        <p:nvSpPr>
          <p:cNvPr id="12" name="TextBox 11"/>
          <p:cNvSpPr txBox="1"/>
          <p:nvPr/>
        </p:nvSpPr>
        <p:spPr>
          <a:xfrm>
            <a:off x="8771467" y="198120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Classify and map</a:t>
            </a:r>
          </a:p>
          <a:p>
            <a:pPr>
              <a:lnSpc>
                <a:spcPct val="108333"/>
              </a:lnSpc>
              <a:spcAft>
                <a:spcPts val="100"/>
              </a:spcAft>
            </a:pPr>
            <a:r>
              <a:rPr sz="1200" b="0">
                <a:solidFill>
                  <a:srgbClr val="475569"/>
                </a:solidFill>
                <a:latin typeface="IBM Plex Sans"/>
              </a:rPr>
              <a:t>Identity resolver</a:t>
            </a:r>
          </a:p>
          <a:p>
            <a:pPr>
              <a:lnSpc>
                <a:spcPct val="108333"/>
              </a:lnSpc>
              <a:spcAft>
                <a:spcPts val="100"/>
              </a:spcAft>
            </a:pPr>
            <a:r>
              <a:rPr sz="1200" b="0">
                <a:solidFill>
                  <a:srgbClr val="475569"/>
                </a:solidFill>
                <a:latin typeface="IBM Plex Sans"/>
              </a:rPr>
              <a:t>Vote policy judgment</a:t>
            </a:r>
          </a:p>
          <a:p>
            <a:pPr>
              <a:lnSpc>
                <a:spcPct val="108333"/>
              </a:lnSpc>
              <a:spcAft>
                <a:spcPts val="100"/>
              </a:spcAft>
            </a:pPr>
            <a:r>
              <a:rPr sz="1200" b="0">
                <a:solidFill>
                  <a:srgbClr val="475569"/>
                </a:solidFill>
                <a:latin typeface="IBM Plex Sans"/>
              </a:rPr>
              <a:t>News risk classifier</a:t>
            </a:r>
          </a:p>
          <a:p>
            <a:pPr>
              <a:lnSpc>
                <a:spcPct val="108333"/>
              </a:lnSpc>
              <a:spcAft>
                <a:spcPts val="100"/>
              </a:spcAft>
            </a:pPr>
            <a:r>
              <a:rPr sz="1200" b="0">
                <a:solidFill>
                  <a:srgbClr val="475569"/>
                </a:solidFill>
                <a:latin typeface="IBM Plex Sans"/>
              </a:rPr>
              <a:t>Sector mappers</a:t>
            </a:r>
          </a:p>
        </p:txBody>
      </p:sp>
      <p:sp>
        <p:nvSpPr>
          <p:cNvPr id="13" name="Rounded Rectangle 12"/>
          <p:cNvSpPr/>
          <p:nvPr/>
        </p:nvSpPr>
        <p:spPr>
          <a:xfrm>
            <a:off x="812800"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4" name="Picture 13" descr="fig-robot-pen-line.png"/>
          <p:cNvPicPr>
            <a:picLocks noChangeAspect="1"/>
          </p:cNvPicPr>
          <p:nvPr/>
        </p:nvPicPr>
        <p:blipFill>
          <a:blip r:embed="rId5"/>
          <a:stretch>
            <a:fillRect/>
          </a:stretch>
        </p:blipFill>
        <p:spPr>
          <a:xfrm>
            <a:off x="965200" y="3575050"/>
            <a:ext cx="558800" cy="558800"/>
          </a:xfrm>
          <a:prstGeom prst="rect">
            <a:avLst/>
          </a:prstGeom>
        </p:spPr>
      </p:pic>
      <p:sp>
        <p:nvSpPr>
          <p:cNvPr id="15" name="TextBox 14"/>
          <p:cNvSpPr txBox="1"/>
          <p:nvPr/>
        </p:nvSpPr>
        <p:spPr>
          <a:xfrm>
            <a:off x="1625600"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Draft and write</a:t>
            </a:r>
          </a:p>
          <a:p>
            <a:pPr>
              <a:lnSpc>
                <a:spcPct val="108333"/>
              </a:lnSpc>
              <a:spcAft>
                <a:spcPts val="100"/>
              </a:spcAft>
            </a:pPr>
            <a:r>
              <a:rPr sz="1200" b="0">
                <a:solidFill>
                  <a:srgbClr val="475569"/>
                </a:solidFill>
                <a:latin typeface="IBM Plex Sans"/>
              </a:rPr>
              <a:t>Engagement letters</a:t>
            </a:r>
          </a:p>
          <a:p>
            <a:pPr>
              <a:lnSpc>
                <a:spcPct val="108333"/>
              </a:lnSpc>
              <a:spcAft>
                <a:spcPts val="100"/>
              </a:spcAft>
            </a:pPr>
            <a:r>
              <a:rPr sz="1200" b="0">
                <a:solidFill>
                  <a:srgbClr val="475569"/>
                </a:solidFill>
                <a:latin typeface="IBM Plex Sans"/>
              </a:rPr>
              <a:t>Brief and research note</a:t>
            </a:r>
          </a:p>
          <a:p>
            <a:pPr>
              <a:lnSpc>
                <a:spcPct val="108333"/>
              </a:lnSpc>
              <a:spcAft>
                <a:spcPts val="100"/>
              </a:spcAft>
            </a:pPr>
            <a:r>
              <a:rPr sz="1200" b="0">
                <a:solidFill>
                  <a:srgbClr val="475569"/>
                </a:solidFill>
                <a:latin typeface="IBM Plex Sans"/>
              </a:rPr>
              <a:t>Deck storyline</a:t>
            </a:r>
          </a:p>
          <a:p>
            <a:pPr>
              <a:lnSpc>
                <a:spcPct val="108333"/>
              </a:lnSpc>
              <a:spcAft>
                <a:spcPts val="100"/>
              </a:spcAft>
            </a:pPr>
            <a:r>
              <a:rPr sz="1200" b="0">
                <a:solidFill>
                  <a:srgbClr val="475569"/>
                </a:solidFill>
                <a:latin typeface="IBM Plex Sans"/>
              </a:rPr>
              <a:t>RFP answer drafter</a:t>
            </a:r>
          </a:p>
        </p:txBody>
      </p:sp>
      <p:sp>
        <p:nvSpPr>
          <p:cNvPr id="16" name="Rounded Rectangle 15"/>
          <p:cNvSpPr/>
          <p:nvPr/>
        </p:nvSpPr>
        <p:spPr>
          <a:xfrm>
            <a:off x="4385733"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17" name="Picture 16" descr="fig-robot-message-circle-question.png"/>
          <p:cNvPicPr>
            <a:picLocks noChangeAspect="1"/>
          </p:cNvPicPr>
          <p:nvPr/>
        </p:nvPicPr>
        <p:blipFill>
          <a:blip r:embed="rId6"/>
          <a:stretch>
            <a:fillRect/>
          </a:stretch>
        </p:blipFill>
        <p:spPr>
          <a:xfrm>
            <a:off x="4538133" y="3575050"/>
            <a:ext cx="558800" cy="558800"/>
          </a:xfrm>
          <a:prstGeom prst="rect">
            <a:avLst/>
          </a:prstGeom>
        </p:spPr>
      </p:pic>
      <p:sp>
        <p:nvSpPr>
          <p:cNvPr id="18" name="TextBox 17"/>
          <p:cNvSpPr txBox="1"/>
          <p:nvPr/>
        </p:nvSpPr>
        <p:spPr>
          <a:xfrm>
            <a:off x="5198533"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Ask and plan</a:t>
            </a:r>
          </a:p>
          <a:p>
            <a:pPr>
              <a:lnSpc>
                <a:spcPct val="108333"/>
              </a:lnSpc>
              <a:spcAft>
                <a:spcPts val="100"/>
              </a:spcAft>
            </a:pPr>
            <a:r>
              <a:rPr sz="1200" b="0">
                <a:solidFill>
                  <a:srgbClr val="475569"/>
                </a:solidFill>
                <a:latin typeface="IBM Plex Sans"/>
              </a:rPr>
              <a:t>Ask ARP router</a:t>
            </a:r>
          </a:p>
          <a:p>
            <a:pPr>
              <a:lnSpc>
                <a:spcPct val="108333"/>
              </a:lnSpc>
              <a:spcAft>
                <a:spcPts val="100"/>
              </a:spcAft>
            </a:pPr>
            <a:r>
              <a:rPr sz="1200" b="0">
                <a:solidFill>
                  <a:srgbClr val="475569"/>
                </a:solidFill>
                <a:latin typeface="IBM Plex Sans"/>
              </a:rPr>
              <a:t>Portfolio Q&amp;A</a:t>
            </a:r>
          </a:p>
          <a:p>
            <a:pPr>
              <a:lnSpc>
                <a:spcPct val="108333"/>
              </a:lnSpc>
              <a:spcAft>
                <a:spcPts val="100"/>
              </a:spcAft>
            </a:pPr>
            <a:r>
              <a:rPr sz="1200" b="0">
                <a:solidFill>
                  <a:srgbClr val="475569"/>
                </a:solidFill>
                <a:latin typeface="IBM Plex Sans"/>
              </a:rPr>
              <a:t>Smart Search</a:t>
            </a:r>
          </a:p>
          <a:p>
            <a:pPr>
              <a:lnSpc>
                <a:spcPct val="108333"/>
              </a:lnSpc>
              <a:spcAft>
                <a:spcPts val="100"/>
              </a:spcAft>
            </a:pPr>
            <a:r>
              <a:rPr sz="1200" b="0">
                <a:solidFill>
                  <a:srgbClr val="475569"/>
                </a:solidFill>
                <a:latin typeface="IBM Plex Sans"/>
              </a:rPr>
              <a:t>BI chart planner</a:t>
            </a:r>
          </a:p>
        </p:txBody>
      </p:sp>
      <p:sp>
        <p:nvSpPr>
          <p:cNvPr id="19" name="Rounded Rectangle 18"/>
          <p:cNvSpPr/>
          <p:nvPr/>
        </p:nvSpPr>
        <p:spPr>
          <a:xfrm>
            <a:off x="7958667" y="3448050"/>
            <a:ext cx="3420533" cy="1466850"/>
          </a:xfrm>
          <a:prstGeom prst="roundRect">
            <a:avLst>
              <a:gd name="adj" fmla="val 6926"/>
            </a:avLst>
          </a:prstGeom>
          <a:solidFill>
            <a:srgbClr val="FFFFFF"/>
          </a:solidFill>
          <a:ln w="9525">
            <a:solidFill>
              <a:srgbClr val="E2E8F0"/>
            </a:solidFill>
          </a:ln>
          <a:effectLst/>
        </p:spPr>
        <p:txBody>
          <a:bodyPr rtlCol="0" anchor="ctr"/>
          <a:lstStyle/>
          <a:p>
            <a:pPr algn="ctr"/>
          </a:p>
        </p:txBody>
      </p:sp>
      <p:pic>
        <p:nvPicPr>
          <p:cNvPr id="20" name="Picture 19" descr="fig-robot-clock.png"/>
          <p:cNvPicPr>
            <a:picLocks noChangeAspect="1"/>
          </p:cNvPicPr>
          <p:nvPr/>
        </p:nvPicPr>
        <p:blipFill>
          <a:blip r:embed="rId7"/>
          <a:stretch>
            <a:fillRect/>
          </a:stretch>
        </p:blipFill>
        <p:spPr>
          <a:xfrm>
            <a:off x="8111067" y="3575050"/>
            <a:ext cx="558800" cy="558800"/>
          </a:xfrm>
          <a:prstGeom prst="rect">
            <a:avLst/>
          </a:prstGeom>
        </p:spPr>
      </p:pic>
      <p:sp>
        <p:nvSpPr>
          <p:cNvPr id="21" name="TextBox 20"/>
          <p:cNvSpPr txBox="1"/>
          <p:nvPr/>
        </p:nvSpPr>
        <p:spPr>
          <a:xfrm>
            <a:off x="8771467" y="3575050"/>
            <a:ext cx="2455333" cy="1212850"/>
          </a:xfrm>
          <a:prstGeom prst="rect">
            <a:avLst/>
          </a:prstGeom>
          <a:noFill/>
        </p:spPr>
        <p:txBody>
          <a:bodyPr wrap="square" lIns="0" rIns="0" tIns="0" bIns="0" anchor="t">
            <a:spAutoFit/>
          </a:bodyPr>
          <a:lstStyle/>
          <a:p>
            <a:pPr>
              <a:lnSpc>
                <a:spcPct val="100000"/>
              </a:lnSpc>
              <a:spcAft>
                <a:spcPts val="500"/>
              </a:spcAft>
            </a:pPr>
            <a:r>
              <a:rPr sz="1400" b="1">
                <a:solidFill>
                  <a:srgbClr val="0F172A"/>
                </a:solidFill>
                <a:latin typeface="IBM Plex Sans"/>
              </a:rPr>
              <a:t>Standing agents</a:t>
            </a:r>
          </a:p>
          <a:p>
            <a:pPr>
              <a:lnSpc>
                <a:spcPct val="108333"/>
              </a:lnSpc>
              <a:spcAft>
                <a:spcPts val="100"/>
              </a:spcAft>
            </a:pPr>
            <a:r>
              <a:rPr sz="1200" b="0">
                <a:solidFill>
                  <a:srgbClr val="475569"/>
                </a:solidFill>
                <a:latin typeface="IBM Plex Sans"/>
              </a:rPr>
              <a:t>Taxonomy Researcher</a:t>
            </a:r>
          </a:p>
          <a:p>
            <a:pPr>
              <a:lnSpc>
                <a:spcPct val="108333"/>
              </a:lnSpc>
              <a:spcAft>
                <a:spcPts val="100"/>
              </a:spcAft>
            </a:pPr>
            <a:r>
              <a:rPr sz="1200" b="0">
                <a:solidFill>
                  <a:srgbClr val="475569"/>
                </a:solidFill>
                <a:latin typeface="IBM Plex Sans"/>
              </a:rPr>
              <a:t>Theme scans</a:t>
            </a:r>
          </a:p>
          <a:p>
            <a:pPr>
              <a:lnSpc>
                <a:spcPct val="108333"/>
              </a:lnSpc>
              <a:spcAft>
                <a:spcPts val="100"/>
              </a:spcAft>
            </a:pPr>
            <a:r>
              <a:rPr sz="1200" b="0">
                <a:solidFill>
                  <a:srgbClr val="475569"/>
                </a:solidFill>
                <a:latin typeface="IBM Plex Sans"/>
              </a:rPr>
              <a:t>Report runs</a:t>
            </a:r>
          </a:p>
          <a:p>
            <a:pPr>
              <a:lnSpc>
                <a:spcPct val="108333"/>
              </a:lnSpc>
              <a:spcAft>
                <a:spcPts val="100"/>
              </a:spcAft>
            </a:pPr>
            <a:r>
              <a:rPr sz="1200" b="0">
                <a:solidFill>
                  <a:srgbClr val="475569"/>
                </a:solidFill>
                <a:latin typeface="IBM Plex Sans"/>
              </a:rPr>
              <a:t>Calibration Agent</a:t>
            </a:r>
          </a:p>
        </p:txBody>
      </p:sp>
      <p:sp>
        <p:nvSpPr>
          <p:cNvPr id="22" name="Rounded Rectangle 21"/>
          <p:cNvSpPr/>
          <p:nvPr/>
        </p:nvSpPr>
        <p:spPr>
          <a:xfrm>
            <a:off x="812800" y="5041900"/>
            <a:ext cx="10566400" cy="730250"/>
          </a:xfrm>
          <a:prstGeom prst="roundRect">
            <a:avLst>
              <a:gd name="adj" fmla="val 13913"/>
            </a:avLst>
          </a:prstGeom>
          <a:solidFill>
            <a:srgbClr val="F1F5F9"/>
          </a:solidFill>
          <a:ln>
            <a:noFill/>
          </a:ln>
          <a:effectLst/>
        </p:spPr>
        <p:txBody>
          <a:bodyPr rtlCol="0" anchor="ctr"/>
          <a:lstStyle/>
          <a:p>
            <a:pPr algn="ctr"/>
          </a:p>
        </p:txBody>
      </p:sp>
      <p:pic>
        <p:nvPicPr>
          <p:cNvPr id="23" name="Picture 22" descr="fig-machine-cog.png"/>
          <p:cNvPicPr>
            <a:picLocks noChangeAspect="1"/>
          </p:cNvPicPr>
          <p:nvPr/>
        </p:nvPicPr>
        <p:blipFill>
          <a:blip r:embed="rId8"/>
          <a:stretch>
            <a:fillRect/>
          </a:stretch>
        </p:blipFill>
        <p:spPr>
          <a:xfrm>
            <a:off x="965200" y="5168900"/>
            <a:ext cx="457200" cy="457200"/>
          </a:xfrm>
          <a:prstGeom prst="rect">
            <a:avLst/>
          </a:prstGeom>
        </p:spPr>
      </p:pic>
      <p:sp>
        <p:nvSpPr>
          <p:cNvPr id="24" name="TextBox 23"/>
          <p:cNvSpPr txBox="1"/>
          <p:nvPr/>
        </p:nvSpPr>
        <p:spPr>
          <a:xfrm>
            <a:off x="1549400" y="5168900"/>
            <a:ext cx="9677400" cy="476250"/>
          </a:xfrm>
          <a:prstGeom prst="rect">
            <a:avLst/>
          </a:prstGeom>
          <a:noFill/>
        </p:spPr>
        <p:txBody>
          <a:bodyPr wrap="square" lIns="0" rIns="0" tIns="0" bIns="0" anchor="ctr">
            <a:spAutoFit/>
          </a:bodyPr>
          <a:lstStyle/>
          <a:p>
            <a:pPr>
              <a:lnSpc>
                <a:spcPct val="108333"/>
              </a:lnSpc>
              <a:spcAft>
                <a:spcPts val="200"/>
              </a:spcAft>
            </a:pPr>
            <a:r>
              <a:rPr sz="1200" b="1">
                <a:solidFill>
                  <a:srgbClr val="0F172A"/>
                </a:solidFill>
                <a:latin typeface="IBM Plex Sans"/>
              </a:rPr>
              <a:t>No model, by design</a:t>
            </a:r>
          </a:p>
          <a:p>
            <a:pPr>
              <a:lnSpc>
                <a:spcPct val="116667"/>
              </a:lnSpc>
              <a:spcAft>
                <a:spcPts val="0"/>
              </a:spcAft>
            </a:pPr>
            <a:r>
              <a:rPr sz="1200" b="0">
                <a:solidFill>
                  <a:srgbClr val="475569"/>
                </a:solidFill>
                <a:latin typeface="IBM Plex Sans"/>
              </a:rPr>
              <a:t>Tracking, reporting, house voting rules, the policy graph, Decision Studio and the index engine are plain code.</a:t>
            </a:r>
          </a:p>
        </p:txBody>
      </p:sp>
      <p:sp>
        <p:nvSpPr>
          <p:cNvPr id="25" name="TextBox 2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6" name="TextBox 2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Argus</a:t>
            </a:r>
          </a:p>
          <a:p>
            <a:pPr>
              <a:lnSpc>
                <a:spcPct val="108333"/>
              </a:lnSpc>
              <a:spcAft>
                <a:spcPts val="0"/>
              </a:spcAft>
            </a:pPr>
            <a:r>
              <a:rPr sz="1200" b="0">
                <a:solidFill>
                  <a:srgbClr val="475569"/>
                </a:solidFill>
                <a:latin typeface="IBM Plex Sans"/>
              </a:rPr>
              <a:t>The extract-and-score flow</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Identity</a:t>
            </a:r>
          </a:p>
          <a:p>
            <a:pPr>
              <a:lnSpc>
                <a:spcPct val="108333"/>
              </a:lnSpc>
              <a:spcAft>
                <a:spcPts val="0"/>
              </a:spcAft>
            </a:pPr>
            <a:r>
              <a:rPr sz="1200" b="0">
                <a:solidFill>
                  <a:srgbClr val="475569"/>
                </a:solidFill>
                <a:latin typeface="IBM Plex Sans"/>
              </a:rPr>
              <a:t>Which company is this?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Documents</a:t>
            </a:r>
          </a:p>
          <a:p>
            <a:pPr>
              <a:lnSpc>
                <a:spcPct val="108333"/>
              </a:lnSpc>
              <a:spcAft>
                <a:spcPts val="0"/>
              </a:spcAft>
            </a:pPr>
            <a:r>
              <a:rPr sz="1200" b="0">
                <a:solidFill>
                  <a:srgbClr val="475569"/>
                </a:solidFill>
                <a:latin typeface="IBM Plex Sans"/>
              </a:rPr>
              <a:t>Finding the reports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Data-point extraction</a:t>
            </a:r>
          </a:p>
          <a:p>
            <a:pPr>
              <a:lnSpc>
                <a:spcPct val="108333"/>
              </a:lnSpc>
              <a:spcAft>
                <a:spcPts val="0"/>
              </a:spcAft>
            </a:pPr>
            <a:r>
              <a:rPr sz="1200" b="0">
                <a:solidFill>
                  <a:srgbClr val="475569"/>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Financials and XBRL</a:t>
            </a:r>
          </a:p>
          <a:p>
            <a:pPr>
              <a:lnSpc>
                <a:spcPct val="108333"/>
              </a:lnSpc>
              <a:spcAft>
                <a:spcPts val="0"/>
              </a:spcAft>
            </a:pPr>
            <a:r>
              <a:rPr sz="1200" b="0">
                <a:solidFill>
                  <a:srgbClr val="475569"/>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Thematic universe</a:t>
            </a:r>
          </a:p>
          <a:p>
            <a:pPr>
              <a:lnSpc>
                <a:spcPct val="108333"/>
              </a:lnSpc>
              <a:spcAft>
                <a:spcPts val="0"/>
              </a:spcAft>
            </a:pPr>
            <a:r>
              <a:rPr sz="1200" b="0">
                <a:solidFill>
                  <a:srgbClr val="475569"/>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Theme dossier</a:t>
            </a:r>
          </a:p>
          <a:p>
            <a:pPr>
              <a:lnSpc>
                <a:spcPct val="108333"/>
              </a:lnSpc>
              <a:spcAft>
                <a:spcPts val="0"/>
              </a:spcAft>
            </a:pPr>
            <a:r>
              <a:rPr sz="1200" b="0">
                <a:solidFill>
                  <a:srgbClr val="475569"/>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plans</a:t>
            </a:r>
          </a:p>
          <a:p>
            <a:pPr>
              <a:lnSpc>
                <a:spcPct val="108333"/>
              </a:lnSpc>
              <a:spcAft>
                <a:spcPts val="0"/>
              </a:spcAft>
            </a:pPr>
            <a:r>
              <a:rPr sz="1200" b="0">
                <a:solidFill>
                  <a:srgbClr val="475569"/>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Transition barriers</a:t>
            </a:r>
          </a:p>
          <a:p>
            <a:pPr>
              <a:lnSpc>
                <a:spcPct val="108333"/>
              </a:lnSpc>
              <a:spcAft>
                <a:spcPts val="0"/>
              </a:spcAft>
            </a:pPr>
            <a:r>
              <a:rPr sz="1200" b="0">
                <a:solidFill>
                  <a:srgbClr val="475569"/>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E2E8F0"/>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Value chain</a:t>
            </a:r>
          </a:p>
          <a:p>
            <a:pPr>
              <a:lnSpc>
                <a:spcPct val="108333"/>
              </a:lnSpc>
              <a:spcAft>
                <a:spcPts val="0"/>
              </a:spcAft>
            </a:pPr>
            <a:r>
              <a:rPr sz="1200" b="0">
                <a:solidFill>
                  <a:srgbClr val="475569"/>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building-2.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20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key-roun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andma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file-search.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lob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arrow-down-wide-narrow.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ext-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ey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quot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39</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e-spreadshee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ayers.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layer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shield-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29" name="Rounded Rectangle 28"/>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ombine-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3" name="TextBox 32"/>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4" name="Rounded Rectangle 33"/>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ile-spreadsheet-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38" name="TextBox 37"/>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39" name="Rounded Rectangle 38"/>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person-network.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tabl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n-text.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s-squ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25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newspap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person-list-check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notebook-tex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26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list-check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list-todo.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actory.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arge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lag-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29" name="Rounded Rectangle 28"/>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1" name="Picture 30"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2" name="TextBox 31"/>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3" name="TextBox 32"/>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4" name="Rounded Rectangle 33"/>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36" name="Picture 35"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37" name="TextBox 36"/>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38" name="TextBox 37"/>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39" name="Rounded Rectangle 38"/>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2" name="TextBox 41"/>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27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downloa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sca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o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badge-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28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sigma.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ma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gaug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flag.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29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0F172A"/>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E2E8F0"/>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Portfolio and climate</a:t>
            </a:r>
          </a:p>
          <a:p>
            <a:pPr>
              <a:lnSpc>
                <a:spcPct val="108333"/>
              </a:lnSpc>
              <a:spcAft>
                <a:spcPts val="0"/>
              </a:spcAft>
            </a:pPr>
            <a:r>
              <a:rPr sz="1200" b="0">
                <a:solidFill>
                  <a:srgbClr val="475569"/>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E2E8F0"/>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Decision Studio</a:t>
            </a:r>
          </a:p>
          <a:p>
            <a:pPr>
              <a:lnSpc>
                <a:spcPct val="108333"/>
              </a:lnSpc>
              <a:spcAft>
                <a:spcPts val="0"/>
              </a:spcAft>
            </a:pPr>
            <a:r>
              <a:rPr sz="1200" b="0">
                <a:solidFill>
                  <a:srgbClr val="475569"/>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E2E8F0"/>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Index construction</a:t>
            </a:r>
          </a:p>
          <a:p>
            <a:pPr>
              <a:lnSpc>
                <a:spcPct val="108333"/>
              </a:lnSpc>
              <a:spcAft>
                <a:spcPts val="0"/>
              </a:spcAft>
            </a:pPr>
            <a:r>
              <a:rPr sz="1200" b="0">
                <a:solidFill>
                  <a:srgbClr val="475569"/>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E2E8F0"/>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Strategy and signals</a:t>
            </a:r>
          </a:p>
          <a:p>
            <a:pPr>
              <a:lnSpc>
                <a:spcPct val="108333"/>
              </a:lnSpc>
              <a:spcAft>
                <a:spcPts val="0"/>
              </a:spcAft>
            </a:pPr>
            <a:r>
              <a:rPr sz="1200" b="0">
                <a:solidFill>
                  <a:srgbClr val="475569"/>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E2E8F0"/>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Engagement</a:t>
            </a:r>
          </a:p>
          <a:p>
            <a:pPr>
              <a:lnSpc>
                <a:spcPct val="108333"/>
              </a:lnSpc>
              <a:spcAft>
                <a:spcPts val="0"/>
              </a:spcAft>
            </a:pPr>
            <a:r>
              <a:rPr sz="1200" b="0">
                <a:solidFill>
                  <a:srgbClr val="475569"/>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E2E8F0"/>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Proxy voting</a:t>
            </a:r>
          </a:p>
          <a:p>
            <a:pPr>
              <a:lnSpc>
                <a:spcPct val="108333"/>
              </a:lnSpc>
              <a:spcAft>
                <a:spcPts val="0"/>
              </a:spcAft>
            </a:pPr>
            <a:r>
              <a:rPr sz="1200" b="0">
                <a:solidFill>
                  <a:srgbClr val="475569"/>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E2E8F0"/>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RFP answers</a:t>
            </a:r>
          </a:p>
          <a:p>
            <a:pPr>
              <a:lnSpc>
                <a:spcPct val="108333"/>
              </a:lnSpc>
              <a:spcAft>
                <a:spcPts val="0"/>
              </a:spcAft>
            </a:pPr>
            <a:r>
              <a:rPr sz="1200" b="0">
                <a:solidFill>
                  <a:srgbClr val="475569"/>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E2E8F0"/>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15803D"/>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0F172A"/>
                </a:solidFill>
                <a:latin typeface="IBM Plex Sans"/>
              </a:rPr>
              <a:t>Reporting</a:t>
            </a:r>
          </a:p>
          <a:p>
            <a:pPr>
              <a:lnSpc>
                <a:spcPct val="108333"/>
              </a:lnSpc>
              <a:spcAft>
                <a:spcPts val="0"/>
              </a:spcAft>
            </a:pPr>
            <a:r>
              <a:rPr sz="1200" b="0">
                <a:solidFill>
                  <a:srgbClr val="475569"/>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30 /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list-ordered.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igma.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bell-ring.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robot-message-circle-questio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leaf-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31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table-properties.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group.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ilter.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chart-bar.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badge-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28" name="Rounded Rectangle 27"/>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0" name="Picture 29"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1" name="TextBox 30"/>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2" name="TextBox 31"/>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3" name="Rounded Rectangle 32"/>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5" name="Picture 34"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36" name="TextBox 35"/>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37" name="TextBox 36"/>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38" name="Rounded Rectangle 37"/>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1" name="TextBox 40"/>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2" name="TextBox 41"/>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32 / 39</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filter.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sliders-horizontal.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chart-pi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trending-down.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33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roll-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chart-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flask-conical.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send-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29" name="Rounded Rectangle 28"/>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1" name="Picture 30"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2" name="TextBox 31"/>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3" name="TextBox 32"/>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4" name="Rounded Rectangle 33"/>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36" name="Picture 35"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37" name="TextBox 36"/>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38" name="TextBox 37"/>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39" name="Rounded Rectangle 38"/>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2" name="TextBox 41"/>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34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machine-workflow.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book-open-text.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pen-lin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check.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35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scan-text.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machine-book-open.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scale.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git-compare.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pic>
        <p:nvPicPr>
          <p:cNvPr id="26" name="Picture 25" descr="fig-person-user-check.png"/>
          <p:cNvPicPr>
            <a:picLocks noChangeAspect="1"/>
          </p:cNvPicPr>
          <p:nvPr/>
        </p:nvPicPr>
        <p:blipFill>
          <a:blip r:embed="rId8"/>
          <a:stretch>
            <a:fillRect/>
          </a:stretch>
        </p:blipFill>
        <p:spPr>
          <a:xfrm>
            <a:off x="10219267" y="2101850"/>
            <a:ext cx="558800" cy="558800"/>
          </a:xfrm>
          <a:prstGeom prst="rect">
            <a:avLst/>
          </a:prstGeom>
        </p:spPr>
      </p:pic>
      <p:sp>
        <p:nvSpPr>
          <p:cNvPr id="27" name="TextBox 26"/>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28" name="Rounded Rectangle 27"/>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29" name="Oval 28"/>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0" name="Picture 29" descr="lock-0F172A.png"/>
          <p:cNvPicPr>
            <a:picLocks noChangeAspect="1"/>
          </p:cNvPicPr>
          <p:nvPr/>
        </p:nvPicPr>
        <p:blipFill>
          <a:blip r:embed="rId9"/>
          <a:stretch>
            <a:fillRect/>
          </a:stretch>
        </p:blipFill>
        <p:spPr>
          <a:xfrm>
            <a:off x="1041400" y="4413250"/>
            <a:ext cx="152400" cy="152400"/>
          </a:xfrm>
          <a:prstGeom prst="rect">
            <a:avLst/>
          </a:prstGeom>
        </p:spPr>
      </p:pic>
      <p:sp>
        <p:nvSpPr>
          <p:cNvPr id="31" name="TextBox 30"/>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2" name="TextBox 31"/>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3" name="Rounded Rectangle 32"/>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5" name="Picture 34" descr="send-0F172A.png"/>
          <p:cNvPicPr>
            <a:picLocks noChangeAspect="1"/>
          </p:cNvPicPr>
          <p:nvPr/>
        </p:nvPicPr>
        <p:blipFill>
          <a:blip r:embed="rId10"/>
          <a:stretch>
            <a:fillRect/>
          </a:stretch>
        </p:blipFill>
        <p:spPr>
          <a:xfrm>
            <a:off x="4614333" y="4413250"/>
            <a:ext cx="152400" cy="152400"/>
          </a:xfrm>
          <a:prstGeom prst="rect">
            <a:avLst/>
          </a:prstGeom>
        </p:spPr>
      </p:pic>
      <p:sp>
        <p:nvSpPr>
          <p:cNvPr id="36" name="TextBox 35"/>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37" name="TextBox 36"/>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38" name="Rounded Rectangle 37"/>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0" name="Picture 39"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1" name="TextBox 40"/>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2" name="TextBox 41"/>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3" name="TextBox 4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4" name="TextBox 4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36 / 39</a:t>
            </a:r>
          </a:p>
        </p:txBody>
      </p:sp>
      <p:sp>
        <p:nvSpPr>
          <p:cNvPr id="45" name="Oval 44"/>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6" name="TextBox 45"/>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7" name="Oval 46"/>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8" name="TextBox 47"/>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49" name="Oval 48"/>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0" name="TextBox 49"/>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file-search.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robot-pen-line.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machine-shield-check.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person-users.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flag-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37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pic>
        <p:nvPicPr>
          <p:cNvPr id="10" name="Picture 9" descr="fig-robot-presentation.png"/>
          <p:cNvPicPr>
            <a:picLocks noChangeAspect="1"/>
          </p:cNvPicPr>
          <p:nvPr/>
        </p:nvPicPr>
        <p:blipFill>
          <a:blip r:embed="rId4"/>
          <a:stretch>
            <a:fillRect/>
          </a:stretch>
        </p:blipFill>
        <p:spPr>
          <a:xfrm>
            <a:off x="3175000" y="2101850"/>
            <a:ext cx="558800" cy="558800"/>
          </a:xfrm>
          <a:prstGeom prst="rect">
            <a:avLst/>
          </a:prstGeom>
        </p:spPr>
      </p:pic>
      <p:sp>
        <p:nvSpPr>
          <p:cNvPr id="11" name="TextBox 10"/>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2" name="Rectangle 11"/>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3" name="Picture 12" descr="arrowhead.png"/>
          <p:cNvPicPr>
            <a:picLocks noChangeAspect="1"/>
          </p:cNvPicPr>
          <p:nvPr/>
        </p:nvPicPr>
        <p:blipFill>
          <a:blip r:embed="rId3"/>
          <a:stretch>
            <a:fillRect/>
          </a:stretch>
        </p:blipFill>
        <p:spPr>
          <a:xfrm>
            <a:off x="4809067" y="2330450"/>
            <a:ext cx="76200" cy="101600"/>
          </a:xfrm>
          <a:prstGeom prst="rect">
            <a:avLst/>
          </a:prstGeom>
        </p:spPr>
      </p:pic>
      <p:pic>
        <p:nvPicPr>
          <p:cNvPr id="14" name="Picture 13" descr="fig-person-user-check.png"/>
          <p:cNvPicPr>
            <a:picLocks noChangeAspect="1"/>
          </p:cNvPicPr>
          <p:nvPr/>
        </p:nvPicPr>
        <p:blipFill>
          <a:blip r:embed="rId5"/>
          <a:stretch>
            <a:fillRect/>
          </a:stretch>
        </p:blipFill>
        <p:spPr>
          <a:xfrm>
            <a:off x="4936067" y="2101850"/>
            <a:ext cx="558800" cy="558800"/>
          </a:xfrm>
          <a:prstGeom prst="rect">
            <a:avLst/>
          </a:prstGeom>
        </p:spPr>
      </p:pic>
      <p:sp>
        <p:nvSpPr>
          <p:cNvPr id="15" name="TextBox 14"/>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6" name="Rectangle 15"/>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7" name="Picture 16" descr="arrowhead.png"/>
          <p:cNvPicPr>
            <a:picLocks noChangeAspect="1"/>
          </p:cNvPicPr>
          <p:nvPr/>
        </p:nvPicPr>
        <p:blipFill>
          <a:blip r:embed="rId3"/>
          <a:stretch>
            <a:fillRect/>
          </a:stretch>
        </p:blipFill>
        <p:spPr>
          <a:xfrm>
            <a:off x="6570133" y="2330450"/>
            <a:ext cx="76200" cy="101600"/>
          </a:xfrm>
          <a:prstGeom prst="rect">
            <a:avLst/>
          </a:prstGeom>
        </p:spPr>
      </p:pic>
      <p:pic>
        <p:nvPicPr>
          <p:cNvPr id="18" name="Picture 17" descr="fig-robot-wand-sparkles.png"/>
          <p:cNvPicPr>
            <a:picLocks noChangeAspect="1"/>
          </p:cNvPicPr>
          <p:nvPr/>
        </p:nvPicPr>
        <p:blipFill>
          <a:blip r:embed="rId6"/>
          <a:stretch>
            <a:fillRect/>
          </a:stretch>
        </p:blipFill>
        <p:spPr>
          <a:xfrm>
            <a:off x="6697133" y="2101850"/>
            <a:ext cx="558800" cy="558800"/>
          </a:xfrm>
          <a:prstGeom prst="rect">
            <a:avLst/>
          </a:prstGeom>
        </p:spPr>
      </p:pic>
      <p:sp>
        <p:nvSpPr>
          <p:cNvPr id="19" name="TextBox 18"/>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0" name="Rectangle 19"/>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1" name="Picture 20" descr="arrowhead.png"/>
          <p:cNvPicPr>
            <a:picLocks noChangeAspect="1"/>
          </p:cNvPicPr>
          <p:nvPr/>
        </p:nvPicPr>
        <p:blipFill>
          <a:blip r:embed="rId3"/>
          <a:stretch>
            <a:fillRect/>
          </a:stretch>
        </p:blipFill>
        <p:spPr>
          <a:xfrm>
            <a:off x="8331200" y="2330450"/>
            <a:ext cx="76200" cy="101600"/>
          </a:xfrm>
          <a:prstGeom prst="rect">
            <a:avLst/>
          </a:prstGeom>
        </p:spPr>
      </p:pic>
      <p:pic>
        <p:nvPicPr>
          <p:cNvPr id="22" name="Picture 21" descr="fig-machine-file-output.png"/>
          <p:cNvPicPr>
            <a:picLocks noChangeAspect="1"/>
          </p:cNvPicPr>
          <p:nvPr/>
        </p:nvPicPr>
        <p:blipFill>
          <a:blip r:embed="rId7"/>
          <a:stretch>
            <a:fillRect/>
          </a:stretch>
        </p:blipFill>
        <p:spPr>
          <a:xfrm>
            <a:off x="8458200" y="2101850"/>
            <a:ext cx="558800" cy="558800"/>
          </a:xfrm>
          <a:prstGeom prst="rect">
            <a:avLst/>
          </a:prstGeom>
        </p:spPr>
      </p:pic>
      <p:sp>
        <p:nvSpPr>
          <p:cNvPr id="23" name="TextBox 22"/>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4" name="Rectangle 23"/>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5" name="Picture 24" descr="arrowhead.png"/>
          <p:cNvPicPr>
            <a:picLocks noChangeAspect="1"/>
          </p:cNvPicPr>
          <p:nvPr/>
        </p:nvPicPr>
        <p:blipFill>
          <a:blip r:embed="rId3"/>
          <a:stretch>
            <a:fillRect/>
          </a:stretch>
        </p:blipFill>
        <p:spPr>
          <a:xfrm>
            <a:off x="10092267" y="2330450"/>
            <a:ext cx="76200" cy="101600"/>
          </a:xfrm>
          <a:prstGeom prst="rect">
            <a:avLst/>
          </a:prstGeom>
        </p:spPr>
      </p:pic>
      <p:sp>
        <p:nvSpPr>
          <p:cNvPr id="26" name="Oval 25"/>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27" name="Picture 26"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28" name="TextBox 27"/>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29" name="Rounded Rectangle 28"/>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1" name="Picture 30"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2" name="TextBox 31"/>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3" name="TextBox 32"/>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4" name="Rounded Rectangle 33"/>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36" name="Picture 35"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37" name="TextBox 36"/>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38" name="TextBox 37"/>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39" name="Rounded Rectangle 38"/>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1" name="Picture 40"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2" name="TextBox 41"/>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3" name="TextBox 42"/>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38 / 39</a:t>
            </a:r>
          </a:p>
        </p:txBody>
      </p:sp>
      <p:sp>
        <p:nvSpPr>
          <p:cNvPr id="46" name="Oval 45"/>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47" name="TextBox 46"/>
          <p:cNvSpPr txBox="1"/>
          <p:nvPr/>
        </p:nvSpPr>
        <p:spPr>
          <a:xfrm>
            <a:off x="4978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48" name="Oval 47"/>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49" name="TextBox 48"/>
          <p:cNvSpPr txBox="1"/>
          <p:nvPr/>
        </p:nvSpPr>
        <p:spPr>
          <a:xfrm>
            <a:off x="57404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0" name="Oval 49"/>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1" name="TextBox 50"/>
          <p:cNvSpPr txBox="1"/>
          <p:nvPr/>
        </p:nvSpPr>
        <p:spPr>
          <a:xfrm>
            <a:off x="6400800" y="6254750"/>
            <a:ext cx="127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