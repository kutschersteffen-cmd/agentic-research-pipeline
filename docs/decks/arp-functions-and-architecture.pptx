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AGENTIC RESEARCH PIPELINE</a:t>
            </a:r>
          </a:p>
        </p:txBody>
      </p:sp>
      <p:sp>
        <p:nvSpPr>
          <p:cNvPr id="3" name="TextBox 2"/>
          <p:cNvSpPr txBox="1"/>
          <p:nvPr/>
        </p:nvSpPr>
        <p:spPr>
          <a:xfrm>
            <a:off x="812800" y="11620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Research at scale, every number traceable</a:t>
            </a:r>
          </a:p>
        </p:txBody>
      </p:sp>
      <p:sp>
        <p:nvSpPr>
          <p:cNvPr id="4" name="TextBox 3"/>
          <p:cNvSpPr txBox="1"/>
          <p:nvPr/>
        </p:nvSpPr>
        <p:spPr>
          <a:xfrm>
            <a:off x="812800" y="18351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WHAT IT DOES</a:t>
            </a:r>
          </a:p>
        </p:txBody>
      </p:sp>
      <p:sp>
        <p:nvSpPr>
          <p:cNvPr id="5" name="Rectangle 4"/>
          <p:cNvSpPr/>
          <p:nvPr/>
        </p:nvSpPr>
        <p:spPr>
          <a:xfrm>
            <a:off x="812800" y="2133600"/>
            <a:ext cx="5181600" cy="16510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90600" y="2311400"/>
            <a:ext cx="4826000" cy="1295400"/>
          </a:xfrm>
          <a:prstGeom prst="rect">
            <a:avLst/>
          </a:prstGeom>
          <a:noFill/>
        </p:spPr>
        <p:txBody>
          <a:bodyPr wrap="square" lIns="0" rIns="0" tIns="0" bIns="0" anchor="t">
            <a:spAutoFit/>
          </a:bodyPr>
          <a:lstStyle/>
          <a:p>
            <a:pPr>
              <a:lnSpc>
                <a:spcPct val="100000"/>
              </a:lnSpc>
              <a:spcAft>
                <a:spcPts val="600"/>
              </a:spcAft>
            </a:pPr>
            <a:r>
              <a:rPr sz="1600" b="1">
                <a:solidFill>
                  <a:srgbClr val="141414"/>
                </a:solidFill>
                <a:latin typeface="Geist"/>
              </a:rPr>
              <a:t>Find and extract</a:t>
            </a:r>
          </a:p>
          <a:p>
            <a:pPr>
              <a:lnSpc>
                <a:spcPct val="116667"/>
              </a:lnSpc>
              <a:spcAft>
                <a:spcPts val="0"/>
              </a:spcAft>
            </a:pPr>
            <a:r>
              <a:rPr sz="1200" b="0">
                <a:solidFill>
                  <a:srgbClr val="5C5C57"/>
                </a:solidFill>
                <a:latin typeface="Geist"/>
              </a:rPr>
              <a:t>Thematic universes, document discovery and identity resolution. Schema-defined figures, XBRL facts, transition plans and barriers, for ~4,000 companies per run.</a:t>
            </a:r>
          </a:p>
        </p:txBody>
      </p:sp>
      <p:sp>
        <p:nvSpPr>
          <p:cNvPr id="7" name="Rectangle 6"/>
          <p:cNvSpPr/>
          <p:nvPr/>
        </p:nvSpPr>
        <p:spPr>
          <a:xfrm>
            <a:off x="6197600" y="2133600"/>
            <a:ext cx="5181600" cy="16510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5400" y="2311400"/>
            <a:ext cx="4826000" cy="1295400"/>
          </a:xfrm>
          <a:prstGeom prst="rect">
            <a:avLst/>
          </a:prstGeom>
          <a:noFill/>
        </p:spPr>
        <p:txBody>
          <a:bodyPr wrap="square" lIns="0" rIns="0" tIns="0" bIns="0" anchor="t">
            <a:spAutoFit/>
          </a:bodyPr>
          <a:lstStyle/>
          <a:p>
            <a:pPr>
              <a:lnSpc>
                <a:spcPct val="100000"/>
              </a:lnSpc>
              <a:spcAft>
                <a:spcPts val="600"/>
              </a:spcAft>
            </a:pPr>
            <a:r>
              <a:rPr sz="1600" b="1">
                <a:solidFill>
                  <a:srgbClr val="141414"/>
                </a:solidFill>
                <a:latin typeface="Geist"/>
              </a:rPr>
              <a:t>Analyse and decide</a:t>
            </a:r>
          </a:p>
          <a:p>
            <a:pPr>
              <a:lnSpc>
                <a:spcPct val="116667"/>
              </a:lnSpc>
              <a:spcAft>
                <a:spcPts val="0"/>
              </a:spcAft>
            </a:pPr>
            <a:r>
              <a:rPr sz="1200" b="0">
                <a:solidFill>
                  <a:srgbClr val="5C5C57"/>
                </a:solidFill>
                <a:latin typeface="Geist"/>
              </a:rPr>
              <a:t>Portfolio and climate analytics (WACI, financed emissions), Decision Studio scoring and tiering, equity index construction, strategy backtests, reports, decks and dashboards.</a:t>
            </a:r>
          </a:p>
        </p:txBody>
      </p:sp>
      <p:sp>
        <p:nvSpPr>
          <p:cNvPr id="9" name="TextBox 8"/>
          <p:cNvSpPr txBox="1"/>
          <p:nvPr/>
        </p:nvSpPr>
        <p:spPr>
          <a:xfrm>
            <a:off x="812800" y="3987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WHAT MAKES IT POSSIBLE</a:t>
            </a:r>
          </a:p>
        </p:txBody>
      </p:sp>
      <p:sp>
        <p:nvSpPr>
          <p:cNvPr id="10" name="Rectangle 9"/>
          <p:cNvSpPr/>
          <p:nvPr/>
        </p:nvSpPr>
        <p:spPr>
          <a:xfrm>
            <a:off x="812800" y="4286250"/>
            <a:ext cx="3386667" cy="1911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 y="4286250"/>
            <a:ext cx="3386667"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0600" y="4489450"/>
            <a:ext cx="3031067" cy="1530350"/>
          </a:xfrm>
          <a:prstGeom prst="rect">
            <a:avLst/>
          </a:prstGeom>
          <a:noFill/>
        </p:spPr>
        <p:txBody>
          <a:bodyPr wrap="square" lIns="0" rIns="0" tIns="0" bIns="0" anchor="t">
            <a:spAutoFit/>
          </a:bodyPr>
          <a:lstStyle/>
          <a:p>
            <a:pPr>
              <a:lnSpc>
                <a:spcPct val="100000"/>
              </a:lnSpc>
              <a:spcAft>
                <a:spcPts val="600"/>
              </a:spcAft>
            </a:pPr>
            <a:r>
              <a:rPr sz="1600" b="1">
                <a:solidFill>
                  <a:srgbClr val="141414"/>
                </a:solidFill>
                <a:latin typeface="Geist"/>
              </a:rPr>
              <a:t>The LLM plans, code computes</a:t>
            </a:r>
          </a:p>
          <a:p>
            <a:pPr>
              <a:lnSpc>
                <a:spcPct val="116667"/>
              </a:lnSpc>
              <a:spcAft>
                <a:spcPts val="0"/>
              </a:spcAft>
            </a:pPr>
            <a:r>
              <a:rPr sz="1200" b="0">
                <a:solidFill>
                  <a:srgbClr val="5C5C57"/>
                </a:solidFill>
                <a:latin typeface="Geist"/>
              </a:rPr>
              <a:t>Models draft, verify and propose. Numbers, scoring, index weights and backtests are plain deterministic code.</a:t>
            </a:r>
          </a:p>
        </p:txBody>
      </p:sp>
      <p:sp>
        <p:nvSpPr>
          <p:cNvPr id="13" name="Rectangle 12"/>
          <p:cNvSpPr/>
          <p:nvPr/>
        </p:nvSpPr>
        <p:spPr>
          <a:xfrm>
            <a:off x="4402667" y="4286250"/>
            <a:ext cx="3386667" cy="1911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2667" y="4286250"/>
            <a:ext cx="3386667"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0467" y="4489450"/>
            <a:ext cx="3031067" cy="1530350"/>
          </a:xfrm>
          <a:prstGeom prst="rect">
            <a:avLst/>
          </a:prstGeom>
          <a:noFill/>
        </p:spPr>
        <p:txBody>
          <a:bodyPr wrap="square" lIns="0" rIns="0" tIns="0" bIns="0" anchor="t">
            <a:spAutoFit/>
          </a:bodyPr>
          <a:lstStyle/>
          <a:p>
            <a:pPr>
              <a:lnSpc>
                <a:spcPct val="100000"/>
              </a:lnSpc>
              <a:spcAft>
                <a:spcPts val="600"/>
              </a:spcAft>
            </a:pPr>
            <a:r>
              <a:rPr sz="1600" b="1">
                <a:solidFill>
                  <a:srgbClr val="141414"/>
                </a:solidFill>
                <a:latin typeface="Geist"/>
              </a:rPr>
              <a:t>Every citation is checked</a:t>
            </a:r>
          </a:p>
          <a:p>
            <a:pPr>
              <a:lnSpc>
                <a:spcPct val="116667"/>
              </a:lnSpc>
              <a:spcAft>
                <a:spcPts val="0"/>
              </a:spcAft>
            </a:pPr>
            <a:r>
              <a:rPr sz="1200" b="0">
                <a:solidFill>
                  <a:srgbClr val="5C5C57"/>
                </a:solidFill>
                <a:latin typeface="Geist"/>
              </a:rPr>
              <a:t>Each quote is re-verified in code against the source document. An independent verifier runs on a different model.</a:t>
            </a:r>
          </a:p>
        </p:txBody>
      </p:sp>
      <p:sp>
        <p:nvSpPr>
          <p:cNvPr id="16" name="Rectangle 15"/>
          <p:cNvSpPr/>
          <p:nvPr/>
        </p:nvSpPr>
        <p:spPr>
          <a:xfrm>
            <a:off x="7992533" y="4286250"/>
            <a:ext cx="3386667" cy="1911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92533" y="4286250"/>
            <a:ext cx="3386667"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0333" y="4489450"/>
            <a:ext cx="3031067" cy="1530350"/>
          </a:xfrm>
          <a:prstGeom prst="rect">
            <a:avLst/>
          </a:prstGeom>
          <a:noFill/>
        </p:spPr>
        <p:txBody>
          <a:bodyPr wrap="square" lIns="0" rIns="0" tIns="0" bIns="0" anchor="t">
            <a:spAutoFit/>
          </a:bodyPr>
          <a:lstStyle/>
          <a:p>
            <a:pPr>
              <a:lnSpc>
                <a:spcPct val="100000"/>
              </a:lnSpc>
              <a:spcAft>
                <a:spcPts val="600"/>
              </a:spcAft>
            </a:pPr>
            <a:r>
              <a:rPr sz="1600" b="1">
                <a:solidFill>
                  <a:srgbClr val="141414"/>
                </a:solidFill>
                <a:latin typeface="Geist"/>
              </a:rPr>
              <a:t>Agents propose, people ratify</a:t>
            </a:r>
          </a:p>
          <a:p>
            <a:pPr>
              <a:lnSpc>
                <a:spcPct val="116667"/>
              </a:lnSpc>
              <a:spcAft>
                <a:spcPts val="0"/>
              </a:spcAft>
            </a:pPr>
            <a:r>
              <a:rPr sz="1200" b="0">
                <a:solidFill>
                  <a:srgbClr val="5C5C57"/>
                </a:solidFill>
                <a:latin typeface="Geist"/>
              </a:rPr>
              <a:t>Review queues, four-eyes approval, versioned frameworks. Nothing flagged reaches an export until a named person approves.</a:t>
            </a:r>
          </a:p>
        </p:txBody>
      </p:sp>
      <p:sp>
        <p:nvSpPr>
          <p:cNvPr id="19" name="TextBox 18"/>
          <p:cNvSpPr txBox="1"/>
          <p:nvPr/>
        </p:nvSpPr>
        <p:spPr>
          <a:xfrm>
            <a:off x="812800" y="6254750"/>
            <a:ext cx="1143000" cy="196850"/>
          </a:xfrm>
          <a:prstGeom prst="rect">
            <a:avLst/>
          </a:prstGeom>
          <a:noFill/>
        </p:spPr>
        <p:txBody>
          <a:bodyPr wrap="square" lIns="0" rIns="0" tIns="0" bIns="0" anchor="t">
            <a:spAutoFit/>
          </a:bodyPr>
          <a:lstStyle/>
          <a:p>
            <a:pPr>
              <a:lnSpc>
                <a:spcPct val="108333"/>
              </a:lnSpc>
              <a:spcAft>
                <a:spcPts val="0"/>
              </a:spcAft>
            </a:pPr>
            <a:r>
              <a:rPr sz="1200" b="0">
                <a:solidFill>
                  <a:srgbClr val="141414"/>
                </a:solidFill>
                <a:latin typeface="Geist Mono"/>
              </a:rPr>
              <a:t>BUILT ON</a:t>
            </a:r>
          </a:p>
        </p:txBody>
      </p:sp>
      <p:sp>
        <p:nvSpPr>
          <p:cNvPr id="20" name="TextBox 19"/>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THE APP</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One app, five workspaces</a:t>
            </a:r>
          </a:p>
        </p:txBody>
      </p:sp>
      <p:sp>
        <p:nvSpPr>
          <p:cNvPr id="4" name="Rectangle 3"/>
          <p:cNvSpPr/>
          <p:nvPr/>
        </p:nvSpPr>
        <p:spPr>
          <a:xfrm>
            <a:off x="812800" y="1911350"/>
            <a:ext cx="1991360" cy="20955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5200" y="2063750"/>
            <a:ext cx="1686560" cy="1790700"/>
          </a:xfrm>
          <a:prstGeom prst="rect">
            <a:avLst/>
          </a:prstGeom>
          <a:noFill/>
        </p:spPr>
        <p:txBody>
          <a:bodyPr wrap="square" lIns="0" rIns="0" tIns="0" bIns="0" anchor="t">
            <a:spAutoFit/>
          </a:bodyPr>
          <a:lstStyle/>
          <a:p>
            <a:pPr>
              <a:lnSpc>
                <a:spcPct val="100000"/>
              </a:lnSpc>
              <a:spcAft>
                <a:spcPts val="500"/>
              </a:spcAft>
            </a:pPr>
            <a:r>
              <a:rPr sz="1400" b="1">
                <a:solidFill>
                  <a:srgbClr val="141414"/>
                </a:solidFill>
                <a:latin typeface="Geist"/>
              </a:rPr>
              <a:t>Argus</a:t>
            </a:r>
          </a:p>
          <a:p>
            <a:pPr>
              <a:lnSpc>
                <a:spcPct val="116667"/>
              </a:lnSpc>
              <a:spcAft>
                <a:spcPts val="600"/>
              </a:spcAft>
            </a:pPr>
            <a:r>
              <a:rPr sz="1200" b="0">
                <a:solidFill>
                  <a:srgbClr val="5C5C57"/>
                </a:solidFill>
                <a:latin typeface="Geist"/>
              </a:rPr>
              <a:t>Extract cited data points and score them with ratified templates.</a:t>
            </a:r>
          </a:p>
          <a:p>
            <a:pPr>
              <a:lnSpc>
                <a:spcPct val="116667"/>
              </a:lnSpc>
              <a:spcAft>
                <a:spcPts val="0"/>
              </a:spcAft>
            </a:pPr>
            <a:r>
              <a:rPr sz="1200" b="0">
                <a:solidFill>
                  <a:srgbClr val="141414"/>
                </a:solidFill>
                <a:latin typeface="Geist"/>
              </a:rPr>
              <a:t>Extract and score · XBRL facts</a:t>
            </a:r>
          </a:p>
        </p:txBody>
      </p:sp>
      <p:sp>
        <p:nvSpPr>
          <p:cNvPr id="6" name="Rectangle 5"/>
          <p:cNvSpPr/>
          <p:nvPr/>
        </p:nvSpPr>
        <p:spPr>
          <a:xfrm>
            <a:off x="2956560" y="1911350"/>
            <a:ext cx="1991360" cy="20955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08960" y="2063750"/>
            <a:ext cx="1686560" cy="1790700"/>
          </a:xfrm>
          <a:prstGeom prst="rect">
            <a:avLst/>
          </a:prstGeom>
          <a:noFill/>
        </p:spPr>
        <p:txBody>
          <a:bodyPr wrap="square" lIns="0" rIns="0" tIns="0" bIns="0" anchor="t">
            <a:spAutoFit/>
          </a:bodyPr>
          <a:lstStyle/>
          <a:p>
            <a:pPr>
              <a:lnSpc>
                <a:spcPct val="100000"/>
              </a:lnSpc>
              <a:spcAft>
                <a:spcPts val="500"/>
              </a:spcAft>
            </a:pPr>
            <a:r>
              <a:rPr sz="1400" b="1">
                <a:solidFill>
                  <a:srgbClr val="141414"/>
                </a:solidFill>
                <a:latin typeface="Geist"/>
              </a:rPr>
              <a:t>Transition Intelligence</a:t>
            </a:r>
          </a:p>
          <a:p>
            <a:pPr>
              <a:lnSpc>
                <a:spcPct val="116667"/>
              </a:lnSpc>
              <a:spcAft>
                <a:spcPts val="600"/>
              </a:spcAft>
            </a:pPr>
            <a:r>
              <a:rPr sz="1200" b="0">
                <a:solidFill>
                  <a:srgbClr val="5C5C57"/>
                </a:solidFill>
                <a:latin typeface="Geist"/>
              </a:rPr>
              <a:t>Monitor holdings; assess climate and transition risk.</a:t>
            </a:r>
          </a:p>
          <a:p>
            <a:pPr>
              <a:lnSpc>
                <a:spcPct val="116667"/>
              </a:lnSpc>
              <a:spcAft>
                <a:spcPts val="0"/>
              </a:spcAft>
            </a:pPr>
            <a:r>
              <a:rPr sz="1200" b="0">
                <a:solidFill>
                  <a:srgbClr val="141414"/>
                </a:solidFill>
                <a:latin typeface="Geist"/>
              </a:rPr>
              <a:t>Monitoring · Climate review</a:t>
            </a:r>
          </a:p>
        </p:txBody>
      </p:sp>
      <p:sp>
        <p:nvSpPr>
          <p:cNvPr id="8" name="Rectangle 7"/>
          <p:cNvSpPr/>
          <p:nvPr/>
        </p:nvSpPr>
        <p:spPr>
          <a:xfrm>
            <a:off x="5100320" y="1911350"/>
            <a:ext cx="1991360" cy="20955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52720" y="2063750"/>
            <a:ext cx="1686560" cy="1790700"/>
          </a:xfrm>
          <a:prstGeom prst="rect">
            <a:avLst/>
          </a:prstGeom>
          <a:noFill/>
        </p:spPr>
        <p:txBody>
          <a:bodyPr wrap="square" lIns="0" rIns="0" tIns="0" bIns="0" anchor="t">
            <a:spAutoFit/>
          </a:bodyPr>
          <a:lstStyle/>
          <a:p>
            <a:pPr>
              <a:lnSpc>
                <a:spcPct val="100000"/>
              </a:lnSpc>
              <a:spcAft>
                <a:spcPts val="500"/>
              </a:spcAft>
            </a:pPr>
            <a:r>
              <a:rPr sz="1400" b="1">
                <a:solidFill>
                  <a:srgbClr val="141414"/>
                </a:solidFill>
                <a:latin typeface="Geist"/>
              </a:rPr>
              <a:t>R&amp;D Lab</a:t>
            </a:r>
          </a:p>
          <a:p>
            <a:pPr>
              <a:lnSpc>
                <a:spcPct val="116667"/>
              </a:lnSpc>
              <a:spcAft>
                <a:spcPts val="600"/>
              </a:spcAft>
            </a:pPr>
            <a:r>
              <a:rPr sz="1200" b="0">
                <a:solidFill>
                  <a:srgbClr val="5C5C57"/>
                </a:solidFill>
                <a:latin typeface="Geist"/>
              </a:rPr>
              <a:t>Themes and strategies, scored and built into indices.</a:t>
            </a:r>
          </a:p>
          <a:p>
            <a:pPr>
              <a:lnSpc>
                <a:spcPct val="116667"/>
              </a:lnSpc>
              <a:spcAft>
                <a:spcPts val="0"/>
              </a:spcAft>
            </a:pPr>
            <a:r>
              <a:rPr sz="1200" b="0">
                <a:solidFill>
                  <a:srgbClr val="141414"/>
                </a:solidFill>
                <a:latin typeface="Geist"/>
              </a:rPr>
              <a:t>Thematic product · Strategy</a:t>
            </a:r>
          </a:p>
        </p:txBody>
      </p:sp>
      <p:sp>
        <p:nvSpPr>
          <p:cNvPr id="10" name="Rectangle 9"/>
          <p:cNvSpPr/>
          <p:nvPr/>
        </p:nvSpPr>
        <p:spPr>
          <a:xfrm>
            <a:off x="7244080" y="1911350"/>
            <a:ext cx="1991360" cy="20955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6480" y="2063750"/>
            <a:ext cx="1686560" cy="1790700"/>
          </a:xfrm>
          <a:prstGeom prst="rect">
            <a:avLst/>
          </a:prstGeom>
          <a:noFill/>
        </p:spPr>
        <p:txBody>
          <a:bodyPr wrap="square" lIns="0" rIns="0" tIns="0" bIns="0" anchor="t">
            <a:spAutoFit/>
          </a:bodyPr>
          <a:lstStyle/>
          <a:p>
            <a:pPr>
              <a:lnSpc>
                <a:spcPct val="100000"/>
              </a:lnSpc>
              <a:spcAft>
                <a:spcPts val="500"/>
              </a:spcAft>
            </a:pPr>
            <a:r>
              <a:rPr sz="1400" b="1">
                <a:solidFill>
                  <a:srgbClr val="141414"/>
                </a:solidFill>
                <a:latin typeface="Geist"/>
              </a:rPr>
              <a:t>StewardIQ</a:t>
            </a:r>
          </a:p>
          <a:p>
            <a:pPr>
              <a:lnSpc>
                <a:spcPct val="116667"/>
              </a:lnSpc>
              <a:spcAft>
                <a:spcPts val="600"/>
              </a:spcAft>
            </a:pPr>
            <a:r>
              <a:rPr sz="1200" b="0">
                <a:solidFill>
                  <a:srgbClr val="5C5C57"/>
                </a:solidFill>
                <a:latin typeface="Geist"/>
              </a:rPr>
              <a:t>Engage, vote, escalate and report to clients.</a:t>
            </a:r>
          </a:p>
          <a:p>
            <a:pPr>
              <a:lnSpc>
                <a:spcPct val="116667"/>
              </a:lnSpc>
              <a:spcAft>
                <a:spcPts val="0"/>
              </a:spcAft>
            </a:pPr>
            <a:r>
              <a:rPr sz="1200" b="0">
                <a:solidFill>
                  <a:srgbClr val="141414"/>
                </a:solidFill>
                <a:latin typeface="Geist"/>
              </a:rPr>
              <a:t>Engage · Vote · Clients</a:t>
            </a:r>
          </a:p>
        </p:txBody>
      </p:sp>
      <p:sp>
        <p:nvSpPr>
          <p:cNvPr id="12" name="Rectangle 11"/>
          <p:cNvSpPr/>
          <p:nvPr/>
        </p:nvSpPr>
        <p:spPr>
          <a:xfrm>
            <a:off x="9387840" y="1911350"/>
            <a:ext cx="1991360" cy="20955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40240" y="2063750"/>
            <a:ext cx="1686560" cy="1790700"/>
          </a:xfrm>
          <a:prstGeom prst="rect">
            <a:avLst/>
          </a:prstGeom>
          <a:noFill/>
        </p:spPr>
        <p:txBody>
          <a:bodyPr wrap="square" lIns="0" rIns="0" tIns="0" bIns="0" anchor="t">
            <a:spAutoFit/>
          </a:bodyPr>
          <a:lstStyle/>
          <a:p>
            <a:pPr>
              <a:lnSpc>
                <a:spcPct val="100000"/>
              </a:lnSpc>
              <a:spcAft>
                <a:spcPts val="500"/>
              </a:spcAft>
            </a:pPr>
            <a:r>
              <a:rPr sz="1400" b="1">
                <a:solidFill>
                  <a:srgbClr val="141414"/>
                </a:solidFill>
                <a:latin typeface="Geist"/>
              </a:rPr>
              <a:t>Data Hub</a:t>
            </a:r>
          </a:p>
          <a:p>
            <a:pPr>
              <a:lnSpc>
                <a:spcPct val="116667"/>
              </a:lnSpc>
              <a:spcAft>
                <a:spcPts val="600"/>
              </a:spcAft>
            </a:pPr>
            <a:r>
              <a:rPr sz="1200" b="0">
                <a:solidFill>
                  <a:srgbClr val="5C5C57"/>
                </a:solidFill>
                <a:latin typeface="Geist"/>
              </a:rPr>
              <a:t>Feeds, stored data, the security master.</a:t>
            </a:r>
          </a:p>
          <a:p>
            <a:pPr>
              <a:lnSpc>
                <a:spcPct val="116667"/>
              </a:lnSpc>
              <a:spcAft>
                <a:spcPts val="0"/>
              </a:spcAft>
            </a:pPr>
            <a:r>
              <a:rPr sz="1200" b="0">
                <a:solidFill>
                  <a:srgbClr val="141414"/>
                </a:solidFill>
                <a:latin typeface="Geist"/>
              </a:rPr>
              <a:t>Map securities to issuers</a:t>
            </a:r>
          </a:p>
        </p:txBody>
      </p:sp>
      <p:sp>
        <p:nvSpPr>
          <p:cNvPr id="14" name="Rectangle 13"/>
          <p:cNvSpPr/>
          <p:nvPr/>
        </p:nvSpPr>
        <p:spPr>
          <a:xfrm>
            <a:off x="812800" y="4159250"/>
            <a:ext cx="3420533" cy="16002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159250"/>
            <a:ext cx="3420533"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5200" y="4337050"/>
            <a:ext cx="3115733" cy="12700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NEEDS YOU</a:t>
            </a:r>
          </a:p>
          <a:p>
            <a:pPr>
              <a:lnSpc>
                <a:spcPct val="100000"/>
              </a:lnSpc>
              <a:spcAft>
                <a:spcPts val="500"/>
              </a:spcAft>
            </a:pPr>
            <a:r>
              <a:rPr sz="1400" b="1">
                <a:solidFill>
                  <a:srgbClr val="141414"/>
                </a:solidFill>
                <a:latin typeface="Geist"/>
              </a:rPr>
              <a:t>One inbox for people</a:t>
            </a:r>
          </a:p>
          <a:p>
            <a:pPr>
              <a:lnSpc>
                <a:spcPct val="116667"/>
              </a:lnSpc>
              <a:spcAft>
                <a:spcPts val="0"/>
              </a:spcAft>
            </a:pPr>
            <a:r>
              <a:rPr sz="1200" b="0">
                <a:solidFill>
                  <a:srgbClr val="5C5C57"/>
                </a:solidFill>
                <a:latin typeface="Geist"/>
              </a:rPr>
              <a:t>Items to review, ballots to decide and blocking data issues, oldest first.</a:t>
            </a:r>
          </a:p>
        </p:txBody>
      </p:sp>
      <p:sp>
        <p:nvSpPr>
          <p:cNvPr id="17" name="Rectangle 16"/>
          <p:cNvSpPr/>
          <p:nvPr/>
        </p:nvSpPr>
        <p:spPr>
          <a:xfrm>
            <a:off x="4385733" y="4159250"/>
            <a:ext cx="3420533" cy="16002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85733" y="4159250"/>
            <a:ext cx="3420533"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8133" y="4337050"/>
            <a:ext cx="3115733" cy="12700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ASK ARP</a:t>
            </a:r>
          </a:p>
          <a:p>
            <a:pPr>
              <a:lnSpc>
                <a:spcPct val="100000"/>
              </a:lnSpc>
              <a:spcAft>
                <a:spcPts val="500"/>
              </a:spcAft>
            </a:pPr>
            <a:r>
              <a:rPr sz="1400" b="1">
                <a:solidFill>
                  <a:srgbClr val="141414"/>
                </a:solidFill>
                <a:latin typeface="Geist"/>
              </a:rPr>
              <a:t>Plain-language questions</a:t>
            </a:r>
          </a:p>
          <a:p>
            <a:pPr>
              <a:lnSpc>
                <a:spcPct val="116667"/>
              </a:lnSpc>
              <a:spcAft>
                <a:spcPts val="0"/>
              </a:spcAft>
            </a:pPr>
            <a:r>
              <a:rPr sz="1200" b="0">
                <a:solidFill>
                  <a:srgbClr val="5C5C57"/>
                </a:solidFill>
                <a:latin typeface="Geist"/>
              </a:rPr>
              <a:t>The model routes each question to a read-only tool; code computes every figure.</a:t>
            </a:r>
          </a:p>
        </p:txBody>
      </p:sp>
      <p:sp>
        <p:nvSpPr>
          <p:cNvPr id="20" name="Rectangle 19"/>
          <p:cNvSpPr/>
          <p:nvPr/>
        </p:nvSpPr>
        <p:spPr>
          <a:xfrm>
            <a:off x="7958667" y="4159250"/>
            <a:ext cx="3420533" cy="16002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58667" y="4159250"/>
            <a:ext cx="3420533"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1067" y="4337050"/>
            <a:ext cx="3115733" cy="12700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Reports and catalogue</a:t>
            </a:r>
          </a:p>
          <a:p>
            <a:pPr>
              <a:lnSpc>
                <a:spcPct val="116667"/>
              </a:lnSpc>
              <a:spcAft>
                <a:spcPts val="0"/>
              </a:spcAft>
            </a:pPr>
            <a:r>
              <a:rPr sz="1200" b="0">
                <a:solidFill>
                  <a:srgbClr val="5C5C57"/>
                </a:solidFill>
                <a:latin typeface="Geist"/>
              </a:rPr>
              <a:t>Every stored result in one catalogue, with what has already used it.</a:t>
            </a:r>
          </a:p>
        </p:txBody>
      </p:sp>
      <p:sp>
        <p:nvSpPr>
          <p:cNvPr id="23" name="TextBox 22"/>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24" name="TextBox 2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SYSTEM ARCHITECTURE</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Five layers under every function</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Every function runs on the same orchestration and shared services, with Postgres as the system of record.</a:t>
            </a:r>
          </a:p>
        </p:txBody>
      </p:sp>
      <p:sp>
        <p:nvSpPr>
          <p:cNvPr id="5" name="Rectangle 4"/>
          <p:cNvSpPr/>
          <p:nvPr/>
        </p:nvSpPr>
        <p:spPr>
          <a:xfrm>
            <a:off x="812800" y="2159000"/>
            <a:ext cx="10566400" cy="6477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5200" y="2159000"/>
            <a:ext cx="2095500" cy="647700"/>
          </a:xfrm>
          <a:prstGeom prst="rect">
            <a:avLst/>
          </a:prstGeom>
          <a:noFill/>
        </p:spPr>
        <p:txBody>
          <a:bodyPr wrap="square" lIns="0" rIns="0" tIns="0" bIns="0" anchor="ctr">
            <a:spAutoFit/>
          </a:bodyPr>
          <a:lstStyle/>
          <a:p>
            <a:pPr>
              <a:lnSpc>
                <a:spcPct val="108333"/>
              </a:lnSpc>
              <a:spcAft>
                <a:spcPts val="200"/>
              </a:spcAft>
            </a:pPr>
            <a:r>
              <a:rPr sz="1200" b="0">
                <a:solidFill>
                  <a:srgbClr val="141414"/>
                </a:solidFill>
                <a:latin typeface="Geist Mono"/>
              </a:rPr>
              <a:t>INTERFACES</a:t>
            </a:r>
          </a:p>
          <a:p>
            <a:pPr>
              <a:lnSpc>
                <a:spcPct val="108333"/>
              </a:lnSpc>
              <a:spcAft>
                <a:spcPts val="0"/>
              </a:spcAft>
            </a:pPr>
            <a:r>
              <a:rPr sz="1200" b="0">
                <a:solidFill>
                  <a:srgbClr val="5C5C57"/>
                </a:solidFill>
                <a:latin typeface="Geist"/>
              </a:rPr>
              <a:t>who drives it</a:t>
            </a:r>
          </a:p>
        </p:txBody>
      </p:sp>
      <p:sp>
        <p:nvSpPr>
          <p:cNvPr id="7" name="Rectangle 6"/>
          <p:cNvSpPr/>
          <p:nvPr/>
        </p:nvSpPr>
        <p:spPr>
          <a:xfrm>
            <a:off x="3365500" y="2333625"/>
            <a:ext cx="849376"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65500" y="2333625"/>
            <a:ext cx="84937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React UI</a:t>
            </a:r>
          </a:p>
        </p:txBody>
      </p:sp>
      <p:sp>
        <p:nvSpPr>
          <p:cNvPr id="9" name="Rectangle 8"/>
          <p:cNvSpPr/>
          <p:nvPr/>
        </p:nvSpPr>
        <p:spPr>
          <a:xfrm>
            <a:off x="4291076" y="2333625"/>
            <a:ext cx="768604"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076" y="2333625"/>
            <a:ext cx="76860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FastAPI</a:t>
            </a:r>
          </a:p>
        </p:txBody>
      </p:sp>
      <p:sp>
        <p:nvSpPr>
          <p:cNvPr id="11" name="Rectangle 10"/>
          <p:cNvSpPr/>
          <p:nvPr/>
        </p:nvSpPr>
        <p:spPr>
          <a:xfrm>
            <a:off x="5135880" y="2333625"/>
            <a:ext cx="93014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35880" y="2333625"/>
            <a:ext cx="9301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Typer CLI</a:t>
            </a:r>
          </a:p>
        </p:txBody>
      </p:sp>
      <p:sp>
        <p:nvSpPr>
          <p:cNvPr id="13" name="Rectangle 12"/>
          <p:cNvSpPr/>
          <p:nvPr/>
        </p:nvSpPr>
        <p:spPr>
          <a:xfrm>
            <a:off x="6142228" y="2333625"/>
            <a:ext cx="1253236"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42228" y="2333625"/>
            <a:ext cx="12532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Ask ARP panel</a:t>
            </a:r>
          </a:p>
        </p:txBody>
      </p:sp>
      <p:sp>
        <p:nvSpPr>
          <p:cNvPr id="15" name="Rectangle 14"/>
          <p:cNvSpPr/>
          <p:nvPr/>
        </p:nvSpPr>
        <p:spPr>
          <a:xfrm>
            <a:off x="7471664" y="2333625"/>
            <a:ext cx="849376"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1664" y="2333625"/>
            <a:ext cx="84937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Superset</a:t>
            </a:r>
          </a:p>
        </p:txBody>
      </p:sp>
      <p:sp>
        <p:nvSpPr>
          <p:cNvPr id="17" name="Rectangle 16"/>
          <p:cNvSpPr/>
          <p:nvPr/>
        </p:nvSpPr>
        <p:spPr>
          <a:xfrm>
            <a:off x="812800" y="2895600"/>
            <a:ext cx="10566400" cy="6477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5200" y="2895600"/>
            <a:ext cx="2095500" cy="647700"/>
          </a:xfrm>
          <a:prstGeom prst="rect">
            <a:avLst/>
          </a:prstGeom>
          <a:noFill/>
        </p:spPr>
        <p:txBody>
          <a:bodyPr wrap="square" lIns="0" rIns="0" tIns="0" bIns="0" anchor="ctr">
            <a:spAutoFit/>
          </a:bodyPr>
          <a:lstStyle/>
          <a:p>
            <a:pPr>
              <a:lnSpc>
                <a:spcPct val="108333"/>
              </a:lnSpc>
              <a:spcAft>
                <a:spcPts val="200"/>
              </a:spcAft>
            </a:pPr>
            <a:r>
              <a:rPr sz="1200" b="0">
                <a:solidFill>
                  <a:srgbClr val="141414"/>
                </a:solidFill>
                <a:latin typeface="Geist Mono"/>
              </a:rPr>
              <a:t>ORCHESTRATION</a:t>
            </a:r>
          </a:p>
          <a:p>
            <a:pPr>
              <a:lnSpc>
                <a:spcPct val="108333"/>
              </a:lnSpc>
              <a:spcAft>
                <a:spcPts val="0"/>
              </a:spcAft>
            </a:pPr>
            <a:r>
              <a:rPr sz="1200" b="0">
                <a:solidFill>
                  <a:srgbClr val="5C5C57"/>
                </a:solidFill>
                <a:latin typeface="Geist"/>
              </a:rPr>
              <a:t>how a run behaves</a:t>
            </a:r>
          </a:p>
        </p:txBody>
      </p:sp>
      <p:sp>
        <p:nvSpPr>
          <p:cNvPr id="19" name="Rectangle 18"/>
          <p:cNvSpPr/>
          <p:nvPr/>
        </p:nvSpPr>
        <p:spPr>
          <a:xfrm>
            <a:off x="3365500" y="3070225"/>
            <a:ext cx="1657096"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5500" y="3070225"/>
            <a:ext cx="16570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Postgres run store</a:t>
            </a:r>
          </a:p>
        </p:txBody>
      </p:sp>
      <p:sp>
        <p:nvSpPr>
          <p:cNvPr id="21" name="Rectangle 20"/>
          <p:cNvSpPr/>
          <p:nvPr/>
        </p:nvSpPr>
        <p:spPr>
          <a:xfrm>
            <a:off x="5098796" y="3070225"/>
            <a:ext cx="2060956"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98796" y="3070225"/>
            <a:ext cx="20609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per-company checkpoints</a:t>
            </a:r>
          </a:p>
        </p:txBody>
      </p:sp>
      <p:sp>
        <p:nvSpPr>
          <p:cNvPr id="23" name="Rectangle 22"/>
          <p:cNvSpPr/>
          <p:nvPr/>
        </p:nvSpPr>
        <p:spPr>
          <a:xfrm>
            <a:off x="7235952" y="3070225"/>
            <a:ext cx="133400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5952" y="3070225"/>
            <a:ext cx="13340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resume, cancel</a:t>
            </a:r>
          </a:p>
        </p:txBody>
      </p:sp>
      <p:sp>
        <p:nvSpPr>
          <p:cNvPr id="25" name="Rectangle 24"/>
          <p:cNvSpPr/>
          <p:nvPr/>
        </p:nvSpPr>
        <p:spPr>
          <a:xfrm>
            <a:off x="8646160" y="3070225"/>
            <a:ext cx="93014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46160" y="3070225"/>
            <a:ext cx="9301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Batch API</a:t>
            </a:r>
          </a:p>
        </p:txBody>
      </p:sp>
      <p:sp>
        <p:nvSpPr>
          <p:cNvPr id="27" name="Rectangle 26"/>
          <p:cNvSpPr/>
          <p:nvPr/>
        </p:nvSpPr>
        <p:spPr>
          <a:xfrm>
            <a:off x="9652508" y="3070225"/>
            <a:ext cx="1172464"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2508" y="3070225"/>
            <a:ext cx="11724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review queue</a:t>
            </a:r>
          </a:p>
        </p:txBody>
      </p:sp>
      <p:sp>
        <p:nvSpPr>
          <p:cNvPr id="29" name="Rectangle 28"/>
          <p:cNvSpPr/>
          <p:nvPr/>
        </p:nvSpPr>
        <p:spPr>
          <a:xfrm>
            <a:off x="812800" y="3632200"/>
            <a:ext cx="10566400" cy="6477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5200" y="3632200"/>
            <a:ext cx="2095500" cy="647700"/>
          </a:xfrm>
          <a:prstGeom prst="rect">
            <a:avLst/>
          </a:prstGeom>
          <a:noFill/>
        </p:spPr>
        <p:txBody>
          <a:bodyPr wrap="square" lIns="0" rIns="0" tIns="0" bIns="0" anchor="ctr">
            <a:spAutoFit/>
          </a:bodyPr>
          <a:lstStyle/>
          <a:p>
            <a:pPr>
              <a:lnSpc>
                <a:spcPct val="108333"/>
              </a:lnSpc>
              <a:spcAft>
                <a:spcPts val="200"/>
              </a:spcAft>
            </a:pPr>
            <a:r>
              <a:rPr sz="1200" b="0">
                <a:solidFill>
                  <a:srgbClr val="141414"/>
                </a:solidFill>
                <a:latin typeface="Geist Mono"/>
              </a:rPr>
              <a:t>AGENT PIPELINES</a:t>
            </a:r>
          </a:p>
          <a:p>
            <a:pPr>
              <a:lnSpc>
                <a:spcPct val="108333"/>
              </a:lnSpc>
              <a:spcAft>
                <a:spcPts val="0"/>
              </a:spcAft>
            </a:pPr>
            <a:r>
              <a:rPr sz="1200" b="0">
                <a:solidFill>
                  <a:srgbClr val="5C5C57"/>
                </a:solidFill>
                <a:latin typeface="Geist"/>
              </a:rPr>
              <a:t>per-company flows</a:t>
            </a:r>
          </a:p>
        </p:txBody>
      </p:sp>
      <p:sp>
        <p:nvSpPr>
          <p:cNvPr id="31" name="Rectangle 30"/>
          <p:cNvSpPr/>
          <p:nvPr/>
        </p:nvSpPr>
        <p:spPr>
          <a:xfrm>
            <a:off x="3365500" y="3806825"/>
            <a:ext cx="1980184"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65500" y="3806825"/>
            <a:ext cx="19801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LangGraph state graphs</a:t>
            </a:r>
          </a:p>
        </p:txBody>
      </p:sp>
      <p:sp>
        <p:nvSpPr>
          <p:cNvPr id="33" name="Rectangle 32"/>
          <p:cNvSpPr/>
          <p:nvPr/>
        </p:nvSpPr>
        <p:spPr>
          <a:xfrm>
            <a:off x="5421884" y="3806825"/>
            <a:ext cx="1657096"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21884" y="3806825"/>
            <a:ext cx="16570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extraction presets</a:t>
            </a:r>
          </a:p>
        </p:txBody>
      </p:sp>
      <p:sp>
        <p:nvSpPr>
          <p:cNvPr id="35" name="Rectangle 34"/>
          <p:cNvSpPr/>
          <p:nvPr/>
        </p:nvSpPr>
        <p:spPr>
          <a:xfrm>
            <a:off x="7155180" y="3806825"/>
            <a:ext cx="687832"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155180" y="3806825"/>
            <a:ext cx="68783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themes</a:t>
            </a:r>
          </a:p>
        </p:txBody>
      </p:sp>
      <p:sp>
        <p:nvSpPr>
          <p:cNvPr id="37" name="Rectangle 36"/>
          <p:cNvSpPr/>
          <p:nvPr/>
        </p:nvSpPr>
        <p:spPr>
          <a:xfrm>
            <a:off x="7919212" y="3806825"/>
            <a:ext cx="1010920"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19212" y="3806825"/>
            <a:ext cx="101092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transition</a:t>
            </a:r>
          </a:p>
        </p:txBody>
      </p:sp>
      <p:sp>
        <p:nvSpPr>
          <p:cNvPr id="39" name="Rectangle 38"/>
          <p:cNvSpPr/>
          <p:nvPr/>
        </p:nvSpPr>
        <p:spPr>
          <a:xfrm>
            <a:off x="9006332" y="3806825"/>
            <a:ext cx="1091692"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06332" y="3806825"/>
            <a:ext cx="10916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stewardship</a:t>
            </a:r>
          </a:p>
        </p:txBody>
      </p:sp>
      <p:sp>
        <p:nvSpPr>
          <p:cNvPr id="41" name="Rectangle 40"/>
          <p:cNvSpPr/>
          <p:nvPr/>
        </p:nvSpPr>
        <p:spPr>
          <a:xfrm>
            <a:off x="812800" y="4368800"/>
            <a:ext cx="10566400" cy="6477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5200" y="4368800"/>
            <a:ext cx="2095500" cy="647700"/>
          </a:xfrm>
          <a:prstGeom prst="rect">
            <a:avLst/>
          </a:prstGeom>
          <a:noFill/>
        </p:spPr>
        <p:txBody>
          <a:bodyPr wrap="square" lIns="0" rIns="0" tIns="0" bIns="0" anchor="ctr">
            <a:spAutoFit/>
          </a:bodyPr>
          <a:lstStyle/>
          <a:p>
            <a:pPr>
              <a:lnSpc>
                <a:spcPct val="108333"/>
              </a:lnSpc>
              <a:spcAft>
                <a:spcPts val="200"/>
              </a:spcAft>
            </a:pPr>
            <a:r>
              <a:rPr sz="1200" b="0">
                <a:solidFill>
                  <a:srgbClr val="141414"/>
                </a:solidFill>
                <a:latin typeface="Geist Mono"/>
              </a:rPr>
              <a:t>SHARED SERVICES</a:t>
            </a:r>
          </a:p>
          <a:p>
            <a:pPr>
              <a:lnSpc>
                <a:spcPct val="108333"/>
              </a:lnSpc>
              <a:spcAft>
                <a:spcPts val="0"/>
              </a:spcAft>
            </a:pPr>
            <a:r>
              <a:rPr sz="1200" b="0">
                <a:solidFill>
                  <a:srgbClr val="5C5C57"/>
                </a:solidFill>
                <a:latin typeface="Geist"/>
              </a:rPr>
              <a:t>used by every pipeline</a:t>
            </a:r>
          </a:p>
        </p:txBody>
      </p:sp>
      <p:sp>
        <p:nvSpPr>
          <p:cNvPr id="43" name="Rectangle 42"/>
          <p:cNvSpPr/>
          <p:nvPr/>
        </p:nvSpPr>
        <p:spPr>
          <a:xfrm>
            <a:off x="3365500" y="4543425"/>
            <a:ext cx="1576324"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65500" y="4543425"/>
            <a:ext cx="157632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one LLM interface</a:t>
            </a:r>
          </a:p>
        </p:txBody>
      </p:sp>
      <p:sp>
        <p:nvSpPr>
          <p:cNvPr id="45" name="Rectangle 44"/>
          <p:cNvSpPr/>
          <p:nvPr/>
        </p:nvSpPr>
        <p:spPr>
          <a:xfrm>
            <a:off x="5018024" y="4543425"/>
            <a:ext cx="1576324"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18024" y="4543425"/>
            <a:ext cx="157632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Claude and Gemini</a:t>
            </a:r>
          </a:p>
        </p:txBody>
      </p:sp>
      <p:sp>
        <p:nvSpPr>
          <p:cNvPr id="47" name="Rectangle 46"/>
          <p:cNvSpPr/>
          <p:nvPr/>
        </p:nvSpPr>
        <p:spPr>
          <a:xfrm>
            <a:off x="6670548" y="4543425"/>
            <a:ext cx="1576324"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70548" y="4543425"/>
            <a:ext cx="157632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BM25 + embeddings</a:t>
            </a:r>
          </a:p>
        </p:txBody>
      </p:sp>
      <p:sp>
        <p:nvSpPr>
          <p:cNvPr id="49" name="Rectangle 48"/>
          <p:cNvSpPr/>
          <p:nvPr/>
        </p:nvSpPr>
        <p:spPr>
          <a:xfrm>
            <a:off x="8323072" y="4543425"/>
            <a:ext cx="93014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23072" y="4543425"/>
            <a:ext cx="9301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grounding</a:t>
            </a:r>
          </a:p>
        </p:txBody>
      </p:sp>
      <p:sp>
        <p:nvSpPr>
          <p:cNvPr id="51" name="Rectangle 50"/>
          <p:cNvSpPr/>
          <p:nvPr/>
        </p:nvSpPr>
        <p:spPr>
          <a:xfrm>
            <a:off x="9329420" y="4543425"/>
            <a:ext cx="1010920"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329420" y="4543425"/>
            <a:ext cx="101092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SSRF guard</a:t>
            </a:r>
          </a:p>
        </p:txBody>
      </p:sp>
      <p:sp>
        <p:nvSpPr>
          <p:cNvPr id="53" name="Rectangle 52"/>
          <p:cNvSpPr/>
          <p:nvPr/>
        </p:nvSpPr>
        <p:spPr>
          <a:xfrm>
            <a:off x="812800" y="5105400"/>
            <a:ext cx="10566400" cy="6477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5200" y="5105400"/>
            <a:ext cx="2095500" cy="647700"/>
          </a:xfrm>
          <a:prstGeom prst="rect">
            <a:avLst/>
          </a:prstGeom>
          <a:noFill/>
        </p:spPr>
        <p:txBody>
          <a:bodyPr wrap="square" lIns="0" rIns="0" tIns="0" bIns="0" anchor="ctr">
            <a:spAutoFit/>
          </a:bodyPr>
          <a:lstStyle/>
          <a:p>
            <a:pPr>
              <a:lnSpc>
                <a:spcPct val="108333"/>
              </a:lnSpc>
              <a:spcAft>
                <a:spcPts val="200"/>
              </a:spcAft>
            </a:pPr>
            <a:r>
              <a:rPr sz="1200" b="0">
                <a:solidFill>
                  <a:srgbClr val="141414"/>
                </a:solidFill>
                <a:latin typeface="Geist Mono"/>
              </a:rPr>
              <a:t>STORAGE, COMPUTE</a:t>
            </a:r>
          </a:p>
          <a:p>
            <a:pPr>
              <a:lnSpc>
                <a:spcPct val="108333"/>
              </a:lnSpc>
              <a:spcAft>
                <a:spcPts val="0"/>
              </a:spcAft>
            </a:pPr>
            <a:r>
              <a:rPr sz="1200" b="0">
                <a:solidFill>
                  <a:srgbClr val="5C5C57"/>
                </a:solidFill>
                <a:latin typeface="Geist"/>
              </a:rPr>
              <a:t>what persists</a:t>
            </a:r>
          </a:p>
        </p:txBody>
      </p:sp>
      <p:sp>
        <p:nvSpPr>
          <p:cNvPr id="55" name="Rectangle 54"/>
          <p:cNvSpPr/>
          <p:nvPr/>
        </p:nvSpPr>
        <p:spPr>
          <a:xfrm>
            <a:off x="3365500" y="5280025"/>
            <a:ext cx="173786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5500" y="5280025"/>
            <a:ext cx="17378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Postgres + pgvector</a:t>
            </a:r>
          </a:p>
        </p:txBody>
      </p:sp>
      <p:sp>
        <p:nvSpPr>
          <p:cNvPr id="57" name="Rectangle 56"/>
          <p:cNvSpPr/>
          <p:nvPr/>
        </p:nvSpPr>
        <p:spPr>
          <a:xfrm>
            <a:off x="5179568" y="5280025"/>
            <a:ext cx="214172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9568" y="5280025"/>
            <a:ext cx="21417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fact ledger, as-of reads</a:t>
            </a:r>
          </a:p>
        </p:txBody>
      </p:sp>
      <p:sp>
        <p:nvSpPr>
          <p:cNvPr id="59" name="Rectangle 58"/>
          <p:cNvSpPr/>
          <p:nvPr/>
        </p:nvSpPr>
        <p:spPr>
          <a:xfrm>
            <a:off x="7397496" y="5280025"/>
            <a:ext cx="133400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97496" y="5280025"/>
            <a:ext cx="13340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document store</a:t>
            </a:r>
          </a:p>
        </p:txBody>
      </p:sp>
      <p:sp>
        <p:nvSpPr>
          <p:cNvPr id="61" name="Rectangle 60"/>
          <p:cNvSpPr/>
          <p:nvPr/>
        </p:nvSpPr>
        <p:spPr>
          <a:xfrm>
            <a:off x="8807704" y="5280025"/>
            <a:ext cx="1334008" cy="2984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07704" y="5280025"/>
            <a:ext cx="13340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141414"/>
                </a:solidFill>
                <a:latin typeface="Geist"/>
              </a:rPr>
              <a:t>Cloud Run GPUs</a:t>
            </a:r>
          </a:p>
        </p:txBody>
      </p:sp>
      <p:sp>
        <p:nvSpPr>
          <p:cNvPr id="63" name="TextBox 62"/>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64" name="TextBox 6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EA4C14"/>
                </a:solidFill>
                <a:latin typeface="Geist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6000" b="1">
                <a:solidFill>
                  <a:srgbClr val="F3F3F0"/>
                </a:solidFill>
                <a:latin typeface="Geist"/>
              </a:rPr>
              <a:t>Find and extract</a:t>
            </a:r>
          </a:p>
        </p:txBody>
      </p:sp>
      <p:sp>
        <p:nvSpPr>
          <p:cNvPr id="4" name="TextBox 3"/>
          <p:cNvSpPr txBox="1"/>
          <p:nvPr/>
        </p:nvSpPr>
        <p:spPr>
          <a:xfrm>
            <a:off x="812800" y="2152650"/>
            <a:ext cx="7620000" cy="571500"/>
          </a:xfrm>
          <a:prstGeom prst="rect">
            <a:avLst/>
          </a:prstGeom>
          <a:noFill/>
        </p:spPr>
        <p:txBody>
          <a:bodyPr wrap="square" lIns="0" rIns="0" tIns="0" bIns="0" anchor="t">
            <a:spAutoFit/>
          </a:bodyPr>
          <a:lstStyle/>
          <a:p>
            <a:pPr>
              <a:lnSpc>
                <a:spcPct val="116667"/>
              </a:lnSpc>
              <a:spcAft>
                <a:spcPts val="0"/>
              </a:spcAft>
            </a:pPr>
            <a:r>
              <a:rPr sz="1600" b="0">
                <a:solidFill>
                  <a:srgbClr val="B5B5AE"/>
                </a:solidFill>
                <a:latin typeface="Geist"/>
              </a:rPr>
              <a:t>Build the universe, find the documents and pull cited figures out of them, for up to about 4,000 companies per run.</a:t>
            </a:r>
          </a:p>
        </p:txBody>
      </p:sp>
      <p:sp>
        <p:nvSpPr>
          <p:cNvPr id="5" name="Rectangle 4"/>
          <p:cNvSpPr/>
          <p:nvPr/>
        </p:nvSpPr>
        <p:spPr>
          <a:xfrm>
            <a:off x="812800" y="35560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30289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01   Argus</a:t>
            </a:r>
          </a:p>
          <a:p>
            <a:pPr>
              <a:lnSpc>
                <a:spcPct val="108333"/>
              </a:lnSpc>
              <a:spcAft>
                <a:spcPts val="0"/>
              </a:spcAft>
            </a:pPr>
            <a:r>
              <a:rPr sz="1200" b="0">
                <a:solidFill>
                  <a:srgbClr val="B5B5AE"/>
                </a:solidFill>
                <a:latin typeface="Geist"/>
              </a:rPr>
              <a:t>The extract-and-score flow</a:t>
            </a:r>
          </a:p>
        </p:txBody>
      </p:sp>
      <p:sp>
        <p:nvSpPr>
          <p:cNvPr id="7" name="Rectangle 6"/>
          <p:cNvSpPr/>
          <p:nvPr/>
        </p:nvSpPr>
        <p:spPr>
          <a:xfrm>
            <a:off x="812800" y="40894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35623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02   Identity</a:t>
            </a:r>
          </a:p>
          <a:p>
            <a:pPr>
              <a:lnSpc>
                <a:spcPct val="108333"/>
              </a:lnSpc>
              <a:spcAft>
                <a:spcPts val="0"/>
              </a:spcAft>
            </a:pPr>
            <a:r>
              <a:rPr sz="1200" b="0">
                <a:solidFill>
                  <a:srgbClr val="B5B5AE"/>
                </a:solidFill>
                <a:latin typeface="Geist"/>
              </a:rPr>
              <a:t>Which company is this?</a:t>
            </a:r>
          </a:p>
        </p:txBody>
      </p:sp>
      <p:sp>
        <p:nvSpPr>
          <p:cNvPr id="9" name="Rectangle 8"/>
          <p:cNvSpPr/>
          <p:nvPr/>
        </p:nvSpPr>
        <p:spPr>
          <a:xfrm>
            <a:off x="812800" y="46228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0957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03   Documents</a:t>
            </a:r>
          </a:p>
          <a:p>
            <a:pPr>
              <a:lnSpc>
                <a:spcPct val="108333"/>
              </a:lnSpc>
              <a:spcAft>
                <a:spcPts val="0"/>
              </a:spcAft>
            </a:pPr>
            <a:r>
              <a:rPr sz="1200" b="0">
                <a:solidFill>
                  <a:srgbClr val="B5B5AE"/>
                </a:solidFill>
                <a:latin typeface="Geist"/>
              </a:rPr>
              <a:t>Finding the reports</a:t>
            </a:r>
          </a:p>
        </p:txBody>
      </p:sp>
      <p:sp>
        <p:nvSpPr>
          <p:cNvPr id="11" name="Rectangle 10"/>
          <p:cNvSpPr/>
          <p:nvPr/>
        </p:nvSpPr>
        <p:spPr>
          <a:xfrm>
            <a:off x="812800" y="51562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46291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04   Data-point extraction</a:t>
            </a:r>
          </a:p>
          <a:p>
            <a:pPr>
              <a:lnSpc>
                <a:spcPct val="108333"/>
              </a:lnSpc>
              <a:spcAft>
                <a:spcPts val="0"/>
              </a:spcAft>
            </a:pPr>
            <a:r>
              <a:rPr sz="1200" b="0">
                <a:solidFill>
                  <a:srgbClr val="B5B5AE"/>
                </a:solidFill>
                <a:latin typeface="Geist"/>
              </a:rPr>
              <a:t>Cited figures and verdicts</a:t>
            </a:r>
          </a:p>
        </p:txBody>
      </p:sp>
      <p:sp>
        <p:nvSpPr>
          <p:cNvPr id="13" name="Rectangle 12"/>
          <p:cNvSpPr/>
          <p:nvPr/>
        </p:nvSpPr>
        <p:spPr>
          <a:xfrm>
            <a:off x="812800" y="56896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800" y="51625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05   Financials and XBRL</a:t>
            </a:r>
          </a:p>
          <a:p>
            <a:pPr>
              <a:lnSpc>
                <a:spcPct val="108333"/>
              </a:lnSpc>
              <a:spcAft>
                <a:spcPts val="0"/>
              </a:spcAft>
            </a:pPr>
            <a:r>
              <a:rPr sz="1200" b="0">
                <a:solidFill>
                  <a:srgbClr val="B5B5AE"/>
                </a:solidFill>
                <a:latin typeface="Geist"/>
              </a:rPr>
              <a:t>Segments, capex, R&amp;D, filed facts</a:t>
            </a:r>
          </a:p>
        </p:txBody>
      </p:sp>
      <p:sp>
        <p:nvSpPr>
          <p:cNvPr id="15" name="Rectangle 14"/>
          <p:cNvSpPr/>
          <p:nvPr/>
        </p:nvSpPr>
        <p:spPr>
          <a:xfrm>
            <a:off x="6299200" y="35560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9200" y="30289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06   Thematic universe</a:t>
            </a:r>
          </a:p>
          <a:p>
            <a:pPr>
              <a:lnSpc>
                <a:spcPct val="108333"/>
              </a:lnSpc>
              <a:spcAft>
                <a:spcPts val="0"/>
              </a:spcAft>
            </a:pPr>
            <a:r>
              <a:rPr sz="1200" b="0">
                <a:solidFill>
                  <a:srgbClr val="B5B5AE"/>
                </a:solidFill>
                <a:latin typeface="Geist"/>
              </a:rPr>
              <a:t>From a theme to its companies</a:t>
            </a:r>
          </a:p>
        </p:txBody>
      </p:sp>
      <p:sp>
        <p:nvSpPr>
          <p:cNvPr id="17" name="Rectangle 16"/>
          <p:cNvSpPr/>
          <p:nvPr/>
        </p:nvSpPr>
        <p:spPr>
          <a:xfrm>
            <a:off x="6299200" y="40894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9200" y="35623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07   Theme dossier</a:t>
            </a:r>
          </a:p>
          <a:p>
            <a:pPr>
              <a:lnSpc>
                <a:spcPct val="108333"/>
              </a:lnSpc>
              <a:spcAft>
                <a:spcPts val="0"/>
              </a:spcAft>
            </a:pPr>
            <a:r>
              <a:rPr sz="1200" b="0">
                <a:solidFill>
                  <a:srgbClr val="B5B5AE"/>
                </a:solidFill>
                <a:latin typeface="Geist"/>
              </a:rPr>
              <a:t>Spot, define and research a theme</a:t>
            </a:r>
          </a:p>
        </p:txBody>
      </p:sp>
      <p:sp>
        <p:nvSpPr>
          <p:cNvPr id="19" name="Rectangle 18"/>
          <p:cNvSpPr/>
          <p:nvPr/>
        </p:nvSpPr>
        <p:spPr>
          <a:xfrm>
            <a:off x="6299200" y="46228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9200" y="40957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08   Transition plans</a:t>
            </a:r>
          </a:p>
          <a:p>
            <a:pPr>
              <a:lnSpc>
                <a:spcPct val="108333"/>
              </a:lnSpc>
              <a:spcAft>
                <a:spcPts val="0"/>
              </a:spcAft>
            </a:pPr>
            <a:r>
              <a:rPr sz="1200" b="0">
                <a:solidFill>
                  <a:srgbClr val="B5B5AE"/>
                </a:solidFill>
                <a:latin typeface="Geist"/>
              </a:rPr>
              <a:t>Walk versus talk, then alignment</a:t>
            </a:r>
          </a:p>
        </p:txBody>
      </p:sp>
      <p:sp>
        <p:nvSpPr>
          <p:cNvPr id="21" name="Rectangle 20"/>
          <p:cNvSpPr/>
          <p:nvPr/>
        </p:nvSpPr>
        <p:spPr>
          <a:xfrm>
            <a:off x="6299200" y="51562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99200" y="46291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09   Transition barriers</a:t>
            </a:r>
          </a:p>
          <a:p>
            <a:pPr>
              <a:lnSpc>
                <a:spcPct val="108333"/>
              </a:lnSpc>
              <a:spcAft>
                <a:spcPts val="0"/>
              </a:spcAft>
            </a:pPr>
            <a:r>
              <a:rPr sz="1200" b="0">
                <a:solidFill>
                  <a:srgbClr val="B5B5AE"/>
                </a:solidFill>
                <a:latin typeface="Geist"/>
              </a:rPr>
              <a:t>Is decarbonisation feasible here?</a:t>
            </a:r>
          </a:p>
        </p:txBody>
      </p:sp>
      <p:sp>
        <p:nvSpPr>
          <p:cNvPr id="23" name="Rectangle 22"/>
          <p:cNvSpPr/>
          <p:nvPr/>
        </p:nvSpPr>
        <p:spPr>
          <a:xfrm>
            <a:off x="6299200" y="56896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99200" y="51625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10   Value chain</a:t>
            </a:r>
          </a:p>
          <a:p>
            <a:pPr>
              <a:lnSpc>
                <a:spcPct val="108333"/>
              </a:lnSpc>
              <a:spcAft>
                <a:spcPts val="0"/>
              </a:spcAft>
            </a:pPr>
            <a:r>
              <a:rPr sz="1200" b="0">
                <a:solidFill>
                  <a:srgbClr val="B5B5AE"/>
                </a:solidFill>
                <a:latin typeface="Geist"/>
              </a:rPr>
              <a:t>Exposure through input-output tables</a:t>
            </a:r>
          </a:p>
        </p:txBody>
      </p:sp>
      <p:sp>
        <p:nvSpPr>
          <p:cNvPr id="25" name="TextBox 24"/>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B5B5AE"/>
                </a:solidFill>
                <a:latin typeface="Geist Mono"/>
              </a:rPr>
              <a:t>ARP · FUNCTIONS AND ARCHITECTURE</a:t>
            </a:r>
          </a:p>
        </p:txBody>
      </p:sp>
      <p:sp>
        <p:nvSpPr>
          <p:cNvPr id="26" name="TextBox 2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B5B5AE"/>
                </a:solidFill>
                <a:latin typeface="Geist Mono"/>
              </a:rP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01</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Argus: extract and score</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Bring a universe; get every figure cited, reviewed and, if wanted, tiered by a ratified template.</a:t>
            </a:r>
          </a:p>
        </p:txBody>
      </p:sp>
      <p:sp>
        <p:nvSpPr>
          <p:cNvPr id="5" name="Rectangle 4"/>
          <p:cNvSpPr/>
          <p:nvPr/>
        </p:nvSpPr>
        <p:spPr>
          <a:xfrm>
            <a:off x="812800" y="215900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Universe</a:t>
            </a:r>
          </a:p>
          <a:p>
            <a:pPr>
              <a:lnSpc>
                <a:spcPct val="112500"/>
              </a:lnSpc>
              <a:spcAft>
                <a:spcPts val="0"/>
              </a:spcAft>
            </a:pPr>
            <a:r>
              <a:rPr sz="1200" b="0">
                <a:solidFill>
                  <a:srgbClr val="5C5C57"/>
                </a:solidFill>
                <a:latin typeface="Geist"/>
              </a:rPr>
              <a:t>Uploaded or saved, mapped through the security master</a:t>
            </a:r>
          </a:p>
        </p:txBody>
      </p:sp>
      <p:sp>
        <p:nvSpPr>
          <p:cNvPr id="8" name="TextBox 7"/>
          <p:cNvSpPr txBox="1"/>
          <p:nvPr/>
        </p:nvSpPr>
        <p:spPr>
          <a:xfrm>
            <a:off x="24257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Companies</a:t>
            </a:r>
          </a:p>
          <a:p>
            <a:pPr>
              <a:lnSpc>
                <a:spcPct val="112500"/>
              </a:lnSpc>
              <a:spcAft>
                <a:spcPts val="0"/>
              </a:spcAft>
            </a:pPr>
            <a:r>
              <a:rPr sz="1200" b="0">
                <a:solidFill>
                  <a:srgbClr val="5C5C57"/>
                </a:solidFill>
                <a:latin typeface="Geist"/>
              </a:rPr>
              <a:t>One internal id each; LEI, ISIN, CIK matched exactly</a:t>
            </a:r>
          </a:p>
        </p:txBody>
      </p:sp>
      <p:sp>
        <p:nvSpPr>
          <p:cNvPr id="12" name="TextBox 11"/>
          <p:cNvSpPr txBox="1"/>
          <p:nvPr/>
        </p:nvSpPr>
        <p:spPr>
          <a:xfrm>
            <a:off x="42164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Documents</a:t>
            </a:r>
          </a:p>
          <a:p>
            <a:pPr>
              <a:lnSpc>
                <a:spcPct val="112500"/>
              </a:lnSpc>
              <a:spcAft>
                <a:spcPts val="0"/>
              </a:spcAft>
            </a:pPr>
            <a:r>
              <a:rPr sz="1200" b="0">
                <a:solidFill>
                  <a:srgbClr val="5C5C57"/>
                </a:solidFill>
                <a:latin typeface="Geist"/>
              </a:rPr>
              <a:t>Upload, import folder, SEC or ESEF filings, web crawl</a:t>
            </a:r>
          </a:p>
        </p:txBody>
      </p:sp>
      <p:sp>
        <p:nvSpPr>
          <p:cNvPr id="16" name="TextBox 15"/>
          <p:cNvSpPr txBox="1"/>
          <p:nvPr/>
        </p:nvSpPr>
        <p:spPr>
          <a:xfrm>
            <a:off x="60071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Extract</a:t>
            </a:r>
          </a:p>
          <a:p>
            <a:pPr>
              <a:lnSpc>
                <a:spcPct val="112500"/>
              </a:lnSpc>
              <a:spcAft>
                <a:spcPts val="0"/>
              </a:spcAft>
            </a:pPr>
            <a:r>
              <a:rPr sz="1200" b="0">
                <a:solidFill>
                  <a:srgbClr val="5C5C57"/>
                </a:solidFill>
                <a:latin typeface="Geist"/>
              </a:rPr>
              <a:t>Schema fields; verifier on a different model</a:t>
            </a:r>
          </a:p>
        </p:txBody>
      </p:sp>
      <p:sp>
        <p:nvSpPr>
          <p:cNvPr id="20" name="TextBox 19"/>
          <p:cNvSpPr txBox="1"/>
          <p:nvPr/>
        </p:nvSpPr>
        <p:spPr>
          <a:xfrm>
            <a:off x="77978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Review</a:t>
            </a:r>
          </a:p>
          <a:p>
            <a:pPr>
              <a:lnSpc>
                <a:spcPct val="112500"/>
              </a:lnSpc>
              <a:spcAft>
                <a:spcPts val="0"/>
              </a:spcAft>
            </a:pPr>
            <a:r>
              <a:rPr sz="1200" b="0">
                <a:solidFill>
                  <a:srgbClr val="5C5C57"/>
                </a:solidFill>
                <a:latin typeface="Geist"/>
              </a:rPr>
              <a:t>Accept, override or reject in the queue</a:t>
            </a:r>
          </a:p>
        </p:txBody>
      </p:sp>
      <p:sp>
        <p:nvSpPr>
          <p:cNvPr id="24" name="TextBox 23"/>
          <p:cNvSpPr txBox="1"/>
          <p:nvPr/>
        </p:nvSpPr>
        <p:spPr>
          <a:xfrm>
            <a:off x="95885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Score</a:t>
            </a:r>
          </a:p>
          <a:p>
            <a:pPr>
              <a:lnSpc>
                <a:spcPct val="112500"/>
              </a:lnSpc>
              <a:spcAft>
                <a:spcPts val="0"/>
              </a:spcAft>
            </a:pPr>
            <a:r>
              <a:rPr sz="1200" b="0">
                <a:solidFill>
                  <a:srgbClr val="5C5C57"/>
                </a:solidFill>
                <a:latin typeface="Geist"/>
              </a:rPr>
              <a:t>Decision Studio tiers from a ratified template</a:t>
            </a:r>
          </a:p>
        </p:txBody>
      </p:sp>
      <p:sp>
        <p:nvSpPr>
          <p:cNvPr id="28" name="Rectangle 27"/>
          <p:cNvSpPr/>
          <p:nvPr/>
        </p:nvSpPr>
        <p:spPr>
          <a:xfrm>
            <a:off x="812800" y="4133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86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STATUS</a:t>
            </a:r>
          </a:p>
          <a:p>
            <a:pPr>
              <a:lnSpc>
                <a:spcPct val="116667"/>
              </a:lnSpc>
              <a:spcAft>
                <a:spcPts val="0"/>
              </a:spcAft>
            </a:pPr>
            <a:r>
              <a:rPr sz="1200" b="0">
                <a:solidFill>
                  <a:srgbClr val="5C5C57"/>
                </a:solidFill>
                <a:latin typeface="Geist"/>
              </a:rPr>
              <a:t>The start page and step 1 are live. Later steps hand over to the Extraction screens for now.</a:t>
            </a:r>
          </a:p>
        </p:txBody>
      </p:sp>
      <p:sp>
        <p:nvSpPr>
          <p:cNvPr id="30" name="Rectangle 29"/>
          <p:cNvSpPr/>
          <p:nvPr/>
        </p:nvSpPr>
        <p:spPr>
          <a:xfrm>
            <a:off x="4402667" y="4133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86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RUN MODES</a:t>
            </a:r>
          </a:p>
          <a:p>
            <a:pPr>
              <a:lnSpc>
                <a:spcPct val="116667"/>
              </a:lnSpc>
              <a:spcAft>
                <a:spcPts val="0"/>
              </a:spcAft>
            </a:pPr>
            <a:r>
              <a:rPr sz="1200" b="0">
                <a:solidFill>
                  <a:srgbClr val="5C5C57"/>
                </a:solidFill>
                <a:latin typeface="Geist"/>
              </a:rPr>
              <a:t>Cheap, normal or max: more evidence and stricter review thresholds as the mode rises.</a:t>
            </a:r>
          </a:p>
        </p:txBody>
      </p:sp>
      <p:sp>
        <p:nvSpPr>
          <p:cNvPr id="32" name="Rectangle 31"/>
          <p:cNvSpPr/>
          <p:nvPr/>
        </p:nvSpPr>
        <p:spPr>
          <a:xfrm>
            <a:off x="7992533" y="4133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86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Nothing is matched by name; an unmatched security is fixed in the security master.</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02</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Identity: which company is this?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Identifiers first, search only when they run out, and one model call only where no lookup settles it.</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Universe row</a:t>
            </a:r>
          </a:p>
          <a:p>
            <a:pPr>
              <a:lnSpc>
                <a:spcPct val="112500"/>
              </a:lnSpc>
              <a:spcAft>
                <a:spcPts val="0"/>
              </a:spcAft>
            </a:pPr>
            <a:r>
              <a:rPr sz="1200" b="0">
                <a:solidFill>
                  <a:srgbClr val="5C5C57"/>
                </a:solidFill>
                <a:latin typeface="Geist"/>
              </a:rPr>
              <a:t>Name, maybe a ticker, LEI, ISIN or CIK</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Security master</a:t>
            </a:r>
          </a:p>
          <a:p>
            <a:pPr>
              <a:lnSpc>
                <a:spcPct val="112500"/>
              </a:lnSpc>
              <a:spcAft>
                <a:spcPts val="0"/>
              </a:spcAft>
            </a:pPr>
            <a:r>
              <a:rPr sz="1200" b="0">
                <a:solidFill>
                  <a:srgbClr val="5C5C57"/>
                </a:solidFill>
                <a:latin typeface="Geist"/>
              </a:rPr>
              <a:t>Exact LEI, ISIN or CIK to one internal issuer</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Lookups</a:t>
            </a:r>
          </a:p>
          <a:p>
            <a:pPr>
              <a:lnSpc>
                <a:spcPct val="112500"/>
              </a:lnSpc>
              <a:spcAft>
                <a:spcPts val="0"/>
              </a:spcAft>
            </a:pPr>
            <a:r>
              <a:rPr sz="1200" b="0">
                <a:solidFill>
                  <a:srgbClr val="5C5C57"/>
                </a:solidFill>
                <a:latin typeface="Geist"/>
              </a:rPr>
              <a:t>GLEIF fills the LEI from an ISIN; EDGAR by CIK</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Adjudicate</a:t>
            </a:r>
          </a:p>
          <a:p>
            <a:pPr>
              <a:lnSpc>
                <a:spcPct val="112500"/>
              </a:lnSpc>
              <a:spcAft>
                <a:spcPts val="0"/>
              </a:spcAft>
            </a:pPr>
            <a:r>
              <a:rPr sz="1200" b="0">
                <a:solidFill>
                  <a:srgbClr val="5C5C57"/>
                </a:solidFill>
                <a:latin typeface="Geist"/>
              </a:rPr>
              <a:t>One call over EDGAR and GLEIF candidates</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Check in code</a:t>
            </a:r>
          </a:p>
          <a:p>
            <a:pPr>
              <a:lnSpc>
                <a:spcPct val="112500"/>
              </a:lnSpc>
              <a:spcAft>
                <a:spcPts val="0"/>
              </a:spcAft>
            </a:pPr>
            <a:r>
              <a:rPr sz="1200" b="0">
                <a:solidFill>
                  <a:srgbClr val="5C5C57"/>
                </a:solidFill>
                <a:latin typeface="Geist"/>
              </a:rPr>
              <a:t>Website and CIK must match the gathered signals</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Verdict</a:t>
            </a:r>
          </a:p>
          <a:p>
            <a:pPr>
              <a:lnSpc>
                <a:spcPct val="112500"/>
              </a:lnSpc>
              <a:spcAft>
                <a:spcPts val="0"/>
              </a:spcAft>
            </a:pPr>
            <a:r>
              <a:rPr sz="1200" b="0">
                <a:solidFill>
                  <a:srgbClr val="5C5C57"/>
                </a:solidFill>
                <a:latin typeface="Geist"/>
              </a:rPr>
              <a:t>Resolved; uncertain and unresolved go to review</a:t>
            </a:r>
          </a:p>
        </p:txBody>
      </p:sp>
      <p:sp>
        <p:nvSpPr>
          <p:cNvPr id="28" name="Rectangle 27"/>
          <p:cNvSpPr/>
          <p:nvPr/>
        </p:nvSpPr>
        <p:spPr>
          <a:xfrm>
            <a:off x="812800" y="4140200"/>
            <a:ext cx="3386667" cy="1511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12065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WHY ONE CALL</a:t>
            </a:r>
          </a:p>
          <a:p>
            <a:pPr>
              <a:lnSpc>
                <a:spcPct val="116667"/>
              </a:lnSpc>
              <a:spcAft>
                <a:spcPts val="0"/>
              </a:spcAft>
            </a:pPr>
            <a:r>
              <a:rPr sz="1200" b="0">
                <a:solidFill>
                  <a:srgbClr val="5C5C57"/>
                </a:solidFill>
                <a:latin typeface="Geist"/>
              </a:rPr>
              <a:t>Which company it is rarely has two defensible sides, so there is no debate. Most rows never reach a model.</a:t>
            </a:r>
          </a:p>
        </p:txBody>
      </p:sp>
      <p:sp>
        <p:nvSpPr>
          <p:cNvPr id="30" name="Rectangle 29"/>
          <p:cNvSpPr/>
          <p:nvPr/>
        </p:nvSpPr>
        <p:spPr>
          <a:xfrm>
            <a:off x="4402667" y="4140200"/>
            <a:ext cx="3386667" cy="1511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12065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WEBSITES</a:t>
            </a:r>
          </a:p>
          <a:p>
            <a:pPr>
              <a:lnSpc>
                <a:spcPct val="116667"/>
              </a:lnSpc>
              <a:spcAft>
                <a:spcPts val="0"/>
              </a:spcAft>
            </a:pPr>
            <a:r>
              <a:rPr sz="1200" b="0">
                <a:solidFill>
                  <a:srgbClr val="5C5C57"/>
                </a:solidFill>
                <a:latin typeface="Geist"/>
              </a:rPr>
              <a:t>A homepage found by search is scored before crawling; aggregators and other companies' sites are rejected.</a:t>
            </a:r>
          </a:p>
        </p:txBody>
      </p:sp>
      <p:sp>
        <p:nvSpPr>
          <p:cNvPr id="32" name="Rectangle 31"/>
          <p:cNvSpPr/>
          <p:nvPr/>
        </p:nvSpPr>
        <p:spPr>
          <a:xfrm>
            <a:off x="7992533" y="4140200"/>
            <a:ext cx="3386667" cy="1511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12065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Identifiers are copied verbatim, never composed. A non-US ticker cannot resolve to a US company's CIK.</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03</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Documents: finding the reports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The latest annual and sustainability report per company, taking the most reliable route first.</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Company</a:t>
            </a:r>
          </a:p>
          <a:p>
            <a:pPr>
              <a:lnSpc>
                <a:spcPct val="112500"/>
              </a:lnSpc>
              <a:spcAft>
                <a:spcPts val="0"/>
              </a:spcAft>
            </a:pPr>
            <a:r>
              <a:rPr sz="1200" b="0">
                <a:solidFill>
                  <a:srgbClr val="5C5C57"/>
                </a:solidFill>
                <a:latin typeface="Geist"/>
              </a:rPr>
              <a:t>Resolved identity and website</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ESEF first</a:t>
            </a:r>
          </a:p>
          <a:p>
            <a:pPr>
              <a:lnSpc>
                <a:spcPct val="112500"/>
              </a:lnSpc>
              <a:spcAft>
                <a:spcPts val="0"/>
              </a:spcAft>
            </a:pPr>
            <a:r>
              <a:rPr sz="1200" b="0">
                <a:solidFill>
                  <a:srgbClr val="5C5C57"/>
                </a:solidFill>
                <a:latin typeface="Geist"/>
              </a:rPr>
              <a:t>The latest annual filing on filings.xbrl.org</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PDF search</a:t>
            </a:r>
          </a:p>
          <a:p>
            <a:pPr>
              <a:lnSpc>
                <a:spcPct val="112500"/>
              </a:lnSpc>
              <a:spcAft>
                <a:spcPts val="0"/>
              </a:spcAft>
            </a:pPr>
            <a:r>
              <a:rPr sz="1200" b="0">
                <a:solidFill>
                  <a:srgbClr val="5C5C57"/>
                </a:solidFill>
                <a:latin typeface="Geist"/>
              </a:rPr>
              <a:t>A direct search for the report PDF</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Site crawl</a:t>
            </a:r>
          </a:p>
          <a:p>
            <a:pPr>
              <a:lnSpc>
                <a:spcPct val="112500"/>
              </a:lnSpc>
              <a:spcAft>
                <a:spcPts val="0"/>
              </a:spcAft>
            </a:pPr>
            <a:r>
              <a:rPr sz="1200" b="0">
                <a:solidFill>
                  <a:srgbClr val="5C5C57"/>
                </a:solidFill>
                <a:latin typeface="Geist"/>
              </a:rPr>
              <a:t>Same domain, robots.txt, depth caps, sitemap seeds</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Rank and check</a:t>
            </a:r>
          </a:p>
          <a:p>
            <a:pPr>
              <a:lnSpc>
                <a:spcPct val="112500"/>
              </a:lnSpc>
              <a:spcAft>
                <a:spcPts val="0"/>
              </a:spcAft>
            </a:pPr>
            <a:r>
              <a:rPr sz="1200" b="0">
                <a:solidFill>
                  <a:srgbClr val="5C5C57"/>
                </a:solidFill>
                <a:latin typeface="Geist"/>
              </a:rPr>
              <a:t>Best two; each PDF must name the company</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Document store</a:t>
            </a:r>
          </a:p>
          <a:p>
            <a:pPr>
              <a:lnSpc>
                <a:spcPct val="112500"/>
              </a:lnSpc>
              <a:spcAft>
                <a:spcPts val="0"/>
              </a:spcAft>
            </a:pPr>
            <a:r>
              <a:rPr sz="1200" b="0">
                <a:solidFill>
                  <a:srgbClr val="5C5C57"/>
                </a:solidFill>
                <a:latin typeface="Geist"/>
              </a:rPr>
              <a:t>Only new or changed files, by content hash</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WHY THIS ORDER</a:t>
            </a:r>
          </a:p>
          <a:p>
            <a:pPr>
              <a:lnSpc>
                <a:spcPct val="116667"/>
              </a:lnSpc>
              <a:spcAft>
                <a:spcPts val="0"/>
              </a:spcAft>
            </a:pPr>
            <a:r>
              <a:rPr sz="1200" b="0">
                <a:solidFill>
                  <a:srgbClr val="5C5C57"/>
                </a:solidFill>
                <a:latin typeface="Geist"/>
              </a:rPr>
              <a:t>Half the sites tested block cloud servers; filings and search still reach the report.</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CHANGE DETECTION</a:t>
            </a:r>
          </a:p>
          <a:p>
            <a:pPr>
              <a:lnSpc>
                <a:spcPct val="116667"/>
              </a:lnSpc>
              <a:spcAft>
                <a:spcPts val="0"/>
              </a:spcAft>
            </a:pPr>
            <a:r>
              <a:rPr sz="1200" b="0">
                <a:solidFill>
                  <a:srgbClr val="5C5C57"/>
                </a:solidFill>
                <a:latin typeface="Geist"/>
              </a:rPr>
              <a:t>Stored ETag and Last-Modified are sent back; the same bytes at a new URL are not announced as new.</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Every request passes the SSRF guard. An unreachable site is a status for review.</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04</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Data-point extraction: one engine</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Metrics and yes/no criteria run on one schema-driven engine. A new schema is a preset, not a pipeline.</a:t>
            </a:r>
          </a:p>
        </p:txBody>
      </p:sp>
      <p:sp>
        <p:nvSpPr>
          <p:cNvPr id="5" name="Rectangle 4"/>
          <p:cNvSpPr/>
          <p:nvPr/>
        </p:nvSpPr>
        <p:spPr>
          <a:xfrm>
            <a:off x="812800" y="2159000"/>
            <a:ext cx="1612900" cy="20256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Schema + reports</a:t>
            </a:r>
          </a:p>
          <a:p>
            <a:pPr>
              <a:lnSpc>
                <a:spcPct val="112500"/>
              </a:lnSpc>
              <a:spcAft>
                <a:spcPts val="0"/>
              </a:spcAft>
            </a:pPr>
            <a:r>
              <a:rPr sz="1200" b="0">
                <a:solidFill>
                  <a:srgbClr val="5C5C57"/>
                </a:solidFill>
                <a:latin typeface="Geist"/>
              </a:rPr>
              <a:t>Fields with meaning, unit, edge cases, keywords</a:t>
            </a:r>
          </a:p>
        </p:txBody>
      </p:sp>
      <p:sp>
        <p:nvSpPr>
          <p:cNvPr id="8" name="TextBox 7"/>
          <p:cNvSpPr txBox="1"/>
          <p:nvPr/>
        </p:nvSpPr>
        <p:spPr>
          <a:xfrm>
            <a:off x="24257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Select evidence</a:t>
            </a:r>
          </a:p>
          <a:p>
            <a:pPr>
              <a:lnSpc>
                <a:spcPct val="112500"/>
              </a:lnSpc>
              <a:spcAft>
                <a:spcPts val="0"/>
              </a:spcAft>
            </a:pPr>
            <a:r>
              <a:rPr sz="1200" b="0">
                <a:solidFill>
                  <a:srgbClr val="5C5C57"/>
                </a:solidFill>
                <a:latin typeface="Geist"/>
              </a:rPr>
              <a:t>BM25 + embeddings, optional rerank</a:t>
            </a:r>
          </a:p>
        </p:txBody>
      </p:sp>
      <p:sp>
        <p:nvSpPr>
          <p:cNvPr id="12" name="TextBox 11"/>
          <p:cNvSpPr txBox="1"/>
          <p:nvPr/>
        </p:nvSpPr>
        <p:spPr>
          <a:xfrm>
            <a:off x="42164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Extract</a:t>
            </a:r>
          </a:p>
          <a:p>
            <a:pPr>
              <a:lnSpc>
                <a:spcPct val="112500"/>
              </a:lnSpc>
              <a:spcAft>
                <a:spcPts val="0"/>
              </a:spcAft>
            </a:pPr>
            <a:r>
              <a:rPr sz="1200" b="0">
                <a:solidFill>
                  <a:srgbClr val="5C5C57"/>
                </a:solidFill>
                <a:latin typeface="Geist"/>
              </a:rPr>
              <a:t>Schema-forced output, retry when invalid</a:t>
            </a:r>
          </a:p>
        </p:txBody>
      </p:sp>
      <p:sp>
        <p:nvSpPr>
          <p:cNvPr id="16" name="TextBox 15"/>
          <p:cNvSpPr txBox="1"/>
          <p:nvPr/>
        </p:nvSpPr>
        <p:spPr>
          <a:xfrm>
            <a:off x="60071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Verify</a:t>
            </a:r>
          </a:p>
          <a:p>
            <a:pPr>
              <a:lnSpc>
                <a:spcPct val="112500"/>
              </a:lnSpc>
              <a:spcAft>
                <a:spcPts val="0"/>
              </a:spcAft>
            </a:pPr>
            <a:r>
              <a:rPr sz="1200" b="0">
                <a:solidFill>
                  <a:srgbClr val="5C5C57"/>
                </a:solidFill>
                <a:latin typeface="Geist"/>
              </a:rPr>
              <a:t>A blind second extraction on a different model</a:t>
            </a:r>
          </a:p>
        </p:txBody>
      </p:sp>
      <p:sp>
        <p:nvSpPr>
          <p:cNvPr id="20" name="TextBox 19"/>
          <p:cNvSpPr txBox="1"/>
          <p:nvPr/>
        </p:nvSpPr>
        <p:spPr>
          <a:xfrm>
            <a:off x="77978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Ground + check</a:t>
            </a:r>
          </a:p>
          <a:p>
            <a:pPr>
              <a:lnSpc>
                <a:spcPct val="112500"/>
              </a:lnSpc>
              <a:spcAft>
                <a:spcPts val="0"/>
              </a:spcAft>
            </a:pPr>
            <a:r>
              <a:rPr sz="1200" b="0">
                <a:solidFill>
                  <a:srgbClr val="5C5C57"/>
                </a:solidFill>
                <a:latin typeface="Geist"/>
              </a:rPr>
              <a:t>Quote found in the source; number, unit, period</a:t>
            </a:r>
          </a:p>
        </p:txBody>
      </p:sp>
      <p:sp>
        <p:nvSpPr>
          <p:cNvPr id="24" name="TextBox 23"/>
          <p:cNvSpPr txBox="1"/>
          <p:nvPr/>
        </p:nvSpPr>
        <p:spPr>
          <a:xfrm>
            <a:off x="95885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Review</a:t>
            </a:r>
          </a:p>
          <a:p>
            <a:pPr>
              <a:lnSpc>
                <a:spcPct val="112500"/>
              </a:lnSpc>
              <a:spcAft>
                <a:spcPts val="0"/>
              </a:spcAft>
            </a:pPr>
            <a:r>
              <a:rPr sz="1200" b="0">
                <a:solidFill>
                  <a:srgbClr val="5C5C57"/>
                </a:solidFill>
                <a:latin typeface="Geist"/>
              </a:rPr>
              <a:t>Whatever is not auto-accepted, span boxed on the page</a:t>
            </a:r>
          </a:p>
        </p:txBody>
      </p:sp>
      <p:sp>
        <p:nvSpPr>
          <p:cNvPr id="28" name="Rectangle 27"/>
          <p:cNvSpPr/>
          <p:nvPr/>
        </p:nvSpPr>
        <p:spPr>
          <a:xfrm>
            <a:off x="812800"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AUTO-ACCEPT ONLY IF</a:t>
            </a:r>
          </a:p>
          <a:p>
            <a:pPr>
              <a:lnSpc>
                <a:spcPct val="116667"/>
              </a:lnSpc>
              <a:spcAft>
                <a:spcPts val="0"/>
              </a:spcAft>
            </a:pPr>
            <a:r>
              <a:rPr sz="1200" b="0">
                <a:solidFill>
                  <a:srgbClr val="5C5C57"/>
                </a:solidFill>
                <a:latin typeface="Geist"/>
              </a:rPr>
              <a:t>The quote is grounded, the number is in it, the checks pass and the verifier agrees.</a:t>
            </a:r>
          </a:p>
        </p:txBody>
      </p:sp>
      <p:sp>
        <p:nvSpPr>
          <p:cNvPr id="30" name="Rectangle 29"/>
          <p:cNvSpPr/>
          <p:nvPr/>
        </p:nvSpPr>
        <p:spPr>
          <a:xfrm>
            <a:off x="4402667"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NOT FOUND IS AN ANSWER</a:t>
            </a:r>
          </a:p>
          <a:p>
            <a:pPr>
              <a:lnSpc>
                <a:spcPct val="116667"/>
              </a:lnSpc>
              <a:spcAft>
                <a:spcPts val="0"/>
              </a:spcAft>
            </a:pPr>
            <a:r>
              <a:rPr sz="1200" b="0">
                <a:solidFill>
                  <a:srgbClr val="5C5C57"/>
                </a:solidFill>
                <a:latin typeface="Geist"/>
              </a:rPr>
              <a:t>No evidence ends in an explicit 'not found': never a silent NA, never a guess.</a:t>
            </a:r>
          </a:p>
        </p:txBody>
      </p:sp>
      <p:sp>
        <p:nvSpPr>
          <p:cNvPr id="32" name="Rectangle 31"/>
          <p:cNvSpPr/>
          <p:nvPr/>
        </p:nvSpPr>
        <p:spPr>
          <a:xfrm>
            <a:off x="7992533"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Schema rules flag contradictions without changing the answer. A golden set gates prompt changes.</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05</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Financials and XBRL facts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Segments, capex and R&amp;D in one verified pass; filed XBRL facts kept as filed, for SEC and EU ESEF filers.</a:t>
            </a:r>
          </a:p>
        </p:txBody>
      </p:sp>
      <p:sp>
        <p:nvSpPr>
          <p:cNvPr id="5" name="Rectangle 4"/>
          <p:cNvSpPr/>
          <p:nvPr/>
        </p:nvSpPr>
        <p:spPr>
          <a:xfrm>
            <a:off x="812800" y="215900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Company</a:t>
            </a:r>
          </a:p>
          <a:p>
            <a:pPr>
              <a:lnSpc>
                <a:spcPct val="112500"/>
              </a:lnSpc>
              <a:spcAft>
                <a:spcPts val="0"/>
              </a:spcAft>
            </a:pPr>
            <a:r>
              <a:rPr sz="1200" b="0">
                <a:solidFill>
                  <a:srgbClr val="5C5C57"/>
                </a:solidFill>
                <a:latin typeface="Geist"/>
              </a:rPr>
              <a:t>CIK or LEI, routed to the SEC or ESEF</a:t>
            </a:r>
          </a:p>
        </p:txBody>
      </p:sp>
      <p:sp>
        <p:nvSpPr>
          <p:cNvPr id="8" name="TextBox 7"/>
          <p:cNvSpPr txBox="1"/>
          <p:nvPr/>
        </p:nvSpPr>
        <p:spPr>
          <a:xfrm>
            <a:off x="24257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Filed facts</a:t>
            </a:r>
          </a:p>
          <a:p>
            <a:pPr>
              <a:lnSpc>
                <a:spcPct val="112500"/>
              </a:lnSpc>
              <a:spcAft>
                <a:spcPts val="0"/>
              </a:spcAft>
            </a:pPr>
            <a:r>
              <a:rPr sz="1200" b="0">
                <a:solidFill>
                  <a:srgbClr val="5C5C57"/>
                </a:solidFill>
                <a:latin typeface="Geist"/>
              </a:rPr>
              <a:t>SEC companyfacts or ESEF xBRL-JSON, as filed</a:t>
            </a:r>
          </a:p>
        </p:txBody>
      </p:sp>
      <p:sp>
        <p:nvSpPr>
          <p:cNvPr id="12" name="TextBox 11"/>
          <p:cNvSpPr txBox="1"/>
          <p:nvPr/>
        </p:nvSpPr>
        <p:spPr>
          <a:xfrm>
            <a:off x="42164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Combined pass</a:t>
            </a:r>
          </a:p>
          <a:p>
            <a:pPr>
              <a:lnSpc>
                <a:spcPct val="112500"/>
              </a:lnSpc>
              <a:spcAft>
                <a:spcPts val="0"/>
              </a:spcAft>
            </a:pPr>
            <a:r>
              <a:rPr sz="1200" b="0">
                <a:solidFill>
                  <a:srgbClr val="5C5C57"/>
                </a:solidFill>
                <a:latin typeface="Geist"/>
              </a:rPr>
              <a:t>Segments, capex, R&amp;D; extractor and verifier</a:t>
            </a:r>
          </a:p>
        </p:txBody>
      </p:sp>
      <p:sp>
        <p:nvSpPr>
          <p:cNvPr id="16" name="TextBox 15"/>
          <p:cNvSpPr txBox="1"/>
          <p:nvPr/>
        </p:nvSpPr>
        <p:spPr>
          <a:xfrm>
            <a:off x="60071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XBRL overlay</a:t>
            </a:r>
          </a:p>
          <a:p>
            <a:pPr>
              <a:lnSpc>
                <a:spcPct val="112500"/>
              </a:lnSpc>
              <a:spcAft>
                <a:spcPts val="0"/>
              </a:spcAft>
            </a:pPr>
            <a:r>
              <a:rPr sz="1200" b="0">
                <a:solidFill>
                  <a:srgbClr val="5C5C57"/>
                </a:solidFill>
                <a:latin typeface="Geist"/>
              </a:rPr>
              <a:t>Tagged totals replace a read of the prose</a:t>
            </a:r>
          </a:p>
        </p:txBody>
      </p:sp>
      <p:sp>
        <p:nvSpPr>
          <p:cNvPr id="20" name="TextBox 19"/>
          <p:cNvSpPr txBox="1"/>
          <p:nvPr/>
        </p:nvSpPr>
        <p:spPr>
          <a:xfrm>
            <a:off x="77978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Verify a run</a:t>
            </a:r>
          </a:p>
          <a:p>
            <a:pPr>
              <a:lnSpc>
                <a:spcPct val="112500"/>
              </a:lnSpc>
              <a:spcAft>
                <a:spcPts val="0"/>
              </a:spcAft>
            </a:pPr>
            <a:r>
              <a:rPr sz="1200" b="0">
                <a:solidFill>
                  <a:srgbClr val="5C5C57"/>
                </a:solidFill>
                <a:latin typeface="Geist"/>
              </a:rPr>
              <a:t>Extracted values against the tagged values</a:t>
            </a:r>
          </a:p>
        </p:txBody>
      </p:sp>
      <p:sp>
        <p:nvSpPr>
          <p:cNvPr id="24" name="TextBox 23"/>
          <p:cNvSpPr txBox="1"/>
          <p:nvPr/>
        </p:nvSpPr>
        <p:spPr>
          <a:xfrm>
            <a:off x="95885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Record</a:t>
            </a:r>
          </a:p>
          <a:p>
            <a:pPr>
              <a:lnSpc>
                <a:spcPct val="112500"/>
              </a:lnSpc>
              <a:spcAft>
                <a:spcPts val="0"/>
              </a:spcAft>
            </a:pPr>
            <a:r>
              <a:rPr sz="1200" b="0">
                <a:solidFill>
                  <a:srgbClr val="5C5C57"/>
                </a:solidFill>
                <a:latin typeface="Geist"/>
              </a:rPr>
              <a:t>Per-section review flags, citations, provenance</a:t>
            </a:r>
          </a:p>
        </p:txBody>
      </p:sp>
      <p:sp>
        <p:nvSpPr>
          <p:cNvPr id="28" name="Rectangle 27"/>
          <p:cNvSpPr/>
          <p:nvPr/>
        </p:nvSpPr>
        <p:spPr>
          <a:xfrm>
            <a:off x="812800" y="4133850"/>
            <a:ext cx="3386667" cy="1511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86250"/>
            <a:ext cx="3081867" cy="12065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WHY COMBINED</a:t>
            </a:r>
          </a:p>
          <a:p>
            <a:pPr>
              <a:lnSpc>
                <a:spcPct val="116667"/>
              </a:lnSpc>
              <a:spcAft>
                <a:spcPts val="0"/>
              </a:spcAft>
            </a:pPr>
            <a:r>
              <a:rPr sz="1200" b="0">
                <a:solidFill>
                  <a:srgbClr val="5C5C57"/>
                </a:solidFill>
                <a:latin typeface="Geist"/>
              </a:rPr>
              <a:t>Three things almost always wanted together: one fetch and one evidence step instead of three.</a:t>
            </a:r>
          </a:p>
        </p:txBody>
      </p:sp>
      <p:sp>
        <p:nvSpPr>
          <p:cNvPr id="30" name="Rectangle 29"/>
          <p:cNvSpPr/>
          <p:nvPr/>
        </p:nvSpPr>
        <p:spPr>
          <a:xfrm>
            <a:off x="4402667" y="4133850"/>
            <a:ext cx="3386667" cy="1511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86250"/>
            <a:ext cx="3081867" cy="12065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XBRL FACTS</a:t>
            </a:r>
          </a:p>
          <a:p>
            <a:pPr>
              <a:lnSpc>
                <a:spcPct val="116667"/>
              </a:lnSpc>
              <a:spcAft>
                <a:spcPts val="0"/>
              </a:spcAft>
            </a:pPr>
            <a:r>
              <a:rPr sz="1200" b="0">
                <a:solidFill>
                  <a:srgbClr val="5C5C57"/>
                </a:solidFill>
                <a:latin typeface="Geist"/>
              </a:rPr>
              <a:t>Every tagged fact across us-gaap, ifrs-full, dei and esrs; no filing means no_source.</a:t>
            </a:r>
          </a:p>
        </p:txBody>
      </p:sp>
      <p:sp>
        <p:nvSpPr>
          <p:cNvPr id="32" name="Rectangle 31"/>
          <p:cNvSpPr/>
          <p:nvPr/>
        </p:nvSpPr>
        <p:spPr>
          <a:xfrm>
            <a:off x="7992533" y="4133850"/>
            <a:ext cx="3386667" cy="1511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86250"/>
            <a:ext cx="3081867" cy="12065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An undisclosed figure stays null, never derived from a total. XBRL replaces the number, not the narrative.</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06</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Thematic universe</a:t>
            </a:r>
          </a:p>
        </p:txBody>
      </p:sp>
      <p:sp>
        <p:nvSpPr>
          <p:cNvPr id="4" name="TextBox 3"/>
          <p:cNvSpPr txBox="1"/>
          <p:nvPr/>
        </p:nvSpPr>
        <p:spPr>
          <a:xfrm>
            <a:off x="812800" y="1682750"/>
            <a:ext cx="10566400" cy="49530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A ratified taxonomy of activities, then a cascade that settles each company and activity as cheaply as it can.</a:t>
            </a:r>
          </a:p>
        </p:txBody>
      </p:sp>
      <p:sp>
        <p:nvSpPr>
          <p:cNvPr id="5" name="Rectangle 4"/>
          <p:cNvSpPr/>
          <p:nvPr/>
        </p:nvSpPr>
        <p:spPr>
          <a:xfrm>
            <a:off x="812800" y="240665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40665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584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Theme</a:t>
            </a:r>
          </a:p>
          <a:p>
            <a:pPr>
              <a:lnSpc>
                <a:spcPct val="112500"/>
              </a:lnSpc>
              <a:spcAft>
                <a:spcPts val="0"/>
              </a:spcAft>
            </a:pPr>
            <a:r>
              <a:rPr sz="1200" b="0">
                <a:solidFill>
                  <a:srgbClr val="5C5C57"/>
                </a:solidFill>
                <a:latin typeface="Geist"/>
              </a:rPr>
              <a:t>A macro theme or a promoted candidate</a:t>
            </a:r>
          </a:p>
        </p:txBody>
      </p:sp>
      <p:sp>
        <p:nvSpPr>
          <p:cNvPr id="8" name="TextBox 7"/>
          <p:cNvSpPr txBox="1"/>
          <p:nvPr/>
        </p:nvSpPr>
        <p:spPr>
          <a:xfrm>
            <a:off x="2425700" y="240665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40665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40665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584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Taxonomy</a:t>
            </a:r>
          </a:p>
          <a:p>
            <a:pPr>
              <a:lnSpc>
                <a:spcPct val="112500"/>
              </a:lnSpc>
              <a:spcAft>
                <a:spcPts val="0"/>
              </a:spcAft>
            </a:pPr>
            <a:r>
              <a:rPr sz="1200" b="0">
                <a:solidFill>
                  <a:srgbClr val="5C5C57"/>
                </a:solidFill>
                <a:latin typeface="Geist"/>
              </a:rPr>
              <a:t>Versioned activities, ratified by a person</a:t>
            </a:r>
          </a:p>
        </p:txBody>
      </p:sp>
      <p:sp>
        <p:nvSpPr>
          <p:cNvPr id="12" name="TextBox 11"/>
          <p:cNvSpPr txBox="1"/>
          <p:nvPr/>
        </p:nvSpPr>
        <p:spPr>
          <a:xfrm>
            <a:off x="4216400" y="240665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40665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40665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584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Catalogue</a:t>
            </a:r>
          </a:p>
          <a:p>
            <a:pPr>
              <a:lnSpc>
                <a:spcPct val="112500"/>
              </a:lnSpc>
              <a:spcAft>
                <a:spcPts val="0"/>
              </a:spcAft>
            </a:pPr>
            <a:r>
              <a:rPr sz="1200" b="0">
                <a:solidFill>
                  <a:srgbClr val="5C5C57"/>
                </a:solidFill>
                <a:latin typeface="Geist"/>
              </a:rPr>
              <a:t>A confirmed revenue mapping; arithmetic only</a:t>
            </a:r>
          </a:p>
        </p:txBody>
      </p:sp>
      <p:sp>
        <p:nvSpPr>
          <p:cNvPr id="16" name="TextBox 15"/>
          <p:cNvSpPr txBox="1"/>
          <p:nvPr/>
        </p:nvSpPr>
        <p:spPr>
          <a:xfrm>
            <a:off x="6007100" y="240665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40665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40665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584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Extraction</a:t>
            </a:r>
          </a:p>
          <a:p>
            <a:pPr>
              <a:lnSpc>
                <a:spcPct val="112500"/>
              </a:lnSpc>
              <a:spcAft>
                <a:spcPts val="0"/>
              </a:spcAft>
            </a:pPr>
            <a:r>
              <a:rPr sz="1200" b="0">
                <a:solidFill>
                  <a:srgbClr val="5C5C57"/>
                </a:solidFill>
                <a:latin typeface="Geist"/>
              </a:rPr>
              <a:t>Generated schema: revenue, capex, opex, R&amp;D %</a:t>
            </a:r>
          </a:p>
        </p:txBody>
      </p:sp>
      <p:sp>
        <p:nvSpPr>
          <p:cNvPr id="20" name="TextBox 19"/>
          <p:cNvSpPr txBox="1"/>
          <p:nvPr/>
        </p:nvSpPr>
        <p:spPr>
          <a:xfrm>
            <a:off x="7797800" y="240665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40665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40665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584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Debate</a:t>
            </a:r>
          </a:p>
          <a:p>
            <a:pPr>
              <a:lnSpc>
                <a:spcPct val="112500"/>
              </a:lnSpc>
              <a:spcAft>
                <a:spcPts val="0"/>
              </a:spcAft>
            </a:pPr>
            <a:r>
              <a:rPr sz="1200" b="0">
                <a:solidFill>
                  <a:srgbClr val="5C5C57"/>
                </a:solidFill>
                <a:latin typeface="Geist"/>
              </a:rPr>
              <a:t>Advocate, Opposing, Adjudicator, as a last resort</a:t>
            </a:r>
          </a:p>
        </p:txBody>
      </p:sp>
      <p:sp>
        <p:nvSpPr>
          <p:cNvPr id="24" name="TextBox 23"/>
          <p:cNvSpPr txBox="1"/>
          <p:nvPr/>
        </p:nvSpPr>
        <p:spPr>
          <a:xfrm>
            <a:off x="9588500" y="240665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40665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40665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58445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Exposure</a:t>
            </a:r>
          </a:p>
          <a:p>
            <a:pPr>
              <a:lnSpc>
                <a:spcPct val="112500"/>
              </a:lnSpc>
              <a:spcAft>
                <a:spcPts val="0"/>
              </a:spcAft>
            </a:pPr>
            <a:r>
              <a:rPr sz="1200" b="0">
                <a:solidFill>
                  <a:srgbClr val="5C5C57"/>
                </a:solidFill>
                <a:latin typeface="Geist"/>
              </a:rPr>
              <a:t>Pure play, significant, minor or none</a:t>
            </a:r>
          </a:p>
        </p:txBody>
      </p:sp>
      <p:sp>
        <p:nvSpPr>
          <p:cNvPr id="28" name="Rectangle 27"/>
          <p:cNvSpPr/>
          <p:nvPr/>
        </p:nvSpPr>
        <p:spPr>
          <a:xfrm>
            <a:off x="812800" y="43815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339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GATE</a:t>
            </a:r>
          </a:p>
          <a:p>
            <a:pPr>
              <a:lnSpc>
                <a:spcPct val="116667"/>
              </a:lnSpc>
              <a:spcAft>
                <a:spcPts val="0"/>
              </a:spcAft>
            </a:pPr>
            <a:r>
              <a:rPr sz="1200" b="0">
                <a:solidFill>
                  <a:srgbClr val="5C5C57"/>
                </a:solidFill>
                <a:latin typeface="Geist"/>
              </a:rPr>
              <a:t>A theme run is refused unless its taxonomy version is ratified and its generated schema released.</a:t>
            </a:r>
          </a:p>
        </p:txBody>
      </p:sp>
      <p:sp>
        <p:nvSpPr>
          <p:cNvPr id="30" name="Rectangle 29"/>
          <p:cNvSpPr/>
          <p:nvPr/>
        </p:nvSpPr>
        <p:spPr>
          <a:xfrm>
            <a:off x="4402667" y="43815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339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EXPOSURE LAYERS</a:t>
            </a:r>
          </a:p>
          <a:p>
            <a:pPr>
              <a:lnSpc>
                <a:spcPct val="116667"/>
              </a:lnSpc>
              <a:spcAft>
                <a:spcPts val="0"/>
              </a:spcAft>
            </a:pPr>
            <a:r>
              <a:rPr sz="1200" b="0">
                <a:solidFill>
                  <a:srgbClr val="5C5C57"/>
                </a:solidFill>
                <a:latin typeface="Geist"/>
              </a:rPr>
              <a:t>Layer 1 is the company's own revenue share; layer 2 is revenue from exposed customers up the chain.</a:t>
            </a:r>
          </a:p>
        </p:txBody>
      </p:sp>
      <p:sp>
        <p:nvSpPr>
          <p:cNvPr id="32" name="Rectangle 31"/>
          <p:cNvSpPr/>
          <p:nvPr/>
        </p:nvSpPr>
        <p:spPr>
          <a:xfrm>
            <a:off x="7992533" y="43815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339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A disclosed number is never second-guessed by a categorical judgment on the same question.</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07</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Theme dossier: one record per theme</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Spot, define, research and find companies. Each step's state is read from the work itself.</a:t>
            </a:r>
          </a:p>
        </p:txBody>
      </p:sp>
      <p:sp>
        <p:nvSpPr>
          <p:cNvPr id="5" name="Rectangle 4"/>
          <p:cNvSpPr/>
          <p:nvPr/>
        </p:nvSpPr>
        <p:spPr>
          <a:xfrm>
            <a:off x="812800" y="215900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Spot</a:t>
            </a:r>
          </a:p>
          <a:p>
            <a:pPr>
              <a:lnSpc>
                <a:spcPct val="112500"/>
              </a:lnSpc>
              <a:spcAft>
                <a:spcPts val="0"/>
              </a:spcAft>
            </a:pPr>
            <a:r>
              <a:rPr sz="1200" b="0">
                <a:solidFill>
                  <a:srgbClr val="5C5C57"/>
                </a:solidFill>
                <a:latin typeface="Geist"/>
              </a:rPr>
              <a:t>Candidates from EDGAR, GDELT and regulatory RSS</a:t>
            </a:r>
          </a:p>
        </p:txBody>
      </p:sp>
      <p:sp>
        <p:nvSpPr>
          <p:cNvPr id="8" name="TextBox 7"/>
          <p:cNvSpPr txBox="1"/>
          <p:nvPr/>
        </p:nvSpPr>
        <p:spPr>
          <a:xfrm>
            <a:off x="24257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Context brief</a:t>
            </a:r>
          </a:p>
          <a:p>
            <a:pPr>
              <a:lnSpc>
                <a:spcPct val="112500"/>
              </a:lnSpc>
              <a:spcAft>
                <a:spcPts val="0"/>
              </a:spcAft>
            </a:pPr>
            <a:r>
              <a:rPr sz="1200" b="0">
                <a:solidFill>
                  <a:srgbClr val="5C5C57"/>
                </a:solidFill>
                <a:latin typeface="Geist"/>
              </a:rPr>
              <a:t>Why now and early evidence; uncited lines dropped</a:t>
            </a:r>
          </a:p>
        </p:txBody>
      </p:sp>
      <p:sp>
        <p:nvSpPr>
          <p:cNvPr id="12" name="TextBox 11"/>
          <p:cNvSpPr txBox="1"/>
          <p:nvPr/>
        </p:nvSpPr>
        <p:spPr>
          <a:xfrm>
            <a:off x="42164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Define</a:t>
            </a:r>
          </a:p>
          <a:p>
            <a:pPr>
              <a:lnSpc>
                <a:spcPct val="112500"/>
              </a:lnSpc>
              <a:spcAft>
                <a:spcPts val="0"/>
              </a:spcAft>
            </a:pPr>
            <a:r>
              <a:rPr sz="1200" b="0">
                <a:solidFill>
                  <a:srgbClr val="5C5C57"/>
                </a:solidFill>
                <a:latin typeface="Geist"/>
              </a:rPr>
              <a:t>A ratified taxonomy version</a:t>
            </a:r>
          </a:p>
        </p:txBody>
      </p:sp>
      <p:sp>
        <p:nvSpPr>
          <p:cNvPr id="16" name="TextBox 15"/>
          <p:cNvSpPr txBox="1"/>
          <p:nvPr/>
        </p:nvSpPr>
        <p:spPr>
          <a:xfrm>
            <a:off x="60071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Source plan</a:t>
            </a:r>
          </a:p>
          <a:p>
            <a:pPr>
              <a:lnSpc>
                <a:spcPct val="112500"/>
              </a:lnSpc>
              <a:spcAft>
                <a:spcPts val="0"/>
              </a:spcAft>
            </a:pPr>
            <a:r>
              <a:rPr sz="1200" b="0">
                <a:solidFill>
                  <a:srgbClr val="5C5C57"/>
                </a:solidFill>
                <a:latin typeface="Geist"/>
              </a:rPr>
              <a:t>Up to 12 authoritative sources, approved</a:t>
            </a:r>
          </a:p>
        </p:txBody>
      </p:sp>
      <p:sp>
        <p:nvSpPr>
          <p:cNvPr id="20" name="TextBox 19"/>
          <p:cNvSpPr txBox="1"/>
          <p:nvPr/>
        </p:nvSpPr>
        <p:spPr>
          <a:xfrm>
            <a:off x="77978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7970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Research note</a:t>
            </a:r>
          </a:p>
          <a:p>
            <a:pPr>
              <a:lnSpc>
                <a:spcPct val="112500"/>
              </a:lnSpc>
              <a:spcAft>
                <a:spcPts val="0"/>
              </a:spcAft>
            </a:pPr>
            <a:r>
              <a:rPr sz="1200" b="0">
                <a:solidFill>
                  <a:srgbClr val="5C5C57"/>
                </a:solidFill>
                <a:latin typeface="Geist"/>
              </a:rPr>
              <a:t>Five sections, a grounded quote per statement</a:t>
            </a:r>
          </a:p>
        </p:txBody>
      </p:sp>
      <p:sp>
        <p:nvSpPr>
          <p:cNvPr id="24" name="TextBox 23"/>
          <p:cNvSpPr txBox="1"/>
          <p:nvPr/>
        </p:nvSpPr>
        <p:spPr>
          <a:xfrm>
            <a:off x="9588500" y="2159000"/>
            <a:ext cx="177800" cy="17970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7970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668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Companies</a:t>
            </a:r>
          </a:p>
          <a:p>
            <a:pPr>
              <a:lnSpc>
                <a:spcPct val="112500"/>
              </a:lnSpc>
              <a:spcAft>
                <a:spcPts val="0"/>
              </a:spcAft>
            </a:pPr>
            <a:r>
              <a:rPr sz="1200" b="0">
                <a:solidFill>
                  <a:srgbClr val="5C5C57"/>
                </a:solidFill>
                <a:latin typeface="Geist"/>
              </a:rPr>
              <a:t>The exposed universe, reviewed</a:t>
            </a:r>
          </a:p>
        </p:txBody>
      </p:sp>
      <p:sp>
        <p:nvSpPr>
          <p:cNvPr id="28" name="Rectangle 27"/>
          <p:cNvSpPr/>
          <p:nvPr/>
        </p:nvSpPr>
        <p:spPr>
          <a:xfrm>
            <a:off x="812800" y="4133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86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PROMOTION GATE</a:t>
            </a:r>
          </a:p>
          <a:p>
            <a:pPr>
              <a:lnSpc>
                <a:spcPct val="116667"/>
              </a:lnSpc>
              <a:spcAft>
                <a:spcPts val="0"/>
              </a:spcAft>
            </a:pPr>
            <a:r>
              <a:rPr sz="1200" b="0">
                <a:solidFill>
                  <a:srgbClr val="5C5C57"/>
                </a:solidFill>
                <a:latin typeface="Geist"/>
              </a:rPr>
              <a:t>Candidates are promoted on corporate action, not mention counts. Promote is the brief's only sign-off.</a:t>
            </a:r>
          </a:p>
        </p:txBody>
      </p:sp>
      <p:sp>
        <p:nvSpPr>
          <p:cNvPr id="30" name="Rectangle 29"/>
          <p:cNvSpPr/>
          <p:nvPr/>
        </p:nvSpPr>
        <p:spPr>
          <a:xfrm>
            <a:off x="4402667" y="4133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86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APPROVALS</a:t>
            </a:r>
          </a:p>
          <a:p>
            <a:pPr>
              <a:lnSpc>
                <a:spcPct val="116667"/>
              </a:lnSpc>
              <a:spcAft>
                <a:spcPts val="0"/>
              </a:spcAft>
            </a:pPr>
            <a:r>
              <a:rPr sz="1200" b="0">
                <a:solidFill>
                  <a:srgbClr val="5C5C57"/>
                </a:solidFill>
                <a:latin typeface="Geist"/>
              </a:rPr>
              <a:t>The owner approves the source plan, then the note; the note uses approved sources only.</a:t>
            </a:r>
          </a:p>
        </p:txBody>
      </p:sp>
      <p:sp>
        <p:nvSpPr>
          <p:cNvPr id="32" name="Rectangle 31"/>
          <p:cNvSpPr/>
          <p:nvPr/>
        </p:nvSpPr>
        <p:spPr>
          <a:xfrm>
            <a:off x="7992533" y="4133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86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NEXT</a:t>
            </a:r>
          </a:p>
          <a:p>
            <a:pPr>
              <a:lnSpc>
                <a:spcPct val="116667"/>
              </a:lnSpc>
              <a:spcAft>
                <a:spcPts val="0"/>
              </a:spcAft>
            </a:pPr>
            <a:r>
              <a:rPr sz="1200" b="0">
                <a:solidFill>
                  <a:srgbClr val="5C5C57"/>
                </a:solidFill>
                <a:latin typeface="Geist"/>
              </a:rPr>
              <a:t>Step 5, position and standards, is specified: position, standard, data point, StewardIQ flag.</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08</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Transition plans: walk versus talk</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64 indicators on the shared engine, then plan actions and capex checked in code.</a:t>
            </a:r>
          </a:p>
        </p:txBody>
      </p:sp>
      <p:sp>
        <p:nvSpPr>
          <p:cNvPr id="5" name="Rectangle 4"/>
          <p:cNvSpPr/>
          <p:nvPr/>
        </p:nvSpPr>
        <p:spPr>
          <a:xfrm>
            <a:off x="812800" y="2159000"/>
            <a:ext cx="1612900" cy="20256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Plan documents</a:t>
            </a:r>
          </a:p>
          <a:p>
            <a:pPr>
              <a:lnSpc>
                <a:spcPct val="112500"/>
              </a:lnSpc>
              <a:spcAft>
                <a:spcPts val="0"/>
              </a:spcAft>
            </a:pPr>
            <a:r>
              <a:rPr sz="1200" b="0">
                <a:solidFill>
                  <a:srgbClr val="5C5C57"/>
                </a:solidFill>
                <a:latin typeface="Geist"/>
              </a:rPr>
              <a:t>Transition plan, sustainability report</a:t>
            </a:r>
          </a:p>
        </p:txBody>
      </p:sp>
      <p:sp>
        <p:nvSpPr>
          <p:cNvPr id="8" name="TextBox 7"/>
          <p:cNvSpPr txBox="1"/>
          <p:nvPr/>
        </p:nvSpPr>
        <p:spPr>
          <a:xfrm>
            <a:off x="24257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64 indicators</a:t>
            </a:r>
          </a:p>
          <a:p>
            <a:pPr>
              <a:lnSpc>
                <a:spcPct val="112500"/>
              </a:lnSpc>
              <a:spcAft>
                <a:spcPts val="0"/>
              </a:spcAft>
            </a:pPr>
            <a:r>
              <a:rPr sz="1200" b="0">
                <a:solidFill>
                  <a:srgbClr val="5C5C57"/>
                </a:solidFill>
                <a:latin typeface="Geist"/>
              </a:rPr>
              <a:t>One yes/no field each, Colesanti Senni et al.</a:t>
            </a:r>
          </a:p>
        </p:txBody>
      </p:sp>
      <p:sp>
        <p:nvSpPr>
          <p:cNvPr id="12" name="TextBox 11"/>
          <p:cNvSpPr txBox="1"/>
          <p:nvPr/>
        </p:nvSpPr>
        <p:spPr>
          <a:xfrm>
            <a:off x="42164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Plan as a list</a:t>
            </a:r>
          </a:p>
          <a:p>
            <a:pPr>
              <a:lnSpc>
                <a:spcPct val="112500"/>
              </a:lnSpc>
              <a:spcAft>
                <a:spcPts val="0"/>
              </a:spcAft>
            </a:pPr>
            <a:r>
              <a:rPr sz="1200" b="0">
                <a:solidFill>
                  <a:srgbClr val="5C5C57"/>
                </a:solidFill>
                <a:latin typeface="Geist"/>
              </a:rPr>
              <a:t>Actions, assumed prices, targets, phase-outs</a:t>
            </a:r>
          </a:p>
        </p:txBody>
      </p:sp>
      <p:sp>
        <p:nvSpPr>
          <p:cNvPr id="16" name="TextBox 15"/>
          <p:cNvSpPr txBox="1"/>
          <p:nvPr/>
        </p:nvSpPr>
        <p:spPr>
          <a:xfrm>
            <a:off x="60071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Capex and actions</a:t>
            </a:r>
          </a:p>
          <a:p>
            <a:pPr>
              <a:lnSpc>
                <a:spcPct val="112500"/>
              </a:lnSpc>
              <a:spcAft>
                <a:spcPts val="0"/>
              </a:spcAft>
            </a:pPr>
            <a:r>
              <a:rPr sz="1200" b="0">
                <a:solidFill>
                  <a:srgbClr val="5C5C57"/>
                </a:solidFill>
                <a:latin typeface="Geist"/>
              </a:rPr>
              <a:t>Capex vs benchmark, actions vs barriers</a:t>
            </a:r>
          </a:p>
        </p:txBody>
      </p:sp>
      <p:sp>
        <p:nvSpPr>
          <p:cNvPr id="20" name="TextBox 19"/>
          <p:cNvSpPr txBox="1"/>
          <p:nvPr/>
        </p:nvSpPr>
        <p:spPr>
          <a:xfrm>
            <a:off x="77978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Delivery checks</a:t>
            </a:r>
          </a:p>
          <a:p>
            <a:pPr>
              <a:lnSpc>
                <a:spcPct val="112500"/>
              </a:lnSpc>
              <a:spcAft>
                <a:spcPts val="0"/>
              </a:spcAft>
            </a:pPr>
            <a:r>
              <a:rPr sz="1200" b="0">
                <a:solidFill>
                  <a:srgbClr val="5C5C57"/>
                </a:solidFill>
                <a:latin typeface="Geist"/>
              </a:rPr>
              <a:t>Targets, abatement, phase-outs, carbon price</a:t>
            </a:r>
          </a:p>
        </p:txBody>
      </p:sp>
      <p:sp>
        <p:nvSpPr>
          <p:cNvPr id="24" name="TextBox 23"/>
          <p:cNvSpPr txBox="1"/>
          <p:nvPr/>
        </p:nvSpPr>
        <p:spPr>
          <a:xfrm>
            <a:off x="95885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20256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Flags and KPIs</a:t>
            </a:r>
          </a:p>
          <a:p>
            <a:pPr>
              <a:lnSpc>
                <a:spcPct val="112500"/>
              </a:lnSpc>
              <a:spcAft>
                <a:spcPts val="0"/>
              </a:spcAft>
            </a:pPr>
            <a:r>
              <a:rPr sz="1200" b="0">
                <a:solidFill>
                  <a:srgbClr val="5C5C57"/>
                </a:solidFill>
                <a:latin typeface="Geist"/>
              </a:rPr>
              <a:t>5 flags and 9 KPIs, never one score</a:t>
            </a:r>
          </a:p>
        </p:txBody>
      </p:sp>
      <p:sp>
        <p:nvSpPr>
          <p:cNvPr id="28" name="Rectangle 27"/>
          <p:cNvSpPr/>
          <p:nvPr/>
        </p:nvSpPr>
        <p:spPr>
          <a:xfrm>
            <a:off x="812800"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CONTRADICTIONS</a:t>
            </a:r>
          </a:p>
          <a:p>
            <a:pPr>
              <a:lnSpc>
                <a:spcPct val="116667"/>
              </a:lnSpc>
              <a:spcAft>
                <a:spcPts val="0"/>
              </a:spcAft>
            </a:pPr>
            <a:r>
              <a:rPr sz="1200" b="0">
                <a:solidFill>
                  <a:srgbClr val="5C5C57"/>
                </a:solidFill>
                <a:latin typeface="Geist"/>
              </a:rPr>
              <a:t>Ten child and parent rules send a YES that contradicts its parent indicator to review.</a:t>
            </a:r>
          </a:p>
        </p:txBody>
      </p:sp>
      <p:sp>
        <p:nvSpPr>
          <p:cNvPr id="30" name="Rectangle 29"/>
          <p:cNvSpPr/>
          <p:nvPr/>
        </p:nvSpPr>
        <p:spPr>
          <a:xfrm>
            <a:off x="4402667"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BENCHMARKS</a:t>
            </a:r>
          </a:p>
          <a:p>
            <a:pPr>
              <a:lnSpc>
                <a:spcPct val="116667"/>
              </a:lnSpc>
              <a:spcAft>
                <a:spcPts val="0"/>
              </a:spcAft>
            </a:pPr>
            <a:r>
              <a:rPr sz="1200" b="0">
                <a:solidFill>
                  <a:srgbClr val="5C5C57"/>
                </a:solidFill>
                <a:latin typeface="Geist"/>
              </a:rPr>
              <a:t>Nine sectors and 29 levers. Benchmarks change only by a pull request the owner signs.</a:t>
            </a:r>
          </a:p>
        </p:txBody>
      </p:sp>
      <p:sp>
        <p:nvSpPr>
          <p:cNvPr id="32" name="Rectangle 31"/>
          <p:cNvSpPr/>
          <p:nvPr/>
        </p:nvSpPr>
        <p:spPr>
          <a:xfrm>
            <a:off x="7992533"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Alignment arithmetic is decimal code, no model. An approver releases a preset before real runs.</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09</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Transition barriers: is it feasible here?</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9 hard-to-abate sectors, 35 criteria, each rated for the EU, the US and China: a 105-cell matrix.</a:t>
            </a:r>
          </a:p>
        </p:txBody>
      </p:sp>
      <p:sp>
        <p:nvSpPr>
          <p:cNvPr id="5" name="Rectangle 4"/>
          <p:cNvSpPr/>
          <p:nvPr/>
        </p:nvSpPr>
        <p:spPr>
          <a:xfrm>
            <a:off x="812800" y="2159000"/>
            <a:ext cx="1612900" cy="20193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Rule book</a:t>
            </a:r>
          </a:p>
          <a:p>
            <a:pPr>
              <a:lnSpc>
                <a:spcPct val="112500"/>
              </a:lnSpc>
              <a:spcAft>
                <a:spcPts val="0"/>
              </a:spcAft>
            </a:pPr>
            <a:r>
              <a:rPr sz="1200" b="0">
                <a:solidFill>
                  <a:srgbClr val="5C5C57"/>
                </a:solidFill>
                <a:latin typeface="Geist"/>
              </a:rPr>
              <a:t>Facts needed, H/M/L conditions, thresholds; signed</a:t>
            </a:r>
          </a:p>
        </p:txBody>
      </p:sp>
      <p:sp>
        <p:nvSpPr>
          <p:cNvPr id="8" name="TextBox 7"/>
          <p:cNvSpPr txBox="1"/>
          <p:nvPr/>
        </p:nvSpPr>
        <p:spPr>
          <a:xfrm>
            <a:off x="2425700" y="2159000"/>
            <a:ext cx="177800" cy="20193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2019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Fetch sources</a:t>
            </a:r>
          </a:p>
          <a:p>
            <a:pPr>
              <a:lnSpc>
                <a:spcPct val="112500"/>
              </a:lnSpc>
              <a:spcAft>
                <a:spcPts val="0"/>
              </a:spcAft>
            </a:pPr>
            <a:r>
              <a:rPr sz="1200" b="0">
                <a:solidFill>
                  <a:srgbClr val="5C5C57"/>
                </a:solidFill>
                <a:latin typeface="Geist"/>
              </a:rPr>
              <a:t>Through the SSRF guard, stored in Postgres</a:t>
            </a:r>
          </a:p>
        </p:txBody>
      </p:sp>
      <p:sp>
        <p:nvSpPr>
          <p:cNvPr id="12" name="TextBox 11"/>
          <p:cNvSpPr txBox="1"/>
          <p:nvPr/>
        </p:nvSpPr>
        <p:spPr>
          <a:xfrm>
            <a:off x="4216400" y="2159000"/>
            <a:ext cx="177800" cy="20193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2019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Extract facts</a:t>
            </a:r>
          </a:p>
          <a:p>
            <a:pPr>
              <a:lnSpc>
                <a:spcPct val="112500"/>
              </a:lnSpc>
              <a:spcAft>
                <a:spcPts val="0"/>
              </a:spcAft>
            </a:pPr>
            <a:r>
              <a:rPr sz="1200" b="0">
                <a:solidFill>
                  <a:srgbClr val="5C5C57"/>
                </a:solidFill>
                <a:latin typeface="Geist"/>
              </a:rPr>
              <a:t>Value, unit and quote checked in code</a:t>
            </a:r>
          </a:p>
        </p:txBody>
      </p:sp>
      <p:sp>
        <p:nvSpPr>
          <p:cNvPr id="16" name="TextBox 15"/>
          <p:cNvSpPr txBox="1"/>
          <p:nvPr/>
        </p:nvSpPr>
        <p:spPr>
          <a:xfrm>
            <a:off x="6007100" y="2159000"/>
            <a:ext cx="177800" cy="20193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2019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Rules engine</a:t>
            </a:r>
          </a:p>
          <a:p>
            <a:pPr>
              <a:lnSpc>
                <a:spcPct val="112500"/>
              </a:lnSpc>
              <a:spcAft>
                <a:spcPts val="0"/>
              </a:spcAft>
            </a:pPr>
            <a:r>
              <a:rPr sz="1200" b="0">
                <a:solidFill>
                  <a:srgbClr val="5C5C57"/>
                </a:solidFill>
                <a:latin typeface="Geist"/>
              </a:rPr>
              <a:t>Three-valued rules derive H, M or L</a:t>
            </a:r>
          </a:p>
        </p:txBody>
      </p:sp>
      <p:sp>
        <p:nvSpPr>
          <p:cNvPr id="20" name="TextBox 19"/>
          <p:cNvSpPr txBox="1"/>
          <p:nvPr/>
        </p:nvSpPr>
        <p:spPr>
          <a:xfrm>
            <a:off x="7797800" y="2159000"/>
            <a:ext cx="177800" cy="20193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20193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Ratify</a:t>
            </a:r>
          </a:p>
          <a:p>
            <a:pPr>
              <a:lnSpc>
                <a:spcPct val="112500"/>
              </a:lnSpc>
              <a:spcAft>
                <a:spcPts val="0"/>
              </a:spcAft>
            </a:pPr>
            <a:r>
              <a:rPr sz="1200" b="0">
                <a:solidFill>
                  <a:srgbClr val="5C5C57"/>
                </a:solidFill>
                <a:latin typeface="Geist"/>
              </a:rPr>
              <a:t>A named person accepts or rejects each cell</a:t>
            </a:r>
          </a:p>
        </p:txBody>
      </p:sp>
      <p:sp>
        <p:nvSpPr>
          <p:cNvPr id="24" name="TextBox 23"/>
          <p:cNvSpPr txBox="1"/>
          <p:nvPr/>
        </p:nvSpPr>
        <p:spPr>
          <a:xfrm>
            <a:off x="9588500" y="2159000"/>
            <a:ext cx="177800" cy="20193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20193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6891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Rated cell</a:t>
            </a:r>
          </a:p>
          <a:p>
            <a:pPr>
              <a:lnSpc>
                <a:spcPct val="112500"/>
              </a:lnSpc>
              <a:spcAft>
                <a:spcPts val="0"/>
              </a:spcAft>
            </a:pPr>
            <a:r>
              <a:rPr sz="1200" b="0">
                <a:solidFill>
                  <a:srgbClr val="5C5C57"/>
                </a:solidFill>
                <a:latin typeface="Geist"/>
              </a:rPr>
              <a:t>Rating, confidence, evidence, last verified</a:t>
            </a:r>
          </a:p>
        </p:txBody>
      </p:sp>
      <p:sp>
        <p:nvSpPr>
          <p:cNvPr id="28" name="Rectangle 27"/>
          <p:cNvSpPr/>
          <p:nvPr/>
        </p:nvSpPr>
        <p:spPr>
          <a:xfrm>
            <a:off x="812800" y="43561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085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REFRESH</a:t>
            </a:r>
          </a:p>
          <a:p>
            <a:pPr>
              <a:lnSpc>
                <a:spcPct val="116667"/>
              </a:lnSpc>
              <a:spcAft>
                <a:spcPts val="0"/>
              </a:spcAft>
            </a:pPr>
            <a:r>
              <a:rPr sz="1200" b="0">
                <a:solidFill>
                  <a:srgbClr val="5C5C57"/>
                </a:solidFill>
                <a:latin typeface="Geist"/>
              </a:rPr>
              <a:t>An EUR-Lex refresh proposes changes and never applies them. It is off by default.</a:t>
            </a:r>
          </a:p>
        </p:txBody>
      </p:sp>
      <p:sp>
        <p:nvSpPr>
          <p:cNvPr id="30" name="Rectangle 29"/>
          <p:cNvSpPr/>
          <p:nvPr/>
        </p:nvSpPr>
        <p:spPr>
          <a:xfrm>
            <a:off x="4402667" y="43561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085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STALENESS</a:t>
            </a:r>
          </a:p>
          <a:p>
            <a:pPr>
              <a:lnSpc>
                <a:spcPct val="116667"/>
              </a:lnSpc>
              <a:spcAft>
                <a:spcPts val="0"/>
              </a:spcAft>
            </a:pPr>
            <a:r>
              <a:rPr sz="1200" b="0">
                <a:solidFill>
                  <a:srgbClr val="5C5C57"/>
                </a:solidFill>
                <a:latin typeface="Geist"/>
              </a:rPr>
              <a:t>A cell's evidence goes stale after 548 days. 94 sources sit in the registry.</a:t>
            </a:r>
          </a:p>
        </p:txBody>
      </p:sp>
      <p:sp>
        <p:nvSpPr>
          <p:cNvPr id="32" name="Rectangle 31"/>
          <p:cNvSpPr/>
          <p:nvPr/>
        </p:nvSpPr>
        <p:spPr>
          <a:xfrm>
            <a:off x="7992533" y="43561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085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When sources conflict, the review item carries both versions and proposes no rating.</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FIND AND EXTRACT · 10</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Value chain: exposure never disclosed</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Input-output tables trace supply-chain exposure; the propagation itself has no model in it.</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IO tables</a:t>
            </a:r>
          </a:p>
          <a:p>
            <a:pPr>
              <a:lnSpc>
                <a:spcPct val="112500"/>
              </a:lnSpc>
              <a:spcAft>
                <a:spcPts val="0"/>
              </a:spcAft>
            </a:pPr>
            <a:r>
              <a:rPr sz="1200" b="0">
                <a:solidFill>
                  <a:srgbClr val="5C5C57"/>
                </a:solidFill>
                <a:latin typeface="Geist"/>
              </a:rPr>
              <a:t>OECD ICIO 2025 and EXIOBASE 3</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Leontief inverse</a:t>
            </a:r>
          </a:p>
          <a:p>
            <a:pPr>
              <a:lnSpc>
                <a:spcPct val="112500"/>
              </a:lnSpc>
              <a:spcAft>
                <a:spcPts val="0"/>
              </a:spcAft>
            </a:pPr>
            <a:r>
              <a:rPr sz="1200" b="0">
                <a:solidFill>
                  <a:srgbClr val="5C5C57"/>
                </a:solidFill>
                <a:latin typeface="Geist"/>
              </a:rPr>
              <a:t>A = Z ÷ x, then L = (I − A)⁻¹, cached</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Map sectors</a:t>
            </a:r>
          </a:p>
          <a:p>
            <a:pPr>
              <a:lnSpc>
                <a:spcPct val="112500"/>
              </a:lnSpc>
              <a:spcAft>
                <a:spcPts val="0"/>
              </a:spcAft>
            </a:pPr>
            <a:r>
              <a:rPr sz="1200" b="0">
                <a:solidFill>
                  <a:srgbClr val="5C5C57"/>
                </a:solidFill>
                <a:latin typeface="Geist"/>
              </a:rPr>
              <a:t>A theme's core sectors; a company's code if missing</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Exposure</a:t>
            </a:r>
          </a:p>
          <a:p>
            <a:pPr>
              <a:lnSpc>
                <a:spcPct val="112500"/>
              </a:lnSpc>
              <a:spcAft>
                <a:spcPts val="0"/>
              </a:spcAft>
            </a:pPr>
            <a:r>
              <a:rPr sz="1200" b="0">
                <a:solidFill>
                  <a:srgbClr val="5C5C57"/>
                </a:solidFill>
                <a:latin typeface="Geist"/>
              </a:rPr>
              <a:t>Upstream, downstream, end market, GHG, region</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Review flag</a:t>
            </a:r>
          </a:p>
          <a:p>
            <a:pPr>
              <a:lnSpc>
                <a:spcPct val="112500"/>
              </a:lnSpc>
              <a:spcAft>
                <a:spcPts val="0"/>
              </a:spcAft>
            </a:pPr>
            <a:r>
              <a:rPr sz="1200" b="0">
                <a:solidFill>
                  <a:srgbClr val="5C5C57"/>
                </a:solidFill>
                <a:latin typeface="Geist"/>
              </a:rPr>
              <a:t>A silent company at 0.3 or more is queued</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Explorer</a:t>
            </a:r>
          </a:p>
          <a:p>
            <a:pPr>
              <a:lnSpc>
                <a:spcPct val="112500"/>
              </a:lnSpc>
              <a:spcAft>
                <a:spcPts val="0"/>
              </a:spcAft>
            </a:pPr>
            <a:r>
              <a:rPr sz="1200" b="0">
                <a:solidFill>
                  <a:srgbClr val="5C5C57"/>
                </a:solidFill>
                <a:latin typeface="Geist"/>
              </a:rPr>
              <a:t>7,987 nodes: node, upstream tree, footprint</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VALUE CHAIN EXPLORER</a:t>
            </a:r>
          </a:p>
          <a:p>
            <a:pPr>
              <a:lnSpc>
                <a:spcPct val="116667"/>
              </a:lnSpc>
              <a:spcAft>
                <a:spcPts val="0"/>
              </a:spcAft>
            </a:pPr>
            <a:r>
              <a:rPr sz="1200" b="0">
                <a:solidFill>
                  <a:srgbClr val="5C5C57"/>
                </a:solidFill>
                <a:latin typeface="Geist"/>
              </a:rPr>
              <a:t>EXIOBASE 3.11.2 for 2022: 163 sectors in 49 regions, with CO₂e, energy and jobs. Read-only.</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KEPT SEPARATE</a:t>
            </a:r>
          </a:p>
          <a:p>
            <a:pPr>
              <a:lnSpc>
                <a:spcPct val="116667"/>
              </a:lnSpc>
              <a:spcAft>
                <a:spcPts val="0"/>
              </a:spcAft>
            </a:pPr>
            <a:r>
              <a:rPr sz="1200" b="0">
                <a:solidFill>
                  <a:srgbClr val="5C5C57"/>
                </a:solidFill>
                <a:latin typeface="Geist"/>
              </a:rPr>
              <a:t>Structural exposure is its own field, never blended into the verdict from disclosures.</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A sector code the loaded tables do not contain is rejected, never coerced.</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EA4C14"/>
                </a:solidFill>
                <a:latin typeface="Geist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6000" b="1">
                <a:solidFill>
                  <a:srgbClr val="F3F3F0"/>
                </a:solidFill>
                <a:latin typeface="Geist"/>
              </a:rPr>
              <a:t>Analyse and decide</a:t>
            </a:r>
          </a:p>
        </p:txBody>
      </p:sp>
      <p:sp>
        <p:nvSpPr>
          <p:cNvPr id="4" name="TextBox 3"/>
          <p:cNvSpPr txBox="1"/>
          <p:nvPr/>
        </p:nvSpPr>
        <p:spPr>
          <a:xfrm>
            <a:off x="812800" y="2152650"/>
            <a:ext cx="7620000" cy="571500"/>
          </a:xfrm>
          <a:prstGeom prst="rect">
            <a:avLst/>
          </a:prstGeom>
          <a:noFill/>
        </p:spPr>
        <p:txBody>
          <a:bodyPr wrap="square" lIns="0" rIns="0" tIns="0" bIns="0" anchor="t">
            <a:spAutoFit/>
          </a:bodyPr>
          <a:lstStyle/>
          <a:p>
            <a:pPr>
              <a:lnSpc>
                <a:spcPct val="116667"/>
              </a:lnSpc>
              <a:spcAft>
                <a:spcPts val="0"/>
              </a:spcAft>
            </a:pPr>
            <a:r>
              <a:rPr sz="1600" b="0">
                <a:solidFill>
                  <a:srgbClr val="B5B5AE"/>
                </a:solidFill>
                <a:latin typeface="Geist"/>
              </a:rPr>
              <a:t>Turn cited figures into monitored portfolios, scored decisions, indices, votes and client answers, with code doing the arithmetic.</a:t>
            </a:r>
          </a:p>
        </p:txBody>
      </p:sp>
      <p:sp>
        <p:nvSpPr>
          <p:cNvPr id="5" name="Rectangle 4"/>
          <p:cNvSpPr/>
          <p:nvPr/>
        </p:nvSpPr>
        <p:spPr>
          <a:xfrm>
            <a:off x="812800" y="35560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30289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11   Portfolio and climate</a:t>
            </a:r>
          </a:p>
          <a:p>
            <a:pPr>
              <a:lnSpc>
                <a:spcPct val="108333"/>
              </a:lnSpc>
              <a:spcAft>
                <a:spcPts val="0"/>
              </a:spcAft>
            </a:pPr>
            <a:r>
              <a:rPr sz="1200" b="0">
                <a:solidFill>
                  <a:srgbClr val="B5B5AE"/>
                </a:solidFill>
                <a:latin typeface="Geist"/>
              </a:rPr>
              <a:t>Holdings, alerts, WACI, financed emissions</a:t>
            </a:r>
          </a:p>
        </p:txBody>
      </p:sp>
      <p:sp>
        <p:nvSpPr>
          <p:cNvPr id="7" name="Rectangle 6"/>
          <p:cNvSpPr/>
          <p:nvPr/>
        </p:nvSpPr>
        <p:spPr>
          <a:xfrm>
            <a:off x="812800" y="40894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35623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12   Decision Studio</a:t>
            </a:r>
          </a:p>
          <a:p>
            <a:pPr>
              <a:lnSpc>
                <a:spcPct val="108333"/>
              </a:lnSpc>
              <a:spcAft>
                <a:spcPts val="0"/>
              </a:spcAft>
            </a:pPr>
            <a:r>
              <a:rPr sz="1200" b="0">
                <a:solidFill>
                  <a:srgbClr val="B5B5AE"/>
                </a:solidFill>
                <a:latin typeface="Geist"/>
              </a:rPr>
              <a:t>Scored, ranked and tiered decisions</a:t>
            </a:r>
          </a:p>
        </p:txBody>
      </p:sp>
      <p:sp>
        <p:nvSpPr>
          <p:cNvPr id="9" name="Rectangle 8"/>
          <p:cNvSpPr/>
          <p:nvPr/>
        </p:nvSpPr>
        <p:spPr>
          <a:xfrm>
            <a:off x="812800" y="46228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800" y="40957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13   Index construction</a:t>
            </a:r>
          </a:p>
          <a:p>
            <a:pPr>
              <a:lnSpc>
                <a:spcPct val="108333"/>
              </a:lnSpc>
              <a:spcAft>
                <a:spcPts val="0"/>
              </a:spcAft>
            </a:pPr>
            <a:r>
              <a:rPr sz="1200" b="0">
                <a:solidFill>
                  <a:srgbClr val="B5B5AE"/>
                </a:solidFill>
                <a:latin typeface="Geist"/>
              </a:rPr>
              <a:t>Rule-based index methodologies</a:t>
            </a:r>
          </a:p>
        </p:txBody>
      </p:sp>
      <p:sp>
        <p:nvSpPr>
          <p:cNvPr id="11" name="Rectangle 10"/>
          <p:cNvSpPr/>
          <p:nvPr/>
        </p:nvSpPr>
        <p:spPr>
          <a:xfrm>
            <a:off x="812800" y="51562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46291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14   Strategy and signals</a:t>
            </a:r>
          </a:p>
          <a:p>
            <a:pPr>
              <a:lnSpc>
                <a:spcPct val="108333"/>
              </a:lnSpc>
              <a:spcAft>
                <a:spcPts val="0"/>
              </a:spcAft>
            </a:pPr>
            <a:r>
              <a:rPr sz="1200" b="0">
                <a:solidFill>
                  <a:srgbClr val="B5B5AE"/>
                </a:solidFill>
                <a:latin typeface="Geist"/>
              </a:rPr>
              <a:t>Backtests and honest signal tests</a:t>
            </a:r>
          </a:p>
        </p:txBody>
      </p:sp>
      <p:sp>
        <p:nvSpPr>
          <p:cNvPr id="13" name="Rectangle 12"/>
          <p:cNvSpPr/>
          <p:nvPr/>
        </p:nvSpPr>
        <p:spPr>
          <a:xfrm>
            <a:off x="6299200" y="35560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9200" y="30289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15   Engagement</a:t>
            </a:r>
          </a:p>
          <a:p>
            <a:pPr>
              <a:lnSpc>
                <a:spcPct val="108333"/>
              </a:lnSpc>
              <a:spcAft>
                <a:spcPts val="0"/>
              </a:spcAft>
            </a:pPr>
            <a:r>
              <a:rPr sz="1200" b="0">
                <a:solidFill>
                  <a:srgbClr val="B5B5AE"/>
                </a:solidFill>
                <a:latin typeface="Geist"/>
              </a:rPr>
              <a:t>One record per company, people at every gate</a:t>
            </a:r>
          </a:p>
        </p:txBody>
      </p:sp>
      <p:sp>
        <p:nvSpPr>
          <p:cNvPr id="15" name="Rectangle 14"/>
          <p:cNvSpPr/>
          <p:nvPr/>
        </p:nvSpPr>
        <p:spPr>
          <a:xfrm>
            <a:off x="6299200" y="40894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9200" y="35623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16   Proxy voting</a:t>
            </a:r>
          </a:p>
          <a:p>
            <a:pPr>
              <a:lnSpc>
                <a:spcPct val="108333"/>
              </a:lnSpc>
              <a:spcAft>
                <a:spcPts val="0"/>
              </a:spcAft>
            </a:pPr>
            <a:r>
              <a:rPr sz="1200" b="0">
                <a:solidFill>
                  <a:srgbClr val="B5B5AE"/>
                </a:solidFill>
                <a:latin typeface="Geist"/>
              </a:rPr>
              <a:t>Rules before judgment, people before a vote</a:t>
            </a:r>
          </a:p>
        </p:txBody>
      </p:sp>
      <p:sp>
        <p:nvSpPr>
          <p:cNvPr id="17" name="Rectangle 16"/>
          <p:cNvSpPr/>
          <p:nvPr/>
        </p:nvSpPr>
        <p:spPr>
          <a:xfrm>
            <a:off x="6299200" y="46228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9200" y="40957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17   RFP answers</a:t>
            </a:r>
          </a:p>
          <a:p>
            <a:pPr>
              <a:lnSpc>
                <a:spcPct val="108333"/>
              </a:lnSpc>
              <a:spcAft>
                <a:spcPts val="0"/>
              </a:spcAft>
            </a:pPr>
            <a:r>
              <a:rPr sz="1200" b="0">
                <a:solidFill>
                  <a:srgbClr val="B5B5AE"/>
                </a:solidFill>
                <a:latin typeface="Geist"/>
              </a:rPr>
              <a:t>Questionnaires from approved answers</a:t>
            </a:r>
          </a:p>
        </p:txBody>
      </p:sp>
      <p:sp>
        <p:nvSpPr>
          <p:cNvPr id="19" name="Rectangle 18"/>
          <p:cNvSpPr/>
          <p:nvPr/>
        </p:nvSpPr>
        <p:spPr>
          <a:xfrm>
            <a:off x="6299200" y="5156200"/>
            <a:ext cx="5080000" cy="6350"/>
          </a:xfrm>
          <a:prstGeom prst="rect">
            <a:avLst/>
          </a:prstGeom>
          <a:solidFill>
            <a:srgbClr val="3A3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9200" y="4629150"/>
            <a:ext cx="5080000" cy="533400"/>
          </a:xfrm>
          <a:prstGeom prst="rect">
            <a:avLst/>
          </a:prstGeom>
          <a:noFill/>
        </p:spPr>
        <p:txBody>
          <a:bodyPr wrap="square" lIns="0" rIns="0" tIns="0" bIns="0" anchor="ctr">
            <a:spAutoFit/>
          </a:bodyPr>
          <a:lstStyle/>
          <a:p>
            <a:pPr>
              <a:lnSpc>
                <a:spcPct val="104167"/>
              </a:lnSpc>
              <a:spcAft>
                <a:spcPts val="0"/>
              </a:spcAft>
            </a:pPr>
            <a:r>
              <a:rPr sz="1400" b="1">
                <a:solidFill>
                  <a:srgbClr val="F3F3F0"/>
                </a:solidFill>
                <a:latin typeface="Geist"/>
              </a:rPr>
              <a:t>18   Reporting</a:t>
            </a:r>
          </a:p>
          <a:p>
            <a:pPr>
              <a:lnSpc>
                <a:spcPct val="108333"/>
              </a:lnSpc>
              <a:spcAft>
                <a:spcPts val="0"/>
              </a:spcAft>
            </a:pPr>
            <a:r>
              <a:rPr sz="1200" b="0">
                <a:solidFill>
                  <a:srgbClr val="B5B5AE"/>
                </a:solidFill>
                <a:latin typeface="Geist"/>
              </a:rPr>
              <a:t>Reports, house decks, dashboards</a:t>
            </a:r>
          </a:p>
        </p:txBody>
      </p:sp>
      <p:sp>
        <p:nvSpPr>
          <p:cNvPr id="21" name="TextBox 20"/>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B5B5AE"/>
                </a:solidFill>
                <a:latin typeface="Geist Mono"/>
              </a:rPr>
              <a:t>ARP · FUNCTIONS AND ARCHITECTURE</a:t>
            </a:r>
          </a:p>
        </p:txBody>
      </p:sp>
      <p:sp>
        <p:nvSpPr>
          <p:cNvPr id="22" name="TextBox 21"/>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B5B5AE"/>
                </a:solidFill>
                <a:latin typeface="Geist Mono"/>
              </a:rP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11</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Portfolio risk and climate analytics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Holdings joined to company research. Every risk number is computed, and the query is shown beside it.</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Holdings intake</a:t>
            </a:r>
          </a:p>
          <a:p>
            <a:pPr>
              <a:lnSpc>
                <a:spcPct val="112500"/>
              </a:lnSpc>
              <a:spcAft>
                <a:spcPts val="0"/>
              </a:spcAft>
            </a:pPr>
            <a:r>
              <a:rPr sz="1200" b="0">
                <a:solidFill>
                  <a:srgbClr val="5C5C57"/>
                </a:solidFill>
                <a:latin typeface="Geist"/>
              </a:rPr>
              <a:t>Monthly, mapped by ISIN via the security master</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Data cascade</a:t>
            </a:r>
          </a:p>
          <a:p>
            <a:pPr>
              <a:lnSpc>
                <a:spcPct val="112500"/>
              </a:lnSpc>
              <a:spcAft>
                <a:spcPts val="0"/>
              </a:spcAft>
            </a:pPr>
            <a:r>
              <a:rPr sz="1200" b="0">
                <a:solidFill>
                  <a:srgbClr val="5C5C57"/>
                </a:solidFill>
                <a:latin typeface="Geist"/>
              </a:rPr>
              <a:t>Extraction, exposure, catalogue, else missing</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Aggregate</a:t>
            </a:r>
          </a:p>
          <a:p>
            <a:pPr>
              <a:lnSpc>
                <a:spcPct val="112500"/>
              </a:lnSpc>
              <a:spcAft>
                <a:spcPts val="0"/>
              </a:spcAft>
            </a:pPr>
            <a:r>
              <a:rPr sz="1200" b="0">
                <a:solidFill>
                  <a:srgbClr val="5C5C57"/>
                </a:solidFill>
                <a:latin typeface="Geist"/>
              </a:rPr>
              <a:t>Group, weight, sum by any dimension</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Monitoring</a:t>
            </a:r>
          </a:p>
          <a:p>
            <a:pPr>
              <a:lnSpc>
                <a:spcPct val="112500"/>
              </a:lnSpc>
              <a:spcAft>
                <a:spcPts val="0"/>
              </a:spcAft>
            </a:pPr>
            <a:r>
              <a:rPr sz="1200" b="0">
                <a:solidFill>
                  <a:srgbClr val="5C5C57"/>
                </a:solidFill>
                <a:latin typeface="Geist"/>
              </a:rPr>
              <a:t>Monthly alerts and stewardship triggers</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Ask</a:t>
            </a:r>
          </a:p>
          <a:p>
            <a:pPr>
              <a:lnSpc>
                <a:spcPct val="112500"/>
              </a:lnSpc>
              <a:spcAft>
                <a:spcPts val="0"/>
              </a:spcAft>
            </a:pPr>
            <a:r>
              <a:rPr sz="1200" b="0">
                <a:solidFill>
                  <a:srgbClr val="5C5C57"/>
                </a:solidFill>
                <a:latin typeface="Geist"/>
              </a:rPr>
              <a:t>The model drafts the query; the engine computes</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Dashboards</a:t>
            </a:r>
          </a:p>
          <a:p>
            <a:pPr>
              <a:lnSpc>
                <a:spcPct val="112500"/>
              </a:lnSpc>
              <a:spcAft>
                <a:spcPts val="0"/>
              </a:spcAft>
            </a:pPr>
            <a:r>
              <a:rPr sz="1200" b="0">
                <a:solidFill>
                  <a:srgbClr val="5C5C57"/>
                </a:solidFill>
                <a:latin typeface="Geist"/>
              </a:rPr>
              <a:t>Superset: exposure, WACI, financed emissions</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CLIMATE</a:t>
            </a:r>
          </a:p>
          <a:p>
            <a:pPr>
              <a:lnSpc>
                <a:spcPct val="116667"/>
              </a:lnSpc>
              <a:spcAft>
                <a:spcPts val="0"/>
              </a:spcAft>
            </a:pPr>
            <a:r>
              <a:rPr sz="1200" b="0">
                <a:solidFill>
                  <a:srgbClr val="5C5C57"/>
                </a:solidFill>
                <a:latin typeface="Geist"/>
              </a:rPr>
              <a:t>WACI and PCAF-style financed emissions, with coverage shown beside every figure.</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BLOCKED, NOT GUESSED</a:t>
            </a:r>
          </a:p>
          <a:p>
            <a:pPr>
              <a:lnSpc>
                <a:spcPct val="116667"/>
              </a:lnSpc>
              <a:spcAft>
                <a:spcPts val="0"/>
              </a:spcAft>
            </a:pPr>
            <a:r>
              <a:rPr sz="1200" b="0">
                <a:solidFill>
                  <a:srgbClr val="5C5C57"/>
                </a:solidFill>
                <a:latin typeface="Geist"/>
              </a:rPr>
              <a:t>Monitoring runs only when the month's holdings and ESG loads are good. A re-run adds nothing twice.</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No model inside an aggregate. Missing data counts against coverage, never imputed.</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12</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Decision Studio: scored, ranked, tiered</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Any per-entity table becomes a decision about companies, sectors, themes or strategies. Zero model calls.</a:t>
            </a:r>
          </a:p>
        </p:txBody>
      </p:sp>
      <p:sp>
        <p:nvSpPr>
          <p:cNvPr id="5" name="Rectangle 4"/>
          <p:cNvSpPr/>
          <p:nvPr/>
        </p:nvSpPr>
        <p:spPr>
          <a:xfrm>
            <a:off x="812800" y="2159000"/>
            <a:ext cx="1612900" cy="20256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Table</a:t>
            </a:r>
          </a:p>
          <a:p>
            <a:pPr>
              <a:lnSpc>
                <a:spcPct val="112500"/>
              </a:lnSpc>
              <a:spcAft>
                <a:spcPts val="0"/>
              </a:spcAft>
            </a:pPr>
            <a:r>
              <a:rPr sz="1200" b="0">
                <a:solidFill>
                  <a:srgbClr val="5C5C57"/>
                </a:solidFill>
                <a:latin typeface="Geist"/>
              </a:rPr>
              <a:t>From an ARP run or an upload</a:t>
            </a:r>
          </a:p>
        </p:txBody>
      </p:sp>
      <p:sp>
        <p:nvSpPr>
          <p:cNvPr id="8" name="TextBox 7"/>
          <p:cNvSpPr txBox="1"/>
          <p:nvPr/>
        </p:nvSpPr>
        <p:spPr>
          <a:xfrm>
            <a:off x="24257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Profile and roles</a:t>
            </a:r>
          </a:p>
          <a:p>
            <a:pPr>
              <a:lnSpc>
                <a:spcPct val="112500"/>
              </a:lnSpc>
              <a:spcAft>
                <a:spcPts val="0"/>
              </a:spcAft>
            </a:pPr>
            <a:r>
              <a:rPr sz="1200" b="0">
                <a:solidFill>
                  <a:srgbClr val="5C5C57"/>
                </a:solidFill>
                <a:latin typeface="Geist"/>
              </a:rPr>
              <a:t>Direction inferred, flagged where it is a guess</a:t>
            </a:r>
          </a:p>
        </p:txBody>
      </p:sp>
      <p:sp>
        <p:nvSpPr>
          <p:cNvPr id="12" name="TextBox 11"/>
          <p:cNvSpPr txBox="1"/>
          <p:nvPr/>
        </p:nvSpPr>
        <p:spPr>
          <a:xfrm>
            <a:off x="42164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Normalise, group</a:t>
            </a:r>
          </a:p>
          <a:p>
            <a:pPr>
              <a:lnSpc>
                <a:spcPct val="112500"/>
              </a:lnSpc>
              <a:spcAft>
                <a:spcPts val="0"/>
              </a:spcAft>
            </a:pPr>
            <a:r>
              <a:rPr sz="1200" b="0">
                <a:solidFill>
                  <a:srgbClr val="5C5C57"/>
                </a:solidFill>
                <a:latin typeface="Geist"/>
              </a:rPr>
              <a:t>Peer cohorts; correlated criteria grouped</a:t>
            </a:r>
          </a:p>
        </p:txBody>
      </p:sp>
      <p:sp>
        <p:nvSpPr>
          <p:cNvPr id="16" name="TextBox 15"/>
          <p:cNvSpPr txBox="1"/>
          <p:nvPr/>
        </p:nvSpPr>
        <p:spPr>
          <a:xfrm>
            <a:off x="60071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Gates, then score</a:t>
            </a:r>
          </a:p>
          <a:p>
            <a:pPr>
              <a:lnSpc>
                <a:spcPct val="112500"/>
              </a:lnSpc>
              <a:spcAft>
                <a:spcPts val="0"/>
              </a:spcAft>
            </a:pPr>
            <a:r>
              <a:rPr sz="1200" b="0">
                <a:solidFill>
                  <a:srgbClr val="5C5C57"/>
                </a:solidFill>
                <a:latin typeface="Geist"/>
              </a:rPr>
              <a:t>Hard gates resolve before the average</a:t>
            </a:r>
          </a:p>
        </p:txBody>
      </p:sp>
      <p:sp>
        <p:nvSpPr>
          <p:cNvPr id="20" name="TextBox 19"/>
          <p:cNvSpPr txBox="1"/>
          <p:nvPr/>
        </p:nvSpPr>
        <p:spPr>
          <a:xfrm>
            <a:off x="77978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Tiers, stability</a:t>
            </a:r>
          </a:p>
          <a:p>
            <a:pPr>
              <a:lnSpc>
                <a:spcPct val="112500"/>
              </a:lnSpc>
              <a:spcAft>
                <a:spcPts val="0"/>
              </a:spcAft>
            </a:pPr>
            <a:r>
              <a:rPr sz="1200" b="0">
                <a:solidFill>
                  <a:srgbClr val="5C5C57"/>
                </a:solidFill>
                <a:latin typeface="Geist"/>
              </a:rPr>
              <a:t>Decision tree; rank range over four specifications</a:t>
            </a:r>
          </a:p>
        </p:txBody>
      </p:sp>
      <p:sp>
        <p:nvSpPr>
          <p:cNvPr id="24" name="TextBox 23"/>
          <p:cNvSpPr txBox="1"/>
          <p:nvPr/>
        </p:nvSpPr>
        <p:spPr>
          <a:xfrm>
            <a:off x="95885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Ratify framework</a:t>
            </a:r>
          </a:p>
          <a:p>
            <a:pPr>
              <a:lnSpc>
                <a:spcPct val="112500"/>
              </a:lnSpc>
              <a:spcAft>
                <a:spcPts val="0"/>
              </a:spcAft>
            </a:pPr>
            <a:r>
              <a:rPr sz="1200" b="0">
                <a:solidFill>
                  <a:srgbClr val="5C5C57"/>
                </a:solidFill>
                <a:latin typeface="Geist"/>
              </a:rPr>
              <a:t>Versioned; applied unchanged next quarter</a:t>
            </a:r>
          </a:p>
        </p:txBody>
      </p:sp>
      <p:sp>
        <p:nvSpPr>
          <p:cNvPr id="28" name="Rectangle 27"/>
          <p:cNvSpPr/>
          <p:nvPr/>
        </p:nvSpPr>
        <p:spPr>
          <a:xfrm>
            <a:off x="812800"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WHY GROUP CRITERIA</a:t>
            </a:r>
          </a:p>
          <a:p>
            <a:pPr>
              <a:lnSpc>
                <a:spcPct val="116667"/>
              </a:lnSpc>
              <a:spcAft>
                <a:spcPts val="0"/>
              </a:spcAft>
            </a:pPr>
            <a:r>
              <a:rPr sz="1200" b="0">
                <a:solidFill>
                  <a:srgbClr val="5C5C57"/>
                </a:solidFill>
                <a:latin typeface="Geist"/>
              </a:rPr>
              <a:t>One theme measured seven ways does not earn seven times the weight.</a:t>
            </a:r>
          </a:p>
        </p:txBody>
      </p:sp>
      <p:sp>
        <p:nvSpPr>
          <p:cNvPr id="30" name="Rectangle 29"/>
          <p:cNvSpPr/>
          <p:nvPr/>
        </p:nvSpPr>
        <p:spPr>
          <a:xfrm>
            <a:off x="4402667"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AUDIT</a:t>
            </a:r>
          </a:p>
          <a:p>
            <a:pPr>
              <a:lnSpc>
                <a:spcPct val="116667"/>
              </a:lnSpc>
              <a:spcAft>
                <a:spcPts val="0"/>
              </a:spcAft>
            </a:pPr>
            <a:r>
              <a:rPr sz="1200" b="0">
                <a:solidFill>
                  <a:srgbClr val="5C5C57"/>
                </a:solidFill>
                <a:latin typeface="Geist"/>
              </a:rPr>
              <a:t>The audit log separates what the data proposed from what a person changed.</a:t>
            </a:r>
          </a:p>
        </p:txBody>
      </p:sp>
      <p:sp>
        <p:nvSpPr>
          <p:cNvPr id="32" name="Rectangle 31"/>
          <p:cNvSpPr/>
          <p:nvPr/>
        </p:nvSpPr>
        <p:spPr>
          <a:xfrm>
            <a:off x="7992533"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SURFACES</a:t>
            </a:r>
          </a:p>
          <a:p>
            <a:pPr>
              <a:lnSpc>
                <a:spcPct val="116667"/>
              </a:lnSpc>
              <a:spcAft>
                <a:spcPts val="0"/>
              </a:spcAft>
            </a:pPr>
            <a:r>
              <a:rPr sz="1200" b="0">
                <a:solidFill>
                  <a:srgbClr val="5C5C57"/>
                </a:solidFill>
                <a:latin typeface="Geist"/>
              </a:rPr>
              <a:t>Eight tabs in the app; the same engine in the API and CLI.</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13</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Index construction</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Compose named rules into a methodology. Every stage leaves a trace a committee can review.</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Universe</a:t>
            </a:r>
          </a:p>
          <a:p>
            <a:pPr>
              <a:lnSpc>
                <a:spcPct val="112500"/>
              </a:lnSpc>
              <a:spcAft>
                <a:spcPts val="0"/>
              </a:spcAft>
            </a:pPr>
            <a:r>
              <a:rPr sz="1200" b="0">
                <a:solidFill>
                  <a:srgbClr val="5C5C57"/>
                </a:solidFill>
                <a:latin typeface="Geist"/>
              </a:rPr>
              <a:t>Price, FX, shares, free float, sector, metrics</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Screens</a:t>
            </a:r>
          </a:p>
          <a:p>
            <a:pPr>
              <a:lnSpc>
                <a:spcPct val="112500"/>
              </a:lnSpc>
              <a:spcAft>
                <a:spcPts val="0"/>
              </a:spcAft>
            </a:pPr>
            <a:r>
              <a:rPr sz="1200" b="0">
                <a:solidFill>
                  <a:srgbClr val="5C5C57"/>
                </a:solidFill>
                <a:latin typeface="Geist"/>
              </a:rPr>
              <a:t>Ordered exclusions</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Select, weight</a:t>
            </a:r>
          </a:p>
          <a:p>
            <a:pPr>
              <a:lnSpc>
                <a:spcPct val="112500"/>
              </a:lnSpc>
              <a:spcAft>
                <a:spcPts val="0"/>
              </a:spcAft>
            </a:pPr>
            <a:r>
              <a:rPr sz="1200" b="0">
                <a:solidFill>
                  <a:srgbClr val="5C5C57"/>
                </a:solidFill>
                <a:latin typeface="Geist"/>
              </a:rPr>
              <a:t>Coverage target with buffers, or top-N; tilts</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Cap</a:t>
            </a:r>
          </a:p>
          <a:p>
            <a:pPr>
              <a:lnSpc>
                <a:spcPct val="112500"/>
              </a:lnSpc>
              <a:spcAft>
                <a:spcPts val="0"/>
              </a:spcAft>
            </a:pPr>
            <a:r>
              <a:rPr sz="1200" b="0">
                <a:solidFill>
                  <a:srgbClr val="5C5C57"/>
                </a:solidFill>
                <a:latin typeface="Geist"/>
              </a:rPr>
              <a:t>Single name, group, UCITS 5/10/40</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Trajectory</a:t>
            </a:r>
          </a:p>
          <a:p>
            <a:pPr>
              <a:lnSpc>
                <a:spcPct val="112500"/>
              </a:lnSpc>
              <a:spcAft>
                <a:spcPts val="0"/>
              </a:spcAft>
            </a:pPr>
            <a:r>
              <a:rPr sz="1200" b="0">
                <a:solidFill>
                  <a:srgbClr val="5C5C57"/>
                </a:solidFill>
                <a:latin typeface="Geist"/>
              </a:rPr>
              <a:t>EU PAB or CTB decarbonisation path</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Review</a:t>
            </a:r>
          </a:p>
          <a:p>
            <a:pPr>
              <a:lnSpc>
                <a:spcPct val="112500"/>
              </a:lnSpc>
              <a:spcAft>
                <a:spcPts val="0"/>
              </a:spcAft>
            </a:pPr>
            <a:r>
              <a:rPr sz="1200" b="0">
                <a:solidFill>
                  <a:srgbClr val="5C5C57"/>
                </a:solidFill>
                <a:latin typeface="Geist"/>
              </a:rPr>
              <a:t>Constituents, divisor, turnover, stage trace</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CALIBRATIONS</a:t>
            </a:r>
          </a:p>
          <a:p>
            <a:pPr>
              <a:lnSpc>
                <a:spcPct val="116667"/>
              </a:lnSpc>
              <a:spcAft>
                <a:spcPts val="0"/>
              </a:spcAft>
            </a:pPr>
            <a:r>
              <a:rPr sz="1200" b="0">
                <a:solidFill>
                  <a:srgbClr val="5C5C57"/>
                </a:solidFill>
                <a:latin typeface="Geist"/>
              </a:rPr>
              <a:t>Versioned and effective-dated: a review uses the version in force on its review date.</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SOLVERS</a:t>
            </a:r>
          </a:p>
          <a:p>
            <a:pPr>
              <a:lnSpc>
                <a:spcPct val="116667"/>
              </a:lnSpc>
              <a:spcAft>
                <a:spcPts val="0"/>
              </a:spcAft>
            </a:pPr>
            <a:r>
              <a:rPr sz="1200" b="0">
                <a:solidFill>
                  <a:srgbClr val="5C5C57"/>
                </a:solidFill>
                <a:latin typeface="Geist"/>
              </a:rPr>
              <a:t>Optional convex or mixed-integer solvers; every constraint is re-checked in Python.</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No model calls in the numbers. A thematic score enters only as a frozen, dated snapshot.</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14</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Strategy replication and signals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Reduce a paper to an executable spec, backtest it out of sample, and test text signals without look-ahead.</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Paper</a:t>
            </a:r>
          </a:p>
          <a:p>
            <a:pPr>
              <a:lnSpc>
                <a:spcPct val="112500"/>
              </a:lnSpc>
              <a:spcAft>
                <a:spcPts val="0"/>
              </a:spcAft>
            </a:pPr>
            <a:r>
              <a:rPr sz="1200" b="0">
                <a:solidFill>
                  <a:srgbClr val="5C5C57"/>
                </a:solidFill>
                <a:latin typeface="Geist"/>
              </a:rPr>
              <a:t>Found by literature discovery, or uploaded</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Strategy spec</a:t>
            </a:r>
          </a:p>
          <a:p>
            <a:pPr>
              <a:lnSpc>
                <a:spcPct val="112500"/>
              </a:lnSpc>
              <a:spcAft>
                <a:spcPts val="0"/>
              </a:spcAft>
            </a:pPr>
            <a:r>
              <a:rPr sz="1200" b="0">
                <a:solidFill>
                  <a:srgbClr val="5C5C57"/>
                </a:solidFill>
                <a:latin typeface="Geist"/>
              </a:rPr>
              <a:t>Extracted, verified and grounded</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Backtest</a:t>
            </a:r>
          </a:p>
          <a:p>
            <a:pPr>
              <a:lnSpc>
                <a:spcPct val="112500"/>
              </a:lnSpc>
              <a:spcAft>
                <a:spcPts val="0"/>
              </a:spcAft>
            </a:pPr>
            <a:r>
              <a:rPr sz="1200" b="0">
                <a:solidFill>
                  <a:srgbClr val="5C5C57"/>
                </a:solidFill>
                <a:latin typeface="Geist"/>
              </a:rPr>
              <a:t>In-sample and out-of-sample windows</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Rigor checks</a:t>
            </a:r>
          </a:p>
          <a:p>
            <a:pPr>
              <a:lnSpc>
                <a:spcPct val="112500"/>
              </a:lnSpc>
              <a:spcAft>
                <a:spcPts val="0"/>
              </a:spcAft>
            </a:pPr>
            <a:r>
              <a:rPr sz="1200" b="0">
                <a:solidFill>
                  <a:srgbClr val="5C5C57"/>
                </a:solidFill>
                <a:latin typeface="Geist"/>
              </a:rPr>
              <a:t>Deflated Sharpe, PBO by purged CSCV, regimes</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Graduate or shelve</a:t>
            </a:r>
          </a:p>
          <a:p>
            <a:pPr>
              <a:lnSpc>
                <a:spcPct val="112500"/>
              </a:lnSpc>
              <a:spcAft>
                <a:spcPts val="0"/>
              </a:spcAft>
            </a:pPr>
            <a:r>
              <a:rPr sz="1200" b="0">
                <a:solidFill>
                  <a:srgbClr val="5C5C57"/>
                </a:solidFill>
                <a:latin typeface="Geist"/>
              </a:rPr>
              <a:t>A person records the decision</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Hand over</a:t>
            </a:r>
          </a:p>
          <a:p>
            <a:pPr>
              <a:lnSpc>
                <a:spcPct val="112500"/>
              </a:lnSpc>
              <a:spcAft>
                <a:spcPts val="0"/>
              </a:spcAft>
            </a:pPr>
            <a:r>
              <a:rPr sz="1200" b="0">
                <a:solidFill>
                  <a:srgbClr val="5C5C57"/>
                </a:solidFill>
                <a:latin typeface="Geist"/>
              </a:rPr>
              <a:t>To Decision Studio and index construction</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SIGNALS WORKBENCH</a:t>
            </a:r>
          </a:p>
          <a:p>
            <a:pPr>
              <a:lnSpc>
                <a:spcPct val="116667"/>
              </a:lnSpc>
              <a:spcAft>
                <a:spcPts val="0"/>
              </a:spcAft>
            </a:pPr>
            <a:r>
              <a:rPr sz="1200" b="0">
                <a:solidFill>
                  <a:srgbClr val="5C5C57"/>
                </a:solidFill>
                <a:latin typeface="Geist"/>
              </a:rPr>
              <a:t>Point-in-time text store, training-cutoff checks, rank-IC and an experiment registry.</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IN THE APP</a:t>
            </a:r>
          </a:p>
          <a:p>
            <a:pPr>
              <a:lnSpc>
                <a:spcPct val="116667"/>
              </a:lnSpc>
              <a:spcAft>
                <a:spcPts val="0"/>
              </a:spcAft>
            </a:pPr>
            <a:r>
              <a:rPr sz="1200" b="0">
                <a:solidFill>
                  <a:srgbClr val="5C5C57"/>
                </a:solidFill>
                <a:latin typeface="Geist"/>
              </a:rPr>
              <a:t>Only model-free methods run in the app; LLM, FinBERT and embedding recipes run from the CLI.</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A preview is unregistered and is not evidence. Every stage is stored with the run.</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15</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Engagement: on the record</a:t>
            </a:r>
          </a:p>
        </p:txBody>
      </p:sp>
      <p:sp>
        <p:nvSpPr>
          <p:cNvPr id="4" name="TextBox 3"/>
          <p:cNvSpPr txBox="1"/>
          <p:nvPr/>
        </p:nvSpPr>
        <p:spPr>
          <a:xfrm>
            <a:off x="812800" y="1682750"/>
            <a:ext cx="10566400" cy="49530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One shared record per company, a state machine rather than a chatbot, and a person wherever it touches a company.</a:t>
            </a:r>
          </a:p>
        </p:txBody>
      </p:sp>
      <p:sp>
        <p:nvSpPr>
          <p:cNvPr id="5" name="Rectangle 4"/>
          <p:cNvSpPr/>
          <p:nvPr/>
        </p:nvSpPr>
        <p:spPr>
          <a:xfrm>
            <a:off x="812800" y="240665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40665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584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Triggers</a:t>
            </a:r>
          </a:p>
          <a:p>
            <a:pPr>
              <a:lnSpc>
                <a:spcPct val="112500"/>
              </a:lnSpc>
              <a:spcAft>
                <a:spcPts val="0"/>
              </a:spcAft>
            </a:pPr>
            <a:r>
              <a:rPr sz="1200" b="0">
                <a:solidFill>
                  <a:srgbClr val="5C5C57"/>
                </a:solidFill>
                <a:latin typeface="Geist"/>
              </a:rPr>
              <a:t>Controversies, monitoring alerts, 45-day stall sweep</a:t>
            </a:r>
          </a:p>
        </p:txBody>
      </p:sp>
      <p:sp>
        <p:nvSpPr>
          <p:cNvPr id="8" name="TextBox 7"/>
          <p:cNvSpPr txBox="1"/>
          <p:nvPr/>
        </p:nvSpPr>
        <p:spPr>
          <a:xfrm>
            <a:off x="2425700" y="240665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40665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40665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584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Next action</a:t>
            </a:r>
          </a:p>
          <a:p>
            <a:pPr>
              <a:lnSpc>
                <a:spcPct val="112500"/>
              </a:lnSpc>
              <a:spcAft>
                <a:spcPts val="0"/>
              </a:spcAft>
            </a:pPr>
            <a:r>
              <a:rPr sz="1200" b="0">
                <a:solidFill>
                  <a:srgbClr val="5C5C57"/>
                </a:solidFill>
                <a:latin typeface="Geist"/>
              </a:rPr>
              <a:t>A pure function over one issue</a:t>
            </a:r>
          </a:p>
        </p:txBody>
      </p:sp>
      <p:sp>
        <p:nvSpPr>
          <p:cNvPr id="12" name="TextBox 11"/>
          <p:cNvSpPr txBox="1"/>
          <p:nvPr/>
        </p:nvSpPr>
        <p:spPr>
          <a:xfrm>
            <a:off x="4216400" y="240665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40665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40665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584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Research dossier</a:t>
            </a:r>
          </a:p>
          <a:p>
            <a:pPr>
              <a:lnSpc>
                <a:spcPct val="112500"/>
              </a:lnSpc>
              <a:spcAft>
                <a:spcPts val="0"/>
              </a:spcAft>
            </a:pPr>
            <a:r>
              <a:rPr sz="1200" b="0">
                <a:solidFill>
                  <a:srgbClr val="5C5C57"/>
                </a:solidFill>
                <a:latin typeface="Geist"/>
              </a:rPr>
              <a:t>Grounded in the company's own disclosures</a:t>
            </a:r>
          </a:p>
        </p:txBody>
      </p:sp>
      <p:sp>
        <p:nvSpPr>
          <p:cNvPr id="16" name="TextBox 15"/>
          <p:cNvSpPr txBox="1"/>
          <p:nvPr/>
        </p:nvSpPr>
        <p:spPr>
          <a:xfrm>
            <a:off x="6007100" y="240665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40665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40665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584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Draft</a:t>
            </a:r>
          </a:p>
          <a:p>
            <a:pPr>
              <a:lnSpc>
                <a:spcPct val="112500"/>
              </a:lnSpc>
              <a:spcAft>
                <a:spcPts val="0"/>
              </a:spcAft>
            </a:pPr>
            <a:r>
              <a:rPr sz="1200" b="0">
                <a:solidFill>
                  <a:srgbClr val="5C5C57"/>
                </a:solidFill>
                <a:latin typeface="Geist"/>
              </a:rPr>
              <a:t>Letter, talking points, meeting summary</a:t>
            </a:r>
          </a:p>
        </p:txBody>
      </p:sp>
      <p:sp>
        <p:nvSpPr>
          <p:cNvPr id="20" name="TextBox 19"/>
          <p:cNvSpPr txBox="1"/>
          <p:nvPr/>
        </p:nvSpPr>
        <p:spPr>
          <a:xfrm>
            <a:off x="7797800" y="240665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40665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40665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584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Validate</a:t>
            </a:r>
          </a:p>
          <a:p>
            <a:pPr>
              <a:lnSpc>
                <a:spcPct val="112500"/>
              </a:lnSpc>
              <a:spcAft>
                <a:spcPts val="0"/>
              </a:spcAft>
            </a:pPr>
            <a:r>
              <a:rPr sz="1200" b="0">
                <a:solidFill>
                  <a:srgbClr val="5C5C57"/>
                </a:solidFill>
                <a:latin typeface="Geist"/>
              </a:rPr>
              <a:t>Notes validated; escalation decided by name</a:t>
            </a:r>
          </a:p>
        </p:txBody>
      </p:sp>
      <p:sp>
        <p:nvSpPr>
          <p:cNvPr id="24" name="TextBox 23"/>
          <p:cNvSpPr txBox="1"/>
          <p:nvPr/>
        </p:nvSpPr>
        <p:spPr>
          <a:xfrm>
            <a:off x="9588500" y="240665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40665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40665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58445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Record</a:t>
            </a:r>
          </a:p>
          <a:p>
            <a:pPr>
              <a:lnSpc>
                <a:spcPct val="112500"/>
              </a:lnSpc>
              <a:spcAft>
                <a:spcPts val="0"/>
              </a:spcAft>
            </a:pPr>
            <a:r>
              <a:rPr sz="1200" b="0">
                <a:solidFill>
                  <a:srgbClr val="5C5C57"/>
                </a:solidFill>
                <a:latin typeface="Geist"/>
              </a:rPr>
              <a:t>Six milestone stages, append-only audit</a:t>
            </a:r>
          </a:p>
        </p:txBody>
      </p:sp>
      <p:sp>
        <p:nvSpPr>
          <p:cNvPr id="28" name="Rectangle 27"/>
          <p:cNvSpPr/>
          <p:nvPr/>
        </p:nvSpPr>
        <p:spPr>
          <a:xfrm>
            <a:off x="812800" y="4387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40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ESCALATION</a:t>
            </a:r>
          </a:p>
          <a:p>
            <a:pPr>
              <a:lnSpc>
                <a:spcPct val="116667"/>
              </a:lnSpc>
              <a:spcAft>
                <a:spcPts val="0"/>
              </a:spcAft>
            </a:pPr>
            <a:r>
              <a:rPr sz="1200" b="0">
                <a:solidFill>
                  <a:srgbClr val="5C5C57"/>
                </a:solidFill>
                <a:latin typeface="Geist"/>
              </a:rPr>
              <a:t>A seven-step ladder from private engagement to a public statement. The orchestrator never escalates.</a:t>
            </a:r>
          </a:p>
        </p:txBody>
      </p:sp>
      <p:sp>
        <p:nvSpPr>
          <p:cNvPr id="30" name="Rectangle 29"/>
          <p:cNvSpPr/>
          <p:nvPr/>
        </p:nvSpPr>
        <p:spPr>
          <a:xfrm>
            <a:off x="4402667" y="4387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40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NOTHING IS SENT</a:t>
            </a:r>
          </a:p>
          <a:p>
            <a:pPr>
              <a:lnSpc>
                <a:spcPct val="116667"/>
              </a:lnSpc>
              <a:spcAft>
                <a:spcPts val="0"/>
              </a:spcAft>
            </a:pPr>
            <a:r>
              <a:rPr sz="1200" b="0">
                <a:solidFill>
                  <a:srgbClr val="5C5C57"/>
                </a:solidFill>
                <a:latin typeface="Geist"/>
              </a:rPr>
              <a:t>The system logs outreach; a person sends it.</a:t>
            </a:r>
          </a:p>
        </p:txBody>
      </p:sp>
      <p:sp>
        <p:nvSpPr>
          <p:cNvPr id="32" name="Rectangle 31"/>
          <p:cNvSpPr/>
          <p:nvPr/>
        </p:nvSpPr>
        <p:spPr>
          <a:xfrm>
            <a:off x="7992533" y="43878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402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STATUS</a:t>
            </a:r>
          </a:p>
          <a:p>
            <a:pPr>
              <a:lnSpc>
                <a:spcPct val="116667"/>
              </a:lnSpc>
              <a:spcAft>
                <a:spcPts val="0"/>
              </a:spcAft>
            </a:pPr>
            <a:r>
              <a:rPr sz="1200" b="0">
                <a:solidFill>
                  <a:srgbClr val="5C5C57"/>
                </a:solidFill>
                <a:latin typeface="Geist"/>
              </a:rPr>
              <a:t>Steward Workflow covers the target operating model in part; each metric shows live, sample or not built.</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16</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Proxy voting: rules before judgment</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A recommendation is never a vote. Every proposal gets a human decision before anything is cast.</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Proxy statement</a:t>
            </a:r>
          </a:p>
          <a:p>
            <a:pPr>
              <a:lnSpc>
                <a:spcPct val="112500"/>
              </a:lnSpc>
              <a:spcAft>
                <a:spcPts val="0"/>
              </a:spcAft>
            </a:pPr>
            <a:r>
              <a:rPr sz="1200" b="0">
                <a:solidFill>
                  <a:srgbClr val="5C5C57"/>
                </a:solidFill>
                <a:latin typeface="Geist"/>
              </a:rPr>
              <a:t>DEF 14A from the document registry</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Proposals</a:t>
            </a:r>
          </a:p>
          <a:p>
            <a:pPr>
              <a:lnSpc>
                <a:spcPct val="112500"/>
              </a:lnSpc>
              <a:spcAft>
                <a:spcPts val="0"/>
              </a:spcAft>
            </a:pPr>
            <a:r>
              <a:rPr sz="1200" b="0">
                <a:solidFill>
                  <a:srgbClr val="5C5C57"/>
                </a:solidFill>
                <a:latin typeface="Geist"/>
              </a:rPr>
              <a:t>One extraction pass, citations grounded</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House rules</a:t>
            </a:r>
          </a:p>
          <a:p>
            <a:pPr>
              <a:lnSpc>
                <a:spcPct val="112500"/>
              </a:lnSpc>
              <a:spcAft>
                <a:spcPts val="0"/>
              </a:spcAft>
            </a:pPr>
            <a:r>
              <a:rPr sz="1200" b="0">
                <a:solidFill>
                  <a:srgbClr val="5C5C57"/>
                </a:solidFill>
                <a:latin typeface="Geist"/>
              </a:rPr>
              <a:t>Ordered predicates on disclosed figures</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Judgment</a:t>
            </a:r>
          </a:p>
          <a:p>
            <a:pPr>
              <a:lnSpc>
                <a:spcPct val="112500"/>
              </a:lnSpc>
              <a:spcAft>
                <a:spcPts val="0"/>
              </a:spcAft>
            </a:pPr>
            <a:r>
              <a:rPr sz="1200" b="0">
                <a:solidFill>
                  <a:srgbClr val="5C5C57"/>
                </a:solidFill>
                <a:latin typeface="Geist"/>
              </a:rPr>
              <a:t>Only when no rule fires; cited rationale</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Cross-check</a:t>
            </a:r>
          </a:p>
          <a:p>
            <a:pPr>
              <a:lnSpc>
                <a:spcPct val="112500"/>
              </a:lnSpc>
              <a:spcAft>
                <a:spcPts val="0"/>
              </a:spcAft>
            </a:pPr>
            <a:r>
              <a:rPr sz="1200" b="0">
                <a:solidFill>
                  <a:srgbClr val="5C5C57"/>
                </a:solidFill>
                <a:latin typeface="Geist"/>
              </a:rPr>
              <a:t>Against the engagement record</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Decide</a:t>
            </a:r>
          </a:p>
          <a:p>
            <a:pPr>
              <a:lnSpc>
                <a:spcPct val="112500"/>
              </a:lnSpc>
              <a:spcAft>
                <a:spcPts val="0"/>
              </a:spcAft>
            </a:pPr>
            <a:r>
              <a:rPr sz="1200" b="0">
                <a:solidFill>
                  <a:srgbClr val="5C5C57"/>
                </a:solidFill>
                <a:latin typeface="Geist"/>
              </a:rPr>
              <a:t>Every proposal; a co-signer when flagged</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THE GATE</a:t>
            </a:r>
          </a:p>
          <a:p>
            <a:pPr>
              <a:lnSpc>
                <a:spcPct val="116667"/>
              </a:lnSpc>
              <a:spcAft>
                <a:spcPts val="0"/>
              </a:spcAft>
            </a:pPr>
            <a:r>
              <a:rPr sz="1200" b="0">
                <a:solidFill>
                  <a:srgbClr val="5C5C57"/>
                </a:solidFill>
                <a:latin typeface="Geist"/>
              </a:rPr>
              <a:t>Casting refuses without a human decision, and refuses a flagged vote without a different co-signer.</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CASTING TODAY</a:t>
            </a:r>
          </a:p>
          <a:p>
            <a:pPr>
              <a:lnSpc>
                <a:spcPct val="116667"/>
              </a:lnSpc>
              <a:spcAft>
                <a:spcPts val="0"/>
              </a:spcAft>
            </a:pPr>
            <a:r>
              <a:rPr sz="1200" b="0">
                <a:solidFill>
                  <a:srgbClr val="5C5C57"/>
                </a:solidFill>
                <a:latin typeface="Geist"/>
              </a:rPr>
              <a:t>Casting writes an instruction file; no voting platform is connected.</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Casting is idempotent and checkpointed, so a re-run never votes twice.</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17</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RFP answers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Fill an investor's questionnaire from the house's own approved answers, and return it in their file.</a:t>
            </a:r>
          </a:p>
        </p:txBody>
      </p:sp>
      <p:sp>
        <p:nvSpPr>
          <p:cNvPr id="5" name="Rectangle 4"/>
          <p:cNvSpPr/>
          <p:nvPr/>
        </p:nvSpPr>
        <p:spPr>
          <a:xfrm>
            <a:off x="812800" y="2159000"/>
            <a:ext cx="1612900" cy="20256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Answer library</a:t>
            </a:r>
          </a:p>
          <a:p>
            <a:pPr>
              <a:lnSpc>
                <a:spcPct val="112500"/>
              </a:lnSpc>
              <a:spcAft>
                <a:spcPts val="0"/>
              </a:spcAft>
            </a:pPr>
            <a:r>
              <a:rPr sz="1200" b="0">
                <a:solidFill>
                  <a:srgbClr val="5C5C57"/>
                </a:solidFill>
                <a:latin typeface="Geist"/>
              </a:rPr>
              <a:t>Past Word and Excel responses, verbatim</a:t>
            </a:r>
          </a:p>
        </p:txBody>
      </p:sp>
      <p:sp>
        <p:nvSpPr>
          <p:cNvPr id="8" name="TextBox 7"/>
          <p:cNvSpPr txBox="1"/>
          <p:nvPr/>
        </p:nvSpPr>
        <p:spPr>
          <a:xfrm>
            <a:off x="24257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Find questions</a:t>
            </a:r>
          </a:p>
          <a:p>
            <a:pPr>
              <a:lnSpc>
                <a:spcPct val="112500"/>
              </a:lnSpc>
              <a:spcAft>
                <a:spcPts val="0"/>
              </a:spcAft>
            </a:pPr>
            <a:r>
              <a:rPr sz="1200" b="0">
                <a:solidFill>
                  <a:srgbClr val="5C5C57"/>
                </a:solidFill>
                <a:latin typeface="Geist"/>
              </a:rPr>
              <a:t>Kept only where code can locate them</a:t>
            </a:r>
          </a:p>
        </p:txBody>
      </p:sp>
      <p:sp>
        <p:nvSpPr>
          <p:cNvPr id="12" name="TextBox 11"/>
          <p:cNvSpPr txBox="1"/>
          <p:nvPr/>
        </p:nvSpPr>
        <p:spPr>
          <a:xfrm>
            <a:off x="42164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Auto-fill</a:t>
            </a:r>
          </a:p>
          <a:p>
            <a:pPr>
              <a:lnSpc>
                <a:spcPct val="112500"/>
              </a:lnSpc>
              <a:spcAft>
                <a:spcPts val="0"/>
              </a:spcAft>
            </a:pPr>
            <a:r>
              <a:rPr sz="1200" b="0">
                <a:solidFill>
                  <a:srgbClr val="5C5C57"/>
                </a:solidFill>
                <a:latin typeface="Geist"/>
              </a:rPr>
              <a:t>Drafts from the top 8 library entries only</a:t>
            </a:r>
          </a:p>
        </p:txBody>
      </p:sp>
      <p:sp>
        <p:nvSpPr>
          <p:cNvPr id="16" name="TextBox 15"/>
          <p:cNvSpPr txBox="1"/>
          <p:nvPr/>
        </p:nvSpPr>
        <p:spPr>
          <a:xfrm>
            <a:off x="60071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Check</a:t>
            </a:r>
          </a:p>
          <a:p>
            <a:pPr>
              <a:lnSpc>
                <a:spcPct val="112500"/>
              </a:lnSpc>
              <a:spcAft>
                <a:spcPts val="0"/>
              </a:spcAft>
            </a:pPr>
            <a:r>
              <a:rPr sz="1200" b="0">
                <a:solidFill>
                  <a:srgbClr val="5C5C57"/>
                </a:solidFill>
                <a:latin typeface="Geist"/>
              </a:rPr>
              <a:t>Quotes grounded; numbers must appear in a source</a:t>
            </a:r>
          </a:p>
        </p:txBody>
      </p:sp>
      <p:sp>
        <p:nvSpPr>
          <p:cNvPr id="20" name="TextBox 19"/>
          <p:cNvSpPr txBox="1"/>
          <p:nvPr/>
        </p:nvSpPr>
        <p:spPr>
          <a:xfrm>
            <a:off x="77978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2025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Four-eyes</a:t>
            </a:r>
          </a:p>
          <a:p>
            <a:pPr>
              <a:lnSpc>
                <a:spcPct val="112500"/>
              </a:lnSpc>
              <a:spcAft>
                <a:spcPts val="0"/>
              </a:spcAft>
            </a:pPr>
            <a:r>
              <a:rPr sz="1200" b="0">
                <a:solidFill>
                  <a:srgbClr val="5C5C57"/>
                </a:solidFill>
                <a:latin typeface="Geist"/>
              </a:rPr>
              <a:t>Approver is not the last editor</a:t>
            </a:r>
          </a:p>
        </p:txBody>
      </p:sp>
      <p:sp>
        <p:nvSpPr>
          <p:cNvPr id="24" name="TextBox 23"/>
          <p:cNvSpPr txBox="1"/>
          <p:nvPr/>
        </p:nvSpPr>
        <p:spPr>
          <a:xfrm>
            <a:off x="9588500" y="2159000"/>
            <a:ext cx="177800" cy="202565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202565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69545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Export</a:t>
            </a:r>
          </a:p>
          <a:p>
            <a:pPr>
              <a:lnSpc>
                <a:spcPct val="112500"/>
              </a:lnSpc>
              <a:spcAft>
                <a:spcPts val="0"/>
              </a:spcAft>
            </a:pPr>
            <a:r>
              <a:rPr sz="1200" b="0">
                <a:solidFill>
                  <a:srgbClr val="5C5C57"/>
                </a:solidFill>
                <a:latin typeface="Geist"/>
              </a:rPr>
              <a:t>Approved answers in the investor's own file</a:t>
            </a:r>
          </a:p>
        </p:txBody>
      </p:sp>
      <p:sp>
        <p:nvSpPr>
          <p:cNvPr id="28" name="Rectangle 27"/>
          <p:cNvSpPr/>
          <p:nvPr/>
        </p:nvSpPr>
        <p:spPr>
          <a:xfrm>
            <a:off x="812800"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LIBRARY</a:t>
            </a:r>
          </a:p>
          <a:p>
            <a:pPr>
              <a:lnSpc>
                <a:spcPct val="116667"/>
              </a:lnSpc>
              <a:spcAft>
                <a:spcPts val="0"/>
              </a:spcAft>
            </a:pPr>
            <a:r>
              <a:rPr sz="1200" b="0">
                <a:solidFill>
                  <a:srgbClr val="5C5C57"/>
                </a:solidFill>
                <a:latin typeface="Geist"/>
              </a:rPr>
              <a:t>Approved answers go back into the library with a review-by date 12 months out.</a:t>
            </a:r>
          </a:p>
        </p:txBody>
      </p:sp>
      <p:sp>
        <p:nvSpPr>
          <p:cNvPr id="30" name="Rectangle 29"/>
          <p:cNvSpPr/>
          <p:nvPr/>
        </p:nvSpPr>
        <p:spPr>
          <a:xfrm>
            <a:off x="4402667"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FLAGS</a:t>
            </a:r>
          </a:p>
          <a:p>
            <a:pPr>
              <a:lnSpc>
                <a:spcPct val="116667"/>
              </a:lnSpc>
              <a:spcAft>
                <a:spcPts val="0"/>
              </a:spcAft>
            </a:pPr>
            <a:r>
              <a:rPr sz="1200" b="0">
                <a:solidFill>
                  <a:srgbClr val="5C5C57"/>
                </a:solidFill>
                <a:latin typeface="Geist"/>
              </a:rPr>
              <a:t>Every flag, such as 'check figure' or 'stale source', must be confirmed by the approver.</a:t>
            </a:r>
          </a:p>
        </p:txBody>
      </p:sp>
      <p:sp>
        <p:nvSpPr>
          <p:cNvPr id="32" name="Rectangle 31"/>
          <p:cNvSpPr/>
          <p:nvPr/>
        </p:nvSpPr>
        <p:spPr>
          <a:xfrm>
            <a:off x="7992533" y="436245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51485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A draft with an unsupported number is discarded. Library edits are approver-only.</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ANALYSE AND DECIDE · 18</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Reports, house decks and dashboards</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The model plans the story; renderers and Superset produce every page and every number.</a:t>
            </a:r>
          </a:p>
        </p:txBody>
      </p:sp>
      <p:sp>
        <p:nvSpPr>
          <p:cNvPr id="5" name="Rectangle 4"/>
          <p:cNvSpPr/>
          <p:nvPr/>
        </p:nvSpPr>
        <p:spPr>
          <a:xfrm>
            <a:off x="8128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INPUT</a:t>
            </a:r>
          </a:p>
          <a:p>
            <a:pPr>
              <a:lnSpc>
                <a:spcPct val="100000"/>
              </a:lnSpc>
              <a:spcAft>
                <a:spcPts val="500"/>
              </a:spcAft>
            </a:pPr>
            <a:r>
              <a:rPr sz="1400" b="1">
                <a:solidFill>
                  <a:srgbClr val="141414"/>
                </a:solidFill>
                <a:latin typeface="Geist"/>
              </a:rPr>
              <a:t>Stored outputs</a:t>
            </a:r>
          </a:p>
          <a:p>
            <a:pPr>
              <a:lnSpc>
                <a:spcPct val="112500"/>
              </a:lnSpc>
              <a:spcAft>
                <a:spcPts val="0"/>
              </a:spcAft>
            </a:pPr>
            <a:r>
              <a:rPr sz="1200" b="0">
                <a:solidFill>
                  <a:srgbClr val="5C5C57"/>
                </a:solidFill>
                <a:latin typeface="Geist"/>
              </a:rPr>
              <a:t>Runs and decisions from the catalogue</a:t>
            </a:r>
          </a:p>
        </p:txBody>
      </p:sp>
      <p:sp>
        <p:nvSpPr>
          <p:cNvPr id="8" name="TextBox 7"/>
          <p:cNvSpPr txBox="1"/>
          <p:nvPr/>
        </p:nvSpPr>
        <p:spPr>
          <a:xfrm>
            <a:off x="24257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9" name="Rectangle 8"/>
          <p:cNvSpPr/>
          <p:nvPr/>
        </p:nvSpPr>
        <p:spPr>
          <a:xfrm>
            <a:off x="26035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6035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559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Storyline</a:t>
            </a:r>
          </a:p>
          <a:p>
            <a:pPr>
              <a:lnSpc>
                <a:spcPct val="112500"/>
              </a:lnSpc>
              <a:spcAft>
                <a:spcPts val="0"/>
              </a:spcAft>
            </a:pPr>
            <a:r>
              <a:rPr sz="1200" b="0">
                <a:solidFill>
                  <a:srgbClr val="5C5C57"/>
                </a:solidFill>
                <a:latin typeface="Geist"/>
              </a:rPr>
              <a:t>A drafted plan of slides</a:t>
            </a:r>
          </a:p>
        </p:txBody>
      </p:sp>
      <p:sp>
        <p:nvSpPr>
          <p:cNvPr id="12" name="TextBox 11"/>
          <p:cNvSpPr txBox="1"/>
          <p:nvPr/>
        </p:nvSpPr>
        <p:spPr>
          <a:xfrm>
            <a:off x="42164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3" name="Rectangle 12"/>
          <p:cNvSpPr/>
          <p:nvPr/>
        </p:nvSpPr>
        <p:spPr>
          <a:xfrm>
            <a:off x="43942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4200" y="2159000"/>
            <a:ext cx="1612900" cy="25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66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F5FA8"/>
                </a:solidFill>
                <a:latin typeface="Geist Mono"/>
              </a:rPr>
              <a:t>PERSON</a:t>
            </a:r>
          </a:p>
          <a:p>
            <a:pPr>
              <a:lnSpc>
                <a:spcPct val="100000"/>
              </a:lnSpc>
              <a:spcAft>
                <a:spcPts val="500"/>
              </a:spcAft>
            </a:pPr>
            <a:r>
              <a:rPr sz="1400" b="1">
                <a:solidFill>
                  <a:srgbClr val="141414"/>
                </a:solidFill>
                <a:latin typeface="Geist"/>
              </a:rPr>
              <a:t>Approve</a:t>
            </a:r>
          </a:p>
          <a:p>
            <a:pPr>
              <a:lnSpc>
                <a:spcPct val="112500"/>
              </a:lnSpc>
              <a:spcAft>
                <a:spcPts val="0"/>
              </a:spcAft>
            </a:pPr>
            <a:r>
              <a:rPr sz="1200" b="0">
                <a:solidFill>
                  <a:srgbClr val="5C5C57"/>
                </a:solidFill>
                <a:latin typeface="Geist"/>
              </a:rPr>
              <a:t>Edit or accept the storyline</a:t>
            </a:r>
          </a:p>
        </p:txBody>
      </p:sp>
      <p:sp>
        <p:nvSpPr>
          <p:cNvPr id="16" name="TextBox 15"/>
          <p:cNvSpPr txBox="1"/>
          <p:nvPr/>
        </p:nvSpPr>
        <p:spPr>
          <a:xfrm>
            <a:off x="60071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17" name="Rectangle 16"/>
          <p:cNvSpPr/>
          <p:nvPr/>
        </p:nvSpPr>
        <p:spPr>
          <a:xfrm>
            <a:off x="61849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4900" y="2159000"/>
            <a:ext cx="1612900"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373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B8400F"/>
                </a:solidFill>
                <a:latin typeface="Geist Mono"/>
              </a:rPr>
              <a:t>LLM</a:t>
            </a:r>
          </a:p>
          <a:p>
            <a:pPr>
              <a:lnSpc>
                <a:spcPct val="100000"/>
              </a:lnSpc>
              <a:spcAft>
                <a:spcPts val="500"/>
              </a:spcAft>
            </a:pPr>
            <a:r>
              <a:rPr sz="1400" b="1">
                <a:solidFill>
                  <a:srgbClr val="141414"/>
                </a:solidFill>
                <a:latin typeface="Geist"/>
              </a:rPr>
              <a:t>Fill and check</a:t>
            </a:r>
          </a:p>
          <a:p>
            <a:pPr>
              <a:lnSpc>
                <a:spcPct val="112500"/>
              </a:lnSpc>
              <a:spcAft>
                <a:spcPts val="0"/>
              </a:spcAft>
            </a:pPr>
            <a:r>
              <a:rPr sz="1200" b="0">
                <a:solidFill>
                  <a:srgbClr val="5C5C57"/>
                </a:solidFill>
                <a:latin typeface="Geist"/>
              </a:rPr>
              <a:t>Each slide filled, linted, fitted, checked</a:t>
            </a:r>
          </a:p>
        </p:txBody>
      </p:sp>
      <p:sp>
        <p:nvSpPr>
          <p:cNvPr id="20" name="TextBox 19"/>
          <p:cNvSpPr txBox="1"/>
          <p:nvPr/>
        </p:nvSpPr>
        <p:spPr>
          <a:xfrm>
            <a:off x="77978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1" name="Rectangle 20"/>
          <p:cNvSpPr/>
          <p:nvPr/>
        </p:nvSpPr>
        <p:spPr>
          <a:xfrm>
            <a:off x="7975600" y="2159000"/>
            <a:ext cx="1612900" cy="18034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5600" y="2159000"/>
            <a:ext cx="1612900"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80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CODE</a:t>
            </a:r>
          </a:p>
          <a:p>
            <a:pPr>
              <a:lnSpc>
                <a:spcPct val="100000"/>
              </a:lnSpc>
              <a:spcAft>
                <a:spcPts val="500"/>
              </a:spcAft>
            </a:pPr>
            <a:r>
              <a:rPr sz="1400" b="1">
                <a:solidFill>
                  <a:srgbClr val="141414"/>
                </a:solidFill>
                <a:latin typeface="Geist"/>
              </a:rPr>
              <a:t>Render</a:t>
            </a:r>
          </a:p>
          <a:p>
            <a:pPr>
              <a:lnSpc>
                <a:spcPct val="112500"/>
              </a:lnSpc>
              <a:spcAft>
                <a:spcPts val="0"/>
              </a:spcAft>
            </a:pPr>
            <a:r>
              <a:rPr sz="1200" b="0">
                <a:solidFill>
                  <a:srgbClr val="5C5C57"/>
                </a:solidFill>
                <a:latin typeface="Geist"/>
              </a:rPr>
              <a:t>PPTX, PDF and DOCX in the house style</a:t>
            </a:r>
          </a:p>
        </p:txBody>
      </p:sp>
      <p:sp>
        <p:nvSpPr>
          <p:cNvPr id="24" name="TextBox 23"/>
          <p:cNvSpPr txBox="1"/>
          <p:nvPr/>
        </p:nvSpPr>
        <p:spPr>
          <a:xfrm>
            <a:off x="9588500" y="2159000"/>
            <a:ext cx="177800" cy="1803400"/>
          </a:xfrm>
          <a:prstGeom prst="rect">
            <a:avLst/>
          </a:prstGeom>
          <a:noFill/>
        </p:spPr>
        <p:txBody>
          <a:bodyPr wrap="square" lIns="0" rIns="0" tIns="0" bIns="0" anchor="ctr">
            <a:spAutoFit/>
          </a:bodyPr>
          <a:lstStyle/>
          <a:p>
            <a:pPr algn="ctr">
              <a:lnSpc>
                <a:spcPct val="83333"/>
              </a:lnSpc>
              <a:spcAft>
                <a:spcPts val="0"/>
              </a:spcAft>
            </a:pPr>
            <a:r>
              <a:rPr sz="1600" b="0">
                <a:solidFill>
                  <a:srgbClr val="5C5C57"/>
                </a:solidFill>
                <a:latin typeface="Geist"/>
              </a:rPr>
              <a:t>→</a:t>
            </a:r>
          </a:p>
        </p:txBody>
      </p:sp>
      <p:sp>
        <p:nvSpPr>
          <p:cNvPr id="25" name="Rectangle 24"/>
          <p:cNvSpPr/>
          <p:nvPr/>
        </p:nvSpPr>
        <p:spPr>
          <a:xfrm>
            <a:off x="9766300" y="2159000"/>
            <a:ext cx="1612900" cy="1803400"/>
          </a:xfrm>
          <a:prstGeom prst="rect">
            <a:avLst/>
          </a:prstGeom>
          <a:solidFill>
            <a:srgbClr val="F3F3F0"/>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66300" y="2159000"/>
            <a:ext cx="1612900" cy="25400"/>
          </a:xfrm>
          <a:prstGeom prst="rect">
            <a:avLst/>
          </a:prstGeom>
          <a:solidFill>
            <a:srgbClr val="DCD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18700" y="2336800"/>
            <a:ext cx="1308100" cy="14732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OUTPUT</a:t>
            </a:r>
          </a:p>
          <a:p>
            <a:pPr>
              <a:lnSpc>
                <a:spcPct val="100000"/>
              </a:lnSpc>
              <a:spcAft>
                <a:spcPts val="500"/>
              </a:spcAft>
            </a:pPr>
            <a:r>
              <a:rPr sz="1400" b="1">
                <a:solidFill>
                  <a:srgbClr val="141414"/>
                </a:solidFill>
                <a:latin typeface="Geist"/>
              </a:rPr>
              <a:t>Deck or report</a:t>
            </a:r>
          </a:p>
          <a:p>
            <a:pPr>
              <a:lnSpc>
                <a:spcPct val="112500"/>
              </a:lnSpc>
              <a:spcAft>
                <a:spcPts val="0"/>
              </a:spcAft>
            </a:pPr>
            <a:r>
              <a:rPr sz="1200" b="0">
                <a:solidFill>
                  <a:srgbClr val="5C5C57"/>
                </a:solidFill>
                <a:latin typeface="Geist"/>
              </a:rPr>
              <a:t>Re-runnable on fresh pipeline data</a:t>
            </a:r>
          </a:p>
        </p:txBody>
      </p:sp>
      <p:sp>
        <p:nvSpPr>
          <p:cNvPr id="28" name="Rectangle 27"/>
          <p:cNvSpPr/>
          <p:nvPr/>
        </p:nvSpPr>
        <p:spPr>
          <a:xfrm>
            <a:off x="812800"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5200"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SUPERSET BI</a:t>
            </a:r>
          </a:p>
          <a:p>
            <a:pPr>
              <a:lnSpc>
                <a:spcPct val="116667"/>
              </a:lnSpc>
              <a:spcAft>
                <a:spcPts val="0"/>
              </a:spcAft>
            </a:pPr>
            <a:r>
              <a:rPr sz="1200" b="0">
                <a:solidFill>
                  <a:srgbClr val="5C5C57"/>
                </a:solidFill>
                <a:latin typeface="Geist"/>
              </a:rPr>
              <a:t>Describe a dashboard in words: the plan comes from a closed catalogue, code compiles it, Superset computes.</a:t>
            </a:r>
          </a:p>
        </p:txBody>
      </p:sp>
      <p:sp>
        <p:nvSpPr>
          <p:cNvPr id="30" name="Rectangle 29"/>
          <p:cNvSpPr/>
          <p:nvPr/>
        </p:nvSpPr>
        <p:spPr>
          <a:xfrm>
            <a:off x="4402667"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55067"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TEMPLATES</a:t>
            </a:r>
          </a:p>
          <a:p>
            <a:pPr>
              <a:lnSpc>
                <a:spcPct val="116667"/>
              </a:lnSpc>
              <a:spcAft>
                <a:spcPts val="0"/>
              </a:spcAft>
            </a:pPr>
            <a:r>
              <a:rPr sz="1200" b="0">
                <a:solidFill>
                  <a:srgbClr val="5C5C57"/>
                </a:solidFill>
                <a:latin typeface="Geist"/>
              </a:rPr>
              <a:t>An ingested .pptx template's layouts, colours and fonts are reused.</a:t>
            </a:r>
          </a:p>
        </p:txBody>
      </p:sp>
      <p:sp>
        <p:nvSpPr>
          <p:cNvPr id="32" name="Rectangle 31"/>
          <p:cNvSpPr/>
          <p:nvPr/>
        </p:nvSpPr>
        <p:spPr>
          <a:xfrm>
            <a:off x="7992533" y="4140200"/>
            <a:ext cx="3386667" cy="12763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44933" y="4292600"/>
            <a:ext cx="3081867" cy="971550"/>
          </a:xfrm>
          <a:prstGeom prst="rect">
            <a:avLst/>
          </a:prstGeom>
          <a:noFill/>
        </p:spPr>
        <p:txBody>
          <a:bodyPr wrap="square" lIns="0" rIns="0" tIns="0" bIns="0" anchor="t">
            <a:spAutoFit/>
          </a:bodyPr>
          <a:lstStyle/>
          <a:p>
            <a:pPr>
              <a:lnSpc>
                <a:spcPct val="108333"/>
              </a:lnSpc>
              <a:spcAft>
                <a:spcPts val="500"/>
              </a:spcAft>
            </a:pPr>
            <a:r>
              <a:rPr sz="1200" b="0">
                <a:solidFill>
                  <a:srgbClr val="141414"/>
                </a:solidFill>
                <a:latin typeface="Geist Mono"/>
              </a:rPr>
              <a:t>CONTROLS</a:t>
            </a:r>
          </a:p>
          <a:p>
            <a:pPr>
              <a:lnSpc>
                <a:spcPct val="116667"/>
              </a:lnSpc>
              <a:spcAft>
                <a:spcPts val="0"/>
              </a:spcAft>
            </a:pPr>
            <a:r>
              <a:rPr sz="1200" b="0">
                <a:solidFill>
                  <a:srgbClr val="5C5C57"/>
                </a:solidFill>
                <a:latin typeface="Geist"/>
              </a:rPr>
              <a:t>BI commentary is checked figure by figure. The model never writes SQL or sees a number.</a:t>
            </a:r>
          </a:p>
        </p:txBody>
      </p:sp>
      <p:sp>
        <p:nvSpPr>
          <p:cNvPr id="34" name="TextBox 33"/>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35" name="TextBox 3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3F0"/>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CONTROLS</a:t>
            </a:r>
          </a:p>
        </p:txBody>
      </p:sp>
      <p:sp>
        <p:nvSpPr>
          <p:cNvPr id="3" name="TextBox 2"/>
          <p:cNvSpPr txBox="1"/>
          <p:nvPr/>
        </p:nvSpPr>
        <p:spPr>
          <a:xfrm>
            <a:off x="812800" y="1136650"/>
            <a:ext cx="10566400" cy="419100"/>
          </a:xfrm>
          <a:prstGeom prst="rect">
            <a:avLst/>
          </a:prstGeom>
          <a:noFill/>
        </p:spPr>
        <p:txBody>
          <a:bodyPr wrap="square" lIns="0" rIns="0" tIns="0" bIns="0" anchor="t">
            <a:spAutoFit/>
          </a:bodyPr>
          <a:lstStyle/>
          <a:p>
            <a:pPr>
              <a:lnSpc>
                <a:spcPct val="91667"/>
              </a:lnSpc>
              <a:spcAft>
                <a:spcPts val="0"/>
              </a:spcAft>
            </a:pPr>
            <a:r>
              <a:rPr sz="3000" b="1">
                <a:solidFill>
                  <a:srgbClr val="141414"/>
                </a:solidFill>
                <a:latin typeface="Geist"/>
              </a:rPr>
              <a:t>Why the numbers hold</a:t>
            </a:r>
          </a:p>
        </p:txBody>
      </p:sp>
      <p:sp>
        <p:nvSpPr>
          <p:cNvPr id="4" name="TextBox 3"/>
          <p:cNvSpPr txBox="1"/>
          <p:nvPr/>
        </p:nvSpPr>
        <p:spPr>
          <a:xfrm>
            <a:off x="812800" y="168275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5C5C57"/>
                </a:solidFill>
                <a:latin typeface="Geist"/>
              </a:rPr>
              <a:t>The three principles from the opening slide, and what enforces each one in the code.</a:t>
            </a:r>
          </a:p>
        </p:txBody>
      </p:sp>
      <p:sp>
        <p:nvSpPr>
          <p:cNvPr id="5" name="Rectangle 4"/>
          <p:cNvSpPr/>
          <p:nvPr/>
        </p:nvSpPr>
        <p:spPr>
          <a:xfrm>
            <a:off x="812800" y="2159000"/>
            <a:ext cx="3420533" cy="2152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3420533"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5200" y="2336800"/>
            <a:ext cx="3115733" cy="1822450"/>
          </a:xfrm>
          <a:prstGeom prst="rect">
            <a:avLst/>
          </a:prstGeom>
          <a:noFill/>
        </p:spPr>
        <p:txBody>
          <a:bodyPr wrap="square" lIns="0" rIns="0" tIns="0" bIns="0" anchor="t">
            <a:spAutoFit/>
          </a:bodyPr>
          <a:lstStyle/>
          <a:p>
            <a:pPr>
              <a:lnSpc>
                <a:spcPct val="100000"/>
              </a:lnSpc>
              <a:spcAft>
                <a:spcPts val="500"/>
              </a:spcAft>
            </a:pPr>
            <a:r>
              <a:rPr sz="1600" b="1">
                <a:solidFill>
                  <a:srgbClr val="141414"/>
                </a:solidFill>
                <a:latin typeface="Geist"/>
              </a:rPr>
              <a:t>The LLM plans, code computes</a:t>
            </a:r>
          </a:p>
          <a:p>
            <a:pPr>
              <a:lnSpc>
                <a:spcPct val="116667"/>
              </a:lnSpc>
              <a:spcAft>
                <a:spcPts val="600"/>
              </a:spcAft>
            </a:pPr>
            <a:r>
              <a:rPr sz="1200" b="0">
                <a:solidFill>
                  <a:srgbClr val="5C5C57"/>
                </a:solidFill>
                <a:latin typeface="Geist"/>
              </a:rPr>
              <a:t>Aggregates, scores, index weights, backtests and alignment checks are plain code.</a:t>
            </a:r>
          </a:p>
          <a:p>
            <a:pPr>
              <a:lnSpc>
                <a:spcPct val="116667"/>
              </a:lnSpc>
              <a:spcAft>
                <a:spcPts val="0"/>
              </a:spcAft>
            </a:pPr>
            <a:r>
              <a:rPr sz="1200" b="0">
                <a:solidFill>
                  <a:srgbClr val="141414"/>
                </a:solidFill>
                <a:latin typeface="Geist"/>
              </a:rPr>
              <a:t>Ask ARP routes questions; it never sees rows.</a:t>
            </a:r>
          </a:p>
        </p:txBody>
      </p:sp>
      <p:sp>
        <p:nvSpPr>
          <p:cNvPr id="8" name="Rectangle 7"/>
          <p:cNvSpPr/>
          <p:nvPr/>
        </p:nvSpPr>
        <p:spPr>
          <a:xfrm>
            <a:off x="4385733" y="2159000"/>
            <a:ext cx="3420533" cy="2152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85733" y="2159000"/>
            <a:ext cx="3420533" cy="25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8133" y="2336800"/>
            <a:ext cx="3115733" cy="1822450"/>
          </a:xfrm>
          <a:prstGeom prst="rect">
            <a:avLst/>
          </a:prstGeom>
          <a:noFill/>
        </p:spPr>
        <p:txBody>
          <a:bodyPr wrap="square" lIns="0" rIns="0" tIns="0" bIns="0" anchor="t">
            <a:spAutoFit/>
          </a:bodyPr>
          <a:lstStyle/>
          <a:p>
            <a:pPr>
              <a:lnSpc>
                <a:spcPct val="100000"/>
              </a:lnSpc>
              <a:spcAft>
                <a:spcPts val="500"/>
              </a:spcAft>
            </a:pPr>
            <a:r>
              <a:rPr sz="1600" b="1">
                <a:solidFill>
                  <a:srgbClr val="141414"/>
                </a:solidFill>
                <a:latin typeface="Geist"/>
              </a:rPr>
              <a:t>Every citation is checked</a:t>
            </a:r>
          </a:p>
          <a:p>
            <a:pPr>
              <a:lnSpc>
                <a:spcPct val="116667"/>
              </a:lnSpc>
              <a:spcAft>
                <a:spcPts val="600"/>
              </a:spcAft>
            </a:pPr>
            <a:r>
              <a:rPr sz="1200" b="0">
                <a:solidFill>
                  <a:srgbClr val="5C5C57"/>
                </a:solidFill>
                <a:latin typeface="Geist"/>
              </a:rPr>
              <a:t>Quotes are re-matched in code; the verifier runs on a different model.</a:t>
            </a:r>
          </a:p>
          <a:p>
            <a:pPr>
              <a:lnSpc>
                <a:spcPct val="116667"/>
              </a:lnSpc>
              <a:spcAft>
                <a:spcPts val="0"/>
              </a:spcAft>
            </a:pPr>
            <a:r>
              <a:rPr sz="1200" b="0">
                <a:solidFill>
                  <a:srgbClr val="141414"/>
                </a:solidFill>
                <a:latin typeface="Geist"/>
              </a:rPr>
              <a:t>A golden set replays the pipeline before changes ship.</a:t>
            </a:r>
          </a:p>
        </p:txBody>
      </p:sp>
      <p:sp>
        <p:nvSpPr>
          <p:cNvPr id="11" name="Rectangle 10"/>
          <p:cNvSpPr/>
          <p:nvPr/>
        </p:nvSpPr>
        <p:spPr>
          <a:xfrm>
            <a:off x="7958667" y="2159000"/>
            <a:ext cx="3420533" cy="215265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958667" y="2159000"/>
            <a:ext cx="3420533" cy="25400"/>
          </a:xfrm>
          <a:prstGeom prst="rect">
            <a:avLst/>
          </a:prstGeom>
          <a:solidFill>
            <a:srgbClr val="EA4C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1067" y="2336800"/>
            <a:ext cx="3115733" cy="1822450"/>
          </a:xfrm>
          <a:prstGeom prst="rect">
            <a:avLst/>
          </a:prstGeom>
          <a:noFill/>
        </p:spPr>
        <p:txBody>
          <a:bodyPr wrap="square" lIns="0" rIns="0" tIns="0" bIns="0" anchor="t">
            <a:spAutoFit/>
          </a:bodyPr>
          <a:lstStyle/>
          <a:p>
            <a:pPr>
              <a:lnSpc>
                <a:spcPct val="100000"/>
              </a:lnSpc>
              <a:spcAft>
                <a:spcPts val="500"/>
              </a:spcAft>
            </a:pPr>
            <a:r>
              <a:rPr sz="1600" b="1">
                <a:solidFill>
                  <a:srgbClr val="141414"/>
                </a:solidFill>
                <a:latin typeface="Geist"/>
              </a:rPr>
              <a:t>Agents propose, people ratify</a:t>
            </a:r>
          </a:p>
          <a:p>
            <a:pPr>
              <a:lnSpc>
                <a:spcPct val="116667"/>
              </a:lnSpc>
              <a:spcAft>
                <a:spcPts val="600"/>
              </a:spcAft>
            </a:pPr>
            <a:r>
              <a:rPr sz="1200" b="0">
                <a:solidFill>
                  <a:srgbClr val="5C5C57"/>
                </a:solidFill>
                <a:latin typeface="Geist"/>
              </a:rPr>
              <a:t>Review queue, four-eyes approval, signed rule books and benchmarks.</a:t>
            </a:r>
          </a:p>
          <a:p>
            <a:pPr>
              <a:lnSpc>
                <a:spcPct val="116667"/>
              </a:lnSpc>
              <a:spcAft>
                <a:spcPts val="0"/>
              </a:spcAft>
            </a:pPr>
            <a:r>
              <a:rPr sz="1200" b="0">
                <a:solidFill>
                  <a:srgbClr val="141414"/>
                </a:solidFill>
                <a:latin typeface="Geist"/>
              </a:rPr>
              <a:t>Only an approver publishes; facts read as of a date.</a:t>
            </a:r>
          </a:p>
        </p:txBody>
      </p:sp>
      <p:sp>
        <p:nvSpPr>
          <p:cNvPr id="14" name="Rectangle 13"/>
          <p:cNvSpPr/>
          <p:nvPr/>
        </p:nvSpPr>
        <p:spPr>
          <a:xfrm>
            <a:off x="812800" y="4464050"/>
            <a:ext cx="3420533" cy="13716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200" y="4616450"/>
            <a:ext cx="3115733" cy="10668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RUNS</a:t>
            </a:r>
          </a:p>
          <a:p>
            <a:pPr>
              <a:lnSpc>
                <a:spcPct val="100000"/>
              </a:lnSpc>
              <a:spcAft>
                <a:spcPts val="500"/>
              </a:spcAft>
            </a:pPr>
            <a:r>
              <a:rPr sz="1400" b="1">
                <a:solidFill>
                  <a:srgbClr val="141414"/>
                </a:solidFill>
                <a:latin typeface="Geist"/>
              </a:rPr>
              <a:t>Resumable</a:t>
            </a:r>
          </a:p>
          <a:p>
            <a:pPr>
              <a:lnSpc>
                <a:spcPct val="116667"/>
              </a:lnSpc>
              <a:spcAft>
                <a:spcPts val="0"/>
              </a:spcAft>
            </a:pPr>
            <a:r>
              <a:rPr sz="1200" b="0">
                <a:solidFill>
                  <a:srgbClr val="5C5C57"/>
                </a:solidFill>
                <a:latin typeface="Geist"/>
              </a:rPr>
              <a:t>Each company commits as it finishes; a resume skips what is stored.</a:t>
            </a:r>
          </a:p>
        </p:txBody>
      </p:sp>
      <p:sp>
        <p:nvSpPr>
          <p:cNvPr id="16" name="Rectangle 15"/>
          <p:cNvSpPr/>
          <p:nvPr/>
        </p:nvSpPr>
        <p:spPr>
          <a:xfrm>
            <a:off x="4385733" y="4464050"/>
            <a:ext cx="3420533" cy="13716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8133" y="4616450"/>
            <a:ext cx="3115733" cy="10668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COST</a:t>
            </a:r>
          </a:p>
          <a:p>
            <a:pPr>
              <a:lnSpc>
                <a:spcPct val="100000"/>
              </a:lnSpc>
              <a:spcAft>
                <a:spcPts val="500"/>
              </a:spcAft>
            </a:pPr>
            <a:r>
              <a:rPr sz="1400" b="1">
                <a:solidFill>
                  <a:srgbClr val="141414"/>
                </a:solidFill>
                <a:latin typeface="Geist"/>
              </a:rPr>
              <a:t>Batch and run modes</a:t>
            </a:r>
          </a:p>
          <a:p>
            <a:pPr>
              <a:lnSpc>
                <a:spcPct val="116667"/>
              </a:lnSpc>
              <a:spcAft>
                <a:spcPts val="0"/>
              </a:spcAft>
            </a:pPr>
            <a:r>
              <a:rPr sz="1200" b="0">
                <a:solidFill>
                  <a:srgbClr val="5C5C57"/>
                </a:solidFill>
                <a:latin typeface="Geist"/>
              </a:rPr>
              <a:t>Batch mode halves background model cost; cheap, normal or max.</a:t>
            </a:r>
          </a:p>
        </p:txBody>
      </p:sp>
      <p:sp>
        <p:nvSpPr>
          <p:cNvPr id="18" name="Rectangle 17"/>
          <p:cNvSpPr/>
          <p:nvPr/>
        </p:nvSpPr>
        <p:spPr>
          <a:xfrm>
            <a:off x="7958667" y="4464050"/>
            <a:ext cx="3420533" cy="1371600"/>
          </a:xfrm>
          <a:prstGeom prst="rect">
            <a:avLst/>
          </a:prstGeom>
          <a:solidFill>
            <a:srgbClr val="FFFFFF"/>
          </a:solidFill>
          <a:ln w="9525">
            <a:solidFill>
              <a:srgbClr val="DCDC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1067" y="4616450"/>
            <a:ext cx="3115733" cy="1066800"/>
          </a:xfrm>
          <a:prstGeom prst="rect">
            <a:avLst/>
          </a:prstGeom>
          <a:noFill/>
        </p:spPr>
        <p:txBody>
          <a:bodyPr wrap="square" lIns="0" rIns="0" tIns="0" bIns="0" anchor="t">
            <a:spAutoFit/>
          </a:bodyPr>
          <a:lstStyle/>
          <a:p>
            <a:pPr>
              <a:lnSpc>
                <a:spcPct val="108333"/>
              </a:lnSpc>
              <a:spcAft>
                <a:spcPts val="500"/>
              </a:spcAft>
            </a:pPr>
            <a:r>
              <a:rPr sz="1200" b="0">
                <a:solidFill>
                  <a:srgbClr val="5C5C57"/>
                </a:solidFill>
                <a:latin typeface="Geist Mono"/>
              </a:rPr>
              <a:t>PROCESS</a:t>
            </a:r>
          </a:p>
          <a:p>
            <a:pPr>
              <a:lnSpc>
                <a:spcPct val="100000"/>
              </a:lnSpc>
              <a:spcAft>
                <a:spcPts val="500"/>
              </a:spcAft>
            </a:pPr>
            <a:r>
              <a:rPr sz="1400" b="1">
                <a:solidFill>
                  <a:srgbClr val="141414"/>
                </a:solidFill>
                <a:latin typeface="Geist"/>
              </a:rPr>
              <a:t>Software factory</a:t>
            </a:r>
          </a:p>
          <a:p>
            <a:pPr>
              <a:lnSpc>
                <a:spcPct val="116667"/>
              </a:lnSpc>
              <a:spcAft>
                <a:spcPts val="0"/>
              </a:spcAft>
            </a:pPr>
            <a:r>
              <a:rPr sz="1200" b="0">
                <a:solidFill>
                  <a:srgbClr val="5C5C57"/>
                </a:solidFill>
                <a:latin typeface="Geist"/>
              </a:rPr>
              <a:t>Acceptance tables, hidden tests, mutation checks, a main guard.</a:t>
            </a:r>
          </a:p>
        </p:txBody>
      </p:sp>
      <p:sp>
        <p:nvSpPr>
          <p:cNvPr id="20" name="TextBox 19"/>
          <p:cNvSpPr txBox="1"/>
          <p:nvPr/>
        </p:nvSpPr>
        <p:spPr>
          <a:xfrm>
            <a:off x="812800" y="6254750"/>
            <a:ext cx="7620000" cy="196850"/>
          </a:xfrm>
          <a:prstGeom prst="rect">
            <a:avLst/>
          </a:prstGeom>
          <a:noFill/>
        </p:spPr>
        <p:txBody>
          <a:bodyPr wrap="square" lIns="0" rIns="0" tIns="0" bIns="0" anchor="t">
            <a:spAutoFit/>
          </a:bodyPr>
          <a:lstStyle/>
          <a:p>
            <a:pPr>
              <a:lnSpc>
                <a:spcPct val="108333"/>
              </a:lnSpc>
              <a:spcAft>
                <a:spcPts val="0"/>
              </a:spcAft>
            </a:pPr>
            <a:r>
              <a:rPr sz="1200" b="0">
                <a:solidFill>
                  <a:srgbClr val="5C5C57"/>
                </a:solidFill>
                <a:latin typeface="Geist Mono"/>
              </a:rPr>
              <a:t>ARP · FUNCTIONS AND ARCHITECTURE</a:t>
            </a:r>
          </a:p>
        </p:txBody>
      </p:sp>
      <p:sp>
        <p:nvSpPr>
          <p:cNvPr id="21" name="TextBox 20"/>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5C5C57"/>
                </a:solidFill>
                <a:latin typeface="Geist Mono"/>
              </a:rP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